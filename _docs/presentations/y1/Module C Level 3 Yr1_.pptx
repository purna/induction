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Poppins"/>
      <p:regular r:id="rId17"/>
      <p:bold r:id="rId18"/>
      <p:italic r:id="rId19"/>
      <p:boldItalic r:id="rId20"/>
    </p:embeddedFont>
    <p:embeddedFont>
      <p:font typeface="Poppins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11" Type="http://schemas.openxmlformats.org/officeDocument/2006/relationships/slide" Target="slides/slide7.xml"/><Relationship Id="rId22" Type="http://schemas.openxmlformats.org/officeDocument/2006/relationships/font" Target="fonts/PoppinsSemiBold-bold.fntdata"/><Relationship Id="rId10" Type="http://schemas.openxmlformats.org/officeDocument/2006/relationships/slide" Target="slides/slide6.xml"/><Relationship Id="rId21" Type="http://schemas.openxmlformats.org/officeDocument/2006/relationships/font" Target="fonts/PoppinsSemiBold-regular.fntdata"/><Relationship Id="rId13" Type="http://schemas.openxmlformats.org/officeDocument/2006/relationships/slide" Target="slides/slide9.xml"/><Relationship Id="rId24" Type="http://schemas.openxmlformats.org/officeDocument/2006/relationships/font" Target="fonts/PoppinsSemiBold-boldItalic.fntdata"/><Relationship Id="rId12" Type="http://schemas.openxmlformats.org/officeDocument/2006/relationships/slide" Target="slides/slide8.xml"/><Relationship Id="rId23" Type="http://schemas.openxmlformats.org/officeDocument/2006/relationships/font" Target="fonts/PoppinsSemi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oppins-italic.fntdata"/><Relationship Id="rId6" Type="http://schemas.openxmlformats.org/officeDocument/2006/relationships/slide" Target="slides/slide2.xml"/><Relationship Id="rId18"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Title slide. As tutor, frame this session before showing it: this is not a fire-safety lecture, it is about a habit of mind — noticing — that happens to be the thing that keeps people safe. Say something like: "This one's called Health &amp; Safety, but it's really about paying attention — to yourself, to this place, and to each other. By the end you'll know the basics for here, and what's specific to your subject area." Keep this brief — 1 minute — and move straight into the settled discussion. Timing for the whole session: roughly 60 minutes.</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Talk through the map quickly — 1 minute, no more. The point is to signal that this session has a shape and a destination (the 'one thing' commitment at the end), so students aren't just waiting for it to be over. You don't need to read every box aloud; a light touch ('we'll do a quick check-in, then look at what noticing has to do with safety, then the basics for here, then what's specific to your subject area') is enough. Move on.</a:t>
            </a:r>
            <a:endParaRPr/>
          </a:p>
        </p:txBody>
      </p:sp>
      <p:sp>
        <p:nvSpPr>
          <p:cNvPr id="20" name="Google Shape;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Standard settling-in check-in — pairs, ~10 minutes, then a few volunteered thoughts to the room if there's time. Purpose: this is the on-ramp to the whole session. Question 3 is doing real work — it's deliberately phrased to surface anything a student has noticed (a hazard, something about a space, something about how someone's behaving) but not yet raised, without putting them on the spot in a group. Say something like: "Talk to the person next to you — what's already feeling normal here, and is there anything you've spotted that you haven't mentioned to anyone?" What to watch for: a student who goes quiet on question 3, or who raises something specific and then visibly backs away from it — note it, and follow up with them individually after the session rather than in front of the group. Safeguarding consideration: if something is disclosed here that needs action, do not wait for slide 9 — listen calmly, do not promise confidentiality, do not investigate yourself, and report the same day via the usual safeguarding route.</a:t>
            </a:r>
            <a:endParaRPr/>
          </a:p>
        </p:txBody>
      </p:sp>
      <p:sp>
        <p:nvSpPr>
          <p:cNvPr id="70" name="Google Shape;7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does the framing work for the whole session, so don't rush it — roughly 7 minutes. The aim is to land health and safety as a form of self-awareness and resilience, not a list of rules, before any rules are mentioned. Say something like: "None of what we're about to cover is complicated. The hard part isn't knowing it — it's still noticing it on a Tuesday afternoon in week six, when everything feels normal." Use the two columns as a discussion prompt rather than reading them out: ask the group what switches their own noticing off — in college, at work, anywhere — before revealing the right-hand column. Resilience point worth making explicitly: things will sometimes go wrong — a near miss, a mistake, a minor incident. What matters is what happens next: whether it gets noticed and named, or quietly absorbed and repeated until it isn't minor anymore. What to watch for: students who immediately reach for "snitching" framing — gently redirect towards "noticing" rather than "telling on"; this distinction matters for how slide 9 lands later.</a:t>
            </a:r>
            <a:endParaRPr/>
          </a:p>
        </p:txBody>
      </p:sp>
      <p:sp>
        <p:nvSpPr>
          <p:cNvPr id="91" name="Google Shape;9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8 minutes. This is the only slide in the session that's a genuine "input" slide in the traditional sense — keep it brisk and concrete. The fire/evacuation confirm block must be completed with real, building-specific information before this deck is delivered; a vague "follow the signs" answer fails first-week students who don't yet have a mental map of the building. Say something like: "This bit's just facts — where you'd go, and who you'd tell. Two minutes, then we move on to what this actually looks like in your subject area." The reporting line — tell your teacher — is deliberately broad: it covers hazards and near misses, but also ordinary facilities issues like a broken toilet lock or an empty dispenser, precisely because those are the things students most often quietly put up with rather than mention (this is the live version of slide 4's "not wanting to make a fuss"). This is also the route slide 8's quick check refers back to, so keep the two consistent if either changes. The general expectations at the bottom are deliberately framed as universal and non-negotiable without being preachy — there's no percentage, no threat, just "this is how it works here". Purpose: give students a shared, concrete baseline before slide 7 narrows to their specific subject area. What to watch for: this slide can drift into a long list if you let it — resist adding more than what's here; anything subject-specific belongs on slide 7, not here.</a:t>
            </a:r>
            <a:endParaRPr/>
          </a:p>
        </p:txBody>
      </p:sp>
      <p:sp>
        <p:nvSpPr>
          <p:cNvPr id="111" name="Google Shape;11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7 minutes, and the only place in this deck where a PROUD value is named directly — Show Respect. Name it once and move straight into the content; don't circle back to the word itself or it starts to feel like a slogan. The three rows build a single argument: respect here isn't really about manners, it's about safety being a shared responsibility rather than someone else's job. Row two is worth a beat of discussion — ask the group (no need for hands up) whether they've seen "harmless" messing about with someone's stuff that, on reflection, wasn't harmless. Row three is doing quiet pre-work for slide 7 and subject-specific practicals: students who've internalised "a tutor stopping something is the system working" are far less likely to push back when their subject tutor enforces PPE or equipment rules later in the year. Keep this slide warm, not po-faced — it should land as "this is just how decent places work", not as a lecture on conduct.</a:t>
            </a:r>
            <a:endParaRPr/>
          </a:p>
        </p:txBody>
      </p:sp>
      <p:sp>
        <p:nvSpPr>
          <p:cNvPr id="130" name="Google Shape;13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is the hinge of the whole module: it's where the generic college-wide content from slide 5 becomes real for this specific room, this specific equipment, this specific subject. For Core (L3Y1), register stays adult and direct — link back explicitly to the framing from slide 4 ("this is where noticing actually pays off — you now know what 'normal' should look like in here") and to Show Respect from slide 6 (respecting equipment, materials, and the people responsible for them). Purpose for the curriculum team: this is the one slide per variant that needs subject-specific authoring — everything else in this deck is finished and should not be edited. Do not deliver this deck to students with this placeholder still in place; if your subject-specific content isn't ready yet, replace this slide with a brief signpost to where and when students will get it (e.g. workshop induction in week 2), rather than delivering the placeholder text itself.</a:t>
            </a:r>
            <a:endParaRPr/>
          </a:p>
        </p:txBody>
      </p:sp>
      <p:sp>
        <p:nvSpPr>
          <p:cNvPr id="155" name="Google Shape;15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8 minutes, pairs, then a couple of pairs feed back. This slide does the heavy lifting for the session's learning outcome — students understanding their health &amp; safety responsibilities — without it feeling like an assessment, because it isn't one. Frame it exactly as written: "this isn't a test". Question 1 checks slide 5 actually landed. Question 2 checks the reporting route from slide 5 — the answer is simply “tell your teacher”; if pairs land somewhere else, that's worth a quick correction there and then. Question 3 is the conceptual core: most students default to "it's all the college's job" or "it's all on me" — both are wrong, and the conversation about where the line actually sits is the point. Question 4 ties back to slide 4's framing — push for an answer better than "because you have to"; if nobody gets there, offer it yourself: PPE works because of what it stops, not because someone's checking. What to watch for: a pair that gets question 1 wrong — quietly correct it there and then, since this is exactly the kind of gap that matters in week one.</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7 minutes. This slide carries real weight, so don't let it feel like an afterthought tucked in before the close. Read the first paragraph close to as written — the "noticing vs telling on" distinction set up on slide 4 is what makes this land without students feeling like they're being asked to grass on each other. The second paragraph deliberately widens scope beyond physical hazards to anything that's made a student feel unsafe or uncomfortable — about a space, an activity, or a person's behaviour. Safeguarding consideration — this is the most likely surface point in the session: if a student discloses something here, or did so earlier in the settled discussion, the response is the same — listen calmly, do not promise confidentiality, do not investigate it yourself, and report it the same day via the safeguarding route. The full safeguarding procedure is covered in Module F; this slide only signposts. Before delivery, delete the two campus rows that aren't yours, leaving only your own campus's safeguarding team number visible to students — a deck showing three numbers and no clear instruction is worse than showing one.</a:t>
            </a:r>
            <a:endParaRPr/>
          </a:p>
        </p:txBody>
      </p:sp>
      <p:sp>
        <p:nvSpPr>
          <p:cNvPr id="195" name="Google Shape;19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5 minutes. Every Module B variant ended this way and this module follows the same convention — the constant across modules is more important than novelty here. Students write or draw their choice on a card; tutors keep the cards for follow-up (a quick scan now for anything flagged via option 4, and a genuinely useful prompt for 1:1s later in the term). Say something like: "You don't have to pick the biggest one — pick the one you'll actually do." Option 4 is deliberately styled differently from 1–3: it's the safeguarding-disclosure route, and its presence here matters as much as its content — it tells every student, regardless of whether they use it, that this is a normal and expected thing to write down, not a last resort. What to watch for: a student who selects option 4 and looks like they want to say more there and then — take that conversation aside rather than in front of the group, following the same safeguarding triage as slide 9.</a:t>
            </a:r>
            <a:endParaRPr/>
          </a:p>
        </p:txBody>
      </p:sp>
      <p:sp>
        <p:nvSpPr>
          <p:cNvPr id="219" name="Google Shape;21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Roughly 2 minutes. Don't introduce anything new here — this is a deliberate slow-down before the bell, not a summary slide to read aloud verbatim. If you only land one of the three points, make it the third: noticing without saying anything just delays the moment someone deals with it. Close by pointing back to the cards from slide 10 — "hang on to that, we'll come back to it."</a:t>
            </a:r>
            <a:endParaRPr/>
          </a:p>
        </p:txBody>
      </p:sp>
      <p:sp>
        <p:nvSpPr>
          <p:cNvPr id="243" name="Google Shape;24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9" name="Google Shape;25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png"/><Relationship Id="rId11" Type="http://schemas.openxmlformats.org/officeDocument/2006/relationships/image" Target="../media/image5.png"/><Relationship Id="rId10" Type="http://schemas.openxmlformats.org/officeDocument/2006/relationships/image" Target="../media/image10.pn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1" name="Shape 11"/>
        <p:cNvGrpSpPr/>
        <p:nvPr/>
      </p:nvGrpSpPr>
      <p:grpSpPr>
        <a:xfrm>
          <a:off x="0" y="0"/>
          <a:ext cx="0" cy="0"/>
          <a:chOff x="0" y="0"/>
          <a:chExt cx="0" cy="0"/>
        </a:xfrm>
      </p:grpSpPr>
      <p:sp>
        <p:nvSpPr>
          <p:cNvPr id="12" name="Google Shape;12;p3"/>
          <p:cNvSpPr/>
          <p:nvPr/>
        </p:nvSpPr>
        <p:spPr>
          <a:xfrm>
            <a:off x="640080" y="6400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300"/>
              <a:buFont typeface="Poppins SemiBold"/>
              <a:buNone/>
            </a:pPr>
            <a:r>
              <a:rPr b="1" i="0" lang="en-US" sz="1300" u="none" cap="none" strike="noStrike">
                <a:solidFill>
                  <a:srgbClr val="FFCF01"/>
                </a:solidFill>
                <a:latin typeface="Poppins SemiBold"/>
                <a:ea typeface="Poppins SemiBold"/>
                <a:cs typeface="Poppins SemiBold"/>
                <a:sym typeface="Poppins SemiBold"/>
              </a:rPr>
              <a:t>MODULE C  ·  SETTLING IN  ·  LEVEL 3 DIGITAL AND CREATIVE MEDIA (YEAR 1)</a:t>
            </a:r>
            <a:endParaRPr b="0" i="0" sz="1300" u="none" cap="none" strike="noStrike">
              <a:solidFill>
                <a:schemeClr val="dk1"/>
              </a:solidFill>
              <a:latin typeface="Calibri"/>
              <a:ea typeface="Calibri"/>
              <a:cs typeface="Calibri"/>
              <a:sym typeface="Calibri"/>
            </a:endParaRPr>
          </a:p>
        </p:txBody>
      </p:sp>
      <p:sp>
        <p:nvSpPr>
          <p:cNvPr id="13" name="Google Shape;13;p3"/>
          <p:cNvSpPr/>
          <p:nvPr/>
        </p:nvSpPr>
        <p:spPr>
          <a:xfrm>
            <a:off x="640080" y="1371600"/>
            <a:ext cx="6492240" cy="2103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FFFFFF"/>
              </a:buClr>
              <a:buSzPts val="3400"/>
              <a:buFont typeface="Poppins SemiBold"/>
              <a:buNone/>
            </a:pPr>
            <a:r>
              <a:rPr b="1" i="0" lang="en-US" sz="3400" u="none" cap="none" strike="noStrike">
                <a:solidFill>
                  <a:srgbClr val="FFFFFF"/>
                </a:solidFill>
                <a:latin typeface="Poppins SemiBold"/>
                <a:ea typeface="Poppins SemiBold"/>
                <a:cs typeface="Poppins SemiBold"/>
                <a:sym typeface="Poppins SemiBold"/>
              </a:rPr>
              <a:t>Health &amp; safety:</a:t>
            </a:r>
            <a:endParaRPr b="0" i="0" sz="3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3400"/>
              <a:buFont typeface="Poppins SemiBold"/>
              <a:buNone/>
            </a:pPr>
            <a:r>
              <a:rPr b="1" i="0" lang="en-US" sz="3400" u="none" cap="none" strike="noStrike">
                <a:solidFill>
                  <a:srgbClr val="FFFFFF"/>
                </a:solidFill>
                <a:latin typeface="Poppins SemiBold"/>
                <a:ea typeface="Poppins SemiBold"/>
                <a:cs typeface="Poppins SemiBold"/>
                <a:sym typeface="Poppins SemiBold"/>
              </a:rPr>
              <a:t>looking after yourself,</a:t>
            </a:r>
            <a:endParaRPr b="0" i="0" sz="3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3400"/>
              <a:buFont typeface="Poppins SemiBold"/>
              <a:buNone/>
            </a:pPr>
            <a:r>
              <a:rPr b="1" i="0" lang="en-US" sz="3400" u="none" cap="none" strike="noStrike">
                <a:solidFill>
                  <a:srgbClr val="FFFFFF"/>
                </a:solidFill>
                <a:latin typeface="Poppins SemiBold"/>
                <a:ea typeface="Poppins SemiBold"/>
                <a:cs typeface="Poppins SemiBold"/>
                <a:sym typeface="Poppins SemiBold"/>
              </a:rPr>
              <a:t>looking after each other</a:t>
            </a:r>
            <a:endParaRPr b="0" i="0" sz="3400" u="none" cap="none" strike="noStrike">
              <a:solidFill>
                <a:schemeClr val="dk1"/>
              </a:solidFill>
              <a:latin typeface="Calibri"/>
              <a:ea typeface="Calibri"/>
              <a:cs typeface="Calibri"/>
              <a:sym typeface="Calibri"/>
            </a:endParaRPr>
          </a:p>
        </p:txBody>
      </p:sp>
      <p:sp>
        <p:nvSpPr>
          <p:cNvPr id="14" name="Google Shape;14;p3"/>
          <p:cNvSpPr/>
          <p:nvPr/>
        </p:nvSpPr>
        <p:spPr>
          <a:xfrm>
            <a:off x="640080" y="3703320"/>
            <a:ext cx="640080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D2DBDA"/>
              </a:buClr>
              <a:buSzPts val="1500"/>
              <a:buFont typeface="Poppins"/>
              <a:buNone/>
            </a:pPr>
            <a:r>
              <a:rPr b="0" i="1" lang="en-US" sz="1500" u="none" cap="none" strike="noStrike">
                <a:solidFill>
                  <a:srgbClr val="D2DBDA"/>
                </a:solidFill>
                <a:latin typeface="Poppins"/>
                <a:ea typeface="Poppins"/>
                <a:cs typeface="Poppins"/>
                <a:sym typeface="Poppins"/>
              </a:rPr>
              <a:t>What safe practice looks like in a professional media studio and digital environment — and why it starts before you touch anything.</a:t>
            </a:r>
            <a:endParaRPr b="0" i="0" sz="1500" u="none" cap="none" strike="noStrike">
              <a:solidFill>
                <a:schemeClr val="dk1"/>
              </a:solidFill>
              <a:latin typeface="Calibri"/>
              <a:ea typeface="Calibri"/>
              <a:cs typeface="Calibri"/>
              <a:sym typeface="Calibri"/>
            </a:endParaRPr>
          </a:p>
        </p:txBody>
      </p:sp>
      <p:sp>
        <p:nvSpPr>
          <p:cNvPr id="15" name="Google Shape;15;p3"/>
          <p:cNvSpPr/>
          <p:nvPr/>
        </p:nvSpPr>
        <p:spPr>
          <a:xfrm>
            <a:off x="7223760" y="1783080"/>
            <a:ext cx="1828800" cy="1828800"/>
          </a:xfrm>
          <a:prstGeom prst="ellipse">
            <a:avLst/>
          </a:prstGeom>
          <a:solidFill>
            <a:srgbClr val="0F7A54">
              <a:alpha val="2509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 name="Google Shape;16;p3"/>
          <p:cNvPicPr preferRelativeResize="0"/>
          <p:nvPr/>
        </p:nvPicPr>
        <p:blipFill rotWithShape="1">
          <a:blip r:embed="rId3">
            <a:alphaModFix/>
          </a:blip>
          <a:srcRect b="0" l="0" r="0" t="0"/>
          <a:stretch/>
        </p:blipFill>
        <p:spPr>
          <a:xfrm>
            <a:off x="7699248" y="2258568"/>
            <a:ext cx="877824" cy="8778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1" name="Shape 21"/>
        <p:cNvGrpSpPr/>
        <p:nvPr/>
      </p:nvGrpSpPr>
      <p:grpSpPr>
        <a:xfrm>
          <a:off x="0" y="0"/>
          <a:ext cx="0" cy="0"/>
          <a:chOff x="0" y="0"/>
          <a:chExt cx="0" cy="0"/>
        </a:xfrm>
      </p:grpSpPr>
      <p:sp>
        <p:nvSpPr>
          <p:cNvPr id="22" name="Google Shape;22;p4"/>
          <p:cNvSpPr/>
          <p:nvPr/>
        </p:nvSpPr>
        <p:spPr>
          <a:xfrm>
            <a:off x="6949440" y="292608"/>
            <a:ext cx="178308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3" name="Google Shape;23;p4"/>
          <p:cNvPicPr preferRelativeResize="0"/>
          <p:nvPr/>
        </p:nvPicPr>
        <p:blipFill rotWithShape="1">
          <a:blip r:embed="rId3">
            <a:alphaModFix/>
          </a:blip>
          <a:srcRect b="0" l="0" r="0" t="0"/>
          <a:stretch/>
        </p:blipFill>
        <p:spPr>
          <a:xfrm>
            <a:off x="7040880" y="356616"/>
            <a:ext cx="201168" cy="201168"/>
          </a:xfrm>
          <a:prstGeom prst="rect">
            <a:avLst/>
          </a:prstGeom>
          <a:noFill/>
          <a:ln>
            <a:noFill/>
          </a:ln>
        </p:spPr>
      </p:pic>
      <p:sp>
        <p:nvSpPr>
          <p:cNvPr id="24" name="Google Shape;24;p4"/>
          <p:cNvSpPr/>
          <p:nvPr/>
        </p:nvSpPr>
        <p:spPr>
          <a:xfrm>
            <a:off x="7278624" y="292608"/>
            <a:ext cx="14173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SESSION MAP</a:t>
            </a:r>
            <a:endParaRPr sz="1100">
              <a:solidFill>
                <a:schemeClr val="dk1"/>
              </a:solidFill>
              <a:latin typeface="Calibri"/>
              <a:ea typeface="Calibri"/>
              <a:cs typeface="Calibri"/>
              <a:sym typeface="Calibri"/>
            </a:endParaRPr>
          </a:p>
        </p:txBody>
      </p:sp>
      <p:sp>
        <p:nvSpPr>
          <p:cNvPr id="25" name="Google Shape;25;p4"/>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SESSION MAP</a:t>
            </a:r>
            <a:endParaRPr sz="1200">
              <a:solidFill>
                <a:schemeClr val="dk1"/>
              </a:solidFill>
              <a:latin typeface="Calibri"/>
              <a:ea typeface="Calibri"/>
              <a:cs typeface="Calibri"/>
              <a:sym typeface="Calibri"/>
            </a:endParaRPr>
          </a:p>
        </p:txBody>
      </p:sp>
      <p:sp>
        <p:nvSpPr>
          <p:cNvPr id="26" name="Google Shape;26;p4"/>
          <p:cNvSpPr/>
          <p:nvPr/>
        </p:nvSpPr>
        <p:spPr>
          <a:xfrm>
            <a:off x="548640" y="594360"/>
            <a:ext cx="5943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Where we're going</a:t>
            </a:r>
            <a:endParaRPr sz="2800">
              <a:solidFill>
                <a:schemeClr val="dk1"/>
              </a:solidFill>
              <a:latin typeface="Calibri"/>
              <a:ea typeface="Calibri"/>
              <a:cs typeface="Calibri"/>
              <a:sym typeface="Calibri"/>
            </a:endParaRPr>
          </a:p>
        </p:txBody>
      </p:sp>
      <p:sp>
        <p:nvSpPr>
          <p:cNvPr id="27" name="Google Shape;27;p4"/>
          <p:cNvSpPr/>
          <p:nvPr/>
        </p:nvSpPr>
        <p:spPr>
          <a:xfrm>
            <a:off x="548640" y="1600200"/>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4"/>
          <p:cNvSpPr/>
          <p:nvPr/>
        </p:nvSpPr>
        <p:spPr>
          <a:xfrm>
            <a:off x="694944" y="1741932"/>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 name="Google Shape;29;p4"/>
          <p:cNvPicPr preferRelativeResize="0"/>
          <p:nvPr/>
        </p:nvPicPr>
        <p:blipFill rotWithShape="1">
          <a:blip r:embed="rId4">
            <a:alphaModFix/>
          </a:blip>
          <a:srcRect b="0" l="0" r="0" t="0"/>
          <a:stretch/>
        </p:blipFill>
        <p:spPr>
          <a:xfrm>
            <a:off x="800100" y="1847088"/>
            <a:ext cx="246888" cy="246888"/>
          </a:xfrm>
          <a:prstGeom prst="rect">
            <a:avLst/>
          </a:prstGeom>
          <a:noFill/>
          <a:ln>
            <a:noFill/>
          </a:ln>
        </p:spPr>
      </p:pic>
      <p:sp>
        <p:nvSpPr>
          <p:cNvPr id="30" name="Google Shape;30;p4"/>
          <p:cNvSpPr/>
          <p:nvPr/>
        </p:nvSpPr>
        <p:spPr>
          <a:xfrm>
            <a:off x="1280160" y="1673352"/>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How's it going?</a:t>
            </a:r>
            <a:endParaRPr sz="1300">
              <a:solidFill>
                <a:schemeClr val="dk1"/>
              </a:solidFill>
              <a:latin typeface="Calibri"/>
              <a:ea typeface="Calibri"/>
              <a:cs typeface="Calibri"/>
              <a:sym typeface="Calibri"/>
            </a:endParaRPr>
          </a:p>
        </p:txBody>
      </p:sp>
      <p:sp>
        <p:nvSpPr>
          <p:cNvPr id="31" name="Google Shape;31;p4"/>
          <p:cNvSpPr/>
          <p:nvPr/>
        </p:nvSpPr>
        <p:spPr>
          <a:xfrm>
            <a:off x="1280160" y="1965960"/>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A quick check-in before we start.</a:t>
            </a:r>
            <a:endParaRPr sz="950">
              <a:solidFill>
                <a:schemeClr val="dk1"/>
              </a:solidFill>
              <a:latin typeface="Calibri"/>
              <a:ea typeface="Calibri"/>
              <a:cs typeface="Calibri"/>
              <a:sym typeface="Calibri"/>
            </a:endParaRPr>
          </a:p>
        </p:txBody>
      </p:sp>
      <p:sp>
        <p:nvSpPr>
          <p:cNvPr id="32" name="Google Shape;32;p4"/>
          <p:cNvSpPr/>
          <p:nvPr/>
        </p:nvSpPr>
        <p:spPr>
          <a:xfrm>
            <a:off x="548640" y="2386584"/>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4"/>
          <p:cNvSpPr/>
          <p:nvPr/>
        </p:nvSpPr>
        <p:spPr>
          <a:xfrm>
            <a:off x="694944" y="2528316"/>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4" name="Google Shape;34;p4"/>
          <p:cNvPicPr preferRelativeResize="0"/>
          <p:nvPr/>
        </p:nvPicPr>
        <p:blipFill rotWithShape="1">
          <a:blip r:embed="rId5">
            <a:alphaModFix/>
          </a:blip>
          <a:srcRect b="0" l="0" r="0" t="0"/>
          <a:stretch/>
        </p:blipFill>
        <p:spPr>
          <a:xfrm>
            <a:off x="800100" y="2633472"/>
            <a:ext cx="246888" cy="246888"/>
          </a:xfrm>
          <a:prstGeom prst="rect">
            <a:avLst/>
          </a:prstGeom>
          <a:noFill/>
          <a:ln>
            <a:noFill/>
          </a:ln>
        </p:spPr>
      </p:pic>
      <p:sp>
        <p:nvSpPr>
          <p:cNvPr id="35" name="Google Shape;35;p4"/>
          <p:cNvSpPr/>
          <p:nvPr/>
        </p:nvSpPr>
        <p:spPr>
          <a:xfrm>
            <a:off x="1280160" y="2459736"/>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Tuning in</a:t>
            </a:r>
            <a:endParaRPr sz="1300">
              <a:solidFill>
                <a:schemeClr val="dk1"/>
              </a:solidFill>
              <a:latin typeface="Calibri"/>
              <a:ea typeface="Calibri"/>
              <a:cs typeface="Calibri"/>
              <a:sym typeface="Calibri"/>
            </a:endParaRPr>
          </a:p>
        </p:txBody>
      </p:sp>
      <p:sp>
        <p:nvSpPr>
          <p:cNvPr id="36" name="Google Shape;36;p4"/>
          <p:cNvSpPr/>
          <p:nvPr/>
        </p:nvSpPr>
        <p:spPr>
          <a:xfrm>
            <a:off x="1280160" y="2752344"/>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What noticing has to do with safety.</a:t>
            </a:r>
            <a:endParaRPr sz="950">
              <a:solidFill>
                <a:schemeClr val="dk1"/>
              </a:solidFill>
              <a:latin typeface="Calibri"/>
              <a:ea typeface="Calibri"/>
              <a:cs typeface="Calibri"/>
              <a:sym typeface="Calibri"/>
            </a:endParaRPr>
          </a:p>
        </p:txBody>
      </p:sp>
      <p:sp>
        <p:nvSpPr>
          <p:cNvPr id="37" name="Google Shape;37;p4"/>
          <p:cNvSpPr/>
          <p:nvPr/>
        </p:nvSpPr>
        <p:spPr>
          <a:xfrm>
            <a:off x="548640" y="3172968"/>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4"/>
          <p:cNvSpPr/>
          <p:nvPr/>
        </p:nvSpPr>
        <p:spPr>
          <a:xfrm>
            <a:off x="694944" y="3314700"/>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9" name="Google Shape;39;p4"/>
          <p:cNvPicPr preferRelativeResize="0"/>
          <p:nvPr/>
        </p:nvPicPr>
        <p:blipFill rotWithShape="1">
          <a:blip r:embed="rId6">
            <a:alphaModFix/>
          </a:blip>
          <a:srcRect b="0" l="0" r="0" t="0"/>
          <a:stretch/>
        </p:blipFill>
        <p:spPr>
          <a:xfrm>
            <a:off x="800100" y="3419856"/>
            <a:ext cx="246888" cy="246888"/>
          </a:xfrm>
          <a:prstGeom prst="rect">
            <a:avLst/>
          </a:prstGeom>
          <a:noFill/>
          <a:ln>
            <a:noFill/>
          </a:ln>
        </p:spPr>
      </p:pic>
      <p:sp>
        <p:nvSpPr>
          <p:cNvPr id="40" name="Google Shape;40;p4"/>
          <p:cNvSpPr/>
          <p:nvPr/>
        </p:nvSpPr>
        <p:spPr>
          <a:xfrm>
            <a:off x="1280160" y="3246120"/>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The basics</a:t>
            </a:r>
            <a:endParaRPr sz="1300">
              <a:solidFill>
                <a:schemeClr val="dk1"/>
              </a:solidFill>
              <a:latin typeface="Calibri"/>
              <a:ea typeface="Calibri"/>
              <a:cs typeface="Calibri"/>
              <a:sym typeface="Calibri"/>
            </a:endParaRPr>
          </a:p>
        </p:txBody>
      </p:sp>
      <p:sp>
        <p:nvSpPr>
          <p:cNvPr id="41" name="Google Shape;41;p4"/>
          <p:cNvSpPr/>
          <p:nvPr/>
        </p:nvSpPr>
        <p:spPr>
          <a:xfrm>
            <a:off x="1280160" y="353872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What to do, and who to tell.</a:t>
            </a:r>
            <a:endParaRPr sz="950">
              <a:solidFill>
                <a:schemeClr val="dk1"/>
              </a:solidFill>
              <a:latin typeface="Calibri"/>
              <a:ea typeface="Calibri"/>
              <a:cs typeface="Calibri"/>
              <a:sym typeface="Calibri"/>
            </a:endParaRPr>
          </a:p>
        </p:txBody>
      </p:sp>
      <p:sp>
        <p:nvSpPr>
          <p:cNvPr id="42" name="Google Shape;42;p4"/>
          <p:cNvSpPr/>
          <p:nvPr/>
        </p:nvSpPr>
        <p:spPr>
          <a:xfrm>
            <a:off x="548640" y="3959352"/>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4"/>
          <p:cNvSpPr/>
          <p:nvPr/>
        </p:nvSpPr>
        <p:spPr>
          <a:xfrm>
            <a:off x="694944" y="4101084"/>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4" name="Google Shape;44;p4"/>
          <p:cNvPicPr preferRelativeResize="0"/>
          <p:nvPr/>
        </p:nvPicPr>
        <p:blipFill rotWithShape="1">
          <a:blip r:embed="rId7">
            <a:alphaModFix/>
          </a:blip>
          <a:srcRect b="0" l="0" r="0" t="0"/>
          <a:stretch/>
        </p:blipFill>
        <p:spPr>
          <a:xfrm>
            <a:off x="800100" y="4206240"/>
            <a:ext cx="246888" cy="246888"/>
          </a:xfrm>
          <a:prstGeom prst="rect">
            <a:avLst/>
          </a:prstGeom>
          <a:noFill/>
          <a:ln>
            <a:noFill/>
          </a:ln>
        </p:spPr>
      </p:pic>
      <p:sp>
        <p:nvSpPr>
          <p:cNvPr id="45" name="Google Shape;45;p4"/>
          <p:cNvSpPr/>
          <p:nvPr/>
        </p:nvSpPr>
        <p:spPr>
          <a:xfrm>
            <a:off x="1280160" y="4032504"/>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Show respect</a:t>
            </a:r>
            <a:endParaRPr sz="1300">
              <a:solidFill>
                <a:schemeClr val="dk1"/>
              </a:solidFill>
              <a:latin typeface="Calibri"/>
              <a:ea typeface="Calibri"/>
              <a:cs typeface="Calibri"/>
              <a:sym typeface="Calibri"/>
            </a:endParaRPr>
          </a:p>
        </p:txBody>
      </p:sp>
      <p:sp>
        <p:nvSpPr>
          <p:cNvPr id="46" name="Google Shape;46;p4"/>
          <p:cNvSpPr/>
          <p:nvPr/>
        </p:nvSpPr>
        <p:spPr>
          <a:xfrm>
            <a:off x="1280160" y="4325112"/>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Looking after this place, and each other.</a:t>
            </a:r>
            <a:endParaRPr sz="950">
              <a:solidFill>
                <a:schemeClr val="dk1"/>
              </a:solidFill>
              <a:latin typeface="Calibri"/>
              <a:ea typeface="Calibri"/>
              <a:cs typeface="Calibri"/>
              <a:sym typeface="Calibri"/>
            </a:endParaRPr>
          </a:p>
        </p:txBody>
      </p:sp>
      <p:sp>
        <p:nvSpPr>
          <p:cNvPr id="47" name="Google Shape;47;p4"/>
          <p:cNvSpPr/>
          <p:nvPr/>
        </p:nvSpPr>
        <p:spPr>
          <a:xfrm>
            <a:off x="4800600" y="1600200"/>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4"/>
          <p:cNvSpPr/>
          <p:nvPr/>
        </p:nvSpPr>
        <p:spPr>
          <a:xfrm>
            <a:off x="4946904" y="1741932"/>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9" name="Google Shape;49;p4"/>
          <p:cNvPicPr preferRelativeResize="0"/>
          <p:nvPr/>
        </p:nvPicPr>
        <p:blipFill rotWithShape="1">
          <a:blip r:embed="rId8">
            <a:alphaModFix/>
          </a:blip>
          <a:srcRect b="0" l="0" r="0" t="0"/>
          <a:stretch/>
        </p:blipFill>
        <p:spPr>
          <a:xfrm>
            <a:off x="5052060" y="1847088"/>
            <a:ext cx="246888" cy="246888"/>
          </a:xfrm>
          <a:prstGeom prst="rect">
            <a:avLst/>
          </a:prstGeom>
          <a:noFill/>
          <a:ln>
            <a:noFill/>
          </a:ln>
        </p:spPr>
      </p:pic>
      <p:sp>
        <p:nvSpPr>
          <p:cNvPr id="50" name="Google Shape;50;p4"/>
          <p:cNvSpPr/>
          <p:nvPr/>
        </p:nvSpPr>
        <p:spPr>
          <a:xfrm>
            <a:off x="5532120" y="1673352"/>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Your subject area</a:t>
            </a:r>
            <a:endParaRPr sz="1300">
              <a:solidFill>
                <a:schemeClr val="dk1"/>
              </a:solidFill>
              <a:latin typeface="Calibri"/>
              <a:ea typeface="Calibri"/>
              <a:cs typeface="Calibri"/>
              <a:sym typeface="Calibri"/>
            </a:endParaRPr>
          </a:p>
        </p:txBody>
      </p:sp>
      <p:sp>
        <p:nvSpPr>
          <p:cNvPr id="51" name="Google Shape;51;p4"/>
          <p:cNvSpPr/>
          <p:nvPr/>
        </p:nvSpPr>
        <p:spPr>
          <a:xfrm>
            <a:off x="5532120" y="1965960"/>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What's specific to you.</a:t>
            </a:r>
            <a:endParaRPr sz="950">
              <a:solidFill>
                <a:schemeClr val="dk1"/>
              </a:solidFill>
              <a:latin typeface="Calibri"/>
              <a:ea typeface="Calibri"/>
              <a:cs typeface="Calibri"/>
              <a:sym typeface="Calibri"/>
            </a:endParaRPr>
          </a:p>
        </p:txBody>
      </p:sp>
      <p:sp>
        <p:nvSpPr>
          <p:cNvPr id="52" name="Google Shape;52;p4"/>
          <p:cNvSpPr/>
          <p:nvPr/>
        </p:nvSpPr>
        <p:spPr>
          <a:xfrm>
            <a:off x="4800600" y="2386584"/>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4"/>
          <p:cNvSpPr/>
          <p:nvPr/>
        </p:nvSpPr>
        <p:spPr>
          <a:xfrm>
            <a:off x="4946904" y="2528316"/>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4" name="Google Shape;54;p4"/>
          <p:cNvPicPr preferRelativeResize="0"/>
          <p:nvPr/>
        </p:nvPicPr>
        <p:blipFill rotWithShape="1">
          <a:blip r:embed="rId9">
            <a:alphaModFix/>
          </a:blip>
          <a:srcRect b="0" l="0" r="0" t="0"/>
          <a:stretch/>
        </p:blipFill>
        <p:spPr>
          <a:xfrm>
            <a:off x="5052060" y="2633472"/>
            <a:ext cx="246888" cy="246888"/>
          </a:xfrm>
          <a:prstGeom prst="rect">
            <a:avLst/>
          </a:prstGeom>
          <a:noFill/>
          <a:ln>
            <a:noFill/>
          </a:ln>
        </p:spPr>
      </p:pic>
      <p:sp>
        <p:nvSpPr>
          <p:cNvPr id="55" name="Google Shape;55;p4"/>
          <p:cNvSpPr/>
          <p:nvPr/>
        </p:nvSpPr>
        <p:spPr>
          <a:xfrm>
            <a:off x="5532120" y="2459736"/>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Quick check</a:t>
            </a:r>
            <a:endParaRPr sz="1300">
              <a:solidFill>
                <a:schemeClr val="dk1"/>
              </a:solidFill>
              <a:latin typeface="Calibri"/>
              <a:ea typeface="Calibri"/>
              <a:cs typeface="Calibri"/>
              <a:sym typeface="Calibri"/>
            </a:endParaRPr>
          </a:p>
        </p:txBody>
      </p:sp>
      <p:sp>
        <p:nvSpPr>
          <p:cNvPr id="56" name="Google Shape;56;p4"/>
          <p:cNvSpPr/>
          <p:nvPr/>
        </p:nvSpPr>
        <p:spPr>
          <a:xfrm>
            <a:off x="5532120" y="2752344"/>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What do you actually know?</a:t>
            </a:r>
            <a:endParaRPr sz="950">
              <a:solidFill>
                <a:schemeClr val="dk1"/>
              </a:solidFill>
              <a:latin typeface="Calibri"/>
              <a:ea typeface="Calibri"/>
              <a:cs typeface="Calibri"/>
              <a:sym typeface="Calibri"/>
            </a:endParaRPr>
          </a:p>
        </p:txBody>
      </p:sp>
      <p:sp>
        <p:nvSpPr>
          <p:cNvPr id="57" name="Google Shape;57;p4"/>
          <p:cNvSpPr/>
          <p:nvPr/>
        </p:nvSpPr>
        <p:spPr>
          <a:xfrm>
            <a:off x="4800600" y="3172968"/>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4"/>
          <p:cNvSpPr/>
          <p:nvPr/>
        </p:nvSpPr>
        <p:spPr>
          <a:xfrm>
            <a:off x="4946904" y="3314700"/>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9" name="Google Shape;59;p4"/>
          <p:cNvPicPr preferRelativeResize="0"/>
          <p:nvPr/>
        </p:nvPicPr>
        <p:blipFill rotWithShape="1">
          <a:blip r:embed="rId10">
            <a:alphaModFix/>
          </a:blip>
          <a:srcRect b="0" l="0" r="0" t="0"/>
          <a:stretch/>
        </p:blipFill>
        <p:spPr>
          <a:xfrm>
            <a:off x="5052060" y="3419856"/>
            <a:ext cx="246888" cy="246888"/>
          </a:xfrm>
          <a:prstGeom prst="rect">
            <a:avLst/>
          </a:prstGeom>
          <a:noFill/>
          <a:ln>
            <a:noFill/>
          </a:ln>
        </p:spPr>
      </p:pic>
      <p:sp>
        <p:nvSpPr>
          <p:cNvPr id="60" name="Google Shape;60;p4"/>
          <p:cNvSpPr/>
          <p:nvPr/>
        </p:nvSpPr>
        <p:spPr>
          <a:xfrm>
            <a:off x="5532120" y="3246120"/>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If something's not right</a:t>
            </a:r>
            <a:endParaRPr sz="1300">
              <a:solidFill>
                <a:schemeClr val="dk1"/>
              </a:solidFill>
              <a:latin typeface="Calibri"/>
              <a:ea typeface="Calibri"/>
              <a:cs typeface="Calibri"/>
              <a:sym typeface="Calibri"/>
            </a:endParaRPr>
          </a:p>
        </p:txBody>
      </p:sp>
      <p:sp>
        <p:nvSpPr>
          <p:cNvPr id="61" name="Google Shape;61;p4"/>
          <p:cNvSpPr/>
          <p:nvPr/>
        </p:nvSpPr>
        <p:spPr>
          <a:xfrm>
            <a:off x="5532120" y="353872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Noticing is only half the job.</a:t>
            </a:r>
            <a:endParaRPr sz="950">
              <a:solidFill>
                <a:schemeClr val="dk1"/>
              </a:solidFill>
              <a:latin typeface="Calibri"/>
              <a:ea typeface="Calibri"/>
              <a:cs typeface="Calibri"/>
              <a:sym typeface="Calibri"/>
            </a:endParaRPr>
          </a:p>
        </p:txBody>
      </p:sp>
      <p:sp>
        <p:nvSpPr>
          <p:cNvPr id="62" name="Google Shape;62;p4"/>
          <p:cNvSpPr/>
          <p:nvPr/>
        </p:nvSpPr>
        <p:spPr>
          <a:xfrm>
            <a:off x="4800600" y="3959352"/>
            <a:ext cx="3977640" cy="676656"/>
          </a:xfrm>
          <a:prstGeom prst="roundRect">
            <a:avLst>
              <a:gd fmla="val 8108" name="adj"/>
            </a:avLst>
          </a:prstGeom>
          <a:solidFill>
            <a:srgbClr val="FFFFFF"/>
          </a:solidFill>
          <a:ln cap="flat" cmpd="sng" w="12700">
            <a:solidFill>
              <a:srgbClr val="D2DBDA"/>
            </a:solidFill>
            <a:prstDash val="solid"/>
            <a:round/>
            <a:headEnd len="sm" w="sm" type="none"/>
            <a:tailEnd len="sm" w="sm" type="none"/>
          </a:ln>
          <a:effectLst>
            <a:outerShdw blurRad="50800" rotWithShape="0" algn="bl" dir="54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4"/>
          <p:cNvSpPr/>
          <p:nvPr/>
        </p:nvSpPr>
        <p:spPr>
          <a:xfrm>
            <a:off x="4946904" y="4101084"/>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4" name="Google Shape;64;p4"/>
          <p:cNvPicPr preferRelativeResize="0"/>
          <p:nvPr/>
        </p:nvPicPr>
        <p:blipFill rotWithShape="1">
          <a:blip r:embed="rId11">
            <a:alphaModFix/>
          </a:blip>
          <a:srcRect b="0" l="0" r="0" t="0"/>
          <a:stretch/>
        </p:blipFill>
        <p:spPr>
          <a:xfrm>
            <a:off x="5052060" y="4206240"/>
            <a:ext cx="246888" cy="246888"/>
          </a:xfrm>
          <a:prstGeom prst="rect">
            <a:avLst/>
          </a:prstGeom>
          <a:noFill/>
          <a:ln>
            <a:noFill/>
          </a:ln>
        </p:spPr>
      </p:pic>
      <p:sp>
        <p:nvSpPr>
          <p:cNvPr id="65" name="Google Shape;65;p4"/>
          <p:cNvSpPr/>
          <p:nvPr/>
        </p:nvSpPr>
        <p:spPr>
          <a:xfrm>
            <a:off x="5532120" y="4032504"/>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One thing</a:t>
            </a:r>
            <a:endParaRPr sz="1300">
              <a:solidFill>
                <a:schemeClr val="dk1"/>
              </a:solidFill>
              <a:latin typeface="Calibri"/>
              <a:ea typeface="Calibri"/>
              <a:cs typeface="Calibri"/>
              <a:sym typeface="Calibri"/>
            </a:endParaRPr>
          </a:p>
        </p:txBody>
      </p:sp>
      <p:sp>
        <p:nvSpPr>
          <p:cNvPr id="66" name="Google Shape;66;p4"/>
          <p:cNvSpPr/>
          <p:nvPr/>
        </p:nvSpPr>
        <p:spPr>
          <a:xfrm>
            <a:off x="5532120" y="4325112"/>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Your commitment for this week.</a:t>
            </a:r>
            <a:endParaRPr sz="9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71" name="Shape 71"/>
        <p:cNvGrpSpPr/>
        <p:nvPr/>
      </p:nvGrpSpPr>
      <p:grpSpPr>
        <a:xfrm>
          <a:off x="0" y="0"/>
          <a:ext cx="0" cy="0"/>
          <a:chOff x="0" y="0"/>
          <a:chExt cx="0" cy="0"/>
        </a:xfrm>
      </p:grpSpPr>
      <p:sp>
        <p:nvSpPr>
          <p:cNvPr id="72" name="Google Shape;72;p5"/>
          <p:cNvSpPr/>
          <p:nvPr/>
        </p:nvSpPr>
        <p:spPr>
          <a:xfrm>
            <a:off x="7040880" y="292608"/>
            <a:ext cx="169164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3" name="Google Shape;73;p5"/>
          <p:cNvPicPr preferRelativeResize="0"/>
          <p:nvPr/>
        </p:nvPicPr>
        <p:blipFill rotWithShape="1">
          <a:blip r:embed="rId3">
            <a:alphaModFix/>
          </a:blip>
          <a:srcRect b="0" l="0" r="0" t="0"/>
          <a:stretch/>
        </p:blipFill>
        <p:spPr>
          <a:xfrm>
            <a:off x="7132320" y="356616"/>
            <a:ext cx="201168" cy="201168"/>
          </a:xfrm>
          <a:prstGeom prst="rect">
            <a:avLst/>
          </a:prstGeom>
          <a:noFill/>
          <a:ln>
            <a:noFill/>
          </a:ln>
        </p:spPr>
      </p:pic>
      <p:sp>
        <p:nvSpPr>
          <p:cNvPr id="74" name="Google Shape;74;p5"/>
          <p:cNvSpPr/>
          <p:nvPr/>
        </p:nvSpPr>
        <p:spPr>
          <a:xfrm>
            <a:off x="7370064" y="292608"/>
            <a:ext cx="1325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DISCUSSION</a:t>
            </a:r>
            <a:endParaRPr sz="1100">
              <a:solidFill>
                <a:schemeClr val="dk1"/>
              </a:solidFill>
              <a:latin typeface="Calibri"/>
              <a:ea typeface="Calibri"/>
              <a:cs typeface="Calibri"/>
              <a:sym typeface="Calibri"/>
            </a:endParaRPr>
          </a:p>
        </p:txBody>
      </p:sp>
      <p:sp>
        <p:nvSpPr>
          <p:cNvPr id="75" name="Google Shape;75;p5"/>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SETTLED DISCUSSION · ~10 MINUTES · PAIRS</a:t>
            </a:r>
            <a:endParaRPr sz="1200">
              <a:solidFill>
                <a:schemeClr val="dk1"/>
              </a:solidFill>
              <a:latin typeface="Calibri"/>
              <a:ea typeface="Calibri"/>
              <a:cs typeface="Calibri"/>
              <a:sym typeface="Calibri"/>
            </a:endParaRPr>
          </a:p>
        </p:txBody>
      </p:sp>
      <p:sp>
        <p:nvSpPr>
          <p:cNvPr id="76" name="Google Shape;76;p5"/>
          <p:cNvSpPr/>
          <p:nvPr/>
        </p:nvSpPr>
        <p:spPr>
          <a:xfrm>
            <a:off x="548640" y="594360"/>
            <a:ext cx="5943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How's it going?</a:t>
            </a:r>
            <a:endParaRPr sz="2800">
              <a:solidFill>
                <a:schemeClr val="dk1"/>
              </a:solidFill>
              <a:latin typeface="Calibri"/>
              <a:ea typeface="Calibri"/>
              <a:cs typeface="Calibri"/>
              <a:sym typeface="Calibri"/>
            </a:endParaRPr>
          </a:p>
        </p:txBody>
      </p:sp>
      <p:sp>
        <p:nvSpPr>
          <p:cNvPr id="77" name="Google Shape;77;p5"/>
          <p:cNvSpPr/>
          <p:nvPr/>
        </p:nvSpPr>
        <p:spPr>
          <a:xfrm>
            <a:off x="548640" y="1691640"/>
            <a:ext cx="8046720" cy="2880360"/>
          </a:xfrm>
          <a:prstGeom prst="roundRect">
            <a:avLst>
              <a:gd fmla="val 254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914400" y="1965960"/>
            <a:ext cx="420624" cy="42062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5"/>
          <p:cNvSpPr/>
          <p:nvPr/>
        </p:nvSpPr>
        <p:spPr>
          <a:xfrm>
            <a:off x="914400" y="196596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Poppins SemiBold"/>
              <a:buNone/>
            </a:pPr>
            <a:r>
              <a:rPr b="1" lang="en-US" sz="1600">
                <a:solidFill>
                  <a:srgbClr val="FFFFFF"/>
                </a:solidFill>
                <a:latin typeface="Poppins SemiBold"/>
                <a:ea typeface="Poppins SemiBold"/>
                <a:cs typeface="Poppins SemiBold"/>
                <a:sym typeface="Poppins SemiBold"/>
              </a:rPr>
              <a:t>1</a:t>
            </a:r>
            <a:endParaRPr sz="1600">
              <a:solidFill>
                <a:schemeClr val="dk1"/>
              </a:solidFill>
              <a:latin typeface="Calibri"/>
              <a:ea typeface="Calibri"/>
              <a:cs typeface="Calibri"/>
              <a:sym typeface="Calibri"/>
            </a:endParaRPr>
          </a:p>
        </p:txBody>
      </p:sp>
      <p:sp>
        <p:nvSpPr>
          <p:cNvPr id="80" name="Google Shape;80;p5"/>
          <p:cNvSpPr/>
          <p:nvPr/>
        </p:nvSpPr>
        <p:spPr>
          <a:xfrm>
            <a:off x="1508760" y="1947672"/>
            <a:ext cx="676656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450"/>
              <a:buFont typeface="Poppins"/>
              <a:buNone/>
            </a:pPr>
            <a:r>
              <a:rPr lang="en-US" sz="1450">
                <a:solidFill>
                  <a:srgbClr val="1B2A30"/>
                </a:solidFill>
                <a:latin typeface="Poppins"/>
                <a:ea typeface="Poppins"/>
                <a:cs typeface="Poppins"/>
                <a:sym typeface="Poppins"/>
              </a:rPr>
              <a:t>What's already become routine for you here — the things you don't even think about anymore?</a:t>
            </a:r>
            <a:endParaRPr sz="1450">
              <a:solidFill>
                <a:schemeClr val="dk1"/>
              </a:solidFill>
              <a:latin typeface="Calibri"/>
              <a:ea typeface="Calibri"/>
              <a:cs typeface="Calibri"/>
              <a:sym typeface="Calibri"/>
            </a:endParaRPr>
          </a:p>
        </p:txBody>
      </p:sp>
      <p:sp>
        <p:nvSpPr>
          <p:cNvPr id="81" name="Google Shape;81;p5"/>
          <p:cNvSpPr/>
          <p:nvPr/>
        </p:nvSpPr>
        <p:spPr>
          <a:xfrm>
            <a:off x="914400" y="2834640"/>
            <a:ext cx="420624" cy="42062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914400" y="283464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Poppins SemiBold"/>
              <a:buNone/>
            </a:pPr>
            <a:r>
              <a:rPr b="1" lang="en-US" sz="1600">
                <a:solidFill>
                  <a:srgbClr val="FFFFFF"/>
                </a:solidFill>
                <a:latin typeface="Poppins SemiBold"/>
                <a:ea typeface="Poppins SemiBold"/>
                <a:cs typeface="Poppins SemiBold"/>
                <a:sym typeface="Poppins SemiBold"/>
              </a:rPr>
              <a:t>2</a:t>
            </a:r>
            <a:endParaRPr sz="1600">
              <a:solidFill>
                <a:schemeClr val="dk1"/>
              </a:solidFill>
              <a:latin typeface="Calibri"/>
              <a:ea typeface="Calibri"/>
              <a:cs typeface="Calibri"/>
              <a:sym typeface="Calibri"/>
            </a:endParaRPr>
          </a:p>
        </p:txBody>
      </p:sp>
      <p:sp>
        <p:nvSpPr>
          <p:cNvPr id="83" name="Google Shape;83;p5"/>
          <p:cNvSpPr/>
          <p:nvPr/>
        </p:nvSpPr>
        <p:spPr>
          <a:xfrm>
            <a:off x="1508760" y="2816352"/>
            <a:ext cx="676656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450"/>
              <a:buFont typeface="Poppins"/>
              <a:buNone/>
            </a:pPr>
            <a:r>
              <a:rPr lang="en-US" sz="1450">
                <a:solidFill>
                  <a:srgbClr val="1B2A30"/>
                </a:solidFill>
                <a:latin typeface="Poppins"/>
                <a:ea typeface="Poppins"/>
                <a:cs typeface="Poppins"/>
                <a:sym typeface="Poppins"/>
              </a:rPr>
              <a:t>Has anything about your studio, the equipment available, or how the space is set up caught your attention since you started — for better or for worse?</a:t>
            </a:r>
            <a:endParaRPr sz="1450">
              <a:solidFill>
                <a:schemeClr val="dk1"/>
              </a:solidFill>
              <a:latin typeface="Calibri"/>
              <a:ea typeface="Calibri"/>
              <a:cs typeface="Calibri"/>
              <a:sym typeface="Calibri"/>
            </a:endParaRPr>
          </a:p>
        </p:txBody>
      </p:sp>
      <p:sp>
        <p:nvSpPr>
          <p:cNvPr id="84" name="Google Shape;84;p5"/>
          <p:cNvSpPr/>
          <p:nvPr/>
        </p:nvSpPr>
        <p:spPr>
          <a:xfrm>
            <a:off x="914400" y="3703320"/>
            <a:ext cx="420624" cy="42062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914400" y="370332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Poppins SemiBold"/>
              <a:buNone/>
            </a:pPr>
            <a:r>
              <a:rPr b="1" lang="en-US" sz="1600">
                <a:solidFill>
                  <a:srgbClr val="FFFFFF"/>
                </a:solidFill>
                <a:latin typeface="Poppins SemiBold"/>
                <a:ea typeface="Poppins SemiBold"/>
                <a:cs typeface="Poppins SemiBold"/>
                <a:sym typeface="Poppins SemiBold"/>
              </a:rPr>
              <a:t>3</a:t>
            </a:r>
            <a:endParaRPr sz="1600">
              <a:solidFill>
                <a:schemeClr val="dk1"/>
              </a:solidFill>
              <a:latin typeface="Calibri"/>
              <a:ea typeface="Calibri"/>
              <a:cs typeface="Calibri"/>
              <a:sym typeface="Calibri"/>
            </a:endParaRPr>
          </a:p>
        </p:txBody>
      </p:sp>
      <p:sp>
        <p:nvSpPr>
          <p:cNvPr id="86" name="Google Shape;86;p5"/>
          <p:cNvSpPr/>
          <p:nvPr/>
        </p:nvSpPr>
        <p:spPr>
          <a:xfrm>
            <a:off x="1508760" y="3685032"/>
            <a:ext cx="676656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450"/>
              <a:buFont typeface="Poppins"/>
              <a:buNone/>
            </a:pPr>
            <a:r>
              <a:rPr lang="en-US" sz="1450">
                <a:solidFill>
                  <a:srgbClr val="1B2A30"/>
                </a:solidFill>
                <a:latin typeface="Poppins"/>
                <a:ea typeface="Poppins"/>
                <a:cs typeface="Poppins"/>
                <a:sym typeface="Poppins"/>
              </a:rPr>
              <a:t>Is there anything you've noticed but not mentioned to anyone yet?</a:t>
            </a:r>
            <a:endParaRPr sz="1450">
              <a:solidFill>
                <a:schemeClr val="dk1"/>
              </a:solidFill>
              <a:latin typeface="Calibri"/>
              <a:ea typeface="Calibri"/>
              <a:cs typeface="Calibri"/>
              <a:sym typeface="Calibri"/>
            </a:endParaRPr>
          </a:p>
        </p:txBody>
      </p:sp>
      <p:sp>
        <p:nvSpPr>
          <p:cNvPr id="87" name="Google Shape;87;p5"/>
          <p:cNvSpPr/>
          <p:nvPr/>
        </p:nvSpPr>
        <p:spPr>
          <a:xfrm>
            <a:off x="548640" y="4828032"/>
            <a:ext cx="5486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Module C · Health &amp; Safety Introduction · Level 3 Digital and Creative Media (Year 1)</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92" name="Shape 92"/>
        <p:cNvGrpSpPr/>
        <p:nvPr/>
      </p:nvGrpSpPr>
      <p:grpSpPr>
        <a:xfrm>
          <a:off x="0" y="0"/>
          <a:ext cx="0" cy="0"/>
          <a:chOff x="0" y="0"/>
          <a:chExt cx="0" cy="0"/>
        </a:xfrm>
      </p:grpSpPr>
      <p:sp>
        <p:nvSpPr>
          <p:cNvPr id="93" name="Google Shape;93;p6"/>
          <p:cNvSpPr/>
          <p:nvPr/>
        </p:nvSpPr>
        <p:spPr>
          <a:xfrm>
            <a:off x="6858000" y="292608"/>
            <a:ext cx="18745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4" name="Google Shape;94;p6"/>
          <p:cNvPicPr preferRelativeResize="0"/>
          <p:nvPr/>
        </p:nvPicPr>
        <p:blipFill rotWithShape="1">
          <a:blip r:embed="rId3">
            <a:alphaModFix/>
          </a:blip>
          <a:srcRect b="0" l="0" r="0" t="0"/>
          <a:stretch/>
        </p:blipFill>
        <p:spPr>
          <a:xfrm>
            <a:off x="6949440" y="356616"/>
            <a:ext cx="201168" cy="201168"/>
          </a:xfrm>
          <a:prstGeom prst="rect">
            <a:avLst/>
          </a:prstGeom>
          <a:noFill/>
          <a:ln>
            <a:noFill/>
          </a:ln>
        </p:spPr>
      </p:pic>
      <p:sp>
        <p:nvSpPr>
          <p:cNvPr id="95" name="Google Shape;95;p6"/>
          <p:cNvSpPr/>
          <p:nvPr/>
        </p:nvSpPr>
        <p:spPr>
          <a:xfrm>
            <a:off x="7187184" y="292608"/>
            <a:ext cx="1508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TEACHER INPUT</a:t>
            </a:r>
            <a:endParaRPr sz="1100">
              <a:solidFill>
                <a:schemeClr val="dk1"/>
              </a:solidFill>
              <a:latin typeface="Calibri"/>
              <a:ea typeface="Calibri"/>
              <a:cs typeface="Calibri"/>
              <a:sym typeface="Calibri"/>
            </a:endParaRPr>
          </a:p>
        </p:txBody>
      </p:sp>
      <p:sp>
        <p:nvSpPr>
          <p:cNvPr id="96" name="Google Shape;96;p6"/>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FIRST THINGS FIRST</a:t>
            </a:r>
            <a:endParaRPr sz="1200">
              <a:solidFill>
                <a:schemeClr val="dk1"/>
              </a:solidFill>
              <a:latin typeface="Calibri"/>
              <a:ea typeface="Calibri"/>
              <a:cs typeface="Calibri"/>
              <a:sym typeface="Calibri"/>
            </a:endParaRPr>
          </a:p>
        </p:txBody>
      </p:sp>
      <p:sp>
        <p:nvSpPr>
          <p:cNvPr id="97" name="Google Shape;97;p6"/>
          <p:cNvSpPr/>
          <p:nvPr/>
        </p:nvSpPr>
        <p:spPr>
          <a:xfrm>
            <a:off x="548640" y="594360"/>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Health and safety starts with noticing</a:t>
            </a:r>
            <a:endParaRPr sz="2800">
              <a:solidFill>
                <a:schemeClr val="dk1"/>
              </a:solidFill>
              <a:latin typeface="Calibri"/>
              <a:ea typeface="Calibri"/>
              <a:cs typeface="Calibri"/>
              <a:sym typeface="Calibri"/>
            </a:endParaRPr>
          </a:p>
        </p:txBody>
      </p:sp>
      <p:sp>
        <p:nvSpPr>
          <p:cNvPr id="98" name="Google Shape;98;p6"/>
          <p:cNvSpPr/>
          <p:nvPr/>
        </p:nvSpPr>
        <p:spPr>
          <a:xfrm>
            <a:off x="164125" y="1168025"/>
            <a:ext cx="8664600" cy="1255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Most accidents don’t happen because someone breaks a rule on purpose. They happen because someone stopped noticing — a lighting stand left extended without sandbags in the studio corner because “the next session would sort it”, a camera left at the edge of a table during a break because “we’re coming straight back”, a boom pole left horizontal across a doorway at head height because someone put it there for a moment and walked off.</a:t>
            </a:r>
            <a:endParaRPr sz="1400">
              <a:solidFill>
                <a:schemeClr val="dk1"/>
              </a:solidFill>
              <a:latin typeface="Calibri"/>
              <a:ea typeface="Calibri"/>
              <a:cs typeface="Calibri"/>
              <a:sym typeface="Calibri"/>
            </a:endParaRPr>
          </a:p>
        </p:txBody>
      </p:sp>
      <p:sp>
        <p:nvSpPr>
          <p:cNvPr id="99" name="Google Shape;99;p6"/>
          <p:cNvSpPr/>
          <p:nvPr/>
        </p:nvSpPr>
        <p:spPr>
          <a:xfrm>
            <a:off x="548640" y="2560320"/>
            <a:ext cx="3931920" cy="2103120"/>
          </a:xfrm>
          <a:prstGeom prst="roundRect">
            <a:avLst>
              <a:gd fmla="val 304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0" name="Google Shape;100;p6"/>
          <p:cNvPicPr preferRelativeResize="0"/>
          <p:nvPr/>
        </p:nvPicPr>
        <p:blipFill rotWithShape="1">
          <a:blip r:embed="rId4">
            <a:alphaModFix/>
          </a:blip>
          <a:srcRect b="0" l="0" r="0" t="0"/>
          <a:stretch/>
        </p:blipFill>
        <p:spPr>
          <a:xfrm>
            <a:off x="749808" y="2743200"/>
            <a:ext cx="310896" cy="310896"/>
          </a:xfrm>
          <a:prstGeom prst="rect">
            <a:avLst/>
          </a:prstGeom>
          <a:noFill/>
          <a:ln>
            <a:noFill/>
          </a:ln>
        </p:spPr>
      </p:pic>
      <p:sp>
        <p:nvSpPr>
          <p:cNvPr id="101" name="Google Shape;101;p6"/>
          <p:cNvSpPr/>
          <p:nvPr/>
        </p:nvSpPr>
        <p:spPr>
          <a:xfrm>
            <a:off x="1188720" y="2724912"/>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What switches noticing off</a:t>
            </a:r>
            <a:endParaRPr sz="1400">
              <a:solidFill>
                <a:schemeClr val="dk1"/>
              </a:solidFill>
              <a:latin typeface="Calibri"/>
              <a:ea typeface="Calibri"/>
              <a:cs typeface="Calibri"/>
              <a:sym typeface="Calibri"/>
            </a:endParaRPr>
          </a:p>
        </p:txBody>
      </p:sp>
      <p:sp>
        <p:nvSpPr>
          <p:cNvPr id="102" name="Google Shape;102;p6"/>
          <p:cNvSpPr/>
          <p:nvPr/>
        </p:nvSpPr>
        <p:spPr>
          <a:xfrm>
            <a:off x="822960" y="3218688"/>
            <a:ext cx="3474720" cy="1325880"/>
          </a:xfrm>
          <a:prstGeom prst="rect">
            <a:avLst/>
          </a:prstGeom>
          <a:noFill/>
          <a:ln>
            <a:noFill/>
          </a:ln>
        </p:spPr>
        <p:txBody>
          <a:bodyPr anchorCtr="0" anchor="t" bIns="0" lIns="0" spcFirstLastPara="1" rIns="0" wrap="square" tIns="0">
            <a:noAutofit/>
          </a:bodyPr>
          <a:lstStyle/>
          <a:p>
            <a:pPr indent="-177800" lvl="0" marL="177800" marR="0" rtl="0" algn="l">
              <a:lnSpc>
                <a:spcPct val="112000"/>
              </a:lnSpc>
              <a:spcBef>
                <a:spcPts val="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Rushing</a:t>
            </a:r>
            <a:endParaRPr sz="1200">
              <a:solidFill>
                <a:schemeClr val="dk1"/>
              </a:solidFill>
              <a:latin typeface="Calibri"/>
              <a:ea typeface="Calibri"/>
              <a:cs typeface="Calibri"/>
              <a:sym typeface="Calibri"/>
            </a:endParaRPr>
          </a:p>
          <a:p>
            <a:pPr indent="-177800" lvl="0" marL="177800" marR="0" rtl="0" algn="l">
              <a:lnSpc>
                <a:spcPct val="112000"/>
              </a:lnSpc>
              <a:spcBef>
                <a:spcPts val="60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“It's always been like that”</a:t>
            </a:r>
            <a:endParaRPr sz="1200">
              <a:solidFill>
                <a:schemeClr val="dk1"/>
              </a:solidFill>
              <a:latin typeface="Calibri"/>
              <a:ea typeface="Calibri"/>
              <a:cs typeface="Calibri"/>
              <a:sym typeface="Calibri"/>
            </a:endParaRPr>
          </a:p>
          <a:p>
            <a:pPr indent="-177800" lvl="0" marL="177800" marR="0" rtl="0" algn="l">
              <a:lnSpc>
                <a:spcPct val="112000"/>
              </a:lnSpc>
              <a:spcBef>
                <a:spcPts val="60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Distraction — phone, conversation, deadline</a:t>
            </a:r>
            <a:endParaRPr sz="1200">
              <a:solidFill>
                <a:schemeClr val="dk1"/>
              </a:solidFill>
              <a:latin typeface="Calibri"/>
              <a:ea typeface="Calibri"/>
              <a:cs typeface="Calibri"/>
              <a:sym typeface="Calibri"/>
            </a:endParaRPr>
          </a:p>
          <a:p>
            <a:pPr indent="-177800" lvl="0" marL="177800" marR="0" rtl="0" algn="l">
              <a:lnSpc>
                <a:spcPct val="112000"/>
              </a:lnSpc>
              <a:spcBef>
                <a:spcPts val="60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Not wanting to make a fuss</a:t>
            </a:r>
            <a:endParaRPr sz="1200">
              <a:solidFill>
                <a:schemeClr val="dk1"/>
              </a:solidFill>
              <a:latin typeface="Calibri"/>
              <a:ea typeface="Calibri"/>
              <a:cs typeface="Calibri"/>
              <a:sym typeface="Calibri"/>
            </a:endParaRPr>
          </a:p>
        </p:txBody>
      </p:sp>
      <p:sp>
        <p:nvSpPr>
          <p:cNvPr id="103" name="Google Shape;103;p6"/>
          <p:cNvSpPr/>
          <p:nvPr/>
        </p:nvSpPr>
        <p:spPr>
          <a:xfrm>
            <a:off x="4663440" y="2560320"/>
            <a:ext cx="3931920" cy="2103120"/>
          </a:xfrm>
          <a:prstGeom prst="roundRect">
            <a:avLst>
              <a:gd fmla="val 304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4" name="Google Shape;104;p6"/>
          <p:cNvPicPr preferRelativeResize="0"/>
          <p:nvPr/>
        </p:nvPicPr>
        <p:blipFill rotWithShape="1">
          <a:blip r:embed="rId5">
            <a:alphaModFix/>
          </a:blip>
          <a:srcRect b="0" l="0" r="0" t="0"/>
          <a:stretch/>
        </p:blipFill>
        <p:spPr>
          <a:xfrm>
            <a:off x="4864608" y="2743200"/>
            <a:ext cx="310896" cy="310896"/>
          </a:xfrm>
          <a:prstGeom prst="rect">
            <a:avLst/>
          </a:prstGeom>
          <a:noFill/>
          <a:ln>
            <a:noFill/>
          </a:ln>
        </p:spPr>
      </p:pic>
      <p:sp>
        <p:nvSpPr>
          <p:cNvPr id="105" name="Google Shape;105;p6"/>
          <p:cNvSpPr/>
          <p:nvPr/>
        </p:nvSpPr>
        <p:spPr>
          <a:xfrm>
            <a:off x="5303520" y="2724912"/>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What switches it back on</a:t>
            </a:r>
            <a:endParaRPr sz="1400">
              <a:solidFill>
                <a:schemeClr val="dk1"/>
              </a:solidFill>
              <a:latin typeface="Calibri"/>
              <a:ea typeface="Calibri"/>
              <a:cs typeface="Calibri"/>
              <a:sym typeface="Calibri"/>
            </a:endParaRPr>
          </a:p>
        </p:txBody>
      </p:sp>
      <p:sp>
        <p:nvSpPr>
          <p:cNvPr id="106" name="Google Shape;106;p6"/>
          <p:cNvSpPr/>
          <p:nvPr/>
        </p:nvSpPr>
        <p:spPr>
          <a:xfrm>
            <a:off x="4937760" y="3218688"/>
            <a:ext cx="3474720" cy="1325880"/>
          </a:xfrm>
          <a:prstGeom prst="rect">
            <a:avLst/>
          </a:prstGeom>
          <a:noFill/>
          <a:ln>
            <a:noFill/>
          </a:ln>
        </p:spPr>
        <p:txBody>
          <a:bodyPr anchorCtr="0" anchor="t" bIns="0" lIns="0" spcFirstLastPara="1" rIns="0" wrap="square" tIns="0">
            <a:noAutofit/>
          </a:bodyPr>
          <a:lstStyle/>
          <a:p>
            <a:pPr indent="-177800" lvl="0" marL="177800" marR="0" rtl="0" algn="l">
              <a:lnSpc>
                <a:spcPct val="112000"/>
              </a:lnSpc>
              <a:spcBef>
                <a:spcPts val="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Two seconds: is this normal, or has it just become normal?</a:t>
            </a:r>
            <a:endParaRPr sz="1200">
              <a:solidFill>
                <a:schemeClr val="dk1"/>
              </a:solidFill>
              <a:latin typeface="Calibri"/>
              <a:ea typeface="Calibri"/>
              <a:cs typeface="Calibri"/>
              <a:sym typeface="Calibri"/>
            </a:endParaRPr>
          </a:p>
          <a:p>
            <a:pPr indent="-177800" lvl="0" marL="177800" marR="0" rtl="0" algn="l">
              <a:lnSpc>
                <a:spcPct val="112000"/>
              </a:lnSpc>
              <a:spcBef>
                <a:spcPts val="60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Saying it out loud to one other person</a:t>
            </a:r>
            <a:endParaRPr sz="1200">
              <a:solidFill>
                <a:schemeClr val="dk1"/>
              </a:solidFill>
              <a:latin typeface="Calibri"/>
              <a:ea typeface="Calibri"/>
              <a:cs typeface="Calibri"/>
              <a:sym typeface="Calibri"/>
            </a:endParaRPr>
          </a:p>
          <a:p>
            <a:pPr indent="-177800" lvl="0" marL="177800" marR="0" rtl="0" algn="l">
              <a:lnSpc>
                <a:spcPct val="112000"/>
              </a:lnSpc>
              <a:spcBef>
                <a:spcPts val="600"/>
              </a:spcBef>
              <a:spcAft>
                <a:spcPts val="0"/>
              </a:spcAft>
              <a:buClr>
                <a:srgbClr val="1B2A30"/>
              </a:buClr>
              <a:buSzPts val="1200"/>
              <a:buFont typeface="Poppins"/>
              <a:buChar char="•"/>
            </a:pPr>
            <a:r>
              <a:rPr lang="en-US" sz="1200">
                <a:solidFill>
                  <a:srgbClr val="1B2A30"/>
                </a:solidFill>
                <a:latin typeface="Poppins"/>
                <a:ea typeface="Poppins"/>
                <a:cs typeface="Poppins"/>
                <a:sym typeface="Poppins"/>
              </a:rPr>
              <a:t>Treating a near miss as information, not an embarrassment</a:t>
            </a:r>
            <a:endParaRPr sz="1200">
              <a:solidFill>
                <a:schemeClr val="dk1"/>
              </a:solidFill>
              <a:latin typeface="Calibri"/>
              <a:ea typeface="Calibri"/>
              <a:cs typeface="Calibri"/>
              <a:sym typeface="Calibri"/>
            </a:endParaRPr>
          </a:p>
        </p:txBody>
      </p:sp>
      <p:sp>
        <p:nvSpPr>
          <p:cNvPr id="107" name="Google Shape;107;p6"/>
          <p:cNvSpPr/>
          <p:nvPr/>
        </p:nvSpPr>
        <p:spPr>
          <a:xfrm>
            <a:off x="548640" y="4828032"/>
            <a:ext cx="5486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Module C · Health &amp; Safety Introduction · Level 3 Digital and Creative Media (Year 1)</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12" name="Shape 112"/>
        <p:cNvGrpSpPr/>
        <p:nvPr/>
      </p:nvGrpSpPr>
      <p:grpSpPr>
        <a:xfrm>
          <a:off x="0" y="0"/>
          <a:ext cx="0" cy="0"/>
          <a:chOff x="0" y="0"/>
          <a:chExt cx="0" cy="0"/>
        </a:xfrm>
      </p:grpSpPr>
      <p:sp>
        <p:nvSpPr>
          <p:cNvPr id="113" name="Google Shape;113;p7"/>
          <p:cNvSpPr/>
          <p:nvPr/>
        </p:nvSpPr>
        <p:spPr>
          <a:xfrm>
            <a:off x="6858000" y="292608"/>
            <a:ext cx="18745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4" name="Google Shape;114;p7"/>
          <p:cNvPicPr preferRelativeResize="0"/>
          <p:nvPr/>
        </p:nvPicPr>
        <p:blipFill rotWithShape="1">
          <a:blip r:embed="rId3">
            <a:alphaModFix/>
          </a:blip>
          <a:srcRect b="0" l="0" r="0" t="0"/>
          <a:stretch/>
        </p:blipFill>
        <p:spPr>
          <a:xfrm>
            <a:off x="6949440" y="356616"/>
            <a:ext cx="201168" cy="201168"/>
          </a:xfrm>
          <a:prstGeom prst="rect">
            <a:avLst/>
          </a:prstGeom>
          <a:noFill/>
          <a:ln>
            <a:noFill/>
          </a:ln>
        </p:spPr>
      </p:pic>
      <p:sp>
        <p:nvSpPr>
          <p:cNvPr id="115" name="Google Shape;115;p7"/>
          <p:cNvSpPr/>
          <p:nvPr/>
        </p:nvSpPr>
        <p:spPr>
          <a:xfrm>
            <a:off x="7187184" y="292608"/>
            <a:ext cx="1508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TEACHER INPUT</a:t>
            </a:r>
            <a:endParaRPr sz="1100">
              <a:solidFill>
                <a:schemeClr val="dk1"/>
              </a:solidFill>
              <a:latin typeface="Calibri"/>
              <a:ea typeface="Calibri"/>
              <a:cs typeface="Calibri"/>
              <a:sym typeface="Calibri"/>
            </a:endParaRPr>
          </a:p>
        </p:txBody>
      </p:sp>
      <p:sp>
        <p:nvSpPr>
          <p:cNvPr id="116" name="Google Shape;116;p7"/>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WHAT YOU NEED TO KNOW, HERE</a:t>
            </a:r>
            <a:endParaRPr sz="1200">
              <a:solidFill>
                <a:schemeClr val="dk1"/>
              </a:solidFill>
              <a:latin typeface="Calibri"/>
              <a:ea typeface="Calibri"/>
              <a:cs typeface="Calibri"/>
              <a:sym typeface="Calibri"/>
            </a:endParaRPr>
          </a:p>
        </p:txBody>
      </p:sp>
      <p:sp>
        <p:nvSpPr>
          <p:cNvPr id="117" name="Google Shape;117;p7"/>
          <p:cNvSpPr/>
          <p:nvPr/>
        </p:nvSpPr>
        <p:spPr>
          <a:xfrm>
            <a:off x="548640" y="594360"/>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The basics, sorted</a:t>
            </a:r>
            <a:endParaRPr sz="2800">
              <a:solidFill>
                <a:schemeClr val="dk1"/>
              </a:solidFill>
              <a:latin typeface="Calibri"/>
              <a:ea typeface="Calibri"/>
              <a:cs typeface="Calibri"/>
              <a:sym typeface="Calibri"/>
            </a:endParaRPr>
          </a:p>
        </p:txBody>
      </p:sp>
      <p:sp>
        <p:nvSpPr>
          <p:cNvPr id="118" name="Google Shape;118;p7"/>
          <p:cNvSpPr/>
          <p:nvPr/>
        </p:nvSpPr>
        <p:spPr>
          <a:xfrm>
            <a:off x="548640" y="1508760"/>
            <a:ext cx="8046720" cy="1051560"/>
          </a:xfrm>
          <a:prstGeom prst="roundRect">
            <a:avLst>
              <a:gd fmla="val 6957" name="adj"/>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9" name="Google Shape;119;p7"/>
          <p:cNvPicPr preferRelativeResize="0"/>
          <p:nvPr/>
        </p:nvPicPr>
        <p:blipFill rotWithShape="1">
          <a:blip r:embed="rId4">
            <a:alphaModFix/>
          </a:blip>
          <a:srcRect b="0" l="0" r="0" t="0"/>
          <a:stretch/>
        </p:blipFill>
        <p:spPr>
          <a:xfrm>
            <a:off x="713232" y="1655064"/>
            <a:ext cx="274320" cy="274320"/>
          </a:xfrm>
          <a:prstGeom prst="rect">
            <a:avLst/>
          </a:prstGeom>
          <a:noFill/>
          <a:ln>
            <a:noFill/>
          </a:ln>
        </p:spPr>
      </p:pic>
      <p:sp>
        <p:nvSpPr>
          <p:cNvPr id="120" name="Google Shape;120;p7"/>
          <p:cNvSpPr/>
          <p:nvPr/>
        </p:nvSpPr>
        <p:spPr>
          <a:xfrm>
            <a:off x="1115568" y="1600200"/>
            <a:ext cx="7315200" cy="8686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B23A2E"/>
              </a:buClr>
              <a:buSzPts val="1250"/>
              <a:buFont typeface="Poppins"/>
              <a:buNone/>
            </a:pPr>
            <a:r>
              <a:rPr b="1" lang="en-US" sz="1250">
                <a:solidFill>
                  <a:srgbClr val="B23A2E"/>
                </a:solidFill>
                <a:latin typeface="Poppins"/>
                <a:ea typeface="Poppins"/>
                <a:cs typeface="Poppins"/>
                <a:sym typeface="Poppins"/>
              </a:rPr>
              <a:t>If the fire alarm goes</a:t>
            </a:r>
            <a:endParaRPr sz="12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150">
                <a:solidFill>
                  <a:srgbClr val="B23A2E"/>
                </a:solidFill>
                <a:latin typeface="Poppins"/>
                <a:ea typeface="Poppins"/>
                <a:cs typeface="Poppins"/>
                <a:sym typeface="Poppins"/>
              </a:rPr>
              <a:t>Your teacher will confirm the evacuation route from this specific room and your assembly point. Studios, computer labs, and production spaces across campuses have different exits — do not assume it is the same as another room you use.</a:t>
            </a:r>
            <a:endParaRPr sz="1250">
              <a:solidFill>
                <a:schemeClr val="dk1"/>
              </a:solidFill>
              <a:latin typeface="Calibri"/>
              <a:ea typeface="Calibri"/>
              <a:cs typeface="Calibri"/>
              <a:sym typeface="Calibri"/>
            </a:endParaRPr>
          </a:p>
        </p:txBody>
      </p:sp>
      <p:sp>
        <p:nvSpPr>
          <p:cNvPr id="121" name="Google Shape;121;p7"/>
          <p:cNvSpPr/>
          <p:nvPr/>
        </p:nvSpPr>
        <p:spPr>
          <a:xfrm>
            <a:off x="548640" y="2697480"/>
            <a:ext cx="8046720" cy="1051560"/>
          </a:xfrm>
          <a:prstGeom prst="roundRect">
            <a:avLst>
              <a:gd fmla="val 6087"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2" name="Google Shape;122;p7"/>
          <p:cNvPicPr preferRelativeResize="0"/>
          <p:nvPr/>
        </p:nvPicPr>
        <p:blipFill rotWithShape="1">
          <a:blip r:embed="rId5">
            <a:alphaModFix/>
          </a:blip>
          <a:srcRect b="0" l="0" r="0" t="0"/>
          <a:stretch/>
        </p:blipFill>
        <p:spPr>
          <a:xfrm>
            <a:off x="749808" y="2880360"/>
            <a:ext cx="310896" cy="310896"/>
          </a:xfrm>
          <a:prstGeom prst="rect">
            <a:avLst/>
          </a:prstGeom>
          <a:noFill/>
          <a:ln>
            <a:noFill/>
          </a:ln>
        </p:spPr>
      </p:pic>
      <p:sp>
        <p:nvSpPr>
          <p:cNvPr id="123" name="Google Shape;123;p7"/>
          <p:cNvSpPr/>
          <p:nvPr/>
        </p:nvSpPr>
        <p:spPr>
          <a:xfrm>
            <a:off x="1188720" y="2816352"/>
            <a:ext cx="731520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D2434"/>
              </a:buClr>
              <a:buSzPts val="1300"/>
              <a:buFont typeface="Poppins"/>
              <a:buNone/>
            </a:pPr>
            <a:r>
              <a:rPr b="1" lang="en-US" sz="1300">
                <a:solidFill>
                  <a:srgbClr val="0D2434"/>
                </a:solidFill>
                <a:latin typeface="Poppins"/>
                <a:ea typeface="Poppins"/>
                <a:cs typeface="Poppins"/>
                <a:sym typeface="Poppins"/>
              </a:rPr>
              <a:t>If something's not right — including the toilets</a:t>
            </a:r>
            <a:endParaRPr sz="13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Tell your teacher. Hazard, near miss, damage, or just something that isn't working — that's your first point of contact, and they'll take it from there. None of that is making a fuss; it's exactly the noticing this session is about.</a:t>
            </a:r>
            <a:endParaRPr sz="1300">
              <a:solidFill>
                <a:schemeClr val="dk1"/>
              </a:solidFill>
              <a:latin typeface="Calibri"/>
              <a:ea typeface="Calibri"/>
              <a:cs typeface="Calibri"/>
              <a:sym typeface="Calibri"/>
            </a:endParaRPr>
          </a:p>
        </p:txBody>
      </p:sp>
      <p:sp>
        <p:nvSpPr>
          <p:cNvPr id="124" name="Google Shape;124;p7"/>
          <p:cNvSpPr/>
          <p:nvPr/>
        </p:nvSpPr>
        <p:spPr>
          <a:xfrm>
            <a:off x="548640" y="3886200"/>
            <a:ext cx="8046720" cy="1051560"/>
          </a:xfrm>
          <a:prstGeom prst="roundRect">
            <a:avLst>
              <a:gd fmla="val 6087"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5" name="Google Shape;125;p7"/>
          <p:cNvPicPr preferRelativeResize="0"/>
          <p:nvPr/>
        </p:nvPicPr>
        <p:blipFill rotWithShape="1">
          <a:blip r:embed="rId6">
            <a:alphaModFix/>
          </a:blip>
          <a:srcRect b="0" l="0" r="0" t="0"/>
          <a:stretch/>
        </p:blipFill>
        <p:spPr>
          <a:xfrm>
            <a:off x="749808" y="4050792"/>
            <a:ext cx="310896" cy="310896"/>
          </a:xfrm>
          <a:prstGeom prst="rect">
            <a:avLst/>
          </a:prstGeom>
          <a:noFill/>
          <a:ln>
            <a:noFill/>
          </a:ln>
        </p:spPr>
      </p:pic>
      <p:sp>
        <p:nvSpPr>
          <p:cNvPr id="126" name="Google Shape;126;p7"/>
          <p:cNvSpPr/>
          <p:nvPr/>
        </p:nvSpPr>
        <p:spPr>
          <a:xfrm>
            <a:off x="1188720" y="3977640"/>
            <a:ext cx="7315200" cy="8686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And a few things that hold everywhere: keep walkways and fire exits clear, don't prop doors open "just for now", and where PPE is required, it's required — not a judgement call on the day.</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31" name="Shape 131"/>
        <p:cNvGrpSpPr/>
        <p:nvPr/>
      </p:nvGrpSpPr>
      <p:grpSpPr>
        <a:xfrm>
          <a:off x="0" y="0"/>
          <a:ext cx="0" cy="0"/>
          <a:chOff x="0" y="0"/>
          <a:chExt cx="0" cy="0"/>
        </a:xfrm>
      </p:grpSpPr>
      <p:sp>
        <p:nvSpPr>
          <p:cNvPr id="132" name="Google Shape;132;p8"/>
          <p:cNvSpPr/>
          <p:nvPr/>
        </p:nvSpPr>
        <p:spPr>
          <a:xfrm>
            <a:off x="7040880" y="292608"/>
            <a:ext cx="169164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3" name="Google Shape;133;p8"/>
          <p:cNvPicPr preferRelativeResize="0"/>
          <p:nvPr/>
        </p:nvPicPr>
        <p:blipFill rotWithShape="1">
          <a:blip r:embed="rId3">
            <a:alphaModFix/>
          </a:blip>
          <a:srcRect b="0" l="0" r="0" t="0"/>
          <a:stretch/>
        </p:blipFill>
        <p:spPr>
          <a:xfrm>
            <a:off x="7132320" y="356616"/>
            <a:ext cx="201168" cy="201168"/>
          </a:xfrm>
          <a:prstGeom prst="rect">
            <a:avLst/>
          </a:prstGeom>
          <a:noFill/>
          <a:ln>
            <a:noFill/>
          </a:ln>
        </p:spPr>
      </p:pic>
      <p:sp>
        <p:nvSpPr>
          <p:cNvPr id="134" name="Google Shape;134;p8"/>
          <p:cNvSpPr/>
          <p:nvPr/>
        </p:nvSpPr>
        <p:spPr>
          <a:xfrm>
            <a:off x="7370064" y="292608"/>
            <a:ext cx="1325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DISCUSSION</a:t>
            </a:r>
            <a:endParaRPr sz="1100">
              <a:solidFill>
                <a:schemeClr val="dk1"/>
              </a:solidFill>
              <a:latin typeface="Calibri"/>
              <a:ea typeface="Calibri"/>
              <a:cs typeface="Calibri"/>
              <a:sym typeface="Calibri"/>
            </a:endParaRPr>
          </a:p>
        </p:txBody>
      </p:sp>
      <p:sp>
        <p:nvSpPr>
          <p:cNvPr id="135" name="Google Shape;135;p8"/>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PROUD · SHOW RESPECT</a:t>
            </a:r>
            <a:endParaRPr sz="1200">
              <a:solidFill>
                <a:schemeClr val="dk1"/>
              </a:solidFill>
              <a:latin typeface="Calibri"/>
              <a:ea typeface="Calibri"/>
              <a:cs typeface="Calibri"/>
              <a:sym typeface="Calibri"/>
            </a:endParaRPr>
          </a:p>
        </p:txBody>
      </p:sp>
      <p:sp>
        <p:nvSpPr>
          <p:cNvPr id="136" name="Google Shape;136;p8"/>
          <p:cNvSpPr/>
          <p:nvPr/>
        </p:nvSpPr>
        <p:spPr>
          <a:xfrm>
            <a:off x="548640" y="594360"/>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Show respect</a:t>
            </a:r>
            <a:endParaRPr sz="2800">
              <a:solidFill>
                <a:schemeClr val="dk1"/>
              </a:solidFill>
              <a:latin typeface="Calibri"/>
              <a:ea typeface="Calibri"/>
              <a:cs typeface="Calibri"/>
              <a:sym typeface="Calibri"/>
            </a:endParaRPr>
          </a:p>
        </p:txBody>
      </p:sp>
      <p:sp>
        <p:nvSpPr>
          <p:cNvPr id="137" name="Google Shape;137;p8"/>
          <p:cNvSpPr/>
          <p:nvPr/>
        </p:nvSpPr>
        <p:spPr>
          <a:xfrm>
            <a:off x="548640" y="1554480"/>
            <a:ext cx="8046720" cy="1097280"/>
          </a:xfrm>
          <a:prstGeom prst="roundRect">
            <a:avLst>
              <a:gd fmla="val 583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8"/>
          <p:cNvSpPr/>
          <p:nvPr/>
        </p:nvSpPr>
        <p:spPr>
          <a:xfrm>
            <a:off x="777240" y="1783080"/>
            <a:ext cx="640080" cy="64008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9" name="Google Shape;139;p8"/>
          <p:cNvPicPr preferRelativeResize="0"/>
          <p:nvPr/>
        </p:nvPicPr>
        <p:blipFill rotWithShape="1">
          <a:blip r:embed="rId4">
            <a:alphaModFix/>
          </a:blip>
          <a:srcRect b="0" l="0" r="0" t="0"/>
          <a:stretch/>
        </p:blipFill>
        <p:spPr>
          <a:xfrm>
            <a:off x="950976" y="1956816"/>
            <a:ext cx="292608" cy="292608"/>
          </a:xfrm>
          <a:prstGeom prst="rect">
            <a:avLst/>
          </a:prstGeom>
          <a:noFill/>
          <a:ln>
            <a:noFill/>
          </a:ln>
        </p:spPr>
      </p:pic>
      <p:sp>
        <p:nvSpPr>
          <p:cNvPr id="140" name="Google Shape;140;p8"/>
          <p:cNvSpPr/>
          <p:nvPr/>
        </p:nvSpPr>
        <p:spPr>
          <a:xfrm>
            <a:off x="1600200" y="1664208"/>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For the space</a:t>
            </a:r>
            <a:endParaRPr sz="1400">
              <a:solidFill>
                <a:schemeClr val="dk1"/>
              </a:solidFill>
              <a:latin typeface="Calibri"/>
              <a:ea typeface="Calibri"/>
              <a:cs typeface="Calibri"/>
              <a:sym typeface="Calibri"/>
            </a:endParaRPr>
          </a:p>
        </p:txBody>
      </p:sp>
      <p:sp>
        <p:nvSpPr>
          <p:cNvPr id="141" name="Google Shape;141;p8"/>
          <p:cNvSpPr/>
          <p:nvPr/>
        </p:nvSpPr>
        <p:spPr>
          <a:xfrm>
            <a:off x="1600200" y="1975104"/>
            <a:ext cx="676656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50"/>
              <a:buFont typeface="Poppins"/>
              <a:buNone/>
            </a:pPr>
            <a:r>
              <a:rPr lang="en-US" sz="1250">
                <a:solidFill>
                  <a:srgbClr val="1B2A30"/>
                </a:solidFill>
                <a:latin typeface="Poppins"/>
                <a:ea typeface="Poppins"/>
                <a:cs typeface="Poppins"/>
                <a:sym typeface="Poppins"/>
              </a:rPr>
              <a:t>Leaving it as you'd want to find it. Reporting damage rather than walking past it. “Someone else will sort it” is how things stop getting sorted.</a:t>
            </a:r>
            <a:endParaRPr sz="1250">
              <a:solidFill>
                <a:schemeClr val="dk1"/>
              </a:solidFill>
              <a:latin typeface="Calibri"/>
              <a:ea typeface="Calibri"/>
              <a:cs typeface="Calibri"/>
              <a:sym typeface="Calibri"/>
            </a:endParaRPr>
          </a:p>
        </p:txBody>
      </p:sp>
      <p:sp>
        <p:nvSpPr>
          <p:cNvPr id="142" name="Google Shape;142;p8"/>
          <p:cNvSpPr/>
          <p:nvPr/>
        </p:nvSpPr>
        <p:spPr>
          <a:xfrm>
            <a:off x="548640" y="2761488"/>
            <a:ext cx="8046720" cy="1097280"/>
          </a:xfrm>
          <a:prstGeom prst="roundRect">
            <a:avLst>
              <a:gd fmla="val 583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8"/>
          <p:cNvSpPr/>
          <p:nvPr/>
        </p:nvSpPr>
        <p:spPr>
          <a:xfrm>
            <a:off x="777240" y="2990088"/>
            <a:ext cx="640080" cy="64008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4" name="Google Shape;144;p8"/>
          <p:cNvPicPr preferRelativeResize="0"/>
          <p:nvPr/>
        </p:nvPicPr>
        <p:blipFill rotWithShape="1">
          <a:blip r:embed="rId5">
            <a:alphaModFix/>
          </a:blip>
          <a:srcRect b="0" l="0" r="0" t="0"/>
          <a:stretch/>
        </p:blipFill>
        <p:spPr>
          <a:xfrm>
            <a:off x="950976" y="3163824"/>
            <a:ext cx="292608" cy="292608"/>
          </a:xfrm>
          <a:prstGeom prst="rect">
            <a:avLst/>
          </a:prstGeom>
          <a:noFill/>
          <a:ln>
            <a:noFill/>
          </a:ln>
        </p:spPr>
      </p:pic>
      <p:sp>
        <p:nvSpPr>
          <p:cNvPr id="145" name="Google Shape;145;p8"/>
          <p:cNvSpPr/>
          <p:nvPr/>
        </p:nvSpPr>
        <p:spPr>
          <a:xfrm>
            <a:off x="1600200" y="2871216"/>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For each other</a:t>
            </a:r>
            <a:endParaRPr sz="1400">
              <a:solidFill>
                <a:schemeClr val="dk1"/>
              </a:solidFill>
              <a:latin typeface="Calibri"/>
              <a:ea typeface="Calibri"/>
              <a:cs typeface="Calibri"/>
              <a:sym typeface="Calibri"/>
            </a:endParaRPr>
          </a:p>
        </p:txBody>
      </p:sp>
      <p:sp>
        <p:nvSpPr>
          <p:cNvPr id="146" name="Google Shape;146;p8"/>
          <p:cNvSpPr/>
          <p:nvPr/>
        </p:nvSpPr>
        <p:spPr>
          <a:xfrm>
            <a:off x="1600200" y="3182112"/>
            <a:ext cx="676656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50"/>
              <a:buFont typeface="Poppins"/>
              <a:buNone/>
            </a:pPr>
            <a:r>
              <a:rPr lang="en-US" sz="1250">
                <a:solidFill>
                  <a:srgbClr val="1B2A30"/>
                </a:solidFill>
                <a:latin typeface="Poppins"/>
                <a:ea typeface="Poppins"/>
                <a:cs typeface="Poppins"/>
                <a:sym typeface="Poppins"/>
              </a:rPr>
              <a:t>Messing with someone’s camera rig, audio setup, lighting configuration, or workstation “as a joke” isn’t banter — it’s a safety issue with someone else’s name on it.</a:t>
            </a:r>
            <a:endParaRPr sz="1250">
              <a:solidFill>
                <a:schemeClr val="dk1"/>
              </a:solidFill>
              <a:latin typeface="Calibri"/>
              <a:ea typeface="Calibri"/>
              <a:cs typeface="Calibri"/>
              <a:sym typeface="Calibri"/>
            </a:endParaRPr>
          </a:p>
        </p:txBody>
      </p:sp>
      <p:sp>
        <p:nvSpPr>
          <p:cNvPr id="147" name="Google Shape;147;p8"/>
          <p:cNvSpPr/>
          <p:nvPr/>
        </p:nvSpPr>
        <p:spPr>
          <a:xfrm>
            <a:off x="548640" y="3968496"/>
            <a:ext cx="8046720" cy="1097280"/>
          </a:xfrm>
          <a:prstGeom prst="roundRect">
            <a:avLst>
              <a:gd fmla="val 583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8"/>
          <p:cNvSpPr/>
          <p:nvPr/>
        </p:nvSpPr>
        <p:spPr>
          <a:xfrm>
            <a:off x="777240" y="4197096"/>
            <a:ext cx="640080" cy="64008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9" name="Google Shape;149;p8"/>
          <p:cNvPicPr preferRelativeResize="0"/>
          <p:nvPr/>
        </p:nvPicPr>
        <p:blipFill rotWithShape="1">
          <a:blip r:embed="rId6">
            <a:alphaModFix/>
          </a:blip>
          <a:srcRect b="0" l="0" r="0" t="0"/>
          <a:stretch/>
        </p:blipFill>
        <p:spPr>
          <a:xfrm>
            <a:off x="950976" y="4370832"/>
            <a:ext cx="292608" cy="292608"/>
          </a:xfrm>
          <a:prstGeom prst="rect">
            <a:avLst/>
          </a:prstGeom>
          <a:noFill/>
          <a:ln>
            <a:noFill/>
          </a:ln>
        </p:spPr>
      </p:pic>
      <p:sp>
        <p:nvSpPr>
          <p:cNvPr id="150" name="Google Shape;150;p8"/>
          <p:cNvSpPr/>
          <p:nvPr/>
        </p:nvSpPr>
        <p:spPr>
          <a:xfrm>
            <a:off x="1600200" y="4078224"/>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b="1" lang="en-US" sz="1400">
                <a:solidFill>
                  <a:srgbClr val="0D2434"/>
                </a:solidFill>
                <a:latin typeface="Poppins SemiBold"/>
                <a:ea typeface="Poppins SemiBold"/>
                <a:cs typeface="Poppins SemiBold"/>
                <a:sym typeface="Poppins SemiBold"/>
              </a:rPr>
              <a:t>For the people who flag things</a:t>
            </a:r>
            <a:endParaRPr sz="1400">
              <a:solidFill>
                <a:schemeClr val="dk1"/>
              </a:solidFill>
              <a:latin typeface="Calibri"/>
              <a:ea typeface="Calibri"/>
              <a:cs typeface="Calibri"/>
              <a:sym typeface="Calibri"/>
            </a:endParaRPr>
          </a:p>
        </p:txBody>
      </p:sp>
      <p:sp>
        <p:nvSpPr>
          <p:cNvPr id="151" name="Google Shape;151;p8"/>
          <p:cNvSpPr/>
          <p:nvPr/>
        </p:nvSpPr>
        <p:spPr>
          <a:xfrm>
            <a:off x="1600200" y="4389120"/>
            <a:ext cx="676656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50"/>
              <a:buFont typeface="Poppins"/>
              <a:buNone/>
            </a:pPr>
            <a:r>
              <a:rPr lang="en-US" sz="1250">
                <a:solidFill>
                  <a:srgbClr val="1B2A30"/>
                </a:solidFill>
                <a:latin typeface="Poppins"/>
                <a:ea typeface="Poppins"/>
                <a:cs typeface="Poppins"/>
                <a:sym typeface="Poppins"/>
              </a:rPr>
              <a:t>When a tutor pauses a practical for a safety reason, that's not someone being precious. That's the system working as it should.</a:t>
            </a:r>
            <a:endParaRPr sz="12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56" name="Shape 156"/>
        <p:cNvGrpSpPr/>
        <p:nvPr/>
      </p:nvGrpSpPr>
      <p:grpSpPr>
        <a:xfrm>
          <a:off x="0" y="0"/>
          <a:ext cx="0" cy="0"/>
          <a:chOff x="0" y="0"/>
          <a:chExt cx="0" cy="0"/>
        </a:xfrm>
      </p:grpSpPr>
      <p:sp>
        <p:nvSpPr>
          <p:cNvPr id="157" name="Google Shape;157;p9"/>
          <p:cNvSpPr/>
          <p:nvPr/>
        </p:nvSpPr>
        <p:spPr>
          <a:xfrm>
            <a:off x="6858000" y="292608"/>
            <a:ext cx="18745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8" name="Google Shape;158;p9"/>
          <p:cNvPicPr preferRelativeResize="0"/>
          <p:nvPr/>
        </p:nvPicPr>
        <p:blipFill rotWithShape="1">
          <a:blip r:embed="rId3">
            <a:alphaModFix/>
          </a:blip>
          <a:srcRect b="0" l="0" r="0" t="0"/>
          <a:stretch/>
        </p:blipFill>
        <p:spPr>
          <a:xfrm>
            <a:off x="6949440" y="356616"/>
            <a:ext cx="201168" cy="201168"/>
          </a:xfrm>
          <a:prstGeom prst="rect">
            <a:avLst/>
          </a:prstGeom>
          <a:noFill/>
          <a:ln>
            <a:noFill/>
          </a:ln>
        </p:spPr>
      </p:pic>
      <p:sp>
        <p:nvSpPr>
          <p:cNvPr id="159" name="Google Shape;159;p9"/>
          <p:cNvSpPr/>
          <p:nvPr/>
        </p:nvSpPr>
        <p:spPr>
          <a:xfrm>
            <a:off x="7187184" y="292608"/>
            <a:ext cx="1508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TEACHER INPUT</a:t>
            </a:r>
            <a:endParaRPr sz="1100">
              <a:solidFill>
                <a:schemeClr val="dk1"/>
              </a:solidFill>
              <a:latin typeface="Calibri"/>
              <a:ea typeface="Calibri"/>
              <a:cs typeface="Calibri"/>
              <a:sym typeface="Calibri"/>
            </a:endParaRPr>
          </a:p>
        </p:txBody>
      </p:sp>
      <p:sp>
        <p:nvSpPr>
          <p:cNvPr id="160" name="Google Shape;160;p9"/>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NOW MAKE IT SPECIFIC — WHAT'S SPECIFIC TO YOU</a:t>
            </a:r>
            <a:endParaRPr sz="1200">
              <a:solidFill>
                <a:schemeClr val="dk1"/>
              </a:solidFill>
              <a:latin typeface="Calibri"/>
              <a:ea typeface="Calibri"/>
              <a:cs typeface="Calibri"/>
              <a:sym typeface="Calibri"/>
            </a:endParaRPr>
          </a:p>
        </p:txBody>
      </p:sp>
      <p:sp>
        <p:nvSpPr>
          <p:cNvPr id="161" name="Google Shape;161;p9"/>
          <p:cNvSpPr/>
          <p:nvPr/>
        </p:nvSpPr>
        <p:spPr>
          <a:xfrm>
            <a:off x="548640" y="594360"/>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Your subject area</a:t>
            </a:r>
            <a:endParaRPr sz="2800">
              <a:solidFill>
                <a:schemeClr val="dk1"/>
              </a:solidFill>
              <a:latin typeface="Calibri"/>
              <a:ea typeface="Calibri"/>
              <a:cs typeface="Calibri"/>
              <a:sym typeface="Calibri"/>
            </a:endParaRPr>
          </a:p>
        </p:txBody>
      </p:sp>
      <p:sp>
        <p:nvSpPr>
          <p:cNvPr id="162" name="Google Shape;162;p9"/>
          <p:cNvSpPr/>
          <p:nvPr/>
        </p:nvSpPr>
        <p:spPr>
          <a:xfrm>
            <a:off x="164125" y="1053500"/>
            <a:ext cx="8568300" cy="3883800"/>
          </a:xfrm>
          <a:prstGeom prst="roundRect">
            <a:avLst>
              <a:gd fmla="val 2254" name="adj"/>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3" name="Google Shape;163;p9"/>
          <p:cNvPicPr preferRelativeResize="0"/>
          <p:nvPr/>
        </p:nvPicPr>
        <p:blipFill rotWithShape="1">
          <a:blip r:embed="rId4">
            <a:alphaModFix/>
          </a:blip>
          <a:srcRect b="0" l="0" r="0" t="0"/>
          <a:stretch/>
        </p:blipFill>
        <p:spPr>
          <a:xfrm>
            <a:off x="237757" y="1187464"/>
            <a:ext cx="310896" cy="310896"/>
          </a:xfrm>
          <a:prstGeom prst="rect">
            <a:avLst/>
          </a:prstGeom>
          <a:noFill/>
          <a:ln>
            <a:noFill/>
          </a:ln>
        </p:spPr>
      </p:pic>
      <p:sp>
        <p:nvSpPr>
          <p:cNvPr id="164" name="Google Shape;164;p9"/>
          <p:cNvSpPr/>
          <p:nvPr/>
        </p:nvSpPr>
        <p:spPr>
          <a:xfrm>
            <a:off x="548650" y="1187475"/>
            <a:ext cx="8079600" cy="34761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B23A2E"/>
              </a:buClr>
              <a:buSzPts val="1250"/>
              <a:buFont typeface="Poppins"/>
              <a:buNone/>
            </a:pPr>
            <a:r>
              <a:rPr b="1" lang="en-US" sz="1150">
                <a:solidFill>
                  <a:srgbClr val="B23A2E"/>
                </a:solidFill>
                <a:latin typeface="Poppins"/>
                <a:ea typeface="Poppins"/>
                <a:cs typeface="Poppins"/>
                <a:sym typeface="Poppins"/>
              </a:rPr>
              <a:t>Four things about working safely in professional media and digital environments — including on location.</a:t>
            </a:r>
            <a:endParaRPr sz="11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050">
                <a:solidFill>
                  <a:srgbClr val="B23A2E"/>
                </a:solidFill>
                <a:latin typeface="Poppins"/>
                <a:ea typeface="Poppins"/>
                <a:cs typeface="Poppins"/>
                <a:sym typeface="Poppins"/>
              </a:rPr>
              <a:t>1. No traditional PPE in this environment. Closed-toe shoes are required in any studio where lighting equipment or stands are in use — a toppling lighting stand causes serious foot injury, and this is standard across the UK broadcast and events industry. For location shoots: appropriate footwear for the terrain, weather-appropriate clothing, and hi-vis if working near public roads. For T Level students on industry placement: your host organisation’s PPE requirements apply from day one.</a:t>
            </a:r>
            <a:endParaRPr sz="11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050">
                <a:solidFill>
                  <a:srgbClr val="B23A2E"/>
                </a:solidFill>
                <a:latin typeface="Poppins"/>
                <a:ea typeface="Poppins"/>
                <a:cs typeface="Poppins"/>
                <a:sym typeface="Poppins"/>
              </a:rPr>
              <a:t>2. Equipment rules and why they exist. Lighting stands: sandbags on base legs when extended — this is BBC and BECTU industry standard; without them, a stand above shoulder height is a falling risk. Cameras: wrist strap always; tripod head locked before releasing your grip. Audio: boom poles pass through doorways horizontally below head height; cables coiled and stored immediately after use — trailing cables are the most common trip hazard in broadcast environments. Location filming: written risk assessment approved by your tutor before any off-campus shoot — this is college policy and industry practice.</a:t>
            </a:r>
            <a:endParaRPr sz="11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050">
                <a:solidFill>
                  <a:srgbClr val="B23A2E"/>
                </a:solidFill>
                <a:latin typeface="Poppins"/>
                <a:ea typeface="Poppins"/>
                <a:cs typeface="Poppins"/>
                <a:sym typeface="Poppins"/>
              </a:rPr>
              <a:t>3. Substances. Most programmes use no COSHH substances. Exception: darkroom/analogue photography — developer, stop bath, and fixer are COSHH chemicals; gloves and eye protection mandatory; data sheets held by the technician. T Level placement COSHH procedures are covered in your pre-placement briefing.</a:t>
            </a:r>
            <a:endParaRPr sz="115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B23A2E"/>
              </a:buClr>
              <a:buSzPts val="1150"/>
              <a:buFont typeface="Poppins"/>
              <a:buNone/>
            </a:pPr>
            <a:r>
              <a:rPr lang="en-US" sz="1050">
                <a:solidFill>
                  <a:srgbClr val="B23A2E"/>
                </a:solidFill>
                <a:latin typeface="Poppins"/>
                <a:ea typeface="Poppins"/>
                <a:cs typeface="Poppins"/>
                <a:sym typeface="Poppins"/>
              </a:rPr>
              <a:t>4. Responsibilities. You: return all equipment to its storage position; report faults before you leave; submit risk assessments before any location shoot. Your tutor: signs off risk assessments; checks studio at session start. Technician/college: PAT testing, electrical maintenance, COSHH storage. T Level students: pre-placement H&amp;S induction is mandatory — confirm dates in Week 1.</a:t>
            </a:r>
            <a:endParaRPr sz="11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69" name="Shape 169"/>
        <p:cNvGrpSpPr/>
        <p:nvPr/>
      </p:nvGrpSpPr>
      <p:grpSpPr>
        <a:xfrm>
          <a:off x="0" y="0"/>
          <a:ext cx="0" cy="0"/>
          <a:chOff x="0" y="0"/>
          <a:chExt cx="0" cy="0"/>
        </a:xfrm>
      </p:grpSpPr>
      <p:sp>
        <p:nvSpPr>
          <p:cNvPr id="170" name="Google Shape;170;p10"/>
          <p:cNvSpPr/>
          <p:nvPr/>
        </p:nvSpPr>
        <p:spPr>
          <a:xfrm>
            <a:off x="7315200" y="292608"/>
            <a:ext cx="14173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1" name="Google Shape;171;p10"/>
          <p:cNvPicPr preferRelativeResize="0"/>
          <p:nvPr/>
        </p:nvPicPr>
        <p:blipFill rotWithShape="1">
          <a:blip r:embed="rId3">
            <a:alphaModFix/>
          </a:blip>
          <a:srcRect b="0" l="0" r="0" t="0"/>
          <a:stretch/>
        </p:blipFill>
        <p:spPr>
          <a:xfrm>
            <a:off x="7406640" y="356616"/>
            <a:ext cx="201168" cy="201168"/>
          </a:xfrm>
          <a:prstGeom prst="rect">
            <a:avLst/>
          </a:prstGeom>
          <a:noFill/>
          <a:ln>
            <a:noFill/>
          </a:ln>
        </p:spPr>
      </p:pic>
      <p:sp>
        <p:nvSpPr>
          <p:cNvPr id="172" name="Google Shape;172;p10"/>
          <p:cNvSpPr/>
          <p:nvPr/>
        </p:nvSpPr>
        <p:spPr>
          <a:xfrm>
            <a:off x="7644384" y="292608"/>
            <a:ext cx="1051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ACTIVITY</a:t>
            </a:r>
            <a:endParaRPr sz="1100">
              <a:solidFill>
                <a:schemeClr val="dk1"/>
              </a:solidFill>
              <a:latin typeface="Calibri"/>
              <a:ea typeface="Calibri"/>
              <a:cs typeface="Calibri"/>
              <a:sym typeface="Calibri"/>
            </a:endParaRPr>
          </a:p>
        </p:txBody>
      </p:sp>
      <p:sp>
        <p:nvSpPr>
          <p:cNvPr id="173" name="Google Shape;173;p10"/>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ACTIVITY · PAIRS · ~8 MINUTES</a:t>
            </a:r>
            <a:endParaRPr sz="1200">
              <a:solidFill>
                <a:schemeClr val="dk1"/>
              </a:solidFill>
              <a:latin typeface="Calibri"/>
              <a:ea typeface="Calibri"/>
              <a:cs typeface="Calibri"/>
              <a:sym typeface="Calibri"/>
            </a:endParaRPr>
          </a:p>
        </p:txBody>
      </p:sp>
      <p:sp>
        <p:nvSpPr>
          <p:cNvPr id="174" name="Google Shape;174;p10"/>
          <p:cNvSpPr/>
          <p:nvPr/>
        </p:nvSpPr>
        <p:spPr>
          <a:xfrm>
            <a:off x="548640" y="594360"/>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Quick check: who's responsible?</a:t>
            </a:r>
            <a:endParaRPr sz="2800">
              <a:solidFill>
                <a:schemeClr val="dk1"/>
              </a:solidFill>
              <a:latin typeface="Calibri"/>
              <a:ea typeface="Calibri"/>
              <a:cs typeface="Calibri"/>
              <a:sym typeface="Calibri"/>
            </a:endParaRPr>
          </a:p>
        </p:txBody>
      </p:sp>
      <p:sp>
        <p:nvSpPr>
          <p:cNvPr id="175" name="Google Shape;175;p10"/>
          <p:cNvSpPr/>
          <p:nvPr/>
        </p:nvSpPr>
        <p:spPr>
          <a:xfrm>
            <a:off x="561426" y="1417325"/>
            <a:ext cx="8343900" cy="502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300"/>
              <a:buFont typeface="Poppins"/>
              <a:buNone/>
            </a:pPr>
            <a:r>
              <a:rPr i="1" lang="en-US" sz="1300">
                <a:solidFill>
                  <a:srgbClr val="5A6A6F"/>
                </a:solidFill>
                <a:latin typeface="Poppins"/>
                <a:ea typeface="Poppins"/>
                <a:cs typeface="Poppins"/>
                <a:sym typeface="Poppins"/>
              </a:rPr>
              <a:t>Some of this is yours. Some of it is the college's. Most of it is shared. This isn't a test — if you don't know an answer, that's useful information for both of you.</a:t>
            </a:r>
            <a:endParaRPr sz="1300">
              <a:solidFill>
                <a:schemeClr val="dk1"/>
              </a:solidFill>
              <a:latin typeface="Calibri"/>
              <a:ea typeface="Calibri"/>
              <a:cs typeface="Calibri"/>
              <a:sym typeface="Calibri"/>
            </a:endParaRPr>
          </a:p>
        </p:txBody>
      </p:sp>
      <p:sp>
        <p:nvSpPr>
          <p:cNvPr id="176" name="Google Shape;176;p10"/>
          <p:cNvSpPr/>
          <p:nvPr/>
        </p:nvSpPr>
        <p:spPr>
          <a:xfrm>
            <a:off x="202300" y="2057404"/>
            <a:ext cx="4252500" cy="1303500"/>
          </a:xfrm>
          <a:prstGeom prst="roundRect">
            <a:avLst>
              <a:gd fmla="val 700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0"/>
          <p:cNvSpPr/>
          <p:nvPr/>
        </p:nvSpPr>
        <p:spPr>
          <a:xfrm>
            <a:off x="264495" y="2427696"/>
            <a:ext cx="379200" cy="3657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10"/>
          <p:cNvSpPr/>
          <p:nvPr/>
        </p:nvSpPr>
        <p:spPr>
          <a:xfrm>
            <a:off x="264495" y="2427696"/>
            <a:ext cx="379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1</a:t>
            </a:r>
            <a:endParaRPr sz="1400">
              <a:solidFill>
                <a:schemeClr val="dk1"/>
              </a:solidFill>
              <a:latin typeface="Calibri"/>
              <a:ea typeface="Calibri"/>
              <a:cs typeface="Calibri"/>
              <a:sym typeface="Calibri"/>
            </a:endParaRPr>
          </a:p>
        </p:txBody>
      </p:sp>
      <p:sp>
        <p:nvSpPr>
          <p:cNvPr id="179" name="Google Shape;179;p10"/>
          <p:cNvSpPr/>
          <p:nvPr/>
        </p:nvSpPr>
        <p:spPr>
          <a:xfrm>
            <a:off x="942079" y="2089162"/>
            <a:ext cx="3412200" cy="1042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Where's your nearest fire exit from this room, and where's your assembly point?</a:t>
            </a:r>
            <a:endParaRPr sz="1200">
              <a:solidFill>
                <a:schemeClr val="dk1"/>
              </a:solidFill>
              <a:latin typeface="Calibri"/>
              <a:ea typeface="Calibri"/>
              <a:cs typeface="Calibri"/>
              <a:sym typeface="Calibri"/>
            </a:endParaRPr>
          </a:p>
        </p:txBody>
      </p:sp>
      <p:sp>
        <p:nvSpPr>
          <p:cNvPr id="180" name="Google Shape;180;p10"/>
          <p:cNvSpPr/>
          <p:nvPr/>
        </p:nvSpPr>
        <p:spPr>
          <a:xfrm>
            <a:off x="4652662" y="2057404"/>
            <a:ext cx="4252500" cy="1303500"/>
          </a:xfrm>
          <a:prstGeom prst="roundRect">
            <a:avLst>
              <a:gd fmla="val 700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0"/>
          <p:cNvSpPr/>
          <p:nvPr/>
        </p:nvSpPr>
        <p:spPr>
          <a:xfrm>
            <a:off x="4830677" y="2292048"/>
            <a:ext cx="395400" cy="5214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0"/>
          <p:cNvSpPr/>
          <p:nvPr/>
        </p:nvSpPr>
        <p:spPr>
          <a:xfrm>
            <a:off x="4830677" y="2292048"/>
            <a:ext cx="395400" cy="52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2</a:t>
            </a:r>
            <a:endParaRPr sz="1400">
              <a:solidFill>
                <a:schemeClr val="dk1"/>
              </a:solidFill>
              <a:latin typeface="Calibri"/>
              <a:ea typeface="Calibri"/>
              <a:cs typeface="Calibri"/>
              <a:sym typeface="Calibri"/>
            </a:endParaRPr>
          </a:p>
        </p:txBody>
      </p:sp>
      <p:sp>
        <p:nvSpPr>
          <p:cNvPr id="183" name="Google Shape;183;p10"/>
          <p:cNvSpPr/>
          <p:nvPr/>
        </p:nvSpPr>
        <p:spPr>
          <a:xfrm>
            <a:off x="5344941" y="2187762"/>
            <a:ext cx="3412200" cy="1042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You arrive at a studio session and notice a lighting stand is fully extended with no sandbags on the base legs, left over from the previous group. What do you do — and why does the reason matter more than the action?</a:t>
            </a:r>
            <a:endParaRPr sz="1200">
              <a:solidFill>
                <a:schemeClr val="dk1"/>
              </a:solidFill>
              <a:latin typeface="Calibri"/>
              <a:ea typeface="Calibri"/>
              <a:cs typeface="Calibri"/>
              <a:sym typeface="Calibri"/>
            </a:endParaRPr>
          </a:p>
        </p:txBody>
      </p:sp>
      <p:sp>
        <p:nvSpPr>
          <p:cNvPr id="184" name="Google Shape;184;p10"/>
          <p:cNvSpPr/>
          <p:nvPr/>
        </p:nvSpPr>
        <p:spPr>
          <a:xfrm>
            <a:off x="202300" y="3595626"/>
            <a:ext cx="4252500" cy="1303500"/>
          </a:xfrm>
          <a:prstGeom prst="roundRect">
            <a:avLst>
              <a:gd fmla="val 700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10"/>
          <p:cNvSpPr/>
          <p:nvPr/>
        </p:nvSpPr>
        <p:spPr>
          <a:xfrm>
            <a:off x="264495" y="4000987"/>
            <a:ext cx="379200" cy="3657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0"/>
          <p:cNvSpPr/>
          <p:nvPr/>
        </p:nvSpPr>
        <p:spPr>
          <a:xfrm>
            <a:off x="264495" y="4000987"/>
            <a:ext cx="379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3</a:t>
            </a:r>
            <a:endParaRPr sz="1400">
              <a:solidFill>
                <a:schemeClr val="dk1"/>
              </a:solidFill>
              <a:latin typeface="Calibri"/>
              <a:ea typeface="Calibri"/>
              <a:cs typeface="Calibri"/>
              <a:sym typeface="Calibri"/>
            </a:endParaRPr>
          </a:p>
        </p:txBody>
      </p:sp>
      <p:sp>
        <p:nvSpPr>
          <p:cNvPr id="187" name="Google Shape;187;p10"/>
          <p:cNvSpPr/>
          <p:nvPr/>
        </p:nvSpPr>
        <p:spPr>
          <a:xfrm>
            <a:off x="894579" y="3725984"/>
            <a:ext cx="3412200" cy="1042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Name one piece of equipment in this space that is your responsibility to check and return after every session — and one thing that is the college’s responsibility to maintain.</a:t>
            </a:r>
            <a:endParaRPr sz="1200">
              <a:solidFill>
                <a:schemeClr val="dk1"/>
              </a:solidFill>
              <a:latin typeface="Calibri"/>
              <a:ea typeface="Calibri"/>
              <a:cs typeface="Calibri"/>
              <a:sym typeface="Calibri"/>
            </a:endParaRPr>
          </a:p>
        </p:txBody>
      </p:sp>
      <p:sp>
        <p:nvSpPr>
          <p:cNvPr id="188" name="Google Shape;188;p10"/>
          <p:cNvSpPr/>
          <p:nvPr/>
        </p:nvSpPr>
        <p:spPr>
          <a:xfrm>
            <a:off x="4652662" y="3595626"/>
            <a:ext cx="4252500" cy="1303500"/>
          </a:xfrm>
          <a:prstGeom prst="roundRect">
            <a:avLst>
              <a:gd fmla="val 7000"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0"/>
          <p:cNvSpPr/>
          <p:nvPr/>
        </p:nvSpPr>
        <p:spPr>
          <a:xfrm>
            <a:off x="4830677" y="3830270"/>
            <a:ext cx="395400" cy="5214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10"/>
          <p:cNvSpPr/>
          <p:nvPr/>
        </p:nvSpPr>
        <p:spPr>
          <a:xfrm>
            <a:off x="4830677" y="3830270"/>
            <a:ext cx="395400" cy="52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4</a:t>
            </a:r>
            <a:endParaRPr sz="1400">
              <a:solidFill>
                <a:schemeClr val="dk1"/>
              </a:solidFill>
              <a:latin typeface="Calibri"/>
              <a:ea typeface="Calibri"/>
              <a:cs typeface="Calibri"/>
              <a:sym typeface="Calibri"/>
            </a:endParaRPr>
          </a:p>
        </p:txBody>
      </p:sp>
      <p:sp>
        <p:nvSpPr>
          <p:cNvPr id="191" name="Google Shape;191;p10"/>
          <p:cNvSpPr/>
          <p:nvPr/>
        </p:nvSpPr>
        <p:spPr>
          <a:xfrm>
            <a:off x="5344941" y="3725984"/>
            <a:ext cx="3412200" cy="1042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What's the real reason for wearing PPE correctly — not “because you have to”, but the actual reason?</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96" name="Shape 196"/>
        <p:cNvGrpSpPr/>
        <p:nvPr/>
      </p:nvGrpSpPr>
      <p:grpSpPr>
        <a:xfrm>
          <a:off x="0" y="0"/>
          <a:ext cx="0" cy="0"/>
          <a:chOff x="0" y="0"/>
          <a:chExt cx="0" cy="0"/>
        </a:xfrm>
      </p:grpSpPr>
      <p:sp>
        <p:nvSpPr>
          <p:cNvPr id="197" name="Google Shape;197;p11"/>
          <p:cNvSpPr/>
          <p:nvPr/>
        </p:nvSpPr>
        <p:spPr>
          <a:xfrm>
            <a:off x="7040880" y="292608"/>
            <a:ext cx="169164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8" name="Google Shape;198;p11"/>
          <p:cNvPicPr preferRelativeResize="0"/>
          <p:nvPr/>
        </p:nvPicPr>
        <p:blipFill rotWithShape="1">
          <a:blip r:embed="rId3">
            <a:alphaModFix/>
          </a:blip>
          <a:srcRect b="0" l="0" r="0" t="0"/>
          <a:stretch/>
        </p:blipFill>
        <p:spPr>
          <a:xfrm>
            <a:off x="7132320" y="356616"/>
            <a:ext cx="201168" cy="201168"/>
          </a:xfrm>
          <a:prstGeom prst="rect">
            <a:avLst/>
          </a:prstGeom>
          <a:noFill/>
          <a:ln>
            <a:noFill/>
          </a:ln>
        </p:spPr>
      </p:pic>
      <p:sp>
        <p:nvSpPr>
          <p:cNvPr id="199" name="Google Shape;199;p11"/>
          <p:cNvSpPr/>
          <p:nvPr/>
        </p:nvSpPr>
        <p:spPr>
          <a:xfrm>
            <a:off x="7370064" y="292608"/>
            <a:ext cx="13258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DISCUSSION</a:t>
            </a:r>
            <a:endParaRPr sz="1100">
              <a:solidFill>
                <a:schemeClr val="dk1"/>
              </a:solidFill>
              <a:latin typeface="Calibri"/>
              <a:ea typeface="Calibri"/>
              <a:cs typeface="Calibri"/>
              <a:sym typeface="Calibri"/>
            </a:endParaRPr>
          </a:p>
        </p:txBody>
      </p:sp>
      <p:sp>
        <p:nvSpPr>
          <p:cNvPr id="200" name="Google Shape;200;p11"/>
          <p:cNvSpPr/>
          <p:nvPr/>
        </p:nvSpPr>
        <p:spPr>
          <a:xfrm>
            <a:off x="548640" y="36576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00"/>
              <a:buFont typeface="Poppins SemiBold"/>
              <a:buNone/>
            </a:pPr>
            <a:r>
              <a:rPr b="1" lang="en-US" sz="1200">
                <a:solidFill>
                  <a:srgbClr val="0F7A54"/>
                </a:solidFill>
                <a:latin typeface="Poppins SemiBold"/>
                <a:ea typeface="Poppins SemiBold"/>
                <a:cs typeface="Poppins SemiBold"/>
                <a:sym typeface="Poppins SemiBold"/>
              </a:rPr>
              <a:t>NOTICING IS ONLY HALF THE JOB</a:t>
            </a:r>
            <a:endParaRPr sz="1200">
              <a:solidFill>
                <a:schemeClr val="dk1"/>
              </a:solidFill>
              <a:latin typeface="Calibri"/>
              <a:ea typeface="Calibri"/>
              <a:cs typeface="Calibri"/>
              <a:sym typeface="Calibri"/>
            </a:endParaRPr>
          </a:p>
        </p:txBody>
      </p:sp>
      <p:sp>
        <p:nvSpPr>
          <p:cNvPr id="201" name="Google Shape;201;p11"/>
          <p:cNvSpPr/>
          <p:nvPr/>
        </p:nvSpPr>
        <p:spPr>
          <a:xfrm>
            <a:off x="548640" y="594360"/>
            <a:ext cx="7863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800"/>
              <a:buFont typeface="Poppins SemiBold"/>
              <a:buNone/>
            </a:pPr>
            <a:r>
              <a:rPr b="1" lang="en-US" sz="2800">
                <a:solidFill>
                  <a:srgbClr val="0D2434"/>
                </a:solidFill>
                <a:latin typeface="Poppins SemiBold"/>
                <a:ea typeface="Poppins SemiBold"/>
                <a:cs typeface="Poppins SemiBold"/>
                <a:sym typeface="Poppins SemiBold"/>
              </a:rPr>
              <a:t>If something's not right</a:t>
            </a:r>
            <a:endParaRPr sz="2800">
              <a:solidFill>
                <a:schemeClr val="dk1"/>
              </a:solidFill>
              <a:latin typeface="Calibri"/>
              <a:ea typeface="Calibri"/>
              <a:cs typeface="Calibri"/>
              <a:sym typeface="Calibri"/>
            </a:endParaRPr>
          </a:p>
        </p:txBody>
      </p:sp>
      <p:sp>
        <p:nvSpPr>
          <p:cNvPr id="202" name="Google Shape;202;p11"/>
          <p:cNvSpPr/>
          <p:nvPr/>
        </p:nvSpPr>
        <p:spPr>
          <a:xfrm>
            <a:off x="548640" y="1371600"/>
            <a:ext cx="804672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300"/>
              <a:buFont typeface="Poppins"/>
              <a:buNone/>
            </a:pPr>
            <a:r>
              <a:rPr lang="en-US" sz="1300">
                <a:solidFill>
                  <a:srgbClr val="1B2A30"/>
                </a:solidFill>
                <a:latin typeface="Poppins"/>
                <a:ea typeface="Poppins"/>
                <a:cs typeface="Poppins"/>
                <a:sym typeface="Poppins"/>
              </a:rPr>
              <a:t>Everything so far has been about noticing — a hazard, a habit, a near miss. The other half is saying something. Not making a fuss. Not “telling on” anyone. Just saying it, early, to someone who can do something about it.</a:t>
            </a:r>
            <a:endParaRPr sz="1300">
              <a:solidFill>
                <a:schemeClr val="dk1"/>
              </a:solidFill>
              <a:latin typeface="Calibri"/>
              <a:ea typeface="Calibri"/>
              <a:cs typeface="Calibri"/>
              <a:sym typeface="Calibri"/>
            </a:endParaRPr>
          </a:p>
        </p:txBody>
      </p:sp>
      <p:sp>
        <p:nvSpPr>
          <p:cNvPr id="203" name="Google Shape;203;p11"/>
          <p:cNvSpPr/>
          <p:nvPr/>
        </p:nvSpPr>
        <p:spPr>
          <a:xfrm>
            <a:off x="548640" y="2194560"/>
            <a:ext cx="8046720"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300"/>
              <a:buFont typeface="Poppins"/>
              <a:buNone/>
            </a:pPr>
            <a:r>
              <a:rPr lang="en-US" sz="1300">
                <a:solidFill>
                  <a:srgbClr val="1B2A30"/>
                </a:solidFill>
                <a:latin typeface="Poppins"/>
                <a:ea typeface="Poppins"/>
                <a:cs typeface="Poppins"/>
                <a:sym typeface="Poppins"/>
              </a:rPr>
              <a:t>And this isn't only about hazards. If something — a space, an activity, the way someone's behaving towards you or someone else — has made you feel uncomfortable or unsafe, that counts too.</a:t>
            </a:r>
            <a:endParaRPr sz="1300">
              <a:solidFill>
                <a:schemeClr val="dk1"/>
              </a:solidFill>
              <a:latin typeface="Calibri"/>
              <a:ea typeface="Calibri"/>
              <a:cs typeface="Calibri"/>
              <a:sym typeface="Calibri"/>
            </a:endParaRPr>
          </a:p>
        </p:txBody>
      </p:sp>
      <p:sp>
        <p:nvSpPr>
          <p:cNvPr id="204" name="Google Shape;204;p11"/>
          <p:cNvSpPr/>
          <p:nvPr/>
        </p:nvSpPr>
        <p:spPr>
          <a:xfrm>
            <a:off x="548640" y="3017520"/>
            <a:ext cx="3886200" cy="1691640"/>
          </a:xfrm>
          <a:prstGeom prst="roundRect">
            <a:avLst>
              <a:gd fmla="val 4324"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1"/>
          <p:cNvSpPr/>
          <p:nvPr/>
        </p:nvSpPr>
        <p:spPr>
          <a:xfrm>
            <a:off x="868680" y="3200400"/>
            <a:ext cx="3291840" cy="9601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D2434"/>
              </a:buClr>
              <a:buSzPts val="2400"/>
              <a:buFont typeface="Poppins SemiBold"/>
              <a:buNone/>
            </a:pPr>
            <a:r>
              <a:rPr b="1" lang="en-US" sz="2400">
                <a:solidFill>
                  <a:srgbClr val="0D2434"/>
                </a:solidFill>
                <a:latin typeface="Poppins SemiBold"/>
                <a:ea typeface="Poppins SemiBold"/>
                <a:cs typeface="Poppins SemiBold"/>
                <a:sym typeface="Poppins SemiBold"/>
              </a:rPr>
              <a:t>Tell someone.</a:t>
            </a:r>
            <a:endParaRPr sz="2400">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0D2434"/>
              </a:buClr>
              <a:buSzPts val="2400"/>
              <a:buFont typeface="Poppins SemiBold"/>
              <a:buNone/>
            </a:pPr>
            <a:r>
              <a:rPr b="1" lang="en-US" sz="2400">
                <a:solidFill>
                  <a:srgbClr val="0D2434"/>
                </a:solidFill>
                <a:latin typeface="Poppins SemiBold"/>
                <a:ea typeface="Poppins SemiBold"/>
                <a:cs typeface="Poppins SemiBold"/>
                <a:sym typeface="Poppins SemiBold"/>
              </a:rPr>
              <a:t>Early.</a:t>
            </a:r>
            <a:endParaRPr sz="2400">
              <a:solidFill>
                <a:schemeClr val="dk1"/>
              </a:solidFill>
              <a:latin typeface="Calibri"/>
              <a:ea typeface="Calibri"/>
              <a:cs typeface="Calibri"/>
              <a:sym typeface="Calibri"/>
            </a:endParaRPr>
          </a:p>
        </p:txBody>
      </p:sp>
      <p:sp>
        <p:nvSpPr>
          <p:cNvPr id="206" name="Google Shape;206;p11"/>
          <p:cNvSpPr/>
          <p:nvPr/>
        </p:nvSpPr>
        <p:spPr>
          <a:xfrm>
            <a:off x="4572000" y="3017520"/>
            <a:ext cx="4023360" cy="1691640"/>
          </a:xfrm>
          <a:prstGeom prst="roundRect">
            <a:avLst>
              <a:gd fmla="val 4324" name="adj"/>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07" name="Google Shape;207;p11"/>
          <p:cNvPicPr preferRelativeResize="0"/>
          <p:nvPr/>
        </p:nvPicPr>
        <p:blipFill rotWithShape="1">
          <a:blip r:embed="rId4">
            <a:alphaModFix/>
          </a:blip>
          <a:srcRect b="0" l="0" r="0" t="0"/>
          <a:stretch/>
        </p:blipFill>
        <p:spPr>
          <a:xfrm>
            <a:off x="4736592" y="3163824"/>
            <a:ext cx="237744" cy="237744"/>
          </a:xfrm>
          <a:prstGeom prst="rect">
            <a:avLst/>
          </a:prstGeom>
          <a:noFill/>
          <a:ln>
            <a:noFill/>
          </a:ln>
        </p:spPr>
      </p:pic>
      <p:sp>
        <p:nvSpPr>
          <p:cNvPr id="208" name="Google Shape;208;p11"/>
          <p:cNvSpPr/>
          <p:nvPr/>
        </p:nvSpPr>
        <p:spPr>
          <a:xfrm>
            <a:off x="5065776" y="3136392"/>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300"/>
              <a:buFont typeface="Poppins SemiBold"/>
              <a:buNone/>
            </a:pPr>
            <a:r>
              <a:rPr b="1" lang="en-US" sz="1300">
                <a:solidFill>
                  <a:srgbClr val="B23A2E"/>
                </a:solidFill>
                <a:latin typeface="Poppins SemiBold"/>
                <a:ea typeface="Poppins SemiBold"/>
                <a:cs typeface="Poppins SemiBold"/>
                <a:sym typeface="Poppins SemiBold"/>
              </a:rPr>
              <a:t>Your safeguarding team</a:t>
            </a:r>
            <a:endParaRPr sz="1300">
              <a:solidFill>
                <a:schemeClr val="dk1"/>
              </a:solidFill>
              <a:latin typeface="Calibri"/>
              <a:ea typeface="Calibri"/>
              <a:cs typeface="Calibri"/>
              <a:sym typeface="Calibri"/>
            </a:endParaRPr>
          </a:p>
        </p:txBody>
      </p:sp>
      <p:sp>
        <p:nvSpPr>
          <p:cNvPr id="209" name="Google Shape;209;p11"/>
          <p:cNvSpPr/>
          <p:nvPr/>
        </p:nvSpPr>
        <p:spPr>
          <a:xfrm>
            <a:off x="4736592" y="3438144"/>
            <a:ext cx="3694176" cy="3840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B23A2E"/>
              </a:buClr>
              <a:buSzPts val="1000"/>
              <a:buFont typeface="Poppins"/>
              <a:buNone/>
            </a:pPr>
            <a:r>
              <a:rPr i="1" lang="en-US" sz="1000">
                <a:solidFill>
                  <a:srgbClr val="B23A2E"/>
                </a:solidFill>
                <a:latin typeface="Poppins"/>
                <a:ea typeface="Poppins"/>
                <a:cs typeface="Poppins"/>
                <a:sym typeface="Poppins"/>
              </a:rPr>
              <a:t>Delete the two campus numbers that do not apply before delivering this session.</a:t>
            </a:r>
            <a:endParaRPr sz="1000">
              <a:solidFill>
                <a:schemeClr val="dk1"/>
              </a:solidFill>
              <a:latin typeface="Calibri"/>
              <a:ea typeface="Calibri"/>
              <a:cs typeface="Calibri"/>
              <a:sym typeface="Calibri"/>
            </a:endParaRPr>
          </a:p>
        </p:txBody>
      </p:sp>
      <p:sp>
        <p:nvSpPr>
          <p:cNvPr id="210" name="Google Shape;210;p11"/>
          <p:cNvSpPr/>
          <p:nvPr/>
        </p:nvSpPr>
        <p:spPr>
          <a:xfrm>
            <a:off x="4736592" y="3858768"/>
            <a:ext cx="3694176" cy="237744"/>
          </a:xfrm>
          <a:prstGeom prst="roundRect">
            <a:avLst>
              <a:gd fmla="val 1923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1"/>
          <p:cNvSpPr/>
          <p:nvPr/>
        </p:nvSpPr>
        <p:spPr>
          <a:xfrm>
            <a:off x="4882896" y="3858768"/>
            <a:ext cx="34015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a:buNone/>
            </a:pPr>
            <a:r>
              <a:rPr b="1" lang="en-US" sz="1100">
                <a:solidFill>
                  <a:srgbClr val="0D2434"/>
                </a:solidFill>
                <a:latin typeface="Poppins"/>
                <a:ea typeface="Poppins"/>
                <a:cs typeface="Poppins"/>
                <a:sym typeface="Poppins"/>
              </a:rPr>
              <a:t>Eastbourne</a:t>
            </a:r>
            <a:r>
              <a:rPr lang="en-US" sz="1100">
                <a:solidFill>
                  <a:srgbClr val="1B2A30"/>
                </a:solidFill>
                <a:latin typeface="Poppins"/>
                <a:ea typeface="Poppins"/>
                <a:cs typeface="Poppins"/>
                <a:sym typeface="Poppins"/>
              </a:rPr>
              <a:t>   0303 003 9039</a:t>
            </a:r>
            <a:endParaRPr sz="1100">
              <a:solidFill>
                <a:schemeClr val="dk1"/>
              </a:solidFill>
              <a:latin typeface="Calibri"/>
              <a:ea typeface="Calibri"/>
              <a:cs typeface="Calibri"/>
              <a:sym typeface="Calibri"/>
            </a:endParaRPr>
          </a:p>
        </p:txBody>
      </p:sp>
      <p:sp>
        <p:nvSpPr>
          <p:cNvPr id="212" name="Google Shape;212;p11"/>
          <p:cNvSpPr/>
          <p:nvPr/>
        </p:nvSpPr>
        <p:spPr>
          <a:xfrm>
            <a:off x="4736592" y="4142232"/>
            <a:ext cx="3694176" cy="237744"/>
          </a:xfrm>
          <a:prstGeom prst="roundRect">
            <a:avLst>
              <a:gd fmla="val 1923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1"/>
          <p:cNvSpPr/>
          <p:nvPr/>
        </p:nvSpPr>
        <p:spPr>
          <a:xfrm>
            <a:off x="4882896" y="4142232"/>
            <a:ext cx="34015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a:buNone/>
            </a:pPr>
            <a:r>
              <a:rPr b="1" lang="en-US" sz="1100">
                <a:solidFill>
                  <a:srgbClr val="0D2434"/>
                </a:solidFill>
                <a:latin typeface="Poppins"/>
                <a:ea typeface="Poppins"/>
                <a:cs typeface="Poppins"/>
                <a:sym typeface="Poppins"/>
              </a:rPr>
              <a:t>Hastings</a:t>
            </a:r>
            <a:r>
              <a:rPr lang="en-US" sz="1100">
                <a:solidFill>
                  <a:srgbClr val="1B2A30"/>
                </a:solidFill>
                <a:latin typeface="Poppins"/>
                <a:ea typeface="Poppins"/>
                <a:cs typeface="Poppins"/>
                <a:sym typeface="Poppins"/>
              </a:rPr>
              <a:t>   07848 442081</a:t>
            </a:r>
            <a:endParaRPr sz="1100">
              <a:solidFill>
                <a:schemeClr val="dk1"/>
              </a:solidFill>
              <a:latin typeface="Calibri"/>
              <a:ea typeface="Calibri"/>
              <a:cs typeface="Calibri"/>
              <a:sym typeface="Calibri"/>
            </a:endParaRPr>
          </a:p>
        </p:txBody>
      </p:sp>
      <p:sp>
        <p:nvSpPr>
          <p:cNvPr id="214" name="Google Shape;214;p11"/>
          <p:cNvSpPr/>
          <p:nvPr/>
        </p:nvSpPr>
        <p:spPr>
          <a:xfrm>
            <a:off x="4736592" y="4425696"/>
            <a:ext cx="3694176" cy="237744"/>
          </a:xfrm>
          <a:prstGeom prst="roundRect">
            <a:avLst>
              <a:gd fmla="val 1923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1"/>
          <p:cNvSpPr/>
          <p:nvPr/>
        </p:nvSpPr>
        <p:spPr>
          <a:xfrm>
            <a:off x="4882896" y="4425696"/>
            <a:ext cx="34015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a:buNone/>
            </a:pPr>
            <a:r>
              <a:rPr b="1" lang="en-US" sz="1100">
                <a:solidFill>
                  <a:srgbClr val="0D2434"/>
                </a:solidFill>
                <a:latin typeface="Poppins"/>
                <a:ea typeface="Poppins"/>
                <a:cs typeface="Poppins"/>
                <a:sym typeface="Poppins"/>
              </a:rPr>
              <a:t>Lewes</a:t>
            </a:r>
            <a:r>
              <a:rPr lang="en-US" sz="1100">
                <a:solidFill>
                  <a:srgbClr val="1B2A30"/>
                </a:solidFill>
                <a:latin typeface="Poppins"/>
                <a:ea typeface="Poppins"/>
                <a:cs typeface="Poppins"/>
                <a:sym typeface="Poppins"/>
              </a:rPr>
              <a:t>   07823 668772</a:t>
            </a:r>
            <a:endParaRPr sz="11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20" name="Shape 220"/>
        <p:cNvGrpSpPr/>
        <p:nvPr/>
      </p:nvGrpSpPr>
      <p:grpSpPr>
        <a:xfrm>
          <a:off x="0" y="0"/>
          <a:ext cx="0" cy="0"/>
          <a:chOff x="0" y="0"/>
          <a:chExt cx="0" cy="0"/>
        </a:xfrm>
      </p:grpSpPr>
      <p:sp>
        <p:nvSpPr>
          <p:cNvPr id="221" name="Google Shape;221;p12"/>
          <p:cNvSpPr/>
          <p:nvPr/>
        </p:nvSpPr>
        <p:spPr>
          <a:xfrm>
            <a:off x="7315200" y="292608"/>
            <a:ext cx="1417320" cy="329184"/>
          </a:xfrm>
          <a:prstGeom prst="roundRect">
            <a:avLst>
              <a:gd fmla="val 50000"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2" name="Google Shape;222;p12"/>
          <p:cNvPicPr preferRelativeResize="0"/>
          <p:nvPr/>
        </p:nvPicPr>
        <p:blipFill rotWithShape="1">
          <a:blip r:embed="rId3">
            <a:alphaModFix/>
          </a:blip>
          <a:srcRect b="0" l="0" r="0" t="0"/>
          <a:stretch/>
        </p:blipFill>
        <p:spPr>
          <a:xfrm>
            <a:off x="7406640" y="356616"/>
            <a:ext cx="201168" cy="201168"/>
          </a:xfrm>
          <a:prstGeom prst="rect">
            <a:avLst/>
          </a:prstGeom>
          <a:noFill/>
          <a:ln>
            <a:noFill/>
          </a:ln>
        </p:spPr>
      </p:pic>
      <p:sp>
        <p:nvSpPr>
          <p:cNvPr id="223" name="Google Shape;223;p12"/>
          <p:cNvSpPr/>
          <p:nvPr/>
        </p:nvSpPr>
        <p:spPr>
          <a:xfrm>
            <a:off x="7644384" y="292608"/>
            <a:ext cx="1051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b="1" lang="en-US" sz="1100">
                <a:solidFill>
                  <a:srgbClr val="FFFFFF"/>
                </a:solidFill>
                <a:latin typeface="Poppins SemiBold"/>
                <a:ea typeface="Poppins SemiBold"/>
                <a:cs typeface="Poppins SemiBold"/>
                <a:sym typeface="Poppins SemiBold"/>
              </a:rPr>
              <a:t>ACTIVITY</a:t>
            </a:r>
            <a:endParaRPr sz="1100">
              <a:solidFill>
                <a:schemeClr val="dk1"/>
              </a:solidFill>
              <a:latin typeface="Calibri"/>
              <a:ea typeface="Calibri"/>
              <a:cs typeface="Calibri"/>
              <a:sym typeface="Calibri"/>
            </a:endParaRPr>
          </a:p>
        </p:txBody>
      </p:sp>
      <p:sp>
        <p:nvSpPr>
          <p:cNvPr id="224" name="Google Shape;224;p12"/>
          <p:cNvSpPr/>
          <p:nvPr/>
        </p:nvSpPr>
        <p:spPr>
          <a:xfrm>
            <a:off x="548640" y="3657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200"/>
              <a:buFont typeface="Poppins SemiBold"/>
              <a:buNone/>
            </a:pPr>
            <a:r>
              <a:rPr b="1" lang="en-US" sz="1200">
                <a:solidFill>
                  <a:srgbClr val="FFCF01"/>
                </a:solidFill>
                <a:latin typeface="Poppins SemiBold"/>
                <a:ea typeface="Poppins SemiBold"/>
                <a:cs typeface="Poppins SemiBold"/>
                <a:sym typeface="Poppins SemiBold"/>
              </a:rPr>
              <a:t>ONE THING</a:t>
            </a:r>
            <a:endParaRPr sz="1200">
              <a:solidFill>
                <a:schemeClr val="dk1"/>
              </a:solidFill>
              <a:latin typeface="Calibri"/>
              <a:ea typeface="Calibri"/>
              <a:cs typeface="Calibri"/>
              <a:sym typeface="Calibri"/>
            </a:endParaRPr>
          </a:p>
        </p:txBody>
      </p:sp>
      <p:sp>
        <p:nvSpPr>
          <p:cNvPr id="225" name="Google Shape;225;p12"/>
          <p:cNvSpPr/>
          <p:nvPr/>
        </p:nvSpPr>
        <p:spPr>
          <a:xfrm>
            <a:off x="548640" y="640080"/>
            <a:ext cx="7863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Poppins SemiBold"/>
              <a:buNone/>
            </a:pPr>
            <a:r>
              <a:rPr b="1" lang="en-US" sz="1900">
                <a:solidFill>
                  <a:srgbClr val="FFFFFF"/>
                </a:solidFill>
                <a:latin typeface="Poppins SemiBold"/>
                <a:ea typeface="Poppins SemiBold"/>
                <a:cs typeface="Poppins SemiBold"/>
                <a:sym typeface="Poppins SemiBold"/>
              </a:rPr>
              <a:t>Pick one, write it down, keep it somewhere you'll see it.</a:t>
            </a:r>
            <a:endParaRPr sz="1900">
              <a:solidFill>
                <a:schemeClr val="dk1"/>
              </a:solidFill>
              <a:latin typeface="Calibri"/>
              <a:ea typeface="Calibri"/>
              <a:cs typeface="Calibri"/>
              <a:sym typeface="Calibri"/>
            </a:endParaRPr>
          </a:p>
        </p:txBody>
      </p:sp>
      <p:sp>
        <p:nvSpPr>
          <p:cNvPr id="226" name="Google Shape;226;p12"/>
          <p:cNvSpPr/>
          <p:nvPr/>
        </p:nvSpPr>
        <p:spPr>
          <a:xfrm>
            <a:off x="548640" y="1371600"/>
            <a:ext cx="8046720" cy="3291840"/>
          </a:xfrm>
          <a:prstGeom prst="roundRect">
            <a:avLst>
              <a:gd fmla="val 2222" name="adj"/>
            </a:avLst>
          </a:prstGeom>
          <a:solidFill>
            <a:srgbClr val="FFFFFF"/>
          </a:solidFill>
          <a:ln>
            <a:noFill/>
          </a:ln>
          <a:effectLst>
            <a:outerShdw blurRad="101600" rotWithShape="0" algn="bl" dir="5400000" dist="38100">
              <a:srgbClr val="000000">
                <a:alpha val="2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2"/>
          <p:cNvSpPr/>
          <p:nvPr/>
        </p:nvSpPr>
        <p:spPr>
          <a:xfrm>
            <a:off x="868680" y="1627632"/>
            <a:ext cx="384048" cy="384048"/>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2"/>
          <p:cNvSpPr/>
          <p:nvPr/>
        </p:nvSpPr>
        <p:spPr>
          <a:xfrm>
            <a:off x="868680" y="16276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SemiBold"/>
              <a:buNone/>
            </a:pPr>
            <a:r>
              <a:rPr b="1" lang="en-US" sz="1500">
                <a:solidFill>
                  <a:srgbClr val="FFFFFF"/>
                </a:solidFill>
                <a:latin typeface="Poppins SemiBold"/>
                <a:ea typeface="Poppins SemiBold"/>
                <a:cs typeface="Poppins SemiBold"/>
                <a:sym typeface="Poppins SemiBold"/>
              </a:rPr>
              <a:t>1</a:t>
            </a:r>
            <a:endParaRPr sz="1500">
              <a:solidFill>
                <a:schemeClr val="dk1"/>
              </a:solidFill>
              <a:latin typeface="Calibri"/>
              <a:ea typeface="Calibri"/>
              <a:cs typeface="Calibri"/>
              <a:sym typeface="Calibri"/>
            </a:endParaRPr>
          </a:p>
        </p:txBody>
      </p:sp>
      <p:sp>
        <p:nvSpPr>
          <p:cNvPr id="229" name="Google Shape;229;p12"/>
          <p:cNvSpPr/>
          <p:nvPr/>
        </p:nvSpPr>
        <p:spPr>
          <a:xfrm>
            <a:off x="1371600" y="1591056"/>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I'll find my nearest fire exit and assembly point from the rooms I use most.</a:t>
            </a:r>
            <a:endParaRPr sz="1350">
              <a:solidFill>
                <a:schemeClr val="dk1"/>
              </a:solidFill>
              <a:latin typeface="Calibri"/>
              <a:ea typeface="Calibri"/>
              <a:cs typeface="Calibri"/>
              <a:sym typeface="Calibri"/>
            </a:endParaRPr>
          </a:p>
        </p:txBody>
      </p:sp>
      <p:sp>
        <p:nvSpPr>
          <p:cNvPr id="230" name="Google Shape;230;p12"/>
          <p:cNvSpPr/>
          <p:nvPr/>
        </p:nvSpPr>
        <p:spPr>
          <a:xfrm>
            <a:off x="868680" y="2231136"/>
            <a:ext cx="384048" cy="384048"/>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12"/>
          <p:cNvSpPr/>
          <p:nvPr/>
        </p:nvSpPr>
        <p:spPr>
          <a:xfrm>
            <a:off x="868680" y="223113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SemiBold"/>
              <a:buNone/>
            </a:pPr>
            <a:r>
              <a:rPr b="1" lang="en-US" sz="1500">
                <a:solidFill>
                  <a:srgbClr val="FFFFFF"/>
                </a:solidFill>
                <a:latin typeface="Poppins SemiBold"/>
                <a:ea typeface="Poppins SemiBold"/>
                <a:cs typeface="Poppins SemiBold"/>
                <a:sym typeface="Poppins SemiBold"/>
              </a:rPr>
              <a:t>2</a:t>
            </a:r>
            <a:endParaRPr sz="1500">
              <a:solidFill>
                <a:schemeClr val="dk1"/>
              </a:solidFill>
              <a:latin typeface="Calibri"/>
              <a:ea typeface="Calibri"/>
              <a:cs typeface="Calibri"/>
              <a:sym typeface="Calibri"/>
            </a:endParaRPr>
          </a:p>
        </p:txBody>
      </p:sp>
      <p:sp>
        <p:nvSpPr>
          <p:cNvPr id="232" name="Google Shape;232;p12"/>
          <p:cNvSpPr/>
          <p:nvPr/>
        </p:nvSpPr>
        <p:spPr>
          <a:xfrm>
            <a:off x="1371600" y="2194560"/>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I'll find out who I'd report a hazard, near miss, or damage to.</a:t>
            </a:r>
            <a:endParaRPr sz="1350">
              <a:solidFill>
                <a:schemeClr val="dk1"/>
              </a:solidFill>
              <a:latin typeface="Calibri"/>
              <a:ea typeface="Calibri"/>
              <a:cs typeface="Calibri"/>
              <a:sym typeface="Calibri"/>
            </a:endParaRPr>
          </a:p>
        </p:txBody>
      </p:sp>
      <p:sp>
        <p:nvSpPr>
          <p:cNvPr id="233" name="Google Shape;233;p12"/>
          <p:cNvSpPr/>
          <p:nvPr/>
        </p:nvSpPr>
        <p:spPr>
          <a:xfrm>
            <a:off x="868680" y="2834640"/>
            <a:ext cx="384048" cy="384048"/>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2"/>
          <p:cNvSpPr/>
          <p:nvPr/>
        </p:nvSpPr>
        <p:spPr>
          <a:xfrm>
            <a:off x="868680" y="28346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SemiBold"/>
              <a:buNone/>
            </a:pPr>
            <a:r>
              <a:rPr b="1" lang="en-US" sz="1500">
                <a:solidFill>
                  <a:srgbClr val="FFFFFF"/>
                </a:solidFill>
                <a:latin typeface="Poppins SemiBold"/>
                <a:ea typeface="Poppins SemiBold"/>
                <a:cs typeface="Poppins SemiBold"/>
                <a:sym typeface="Poppins SemiBold"/>
              </a:rPr>
              <a:t>3</a:t>
            </a:r>
            <a:endParaRPr sz="1500">
              <a:solidFill>
                <a:schemeClr val="dk1"/>
              </a:solidFill>
              <a:latin typeface="Calibri"/>
              <a:ea typeface="Calibri"/>
              <a:cs typeface="Calibri"/>
              <a:sym typeface="Calibri"/>
            </a:endParaRPr>
          </a:p>
        </p:txBody>
      </p:sp>
      <p:sp>
        <p:nvSpPr>
          <p:cNvPr id="235" name="Google Shape;235;p12"/>
          <p:cNvSpPr/>
          <p:nvPr/>
        </p:nvSpPr>
        <p:spPr>
          <a:xfrm>
            <a:off x="1371600" y="2798064"/>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I’ll check my studio’s or digital lab’s specific health &amp; safety information once it’s shared with me.</a:t>
            </a:r>
            <a:endParaRPr sz="1350">
              <a:solidFill>
                <a:schemeClr val="dk1"/>
              </a:solidFill>
              <a:latin typeface="Calibri"/>
              <a:ea typeface="Calibri"/>
              <a:cs typeface="Calibri"/>
              <a:sym typeface="Calibri"/>
            </a:endParaRPr>
          </a:p>
        </p:txBody>
      </p:sp>
      <p:sp>
        <p:nvSpPr>
          <p:cNvPr id="236" name="Google Shape;236;p12"/>
          <p:cNvSpPr/>
          <p:nvPr/>
        </p:nvSpPr>
        <p:spPr>
          <a:xfrm>
            <a:off x="777240" y="3520440"/>
            <a:ext cx="7589520" cy="914400"/>
          </a:xfrm>
          <a:prstGeom prst="roundRect">
            <a:avLst>
              <a:gd fmla="val 6000" name="adj"/>
            </a:avLst>
          </a:prstGeom>
          <a:solidFill>
            <a:srgbClr val="F8E7E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12"/>
          <p:cNvSpPr/>
          <p:nvPr/>
        </p:nvSpPr>
        <p:spPr>
          <a:xfrm>
            <a:off x="960120" y="3721608"/>
            <a:ext cx="384048" cy="384048"/>
          </a:xfrm>
          <a:prstGeom prst="ellipse">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2"/>
          <p:cNvSpPr/>
          <p:nvPr/>
        </p:nvSpPr>
        <p:spPr>
          <a:xfrm>
            <a:off x="960120" y="37216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SemiBold"/>
              <a:buNone/>
            </a:pPr>
            <a:r>
              <a:rPr b="1" lang="en-US" sz="1500">
                <a:solidFill>
                  <a:srgbClr val="FFFFFF"/>
                </a:solidFill>
                <a:latin typeface="Poppins SemiBold"/>
                <a:ea typeface="Poppins SemiBold"/>
                <a:cs typeface="Poppins SemiBold"/>
                <a:sym typeface="Poppins SemiBold"/>
              </a:rPr>
              <a:t>4</a:t>
            </a:r>
            <a:endParaRPr sz="1500">
              <a:solidFill>
                <a:schemeClr val="dk1"/>
              </a:solidFill>
              <a:latin typeface="Calibri"/>
              <a:ea typeface="Calibri"/>
              <a:cs typeface="Calibri"/>
              <a:sym typeface="Calibri"/>
            </a:endParaRPr>
          </a:p>
        </p:txBody>
      </p:sp>
      <p:sp>
        <p:nvSpPr>
          <p:cNvPr id="239" name="Google Shape;239;p12"/>
          <p:cNvSpPr/>
          <p:nvPr/>
        </p:nvSpPr>
        <p:spPr>
          <a:xfrm>
            <a:off x="1463040" y="3593592"/>
            <a:ext cx="6812280"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B23A2E"/>
              </a:buClr>
              <a:buSzPts val="1350"/>
              <a:buFont typeface="Poppins"/>
              <a:buNone/>
            </a:pPr>
            <a:r>
              <a:rPr i="1" lang="en-US" sz="1350">
                <a:solidFill>
                  <a:srgbClr val="B23A2E"/>
                </a:solidFill>
                <a:latin typeface="Poppins"/>
                <a:ea typeface="Poppins"/>
                <a:cs typeface="Poppins"/>
                <a:sym typeface="Poppins"/>
              </a:rPr>
              <a:t>I'll tell someone — my tutor, my personal tutor, or the college's safeguarding team — about something that's made me feel uncomfortable or unsafe.</a:t>
            </a:r>
            <a:endParaRPr sz="13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44" name="Shape 244"/>
        <p:cNvGrpSpPr/>
        <p:nvPr/>
      </p:nvGrpSpPr>
      <p:grpSpPr>
        <a:xfrm>
          <a:off x="0" y="0"/>
          <a:ext cx="0" cy="0"/>
          <a:chOff x="0" y="0"/>
          <a:chExt cx="0" cy="0"/>
        </a:xfrm>
      </p:grpSpPr>
      <p:sp>
        <p:nvSpPr>
          <p:cNvPr id="245" name="Google Shape;245;p13"/>
          <p:cNvSpPr/>
          <p:nvPr/>
        </p:nvSpPr>
        <p:spPr>
          <a:xfrm>
            <a:off x="640080" y="6400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300"/>
              <a:buFont typeface="Poppins SemiBold"/>
              <a:buNone/>
            </a:pPr>
            <a:r>
              <a:rPr b="1" lang="en-US" sz="1300">
                <a:solidFill>
                  <a:srgbClr val="FFCF01"/>
                </a:solidFill>
                <a:latin typeface="Poppins SemiBold"/>
                <a:ea typeface="Poppins SemiBold"/>
                <a:cs typeface="Poppins SemiBold"/>
                <a:sym typeface="Poppins SemiBold"/>
              </a:rPr>
              <a:t>BEFORE YOU GO</a:t>
            </a:r>
            <a:endParaRPr sz="1300">
              <a:solidFill>
                <a:schemeClr val="dk1"/>
              </a:solidFill>
              <a:latin typeface="Calibri"/>
              <a:ea typeface="Calibri"/>
              <a:cs typeface="Calibri"/>
              <a:sym typeface="Calibri"/>
            </a:endParaRPr>
          </a:p>
        </p:txBody>
      </p:sp>
      <p:sp>
        <p:nvSpPr>
          <p:cNvPr id="246" name="Google Shape;246;p13"/>
          <p:cNvSpPr/>
          <p:nvPr/>
        </p:nvSpPr>
        <p:spPr>
          <a:xfrm>
            <a:off x="640080" y="96012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Poppins SemiBold"/>
              <a:buNone/>
            </a:pPr>
            <a:r>
              <a:rPr b="1" lang="en-US" sz="3000">
                <a:solidFill>
                  <a:srgbClr val="FFFFFF"/>
                </a:solidFill>
                <a:latin typeface="Poppins SemiBold"/>
                <a:ea typeface="Poppins SemiBold"/>
                <a:cs typeface="Poppins SemiBold"/>
                <a:sym typeface="Poppins SemiBold"/>
              </a:rPr>
              <a:t>Three things worth keeping</a:t>
            </a:r>
            <a:endParaRPr sz="3000">
              <a:solidFill>
                <a:schemeClr val="dk1"/>
              </a:solidFill>
              <a:latin typeface="Calibri"/>
              <a:ea typeface="Calibri"/>
              <a:cs typeface="Calibri"/>
              <a:sym typeface="Calibri"/>
            </a:endParaRPr>
          </a:p>
        </p:txBody>
      </p:sp>
      <p:sp>
        <p:nvSpPr>
          <p:cNvPr id="247" name="Google Shape;247;p13"/>
          <p:cNvSpPr/>
          <p:nvPr/>
        </p:nvSpPr>
        <p:spPr>
          <a:xfrm>
            <a:off x="640080" y="1874520"/>
            <a:ext cx="548640" cy="54864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8" name="Google Shape;248;p13"/>
          <p:cNvPicPr preferRelativeResize="0"/>
          <p:nvPr/>
        </p:nvPicPr>
        <p:blipFill rotWithShape="1">
          <a:blip r:embed="rId3">
            <a:alphaModFix/>
          </a:blip>
          <a:srcRect b="0" l="0" r="0" t="0"/>
          <a:stretch/>
        </p:blipFill>
        <p:spPr>
          <a:xfrm>
            <a:off x="786384" y="2020824"/>
            <a:ext cx="256032" cy="256032"/>
          </a:xfrm>
          <a:prstGeom prst="rect">
            <a:avLst/>
          </a:prstGeom>
          <a:noFill/>
          <a:ln>
            <a:noFill/>
          </a:ln>
        </p:spPr>
      </p:pic>
      <p:sp>
        <p:nvSpPr>
          <p:cNvPr id="249" name="Google Shape;249;p13"/>
          <p:cNvSpPr/>
          <p:nvPr/>
        </p:nvSpPr>
        <p:spPr>
          <a:xfrm>
            <a:off x="1371600" y="1819656"/>
            <a:ext cx="722376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500"/>
              <a:buFont typeface="Poppins"/>
              <a:buNone/>
            </a:pPr>
            <a:r>
              <a:rPr lang="en-US" sz="1500">
                <a:solidFill>
                  <a:srgbClr val="FFFFFF"/>
                </a:solidFill>
                <a:latin typeface="Poppins"/>
                <a:ea typeface="Poppins"/>
                <a:cs typeface="Poppins"/>
                <a:sym typeface="Poppins"/>
              </a:rPr>
              <a:t>Health and safety isn't a list to memorise — it's about staying switched on, for yourself and the people around you.</a:t>
            </a:r>
            <a:endParaRPr sz="1500">
              <a:solidFill>
                <a:schemeClr val="dk1"/>
              </a:solidFill>
              <a:latin typeface="Calibri"/>
              <a:ea typeface="Calibri"/>
              <a:cs typeface="Calibri"/>
              <a:sym typeface="Calibri"/>
            </a:endParaRPr>
          </a:p>
        </p:txBody>
      </p:sp>
      <p:sp>
        <p:nvSpPr>
          <p:cNvPr id="250" name="Google Shape;250;p13"/>
          <p:cNvSpPr/>
          <p:nvPr/>
        </p:nvSpPr>
        <p:spPr>
          <a:xfrm>
            <a:off x="640080" y="2834640"/>
            <a:ext cx="548640" cy="54864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1" name="Google Shape;251;p13"/>
          <p:cNvPicPr preferRelativeResize="0"/>
          <p:nvPr/>
        </p:nvPicPr>
        <p:blipFill rotWithShape="1">
          <a:blip r:embed="rId4">
            <a:alphaModFix/>
          </a:blip>
          <a:srcRect b="0" l="0" r="0" t="0"/>
          <a:stretch/>
        </p:blipFill>
        <p:spPr>
          <a:xfrm>
            <a:off x="786384" y="2980944"/>
            <a:ext cx="256032" cy="256032"/>
          </a:xfrm>
          <a:prstGeom prst="rect">
            <a:avLst/>
          </a:prstGeom>
          <a:noFill/>
          <a:ln>
            <a:noFill/>
          </a:ln>
        </p:spPr>
      </p:pic>
      <p:sp>
        <p:nvSpPr>
          <p:cNvPr id="252" name="Google Shape;252;p13"/>
          <p:cNvSpPr/>
          <p:nvPr/>
        </p:nvSpPr>
        <p:spPr>
          <a:xfrm>
            <a:off x="1371600" y="2779776"/>
            <a:ext cx="722376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500"/>
              <a:buFont typeface="Poppins"/>
              <a:buNone/>
            </a:pPr>
            <a:r>
              <a:rPr lang="en-US" sz="1500">
                <a:solidFill>
                  <a:srgbClr val="FFFFFF"/>
                </a:solidFill>
                <a:latin typeface="Poppins"/>
                <a:ea typeface="Poppins"/>
                <a:cs typeface="Poppins"/>
                <a:sym typeface="Poppins"/>
              </a:rPr>
              <a:t>Respect — for the space, for each other, for the people whose job it is to flag things — is what keeps that working.</a:t>
            </a:r>
            <a:endParaRPr sz="1500">
              <a:solidFill>
                <a:schemeClr val="dk1"/>
              </a:solidFill>
              <a:latin typeface="Calibri"/>
              <a:ea typeface="Calibri"/>
              <a:cs typeface="Calibri"/>
              <a:sym typeface="Calibri"/>
            </a:endParaRPr>
          </a:p>
        </p:txBody>
      </p:sp>
      <p:sp>
        <p:nvSpPr>
          <p:cNvPr id="253" name="Google Shape;253;p13"/>
          <p:cNvSpPr/>
          <p:nvPr/>
        </p:nvSpPr>
        <p:spPr>
          <a:xfrm>
            <a:off x="640080" y="3794760"/>
            <a:ext cx="548640" cy="54864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4" name="Google Shape;254;p13"/>
          <p:cNvPicPr preferRelativeResize="0"/>
          <p:nvPr/>
        </p:nvPicPr>
        <p:blipFill rotWithShape="1">
          <a:blip r:embed="rId5">
            <a:alphaModFix/>
          </a:blip>
          <a:srcRect b="0" l="0" r="0" t="0"/>
          <a:stretch/>
        </p:blipFill>
        <p:spPr>
          <a:xfrm>
            <a:off x="786384" y="3941064"/>
            <a:ext cx="256032" cy="256032"/>
          </a:xfrm>
          <a:prstGeom prst="rect">
            <a:avLst/>
          </a:prstGeom>
          <a:noFill/>
          <a:ln>
            <a:noFill/>
          </a:ln>
        </p:spPr>
      </p:pic>
      <p:sp>
        <p:nvSpPr>
          <p:cNvPr id="255" name="Google Shape;255;p13"/>
          <p:cNvSpPr/>
          <p:nvPr/>
        </p:nvSpPr>
        <p:spPr>
          <a:xfrm>
            <a:off x="1371600" y="3739896"/>
            <a:ext cx="722376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500"/>
              <a:buFont typeface="Poppins"/>
              <a:buNone/>
            </a:pPr>
            <a:r>
              <a:rPr lang="en-US" sz="1500">
                <a:solidFill>
                  <a:srgbClr val="FFFFFF"/>
                </a:solidFill>
                <a:latin typeface="Poppins"/>
                <a:ea typeface="Poppins"/>
                <a:cs typeface="Poppins"/>
                <a:sym typeface="Poppins"/>
              </a:rPr>
              <a:t>If something’s off, say something. Early. That’s not making a fuss; that’s the system doing its job. In a professional media environment — on a film set, in a studio, on location — safe practice is professional competency. The habits you form now are the ones an employer on placement will notice. That starts here.</a:t>
            </a:r>
            <a:endParaRPr sz="15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0" name="Shape 260"/>
        <p:cNvGrpSpPr/>
        <p:nvPr/>
      </p:nvGrpSpPr>
      <p:grpSpPr>
        <a:xfrm>
          <a:off x="0" y="0"/>
          <a:ext cx="0" cy="0"/>
          <a:chOff x="0" y="0"/>
          <a:chExt cx="0" cy="0"/>
        </a:xfrm>
      </p:grpSpPr>
      <p:sp>
        <p:nvSpPr>
          <p:cNvPr id="261" name="Google Shape;261;p14"/>
          <p:cNvSpPr/>
          <p:nvPr/>
        </p:nvSpPr>
        <p:spPr>
          <a:xfrm>
            <a:off x="0" y="0"/>
            <a:ext cx="9144000" cy="502920"/>
          </a:xfrm>
          <a:prstGeom prst="rect">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4"/>
          <p:cNvSpPr/>
          <p:nvPr/>
        </p:nvSpPr>
        <p:spPr>
          <a:xfrm>
            <a:off x="0" y="0"/>
            <a:ext cx="91440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1" lang="en-US" sz="1400">
                <a:solidFill>
                  <a:srgbClr val="FFFFFF"/>
                </a:solidFill>
                <a:latin typeface="Poppins SemiBold"/>
                <a:ea typeface="Poppins SemiBold"/>
                <a:cs typeface="Poppins SemiBold"/>
                <a:sym typeface="Poppins SemiBold"/>
              </a:rPr>
              <a:t>DO NOT DISPLAY TO STUDENTS  ·  TEACHER APPENDIX</a:t>
            </a:r>
            <a:endParaRPr sz="1400">
              <a:solidFill>
                <a:schemeClr val="dk1"/>
              </a:solidFill>
              <a:latin typeface="Calibri"/>
              <a:ea typeface="Calibri"/>
              <a:cs typeface="Calibri"/>
              <a:sym typeface="Calibri"/>
            </a:endParaRPr>
          </a:p>
        </p:txBody>
      </p:sp>
      <p:sp>
        <p:nvSpPr>
          <p:cNvPr id="263" name="Google Shape;263;p14"/>
          <p:cNvSpPr/>
          <p:nvPr/>
        </p:nvSpPr>
        <p:spPr>
          <a:xfrm>
            <a:off x="457200" y="621792"/>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b="1" lang="en-US" sz="1300">
                <a:solidFill>
                  <a:srgbClr val="0D2434"/>
                </a:solidFill>
                <a:latin typeface="Poppins SemiBold"/>
                <a:ea typeface="Poppins SemiBold"/>
                <a:cs typeface="Poppins SemiBold"/>
                <a:sym typeface="Poppins SemiBold"/>
              </a:rPr>
              <a:t>Module C · Health &amp; Safety Introduction · Level 3 Digital and Creative Media (Year 1)</a:t>
            </a:r>
            <a:endParaRPr sz="1300">
              <a:solidFill>
                <a:schemeClr val="dk1"/>
              </a:solidFill>
              <a:latin typeface="Calibri"/>
              <a:ea typeface="Calibri"/>
              <a:cs typeface="Calibri"/>
              <a:sym typeface="Calibri"/>
            </a:endParaRPr>
          </a:p>
        </p:txBody>
      </p:sp>
      <p:sp>
        <p:nvSpPr>
          <p:cNvPr id="264" name="Google Shape;264;p14"/>
          <p:cNvSpPr/>
          <p:nvPr/>
        </p:nvSpPr>
        <p:spPr>
          <a:xfrm>
            <a:off x="411480" y="960120"/>
            <a:ext cx="3383280" cy="3657600"/>
          </a:xfrm>
          <a:prstGeom prst="roundRect">
            <a:avLst>
              <a:gd fmla="val 1622"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4"/>
          <p:cNvSpPr/>
          <p:nvPr/>
        </p:nvSpPr>
        <p:spPr>
          <a:xfrm>
            <a:off x="594360" y="1078992"/>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250"/>
              <a:buFont typeface="Poppins SemiBold"/>
              <a:buNone/>
            </a:pPr>
            <a:r>
              <a:rPr b="1" lang="en-US" sz="1250">
                <a:solidFill>
                  <a:srgbClr val="0F7A54"/>
                </a:solidFill>
                <a:latin typeface="Poppins SemiBold"/>
                <a:ea typeface="Poppins SemiBold"/>
                <a:cs typeface="Poppins SemiBold"/>
                <a:sym typeface="Poppins SemiBold"/>
              </a:rPr>
              <a:t>Running order</a:t>
            </a:r>
            <a:endParaRPr sz="1250">
              <a:solidFill>
                <a:schemeClr val="dk1"/>
              </a:solidFill>
              <a:latin typeface="Calibri"/>
              <a:ea typeface="Calibri"/>
              <a:cs typeface="Calibri"/>
              <a:sym typeface="Calibri"/>
            </a:endParaRPr>
          </a:p>
        </p:txBody>
      </p:sp>
      <p:sp>
        <p:nvSpPr>
          <p:cNvPr id="266" name="Google Shape;266;p14"/>
          <p:cNvSpPr/>
          <p:nvPr/>
        </p:nvSpPr>
        <p:spPr>
          <a:xfrm>
            <a:off x="594360" y="1325880"/>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How's it going?</a:t>
            </a:r>
            <a:endParaRPr sz="1050">
              <a:solidFill>
                <a:schemeClr val="dk1"/>
              </a:solidFill>
              <a:latin typeface="Calibri"/>
              <a:ea typeface="Calibri"/>
              <a:cs typeface="Calibri"/>
              <a:sym typeface="Calibri"/>
            </a:endParaRPr>
          </a:p>
        </p:txBody>
      </p:sp>
      <p:sp>
        <p:nvSpPr>
          <p:cNvPr id="267" name="Google Shape;267;p14"/>
          <p:cNvSpPr/>
          <p:nvPr/>
        </p:nvSpPr>
        <p:spPr>
          <a:xfrm>
            <a:off x="2926080" y="1325880"/>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8 min</a:t>
            </a:r>
            <a:endParaRPr sz="1050">
              <a:solidFill>
                <a:schemeClr val="dk1"/>
              </a:solidFill>
              <a:latin typeface="Calibri"/>
              <a:ea typeface="Calibri"/>
              <a:cs typeface="Calibri"/>
              <a:sym typeface="Calibri"/>
            </a:endParaRPr>
          </a:p>
        </p:txBody>
      </p:sp>
      <p:cxnSp>
        <p:nvCxnSpPr>
          <p:cNvPr id="268" name="Google Shape;268;p14"/>
          <p:cNvCxnSpPr/>
          <p:nvPr/>
        </p:nvCxnSpPr>
        <p:spPr>
          <a:xfrm>
            <a:off x="594360" y="1655064"/>
            <a:ext cx="3017520" cy="0"/>
          </a:xfrm>
          <a:prstGeom prst="straightConnector1">
            <a:avLst/>
          </a:prstGeom>
          <a:noFill/>
          <a:ln cap="flat" cmpd="sng" w="9525">
            <a:solidFill>
              <a:srgbClr val="D2DBDA"/>
            </a:solidFill>
            <a:prstDash val="solid"/>
            <a:round/>
            <a:headEnd len="sm" w="sm" type="none"/>
            <a:tailEnd len="sm" w="sm" type="none"/>
          </a:ln>
        </p:spPr>
      </p:cxnSp>
      <p:sp>
        <p:nvSpPr>
          <p:cNvPr id="269" name="Google Shape;269;p14"/>
          <p:cNvSpPr/>
          <p:nvPr/>
        </p:nvSpPr>
        <p:spPr>
          <a:xfrm>
            <a:off x="594360" y="1700784"/>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Tuning in — noticing</a:t>
            </a:r>
            <a:endParaRPr sz="1050">
              <a:solidFill>
                <a:schemeClr val="dk1"/>
              </a:solidFill>
              <a:latin typeface="Calibri"/>
              <a:ea typeface="Calibri"/>
              <a:cs typeface="Calibri"/>
              <a:sym typeface="Calibri"/>
            </a:endParaRPr>
          </a:p>
        </p:txBody>
      </p:sp>
      <p:sp>
        <p:nvSpPr>
          <p:cNvPr id="270" name="Google Shape;270;p14"/>
          <p:cNvSpPr/>
          <p:nvPr/>
        </p:nvSpPr>
        <p:spPr>
          <a:xfrm>
            <a:off x="2926080" y="1700784"/>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7 min</a:t>
            </a:r>
            <a:endParaRPr sz="1050">
              <a:solidFill>
                <a:schemeClr val="dk1"/>
              </a:solidFill>
              <a:latin typeface="Calibri"/>
              <a:ea typeface="Calibri"/>
              <a:cs typeface="Calibri"/>
              <a:sym typeface="Calibri"/>
            </a:endParaRPr>
          </a:p>
        </p:txBody>
      </p:sp>
      <p:cxnSp>
        <p:nvCxnSpPr>
          <p:cNvPr id="271" name="Google Shape;271;p14"/>
          <p:cNvCxnSpPr/>
          <p:nvPr/>
        </p:nvCxnSpPr>
        <p:spPr>
          <a:xfrm>
            <a:off x="594360" y="2029968"/>
            <a:ext cx="3017520" cy="0"/>
          </a:xfrm>
          <a:prstGeom prst="straightConnector1">
            <a:avLst/>
          </a:prstGeom>
          <a:noFill/>
          <a:ln cap="flat" cmpd="sng" w="9525">
            <a:solidFill>
              <a:srgbClr val="D2DBDA"/>
            </a:solidFill>
            <a:prstDash val="solid"/>
            <a:round/>
            <a:headEnd len="sm" w="sm" type="none"/>
            <a:tailEnd len="sm" w="sm" type="none"/>
          </a:ln>
        </p:spPr>
      </p:cxnSp>
      <p:sp>
        <p:nvSpPr>
          <p:cNvPr id="272" name="Google Shape;272;p14"/>
          <p:cNvSpPr/>
          <p:nvPr/>
        </p:nvSpPr>
        <p:spPr>
          <a:xfrm>
            <a:off x="594360" y="2075688"/>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The basics</a:t>
            </a:r>
            <a:endParaRPr sz="1050">
              <a:solidFill>
                <a:schemeClr val="dk1"/>
              </a:solidFill>
              <a:latin typeface="Calibri"/>
              <a:ea typeface="Calibri"/>
              <a:cs typeface="Calibri"/>
              <a:sym typeface="Calibri"/>
            </a:endParaRPr>
          </a:p>
        </p:txBody>
      </p:sp>
      <p:sp>
        <p:nvSpPr>
          <p:cNvPr id="273" name="Google Shape;273;p14"/>
          <p:cNvSpPr/>
          <p:nvPr/>
        </p:nvSpPr>
        <p:spPr>
          <a:xfrm>
            <a:off x="2926080" y="2075688"/>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8 min</a:t>
            </a:r>
            <a:endParaRPr sz="1050">
              <a:solidFill>
                <a:schemeClr val="dk1"/>
              </a:solidFill>
              <a:latin typeface="Calibri"/>
              <a:ea typeface="Calibri"/>
              <a:cs typeface="Calibri"/>
              <a:sym typeface="Calibri"/>
            </a:endParaRPr>
          </a:p>
        </p:txBody>
      </p:sp>
      <p:cxnSp>
        <p:nvCxnSpPr>
          <p:cNvPr id="274" name="Google Shape;274;p14"/>
          <p:cNvCxnSpPr/>
          <p:nvPr/>
        </p:nvCxnSpPr>
        <p:spPr>
          <a:xfrm>
            <a:off x="594360" y="2404872"/>
            <a:ext cx="3017520" cy="0"/>
          </a:xfrm>
          <a:prstGeom prst="straightConnector1">
            <a:avLst/>
          </a:prstGeom>
          <a:noFill/>
          <a:ln cap="flat" cmpd="sng" w="9525">
            <a:solidFill>
              <a:srgbClr val="D2DBDA"/>
            </a:solidFill>
            <a:prstDash val="solid"/>
            <a:round/>
            <a:headEnd len="sm" w="sm" type="none"/>
            <a:tailEnd len="sm" w="sm" type="none"/>
          </a:ln>
        </p:spPr>
      </p:cxnSp>
      <p:sp>
        <p:nvSpPr>
          <p:cNvPr id="275" name="Google Shape;275;p14"/>
          <p:cNvSpPr/>
          <p:nvPr/>
        </p:nvSpPr>
        <p:spPr>
          <a:xfrm>
            <a:off x="594360" y="2450592"/>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Show respect</a:t>
            </a:r>
            <a:endParaRPr sz="1050">
              <a:solidFill>
                <a:schemeClr val="dk1"/>
              </a:solidFill>
              <a:latin typeface="Calibri"/>
              <a:ea typeface="Calibri"/>
              <a:cs typeface="Calibri"/>
              <a:sym typeface="Calibri"/>
            </a:endParaRPr>
          </a:p>
        </p:txBody>
      </p:sp>
      <p:sp>
        <p:nvSpPr>
          <p:cNvPr id="276" name="Google Shape;276;p14"/>
          <p:cNvSpPr/>
          <p:nvPr/>
        </p:nvSpPr>
        <p:spPr>
          <a:xfrm>
            <a:off x="2926080" y="2450592"/>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7 min</a:t>
            </a:r>
            <a:endParaRPr sz="1050">
              <a:solidFill>
                <a:schemeClr val="dk1"/>
              </a:solidFill>
              <a:latin typeface="Calibri"/>
              <a:ea typeface="Calibri"/>
              <a:cs typeface="Calibri"/>
              <a:sym typeface="Calibri"/>
            </a:endParaRPr>
          </a:p>
        </p:txBody>
      </p:sp>
      <p:cxnSp>
        <p:nvCxnSpPr>
          <p:cNvPr id="277" name="Google Shape;277;p14"/>
          <p:cNvCxnSpPr/>
          <p:nvPr/>
        </p:nvCxnSpPr>
        <p:spPr>
          <a:xfrm>
            <a:off x="594360" y="2779776"/>
            <a:ext cx="3017520" cy="0"/>
          </a:xfrm>
          <a:prstGeom prst="straightConnector1">
            <a:avLst/>
          </a:prstGeom>
          <a:noFill/>
          <a:ln cap="flat" cmpd="sng" w="9525">
            <a:solidFill>
              <a:srgbClr val="D2DBDA"/>
            </a:solidFill>
            <a:prstDash val="solid"/>
            <a:round/>
            <a:headEnd len="sm" w="sm" type="none"/>
            <a:tailEnd len="sm" w="sm" type="none"/>
          </a:ln>
        </p:spPr>
      </p:cxnSp>
      <p:sp>
        <p:nvSpPr>
          <p:cNvPr id="278" name="Google Shape;278;p14"/>
          <p:cNvSpPr/>
          <p:nvPr/>
        </p:nvSpPr>
        <p:spPr>
          <a:xfrm>
            <a:off x="594360" y="2825496"/>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Your subject area</a:t>
            </a:r>
            <a:endParaRPr sz="1050">
              <a:solidFill>
                <a:schemeClr val="dk1"/>
              </a:solidFill>
              <a:latin typeface="Calibri"/>
              <a:ea typeface="Calibri"/>
              <a:cs typeface="Calibri"/>
              <a:sym typeface="Calibri"/>
            </a:endParaRPr>
          </a:p>
        </p:txBody>
      </p:sp>
      <p:sp>
        <p:nvSpPr>
          <p:cNvPr id="279" name="Google Shape;279;p14"/>
          <p:cNvSpPr/>
          <p:nvPr/>
        </p:nvSpPr>
        <p:spPr>
          <a:xfrm>
            <a:off x="2926080" y="2825496"/>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8 min</a:t>
            </a:r>
            <a:endParaRPr sz="1050">
              <a:solidFill>
                <a:schemeClr val="dk1"/>
              </a:solidFill>
              <a:latin typeface="Calibri"/>
              <a:ea typeface="Calibri"/>
              <a:cs typeface="Calibri"/>
              <a:sym typeface="Calibri"/>
            </a:endParaRPr>
          </a:p>
        </p:txBody>
      </p:sp>
      <p:cxnSp>
        <p:nvCxnSpPr>
          <p:cNvPr id="280" name="Google Shape;280;p14"/>
          <p:cNvCxnSpPr/>
          <p:nvPr/>
        </p:nvCxnSpPr>
        <p:spPr>
          <a:xfrm>
            <a:off x="594360" y="3154680"/>
            <a:ext cx="3017520" cy="0"/>
          </a:xfrm>
          <a:prstGeom prst="straightConnector1">
            <a:avLst/>
          </a:prstGeom>
          <a:noFill/>
          <a:ln cap="flat" cmpd="sng" w="9525">
            <a:solidFill>
              <a:srgbClr val="D2DBDA"/>
            </a:solidFill>
            <a:prstDash val="solid"/>
            <a:round/>
            <a:headEnd len="sm" w="sm" type="none"/>
            <a:tailEnd len="sm" w="sm" type="none"/>
          </a:ln>
        </p:spPr>
      </p:cxnSp>
      <p:sp>
        <p:nvSpPr>
          <p:cNvPr id="281" name="Google Shape;281;p14"/>
          <p:cNvSpPr/>
          <p:nvPr/>
        </p:nvSpPr>
        <p:spPr>
          <a:xfrm>
            <a:off x="594360" y="3200400"/>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Quick check</a:t>
            </a:r>
            <a:endParaRPr sz="1050">
              <a:solidFill>
                <a:schemeClr val="dk1"/>
              </a:solidFill>
              <a:latin typeface="Calibri"/>
              <a:ea typeface="Calibri"/>
              <a:cs typeface="Calibri"/>
              <a:sym typeface="Calibri"/>
            </a:endParaRPr>
          </a:p>
        </p:txBody>
      </p:sp>
      <p:sp>
        <p:nvSpPr>
          <p:cNvPr id="282" name="Google Shape;282;p14"/>
          <p:cNvSpPr/>
          <p:nvPr/>
        </p:nvSpPr>
        <p:spPr>
          <a:xfrm>
            <a:off x="2926080" y="3200400"/>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8 min</a:t>
            </a:r>
            <a:endParaRPr sz="1050">
              <a:solidFill>
                <a:schemeClr val="dk1"/>
              </a:solidFill>
              <a:latin typeface="Calibri"/>
              <a:ea typeface="Calibri"/>
              <a:cs typeface="Calibri"/>
              <a:sym typeface="Calibri"/>
            </a:endParaRPr>
          </a:p>
        </p:txBody>
      </p:sp>
      <p:cxnSp>
        <p:nvCxnSpPr>
          <p:cNvPr id="283" name="Google Shape;283;p14"/>
          <p:cNvCxnSpPr/>
          <p:nvPr/>
        </p:nvCxnSpPr>
        <p:spPr>
          <a:xfrm>
            <a:off x="594360" y="3529584"/>
            <a:ext cx="3017520" cy="0"/>
          </a:xfrm>
          <a:prstGeom prst="straightConnector1">
            <a:avLst/>
          </a:prstGeom>
          <a:noFill/>
          <a:ln cap="flat" cmpd="sng" w="9525">
            <a:solidFill>
              <a:srgbClr val="D2DBDA"/>
            </a:solidFill>
            <a:prstDash val="solid"/>
            <a:round/>
            <a:headEnd len="sm" w="sm" type="none"/>
            <a:tailEnd len="sm" w="sm" type="none"/>
          </a:ln>
        </p:spPr>
      </p:cxnSp>
      <p:sp>
        <p:nvSpPr>
          <p:cNvPr id="284" name="Google Shape;284;p14"/>
          <p:cNvSpPr/>
          <p:nvPr/>
        </p:nvSpPr>
        <p:spPr>
          <a:xfrm>
            <a:off x="594360" y="3575304"/>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If something's not right</a:t>
            </a:r>
            <a:endParaRPr sz="1050">
              <a:solidFill>
                <a:schemeClr val="dk1"/>
              </a:solidFill>
              <a:latin typeface="Calibri"/>
              <a:ea typeface="Calibri"/>
              <a:cs typeface="Calibri"/>
              <a:sym typeface="Calibri"/>
            </a:endParaRPr>
          </a:p>
        </p:txBody>
      </p:sp>
      <p:sp>
        <p:nvSpPr>
          <p:cNvPr id="285" name="Google Shape;285;p14"/>
          <p:cNvSpPr/>
          <p:nvPr/>
        </p:nvSpPr>
        <p:spPr>
          <a:xfrm>
            <a:off x="2926080" y="3575304"/>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7 min</a:t>
            </a:r>
            <a:endParaRPr sz="1050">
              <a:solidFill>
                <a:schemeClr val="dk1"/>
              </a:solidFill>
              <a:latin typeface="Calibri"/>
              <a:ea typeface="Calibri"/>
              <a:cs typeface="Calibri"/>
              <a:sym typeface="Calibri"/>
            </a:endParaRPr>
          </a:p>
        </p:txBody>
      </p:sp>
      <p:cxnSp>
        <p:nvCxnSpPr>
          <p:cNvPr id="286" name="Google Shape;286;p14"/>
          <p:cNvCxnSpPr/>
          <p:nvPr/>
        </p:nvCxnSpPr>
        <p:spPr>
          <a:xfrm>
            <a:off x="594360" y="3904488"/>
            <a:ext cx="3017520" cy="0"/>
          </a:xfrm>
          <a:prstGeom prst="straightConnector1">
            <a:avLst/>
          </a:prstGeom>
          <a:noFill/>
          <a:ln cap="flat" cmpd="sng" w="9525">
            <a:solidFill>
              <a:srgbClr val="D2DBDA"/>
            </a:solidFill>
            <a:prstDash val="solid"/>
            <a:round/>
            <a:headEnd len="sm" w="sm" type="none"/>
            <a:tailEnd len="sm" w="sm" type="none"/>
          </a:ln>
        </p:spPr>
      </p:cxnSp>
      <p:sp>
        <p:nvSpPr>
          <p:cNvPr id="287" name="Google Shape;287;p14"/>
          <p:cNvSpPr/>
          <p:nvPr/>
        </p:nvSpPr>
        <p:spPr>
          <a:xfrm>
            <a:off x="594360" y="3950208"/>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One thing + close</a:t>
            </a:r>
            <a:endParaRPr sz="1050">
              <a:solidFill>
                <a:schemeClr val="dk1"/>
              </a:solidFill>
              <a:latin typeface="Calibri"/>
              <a:ea typeface="Calibri"/>
              <a:cs typeface="Calibri"/>
              <a:sym typeface="Calibri"/>
            </a:endParaRPr>
          </a:p>
        </p:txBody>
      </p:sp>
      <p:sp>
        <p:nvSpPr>
          <p:cNvPr id="288" name="Google Shape;288;p14"/>
          <p:cNvSpPr/>
          <p:nvPr/>
        </p:nvSpPr>
        <p:spPr>
          <a:xfrm>
            <a:off x="2926080" y="3950208"/>
            <a:ext cx="77724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7 min</a:t>
            </a:r>
            <a:endParaRPr sz="1050">
              <a:solidFill>
                <a:schemeClr val="dk1"/>
              </a:solidFill>
              <a:latin typeface="Calibri"/>
              <a:ea typeface="Calibri"/>
              <a:cs typeface="Calibri"/>
              <a:sym typeface="Calibri"/>
            </a:endParaRPr>
          </a:p>
        </p:txBody>
      </p:sp>
      <p:sp>
        <p:nvSpPr>
          <p:cNvPr id="289" name="Google Shape;289;p14"/>
          <p:cNvSpPr/>
          <p:nvPr/>
        </p:nvSpPr>
        <p:spPr>
          <a:xfrm>
            <a:off x="594360" y="4389120"/>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00"/>
              <a:buFont typeface="Poppins SemiBold"/>
              <a:buNone/>
            </a:pPr>
            <a:r>
              <a:rPr b="1" lang="en-US" sz="1000">
                <a:solidFill>
                  <a:srgbClr val="0D2434"/>
                </a:solidFill>
                <a:latin typeface="Poppins SemiBold"/>
                <a:ea typeface="Poppins SemiBold"/>
                <a:cs typeface="Poppins SemiBold"/>
                <a:sym typeface="Poppins SemiBold"/>
              </a:rPr>
              <a:t>Total: ~60 minutes</a:t>
            </a:r>
            <a:endParaRPr sz="1000">
              <a:solidFill>
                <a:schemeClr val="dk1"/>
              </a:solidFill>
              <a:latin typeface="Calibri"/>
              <a:ea typeface="Calibri"/>
              <a:cs typeface="Calibri"/>
              <a:sym typeface="Calibri"/>
            </a:endParaRPr>
          </a:p>
        </p:txBody>
      </p:sp>
      <p:sp>
        <p:nvSpPr>
          <p:cNvPr id="290" name="Google Shape;290;p14"/>
          <p:cNvSpPr/>
          <p:nvPr/>
        </p:nvSpPr>
        <p:spPr>
          <a:xfrm>
            <a:off x="3977650" y="960127"/>
            <a:ext cx="4755000" cy="1248000"/>
          </a:xfrm>
          <a:prstGeom prst="roundRect">
            <a:avLst>
              <a:gd fmla="val 3333"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4"/>
          <p:cNvSpPr/>
          <p:nvPr/>
        </p:nvSpPr>
        <p:spPr>
          <a:xfrm>
            <a:off x="4160530" y="1015600"/>
            <a:ext cx="4389000" cy="1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50"/>
              <a:buFont typeface="Poppins SemiBold"/>
              <a:buNone/>
            </a:pPr>
            <a:r>
              <a:rPr b="1" lang="en-US" sz="1150">
                <a:solidFill>
                  <a:srgbClr val="0F7A54"/>
                </a:solidFill>
                <a:latin typeface="Poppins SemiBold"/>
                <a:ea typeface="Poppins SemiBold"/>
                <a:cs typeface="Poppins SemiBold"/>
                <a:sym typeface="Poppins SemiBold"/>
              </a:rPr>
              <a:t>Pre-flight checklist</a:t>
            </a:r>
            <a:endParaRPr sz="1150">
              <a:solidFill>
                <a:schemeClr val="dk1"/>
              </a:solidFill>
              <a:latin typeface="Calibri"/>
              <a:ea typeface="Calibri"/>
              <a:cs typeface="Calibri"/>
              <a:sym typeface="Calibri"/>
            </a:endParaRPr>
          </a:p>
        </p:txBody>
      </p:sp>
      <p:sp>
        <p:nvSpPr>
          <p:cNvPr id="292" name="Google Shape;292;p14"/>
          <p:cNvSpPr/>
          <p:nvPr/>
        </p:nvSpPr>
        <p:spPr>
          <a:xfrm>
            <a:off x="4160530" y="1195887"/>
            <a:ext cx="4389000" cy="970800"/>
          </a:xfrm>
          <a:prstGeom prst="rect">
            <a:avLst/>
          </a:prstGeom>
          <a:noFill/>
          <a:ln>
            <a:noFill/>
          </a:ln>
        </p:spPr>
        <p:txBody>
          <a:bodyPr anchorCtr="0" anchor="ctr" bIns="0" lIns="0" spcFirstLastPara="1" rIns="0" wrap="square" tIns="0">
            <a:noAutofit/>
          </a:bodyPr>
          <a:lstStyle/>
          <a:p>
            <a:pPr indent="-101600" lvl="0" marL="101600" marR="0" rtl="0" algn="l">
              <a:lnSpc>
                <a:spcPct val="100000"/>
              </a:lnSpc>
              <a:spcBef>
                <a:spcPts val="0"/>
              </a:spcBef>
              <a:spcAft>
                <a:spcPts val="0"/>
              </a:spcAft>
              <a:buClr>
                <a:srgbClr val="1B2A30"/>
              </a:buClr>
              <a:buSzPts val="850"/>
              <a:buFont typeface="Poppins"/>
              <a:buChar char="•"/>
            </a:pPr>
            <a:r>
              <a:rPr lang="en-US" sz="850">
                <a:solidFill>
                  <a:srgbClr val="1B2A30"/>
                </a:solidFill>
                <a:latin typeface="Poppins"/>
                <a:ea typeface="Poppins"/>
                <a:cs typeface="Poppins"/>
                <a:sym typeface="Poppins"/>
              </a:rPr>
              <a:t>Slide 5 — evacuation routes &amp; assembly point confirmed for this room/building</a:t>
            </a:r>
            <a:endParaRPr sz="850">
              <a:solidFill>
                <a:schemeClr val="dk1"/>
              </a:solidFill>
              <a:latin typeface="Calibri"/>
              <a:ea typeface="Calibri"/>
              <a:cs typeface="Calibri"/>
              <a:sym typeface="Calibri"/>
            </a:endParaRPr>
          </a:p>
          <a:p>
            <a:pPr indent="-101600" lvl="0" marL="101600" marR="0" rtl="0" algn="l">
              <a:lnSpc>
                <a:spcPct val="100000"/>
              </a:lnSpc>
              <a:spcBef>
                <a:spcPts val="300"/>
              </a:spcBef>
              <a:spcAft>
                <a:spcPts val="0"/>
              </a:spcAft>
              <a:buClr>
                <a:srgbClr val="1B2A30"/>
              </a:buClr>
              <a:buSzPts val="850"/>
              <a:buFont typeface="Poppins"/>
              <a:buChar char="•"/>
            </a:pPr>
            <a:r>
              <a:rPr lang="en-US" sz="850">
                <a:solidFill>
                  <a:srgbClr val="1B2A30"/>
                </a:solidFill>
                <a:latin typeface="Poppins"/>
                <a:ea typeface="Poppins"/>
                <a:cs typeface="Poppins"/>
                <a:sym typeface="Poppins"/>
              </a:rPr>
              <a:t>Slide 9 — deleted the two safeguarding team numbers that aren't your campus</a:t>
            </a:r>
            <a:endParaRPr sz="850">
              <a:solidFill>
                <a:schemeClr val="dk1"/>
              </a:solidFill>
              <a:latin typeface="Calibri"/>
              <a:ea typeface="Calibri"/>
              <a:cs typeface="Calibri"/>
              <a:sym typeface="Calibri"/>
            </a:endParaRPr>
          </a:p>
          <a:p>
            <a:pPr indent="-101600" lvl="0" marL="101600" marR="0" rtl="0" algn="l">
              <a:lnSpc>
                <a:spcPct val="100000"/>
              </a:lnSpc>
              <a:spcBef>
                <a:spcPts val="300"/>
              </a:spcBef>
              <a:spcAft>
                <a:spcPts val="0"/>
              </a:spcAft>
              <a:buClr>
                <a:srgbClr val="1B2A30"/>
              </a:buClr>
              <a:buSzPts val="850"/>
              <a:buFont typeface="Poppins"/>
              <a:buChar char="•"/>
            </a:pPr>
            <a:r>
              <a:rPr lang="en-US" sz="850">
                <a:solidFill>
                  <a:srgbClr val="1B2A30"/>
                </a:solidFill>
                <a:latin typeface="Poppins"/>
                <a:ea typeface="Poppins"/>
                <a:cs typeface="Poppins"/>
                <a:sym typeface="Poppins"/>
              </a:rPr>
              <a:t>Slide 7 — replaced with your subject area's content (not delivered as a placeholder)</a:t>
            </a:r>
            <a:endParaRPr sz="850">
              <a:solidFill>
                <a:schemeClr val="dk1"/>
              </a:solidFill>
              <a:latin typeface="Calibri"/>
              <a:ea typeface="Calibri"/>
              <a:cs typeface="Calibri"/>
              <a:sym typeface="Calibri"/>
            </a:endParaRPr>
          </a:p>
          <a:p>
            <a:pPr indent="-101600" lvl="0" marL="101600" marR="0" rtl="0" algn="l">
              <a:lnSpc>
                <a:spcPct val="100000"/>
              </a:lnSpc>
              <a:spcBef>
                <a:spcPts val="300"/>
              </a:spcBef>
              <a:spcAft>
                <a:spcPts val="0"/>
              </a:spcAft>
              <a:buClr>
                <a:srgbClr val="1B2A30"/>
              </a:buClr>
              <a:buSzPts val="850"/>
              <a:buFont typeface="Poppins"/>
              <a:buChar char="•"/>
            </a:pPr>
            <a:r>
              <a:rPr lang="en-US" sz="850">
                <a:solidFill>
                  <a:srgbClr val="1B2A30"/>
                </a:solidFill>
                <a:latin typeface="Poppins"/>
                <a:ea typeface="Poppins"/>
                <a:cs typeface="Poppins"/>
                <a:sym typeface="Poppins"/>
              </a:rPr>
              <a:t>Cards or paper ready for slide 10's commitment activity</a:t>
            </a:r>
            <a:endParaRPr sz="850">
              <a:solidFill>
                <a:schemeClr val="dk1"/>
              </a:solidFill>
              <a:latin typeface="Calibri"/>
              <a:ea typeface="Calibri"/>
              <a:cs typeface="Calibri"/>
              <a:sym typeface="Calibri"/>
            </a:endParaRPr>
          </a:p>
        </p:txBody>
      </p:sp>
      <p:sp>
        <p:nvSpPr>
          <p:cNvPr id="293" name="Google Shape;293;p14"/>
          <p:cNvSpPr/>
          <p:nvPr/>
        </p:nvSpPr>
        <p:spPr>
          <a:xfrm>
            <a:off x="3977650" y="2311310"/>
            <a:ext cx="4755000" cy="2361300"/>
          </a:xfrm>
          <a:prstGeom prst="roundRect">
            <a:avLst>
              <a:gd fmla="val 6316" name="adj"/>
            </a:avLst>
          </a:prstGeom>
          <a:solidFill>
            <a:srgbClr val="F8E7E3"/>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4" name="Google Shape;294;p14"/>
          <p:cNvPicPr preferRelativeResize="0"/>
          <p:nvPr/>
        </p:nvPicPr>
        <p:blipFill rotWithShape="1">
          <a:blip r:embed="rId3">
            <a:alphaModFix/>
          </a:blip>
          <a:srcRect b="0" l="0" r="0" t="0"/>
          <a:stretch/>
        </p:blipFill>
        <p:spPr>
          <a:xfrm>
            <a:off x="4017370" y="2395644"/>
            <a:ext cx="219456" cy="219456"/>
          </a:xfrm>
          <a:prstGeom prst="rect">
            <a:avLst/>
          </a:prstGeom>
          <a:noFill/>
          <a:ln>
            <a:noFill/>
          </a:ln>
        </p:spPr>
      </p:pic>
      <p:sp>
        <p:nvSpPr>
          <p:cNvPr id="295" name="Google Shape;295;p14"/>
          <p:cNvSpPr/>
          <p:nvPr/>
        </p:nvSpPr>
        <p:spPr>
          <a:xfrm>
            <a:off x="4311335" y="2386587"/>
            <a:ext cx="4087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150"/>
              <a:buFont typeface="Poppins SemiBold"/>
              <a:buNone/>
            </a:pPr>
            <a:r>
              <a:rPr b="1" lang="en-US" sz="1150">
                <a:solidFill>
                  <a:srgbClr val="B23A2E"/>
                </a:solidFill>
                <a:latin typeface="Poppins SemiBold"/>
                <a:ea typeface="Poppins SemiBold"/>
                <a:cs typeface="Poppins SemiBold"/>
                <a:sym typeface="Poppins SemiBold"/>
              </a:rPr>
              <a:t>Safeguarding</a:t>
            </a:r>
            <a:endParaRPr sz="1150">
              <a:solidFill>
                <a:schemeClr val="dk1"/>
              </a:solidFill>
              <a:latin typeface="Calibri"/>
              <a:ea typeface="Calibri"/>
              <a:cs typeface="Calibri"/>
              <a:sym typeface="Calibri"/>
            </a:endParaRPr>
          </a:p>
        </p:txBody>
      </p:sp>
      <p:sp>
        <p:nvSpPr>
          <p:cNvPr id="296" name="Google Shape;296;p14"/>
          <p:cNvSpPr/>
          <p:nvPr/>
        </p:nvSpPr>
        <p:spPr>
          <a:xfrm>
            <a:off x="4095725" y="2761500"/>
            <a:ext cx="4453800" cy="188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3A2E"/>
              </a:buClr>
              <a:buSzPts val="850"/>
              <a:buFont typeface="Poppins"/>
              <a:buNone/>
            </a:pPr>
            <a:r>
              <a:rPr lang="en-US" sz="850">
                <a:solidFill>
                  <a:srgbClr val="B23A2E"/>
                </a:solidFill>
                <a:latin typeface="Poppins"/>
                <a:ea typeface="Poppins"/>
                <a:cs typeface="Poppins"/>
                <a:sym typeface="Poppins"/>
              </a:rPr>
              <a:t>Most likely surface points: slide 3 (settled discussion) and slide 9. If a disclosure happens: listen calmly, don’t promise confidentiality, don’t investigate, report the same day via your safeguarding route. Full procedure lives in Module F — this module only signposts. For Level 3 Digital and Creative Media: content creation students beginning to produce and publish real media (Content Creation L3 live products — youth radio, Tag magazine) may disclose concerns about editorial situations or inappropriate content they have encountered. T Level students discussing industry placement may disclose unsafe conditions at work experience. Cybersecurity content (hacking, malware, vulnerabilities) on the Digital and Cyber T Levels may surface disclosures about personal experience of cybercrime or online harm. For film and games students: creative briefs that involve personal narrative can surface mental health and identity disclosures, particularly on slide 3.</a:t>
            </a:r>
            <a:endParaRPr sz="850">
              <a:solidFill>
                <a:schemeClr val="dk1"/>
              </a:solidFill>
              <a:latin typeface="Calibri"/>
              <a:ea typeface="Calibri"/>
              <a:cs typeface="Calibri"/>
              <a:sym typeface="Calibri"/>
            </a:endParaRPr>
          </a:p>
        </p:txBody>
      </p:sp>
      <p:sp>
        <p:nvSpPr>
          <p:cNvPr id="297" name="Google Shape;297;p14"/>
          <p:cNvSpPr/>
          <p:nvPr/>
        </p:nvSpPr>
        <p:spPr>
          <a:xfrm>
            <a:off x="0" y="4754880"/>
            <a:ext cx="9144000" cy="3886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4"/>
          <p:cNvSpPr/>
          <p:nvPr/>
        </p:nvSpPr>
        <p:spPr>
          <a:xfrm>
            <a:off x="411480" y="4754880"/>
            <a:ext cx="8321040" cy="38862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CF01"/>
              </a:buClr>
              <a:buSzPts val="900"/>
              <a:buFont typeface="Poppins"/>
              <a:buNone/>
            </a:pPr>
            <a:r>
              <a:rPr b="1" lang="en-US" sz="900">
                <a:solidFill>
                  <a:srgbClr val="FFCF01"/>
                </a:solidFill>
                <a:latin typeface="Poppins"/>
                <a:ea typeface="Poppins"/>
                <a:cs typeface="Poppins"/>
                <a:sym typeface="Poppins"/>
              </a:rPr>
              <a:t>FOR CURRICULUM TEAMS BUILDING SUBJECT VERSIONS:  </a:t>
            </a:r>
            <a:r>
              <a:rPr lang="en-US" sz="900">
                <a:solidFill>
                  <a:srgbClr val="FFFFFF"/>
                </a:solidFill>
                <a:latin typeface="Poppins"/>
                <a:ea typeface="Poppins"/>
                <a:cs typeface="Poppins"/>
                <a:sym typeface="Poppins"/>
              </a:rPr>
              <a:t>only slide 7 is yours to author. Replace its placeholder with your subject area's PPE, equipment, materials and responsibility content, keeping the deck's structure, palette and mode-chip style unchanged.</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