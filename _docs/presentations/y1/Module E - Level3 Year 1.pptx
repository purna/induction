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 name="Google Shape;2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 name="Google Shape;2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6" name="Google Shape;5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8" name="Google Shape;11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6" name="Google Shape;14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3" name="Google Shape;17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7" name="Google Shape;19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5" name="Google Shape;22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8" name="Google Shape;24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9" name="Google Shape;27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8" name="Google Shape;29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48e85eda8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g3f48e85eda8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0" name="Google Shape;310;g3f48e85eda8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3" name="Google Shape;32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D1F5C"/>
        </a:solidFill>
      </p:bgPr>
    </p:bg>
    <p:spTree>
      <p:nvGrpSpPr>
        <p:cNvPr id="11" name="Shape 11"/>
        <p:cNvGrpSpPr/>
        <p:nvPr/>
      </p:nvGrpSpPr>
      <p:grpSpPr>
        <a:xfrm>
          <a:off x="0" y="0"/>
          <a:ext cx="0" cy="0"/>
          <a:chOff x="0" y="0"/>
          <a:chExt cx="0" cy="0"/>
        </a:xfrm>
      </p:grpSpPr>
      <p:sp>
        <p:nvSpPr>
          <p:cNvPr id="12" name="Google Shape;12;p3"/>
          <p:cNvSpPr/>
          <p:nvPr/>
        </p:nvSpPr>
        <p:spPr>
          <a:xfrm>
            <a:off x="6949440" y="-914400"/>
            <a:ext cx="3474720" cy="3474720"/>
          </a:xfrm>
          <a:prstGeom prst="ellipse">
            <a:avLst/>
          </a:prstGeom>
          <a:solidFill>
            <a:srgbClr val="592C82">
              <a:alpha val="45098"/>
            </a:srgbClr>
          </a:solidFill>
          <a:ln cap="flat" cmpd="sng" w="12700">
            <a:solidFill>
              <a:srgbClr val="592C8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7589520" y="-365760"/>
            <a:ext cx="2194560" cy="2194560"/>
          </a:xfrm>
          <a:prstGeom prst="ellipse">
            <a:avLst/>
          </a:prstGeom>
          <a:solidFill>
            <a:srgbClr val="F5A623">
              <a:alpha val="30196"/>
            </a:srgbClr>
          </a:solidFill>
          <a:ln cap="flat" cmpd="sng" w="12700">
            <a:solidFill>
              <a:srgbClr val="F5A6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457200" y="411480"/>
            <a:ext cx="1828800" cy="384048"/>
          </a:xfrm>
          <a:prstGeom prst="roundRect">
            <a:avLst>
              <a:gd fmla="val 14286"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3"/>
          <p:cNvSpPr/>
          <p:nvPr/>
        </p:nvSpPr>
        <p:spPr>
          <a:xfrm>
            <a:off x="457200" y="411480"/>
            <a:ext cx="18288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MODULE E</a:t>
            </a:r>
            <a:endParaRPr sz="1200">
              <a:solidFill>
                <a:schemeClr val="dk1"/>
              </a:solidFill>
              <a:latin typeface="Calibri"/>
              <a:ea typeface="Calibri"/>
              <a:cs typeface="Calibri"/>
              <a:sym typeface="Calibri"/>
            </a:endParaRPr>
          </a:p>
        </p:txBody>
      </p:sp>
      <p:sp>
        <p:nvSpPr>
          <p:cNvPr id="16" name="Google Shape;16;p3"/>
          <p:cNvSpPr/>
          <p:nvPr/>
        </p:nvSpPr>
        <p:spPr>
          <a:xfrm>
            <a:off x="457200" y="960120"/>
            <a:ext cx="6400800" cy="1645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200"/>
              <a:buFont typeface="Arial"/>
              <a:buNone/>
            </a:pPr>
            <a:r>
              <a:rPr b="1" lang="en-US" sz="4200">
                <a:solidFill>
                  <a:srgbClr val="FFFFFF"/>
                </a:solidFill>
                <a:latin typeface="Arial"/>
                <a:ea typeface="Arial"/>
                <a:cs typeface="Arial"/>
                <a:sym typeface="Arial"/>
              </a:rPr>
              <a:t>Respect, Relationships</a:t>
            </a:r>
            <a:endParaRPr sz="42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200"/>
              <a:buFont typeface="Arial"/>
              <a:buNone/>
            </a:pPr>
            <a:r>
              <a:rPr b="1" lang="en-US" sz="4200">
                <a:solidFill>
                  <a:srgbClr val="FFFFFF"/>
                </a:solidFill>
                <a:latin typeface="Arial"/>
                <a:ea typeface="Arial"/>
                <a:cs typeface="Arial"/>
                <a:sym typeface="Arial"/>
              </a:rPr>
              <a:t>&amp; College Values</a:t>
            </a:r>
            <a:endParaRPr sz="4200">
              <a:solidFill>
                <a:schemeClr val="dk1"/>
              </a:solidFill>
              <a:latin typeface="Calibri"/>
              <a:ea typeface="Calibri"/>
              <a:cs typeface="Calibri"/>
              <a:sym typeface="Calibri"/>
            </a:endParaRPr>
          </a:p>
        </p:txBody>
      </p:sp>
      <p:sp>
        <p:nvSpPr>
          <p:cNvPr id="17" name="Google Shape;17;p3"/>
          <p:cNvSpPr/>
          <p:nvPr/>
        </p:nvSpPr>
        <p:spPr>
          <a:xfrm>
            <a:off x="457200" y="2651760"/>
            <a:ext cx="59436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B8E8"/>
              </a:buClr>
              <a:buSzPts val="1600"/>
              <a:buFont typeface="Arial"/>
              <a:buNone/>
            </a:pPr>
            <a:r>
              <a:rPr lang="en-US" sz="1600">
                <a:solidFill>
                  <a:srgbClr val="C9B8E8"/>
                </a:solidFill>
                <a:latin typeface="Arial"/>
                <a:ea typeface="Arial"/>
                <a:cs typeface="Arial"/>
                <a:sym typeface="Arial"/>
              </a:rPr>
              <a:t>Group 2: Safeguarding, Wellbeing &amp; Respect</a:t>
            </a:r>
            <a:endParaRPr sz="1600">
              <a:solidFill>
                <a:schemeClr val="dk1"/>
              </a:solidFill>
              <a:latin typeface="Calibri"/>
              <a:ea typeface="Calibri"/>
              <a:cs typeface="Calibri"/>
              <a:sym typeface="Calibri"/>
            </a:endParaRPr>
          </a:p>
        </p:txBody>
      </p:sp>
      <p:pic>
        <p:nvPicPr>
          <p:cNvPr descr="/home/claude/moduleE/proud_logo.png" id="18" name="Google Shape;18;p3"/>
          <p:cNvPicPr preferRelativeResize="0"/>
          <p:nvPr/>
        </p:nvPicPr>
        <p:blipFill rotWithShape="1">
          <a:blip r:embed="rId3">
            <a:alphaModFix/>
          </a:blip>
          <a:srcRect b="0" l="0" r="0" t="0"/>
          <a:stretch/>
        </p:blipFill>
        <p:spPr>
          <a:xfrm>
            <a:off x="5029200" y="2743200"/>
            <a:ext cx="3840480" cy="1828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4"/>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4"/>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What we're covering today</a:t>
            </a:r>
            <a:endParaRPr sz="2600">
              <a:solidFill>
                <a:schemeClr val="dk1"/>
              </a:solidFill>
              <a:latin typeface="Calibri"/>
              <a:ea typeface="Calibri"/>
              <a:cs typeface="Calibri"/>
              <a:sym typeface="Calibri"/>
            </a:endParaRPr>
          </a:p>
        </p:txBody>
      </p:sp>
      <p:sp>
        <p:nvSpPr>
          <p:cNvPr id="26" name="Google Shape;26;p4"/>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In college, on placement, and online</a:t>
            </a:r>
            <a:endParaRPr sz="1300">
              <a:solidFill>
                <a:schemeClr val="dk1"/>
              </a:solidFill>
              <a:latin typeface="Calibri"/>
              <a:ea typeface="Calibri"/>
              <a:cs typeface="Calibri"/>
              <a:sym typeface="Calibri"/>
            </a:endParaRPr>
          </a:p>
        </p:txBody>
      </p:sp>
      <p:sp>
        <p:nvSpPr>
          <p:cNvPr id="27" name="Google Shape;27;p4"/>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4"/>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29" name="Google Shape;29;p4"/>
          <p:cNvSpPr/>
          <p:nvPr/>
        </p:nvSpPr>
        <p:spPr>
          <a:xfrm>
            <a:off x="457200" y="1097280"/>
            <a:ext cx="256032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 name="Google Shape;30;p4"/>
          <p:cNvPicPr preferRelativeResize="0"/>
          <p:nvPr/>
        </p:nvPicPr>
        <p:blipFill rotWithShape="1">
          <a:blip r:embed="rId3">
            <a:alphaModFix/>
          </a:blip>
          <a:srcRect b="0" l="0" r="0" t="0"/>
          <a:stretch/>
        </p:blipFill>
        <p:spPr>
          <a:xfrm>
            <a:off x="640080" y="1353312"/>
            <a:ext cx="384048" cy="384048"/>
          </a:xfrm>
          <a:prstGeom prst="rect">
            <a:avLst/>
          </a:prstGeom>
          <a:noFill/>
          <a:ln>
            <a:noFill/>
          </a:ln>
        </p:spPr>
      </p:pic>
      <p:sp>
        <p:nvSpPr>
          <p:cNvPr id="31" name="Google Shape;31;p4"/>
          <p:cNvSpPr/>
          <p:nvPr/>
        </p:nvSpPr>
        <p:spPr>
          <a:xfrm>
            <a:off x="1143000" y="1298448"/>
            <a:ext cx="1783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PROUD Values</a:t>
            </a:r>
            <a:endParaRPr sz="1300">
              <a:solidFill>
                <a:schemeClr val="dk1"/>
              </a:solidFill>
              <a:latin typeface="Calibri"/>
              <a:ea typeface="Calibri"/>
              <a:cs typeface="Calibri"/>
              <a:sym typeface="Calibri"/>
            </a:endParaRPr>
          </a:p>
        </p:txBody>
      </p:sp>
      <p:sp>
        <p:nvSpPr>
          <p:cNvPr id="32" name="Google Shape;32;p4"/>
          <p:cNvSpPr/>
          <p:nvPr/>
        </p:nvSpPr>
        <p:spPr>
          <a:xfrm>
            <a:off x="1143000" y="1673352"/>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7A"/>
              </a:buClr>
              <a:buSzPts val="1100"/>
              <a:buFont typeface="Arial"/>
              <a:buNone/>
            </a:pPr>
            <a:r>
              <a:rPr lang="en-US" sz="1100">
                <a:solidFill>
                  <a:srgbClr val="5C5C7A"/>
                </a:solidFill>
                <a:latin typeface="Arial"/>
                <a:ea typeface="Arial"/>
                <a:cs typeface="Arial"/>
                <a:sym typeface="Arial"/>
              </a:rPr>
              <a:t>Who we are as a college</a:t>
            </a:r>
            <a:endParaRPr sz="1100">
              <a:solidFill>
                <a:schemeClr val="dk1"/>
              </a:solidFill>
              <a:latin typeface="Calibri"/>
              <a:ea typeface="Calibri"/>
              <a:cs typeface="Calibri"/>
              <a:sym typeface="Calibri"/>
            </a:endParaRPr>
          </a:p>
        </p:txBody>
      </p:sp>
      <p:sp>
        <p:nvSpPr>
          <p:cNvPr id="33" name="Google Shape;33;p4"/>
          <p:cNvSpPr/>
          <p:nvPr/>
        </p:nvSpPr>
        <p:spPr>
          <a:xfrm>
            <a:off x="3291840" y="1097280"/>
            <a:ext cx="256032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 name="Google Shape;34;p4"/>
          <p:cNvPicPr preferRelativeResize="0"/>
          <p:nvPr/>
        </p:nvPicPr>
        <p:blipFill rotWithShape="1">
          <a:blip r:embed="rId4">
            <a:alphaModFix/>
          </a:blip>
          <a:srcRect b="0" l="0" r="0" t="0"/>
          <a:stretch/>
        </p:blipFill>
        <p:spPr>
          <a:xfrm>
            <a:off x="3474720" y="1353312"/>
            <a:ext cx="384048" cy="384048"/>
          </a:xfrm>
          <a:prstGeom prst="rect">
            <a:avLst/>
          </a:prstGeom>
          <a:noFill/>
          <a:ln>
            <a:noFill/>
          </a:ln>
        </p:spPr>
      </p:pic>
      <p:sp>
        <p:nvSpPr>
          <p:cNvPr id="35" name="Google Shape;35;p4"/>
          <p:cNvSpPr/>
          <p:nvPr/>
        </p:nvSpPr>
        <p:spPr>
          <a:xfrm>
            <a:off x="3977640" y="1298448"/>
            <a:ext cx="1783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British Values</a:t>
            </a:r>
            <a:endParaRPr sz="1300">
              <a:solidFill>
                <a:schemeClr val="dk1"/>
              </a:solidFill>
              <a:latin typeface="Calibri"/>
              <a:ea typeface="Calibri"/>
              <a:cs typeface="Calibri"/>
              <a:sym typeface="Calibri"/>
            </a:endParaRPr>
          </a:p>
        </p:txBody>
      </p:sp>
      <p:sp>
        <p:nvSpPr>
          <p:cNvPr id="36" name="Google Shape;36;p4"/>
          <p:cNvSpPr/>
          <p:nvPr/>
        </p:nvSpPr>
        <p:spPr>
          <a:xfrm>
            <a:off x="3977640" y="1673352"/>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7A"/>
              </a:buClr>
              <a:buSzPts val="1100"/>
              <a:buFont typeface="Arial"/>
              <a:buNone/>
            </a:pPr>
            <a:r>
              <a:rPr lang="en-US" sz="1100">
                <a:solidFill>
                  <a:srgbClr val="5C5C7A"/>
                </a:solidFill>
                <a:latin typeface="Arial"/>
                <a:ea typeface="Arial"/>
                <a:cs typeface="Arial"/>
                <a:sym typeface="Arial"/>
              </a:rPr>
              <a:t>Our civic framework</a:t>
            </a:r>
            <a:endParaRPr sz="1100">
              <a:solidFill>
                <a:schemeClr val="dk1"/>
              </a:solidFill>
              <a:latin typeface="Calibri"/>
              <a:ea typeface="Calibri"/>
              <a:cs typeface="Calibri"/>
              <a:sym typeface="Calibri"/>
            </a:endParaRPr>
          </a:p>
        </p:txBody>
      </p:sp>
      <p:sp>
        <p:nvSpPr>
          <p:cNvPr id="37" name="Google Shape;37;p4"/>
          <p:cNvSpPr/>
          <p:nvPr/>
        </p:nvSpPr>
        <p:spPr>
          <a:xfrm>
            <a:off x="6126480" y="1097280"/>
            <a:ext cx="256032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8" name="Google Shape;38;p4"/>
          <p:cNvPicPr preferRelativeResize="0"/>
          <p:nvPr/>
        </p:nvPicPr>
        <p:blipFill rotWithShape="1">
          <a:blip r:embed="rId5">
            <a:alphaModFix/>
          </a:blip>
          <a:srcRect b="0" l="0" r="0" t="0"/>
          <a:stretch/>
        </p:blipFill>
        <p:spPr>
          <a:xfrm>
            <a:off x="6309360" y="1353312"/>
            <a:ext cx="384048" cy="384048"/>
          </a:xfrm>
          <a:prstGeom prst="rect">
            <a:avLst/>
          </a:prstGeom>
          <a:noFill/>
          <a:ln>
            <a:noFill/>
          </a:ln>
        </p:spPr>
      </p:pic>
      <p:sp>
        <p:nvSpPr>
          <p:cNvPr id="39" name="Google Shape;39;p4"/>
          <p:cNvSpPr/>
          <p:nvPr/>
        </p:nvSpPr>
        <p:spPr>
          <a:xfrm>
            <a:off x="6812280" y="1298448"/>
            <a:ext cx="1783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Equality Act 2010</a:t>
            </a:r>
            <a:endParaRPr sz="1300">
              <a:solidFill>
                <a:schemeClr val="dk1"/>
              </a:solidFill>
              <a:latin typeface="Calibri"/>
              <a:ea typeface="Calibri"/>
              <a:cs typeface="Calibri"/>
              <a:sym typeface="Calibri"/>
            </a:endParaRPr>
          </a:p>
        </p:txBody>
      </p:sp>
      <p:sp>
        <p:nvSpPr>
          <p:cNvPr id="40" name="Google Shape;40;p4"/>
          <p:cNvSpPr/>
          <p:nvPr/>
        </p:nvSpPr>
        <p:spPr>
          <a:xfrm>
            <a:off x="6812280" y="1673352"/>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7A"/>
              </a:buClr>
              <a:buSzPts val="1100"/>
              <a:buFont typeface="Arial"/>
              <a:buNone/>
            </a:pPr>
            <a:r>
              <a:rPr lang="en-US" sz="1100">
                <a:solidFill>
                  <a:srgbClr val="5C5C7A"/>
                </a:solidFill>
                <a:latin typeface="Arial"/>
                <a:ea typeface="Arial"/>
                <a:cs typeface="Arial"/>
                <a:sym typeface="Arial"/>
              </a:rPr>
              <a:t>Legal protection for everyone</a:t>
            </a:r>
            <a:endParaRPr sz="1100">
              <a:solidFill>
                <a:schemeClr val="dk1"/>
              </a:solidFill>
              <a:latin typeface="Calibri"/>
              <a:ea typeface="Calibri"/>
              <a:cs typeface="Calibri"/>
              <a:sym typeface="Calibri"/>
            </a:endParaRPr>
          </a:p>
        </p:txBody>
      </p:sp>
      <p:sp>
        <p:nvSpPr>
          <p:cNvPr id="41" name="Google Shape;41;p4"/>
          <p:cNvSpPr/>
          <p:nvPr/>
        </p:nvSpPr>
        <p:spPr>
          <a:xfrm>
            <a:off x="457200" y="2770632"/>
            <a:ext cx="256032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2" name="Google Shape;42;p4"/>
          <p:cNvPicPr preferRelativeResize="0"/>
          <p:nvPr/>
        </p:nvPicPr>
        <p:blipFill rotWithShape="1">
          <a:blip r:embed="rId6">
            <a:alphaModFix/>
          </a:blip>
          <a:srcRect b="0" l="0" r="0" t="0"/>
          <a:stretch/>
        </p:blipFill>
        <p:spPr>
          <a:xfrm>
            <a:off x="640080" y="3026664"/>
            <a:ext cx="384048" cy="384048"/>
          </a:xfrm>
          <a:prstGeom prst="rect">
            <a:avLst/>
          </a:prstGeom>
          <a:noFill/>
          <a:ln>
            <a:noFill/>
          </a:ln>
        </p:spPr>
      </p:pic>
      <p:sp>
        <p:nvSpPr>
          <p:cNvPr id="43" name="Google Shape;43;p4"/>
          <p:cNvSpPr/>
          <p:nvPr/>
        </p:nvSpPr>
        <p:spPr>
          <a:xfrm>
            <a:off x="1143000" y="2971800"/>
            <a:ext cx="1783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Behaviour Standards</a:t>
            </a:r>
            <a:endParaRPr sz="1300">
              <a:solidFill>
                <a:schemeClr val="dk1"/>
              </a:solidFill>
              <a:latin typeface="Calibri"/>
              <a:ea typeface="Calibri"/>
              <a:cs typeface="Calibri"/>
              <a:sym typeface="Calibri"/>
            </a:endParaRPr>
          </a:p>
        </p:txBody>
      </p:sp>
      <p:sp>
        <p:nvSpPr>
          <p:cNvPr id="44" name="Google Shape;44;p4"/>
          <p:cNvSpPr/>
          <p:nvPr/>
        </p:nvSpPr>
        <p:spPr>
          <a:xfrm>
            <a:off x="1143000" y="3346704"/>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7A"/>
              </a:buClr>
              <a:buSzPts val="1100"/>
              <a:buFont typeface="Arial"/>
              <a:buNone/>
            </a:pPr>
            <a:r>
              <a:rPr lang="en-US" sz="1100">
                <a:solidFill>
                  <a:srgbClr val="5C5C7A"/>
                </a:solidFill>
                <a:latin typeface="Arial"/>
                <a:ea typeface="Arial"/>
                <a:cs typeface="Arial"/>
                <a:sym typeface="Arial"/>
              </a:rPr>
              <a:t>College, placement &amp; online</a:t>
            </a:r>
            <a:endParaRPr sz="1100">
              <a:solidFill>
                <a:schemeClr val="dk1"/>
              </a:solidFill>
              <a:latin typeface="Calibri"/>
              <a:ea typeface="Calibri"/>
              <a:cs typeface="Calibri"/>
              <a:sym typeface="Calibri"/>
            </a:endParaRPr>
          </a:p>
        </p:txBody>
      </p:sp>
      <p:sp>
        <p:nvSpPr>
          <p:cNvPr id="45" name="Google Shape;45;p4"/>
          <p:cNvSpPr/>
          <p:nvPr/>
        </p:nvSpPr>
        <p:spPr>
          <a:xfrm>
            <a:off x="3291840" y="2770632"/>
            <a:ext cx="256032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6" name="Google Shape;46;p4"/>
          <p:cNvPicPr preferRelativeResize="0"/>
          <p:nvPr/>
        </p:nvPicPr>
        <p:blipFill rotWithShape="1">
          <a:blip r:embed="rId7">
            <a:alphaModFix/>
          </a:blip>
          <a:srcRect b="0" l="0" r="0" t="0"/>
          <a:stretch/>
        </p:blipFill>
        <p:spPr>
          <a:xfrm>
            <a:off x="3474720" y="3026664"/>
            <a:ext cx="384048" cy="384048"/>
          </a:xfrm>
          <a:prstGeom prst="rect">
            <a:avLst/>
          </a:prstGeom>
          <a:noFill/>
          <a:ln>
            <a:noFill/>
          </a:ln>
        </p:spPr>
      </p:pic>
      <p:sp>
        <p:nvSpPr>
          <p:cNvPr id="47" name="Google Shape;47;p4"/>
          <p:cNvSpPr/>
          <p:nvPr/>
        </p:nvSpPr>
        <p:spPr>
          <a:xfrm>
            <a:off x="3977640" y="2971800"/>
            <a:ext cx="1783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Zero Tolerance</a:t>
            </a:r>
            <a:endParaRPr sz="1300">
              <a:solidFill>
                <a:schemeClr val="dk1"/>
              </a:solidFill>
              <a:latin typeface="Calibri"/>
              <a:ea typeface="Calibri"/>
              <a:cs typeface="Calibri"/>
              <a:sym typeface="Calibri"/>
            </a:endParaRPr>
          </a:p>
        </p:txBody>
      </p:sp>
      <p:sp>
        <p:nvSpPr>
          <p:cNvPr id="48" name="Google Shape;48;p4"/>
          <p:cNvSpPr/>
          <p:nvPr/>
        </p:nvSpPr>
        <p:spPr>
          <a:xfrm>
            <a:off x="3977640" y="3346704"/>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7A"/>
              </a:buClr>
              <a:buSzPts val="1100"/>
              <a:buFont typeface="Arial"/>
              <a:buNone/>
            </a:pPr>
            <a:r>
              <a:rPr lang="en-US" sz="1100">
                <a:solidFill>
                  <a:srgbClr val="5C5C7A"/>
                </a:solidFill>
                <a:latin typeface="Arial"/>
                <a:ea typeface="Arial"/>
                <a:cs typeface="Arial"/>
                <a:sym typeface="Arial"/>
              </a:rPr>
              <a:t>What it means, what happens</a:t>
            </a:r>
            <a:endParaRPr sz="1100">
              <a:solidFill>
                <a:schemeClr val="dk1"/>
              </a:solidFill>
              <a:latin typeface="Calibri"/>
              <a:ea typeface="Calibri"/>
              <a:cs typeface="Calibri"/>
              <a:sym typeface="Calibri"/>
            </a:endParaRPr>
          </a:p>
        </p:txBody>
      </p:sp>
      <p:sp>
        <p:nvSpPr>
          <p:cNvPr id="49" name="Google Shape;49;p4"/>
          <p:cNvSpPr/>
          <p:nvPr/>
        </p:nvSpPr>
        <p:spPr>
          <a:xfrm>
            <a:off x="6126480" y="2770632"/>
            <a:ext cx="256032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0" name="Google Shape;50;p4"/>
          <p:cNvPicPr preferRelativeResize="0"/>
          <p:nvPr/>
        </p:nvPicPr>
        <p:blipFill rotWithShape="1">
          <a:blip r:embed="rId8">
            <a:alphaModFix/>
          </a:blip>
          <a:srcRect b="0" l="0" r="0" t="0"/>
          <a:stretch/>
        </p:blipFill>
        <p:spPr>
          <a:xfrm>
            <a:off x="6309360" y="3026664"/>
            <a:ext cx="384048" cy="384048"/>
          </a:xfrm>
          <a:prstGeom prst="rect">
            <a:avLst/>
          </a:prstGeom>
          <a:noFill/>
          <a:ln>
            <a:noFill/>
          </a:ln>
        </p:spPr>
      </p:pic>
      <p:sp>
        <p:nvSpPr>
          <p:cNvPr id="51" name="Google Shape;51;p4"/>
          <p:cNvSpPr/>
          <p:nvPr/>
        </p:nvSpPr>
        <p:spPr>
          <a:xfrm>
            <a:off x="6812280" y="2971800"/>
            <a:ext cx="1783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How to Report</a:t>
            </a:r>
            <a:endParaRPr sz="1300">
              <a:solidFill>
                <a:schemeClr val="dk1"/>
              </a:solidFill>
              <a:latin typeface="Calibri"/>
              <a:ea typeface="Calibri"/>
              <a:cs typeface="Calibri"/>
              <a:sym typeface="Calibri"/>
            </a:endParaRPr>
          </a:p>
        </p:txBody>
      </p:sp>
      <p:sp>
        <p:nvSpPr>
          <p:cNvPr id="52" name="Google Shape;52;p4"/>
          <p:cNvSpPr/>
          <p:nvPr/>
        </p:nvSpPr>
        <p:spPr>
          <a:xfrm>
            <a:off x="6812280" y="3346704"/>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7A"/>
              </a:buClr>
              <a:buSzPts val="1100"/>
              <a:buFont typeface="Arial"/>
              <a:buNone/>
            </a:pPr>
            <a:r>
              <a:rPr lang="en-US" sz="1100">
                <a:solidFill>
                  <a:srgbClr val="5C5C7A"/>
                </a:solidFill>
                <a:latin typeface="Arial"/>
                <a:ea typeface="Arial"/>
                <a:cs typeface="Arial"/>
                <a:sym typeface="Arial"/>
              </a:rPr>
              <a:t>Three routes — always an option</a:t>
            </a:r>
            <a:endParaRPr sz="1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5"/>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5"/>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Let's start here</a:t>
            </a:r>
            <a:endParaRPr sz="2600">
              <a:solidFill>
                <a:schemeClr val="dk1"/>
              </a:solidFill>
              <a:latin typeface="Calibri"/>
              <a:ea typeface="Calibri"/>
              <a:cs typeface="Calibri"/>
              <a:sym typeface="Calibri"/>
            </a:endParaRPr>
          </a:p>
        </p:txBody>
      </p:sp>
      <p:sp>
        <p:nvSpPr>
          <p:cNvPr id="60" name="Google Shape;60;p5"/>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Think about the spaces you've been in</a:t>
            </a:r>
            <a:endParaRPr sz="1300">
              <a:solidFill>
                <a:schemeClr val="dk1"/>
              </a:solidFill>
              <a:latin typeface="Calibri"/>
              <a:ea typeface="Calibri"/>
              <a:cs typeface="Calibri"/>
              <a:sym typeface="Calibri"/>
            </a:endParaRPr>
          </a:p>
        </p:txBody>
      </p:sp>
      <p:sp>
        <p:nvSpPr>
          <p:cNvPr id="61" name="Google Shape;61;p5"/>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5"/>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63" name="Google Shape;63;p5"/>
          <p:cNvSpPr/>
          <p:nvPr/>
        </p:nvSpPr>
        <p:spPr>
          <a:xfrm>
            <a:off x="365760" y="1097280"/>
            <a:ext cx="8412480" cy="1188720"/>
          </a:xfrm>
          <a:prstGeom prst="roundRect">
            <a:avLst>
              <a:gd fmla="val 6154"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5"/>
          <p:cNvSpPr/>
          <p:nvPr/>
        </p:nvSpPr>
        <p:spPr>
          <a:xfrm>
            <a:off x="548640" y="1143000"/>
            <a:ext cx="804672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92C82"/>
              </a:buClr>
              <a:buSzPts val="2400"/>
              <a:buFont typeface="Arial"/>
              <a:buNone/>
            </a:pPr>
            <a:r>
              <a:rPr b="1" lang="en-US" sz="2400">
                <a:solidFill>
                  <a:srgbClr val="592C82"/>
                </a:solidFill>
                <a:latin typeface="Arial"/>
                <a:ea typeface="Arial"/>
                <a:cs typeface="Arial"/>
                <a:sym typeface="Arial"/>
              </a:rPr>
              <a:t>What does respect actually look like?</a:t>
            </a:r>
            <a:endParaRPr sz="2400">
              <a:solidFill>
                <a:schemeClr val="dk1"/>
              </a:solidFill>
              <a:latin typeface="Calibri"/>
              <a:ea typeface="Calibri"/>
              <a:cs typeface="Calibri"/>
              <a:sym typeface="Calibri"/>
            </a:endParaRPr>
          </a:p>
        </p:txBody>
      </p:sp>
      <p:sp>
        <p:nvSpPr>
          <p:cNvPr id="65" name="Google Shape;65;p5"/>
          <p:cNvSpPr/>
          <p:nvPr/>
        </p:nvSpPr>
        <p:spPr>
          <a:xfrm>
            <a:off x="548640" y="1709928"/>
            <a:ext cx="80467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C7A"/>
              </a:buClr>
              <a:buSzPts val="1300"/>
              <a:buFont typeface="Arial"/>
              <a:buNone/>
            </a:pPr>
            <a:r>
              <a:rPr lang="en-US" sz="1300">
                <a:solidFill>
                  <a:srgbClr val="5C5C7A"/>
                </a:solidFill>
                <a:latin typeface="Arial"/>
                <a:ea typeface="Arial"/>
                <a:cs typeface="Arial"/>
                <a:sym typeface="Arial"/>
              </a:rPr>
              <a:t>Think individually for 2 minutes — then share with the person next to you.</a:t>
            </a:r>
            <a:endParaRPr sz="1300">
              <a:solidFill>
                <a:schemeClr val="dk1"/>
              </a:solidFill>
              <a:latin typeface="Calibri"/>
              <a:ea typeface="Calibri"/>
              <a:cs typeface="Calibri"/>
              <a:sym typeface="Calibri"/>
            </a:endParaRPr>
          </a:p>
        </p:txBody>
      </p:sp>
      <p:sp>
        <p:nvSpPr>
          <p:cNvPr id="66" name="Google Shape;66;p5"/>
          <p:cNvSpPr/>
          <p:nvPr/>
        </p:nvSpPr>
        <p:spPr>
          <a:xfrm>
            <a:off x="365760" y="2423160"/>
            <a:ext cx="2606040" cy="1920240"/>
          </a:xfrm>
          <a:prstGeom prst="roundRect">
            <a:avLst>
              <a:gd fmla="val 3810"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5"/>
          <p:cNvSpPr/>
          <p:nvPr/>
        </p:nvSpPr>
        <p:spPr>
          <a:xfrm>
            <a:off x="365760" y="2423160"/>
            <a:ext cx="260604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5"/>
          <p:cNvSpPr/>
          <p:nvPr/>
        </p:nvSpPr>
        <p:spPr>
          <a:xfrm>
            <a:off x="365760" y="2423160"/>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At school</a:t>
            </a:r>
            <a:endParaRPr sz="1300">
              <a:solidFill>
                <a:schemeClr val="dk1"/>
              </a:solidFill>
              <a:latin typeface="Calibri"/>
              <a:ea typeface="Calibri"/>
              <a:cs typeface="Calibri"/>
              <a:sym typeface="Calibri"/>
            </a:endParaRPr>
          </a:p>
        </p:txBody>
      </p:sp>
      <p:sp>
        <p:nvSpPr>
          <p:cNvPr id="69" name="Google Shape;69;p5"/>
          <p:cNvSpPr/>
          <p:nvPr/>
        </p:nvSpPr>
        <p:spPr>
          <a:xfrm>
            <a:off x="502920" y="2898648"/>
            <a:ext cx="233172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How were expectations set?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What happened when they weren't met?</a:t>
            </a:r>
            <a:endParaRPr sz="1200">
              <a:solidFill>
                <a:schemeClr val="dk1"/>
              </a:solidFill>
              <a:latin typeface="Calibri"/>
              <a:ea typeface="Calibri"/>
              <a:cs typeface="Calibri"/>
              <a:sym typeface="Calibri"/>
            </a:endParaRPr>
          </a:p>
        </p:txBody>
      </p:sp>
      <p:sp>
        <p:nvSpPr>
          <p:cNvPr id="70" name="Google Shape;70;p5"/>
          <p:cNvSpPr/>
          <p:nvPr/>
        </p:nvSpPr>
        <p:spPr>
          <a:xfrm>
            <a:off x="3223260" y="2423160"/>
            <a:ext cx="2606040" cy="1920240"/>
          </a:xfrm>
          <a:prstGeom prst="roundRect">
            <a:avLst>
              <a:gd fmla="val 3810"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5"/>
          <p:cNvSpPr/>
          <p:nvPr/>
        </p:nvSpPr>
        <p:spPr>
          <a:xfrm>
            <a:off x="3223260" y="2423160"/>
            <a:ext cx="260604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5"/>
          <p:cNvSpPr/>
          <p:nvPr/>
        </p:nvSpPr>
        <p:spPr>
          <a:xfrm>
            <a:off x="3223260" y="2423160"/>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At college (so far)</a:t>
            </a:r>
            <a:endParaRPr sz="1300">
              <a:solidFill>
                <a:schemeClr val="dk1"/>
              </a:solidFill>
              <a:latin typeface="Calibri"/>
              <a:ea typeface="Calibri"/>
              <a:cs typeface="Calibri"/>
              <a:sym typeface="Calibri"/>
            </a:endParaRPr>
          </a:p>
        </p:txBody>
      </p:sp>
      <p:sp>
        <p:nvSpPr>
          <p:cNvPr id="73" name="Google Shape;73;p5"/>
          <p:cNvSpPr/>
          <p:nvPr/>
        </p:nvSpPr>
        <p:spPr>
          <a:xfrm>
            <a:off x="3360420" y="2898648"/>
            <a:ext cx="233172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What's felt different here?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What's stayed the same?</a:t>
            </a:r>
            <a:endParaRPr sz="1200">
              <a:solidFill>
                <a:schemeClr val="dk1"/>
              </a:solidFill>
              <a:latin typeface="Calibri"/>
              <a:ea typeface="Calibri"/>
              <a:cs typeface="Calibri"/>
              <a:sym typeface="Calibri"/>
            </a:endParaRPr>
          </a:p>
        </p:txBody>
      </p:sp>
      <p:sp>
        <p:nvSpPr>
          <p:cNvPr id="74" name="Google Shape;74;p5"/>
          <p:cNvSpPr/>
          <p:nvPr/>
        </p:nvSpPr>
        <p:spPr>
          <a:xfrm>
            <a:off x="6080760" y="2423160"/>
            <a:ext cx="2606040" cy="1920240"/>
          </a:xfrm>
          <a:prstGeom prst="roundRect">
            <a:avLst>
              <a:gd fmla="val 3810"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5"/>
          <p:cNvSpPr/>
          <p:nvPr/>
        </p:nvSpPr>
        <p:spPr>
          <a:xfrm>
            <a:off x="6080760" y="2423160"/>
            <a:ext cx="260604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5"/>
          <p:cNvSpPr/>
          <p:nvPr/>
        </p:nvSpPr>
        <p:spPr>
          <a:xfrm>
            <a:off x="6080760" y="2423160"/>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100">
                <a:solidFill>
                  <a:srgbClr val="FFFFFF"/>
                </a:solidFill>
                <a:latin typeface="Arial"/>
                <a:ea typeface="Arial"/>
                <a:cs typeface="Arial"/>
                <a:sym typeface="Arial"/>
              </a:rPr>
              <a:t>In a production company, digital agency, or on an industry placement</a:t>
            </a:r>
            <a:endParaRPr sz="1100">
              <a:solidFill>
                <a:schemeClr val="dk1"/>
              </a:solidFill>
              <a:latin typeface="Calibri"/>
              <a:ea typeface="Calibri"/>
              <a:cs typeface="Calibri"/>
              <a:sym typeface="Calibri"/>
            </a:endParaRPr>
          </a:p>
        </p:txBody>
      </p:sp>
      <p:sp>
        <p:nvSpPr>
          <p:cNvPr id="77" name="Google Shape;77;p5"/>
          <p:cNvSpPr/>
          <p:nvPr/>
        </p:nvSpPr>
        <p:spPr>
          <a:xfrm>
            <a:off x="6217920" y="2898648"/>
            <a:ext cx="233172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What would professional respect look like in practice?</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6"/>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6"/>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Our PROUD Values</a:t>
            </a:r>
            <a:endParaRPr sz="2600">
              <a:solidFill>
                <a:schemeClr val="dk1"/>
              </a:solidFill>
              <a:latin typeface="Calibri"/>
              <a:ea typeface="Calibri"/>
              <a:cs typeface="Calibri"/>
              <a:sym typeface="Calibri"/>
            </a:endParaRPr>
          </a:p>
        </p:txBody>
      </p:sp>
      <p:sp>
        <p:nvSpPr>
          <p:cNvPr id="85" name="Google Shape;85;p6"/>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What they are — and what they require of you in practice</a:t>
            </a:r>
            <a:endParaRPr sz="1300">
              <a:solidFill>
                <a:schemeClr val="dk1"/>
              </a:solidFill>
              <a:latin typeface="Calibri"/>
              <a:ea typeface="Calibri"/>
              <a:cs typeface="Calibri"/>
              <a:sym typeface="Calibri"/>
            </a:endParaRPr>
          </a:p>
        </p:txBody>
      </p:sp>
      <p:sp>
        <p:nvSpPr>
          <p:cNvPr id="86" name="Google Shape;86;p6"/>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6"/>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pic>
        <p:nvPicPr>
          <p:cNvPr descr="/home/claude/moduleE/proud_logo.png" id="88" name="Google Shape;88;p6"/>
          <p:cNvPicPr preferRelativeResize="0"/>
          <p:nvPr/>
        </p:nvPicPr>
        <p:blipFill rotWithShape="1">
          <a:blip r:embed="rId3">
            <a:alphaModFix/>
          </a:blip>
          <a:srcRect b="0" l="0" r="0" t="0"/>
          <a:stretch/>
        </p:blipFill>
        <p:spPr>
          <a:xfrm>
            <a:off x="274320" y="1097280"/>
            <a:ext cx="3200400" cy="1508760"/>
          </a:xfrm>
          <a:prstGeom prst="rect">
            <a:avLst/>
          </a:prstGeom>
          <a:noFill/>
          <a:ln>
            <a:noFill/>
          </a:ln>
        </p:spPr>
      </p:pic>
      <p:sp>
        <p:nvSpPr>
          <p:cNvPr id="89" name="Google Shape;89;p6"/>
          <p:cNvSpPr/>
          <p:nvPr/>
        </p:nvSpPr>
        <p:spPr>
          <a:xfrm>
            <a:off x="274320" y="2788920"/>
            <a:ext cx="320040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1500"/>
              <a:buFont typeface="Arial"/>
              <a:buNone/>
            </a:pPr>
            <a:r>
              <a:rPr b="1" lang="en-US" sz="1500">
                <a:solidFill>
                  <a:srgbClr val="592C82"/>
                </a:solidFill>
                <a:latin typeface="Arial"/>
                <a:ea typeface="Arial"/>
                <a:cs typeface="Arial"/>
                <a:sym typeface="Arial"/>
              </a:rPr>
              <a:t>In the classroom.</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592C82"/>
              </a:buClr>
              <a:buSzPts val="1500"/>
              <a:buFont typeface="Arial"/>
              <a:buNone/>
            </a:pPr>
            <a:r>
              <a:rPr b="1" lang="en-US" sz="1500">
                <a:solidFill>
                  <a:srgbClr val="592C82"/>
                </a:solidFill>
                <a:latin typeface="Arial"/>
                <a:ea typeface="Arial"/>
                <a:cs typeface="Arial"/>
                <a:sym typeface="Arial"/>
              </a:rPr>
              <a:t>On industry placement.</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592C82"/>
              </a:buClr>
              <a:buSzPts val="1500"/>
              <a:buFont typeface="Arial"/>
              <a:buNone/>
            </a:pPr>
            <a:r>
              <a:rPr b="1" lang="en-US" sz="1500">
                <a:solidFill>
                  <a:srgbClr val="592C82"/>
                </a:solidFill>
                <a:latin typeface="Arial"/>
                <a:ea typeface="Arial"/>
                <a:cs typeface="Arial"/>
                <a:sym typeface="Arial"/>
              </a:rPr>
              <a:t>Online.</a:t>
            </a:r>
            <a:endParaRPr sz="1500">
              <a:solidFill>
                <a:schemeClr val="dk1"/>
              </a:solidFill>
              <a:latin typeface="Calibri"/>
              <a:ea typeface="Calibri"/>
              <a:cs typeface="Calibri"/>
              <a:sym typeface="Calibri"/>
            </a:endParaRPr>
          </a:p>
        </p:txBody>
      </p:sp>
      <p:sp>
        <p:nvSpPr>
          <p:cNvPr id="90" name="Google Shape;90;p6"/>
          <p:cNvSpPr/>
          <p:nvPr/>
        </p:nvSpPr>
        <p:spPr>
          <a:xfrm>
            <a:off x="3749040" y="1078992"/>
            <a:ext cx="5120640" cy="667512"/>
          </a:xfrm>
          <a:prstGeom prst="roundRect">
            <a:avLst>
              <a:gd fmla="val 109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3877056" y="1216152"/>
            <a:ext cx="402336" cy="402336"/>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6"/>
          <p:cNvSpPr/>
          <p:nvPr/>
        </p:nvSpPr>
        <p:spPr>
          <a:xfrm>
            <a:off x="3877056" y="12161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P</a:t>
            </a:r>
            <a:endParaRPr sz="1600">
              <a:solidFill>
                <a:schemeClr val="dk1"/>
              </a:solidFill>
              <a:latin typeface="Calibri"/>
              <a:ea typeface="Calibri"/>
              <a:cs typeface="Calibri"/>
              <a:sym typeface="Calibri"/>
            </a:endParaRPr>
          </a:p>
        </p:txBody>
      </p:sp>
      <p:sp>
        <p:nvSpPr>
          <p:cNvPr id="93" name="Google Shape;93;p6"/>
          <p:cNvSpPr/>
          <p:nvPr/>
        </p:nvSpPr>
        <p:spPr>
          <a:xfrm>
            <a:off x="4389120" y="1143000"/>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Bring Positivity</a:t>
            </a:r>
            <a:endParaRPr sz="1300">
              <a:solidFill>
                <a:schemeClr val="dk1"/>
              </a:solidFill>
              <a:latin typeface="Calibri"/>
              <a:ea typeface="Calibri"/>
              <a:cs typeface="Calibri"/>
              <a:sym typeface="Calibri"/>
            </a:endParaRPr>
          </a:p>
        </p:txBody>
      </p:sp>
      <p:sp>
        <p:nvSpPr>
          <p:cNvPr id="94" name="Google Shape;94;p6"/>
          <p:cNvSpPr/>
          <p:nvPr/>
        </p:nvSpPr>
        <p:spPr>
          <a:xfrm>
            <a:off x="4389120" y="1426464"/>
            <a:ext cx="4343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5C7A"/>
              </a:buClr>
              <a:buSzPts val="1000"/>
              <a:buFont typeface="Arial"/>
              <a:buNone/>
            </a:pPr>
            <a:r>
              <a:rPr lang="en-US" sz="1000">
                <a:solidFill>
                  <a:srgbClr val="5C5C7A"/>
                </a:solidFill>
                <a:latin typeface="Arial"/>
                <a:ea typeface="Arial"/>
                <a:cs typeface="Arial"/>
                <a:sym typeface="Arial"/>
              </a:rPr>
              <a:t>Create a welcoming environment where everyone feels safe and included.</a:t>
            </a:r>
            <a:endParaRPr sz="1000">
              <a:solidFill>
                <a:schemeClr val="dk1"/>
              </a:solidFill>
              <a:latin typeface="Calibri"/>
              <a:ea typeface="Calibri"/>
              <a:cs typeface="Calibri"/>
              <a:sym typeface="Calibri"/>
            </a:endParaRPr>
          </a:p>
        </p:txBody>
      </p:sp>
      <p:sp>
        <p:nvSpPr>
          <p:cNvPr id="95" name="Google Shape;95;p6"/>
          <p:cNvSpPr/>
          <p:nvPr/>
        </p:nvSpPr>
        <p:spPr>
          <a:xfrm>
            <a:off x="3749040" y="1810512"/>
            <a:ext cx="5120640" cy="667512"/>
          </a:xfrm>
          <a:prstGeom prst="roundRect">
            <a:avLst>
              <a:gd fmla="val 109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6"/>
          <p:cNvSpPr/>
          <p:nvPr/>
        </p:nvSpPr>
        <p:spPr>
          <a:xfrm>
            <a:off x="3877056" y="1947672"/>
            <a:ext cx="402336" cy="402336"/>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6"/>
          <p:cNvSpPr/>
          <p:nvPr/>
        </p:nvSpPr>
        <p:spPr>
          <a:xfrm>
            <a:off x="3877056" y="194767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R</a:t>
            </a:r>
            <a:endParaRPr sz="1600">
              <a:solidFill>
                <a:schemeClr val="dk1"/>
              </a:solidFill>
              <a:latin typeface="Calibri"/>
              <a:ea typeface="Calibri"/>
              <a:cs typeface="Calibri"/>
              <a:sym typeface="Calibri"/>
            </a:endParaRPr>
          </a:p>
        </p:txBody>
      </p:sp>
      <p:sp>
        <p:nvSpPr>
          <p:cNvPr id="98" name="Google Shape;98;p6"/>
          <p:cNvSpPr/>
          <p:nvPr/>
        </p:nvSpPr>
        <p:spPr>
          <a:xfrm>
            <a:off x="4389120" y="1874520"/>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Show Respect</a:t>
            </a:r>
            <a:endParaRPr sz="1300">
              <a:solidFill>
                <a:schemeClr val="dk1"/>
              </a:solidFill>
              <a:latin typeface="Calibri"/>
              <a:ea typeface="Calibri"/>
              <a:cs typeface="Calibri"/>
              <a:sym typeface="Calibri"/>
            </a:endParaRPr>
          </a:p>
        </p:txBody>
      </p:sp>
      <p:sp>
        <p:nvSpPr>
          <p:cNvPr id="99" name="Google Shape;99;p6"/>
          <p:cNvSpPr/>
          <p:nvPr/>
        </p:nvSpPr>
        <p:spPr>
          <a:xfrm>
            <a:off x="4389120" y="2157984"/>
            <a:ext cx="4343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5C7A"/>
              </a:buClr>
              <a:buSzPts val="1000"/>
              <a:buFont typeface="Arial"/>
              <a:buNone/>
            </a:pPr>
            <a:r>
              <a:rPr lang="en-US" sz="1000">
                <a:solidFill>
                  <a:srgbClr val="5C5C7A"/>
                </a:solidFill>
                <a:latin typeface="Arial"/>
                <a:ea typeface="Arial"/>
                <a:cs typeface="Arial"/>
                <a:sym typeface="Arial"/>
              </a:rPr>
              <a:t>Treat everyone fairly — in class, on placement, and online.</a:t>
            </a:r>
            <a:endParaRPr sz="1000">
              <a:solidFill>
                <a:schemeClr val="dk1"/>
              </a:solidFill>
              <a:latin typeface="Calibri"/>
              <a:ea typeface="Calibri"/>
              <a:cs typeface="Calibri"/>
              <a:sym typeface="Calibri"/>
            </a:endParaRPr>
          </a:p>
        </p:txBody>
      </p:sp>
      <p:sp>
        <p:nvSpPr>
          <p:cNvPr id="100" name="Google Shape;100;p6"/>
          <p:cNvSpPr/>
          <p:nvPr/>
        </p:nvSpPr>
        <p:spPr>
          <a:xfrm>
            <a:off x="3749040" y="2542032"/>
            <a:ext cx="5120640" cy="667512"/>
          </a:xfrm>
          <a:prstGeom prst="roundRect">
            <a:avLst>
              <a:gd fmla="val 109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6"/>
          <p:cNvSpPr/>
          <p:nvPr/>
        </p:nvSpPr>
        <p:spPr>
          <a:xfrm>
            <a:off x="3877056" y="2679192"/>
            <a:ext cx="402336" cy="402336"/>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3877056" y="26791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O</a:t>
            </a:r>
            <a:endParaRPr sz="1600">
              <a:solidFill>
                <a:schemeClr val="dk1"/>
              </a:solidFill>
              <a:latin typeface="Calibri"/>
              <a:ea typeface="Calibri"/>
              <a:cs typeface="Calibri"/>
              <a:sym typeface="Calibri"/>
            </a:endParaRPr>
          </a:p>
        </p:txBody>
      </p:sp>
      <p:sp>
        <p:nvSpPr>
          <p:cNvPr id="103" name="Google Shape;103;p6"/>
          <p:cNvSpPr/>
          <p:nvPr/>
        </p:nvSpPr>
        <p:spPr>
          <a:xfrm>
            <a:off x="4389120" y="2606040"/>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Seek Opportunity</a:t>
            </a:r>
            <a:endParaRPr sz="1300">
              <a:solidFill>
                <a:schemeClr val="dk1"/>
              </a:solidFill>
              <a:latin typeface="Calibri"/>
              <a:ea typeface="Calibri"/>
              <a:cs typeface="Calibri"/>
              <a:sym typeface="Calibri"/>
            </a:endParaRPr>
          </a:p>
        </p:txBody>
      </p:sp>
      <p:sp>
        <p:nvSpPr>
          <p:cNvPr id="104" name="Google Shape;104;p6"/>
          <p:cNvSpPr/>
          <p:nvPr/>
        </p:nvSpPr>
        <p:spPr>
          <a:xfrm>
            <a:off x="4389120" y="2889504"/>
            <a:ext cx="4343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5C7A"/>
              </a:buClr>
              <a:buSzPts val="1000"/>
              <a:buFont typeface="Arial"/>
              <a:buNone/>
            </a:pPr>
            <a:r>
              <a:rPr lang="en-US" sz="1000">
                <a:solidFill>
                  <a:srgbClr val="5C5C7A"/>
                </a:solidFill>
                <a:latin typeface="Arial"/>
                <a:ea typeface="Arial"/>
                <a:cs typeface="Arial"/>
                <a:sym typeface="Arial"/>
              </a:rPr>
              <a:t>Make the most of every chance to learn, contribute, and grow.</a:t>
            </a:r>
            <a:endParaRPr sz="1000">
              <a:solidFill>
                <a:schemeClr val="dk1"/>
              </a:solidFill>
              <a:latin typeface="Calibri"/>
              <a:ea typeface="Calibri"/>
              <a:cs typeface="Calibri"/>
              <a:sym typeface="Calibri"/>
            </a:endParaRPr>
          </a:p>
        </p:txBody>
      </p:sp>
      <p:sp>
        <p:nvSpPr>
          <p:cNvPr id="105" name="Google Shape;105;p6"/>
          <p:cNvSpPr/>
          <p:nvPr/>
        </p:nvSpPr>
        <p:spPr>
          <a:xfrm>
            <a:off x="3749040" y="3273552"/>
            <a:ext cx="5120640" cy="667512"/>
          </a:xfrm>
          <a:prstGeom prst="roundRect">
            <a:avLst>
              <a:gd fmla="val 109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3877056" y="3410712"/>
            <a:ext cx="402336" cy="402336"/>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6"/>
          <p:cNvSpPr/>
          <p:nvPr/>
        </p:nvSpPr>
        <p:spPr>
          <a:xfrm>
            <a:off x="3877056" y="341071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U</a:t>
            </a:r>
            <a:endParaRPr sz="1600">
              <a:solidFill>
                <a:schemeClr val="dk1"/>
              </a:solidFill>
              <a:latin typeface="Calibri"/>
              <a:ea typeface="Calibri"/>
              <a:cs typeface="Calibri"/>
              <a:sym typeface="Calibri"/>
            </a:endParaRPr>
          </a:p>
        </p:txBody>
      </p:sp>
      <p:sp>
        <p:nvSpPr>
          <p:cNvPr id="108" name="Google Shape;108;p6"/>
          <p:cNvSpPr/>
          <p:nvPr/>
        </p:nvSpPr>
        <p:spPr>
          <a:xfrm>
            <a:off x="4389120" y="3337560"/>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Encourage Unity</a:t>
            </a:r>
            <a:endParaRPr sz="1300">
              <a:solidFill>
                <a:schemeClr val="dk1"/>
              </a:solidFill>
              <a:latin typeface="Calibri"/>
              <a:ea typeface="Calibri"/>
              <a:cs typeface="Calibri"/>
              <a:sym typeface="Calibri"/>
            </a:endParaRPr>
          </a:p>
        </p:txBody>
      </p:sp>
      <p:sp>
        <p:nvSpPr>
          <p:cNvPr id="109" name="Google Shape;109;p6"/>
          <p:cNvSpPr/>
          <p:nvPr/>
        </p:nvSpPr>
        <p:spPr>
          <a:xfrm>
            <a:off x="4389120" y="3621024"/>
            <a:ext cx="4343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5C7A"/>
              </a:buClr>
              <a:buSzPts val="1000"/>
              <a:buFont typeface="Arial"/>
              <a:buNone/>
            </a:pPr>
            <a:r>
              <a:rPr lang="en-US" sz="1000">
                <a:solidFill>
                  <a:srgbClr val="5C5C7A"/>
                </a:solidFill>
                <a:latin typeface="Arial"/>
                <a:ea typeface="Arial"/>
                <a:cs typeface="Arial"/>
                <a:sym typeface="Arial"/>
              </a:rPr>
              <a:t>Include others. Challenge exclusion. Work positively across difference.</a:t>
            </a:r>
            <a:endParaRPr sz="1000">
              <a:solidFill>
                <a:schemeClr val="dk1"/>
              </a:solidFill>
              <a:latin typeface="Calibri"/>
              <a:ea typeface="Calibri"/>
              <a:cs typeface="Calibri"/>
              <a:sym typeface="Calibri"/>
            </a:endParaRPr>
          </a:p>
        </p:txBody>
      </p:sp>
      <p:sp>
        <p:nvSpPr>
          <p:cNvPr id="110" name="Google Shape;110;p6"/>
          <p:cNvSpPr/>
          <p:nvPr/>
        </p:nvSpPr>
        <p:spPr>
          <a:xfrm>
            <a:off x="3749040" y="4005072"/>
            <a:ext cx="5120640" cy="667512"/>
          </a:xfrm>
          <a:prstGeom prst="roundRect">
            <a:avLst>
              <a:gd fmla="val 109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6"/>
          <p:cNvSpPr/>
          <p:nvPr/>
        </p:nvSpPr>
        <p:spPr>
          <a:xfrm>
            <a:off x="3877056" y="4142232"/>
            <a:ext cx="402336" cy="402336"/>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6"/>
          <p:cNvSpPr/>
          <p:nvPr/>
        </p:nvSpPr>
        <p:spPr>
          <a:xfrm>
            <a:off x="3877056" y="414223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D</a:t>
            </a:r>
            <a:endParaRPr sz="1600">
              <a:solidFill>
                <a:schemeClr val="dk1"/>
              </a:solidFill>
              <a:latin typeface="Calibri"/>
              <a:ea typeface="Calibri"/>
              <a:cs typeface="Calibri"/>
              <a:sym typeface="Calibri"/>
            </a:endParaRPr>
          </a:p>
        </p:txBody>
      </p:sp>
      <p:sp>
        <p:nvSpPr>
          <p:cNvPr id="113" name="Google Shape;113;p6"/>
          <p:cNvSpPr/>
          <p:nvPr/>
        </p:nvSpPr>
        <p:spPr>
          <a:xfrm>
            <a:off x="4389120" y="4069080"/>
            <a:ext cx="2468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Arial"/>
              <a:buNone/>
            </a:pPr>
            <a:r>
              <a:rPr b="1" lang="en-US" sz="1300">
                <a:solidFill>
                  <a:srgbClr val="1A1A2E"/>
                </a:solidFill>
                <a:latin typeface="Arial"/>
                <a:ea typeface="Arial"/>
                <a:cs typeface="Arial"/>
                <a:sym typeface="Arial"/>
              </a:rPr>
              <a:t>Celebrate Diversity</a:t>
            </a:r>
            <a:endParaRPr sz="1300">
              <a:solidFill>
                <a:schemeClr val="dk1"/>
              </a:solidFill>
              <a:latin typeface="Calibri"/>
              <a:ea typeface="Calibri"/>
              <a:cs typeface="Calibri"/>
              <a:sym typeface="Calibri"/>
            </a:endParaRPr>
          </a:p>
        </p:txBody>
      </p:sp>
      <p:sp>
        <p:nvSpPr>
          <p:cNvPr id="114" name="Google Shape;114;p6"/>
          <p:cNvSpPr/>
          <p:nvPr/>
        </p:nvSpPr>
        <p:spPr>
          <a:xfrm>
            <a:off x="4389120" y="4352544"/>
            <a:ext cx="4343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5C7A"/>
              </a:buClr>
              <a:buSzPts val="1000"/>
              <a:buFont typeface="Arial"/>
              <a:buNone/>
            </a:pPr>
            <a:r>
              <a:rPr lang="en-US" sz="1000">
                <a:solidFill>
                  <a:srgbClr val="5C5C7A"/>
                </a:solidFill>
                <a:latin typeface="Arial"/>
                <a:ea typeface="Arial"/>
                <a:cs typeface="Arial"/>
                <a:sym typeface="Arial"/>
              </a:rPr>
              <a:t>Our differences strengthen the college. Value every person for who they are.</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7"/>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7"/>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British Values</a:t>
            </a:r>
            <a:endParaRPr sz="2600">
              <a:solidFill>
                <a:schemeClr val="dk1"/>
              </a:solidFill>
              <a:latin typeface="Calibri"/>
              <a:ea typeface="Calibri"/>
              <a:cs typeface="Calibri"/>
              <a:sym typeface="Calibri"/>
            </a:endParaRPr>
          </a:p>
        </p:txBody>
      </p:sp>
      <p:sp>
        <p:nvSpPr>
          <p:cNvPr id="122" name="Google Shape;122;p7"/>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The civic framework that underpins life at college and in the UK</a:t>
            </a:r>
            <a:endParaRPr sz="1300">
              <a:solidFill>
                <a:schemeClr val="dk1"/>
              </a:solidFill>
              <a:latin typeface="Calibri"/>
              <a:ea typeface="Calibri"/>
              <a:cs typeface="Calibri"/>
              <a:sym typeface="Calibri"/>
            </a:endParaRPr>
          </a:p>
        </p:txBody>
      </p:sp>
      <p:sp>
        <p:nvSpPr>
          <p:cNvPr id="123" name="Google Shape;123;p7"/>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7"/>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125" name="Google Shape;125;p7"/>
          <p:cNvSpPr/>
          <p:nvPr/>
        </p:nvSpPr>
        <p:spPr>
          <a:xfrm>
            <a:off x="228600" y="1078992"/>
            <a:ext cx="411480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7"/>
          <p:cNvSpPr/>
          <p:nvPr/>
        </p:nvSpPr>
        <p:spPr>
          <a:xfrm>
            <a:off x="228600" y="1078992"/>
            <a:ext cx="4114800" cy="365760"/>
          </a:xfrm>
          <a:prstGeom prst="roundRect">
            <a:avLst>
              <a:gd fmla="val 125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7"/>
          <p:cNvSpPr/>
          <p:nvPr/>
        </p:nvSpPr>
        <p:spPr>
          <a:xfrm>
            <a:off x="228600" y="1078992"/>
            <a:ext cx="4114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Democracy</a:t>
            </a:r>
            <a:endParaRPr sz="1300">
              <a:solidFill>
                <a:schemeClr val="dk1"/>
              </a:solidFill>
              <a:latin typeface="Calibri"/>
              <a:ea typeface="Calibri"/>
              <a:cs typeface="Calibri"/>
              <a:sym typeface="Calibri"/>
            </a:endParaRPr>
          </a:p>
        </p:txBody>
      </p:sp>
      <p:sp>
        <p:nvSpPr>
          <p:cNvPr id="128" name="Google Shape;128;p7"/>
          <p:cNvSpPr/>
          <p:nvPr/>
        </p:nvSpPr>
        <p:spPr>
          <a:xfrm>
            <a:off x="365760" y="1499616"/>
            <a:ext cx="38404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Your voice matters. Student elections, surveys, and governance give you real ways to shape college life and understand how democratic processes work in wider society.</a:t>
            </a:r>
            <a:endParaRPr sz="1100">
              <a:solidFill>
                <a:schemeClr val="dk1"/>
              </a:solidFill>
              <a:latin typeface="Calibri"/>
              <a:ea typeface="Calibri"/>
              <a:cs typeface="Calibri"/>
              <a:sym typeface="Calibri"/>
            </a:endParaRPr>
          </a:p>
        </p:txBody>
      </p:sp>
      <p:sp>
        <p:nvSpPr>
          <p:cNvPr id="129" name="Google Shape;129;p7"/>
          <p:cNvSpPr/>
          <p:nvPr/>
        </p:nvSpPr>
        <p:spPr>
          <a:xfrm>
            <a:off x="4663440" y="1078992"/>
            <a:ext cx="411480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7"/>
          <p:cNvSpPr/>
          <p:nvPr/>
        </p:nvSpPr>
        <p:spPr>
          <a:xfrm>
            <a:off x="4663440" y="1078992"/>
            <a:ext cx="4114800" cy="365760"/>
          </a:xfrm>
          <a:prstGeom prst="roundRect">
            <a:avLst>
              <a:gd fmla="val 125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7"/>
          <p:cNvSpPr/>
          <p:nvPr/>
        </p:nvSpPr>
        <p:spPr>
          <a:xfrm>
            <a:off x="4663440" y="1078992"/>
            <a:ext cx="4114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Rule of Law</a:t>
            </a:r>
            <a:endParaRPr sz="1300">
              <a:solidFill>
                <a:schemeClr val="dk1"/>
              </a:solidFill>
              <a:latin typeface="Calibri"/>
              <a:ea typeface="Calibri"/>
              <a:cs typeface="Calibri"/>
              <a:sym typeface="Calibri"/>
            </a:endParaRPr>
          </a:p>
        </p:txBody>
      </p:sp>
      <p:sp>
        <p:nvSpPr>
          <p:cNvPr id="132" name="Google Shape;132;p7"/>
          <p:cNvSpPr/>
          <p:nvPr/>
        </p:nvSpPr>
        <p:spPr>
          <a:xfrm>
            <a:off x="4800600" y="1499616"/>
            <a:ext cx="38404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College rules and UK law both apply here. Understanding and following them protects everyone. Breaches may have disciplinary or legal consequences.</a:t>
            </a:r>
            <a:endParaRPr sz="1100">
              <a:solidFill>
                <a:schemeClr val="dk1"/>
              </a:solidFill>
              <a:latin typeface="Calibri"/>
              <a:ea typeface="Calibri"/>
              <a:cs typeface="Calibri"/>
              <a:sym typeface="Calibri"/>
            </a:endParaRPr>
          </a:p>
        </p:txBody>
      </p:sp>
      <p:sp>
        <p:nvSpPr>
          <p:cNvPr id="133" name="Google Shape;133;p7"/>
          <p:cNvSpPr/>
          <p:nvPr/>
        </p:nvSpPr>
        <p:spPr>
          <a:xfrm>
            <a:off x="228600" y="2633472"/>
            <a:ext cx="411480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7"/>
          <p:cNvSpPr/>
          <p:nvPr/>
        </p:nvSpPr>
        <p:spPr>
          <a:xfrm>
            <a:off x="228600" y="2633472"/>
            <a:ext cx="4114800" cy="365760"/>
          </a:xfrm>
          <a:prstGeom prst="roundRect">
            <a:avLst>
              <a:gd fmla="val 125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7"/>
          <p:cNvSpPr/>
          <p:nvPr/>
        </p:nvSpPr>
        <p:spPr>
          <a:xfrm>
            <a:off x="228600" y="2633472"/>
            <a:ext cx="4114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Individual Liberty</a:t>
            </a:r>
            <a:endParaRPr sz="1300">
              <a:solidFill>
                <a:schemeClr val="dk1"/>
              </a:solidFill>
              <a:latin typeface="Calibri"/>
              <a:ea typeface="Calibri"/>
              <a:cs typeface="Calibri"/>
              <a:sym typeface="Calibri"/>
            </a:endParaRPr>
          </a:p>
        </p:txBody>
      </p:sp>
      <p:sp>
        <p:nvSpPr>
          <p:cNvPr id="136" name="Google Shape;136;p7"/>
          <p:cNvSpPr/>
          <p:nvPr/>
        </p:nvSpPr>
        <p:spPr>
          <a:xfrm>
            <a:off x="365760" y="3054096"/>
            <a:ext cx="38404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You have the right to make informed choices about your beliefs, lifestyle, and identity — as long as it doesn't restrict or harm others.</a:t>
            </a:r>
            <a:endParaRPr sz="1100">
              <a:solidFill>
                <a:schemeClr val="dk1"/>
              </a:solidFill>
              <a:latin typeface="Calibri"/>
              <a:ea typeface="Calibri"/>
              <a:cs typeface="Calibri"/>
              <a:sym typeface="Calibri"/>
            </a:endParaRPr>
          </a:p>
        </p:txBody>
      </p:sp>
      <p:sp>
        <p:nvSpPr>
          <p:cNvPr id="137" name="Google Shape;137;p7"/>
          <p:cNvSpPr/>
          <p:nvPr/>
        </p:nvSpPr>
        <p:spPr>
          <a:xfrm>
            <a:off x="4663440" y="2633472"/>
            <a:ext cx="4114800" cy="1417320"/>
          </a:xfrm>
          <a:prstGeom prst="roundRect">
            <a:avLst>
              <a:gd fmla="val 5161"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7"/>
          <p:cNvSpPr/>
          <p:nvPr/>
        </p:nvSpPr>
        <p:spPr>
          <a:xfrm>
            <a:off x="4663440" y="2633472"/>
            <a:ext cx="4114800" cy="365760"/>
          </a:xfrm>
          <a:prstGeom prst="roundRect">
            <a:avLst>
              <a:gd fmla="val 125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7"/>
          <p:cNvSpPr/>
          <p:nvPr/>
        </p:nvSpPr>
        <p:spPr>
          <a:xfrm>
            <a:off x="4663440" y="2633472"/>
            <a:ext cx="4114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Mutual Respect &amp; Tolerance</a:t>
            </a:r>
            <a:endParaRPr sz="1300">
              <a:solidFill>
                <a:schemeClr val="dk1"/>
              </a:solidFill>
              <a:latin typeface="Calibri"/>
              <a:ea typeface="Calibri"/>
              <a:cs typeface="Calibri"/>
              <a:sym typeface="Calibri"/>
            </a:endParaRPr>
          </a:p>
        </p:txBody>
      </p:sp>
      <p:sp>
        <p:nvSpPr>
          <p:cNvPr id="140" name="Google Shape;140;p7"/>
          <p:cNvSpPr/>
          <p:nvPr/>
        </p:nvSpPr>
        <p:spPr>
          <a:xfrm>
            <a:off x="4800600" y="3054096"/>
            <a:ext cx="38404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Treat every student, staff member, and visitor fairly regardless of background. Challenge discrimination. Create an inclusive environment everywhere you go.</a:t>
            </a:r>
            <a:endParaRPr sz="1100">
              <a:solidFill>
                <a:schemeClr val="dk1"/>
              </a:solidFill>
              <a:latin typeface="Calibri"/>
              <a:ea typeface="Calibri"/>
              <a:cs typeface="Calibri"/>
              <a:sym typeface="Calibri"/>
            </a:endParaRPr>
          </a:p>
        </p:txBody>
      </p:sp>
      <p:sp>
        <p:nvSpPr>
          <p:cNvPr id="141" name="Google Shape;141;p7"/>
          <p:cNvSpPr/>
          <p:nvPr/>
        </p:nvSpPr>
        <p:spPr>
          <a:xfrm>
            <a:off x="274320" y="4407408"/>
            <a:ext cx="8595360" cy="594360"/>
          </a:xfrm>
          <a:prstGeom prst="roundRect">
            <a:avLst>
              <a:gd fmla="val 10769" name="adj"/>
            </a:avLst>
          </a:prstGeom>
          <a:solidFill>
            <a:srgbClr val="F5A623">
              <a:alpha val="9019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7"/>
          <p:cNvSpPr/>
          <p:nvPr/>
        </p:nvSpPr>
        <p:spPr>
          <a:xfrm>
            <a:off x="457200" y="4407408"/>
            <a:ext cx="8321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  Discuss: Which of these do you already see in action at ESCG? Give a real example.</a:t>
            </a:r>
            <a:endParaRPr sz="13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8"/>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8"/>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The Equality Act 2010</a:t>
            </a:r>
            <a:endParaRPr sz="2600">
              <a:solidFill>
                <a:schemeClr val="dk1"/>
              </a:solidFill>
              <a:latin typeface="Calibri"/>
              <a:ea typeface="Calibri"/>
              <a:cs typeface="Calibri"/>
              <a:sym typeface="Calibri"/>
            </a:endParaRPr>
          </a:p>
        </p:txBody>
      </p:sp>
      <p:sp>
        <p:nvSpPr>
          <p:cNvPr id="150" name="Google Shape;150;p8"/>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Legal protection for everyone — linked to our PROUD values</a:t>
            </a:r>
            <a:endParaRPr sz="1300">
              <a:solidFill>
                <a:schemeClr val="dk1"/>
              </a:solidFill>
              <a:latin typeface="Calibri"/>
              <a:ea typeface="Calibri"/>
              <a:cs typeface="Calibri"/>
              <a:sym typeface="Calibri"/>
            </a:endParaRPr>
          </a:p>
        </p:txBody>
      </p:sp>
      <p:sp>
        <p:nvSpPr>
          <p:cNvPr id="151" name="Google Shape;151;p8"/>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8"/>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153" name="Google Shape;153;p8"/>
          <p:cNvSpPr/>
          <p:nvPr/>
        </p:nvSpPr>
        <p:spPr>
          <a:xfrm>
            <a:off x="228600" y="1078992"/>
            <a:ext cx="3474720" cy="3017520"/>
          </a:xfrm>
          <a:prstGeom prst="roundRect">
            <a:avLst>
              <a:gd fmla="val 2424"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8"/>
          <p:cNvSpPr/>
          <p:nvPr/>
        </p:nvSpPr>
        <p:spPr>
          <a:xfrm>
            <a:off x="228600" y="1078992"/>
            <a:ext cx="3474720" cy="384048"/>
          </a:xfrm>
          <a:prstGeom prst="roundRect">
            <a:avLst>
              <a:gd fmla="val 11905"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8"/>
          <p:cNvSpPr/>
          <p:nvPr/>
        </p:nvSpPr>
        <p:spPr>
          <a:xfrm>
            <a:off x="228600" y="1078992"/>
            <a:ext cx="3474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9 Protected Characteristics</a:t>
            </a:r>
            <a:endParaRPr sz="1200">
              <a:solidFill>
                <a:schemeClr val="dk1"/>
              </a:solidFill>
              <a:latin typeface="Calibri"/>
              <a:ea typeface="Calibri"/>
              <a:cs typeface="Calibri"/>
              <a:sym typeface="Calibri"/>
            </a:endParaRPr>
          </a:p>
        </p:txBody>
      </p:sp>
      <p:sp>
        <p:nvSpPr>
          <p:cNvPr id="156" name="Google Shape;156;p8"/>
          <p:cNvSpPr/>
          <p:nvPr/>
        </p:nvSpPr>
        <p:spPr>
          <a:xfrm>
            <a:off x="457200" y="1536192"/>
            <a:ext cx="3017520" cy="24688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Age</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Disability</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Gender reassignment</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Marriage &amp; civil partnership</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Pregnancy &amp; maternity</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Race</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Religion or belief</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Sex</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Sexual orientation</a:t>
            </a:r>
            <a:endParaRPr sz="1200">
              <a:solidFill>
                <a:schemeClr val="dk1"/>
              </a:solidFill>
              <a:latin typeface="Calibri"/>
              <a:ea typeface="Calibri"/>
              <a:cs typeface="Calibri"/>
              <a:sym typeface="Calibri"/>
            </a:endParaRPr>
          </a:p>
        </p:txBody>
      </p:sp>
      <p:sp>
        <p:nvSpPr>
          <p:cNvPr id="157" name="Google Shape;157;p8"/>
          <p:cNvSpPr/>
          <p:nvPr/>
        </p:nvSpPr>
        <p:spPr>
          <a:xfrm>
            <a:off x="3931920" y="1078992"/>
            <a:ext cx="4983480" cy="804672"/>
          </a:xfrm>
          <a:prstGeom prst="roundRect">
            <a:avLst>
              <a:gd fmla="val 9091"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8"/>
          <p:cNvSpPr/>
          <p:nvPr/>
        </p:nvSpPr>
        <p:spPr>
          <a:xfrm>
            <a:off x="4096512" y="1170432"/>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300"/>
              <a:buFont typeface="Arial"/>
              <a:buNone/>
            </a:pPr>
            <a:r>
              <a:rPr b="1" lang="en-US" sz="1300">
                <a:solidFill>
                  <a:srgbClr val="592C82"/>
                </a:solidFill>
                <a:latin typeface="Arial"/>
                <a:ea typeface="Arial"/>
                <a:cs typeface="Arial"/>
                <a:sym typeface="Arial"/>
              </a:rPr>
              <a:t>Discrimination</a:t>
            </a:r>
            <a:endParaRPr sz="1300">
              <a:solidFill>
                <a:schemeClr val="dk1"/>
              </a:solidFill>
              <a:latin typeface="Calibri"/>
              <a:ea typeface="Calibri"/>
              <a:cs typeface="Calibri"/>
              <a:sym typeface="Calibri"/>
            </a:endParaRPr>
          </a:p>
        </p:txBody>
      </p:sp>
      <p:sp>
        <p:nvSpPr>
          <p:cNvPr id="159" name="Google Shape;159;p8"/>
          <p:cNvSpPr/>
          <p:nvPr/>
        </p:nvSpPr>
        <p:spPr>
          <a:xfrm>
            <a:off x="4096512" y="1463040"/>
            <a:ext cx="4663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Treating someone unfairly because of a protected characteristic.</a:t>
            </a:r>
            <a:endParaRPr sz="1100">
              <a:solidFill>
                <a:schemeClr val="dk1"/>
              </a:solidFill>
              <a:latin typeface="Calibri"/>
              <a:ea typeface="Calibri"/>
              <a:cs typeface="Calibri"/>
              <a:sym typeface="Calibri"/>
            </a:endParaRPr>
          </a:p>
        </p:txBody>
      </p:sp>
      <p:sp>
        <p:nvSpPr>
          <p:cNvPr id="160" name="Google Shape;160;p8"/>
          <p:cNvSpPr/>
          <p:nvPr/>
        </p:nvSpPr>
        <p:spPr>
          <a:xfrm>
            <a:off x="3931920" y="1993392"/>
            <a:ext cx="4983480" cy="804672"/>
          </a:xfrm>
          <a:prstGeom prst="roundRect">
            <a:avLst>
              <a:gd fmla="val 9091"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8"/>
          <p:cNvSpPr/>
          <p:nvPr/>
        </p:nvSpPr>
        <p:spPr>
          <a:xfrm>
            <a:off x="4096512" y="2084832"/>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300"/>
              <a:buFont typeface="Arial"/>
              <a:buNone/>
            </a:pPr>
            <a:r>
              <a:rPr b="1" lang="en-US" sz="1300">
                <a:solidFill>
                  <a:srgbClr val="592C82"/>
                </a:solidFill>
                <a:latin typeface="Arial"/>
                <a:ea typeface="Arial"/>
                <a:cs typeface="Arial"/>
                <a:sym typeface="Arial"/>
              </a:rPr>
              <a:t>Harassment</a:t>
            </a:r>
            <a:endParaRPr sz="1300">
              <a:solidFill>
                <a:schemeClr val="dk1"/>
              </a:solidFill>
              <a:latin typeface="Calibri"/>
              <a:ea typeface="Calibri"/>
              <a:cs typeface="Calibri"/>
              <a:sym typeface="Calibri"/>
            </a:endParaRPr>
          </a:p>
        </p:txBody>
      </p:sp>
      <p:sp>
        <p:nvSpPr>
          <p:cNvPr id="162" name="Google Shape;162;p8"/>
          <p:cNvSpPr/>
          <p:nvPr/>
        </p:nvSpPr>
        <p:spPr>
          <a:xfrm>
            <a:off x="4096512" y="2377440"/>
            <a:ext cx="4663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Unwanted behaviour that violates dignity or creates a hostile, humiliating or offensive environment.</a:t>
            </a:r>
            <a:endParaRPr sz="1100">
              <a:solidFill>
                <a:schemeClr val="dk1"/>
              </a:solidFill>
              <a:latin typeface="Calibri"/>
              <a:ea typeface="Calibri"/>
              <a:cs typeface="Calibri"/>
              <a:sym typeface="Calibri"/>
            </a:endParaRPr>
          </a:p>
        </p:txBody>
      </p:sp>
      <p:sp>
        <p:nvSpPr>
          <p:cNvPr id="163" name="Google Shape;163;p8"/>
          <p:cNvSpPr/>
          <p:nvPr/>
        </p:nvSpPr>
        <p:spPr>
          <a:xfrm>
            <a:off x="3931920" y="2907792"/>
            <a:ext cx="4983480" cy="804672"/>
          </a:xfrm>
          <a:prstGeom prst="roundRect">
            <a:avLst>
              <a:gd fmla="val 9091"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8"/>
          <p:cNvSpPr/>
          <p:nvPr/>
        </p:nvSpPr>
        <p:spPr>
          <a:xfrm>
            <a:off x="4096512" y="2999232"/>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300"/>
              <a:buFont typeface="Arial"/>
              <a:buNone/>
            </a:pPr>
            <a:r>
              <a:rPr b="1" lang="en-US" sz="1300">
                <a:solidFill>
                  <a:srgbClr val="592C82"/>
                </a:solidFill>
                <a:latin typeface="Arial"/>
                <a:ea typeface="Arial"/>
                <a:cs typeface="Arial"/>
                <a:sym typeface="Arial"/>
              </a:rPr>
              <a:t>Victimisation</a:t>
            </a:r>
            <a:endParaRPr sz="1300">
              <a:solidFill>
                <a:schemeClr val="dk1"/>
              </a:solidFill>
              <a:latin typeface="Calibri"/>
              <a:ea typeface="Calibri"/>
              <a:cs typeface="Calibri"/>
              <a:sym typeface="Calibri"/>
            </a:endParaRPr>
          </a:p>
        </p:txBody>
      </p:sp>
      <p:sp>
        <p:nvSpPr>
          <p:cNvPr id="165" name="Google Shape;165;p8"/>
          <p:cNvSpPr/>
          <p:nvPr/>
        </p:nvSpPr>
        <p:spPr>
          <a:xfrm>
            <a:off x="4096512" y="3291840"/>
            <a:ext cx="4663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Treating someone unfairly because they raised — or supported — a discrimination concern.</a:t>
            </a:r>
            <a:endParaRPr sz="1100">
              <a:solidFill>
                <a:schemeClr val="dk1"/>
              </a:solidFill>
              <a:latin typeface="Calibri"/>
              <a:ea typeface="Calibri"/>
              <a:cs typeface="Calibri"/>
              <a:sym typeface="Calibri"/>
            </a:endParaRPr>
          </a:p>
        </p:txBody>
      </p:sp>
      <p:sp>
        <p:nvSpPr>
          <p:cNvPr id="166" name="Google Shape;166;p8"/>
          <p:cNvSpPr/>
          <p:nvPr/>
        </p:nvSpPr>
        <p:spPr>
          <a:xfrm>
            <a:off x="3931920" y="3822192"/>
            <a:ext cx="4983480" cy="384048"/>
          </a:xfrm>
          <a:prstGeom prst="roundRect">
            <a:avLst>
              <a:gd fmla="val 14286" name="adj"/>
            </a:avLst>
          </a:prstGeom>
          <a:solidFill>
            <a:srgbClr val="F5A623">
              <a:alpha val="8509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8"/>
          <p:cNvSpPr/>
          <p:nvPr/>
        </p:nvSpPr>
        <p:spPr>
          <a:xfrm>
            <a:off x="4069080" y="3822192"/>
            <a:ext cx="4709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200"/>
              <a:buFont typeface="Arial"/>
              <a:buNone/>
            </a:pPr>
            <a:r>
              <a:rPr b="1" lang="en-US" sz="1200">
                <a:solidFill>
                  <a:srgbClr val="1A1A2E"/>
                </a:solidFill>
                <a:latin typeface="Arial"/>
                <a:ea typeface="Arial"/>
                <a:cs typeface="Arial"/>
                <a:sym typeface="Arial"/>
              </a:rPr>
              <a:t>Living the PROUD values = living the Equality Act in practice.</a:t>
            </a:r>
            <a:endParaRPr sz="1200">
              <a:solidFill>
                <a:schemeClr val="dk1"/>
              </a:solidFill>
              <a:latin typeface="Calibri"/>
              <a:ea typeface="Calibri"/>
              <a:cs typeface="Calibri"/>
              <a:sym typeface="Calibri"/>
            </a:endParaRPr>
          </a:p>
        </p:txBody>
      </p:sp>
      <p:sp>
        <p:nvSpPr>
          <p:cNvPr id="168" name="Google Shape;168;p8"/>
          <p:cNvSpPr/>
          <p:nvPr/>
        </p:nvSpPr>
        <p:spPr>
          <a:xfrm>
            <a:off x="274320" y="4407408"/>
            <a:ext cx="8595360" cy="594360"/>
          </a:xfrm>
          <a:prstGeom prst="roundRect">
            <a:avLst>
              <a:gd fmla="val 10769" name="adj"/>
            </a:avLst>
          </a:prstGeom>
          <a:solidFill>
            <a:srgbClr val="F5A623">
              <a:alpha val="9019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
          <p:cNvSpPr/>
          <p:nvPr/>
        </p:nvSpPr>
        <p:spPr>
          <a:xfrm>
            <a:off x="457200" y="4407408"/>
            <a:ext cx="8321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  Scenario: A student is repeatedly left out of group work because of their religion. Is this discrimination, harassment, or victimisation — and why?</a:t>
            </a:r>
            <a:endParaRPr sz="13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9"/>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9"/>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Behaviour Standards</a:t>
            </a:r>
            <a:endParaRPr sz="2600">
              <a:solidFill>
                <a:schemeClr val="dk1"/>
              </a:solidFill>
              <a:latin typeface="Calibri"/>
              <a:ea typeface="Calibri"/>
              <a:cs typeface="Calibri"/>
              <a:sym typeface="Calibri"/>
            </a:endParaRPr>
          </a:p>
        </p:txBody>
      </p:sp>
      <p:sp>
        <p:nvSpPr>
          <p:cNvPr id="177" name="Google Shape;177;p9"/>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The same standard applies — college, placement, and online</a:t>
            </a:r>
            <a:endParaRPr sz="1300">
              <a:solidFill>
                <a:schemeClr val="dk1"/>
              </a:solidFill>
              <a:latin typeface="Calibri"/>
              <a:ea typeface="Calibri"/>
              <a:cs typeface="Calibri"/>
              <a:sym typeface="Calibri"/>
            </a:endParaRPr>
          </a:p>
        </p:txBody>
      </p:sp>
      <p:sp>
        <p:nvSpPr>
          <p:cNvPr id="178" name="Google Shape;178;p9"/>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9"/>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180" name="Google Shape;180;p9"/>
          <p:cNvSpPr/>
          <p:nvPr/>
        </p:nvSpPr>
        <p:spPr>
          <a:xfrm>
            <a:off x="256032" y="1097280"/>
            <a:ext cx="2697480" cy="2926080"/>
          </a:xfrm>
          <a:prstGeom prst="roundRect">
            <a:avLst>
              <a:gd fmla="val 2712"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9"/>
          <p:cNvSpPr/>
          <p:nvPr/>
        </p:nvSpPr>
        <p:spPr>
          <a:xfrm>
            <a:off x="256032" y="1097280"/>
            <a:ext cx="269748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9"/>
          <p:cNvSpPr/>
          <p:nvPr/>
        </p:nvSpPr>
        <p:spPr>
          <a:xfrm>
            <a:off x="256032" y="1097280"/>
            <a:ext cx="269748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In College</a:t>
            </a:r>
            <a:endParaRPr sz="1400">
              <a:solidFill>
                <a:schemeClr val="dk1"/>
              </a:solidFill>
              <a:latin typeface="Calibri"/>
              <a:ea typeface="Calibri"/>
              <a:cs typeface="Calibri"/>
              <a:sym typeface="Calibri"/>
            </a:endParaRPr>
          </a:p>
        </p:txBody>
      </p:sp>
      <p:sp>
        <p:nvSpPr>
          <p:cNvPr id="183" name="Google Shape;183;p9"/>
          <p:cNvSpPr/>
          <p:nvPr/>
        </p:nvSpPr>
        <p:spPr>
          <a:xfrm>
            <a:off x="420624" y="1572768"/>
            <a:ext cx="2368296" cy="23317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Respectful language and conduct toward all students and staff</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200"/>
              <a:buFont typeface="Arial"/>
              <a:buChar char="•"/>
            </a:pPr>
            <a:r>
              <a:rPr lang="en-US" sz="1200">
                <a:solidFill>
                  <a:srgbClr val="1A1A2E"/>
                </a:solidFill>
                <a:latin typeface="Arial"/>
                <a:ea typeface="Arial"/>
                <a:cs typeface="Arial"/>
                <a:sym typeface="Arial"/>
              </a:rPr>
              <a:t>No bullying, harassment, or discriminatory behaviour</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200"/>
              <a:buFont typeface="Arial"/>
              <a:buChar char="•"/>
            </a:pPr>
            <a:r>
              <a:rPr lang="en-US" sz="1200">
                <a:solidFill>
                  <a:srgbClr val="1A1A2E"/>
                </a:solidFill>
                <a:latin typeface="Arial"/>
                <a:ea typeface="Arial"/>
                <a:cs typeface="Arial"/>
                <a:sym typeface="Arial"/>
              </a:rPr>
              <a:t>Personal devices used responsibly — not to film or record without consent</a:t>
            </a:r>
            <a:endParaRPr sz="1200">
              <a:solidFill>
                <a:schemeClr val="dk1"/>
              </a:solidFill>
              <a:latin typeface="Calibri"/>
              <a:ea typeface="Calibri"/>
              <a:cs typeface="Calibri"/>
              <a:sym typeface="Calibri"/>
            </a:endParaRPr>
          </a:p>
        </p:txBody>
      </p:sp>
      <p:sp>
        <p:nvSpPr>
          <p:cNvPr id="184" name="Google Shape;184;p9"/>
          <p:cNvSpPr/>
          <p:nvPr/>
        </p:nvSpPr>
        <p:spPr>
          <a:xfrm>
            <a:off x="3168396" y="1097280"/>
            <a:ext cx="2697480" cy="2926080"/>
          </a:xfrm>
          <a:prstGeom prst="roundRect">
            <a:avLst>
              <a:gd fmla="val 2712"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9"/>
          <p:cNvSpPr/>
          <p:nvPr/>
        </p:nvSpPr>
        <p:spPr>
          <a:xfrm>
            <a:off x="3168396" y="1097280"/>
            <a:ext cx="269748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9"/>
          <p:cNvSpPr/>
          <p:nvPr/>
        </p:nvSpPr>
        <p:spPr>
          <a:xfrm>
            <a:off x="3168396" y="1097280"/>
            <a:ext cx="269748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On Industry Placement</a:t>
            </a:r>
            <a:endParaRPr sz="1400">
              <a:solidFill>
                <a:schemeClr val="dk1"/>
              </a:solidFill>
              <a:latin typeface="Calibri"/>
              <a:ea typeface="Calibri"/>
              <a:cs typeface="Calibri"/>
              <a:sym typeface="Calibri"/>
            </a:endParaRPr>
          </a:p>
        </p:txBody>
      </p:sp>
      <p:sp>
        <p:nvSpPr>
          <p:cNvPr id="187" name="Google Shape;187;p9"/>
          <p:cNvSpPr/>
          <p:nvPr/>
        </p:nvSpPr>
        <p:spPr>
          <a:xfrm>
            <a:off x="3332988" y="1572768"/>
            <a:ext cx="2368296" cy="23317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You represent ESCG — professional conduct is expected from day one as a digital media, film, games, or computing professional on placement</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200"/>
              <a:buFont typeface="Arial"/>
              <a:buChar char="•"/>
            </a:pPr>
            <a:r>
              <a:rPr lang="en-US" sz="1200">
                <a:solidFill>
                  <a:srgbClr val="1A1A2E"/>
                </a:solidFill>
                <a:latin typeface="Arial"/>
                <a:ea typeface="Arial"/>
                <a:cs typeface="Arial"/>
                <a:sym typeface="Arial"/>
              </a:rPr>
              <a:t>Follow workplace policies including H&amp;S and equality requirements</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200"/>
              <a:buFont typeface="Arial"/>
              <a:buChar char="•"/>
            </a:pPr>
            <a:r>
              <a:rPr lang="en-US" sz="1200">
                <a:solidFill>
                  <a:srgbClr val="1A1A2E"/>
                </a:solidFill>
                <a:latin typeface="Arial"/>
                <a:ea typeface="Arial"/>
                <a:cs typeface="Arial"/>
                <a:sym typeface="Arial"/>
              </a:rPr>
              <a:t>Report concerns to your teacher, not just the placement provider</a:t>
            </a:r>
            <a:endParaRPr sz="1200">
              <a:solidFill>
                <a:schemeClr val="dk1"/>
              </a:solidFill>
              <a:latin typeface="Calibri"/>
              <a:ea typeface="Calibri"/>
              <a:cs typeface="Calibri"/>
              <a:sym typeface="Calibri"/>
            </a:endParaRPr>
          </a:p>
        </p:txBody>
      </p:sp>
      <p:sp>
        <p:nvSpPr>
          <p:cNvPr id="188" name="Google Shape;188;p9"/>
          <p:cNvSpPr/>
          <p:nvPr/>
        </p:nvSpPr>
        <p:spPr>
          <a:xfrm>
            <a:off x="6080760" y="1097280"/>
            <a:ext cx="2697480" cy="2926080"/>
          </a:xfrm>
          <a:prstGeom prst="roundRect">
            <a:avLst>
              <a:gd fmla="val 2712"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9"/>
          <p:cNvSpPr/>
          <p:nvPr/>
        </p:nvSpPr>
        <p:spPr>
          <a:xfrm>
            <a:off x="6080760" y="1097280"/>
            <a:ext cx="269748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6080760" y="1097280"/>
            <a:ext cx="269748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Online &amp; Social Media</a:t>
            </a:r>
            <a:endParaRPr sz="1400">
              <a:solidFill>
                <a:schemeClr val="dk1"/>
              </a:solidFill>
              <a:latin typeface="Calibri"/>
              <a:ea typeface="Calibri"/>
              <a:cs typeface="Calibri"/>
              <a:sym typeface="Calibri"/>
            </a:endParaRPr>
          </a:p>
        </p:txBody>
      </p:sp>
      <p:sp>
        <p:nvSpPr>
          <p:cNvPr id="191" name="Google Shape;191;p9"/>
          <p:cNvSpPr/>
          <p:nvPr/>
        </p:nvSpPr>
        <p:spPr>
          <a:xfrm>
            <a:off x="6245352" y="1572768"/>
            <a:ext cx="2368296" cy="23317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2E"/>
              </a:buClr>
              <a:buSzPts val="1200"/>
              <a:buFont typeface="Arial"/>
              <a:buChar char="•"/>
            </a:pPr>
            <a:r>
              <a:rPr lang="en-US" sz="1200">
                <a:solidFill>
                  <a:srgbClr val="1A1A2E"/>
                </a:solidFill>
                <a:latin typeface="Arial"/>
                <a:ea typeface="Arial"/>
                <a:cs typeface="Arial"/>
                <a:sym typeface="Arial"/>
              </a:rPr>
              <a:t>Your digital footprint is permanent and professionally visible</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200"/>
              <a:buFont typeface="Arial"/>
              <a:buChar char="•"/>
            </a:pPr>
            <a:r>
              <a:rPr lang="en-US" sz="1200">
                <a:solidFill>
                  <a:srgbClr val="1A1A2E"/>
                </a:solidFill>
                <a:latin typeface="Arial"/>
                <a:ea typeface="Arial"/>
                <a:cs typeface="Arial"/>
                <a:sym typeface="Arial"/>
              </a:rPr>
              <a:t>Content posted outside college can still lead to disciplinary action</a:t>
            </a:r>
            <a:endParaRPr sz="1200">
              <a:solidFill>
                <a:schemeClr val="dk1"/>
              </a:solidFill>
              <a:latin typeface="Calibri"/>
              <a:ea typeface="Calibri"/>
              <a:cs typeface="Calibri"/>
              <a:sym typeface="Calibri"/>
            </a:endParaRPr>
          </a:p>
          <a:p>
            <a:pPr indent="-342900" lvl="0" marL="342900" marR="0" rtl="0" algn="l">
              <a:spcBef>
                <a:spcPts val="800"/>
              </a:spcBef>
              <a:spcAft>
                <a:spcPts val="0"/>
              </a:spcAft>
              <a:buClr>
                <a:srgbClr val="1A1A2E"/>
              </a:buClr>
              <a:buSzPts val="1200"/>
              <a:buFont typeface="Arial"/>
              <a:buChar char="•"/>
            </a:pPr>
            <a:r>
              <a:rPr lang="en-US" sz="1200">
                <a:solidFill>
                  <a:srgbClr val="1A1A2E"/>
                </a:solidFill>
                <a:latin typeface="Arial"/>
                <a:ea typeface="Arial"/>
                <a:cs typeface="Arial"/>
                <a:sym typeface="Arial"/>
              </a:rPr>
              <a:t>Acceptable use policy applies to both college IT and personal devices</a:t>
            </a:r>
            <a:endParaRPr sz="1200">
              <a:solidFill>
                <a:schemeClr val="dk1"/>
              </a:solidFill>
              <a:latin typeface="Calibri"/>
              <a:ea typeface="Calibri"/>
              <a:cs typeface="Calibri"/>
              <a:sym typeface="Calibri"/>
            </a:endParaRPr>
          </a:p>
        </p:txBody>
      </p:sp>
      <p:sp>
        <p:nvSpPr>
          <p:cNvPr id="192" name="Google Shape;192;p9"/>
          <p:cNvSpPr/>
          <p:nvPr/>
        </p:nvSpPr>
        <p:spPr>
          <a:xfrm>
            <a:off x="274320" y="4407408"/>
            <a:ext cx="8595360" cy="594360"/>
          </a:xfrm>
          <a:prstGeom prst="roundRect">
            <a:avLst>
              <a:gd fmla="val 10769" name="adj"/>
            </a:avLst>
          </a:prstGeom>
          <a:solidFill>
            <a:srgbClr val="F5A623">
              <a:alpha val="9019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9"/>
          <p:cNvSpPr/>
          <p:nvPr/>
        </p:nvSpPr>
        <p:spPr>
          <a:xfrm>
            <a:off x="457200" y="4407408"/>
            <a:ext cx="8321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  Spot it: Your teacher will share three short scenarios — one per context. Identify what's wrong and what should happen instead.</a:t>
            </a:r>
            <a:endParaRPr sz="13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C"/>
        </a:solidFill>
      </p:bgPr>
    </p:bg>
    <p:spTree>
      <p:nvGrpSpPr>
        <p:cNvPr id="198" name="Shape 198"/>
        <p:cNvGrpSpPr/>
        <p:nvPr/>
      </p:nvGrpSpPr>
      <p:grpSpPr>
        <a:xfrm>
          <a:off x="0" y="0"/>
          <a:ext cx="0" cy="0"/>
          <a:chOff x="0" y="0"/>
          <a:chExt cx="0" cy="0"/>
        </a:xfrm>
      </p:grpSpPr>
      <p:sp>
        <p:nvSpPr>
          <p:cNvPr id="199" name="Google Shape;199;p10"/>
          <p:cNvSpPr/>
          <p:nvPr/>
        </p:nvSpPr>
        <p:spPr>
          <a:xfrm>
            <a:off x="0" y="0"/>
            <a:ext cx="9144000" cy="1005840"/>
          </a:xfrm>
          <a:prstGeom prst="rect">
            <a:avLst/>
          </a:prstGeom>
          <a:solidFill>
            <a:srgbClr val="3D1F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10"/>
          <p:cNvSpPr/>
          <p:nvPr/>
        </p:nvSpPr>
        <p:spPr>
          <a:xfrm>
            <a:off x="365760" y="91440"/>
            <a:ext cx="7132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Spot It Scenarios</a:t>
            </a:r>
            <a:endParaRPr sz="2200">
              <a:solidFill>
                <a:schemeClr val="dk1"/>
              </a:solidFill>
              <a:latin typeface="Calibri"/>
              <a:ea typeface="Calibri"/>
              <a:cs typeface="Calibri"/>
              <a:sym typeface="Calibri"/>
            </a:endParaRPr>
          </a:p>
        </p:txBody>
      </p:sp>
      <p:sp>
        <p:nvSpPr>
          <p:cNvPr id="201" name="Google Shape;201;p10"/>
          <p:cNvSpPr/>
          <p:nvPr/>
        </p:nvSpPr>
        <p:spPr>
          <a:xfrm>
            <a:off x="365760" y="585216"/>
            <a:ext cx="7132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200"/>
              <a:buFont typeface="Arial"/>
              <a:buNone/>
            </a:pPr>
            <a:r>
              <a:rPr lang="en-US" sz="1200">
                <a:solidFill>
                  <a:srgbClr val="D8C8F0"/>
                </a:solidFill>
                <a:latin typeface="Arial"/>
                <a:ea typeface="Arial"/>
                <a:cs typeface="Arial"/>
                <a:sym typeface="Arial"/>
              </a:rPr>
              <a:t>Read each scenario aloud. Ask students: what's wrong, and what should happen?</a:t>
            </a:r>
            <a:endParaRPr sz="1200">
              <a:solidFill>
                <a:schemeClr val="dk1"/>
              </a:solidFill>
              <a:latin typeface="Calibri"/>
              <a:ea typeface="Calibri"/>
              <a:cs typeface="Calibri"/>
              <a:sym typeface="Calibri"/>
            </a:endParaRPr>
          </a:p>
        </p:txBody>
      </p:sp>
      <p:sp>
        <p:nvSpPr>
          <p:cNvPr id="202" name="Google Shape;202;p10"/>
          <p:cNvSpPr/>
          <p:nvPr/>
        </p:nvSpPr>
        <p:spPr>
          <a:xfrm>
            <a:off x="7818120" y="228600"/>
            <a:ext cx="1051560" cy="347472"/>
          </a:xfrm>
          <a:prstGeom prst="roundRect">
            <a:avLst>
              <a:gd fmla="val 13158" name="adj"/>
            </a:avLst>
          </a:prstGeom>
          <a:solidFill>
            <a:srgbClr val="B0A0C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0"/>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US" sz="800">
                <a:solidFill>
                  <a:srgbClr val="FFFFFF"/>
                </a:solidFill>
                <a:latin typeface="Arial"/>
                <a:ea typeface="Arial"/>
                <a:cs typeface="Arial"/>
                <a:sym typeface="Arial"/>
              </a:rPr>
              <a:t>TEACHER</a:t>
            </a:r>
            <a:endParaRPr sz="800">
              <a:solidFill>
                <a:schemeClr val="dk1"/>
              </a:solidFill>
              <a:latin typeface="Calibri"/>
              <a:ea typeface="Calibri"/>
              <a:cs typeface="Calibri"/>
              <a:sym typeface="Calibri"/>
            </a:endParaRPr>
          </a:p>
        </p:txBody>
      </p:sp>
      <p:sp>
        <p:nvSpPr>
          <p:cNvPr id="204" name="Google Shape;204;p10"/>
          <p:cNvSpPr/>
          <p:nvPr/>
        </p:nvSpPr>
        <p:spPr>
          <a:xfrm>
            <a:off x="256032" y="1143000"/>
            <a:ext cx="2606040" cy="3291840"/>
          </a:xfrm>
          <a:prstGeom prst="roundRect">
            <a:avLst>
              <a:gd fmla="val 2807"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0"/>
          <p:cNvSpPr/>
          <p:nvPr/>
        </p:nvSpPr>
        <p:spPr>
          <a:xfrm>
            <a:off x="256032" y="1143000"/>
            <a:ext cx="260604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0"/>
          <p:cNvSpPr/>
          <p:nvPr/>
        </p:nvSpPr>
        <p:spPr>
          <a:xfrm>
            <a:off x="256032" y="1143000"/>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In College</a:t>
            </a:r>
            <a:endParaRPr sz="1400">
              <a:solidFill>
                <a:schemeClr val="dk1"/>
              </a:solidFill>
              <a:latin typeface="Calibri"/>
              <a:ea typeface="Calibri"/>
              <a:cs typeface="Calibri"/>
              <a:sym typeface="Calibri"/>
            </a:endParaRPr>
          </a:p>
        </p:txBody>
      </p:sp>
      <p:sp>
        <p:nvSpPr>
          <p:cNvPr id="207" name="Google Shape;207;p10"/>
          <p:cNvSpPr/>
          <p:nvPr/>
        </p:nvSpPr>
        <p:spPr>
          <a:xfrm>
            <a:off x="420624" y="1627632"/>
            <a:ext cx="2276856" cy="2148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A student in your group has been making comments about another student's accent every lesson. The other student hasn't said anything but has stopped contributing to group work.</a:t>
            </a:r>
            <a:endParaRPr sz="1200">
              <a:solidFill>
                <a:schemeClr val="dk1"/>
              </a:solidFill>
              <a:latin typeface="Calibri"/>
              <a:ea typeface="Calibri"/>
              <a:cs typeface="Calibri"/>
              <a:sym typeface="Calibri"/>
            </a:endParaRPr>
          </a:p>
        </p:txBody>
      </p:sp>
      <p:sp>
        <p:nvSpPr>
          <p:cNvPr id="208" name="Google Shape;208;p10"/>
          <p:cNvSpPr/>
          <p:nvPr/>
        </p:nvSpPr>
        <p:spPr>
          <a:xfrm>
            <a:off x="420624" y="4041648"/>
            <a:ext cx="2276856" cy="320040"/>
          </a:xfrm>
          <a:prstGeom prst="roundRect">
            <a:avLst>
              <a:gd fmla="val 14286" name="adj"/>
            </a:avLst>
          </a:prstGeom>
          <a:solidFill>
            <a:srgbClr val="F5A623">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10"/>
          <p:cNvSpPr/>
          <p:nvPr/>
        </p:nvSpPr>
        <p:spPr>
          <a:xfrm>
            <a:off x="420624" y="4041648"/>
            <a:ext cx="227685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Arial"/>
              <a:buNone/>
            </a:pPr>
            <a:r>
              <a:rPr b="1" lang="en-US" sz="1000">
                <a:solidFill>
                  <a:srgbClr val="1A1A2E"/>
                </a:solidFill>
                <a:latin typeface="Arial"/>
                <a:ea typeface="Arial"/>
                <a:cs typeface="Arial"/>
                <a:sym typeface="Arial"/>
              </a:rPr>
              <a:t>What's wrong? What should happen?</a:t>
            </a:r>
            <a:endParaRPr sz="1000">
              <a:solidFill>
                <a:schemeClr val="dk1"/>
              </a:solidFill>
              <a:latin typeface="Calibri"/>
              <a:ea typeface="Calibri"/>
              <a:cs typeface="Calibri"/>
              <a:sym typeface="Calibri"/>
            </a:endParaRPr>
          </a:p>
        </p:txBody>
      </p:sp>
      <p:sp>
        <p:nvSpPr>
          <p:cNvPr id="210" name="Google Shape;210;p10"/>
          <p:cNvSpPr/>
          <p:nvPr/>
        </p:nvSpPr>
        <p:spPr>
          <a:xfrm>
            <a:off x="3076956" y="1143000"/>
            <a:ext cx="2606040" cy="3291840"/>
          </a:xfrm>
          <a:prstGeom prst="roundRect">
            <a:avLst>
              <a:gd fmla="val 2807"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0"/>
          <p:cNvSpPr/>
          <p:nvPr/>
        </p:nvSpPr>
        <p:spPr>
          <a:xfrm>
            <a:off x="3076956" y="1143000"/>
            <a:ext cx="260604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0"/>
          <p:cNvSpPr/>
          <p:nvPr/>
        </p:nvSpPr>
        <p:spPr>
          <a:xfrm>
            <a:off x="3076956" y="1143000"/>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On Placement</a:t>
            </a:r>
            <a:endParaRPr sz="1400">
              <a:solidFill>
                <a:schemeClr val="dk1"/>
              </a:solidFill>
              <a:latin typeface="Calibri"/>
              <a:ea typeface="Calibri"/>
              <a:cs typeface="Calibri"/>
              <a:sym typeface="Calibri"/>
            </a:endParaRPr>
          </a:p>
        </p:txBody>
      </p:sp>
      <p:sp>
        <p:nvSpPr>
          <p:cNvPr id="213" name="Google Shape;213;p10"/>
          <p:cNvSpPr/>
          <p:nvPr/>
        </p:nvSpPr>
        <p:spPr>
          <a:xfrm>
            <a:off x="3241548" y="1627632"/>
            <a:ext cx="2276856" cy="2148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A student on a media production placement is asked by a colleague to share footage from a client shoot in the college group chat — ‘just so everyone can see what real work looks like.’ The student isn’t sure if this is OK. What’s wrong? What should they do?</a:t>
            </a:r>
            <a:endParaRPr sz="1200">
              <a:solidFill>
                <a:schemeClr val="dk1"/>
              </a:solidFill>
              <a:latin typeface="Calibri"/>
              <a:ea typeface="Calibri"/>
              <a:cs typeface="Calibri"/>
              <a:sym typeface="Calibri"/>
            </a:endParaRPr>
          </a:p>
        </p:txBody>
      </p:sp>
      <p:sp>
        <p:nvSpPr>
          <p:cNvPr id="214" name="Google Shape;214;p10"/>
          <p:cNvSpPr/>
          <p:nvPr/>
        </p:nvSpPr>
        <p:spPr>
          <a:xfrm>
            <a:off x="3241548" y="4041648"/>
            <a:ext cx="2276856" cy="320040"/>
          </a:xfrm>
          <a:prstGeom prst="roundRect">
            <a:avLst>
              <a:gd fmla="val 14286" name="adj"/>
            </a:avLst>
          </a:prstGeom>
          <a:solidFill>
            <a:srgbClr val="F5A623">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0"/>
          <p:cNvSpPr/>
          <p:nvPr/>
        </p:nvSpPr>
        <p:spPr>
          <a:xfrm>
            <a:off x="3241548" y="4041648"/>
            <a:ext cx="227685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Arial"/>
              <a:buNone/>
            </a:pPr>
            <a:r>
              <a:rPr b="1" lang="en-US" sz="1000">
                <a:solidFill>
                  <a:srgbClr val="1A1A2E"/>
                </a:solidFill>
                <a:latin typeface="Arial"/>
                <a:ea typeface="Arial"/>
                <a:cs typeface="Arial"/>
                <a:sym typeface="Arial"/>
              </a:rPr>
              <a:t>What's wrong? What should happen?</a:t>
            </a:r>
            <a:endParaRPr sz="1000">
              <a:solidFill>
                <a:schemeClr val="dk1"/>
              </a:solidFill>
              <a:latin typeface="Calibri"/>
              <a:ea typeface="Calibri"/>
              <a:cs typeface="Calibri"/>
              <a:sym typeface="Calibri"/>
            </a:endParaRPr>
          </a:p>
        </p:txBody>
      </p:sp>
      <p:sp>
        <p:nvSpPr>
          <p:cNvPr id="216" name="Google Shape;216;p10"/>
          <p:cNvSpPr/>
          <p:nvPr/>
        </p:nvSpPr>
        <p:spPr>
          <a:xfrm>
            <a:off x="5897880" y="1143000"/>
            <a:ext cx="2606040" cy="3291840"/>
          </a:xfrm>
          <a:prstGeom prst="roundRect">
            <a:avLst>
              <a:gd fmla="val 2807" name="adj"/>
            </a:avLst>
          </a:prstGeom>
          <a:solidFill>
            <a:srgbClr val="FFFFFF"/>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0"/>
          <p:cNvSpPr/>
          <p:nvPr/>
        </p:nvSpPr>
        <p:spPr>
          <a:xfrm>
            <a:off x="5897880" y="1143000"/>
            <a:ext cx="2606040" cy="402336"/>
          </a:xfrm>
          <a:prstGeom prst="roundRect">
            <a:avLst>
              <a:gd fmla="val 11364"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0"/>
          <p:cNvSpPr/>
          <p:nvPr/>
        </p:nvSpPr>
        <p:spPr>
          <a:xfrm>
            <a:off x="5897880" y="1143000"/>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Online</a:t>
            </a:r>
            <a:endParaRPr sz="1400">
              <a:solidFill>
                <a:schemeClr val="dk1"/>
              </a:solidFill>
              <a:latin typeface="Calibri"/>
              <a:ea typeface="Calibri"/>
              <a:cs typeface="Calibri"/>
              <a:sym typeface="Calibri"/>
            </a:endParaRPr>
          </a:p>
        </p:txBody>
      </p:sp>
      <p:sp>
        <p:nvSpPr>
          <p:cNvPr id="219" name="Google Shape;219;p10"/>
          <p:cNvSpPr/>
          <p:nvPr/>
        </p:nvSpPr>
        <p:spPr>
          <a:xfrm>
            <a:off x="6062472" y="1627632"/>
            <a:ext cx="2276856" cy="2148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200"/>
              <a:buFont typeface="Arial"/>
              <a:buNone/>
            </a:pPr>
            <a:r>
              <a:rPr lang="en-US" sz="1200">
                <a:solidFill>
                  <a:srgbClr val="1A1A2E"/>
                </a:solidFill>
                <a:latin typeface="Arial"/>
                <a:ea typeface="Arial"/>
                <a:cs typeface="Arial"/>
                <a:sym typeface="Arial"/>
              </a:rPr>
              <a:t>After a disagreement in class, a student posts a photo of a classmate on their story with a mocking caption.</a:t>
            </a:r>
            <a:endParaRPr sz="1200">
              <a:solidFill>
                <a:schemeClr val="dk1"/>
              </a:solidFill>
              <a:latin typeface="Calibri"/>
              <a:ea typeface="Calibri"/>
              <a:cs typeface="Calibri"/>
              <a:sym typeface="Calibri"/>
            </a:endParaRPr>
          </a:p>
        </p:txBody>
      </p:sp>
      <p:sp>
        <p:nvSpPr>
          <p:cNvPr id="220" name="Google Shape;220;p10"/>
          <p:cNvSpPr/>
          <p:nvPr/>
        </p:nvSpPr>
        <p:spPr>
          <a:xfrm>
            <a:off x="6062472" y="4041648"/>
            <a:ext cx="2276856" cy="320040"/>
          </a:xfrm>
          <a:prstGeom prst="roundRect">
            <a:avLst>
              <a:gd fmla="val 14286" name="adj"/>
            </a:avLst>
          </a:prstGeom>
          <a:solidFill>
            <a:srgbClr val="F5A623">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0"/>
          <p:cNvSpPr/>
          <p:nvPr/>
        </p:nvSpPr>
        <p:spPr>
          <a:xfrm>
            <a:off x="6062472" y="4041648"/>
            <a:ext cx="227685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000"/>
              <a:buFont typeface="Arial"/>
              <a:buNone/>
            </a:pPr>
            <a:r>
              <a:rPr b="1" lang="en-US" sz="1000">
                <a:solidFill>
                  <a:srgbClr val="1A1A2E"/>
                </a:solidFill>
                <a:latin typeface="Arial"/>
                <a:ea typeface="Arial"/>
                <a:cs typeface="Arial"/>
                <a:sym typeface="Arial"/>
              </a:rPr>
              <a:t>What's wrong? What should happen?</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D1F5C"/>
        </a:solidFill>
      </p:bgPr>
    </p:bg>
    <p:spTree>
      <p:nvGrpSpPr>
        <p:cNvPr id="226" name="Shape 226"/>
        <p:cNvGrpSpPr/>
        <p:nvPr/>
      </p:nvGrpSpPr>
      <p:grpSpPr>
        <a:xfrm>
          <a:off x="0" y="0"/>
          <a:ext cx="0" cy="0"/>
          <a:chOff x="0" y="0"/>
          <a:chExt cx="0" cy="0"/>
        </a:xfrm>
      </p:grpSpPr>
      <p:sp>
        <p:nvSpPr>
          <p:cNvPr id="227" name="Google Shape;227;p11"/>
          <p:cNvSpPr/>
          <p:nvPr/>
        </p:nvSpPr>
        <p:spPr>
          <a:xfrm>
            <a:off x="7818120" y="18288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1"/>
          <p:cNvSpPr/>
          <p:nvPr/>
        </p:nvSpPr>
        <p:spPr>
          <a:xfrm>
            <a:off x="7818120" y="18288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229" name="Google Shape;229;p11"/>
          <p:cNvSpPr/>
          <p:nvPr/>
        </p:nvSpPr>
        <p:spPr>
          <a:xfrm>
            <a:off x="457200" y="274320"/>
            <a:ext cx="8229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600"/>
              <a:buFont typeface="Arial"/>
              <a:buNone/>
            </a:pPr>
            <a:r>
              <a:rPr b="1" lang="en-US" sz="3600">
                <a:solidFill>
                  <a:srgbClr val="FFFFFF"/>
                </a:solidFill>
                <a:latin typeface="Arial"/>
                <a:ea typeface="Arial"/>
                <a:cs typeface="Arial"/>
                <a:sym typeface="Arial"/>
              </a:rPr>
              <a:t>Zero Tolerance</a:t>
            </a:r>
            <a:endParaRPr sz="3600">
              <a:solidFill>
                <a:schemeClr val="dk1"/>
              </a:solidFill>
              <a:latin typeface="Calibri"/>
              <a:ea typeface="Calibri"/>
              <a:cs typeface="Calibri"/>
              <a:sym typeface="Calibri"/>
            </a:endParaRPr>
          </a:p>
        </p:txBody>
      </p:sp>
      <p:sp>
        <p:nvSpPr>
          <p:cNvPr id="230" name="Google Shape;230;p11"/>
          <p:cNvSpPr/>
          <p:nvPr/>
        </p:nvSpPr>
        <p:spPr>
          <a:xfrm>
            <a:off x="457200" y="914400"/>
            <a:ext cx="822960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B8E8"/>
              </a:buClr>
              <a:buSzPts val="1500"/>
              <a:buFont typeface="Arial"/>
              <a:buNone/>
            </a:pPr>
            <a:r>
              <a:rPr lang="en-US" sz="1500">
                <a:solidFill>
                  <a:srgbClr val="C9B8E8"/>
                </a:solidFill>
                <a:latin typeface="Arial"/>
                <a:ea typeface="Arial"/>
                <a:cs typeface="Arial"/>
                <a:sym typeface="Arial"/>
              </a:rPr>
              <a:t>This is ESCG's position — not a preference, not a guideline.</a:t>
            </a:r>
            <a:endParaRPr sz="1500">
              <a:solidFill>
                <a:schemeClr val="dk1"/>
              </a:solidFill>
              <a:latin typeface="Calibri"/>
              <a:ea typeface="Calibri"/>
              <a:cs typeface="Calibri"/>
              <a:sym typeface="Calibri"/>
            </a:endParaRPr>
          </a:p>
        </p:txBody>
      </p:sp>
      <p:sp>
        <p:nvSpPr>
          <p:cNvPr id="231" name="Google Shape;231;p11"/>
          <p:cNvSpPr/>
          <p:nvPr/>
        </p:nvSpPr>
        <p:spPr>
          <a:xfrm>
            <a:off x="457200" y="1417320"/>
            <a:ext cx="1920240" cy="1600200"/>
          </a:xfrm>
          <a:prstGeom prst="roundRect">
            <a:avLst>
              <a:gd fmla="val 4571" name="adj"/>
            </a:avLst>
          </a:prstGeom>
          <a:solidFill>
            <a:srgbClr val="592C82"/>
          </a:solidFill>
          <a:ln>
            <a:noFill/>
          </a:ln>
          <a:effectLst>
            <a:outerShdw blurRad="127000" rotWithShape="0" algn="bl" dir="2700000" dist="381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1"/>
          <p:cNvSpPr/>
          <p:nvPr/>
        </p:nvSpPr>
        <p:spPr>
          <a:xfrm>
            <a:off x="530352" y="1508760"/>
            <a:ext cx="1773936"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500"/>
              <a:buFont typeface="Arial"/>
              <a:buNone/>
            </a:pPr>
            <a:r>
              <a:rPr b="1" lang="en-US" sz="1500">
                <a:solidFill>
                  <a:srgbClr val="F5A623"/>
                </a:solidFill>
                <a:latin typeface="Arial"/>
                <a:ea typeface="Arial"/>
                <a:cs typeface="Arial"/>
                <a:sym typeface="Arial"/>
              </a:rPr>
              <a:t>Harassment</a:t>
            </a:r>
            <a:endParaRPr sz="1500">
              <a:solidFill>
                <a:schemeClr val="dk1"/>
              </a:solidFill>
              <a:latin typeface="Calibri"/>
              <a:ea typeface="Calibri"/>
              <a:cs typeface="Calibri"/>
              <a:sym typeface="Calibri"/>
            </a:endParaRPr>
          </a:p>
        </p:txBody>
      </p:sp>
      <p:sp>
        <p:nvSpPr>
          <p:cNvPr id="233" name="Google Shape;233;p11"/>
          <p:cNvSpPr/>
          <p:nvPr/>
        </p:nvSpPr>
        <p:spPr>
          <a:xfrm>
            <a:off x="548640" y="192024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lang="en-US" sz="1100">
                <a:solidFill>
                  <a:srgbClr val="FFFFFF"/>
                </a:solidFill>
                <a:latin typeface="Arial"/>
                <a:ea typeface="Arial"/>
                <a:cs typeface="Arial"/>
                <a:sym typeface="Arial"/>
              </a:rPr>
              <a:t>Unwanted behaviour targeting identity, dignity, or wellbeing.</a:t>
            </a:r>
            <a:endParaRPr sz="1100">
              <a:solidFill>
                <a:schemeClr val="dk1"/>
              </a:solidFill>
              <a:latin typeface="Calibri"/>
              <a:ea typeface="Calibri"/>
              <a:cs typeface="Calibri"/>
              <a:sym typeface="Calibri"/>
            </a:endParaRPr>
          </a:p>
        </p:txBody>
      </p:sp>
      <p:sp>
        <p:nvSpPr>
          <p:cNvPr id="234" name="Google Shape;234;p11"/>
          <p:cNvSpPr/>
          <p:nvPr/>
        </p:nvSpPr>
        <p:spPr>
          <a:xfrm>
            <a:off x="2715768" y="1417320"/>
            <a:ext cx="1920240" cy="1600200"/>
          </a:xfrm>
          <a:prstGeom prst="roundRect">
            <a:avLst>
              <a:gd fmla="val 4571" name="adj"/>
            </a:avLst>
          </a:prstGeom>
          <a:solidFill>
            <a:srgbClr val="592C82"/>
          </a:solidFill>
          <a:ln>
            <a:noFill/>
          </a:ln>
          <a:effectLst>
            <a:outerShdw blurRad="127000" rotWithShape="0" algn="bl" dir="2700000" dist="381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1"/>
          <p:cNvSpPr/>
          <p:nvPr/>
        </p:nvSpPr>
        <p:spPr>
          <a:xfrm>
            <a:off x="2788920" y="1508760"/>
            <a:ext cx="1773936"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500"/>
              <a:buFont typeface="Arial"/>
              <a:buNone/>
            </a:pPr>
            <a:r>
              <a:rPr b="1" lang="en-US" sz="1500">
                <a:solidFill>
                  <a:srgbClr val="F5A623"/>
                </a:solidFill>
                <a:latin typeface="Arial"/>
                <a:ea typeface="Arial"/>
                <a:cs typeface="Arial"/>
                <a:sym typeface="Arial"/>
              </a:rPr>
              <a:t>Discrimination</a:t>
            </a:r>
            <a:endParaRPr sz="1500">
              <a:solidFill>
                <a:schemeClr val="dk1"/>
              </a:solidFill>
              <a:latin typeface="Calibri"/>
              <a:ea typeface="Calibri"/>
              <a:cs typeface="Calibri"/>
              <a:sym typeface="Calibri"/>
            </a:endParaRPr>
          </a:p>
        </p:txBody>
      </p:sp>
      <p:sp>
        <p:nvSpPr>
          <p:cNvPr id="236" name="Google Shape;236;p11"/>
          <p:cNvSpPr/>
          <p:nvPr/>
        </p:nvSpPr>
        <p:spPr>
          <a:xfrm>
            <a:off x="2807208" y="192024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lang="en-US" sz="1100">
                <a:solidFill>
                  <a:srgbClr val="FFFFFF"/>
                </a:solidFill>
                <a:latin typeface="Arial"/>
                <a:ea typeface="Arial"/>
                <a:cs typeface="Arial"/>
                <a:sym typeface="Arial"/>
              </a:rPr>
              <a:t>Treating someone less favourably because of a protected characteristic.</a:t>
            </a:r>
            <a:endParaRPr sz="1100">
              <a:solidFill>
                <a:schemeClr val="dk1"/>
              </a:solidFill>
              <a:latin typeface="Calibri"/>
              <a:ea typeface="Calibri"/>
              <a:cs typeface="Calibri"/>
              <a:sym typeface="Calibri"/>
            </a:endParaRPr>
          </a:p>
        </p:txBody>
      </p:sp>
      <p:sp>
        <p:nvSpPr>
          <p:cNvPr id="237" name="Google Shape;237;p11"/>
          <p:cNvSpPr/>
          <p:nvPr/>
        </p:nvSpPr>
        <p:spPr>
          <a:xfrm>
            <a:off x="4974336" y="1417320"/>
            <a:ext cx="1920240" cy="1600200"/>
          </a:xfrm>
          <a:prstGeom prst="roundRect">
            <a:avLst>
              <a:gd fmla="val 4571" name="adj"/>
            </a:avLst>
          </a:prstGeom>
          <a:solidFill>
            <a:srgbClr val="592C82"/>
          </a:solidFill>
          <a:ln>
            <a:noFill/>
          </a:ln>
          <a:effectLst>
            <a:outerShdw blurRad="127000" rotWithShape="0" algn="bl" dir="2700000" dist="381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1"/>
          <p:cNvSpPr/>
          <p:nvPr/>
        </p:nvSpPr>
        <p:spPr>
          <a:xfrm>
            <a:off x="5047488" y="1508760"/>
            <a:ext cx="1773936"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500"/>
              <a:buFont typeface="Arial"/>
              <a:buNone/>
            </a:pPr>
            <a:r>
              <a:rPr b="1" lang="en-US" sz="1500">
                <a:solidFill>
                  <a:srgbClr val="F5A623"/>
                </a:solidFill>
                <a:latin typeface="Arial"/>
                <a:ea typeface="Arial"/>
                <a:cs typeface="Arial"/>
                <a:sym typeface="Arial"/>
              </a:rPr>
              <a:t>Bullying</a:t>
            </a:r>
            <a:endParaRPr sz="1500">
              <a:solidFill>
                <a:schemeClr val="dk1"/>
              </a:solidFill>
              <a:latin typeface="Calibri"/>
              <a:ea typeface="Calibri"/>
              <a:cs typeface="Calibri"/>
              <a:sym typeface="Calibri"/>
            </a:endParaRPr>
          </a:p>
        </p:txBody>
      </p:sp>
      <p:sp>
        <p:nvSpPr>
          <p:cNvPr id="239" name="Google Shape;239;p11"/>
          <p:cNvSpPr/>
          <p:nvPr/>
        </p:nvSpPr>
        <p:spPr>
          <a:xfrm>
            <a:off x="5065776" y="192024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lang="en-US" sz="1100">
                <a:solidFill>
                  <a:srgbClr val="FFFFFF"/>
                </a:solidFill>
                <a:latin typeface="Arial"/>
                <a:ea typeface="Arial"/>
                <a:cs typeface="Arial"/>
                <a:sym typeface="Arial"/>
              </a:rPr>
              <a:t>Repeated behaviour intended to intimidate, control, or harm.</a:t>
            </a:r>
            <a:endParaRPr sz="1100">
              <a:solidFill>
                <a:schemeClr val="dk1"/>
              </a:solidFill>
              <a:latin typeface="Calibri"/>
              <a:ea typeface="Calibri"/>
              <a:cs typeface="Calibri"/>
              <a:sym typeface="Calibri"/>
            </a:endParaRPr>
          </a:p>
        </p:txBody>
      </p:sp>
      <p:sp>
        <p:nvSpPr>
          <p:cNvPr id="240" name="Google Shape;240;p11"/>
          <p:cNvSpPr/>
          <p:nvPr/>
        </p:nvSpPr>
        <p:spPr>
          <a:xfrm>
            <a:off x="7232904" y="1417320"/>
            <a:ext cx="1920240" cy="1600200"/>
          </a:xfrm>
          <a:prstGeom prst="roundRect">
            <a:avLst>
              <a:gd fmla="val 4571" name="adj"/>
            </a:avLst>
          </a:prstGeom>
          <a:solidFill>
            <a:srgbClr val="592C82"/>
          </a:solidFill>
          <a:ln>
            <a:noFill/>
          </a:ln>
          <a:effectLst>
            <a:outerShdw blurRad="127000" rotWithShape="0" algn="bl" dir="2700000" dist="381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1"/>
          <p:cNvSpPr/>
          <p:nvPr/>
        </p:nvSpPr>
        <p:spPr>
          <a:xfrm>
            <a:off x="7306056" y="1508760"/>
            <a:ext cx="1773936"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500"/>
              <a:buFont typeface="Arial"/>
              <a:buNone/>
            </a:pPr>
            <a:r>
              <a:rPr b="1" lang="en-US" sz="1500">
                <a:solidFill>
                  <a:srgbClr val="F5A623"/>
                </a:solidFill>
                <a:latin typeface="Arial"/>
                <a:ea typeface="Arial"/>
                <a:cs typeface="Arial"/>
                <a:sym typeface="Arial"/>
              </a:rPr>
              <a:t>Abuse</a:t>
            </a:r>
            <a:endParaRPr sz="1500">
              <a:solidFill>
                <a:schemeClr val="dk1"/>
              </a:solidFill>
              <a:latin typeface="Calibri"/>
              <a:ea typeface="Calibri"/>
              <a:cs typeface="Calibri"/>
              <a:sym typeface="Calibri"/>
            </a:endParaRPr>
          </a:p>
        </p:txBody>
      </p:sp>
      <p:sp>
        <p:nvSpPr>
          <p:cNvPr id="242" name="Google Shape;242;p11"/>
          <p:cNvSpPr/>
          <p:nvPr/>
        </p:nvSpPr>
        <p:spPr>
          <a:xfrm>
            <a:off x="7324344" y="1920240"/>
            <a:ext cx="1737360"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lang="en-US" sz="1100">
                <a:solidFill>
                  <a:srgbClr val="FFFFFF"/>
                </a:solidFill>
                <a:latin typeface="Arial"/>
                <a:ea typeface="Arial"/>
                <a:cs typeface="Arial"/>
                <a:sym typeface="Arial"/>
              </a:rPr>
              <a:t>Physical, verbal, or emotional — including online abuse directed at college members.</a:t>
            </a:r>
            <a:endParaRPr sz="1100">
              <a:solidFill>
                <a:schemeClr val="dk1"/>
              </a:solidFill>
              <a:latin typeface="Calibri"/>
              <a:ea typeface="Calibri"/>
              <a:cs typeface="Calibri"/>
              <a:sym typeface="Calibri"/>
            </a:endParaRPr>
          </a:p>
        </p:txBody>
      </p:sp>
      <p:sp>
        <p:nvSpPr>
          <p:cNvPr id="243" name="Google Shape;243;p11"/>
          <p:cNvSpPr/>
          <p:nvPr/>
        </p:nvSpPr>
        <p:spPr>
          <a:xfrm>
            <a:off x="457200" y="3154680"/>
            <a:ext cx="8229600" cy="640080"/>
          </a:xfrm>
          <a:prstGeom prst="roundRect">
            <a:avLst>
              <a:gd fmla="val 11429" name="adj"/>
            </a:avLst>
          </a:prstGeom>
          <a:solidFill>
            <a:srgbClr val="F5A623">
              <a:alpha val="85098"/>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1"/>
          <p:cNvSpPr/>
          <p:nvPr/>
        </p:nvSpPr>
        <p:spPr>
          <a:xfrm>
            <a:off x="594360" y="3154680"/>
            <a:ext cx="79552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Students found to have behaved in any of these ways face formal disciplinary procedures, which may include suspension or permanent exclusion.</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2"/>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2"/>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How to Report a Concern</a:t>
            </a:r>
            <a:endParaRPr sz="2600">
              <a:solidFill>
                <a:schemeClr val="dk1"/>
              </a:solidFill>
              <a:latin typeface="Calibri"/>
              <a:ea typeface="Calibri"/>
              <a:cs typeface="Calibri"/>
              <a:sym typeface="Calibri"/>
            </a:endParaRPr>
          </a:p>
        </p:txBody>
      </p:sp>
      <p:sp>
        <p:nvSpPr>
          <p:cNvPr id="252" name="Google Shape;252;p12"/>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You always have options — and you will always be taken seriously</a:t>
            </a:r>
            <a:endParaRPr sz="1300">
              <a:solidFill>
                <a:schemeClr val="dk1"/>
              </a:solidFill>
              <a:latin typeface="Calibri"/>
              <a:ea typeface="Calibri"/>
              <a:cs typeface="Calibri"/>
              <a:sym typeface="Calibri"/>
            </a:endParaRPr>
          </a:p>
        </p:txBody>
      </p:sp>
      <p:sp>
        <p:nvSpPr>
          <p:cNvPr id="253" name="Google Shape;253;p12"/>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2"/>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255" name="Google Shape;255;p12"/>
          <p:cNvSpPr/>
          <p:nvPr/>
        </p:nvSpPr>
        <p:spPr>
          <a:xfrm>
            <a:off x="274320" y="1097280"/>
            <a:ext cx="2651760" cy="3749040"/>
          </a:xfrm>
          <a:prstGeom prst="roundRect">
            <a:avLst>
              <a:gd fmla="val 27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2"/>
          <p:cNvSpPr/>
          <p:nvPr/>
        </p:nvSpPr>
        <p:spPr>
          <a:xfrm>
            <a:off x="1252728" y="1234440"/>
            <a:ext cx="694944" cy="694944"/>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7" name="Google Shape;257;p12"/>
          <p:cNvPicPr preferRelativeResize="0"/>
          <p:nvPr/>
        </p:nvPicPr>
        <p:blipFill rotWithShape="1">
          <a:blip r:embed="rId3">
            <a:alphaModFix/>
          </a:blip>
          <a:srcRect b="0" l="0" r="0" t="0"/>
          <a:stretch/>
        </p:blipFill>
        <p:spPr>
          <a:xfrm>
            <a:off x="1353312" y="1335024"/>
            <a:ext cx="493776" cy="493776"/>
          </a:xfrm>
          <a:prstGeom prst="rect">
            <a:avLst/>
          </a:prstGeom>
          <a:noFill/>
          <a:ln>
            <a:noFill/>
          </a:ln>
        </p:spPr>
      </p:pic>
      <p:sp>
        <p:nvSpPr>
          <p:cNvPr id="258" name="Google Shape;258;p12"/>
          <p:cNvSpPr/>
          <p:nvPr/>
        </p:nvSpPr>
        <p:spPr>
          <a:xfrm>
            <a:off x="411480" y="2029968"/>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400"/>
              <a:buFont typeface="Arial"/>
              <a:buNone/>
            </a:pPr>
            <a:r>
              <a:rPr b="1" lang="en-US" sz="1400">
                <a:solidFill>
                  <a:srgbClr val="1A1A2E"/>
                </a:solidFill>
                <a:latin typeface="Arial"/>
                <a:ea typeface="Arial"/>
                <a:cs typeface="Arial"/>
                <a:sym typeface="Arial"/>
              </a:rPr>
              <a:t>Tell Your Teacher</a:t>
            </a:r>
            <a:endParaRPr sz="1400">
              <a:solidFill>
                <a:schemeClr val="dk1"/>
              </a:solidFill>
              <a:latin typeface="Calibri"/>
              <a:ea typeface="Calibri"/>
              <a:cs typeface="Calibri"/>
              <a:sym typeface="Calibri"/>
            </a:endParaRPr>
          </a:p>
        </p:txBody>
      </p:sp>
      <p:sp>
        <p:nvSpPr>
          <p:cNvPr id="259" name="Google Shape;259;p12"/>
          <p:cNvSpPr/>
          <p:nvPr/>
        </p:nvSpPr>
        <p:spPr>
          <a:xfrm>
            <a:off x="411480" y="2487168"/>
            <a:ext cx="23774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The fastest route. Your teacher can act immediately, make a referral, or escalate. You don't need the full picture — just start the conversation.</a:t>
            </a:r>
            <a:endParaRPr sz="1100">
              <a:solidFill>
                <a:schemeClr val="dk1"/>
              </a:solidFill>
              <a:latin typeface="Calibri"/>
              <a:ea typeface="Calibri"/>
              <a:cs typeface="Calibri"/>
              <a:sym typeface="Calibri"/>
            </a:endParaRPr>
          </a:p>
        </p:txBody>
      </p:sp>
      <p:sp>
        <p:nvSpPr>
          <p:cNvPr id="260" name="Google Shape;260;p12"/>
          <p:cNvSpPr/>
          <p:nvPr/>
        </p:nvSpPr>
        <p:spPr>
          <a:xfrm>
            <a:off x="411480" y="4370832"/>
            <a:ext cx="2377440" cy="347472"/>
          </a:xfrm>
          <a:prstGeom prst="roundRect">
            <a:avLst>
              <a:gd fmla="val 13158" name="adj"/>
            </a:avLst>
          </a:prstGeom>
          <a:solidFill>
            <a:srgbClr val="F5A623">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2"/>
          <p:cNvSpPr/>
          <p:nvPr/>
        </p:nvSpPr>
        <p:spPr>
          <a:xfrm>
            <a:off x="411480" y="4370832"/>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Available in every session</a:t>
            </a:r>
            <a:endParaRPr sz="1100">
              <a:solidFill>
                <a:schemeClr val="dk1"/>
              </a:solidFill>
              <a:latin typeface="Calibri"/>
              <a:ea typeface="Calibri"/>
              <a:cs typeface="Calibri"/>
              <a:sym typeface="Calibri"/>
            </a:endParaRPr>
          </a:p>
        </p:txBody>
      </p:sp>
      <p:sp>
        <p:nvSpPr>
          <p:cNvPr id="262" name="Google Shape;262;p12"/>
          <p:cNvSpPr/>
          <p:nvPr/>
        </p:nvSpPr>
        <p:spPr>
          <a:xfrm>
            <a:off x="3154680" y="1097280"/>
            <a:ext cx="2651760" cy="3749040"/>
          </a:xfrm>
          <a:prstGeom prst="roundRect">
            <a:avLst>
              <a:gd fmla="val 27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2"/>
          <p:cNvSpPr/>
          <p:nvPr/>
        </p:nvSpPr>
        <p:spPr>
          <a:xfrm>
            <a:off x="4133088" y="1234440"/>
            <a:ext cx="694944" cy="694944"/>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64" name="Google Shape;264;p12"/>
          <p:cNvPicPr preferRelativeResize="0"/>
          <p:nvPr/>
        </p:nvPicPr>
        <p:blipFill rotWithShape="1">
          <a:blip r:embed="rId4">
            <a:alphaModFix/>
          </a:blip>
          <a:srcRect b="0" l="0" r="0" t="0"/>
          <a:stretch/>
        </p:blipFill>
        <p:spPr>
          <a:xfrm>
            <a:off x="4233672" y="1335024"/>
            <a:ext cx="493776" cy="493776"/>
          </a:xfrm>
          <a:prstGeom prst="rect">
            <a:avLst/>
          </a:prstGeom>
          <a:noFill/>
          <a:ln>
            <a:noFill/>
          </a:ln>
        </p:spPr>
      </p:pic>
      <p:sp>
        <p:nvSpPr>
          <p:cNvPr id="265" name="Google Shape;265;p12"/>
          <p:cNvSpPr/>
          <p:nvPr/>
        </p:nvSpPr>
        <p:spPr>
          <a:xfrm>
            <a:off x="3291840" y="2029968"/>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400"/>
              <a:buFont typeface="Arial"/>
              <a:buNone/>
            </a:pPr>
            <a:r>
              <a:rPr b="1" lang="en-US" sz="1400">
                <a:solidFill>
                  <a:srgbClr val="1A1A2E"/>
                </a:solidFill>
                <a:latin typeface="Arial"/>
                <a:ea typeface="Arial"/>
                <a:cs typeface="Arial"/>
                <a:sym typeface="Arial"/>
              </a:rPr>
              <a:t>Formal Reporting System</a:t>
            </a:r>
            <a:endParaRPr sz="1400">
              <a:solidFill>
                <a:schemeClr val="dk1"/>
              </a:solidFill>
              <a:latin typeface="Calibri"/>
              <a:ea typeface="Calibri"/>
              <a:cs typeface="Calibri"/>
              <a:sym typeface="Calibri"/>
            </a:endParaRPr>
          </a:p>
        </p:txBody>
      </p:sp>
      <p:sp>
        <p:nvSpPr>
          <p:cNvPr id="266" name="Google Shape;266;p12"/>
          <p:cNvSpPr/>
          <p:nvPr/>
        </p:nvSpPr>
        <p:spPr>
          <a:xfrm>
            <a:off x="3291840" y="2487168"/>
            <a:ext cx="23774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ESCG has a formal process for reporting concerns about discrimination, harassment, bullying, or abuse. Ask your teacher or Student Services for the form or link.</a:t>
            </a:r>
            <a:endParaRPr sz="1100">
              <a:solidFill>
                <a:schemeClr val="dk1"/>
              </a:solidFill>
              <a:latin typeface="Calibri"/>
              <a:ea typeface="Calibri"/>
              <a:cs typeface="Calibri"/>
              <a:sym typeface="Calibri"/>
            </a:endParaRPr>
          </a:p>
        </p:txBody>
      </p:sp>
      <p:sp>
        <p:nvSpPr>
          <p:cNvPr id="267" name="Google Shape;267;p12"/>
          <p:cNvSpPr/>
          <p:nvPr/>
        </p:nvSpPr>
        <p:spPr>
          <a:xfrm>
            <a:off x="3291840" y="4370832"/>
            <a:ext cx="2377440" cy="347472"/>
          </a:xfrm>
          <a:prstGeom prst="roundRect">
            <a:avLst>
              <a:gd fmla="val 13158" name="adj"/>
            </a:avLst>
          </a:prstGeom>
          <a:solidFill>
            <a:srgbClr val="F5A623">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2"/>
          <p:cNvSpPr/>
          <p:nvPr/>
        </p:nvSpPr>
        <p:spPr>
          <a:xfrm>
            <a:off x="3291840" y="4370832"/>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Creates a documented record</a:t>
            </a:r>
            <a:endParaRPr sz="1100">
              <a:solidFill>
                <a:schemeClr val="dk1"/>
              </a:solidFill>
              <a:latin typeface="Calibri"/>
              <a:ea typeface="Calibri"/>
              <a:cs typeface="Calibri"/>
              <a:sym typeface="Calibri"/>
            </a:endParaRPr>
          </a:p>
        </p:txBody>
      </p:sp>
      <p:sp>
        <p:nvSpPr>
          <p:cNvPr id="269" name="Google Shape;269;p12"/>
          <p:cNvSpPr/>
          <p:nvPr/>
        </p:nvSpPr>
        <p:spPr>
          <a:xfrm>
            <a:off x="6035040" y="1097280"/>
            <a:ext cx="2651760" cy="3749040"/>
          </a:xfrm>
          <a:prstGeom prst="roundRect">
            <a:avLst>
              <a:gd fmla="val 2759"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2"/>
          <p:cNvSpPr/>
          <p:nvPr/>
        </p:nvSpPr>
        <p:spPr>
          <a:xfrm>
            <a:off x="7013448" y="1234440"/>
            <a:ext cx="694944" cy="694944"/>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71" name="Google Shape;271;p12"/>
          <p:cNvPicPr preferRelativeResize="0"/>
          <p:nvPr/>
        </p:nvPicPr>
        <p:blipFill rotWithShape="1">
          <a:blip r:embed="rId5">
            <a:alphaModFix/>
          </a:blip>
          <a:srcRect b="0" l="0" r="0" t="0"/>
          <a:stretch/>
        </p:blipFill>
        <p:spPr>
          <a:xfrm>
            <a:off x="7114032" y="1335024"/>
            <a:ext cx="493776" cy="493776"/>
          </a:xfrm>
          <a:prstGeom prst="rect">
            <a:avLst/>
          </a:prstGeom>
          <a:noFill/>
          <a:ln>
            <a:noFill/>
          </a:ln>
        </p:spPr>
      </p:pic>
      <p:sp>
        <p:nvSpPr>
          <p:cNvPr id="272" name="Google Shape;272;p12"/>
          <p:cNvSpPr/>
          <p:nvPr/>
        </p:nvSpPr>
        <p:spPr>
          <a:xfrm>
            <a:off x="6172200" y="2029968"/>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400"/>
              <a:buFont typeface="Arial"/>
              <a:buNone/>
            </a:pPr>
            <a:r>
              <a:rPr b="1" lang="en-US" sz="1400">
                <a:solidFill>
                  <a:srgbClr val="1A1A2E"/>
                </a:solidFill>
                <a:latin typeface="Arial"/>
                <a:ea typeface="Arial"/>
                <a:cs typeface="Arial"/>
                <a:sym typeface="Arial"/>
              </a:rPr>
              <a:t>Anonymous Reporting</a:t>
            </a:r>
            <a:endParaRPr sz="1400">
              <a:solidFill>
                <a:schemeClr val="dk1"/>
              </a:solidFill>
              <a:latin typeface="Calibri"/>
              <a:ea typeface="Calibri"/>
              <a:cs typeface="Calibri"/>
              <a:sym typeface="Calibri"/>
            </a:endParaRPr>
          </a:p>
        </p:txBody>
      </p:sp>
      <p:sp>
        <p:nvSpPr>
          <p:cNvPr id="273" name="Google Shape;273;p12"/>
          <p:cNvSpPr/>
          <p:nvPr/>
        </p:nvSpPr>
        <p:spPr>
          <a:xfrm>
            <a:off x="6172200" y="2487168"/>
            <a:ext cx="23774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Not ready to put your name to a concern? You can report anonymously. Anonymous reports are still investigated — you don't have to identify yourself to be heard.</a:t>
            </a:r>
            <a:endParaRPr sz="1100">
              <a:solidFill>
                <a:schemeClr val="dk1"/>
              </a:solidFill>
              <a:latin typeface="Calibri"/>
              <a:ea typeface="Calibri"/>
              <a:cs typeface="Calibri"/>
              <a:sym typeface="Calibri"/>
            </a:endParaRPr>
          </a:p>
        </p:txBody>
      </p:sp>
      <p:sp>
        <p:nvSpPr>
          <p:cNvPr id="274" name="Google Shape;274;p12"/>
          <p:cNvSpPr/>
          <p:nvPr/>
        </p:nvSpPr>
        <p:spPr>
          <a:xfrm>
            <a:off x="6172200" y="4370832"/>
            <a:ext cx="2377440" cy="347472"/>
          </a:xfrm>
          <a:prstGeom prst="roundRect">
            <a:avLst>
              <a:gd fmla="val 13158" name="adj"/>
            </a:avLst>
          </a:prstGeom>
          <a:solidFill>
            <a:srgbClr val="F5A623">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2"/>
          <p:cNvSpPr/>
          <p:nvPr/>
        </p:nvSpPr>
        <p:spPr>
          <a:xfrm>
            <a:off x="6172200" y="4370832"/>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2E"/>
              </a:buClr>
              <a:buSzPts val="1100"/>
              <a:buFont typeface="Arial"/>
              <a:buNone/>
            </a:pPr>
            <a:r>
              <a:rPr lang="en-US" sz="1100">
                <a:solidFill>
                  <a:srgbClr val="1A1A2E"/>
                </a:solidFill>
                <a:latin typeface="Arial"/>
                <a:ea typeface="Arial"/>
                <a:cs typeface="Arial"/>
                <a:sym typeface="Arial"/>
              </a:rPr>
              <a:t>You don't have to be named</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13"/>
          <p:cNvSpPr/>
          <p:nvPr/>
        </p:nvSpPr>
        <p:spPr>
          <a:xfrm>
            <a:off x="0" y="0"/>
            <a:ext cx="9144000" cy="100584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3"/>
          <p:cNvSpPr/>
          <p:nvPr/>
        </p:nvSpPr>
        <p:spPr>
          <a:xfrm>
            <a:off x="365760" y="91440"/>
            <a:ext cx="7589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latin typeface="Arial"/>
                <a:ea typeface="Arial"/>
                <a:cs typeface="Arial"/>
                <a:sym typeface="Arial"/>
              </a:rPr>
              <a:t>Your Commitment</a:t>
            </a:r>
            <a:endParaRPr sz="2600">
              <a:solidFill>
                <a:schemeClr val="dk1"/>
              </a:solidFill>
              <a:latin typeface="Calibri"/>
              <a:ea typeface="Calibri"/>
              <a:cs typeface="Calibri"/>
              <a:sym typeface="Calibri"/>
            </a:endParaRPr>
          </a:p>
        </p:txBody>
      </p:sp>
      <p:sp>
        <p:nvSpPr>
          <p:cNvPr id="283" name="Google Shape;283;p13"/>
          <p:cNvSpPr/>
          <p:nvPr/>
        </p:nvSpPr>
        <p:spPr>
          <a:xfrm>
            <a:off x="365760" y="585216"/>
            <a:ext cx="7589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8F0"/>
              </a:buClr>
              <a:buSzPts val="1300"/>
              <a:buFont typeface="Arial"/>
              <a:buNone/>
            </a:pPr>
            <a:r>
              <a:rPr lang="en-US" sz="1300">
                <a:solidFill>
                  <a:srgbClr val="D8C8F0"/>
                </a:solidFill>
                <a:latin typeface="Arial"/>
                <a:ea typeface="Arial"/>
                <a:cs typeface="Arial"/>
                <a:sym typeface="Arial"/>
              </a:rPr>
              <a:t>One thing you'll do — and one thing you'll challenge</a:t>
            </a:r>
            <a:endParaRPr sz="1300">
              <a:solidFill>
                <a:schemeClr val="dk1"/>
              </a:solidFill>
              <a:latin typeface="Calibri"/>
              <a:ea typeface="Calibri"/>
              <a:cs typeface="Calibri"/>
              <a:sym typeface="Calibri"/>
            </a:endParaRPr>
          </a:p>
        </p:txBody>
      </p:sp>
      <p:sp>
        <p:nvSpPr>
          <p:cNvPr id="284" name="Google Shape;284;p13"/>
          <p:cNvSpPr/>
          <p:nvPr/>
        </p:nvSpPr>
        <p:spPr>
          <a:xfrm>
            <a:off x="7818120" y="22860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3"/>
          <p:cNvSpPr/>
          <p:nvPr/>
        </p:nvSpPr>
        <p:spPr>
          <a:xfrm>
            <a:off x="7818120" y="22860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286" name="Google Shape;286;p13"/>
          <p:cNvSpPr/>
          <p:nvPr/>
        </p:nvSpPr>
        <p:spPr>
          <a:xfrm>
            <a:off x="365760" y="1051560"/>
            <a:ext cx="8412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C7A"/>
              </a:buClr>
              <a:buSzPts val="1500"/>
              <a:buFont typeface="Arial"/>
              <a:buNone/>
            </a:pPr>
            <a:r>
              <a:rPr lang="en-US" sz="1500">
                <a:solidFill>
                  <a:srgbClr val="5C5C7A"/>
                </a:solidFill>
                <a:latin typeface="Arial"/>
                <a:ea typeface="Arial"/>
                <a:cs typeface="Arial"/>
                <a:sym typeface="Arial"/>
              </a:rPr>
              <a:t>Pick one from each column. Your tutor will keep this card and may check in with you.</a:t>
            </a:r>
            <a:endParaRPr sz="1500">
              <a:solidFill>
                <a:schemeClr val="dk1"/>
              </a:solidFill>
              <a:latin typeface="Calibri"/>
              <a:ea typeface="Calibri"/>
              <a:cs typeface="Calibri"/>
              <a:sym typeface="Calibri"/>
            </a:endParaRPr>
          </a:p>
        </p:txBody>
      </p:sp>
      <p:sp>
        <p:nvSpPr>
          <p:cNvPr id="287" name="Google Shape;287;p13"/>
          <p:cNvSpPr/>
          <p:nvPr/>
        </p:nvSpPr>
        <p:spPr>
          <a:xfrm>
            <a:off x="274320" y="1536192"/>
            <a:ext cx="4160520" cy="3383280"/>
          </a:xfrm>
          <a:prstGeom prst="roundRect">
            <a:avLst>
              <a:gd fmla="val 2162"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3"/>
          <p:cNvSpPr/>
          <p:nvPr/>
        </p:nvSpPr>
        <p:spPr>
          <a:xfrm>
            <a:off x="274320" y="1536192"/>
            <a:ext cx="4160520" cy="438912"/>
          </a:xfrm>
          <a:prstGeom prst="roundRect">
            <a:avLst>
              <a:gd fmla="val 1041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13"/>
          <p:cNvSpPr/>
          <p:nvPr/>
        </p:nvSpPr>
        <p:spPr>
          <a:xfrm>
            <a:off x="274320" y="1536192"/>
            <a:ext cx="416052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I will...</a:t>
            </a:r>
            <a:endParaRPr sz="1600">
              <a:solidFill>
                <a:schemeClr val="dk1"/>
              </a:solidFill>
              <a:latin typeface="Calibri"/>
              <a:ea typeface="Calibri"/>
              <a:cs typeface="Calibri"/>
              <a:sym typeface="Calibri"/>
            </a:endParaRPr>
          </a:p>
        </p:txBody>
      </p:sp>
      <p:sp>
        <p:nvSpPr>
          <p:cNvPr id="290" name="Google Shape;290;p13"/>
          <p:cNvSpPr/>
          <p:nvPr/>
        </p:nvSpPr>
        <p:spPr>
          <a:xfrm>
            <a:off x="475488" y="2057400"/>
            <a:ext cx="3758184" cy="27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300"/>
              <a:buFont typeface="Arial"/>
              <a:buNone/>
            </a:pPr>
            <a:r>
              <a:rPr lang="en-US" sz="1300">
                <a:solidFill>
                  <a:srgbClr val="1A1A2E"/>
                </a:solidFill>
                <a:latin typeface="Arial"/>
                <a:ea typeface="Arial"/>
                <a:cs typeface="Arial"/>
                <a:sym typeface="Arial"/>
              </a:rPr>
              <a:t>1. Use more careful language online — I'll think before I post.</a:t>
            </a:r>
            <a:endParaRPr sz="1300">
              <a:solidFill>
                <a:schemeClr val="dk1"/>
              </a:solidFill>
              <a:latin typeface="Calibri"/>
              <a:ea typeface="Calibri"/>
              <a:cs typeface="Calibri"/>
              <a:sym typeface="Calibri"/>
            </a:endParaRPr>
          </a:p>
          <a:p>
            <a:pPr indent="0" lvl="0" marL="0" marR="0" rtl="0" algn="l">
              <a:spcBef>
                <a:spcPts val="1000"/>
              </a:spcBef>
              <a:spcAft>
                <a:spcPts val="0"/>
              </a:spcAft>
              <a:buClr>
                <a:srgbClr val="1A1A2E"/>
              </a:buClr>
              <a:buSzPts val="1300"/>
              <a:buFont typeface="Arial"/>
              <a:buNone/>
            </a:pPr>
            <a:r>
              <a:rPr lang="en-US" sz="1300">
                <a:solidFill>
                  <a:srgbClr val="1A1A2E"/>
                </a:solidFill>
                <a:latin typeface="Arial"/>
                <a:ea typeface="Arial"/>
                <a:cs typeface="Arial"/>
                <a:sym typeface="Arial"/>
              </a:rPr>
              <a:t>2. Include someone who seems left out of my group or class.</a:t>
            </a:r>
            <a:endParaRPr sz="1300">
              <a:solidFill>
                <a:schemeClr val="dk1"/>
              </a:solidFill>
              <a:latin typeface="Calibri"/>
              <a:ea typeface="Calibri"/>
              <a:cs typeface="Calibri"/>
              <a:sym typeface="Calibri"/>
            </a:endParaRPr>
          </a:p>
          <a:p>
            <a:pPr indent="0" lvl="0" marL="0" marR="0" rtl="0" algn="l">
              <a:spcBef>
                <a:spcPts val="1000"/>
              </a:spcBef>
              <a:spcAft>
                <a:spcPts val="0"/>
              </a:spcAft>
              <a:buClr>
                <a:srgbClr val="1A1A2E"/>
              </a:buClr>
              <a:buSzPts val="1300"/>
              <a:buFont typeface="Arial"/>
              <a:buNone/>
            </a:pPr>
            <a:r>
              <a:rPr lang="en-US" sz="1300">
                <a:solidFill>
                  <a:srgbClr val="1A1A2E"/>
                </a:solidFill>
                <a:latin typeface="Arial"/>
                <a:ea typeface="Arial"/>
                <a:cs typeface="Arial"/>
                <a:sym typeface="Arial"/>
              </a:rPr>
              <a:t>3. Find out where to report a concern on my campus.</a:t>
            </a:r>
            <a:endParaRPr sz="1300">
              <a:solidFill>
                <a:schemeClr val="dk1"/>
              </a:solidFill>
              <a:latin typeface="Calibri"/>
              <a:ea typeface="Calibri"/>
              <a:cs typeface="Calibri"/>
              <a:sym typeface="Calibri"/>
            </a:endParaRPr>
          </a:p>
          <a:p>
            <a:pPr indent="0" lvl="0" marL="0" marR="0" rtl="0" algn="l">
              <a:spcBef>
                <a:spcPts val="1000"/>
              </a:spcBef>
              <a:spcAft>
                <a:spcPts val="0"/>
              </a:spcAft>
              <a:buClr>
                <a:srgbClr val="1A1A2E"/>
              </a:buClr>
              <a:buSzPts val="1300"/>
              <a:buFont typeface="Arial"/>
              <a:buNone/>
            </a:pPr>
            <a:r>
              <a:rPr lang="en-US" sz="1300">
                <a:solidFill>
                  <a:srgbClr val="1A1A2E"/>
                </a:solidFill>
                <a:latin typeface="Arial"/>
                <a:ea typeface="Arial"/>
                <a:cs typeface="Arial"/>
                <a:sym typeface="Arial"/>
              </a:rPr>
              <a:t>4. If I'm worried about myself or someone else, I'll speak to my tutor or the safeguarding team.</a:t>
            </a:r>
            <a:endParaRPr sz="1300">
              <a:solidFill>
                <a:schemeClr val="dk1"/>
              </a:solidFill>
              <a:latin typeface="Calibri"/>
              <a:ea typeface="Calibri"/>
              <a:cs typeface="Calibri"/>
              <a:sym typeface="Calibri"/>
            </a:endParaRPr>
          </a:p>
        </p:txBody>
      </p:sp>
      <p:sp>
        <p:nvSpPr>
          <p:cNvPr id="291" name="Google Shape;291;p13"/>
          <p:cNvSpPr/>
          <p:nvPr/>
        </p:nvSpPr>
        <p:spPr>
          <a:xfrm>
            <a:off x="4754880" y="1536192"/>
            <a:ext cx="4160520" cy="3383280"/>
          </a:xfrm>
          <a:prstGeom prst="roundRect">
            <a:avLst>
              <a:gd fmla="val 2162" name="adj"/>
            </a:avLst>
          </a:prstGeom>
          <a:solidFill>
            <a:srgbClr val="EDE7F6"/>
          </a:solidFill>
          <a:ln>
            <a:noFill/>
          </a:ln>
          <a:effectLst>
            <a:outerShdw blurRad="1016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3"/>
          <p:cNvSpPr/>
          <p:nvPr/>
        </p:nvSpPr>
        <p:spPr>
          <a:xfrm>
            <a:off x="4754880" y="1536192"/>
            <a:ext cx="4160520" cy="438912"/>
          </a:xfrm>
          <a:prstGeom prst="roundRect">
            <a:avLst>
              <a:gd fmla="val 1041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3"/>
          <p:cNvSpPr/>
          <p:nvPr/>
        </p:nvSpPr>
        <p:spPr>
          <a:xfrm>
            <a:off x="4754880" y="1536192"/>
            <a:ext cx="416052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I will challenge...</a:t>
            </a:r>
            <a:endParaRPr sz="1600">
              <a:solidFill>
                <a:schemeClr val="dk1"/>
              </a:solidFill>
              <a:latin typeface="Calibri"/>
              <a:ea typeface="Calibri"/>
              <a:cs typeface="Calibri"/>
              <a:sym typeface="Calibri"/>
            </a:endParaRPr>
          </a:p>
        </p:txBody>
      </p:sp>
      <p:sp>
        <p:nvSpPr>
          <p:cNvPr id="294" name="Google Shape;294;p13"/>
          <p:cNvSpPr/>
          <p:nvPr/>
        </p:nvSpPr>
        <p:spPr>
          <a:xfrm>
            <a:off x="4956048" y="2057400"/>
            <a:ext cx="3758184" cy="27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300"/>
              <a:buFont typeface="Arial"/>
              <a:buNone/>
            </a:pPr>
            <a:r>
              <a:rPr lang="en-US" sz="1300">
                <a:solidFill>
                  <a:srgbClr val="1A1A2E"/>
                </a:solidFill>
                <a:latin typeface="Arial"/>
                <a:ea typeface="Arial"/>
                <a:cs typeface="Arial"/>
                <a:sym typeface="Arial"/>
              </a:rPr>
              <a:t>A. A joke or comment that targets someone's identity — even if it's meant to be funny.</a:t>
            </a:r>
            <a:endParaRPr sz="1300">
              <a:solidFill>
                <a:schemeClr val="dk1"/>
              </a:solidFill>
              <a:latin typeface="Calibri"/>
              <a:ea typeface="Calibri"/>
              <a:cs typeface="Calibri"/>
              <a:sym typeface="Calibri"/>
            </a:endParaRPr>
          </a:p>
          <a:p>
            <a:pPr indent="0" lvl="0" marL="0" marR="0" rtl="0" algn="l">
              <a:spcBef>
                <a:spcPts val="1000"/>
              </a:spcBef>
              <a:spcAft>
                <a:spcPts val="0"/>
              </a:spcAft>
              <a:buClr>
                <a:srgbClr val="1A1A2E"/>
              </a:buClr>
              <a:buSzPts val="1300"/>
              <a:buFont typeface="Arial"/>
              <a:buNone/>
            </a:pPr>
            <a:r>
              <a:rPr lang="en-US" sz="1300">
                <a:solidFill>
                  <a:srgbClr val="1A1A2E"/>
                </a:solidFill>
                <a:latin typeface="Arial"/>
                <a:ea typeface="Arial"/>
                <a:cs typeface="Arial"/>
                <a:sym typeface="Arial"/>
              </a:rPr>
              <a:t>B. A situation where someone is being left out or excluded.</a:t>
            </a:r>
            <a:endParaRPr sz="1300">
              <a:solidFill>
                <a:schemeClr val="dk1"/>
              </a:solidFill>
              <a:latin typeface="Calibri"/>
              <a:ea typeface="Calibri"/>
              <a:cs typeface="Calibri"/>
              <a:sym typeface="Calibri"/>
            </a:endParaRPr>
          </a:p>
          <a:p>
            <a:pPr indent="0" lvl="0" marL="0" marR="0" rtl="0" algn="l">
              <a:spcBef>
                <a:spcPts val="1000"/>
              </a:spcBef>
              <a:spcAft>
                <a:spcPts val="0"/>
              </a:spcAft>
              <a:buClr>
                <a:srgbClr val="1A1A2E"/>
              </a:buClr>
              <a:buSzPts val="1300"/>
              <a:buFont typeface="Arial"/>
              <a:buNone/>
            </a:pPr>
            <a:r>
              <a:rPr lang="en-US" sz="1300">
                <a:solidFill>
                  <a:srgbClr val="1A1A2E"/>
                </a:solidFill>
                <a:latin typeface="Arial"/>
                <a:ea typeface="Arial"/>
                <a:cs typeface="Arial"/>
                <a:sym typeface="Arial"/>
              </a:rPr>
              <a:t>C. Behaviour online that I'd find unacceptable face-to-face.</a:t>
            </a:r>
            <a:endParaRPr sz="1300">
              <a:solidFill>
                <a:schemeClr val="dk1"/>
              </a:solidFill>
              <a:latin typeface="Calibri"/>
              <a:ea typeface="Calibri"/>
              <a:cs typeface="Calibri"/>
              <a:sym typeface="Calibri"/>
            </a:endParaRPr>
          </a:p>
          <a:p>
            <a:pPr indent="0" lvl="0" marL="0" marR="0" rtl="0" algn="l">
              <a:spcBef>
                <a:spcPts val="1000"/>
              </a:spcBef>
              <a:spcAft>
                <a:spcPts val="0"/>
              </a:spcAft>
              <a:buClr>
                <a:srgbClr val="1A1A2E"/>
              </a:buClr>
              <a:buSzPts val="1300"/>
              <a:buFont typeface="Arial"/>
              <a:buNone/>
            </a:pPr>
            <a:r>
              <a:rPr lang="en-US" sz="1300">
                <a:solidFill>
                  <a:srgbClr val="1A1A2E"/>
                </a:solidFill>
                <a:latin typeface="Arial"/>
                <a:ea typeface="Arial"/>
                <a:cs typeface="Arial"/>
                <a:sym typeface="Arial"/>
              </a:rPr>
              <a:t>D. My own assumptions about people who are different from me.</a:t>
            </a:r>
            <a:endParaRPr sz="13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D1F5C"/>
        </a:solidFill>
      </p:bgPr>
    </p:bg>
    <p:spTree>
      <p:nvGrpSpPr>
        <p:cNvPr id="299" name="Shape 299"/>
        <p:cNvGrpSpPr/>
        <p:nvPr/>
      </p:nvGrpSpPr>
      <p:grpSpPr>
        <a:xfrm>
          <a:off x="0" y="0"/>
          <a:ext cx="0" cy="0"/>
          <a:chOff x="0" y="0"/>
          <a:chExt cx="0" cy="0"/>
        </a:xfrm>
      </p:grpSpPr>
      <p:sp>
        <p:nvSpPr>
          <p:cNvPr id="300" name="Google Shape;300;p14"/>
          <p:cNvSpPr/>
          <p:nvPr/>
        </p:nvSpPr>
        <p:spPr>
          <a:xfrm>
            <a:off x="6583680" y="2103120"/>
            <a:ext cx="3840480" cy="3840480"/>
          </a:xfrm>
          <a:prstGeom prst="ellipse">
            <a:avLst/>
          </a:prstGeom>
          <a:solidFill>
            <a:srgbClr val="592C82">
              <a:alpha val="45098"/>
            </a:srgbClr>
          </a:solidFill>
          <a:ln cap="flat" cmpd="sng" w="12700">
            <a:solidFill>
              <a:srgbClr val="592C8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4"/>
          <p:cNvSpPr/>
          <p:nvPr/>
        </p:nvSpPr>
        <p:spPr>
          <a:xfrm>
            <a:off x="7818120" y="182880"/>
            <a:ext cx="1051560" cy="347472"/>
          </a:xfrm>
          <a:prstGeom prst="roundRect">
            <a:avLst>
              <a:gd fmla="val 13158" name="adj"/>
            </a:avLst>
          </a:prstGeom>
          <a:solidFill>
            <a:srgbClr val="F5A6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4"/>
          <p:cNvSpPr/>
          <p:nvPr/>
        </p:nvSpPr>
        <p:spPr>
          <a:xfrm>
            <a:off x="7818120" y="18288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L3 Year 1</a:t>
            </a:r>
            <a:endParaRPr sz="900">
              <a:solidFill>
                <a:schemeClr val="dk1"/>
              </a:solidFill>
              <a:latin typeface="Calibri"/>
              <a:ea typeface="Calibri"/>
              <a:cs typeface="Calibri"/>
              <a:sym typeface="Calibri"/>
            </a:endParaRPr>
          </a:p>
        </p:txBody>
      </p:sp>
      <p:sp>
        <p:nvSpPr>
          <p:cNvPr id="303" name="Google Shape;303;p14"/>
          <p:cNvSpPr/>
          <p:nvPr/>
        </p:nvSpPr>
        <p:spPr>
          <a:xfrm>
            <a:off x="457200" y="365760"/>
            <a:ext cx="6858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Module E — complete.</a:t>
            </a:r>
            <a:endParaRPr sz="3200">
              <a:solidFill>
                <a:schemeClr val="dk1"/>
              </a:solidFill>
              <a:latin typeface="Calibri"/>
              <a:ea typeface="Calibri"/>
              <a:cs typeface="Calibri"/>
              <a:sym typeface="Calibri"/>
            </a:endParaRPr>
          </a:p>
        </p:txBody>
      </p:sp>
      <p:sp>
        <p:nvSpPr>
          <p:cNvPr id="304" name="Google Shape;304;p14"/>
          <p:cNvSpPr/>
          <p:nvPr/>
        </p:nvSpPr>
        <p:spPr>
          <a:xfrm>
            <a:off x="457200" y="1188720"/>
            <a:ext cx="621792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D8C8F0"/>
              </a:buClr>
              <a:buSzPts val="1400"/>
              <a:buFont typeface="Arial"/>
              <a:buChar char="•"/>
            </a:pPr>
            <a:r>
              <a:rPr lang="en-US" sz="1400">
                <a:solidFill>
                  <a:srgbClr val="D8C8F0"/>
                </a:solidFill>
                <a:latin typeface="Arial"/>
                <a:ea typeface="Arial"/>
                <a:cs typeface="Arial"/>
                <a:sym typeface="Arial"/>
              </a:rPr>
              <a:t>PROUD Values — who we are and what we require of each other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D8C8F0"/>
              </a:buClr>
              <a:buSzPts val="1400"/>
              <a:buFont typeface="Arial"/>
              <a:buChar char="•"/>
            </a:pPr>
            <a:r>
              <a:rPr lang="en-US" sz="1400">
                <a:solidFill>
                  <a:srgbClr val="D8C8F0"/>
                </a:solidFill>
                <a:latin typeface="Arial"/>
                <a:ea typeface="Arial"/>
                <a:cs typeface="Arial"/>
                <a:sym typeface="Arial"/>
              </a:rPr>
              <a:t>British Values — the civic framework we operate within</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D8C8F0"/>
              </a:buClr>
              <a:buSzPts val="1400"/>
              <a:buFont typeface="Arial"/>
              <a:buChar char="•"/>
            </a:pPr>
            <a:r>
              <a:rPr lang="en-US" sz="1400">
                <a:solidFill>
                  <a:srgbClr val="D8C8F0"/>
                </a:solidFill>
                <a:latin typeface="Arial"/>
                <a:ea typeface="Arial"/>
                <a:cs typeface="Arial"/>
                <a:sym typeface="Arial"/>
              </a:rPr>
              <a:t>Equality Act 2010 — legal protection for everyone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D8C8F0"/>
              </a:buClr>
              <a:buSzPts val="1400"/>
              <a:buFont typeface="Arial"/>
              <a:buChar char="•"/>
            </a:pPr>
            <a:r>
              <a:rPr lang="en-US" sz="1400">
                <a:solidFill>
                  <a:srgbClr val="D8C8F0"/>
                </a:solidFill>
                <a:latin typeface="Arial"/>
                <a:ea typeface="Arial"/>
                <a:cs typeface="Arial"/>
                <a:sym typeface="Arial"/>
              </a:rPr>
              <a:t>Standards of behaviour — college, placement, and online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D8C8F0"/>
              </a:buClr>
              <a:buSzPts val="1400"/>
              <a:buFont typeface="Arial"/>
              <a:buChar char="•"/>
            </a:pPr>
            <a:r>
              <a:rPr lang="en-US" sz="1400">
                <a:solidFill>
                  <a:srgbClr val="D8C8F0"/>
                </a:solidFill>
                <a:latin typeface="Arial"/>
                <a:ea typeface="Arial"/>
                <a:cs typeface="Arial"/>
                <a:sym typeface="Arial"/>
              </a:rPr>
              <a:t>Zero tolerance — what it means, what the consequences are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D8C8F0"/>
              </a:buClr>
              <a:buSzPts val="1400"/>
              <a:buFont typeface="Arial"/>
              <a:buChar char="•"/>
            </a:pPr>
            <a:r>
              <a:rPr lang="en-US" sz="1400">
                <a:solidFill>
                  <a:srgbClr val="D8C8F0"/>
                </a:solidFill>
                <a:latin typeface="Arial"/>
                <a:ea typeface="Arial"/>
                <a:cs typeface="Arial"/>
                <a:sym typeface="Arial"/>
              </a:rPr>
              <a:t>How to report — three routes, always taken seriously</a:t>
            </a:r>
            <a:endParaRPr sz="1400">
              <a:solidFill>
                <a:schemeClr val="dk1"/>
              </a:solidFill>
              <a:latin typeface="Calibri"/>
              <a:ea typeface="Calibri"/>
              <a:cs typeface="Calibri"/>
              <a:sym typeface="Calibri"/>
            </a:endParaRPr>
          </a:p>
        </p:txBody>
      </p:sp>
      <p:sp>
        <p:nvSpPr>
          <p:cNvPr id="305" name="Google Shape;305;p14"/>
          <p:cNvSpPr/>
          <p:nvPr/>
        </p:nvSpPr>
        <p:spPr>
          <a:xfrm>
            <a:off x="457200" y="3977640"/>
            <a:ext cx="5943600" cy="594360"/>
          </a:xfrm>
          <a:prstGeom prst="roundRect">
            <a:avLst>
              <a:gd fmla="val 12308" name="adj"/>
            </a:avLst>
          </a:prstGeom>
          <a:solidFill>
            <a:srgbClr val="F5A623">
              <a:alpha val="9019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4"/>
          <p:cNvSpPr/>
          <p:nvPr/>
        </p:nvSpPr>
        <p:spPr>
          <a:xfrm>
            <a:off x="594360" y="3977640"/>
            <a:ext cx="56692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lang="en-US" sz="1400">
                <a:solidFill>
                  <a:srgbClr val="FFFFFF"/>
                </a:solidFill>
                <a:latin typeface="Arial"/>
                <a:ea typeface="Arial"/>
                <a:cs typeface="Arial"/>
                <a:sym typeface="Arial"/>
              </a:rPr>
              <a:t>Next: Module F — Safeguarding: Staying Safe at College</a:t>
            </a:r>
            <a:endParaRPr sz="1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C"/>
        </a:solidFill>
      </p:bgPr>
    </p:bg>
    <p:spTree>
      <p:nvGrpSpPr>
        <p:cNvPr id="311" name="Shape 311"/>
        <p:cNvGrpSpPr/>
        <p:nvPr/>
      </p:nvGrpSpPr>
      <p:grpSpPr>
        <a:xfrm>
          <a:off x="0" y="0"/>
          <a:ext cx="0" cy="0"/>
          <a:chOff x="0" y="0"/>
          <a:chExt cx="0" cy="0"/>
        </a:xfrm>
      </p:grpSpPr>
      <p:sp>
        <p:nvSpPr>
          <p:cNvPr id="312" name="Google Shape;312;p15"/>
          <p:cNvSpPr/>
          <p:nvPr/>
        </p:nvSpPr>
        <p:spPr>
          <a:xfrm>
            <a:off x="0" y="0"/>
            <a:ext cx="9144000" cy="777300"/>
          </a:xfrm>
          <a:prstGeom prst="rect">
            <a:avLst/>
          </a:prstGeom>
          <a:solidFill>
            <a:srgbClr val="3D1F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5"/>
          <p:cNvSpPr/>
          <p:nvPr/>
        </p:nvSpPr>
        <p:spPr>
          <a:xfrm>
            <a:off x="365760" y="109728"/>
            <a:ext cx="8412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Teacher Appendix — Module E (L3 Year 1)</a:t>
            </a:r>
            <a:endParaRPr sz="1800">
              <a:solidFill>
                <a:schemeClr val="dk1"/>
              </a:solidFill>
              <a:latin typeface="Calibri"/>
              <a:ea typeface="Calibri"/>
              <a:cs typeface="Calibri"/>
              <a:sym typeface="Calibri"/>
            </a:endParaRPr>
          </a:p>
        </p:txBody>
      </p:sp>
      <p:sp>
        <p:nvSpPr>
          <p:cNvPr id="314" name="Google Shape;314;p15"/>
          <p:cNvSpPr/>
          <p:nvPr/>
        </p:nvSpPr>
        <p:spPr>
          <a:xfrm>
            <a:off x="365750" y="868669"/>
            <a:ext cx="8412600" cy="44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lang="en-US" sz="1000">
                <a:solidFill>
                  <a:srgbClr val="592C82"/>
                </a:solidFill>
                <a:latin typeface="Arial"/>
                <a:ea typeface="Arial"/>
                <a:cs typeface="Arial"/>
                <a:sym typeface="Arial"/>
              </a:rPr>
              <a:t>Session intent</a:t>
            </a:r>
            <a:endParaRPr sz="1000">
              <a:solidFill>
                <a:schemeClr val="dk1"/>
              </a:solidFill>
              <a:latin typeface="Calibri"/>
              <a:ea typeface="Calibri"/>
              <a:cs typeface="Calibri"/>
              <a:sym typeface="Calibri"/>
            </a:endParaRPr>
          </a:p>
        </p:txBody>
      </p:sp>
      <p:sp>
        <p:nvSpPr>
          <p:cNvPr id="315" name="Google Shape;315;p15"/>
          <p:cNvSpPr/>
          <p:nvPr/>
        </p:nvSpPr>
        <p:spPr>
          <a:xfrm>
            <a:off x="365750" y="1311710"/>
            <a:ext cx="8412600" cy="72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950"/>
              <a:buFont typeface="Arial"/>
              <a:buNone/>
            </a:pPr>
            <a:r>
              <a:rPr lang="en-US" sz="950">
                <a:solidFill>
                  <a:srgbClr val="1A1A2E"/>
                </a:solidFill>
                <a:latin typeface="Arial"/>
                <a:ea typeface="Arial"/>
                <a:cs typeface="Arial"/>
                <a:sym typeface="Arial"/>
              </a:rPr>
              <a:t>This module introduces the full PROUD values framework explicitly for the first time. It is also the statutory delivery of British Values and Equality Act content. Tone should be normative and confident — this is who we are, not a list of rules to memorise.</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CC5500"/>
              </a:buClr>
              <a:buSzPts val="950"/>
              <a:buFont typeface="Arial"/>
              <a:buNone/>
            </a:pPr>
            <a:r>
              <a:rPr i="1" lang="en-US" sz="950">
                <a:solidFill>
                  <a:srgbClr val="CC5500"/>
                </a:solidFill>
                <a:latin typeface="Arial"/>
                <a:ea typeface="Arial"/>
                <a:cs typeface="Arial"/>
                <a:sym typeface="Arial"/>
              </a:rPr>
              <a:t>Level 3 Digital and Media students often arrive confident in their creative practice but with limited awareness of professional accountability — particularly around copyright, consent, and data handling. Students on T Level programmes begin industry placement in Year 1; the professional conduct content is not theoretical for this group. Students producing live content (radio, magazine, film) encounter real legal and ethical responsibilities quickly, and may not yet recognise them as such.</a:t>
            </a:r>
            <a:endParaRPr/>
          </a:p>
        </p:txBody>
      </p:sp>
      <p:sp>
        <p:nvSpPr>
          <p:cNvPr id="316" name="Google Shape;316;p15"/>
          <p:cNvSpPr/>
          <p:nvPr/>
        </p:nvSpPr>
        <p:spPr>
          <a:xfrm>
            <a:off x="365750" y="2137378"/>
            <a:ext cx="8412600" cy="44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lang="en-US" sz="1000">
                <a:solidFill>
                  <a:srgbClr val="592C82"/>
                </a:solidFill>
                <a:latin typeface="Arial"/>
                <a:ea typeface="Arial"/>
                <a:cs typeface="Arial"/>
                <a:sym typeface="Arial"/>
              </a:rPr>
              <a:t>Slide 3 — activator (task)</a:t>
            </a:r>
            <a:endParaRPr sz="1000">
              <a:solidFill>
                <a:schemeClr val="dk1"/>
              </a:solidFill>
              <a:latin typeface="Calibri"/>
              <a:ea typeface="Calibri"/>
              <a:cs typeface="Calibri"/>
              <a:sym typeface="Calibri"/>
            </a:endParaRPr>
          </a:p>
        </p:txBody>
      </p:sp>
      <p:sp>
        <p:nvSpPr>
          <p:cNvPr id="317" name="Google Shape;317;p15"/>
          <p:cNvSpPr/>
          <p:nvPr/>
        </p:nvSpPr>
        <p:spPr>
          <a:xfrm>
            <a:off x="365750" y="2580419"/>
            <a:ext cx="8412600" cy="72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950"/>
              <a:buFont typeface="Arial"/>
              <a:buNone/>
            </a:pPr>
            <a:r>
              <a:rPr lang="en-US" sz="950">
                <a:solidFill>
                  <a:srgbClr val="1A1A2E"/>
                </a:solidFill>
                <a:latin typeface="Arial"/>
                <a:ea typeface="Arial"/>
                <a:cs typeface="Arial"/>
                <a:sym typeface="Arial"/>
              </a:rPr>
              <a:t>Allow 4–5 minutes think-pair-share. The school/college/workplace comparison usually surfaces quickly that college expects students to self-regulate rather than be managed. That's the bridge into PROUD.</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CC5500"/>
              </a:buClr>
              <a:buSzPts val="950"/>
              <a:buFont typeface="Arial"/>
              <a:buNone/>
            </a:pPr>
            <a:r>
              <a:rPr i="1" lang="en-US" sz="950">
                <a:solidFill>
                  <a:srgbClr val="CC5500"/>
                </a:solidFill>
                <a:latin typeface="Arial"/>
                <a:ea typeface="Arial"/>
                <a:cs typeface="Arial"/>
                <a:sym typeface="Arial"/>
              </a:rPr>
              <a:t>Creative work that draws on personal experience can surface disclosures — particularly in film, content creation, and journalism projects. Industry placement students may surface workplace welfare concerns from the first placement; escalate these promptly.</a:t>
            </a:r>
            <a:endParaRPr/>
          </a:p>
        </p:txBody>
      </p:sp>
      <p:sp>
        <p:nvSpPr>
          <p:cNvPr id="318" name="Google Shape;318;p15"/>
          <p:cNvSpPr/>
          <p:nvPr/>
        </p:nvSpPr>
        <p:spPr>
          <a:xfrm>
            <a:off x="365750" y="3406086"/>
            <a:ext cx="8412600" cy="44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lang="en-US" sz="1000">
                <a:solidFill>
                  <a:srgbClr val="592C82"/>
                </a:solidFill>
                <a:latin typeface="Arial"/>
                <a:ea typeface="Arial"/>
                <a:cs typeface="Arial"/>
                <a:sym typeface="Arial"/>
              </a:rPr>
              <a:t>Slide 5 — British Values task</a:t>
            </a:r>
            <a:endParaRPr sz="1000">
              <a:solidFill>
                <a:schemeClr val="dk1"/>
              </a:solidFill>
              <a:latin typeface="Calibri"/>
              <a:ea typeface="Calibri"/>
              <a:cs typeface="Calibri"/>
              <a:sym typeface="Calibri"/>
            </a:endParaRPr>
          </a:p>
        </p:txBody>
      </p:sp>
      <p:sp>
        <p:nvSpPr>
          <p:cNvPr id="319" name="Google Shape;319;p15"/>
          <p:cNvSpPr/>
          <p:nvPr/>
        </p:nvSpPr>
        <p:spPr>
          <a:xfrm>
            <a:off x="365750" y="3849128"/>
            <a:ext cx="8412600" cy="72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950"/>
              <a:buFont typeface="Arial"/>
              <a:buNone/>
            </a:pPr>
            <a:r>
              <a:rPr lang="en-US" sz="950">
                <a:solidFill>
                  <a:srgbClr val="1A1A2E"/>
                </a:solidFill>
                <a:latin typeface="Arial"/>
                <a:ea typeface="Arial"/>
                <a:cs typeface="Arial"/>
                <a:sym typeface="Arial"/>
              </a:rPr>
              <a:t>Paired discussion — 3 minutes. Students identify one real example they have already seen at ESCG. Draw out responses. Good examples: student elections (Democracy), equality policy (Rule of Law), dress code choice (Individual Liberty).</a:t>
            </a:r>
            <a:endParaRPr sz="9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C"/>
        </a:solidFill>
      </p:bgPr>
    </p:bg>
    <p:spTree>
      <p:nvGrpSpPr>
        <p:cNvPr id="324" name="Shape 324"/>
        <p:cNvGrpSpPr/>
        <p:nvPr/>
      </p:nvGrpSpPr>
      <p:grpSpPr>
        <a:xfrm>
          <a:off x="0" y="0"/>
          <a:ext cx="0" cy="0"/>
          <a:chOff x="0" y="0"/>
          <a:chExt cx="0" cy="0"/>
        </a:xfrm>
      </p:grpSpPr>
      <p:sp>
        <p:nvSpPr>
          <p:cNvPr id="325" name="Google Shape;325;p16"/>
          <p:cNvSpPr/>
          <p:nvPr/>
        </p:nvSpPr>
        <p:spPr>
          <a:xfrm>
            <a:off x="0" y="0"/>
            <a:ext cx="9144000" cy="777240"/>
          </a:xfrm>
          <a:prstGeom prst="rect">
            <a:avLst/>
          </a:prstGeom>
          <a:solidFill>
            <a:srgbClr val="3D1F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6"/>
          <p:cNvSpPr/>
          <p:nvPr/>
        </p:nvSpPr>
        <p:spPr>
          <a:xfrm>
            <a:off x="365760" y="109728"/>
            <a:ext cx="8412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Teacher Appendix — Module E (L3 Year 1)</a:t>
            </a:r>
            <a:endParaRPr sz="1800">
              <a:solidFill>
                <a:schemeClr val="dk1"/>
              </a:solidFill>
              <a:latin typeface="Calibri"/>
              <a:ea typeface="Calibri"/>
              <a:cs typeface="Calibri"/>
              <a:sym typeface="Calibri"/>
            </a:endParaRPr>
          </a:p>
        </p:txBody>
      </p:sp>
      <p:sp>
        <p:nvSpPr>
          <p:cNvPr id="327" name="Google Shape;327;p16"/>
          <p:cNvSpPr/>
          <p:nvPr/>
        </p:nvSpPr>
        <p:spPr>
          <a:xfrm>
            <a:off x="365750" y="1011371"/>
            <a:ext cx="8412600" cy="34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lang="en-US" sz="1000">
                <a:solidFill>
                  <a:srgbClr val="592C82"/>
                </a:solidFill>
                <a:latin typeface="Arial"/>
                <a:ea typeface="Arial"/>
                <a:cs typeface="Arial"/>
                <a:sym typeface="Arial"/>
              </a:rPr>
              <a:t>Slide 6 — Equality Act scenario task</a:t>
            </a:r>
            <a:endParaRPr sz="1000">
              <a:solidFill>
                <a:schemeClr val="dk1"/>
              </a:solidFill>
              <a:latin typeface="Calibri"/>
              <a:ea typeface="Calibri"/>
              <a:cs typeface="Calibri"/>
              <a:sym typeface="Calibri"/>
            </a:endParaRPr>
          </a:p>
        </p:txBody>
      </p:sp>
      <p:sp>
        <p:nvSpPr>
          <p:cNvPr id="328" name="Google Shape;328;p16"/>
          <p:cNvSpPr/>
          <p:nvPr/>
        </p:nvSpPr>
        <p:spPr>
          <a:xfrm>
            <a:off x="365750" y="1353765"/>
            <a:ext cx="8412600" cy="56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950"/>
              <a:buFont typeface="Arial"/>
              <a:buNone/>
            </a:pPr>
            <a:r>
              <a:rPr lang="en-US" sz="950">
                <a:solidFill>
                  <a:srgbClr val="1A1A2E"/>
                </a:solidFill>
                <a:latin typeface="Arial"/>
                <a:ea typeface="Arial"/>
                <a:cs typeface="Arial"/>
                <a:sym typeface="Arial"/>
              </a:rPr>
              <a:t>Present the scenario verbally: 'A student is repeatedly left out of group work because of their religion.' Ask: is this discrimination, harassment, or victimisation? There is a case for all three — the point is to apply the definitions, not find one right answer.</a:t>
            </a:r>
            <a:endParaRPr sz="950">
              <a:solidFill>
                <a:schemeClr val="dk1"/>
              </a:solidFill>
              <a:latin typeface="Calibri"/>
              <a:ea typeface="Calibri"/>
              <a:cs typeface="Calibri"/>
              <a:sym typeface="Calibri"/>
            </a:endParaRPr>
          </a:p>
        </p:txBody>
      </p:sp>
      <p:sp>
        <p:nvSpPr>
          <p:cNvPr id="329" name="Google Shape;329;p16"/>
          <p:cNvSpPr/>
          <p:nvPr/>
        </p:nvSpPr>
        <p:spPr>
          <a:xfrm>
            <a:off x="365750" y="1991861"/>
            <a:ext cx="8412600" cy="34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lang="en-US" sz="1000">
                <a:solidFill>
                  <a:srgbClr val="592C82"/>
                </a:solidFill>
                <a:latin typeface="Arial"/>
                <a:ea typeface="Arial"/>
                <a:cs typeface="Arial"/>
                <a:sym typeface="Arial"/>
              </a:rPr>
              <a:t>Slide 7 — Spot it task: ready-to-use scenarios</a:t>
            </a:r>
            <a:endParaRPr sz="1000">
              <a:solidFill>
                <a:schemeClr val="dk1"/>
              </a:solidFill>
              <a:latin typeface="Calibri"/>
              <a:ea typeface="Calibri"/>
              <a:cs typeface="Calibri"/>
              <a:sym typeface="Calibri"/>
            </a:endParaRPr>
          </a:p>
        </p:txBody>
      </p:sp>
      <p:sp>
        <p:nvSpPr>
          <p:cNvPr id="330" name="Google Shape;330;p16"/>
          <p:cNvSpPr/>
          <p:nvPr/>
        </p:nvSpPr>
        <p:spPr>
          <a:xfrm>
            <a:off x="365750" y="2334255"/>
            <a:ext cx="8412600" cy="56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950"/>
              <a:buFont typeface="Arial"/>
              <a:buNone/>
            </a:pPr>
            <a:r>
              <a:rPr lang="en-US" sz="950">
                <a:solidFill>
                  <a:srgbClr val="1A1A2E"/>
                </a:solidFill>
                <a:latin typeface="Arial"/>
                <a:ea typeface="Arial"/>
                <a:cs typeface="Arial"/>
                <a:sym typeface="Arial"/>
              </a:rPr>
              <a:t>Read each scenario aloud. Ask students to identify what's wrong and what should happen. All three answers are valid discussion — there is no single right answer.</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CC5500"/>
              </a:buClr>
              <a:buSzPts val="950"/>
              <a:buFont typeface="Arial"/>
              <a:buNone/>
            </a:pPr>
            <a:r>
              <a:rPr i="1" lang="en-US" sz="950">
                <a:solidFill>
                  <a:srgbClr val="CC5500"/>
                </a:solidFill>
                <a:latin typeface="Arial"/>
                <a:ea typeface="Arial"/>
                <a:cs typeface="Arial"/>
                <a:sym typeface="Arial"/>
              </a:rPr>
              <a:t>In these teacher notes, "placement" or "work placement" refers to industry placement, production placement, Employer Set Project, or any live client brief.</a:t>
            </a:r>
            <a:endParaRPr/>
          </a:p>
        </p:txBody>
      </p:sp>
      <p:sp>
        <p:nvSpPr>
          <p:cNvPr id="331" name="Google Shape;331;p16"/>
          <p:cNvSpPr/>
          <p:nvPr/>
        </p:nvSpPr>
        <p:spPr>
          <a:xfrm>
            <a:off x="365750" y="2972351"/>
            <a:ext cx="8412600" cy="34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lang="en-US" sz="1000">
                <a:solidFill>
                  <a:srgbClr val="592C82"/>
                </a:solidFill>
                <a:latin typeface="Arial"/>
                <a:ea typeface="Arial"/>
                <a:cs typeface="Arial"/>
                <a:sym typeface="Arial"/>
              </a:rPr>
              <a:t>In College</a:t>
            </a:r>
            <a:endParaRPr sz="1000">
              <a:solidFill>
                <a:schemeClr val="dk1"/>
              </a:solidFill>
              <a:latin typeface="Calibri"/>
              <a:ea typeface="Calibri"/>
              <a:cs typeface="Calibri"/>
              <a:sym typeface="Calibri"/>
            </a:endParaRPr>
          </a:p>
        </p:txBody>
      </p:sp>
      <p:sp>
        <p:nvSpPr>
          <p:cNvPr id="332" name="Google Shape;332;p16"/>
          <p:cNvSpPr/>
          <p:nvPr/>
        </p:nvSpPr>
        <p:spPr>
          <a:xfrm>
            <a:off x="365750" y="3314745"/>
            <a:ext cx="8412600" cy="56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950"/>
              <a:buFont typeface="Arial"/>
              <a:buNone/>
            </a:pPr>
            <a:r>
              <a:rPr lang="en-US" sz="950">
                <a:solidFill>
                  <a:srgbClr val="1A1A2E"/>
                </a:solidFill>
                <a:latin typeface="Arial"/>
                <a:ea typeface="Arial"/>
                <a:cs typeface="Arial"/>
                <a:sym typeface="Arial"/>
              </a:rPr>
              <a:t>A student in your group has been making comments about another student's accent every lesson. The other student hasn't said anything but has stopped contributing to group work. What's wrong? What should happen?</a:t>
            </a:r>
            <a:endParaRPr sz="950">
              <a:solidFill>
                <a:schemeClr val="dk1"/>
              </a:solidFill>
              <a:latin typeface="Calibri"/>
              <a:ea typeface="Calibri"/>
              <a:cs typeface="Calibri"/>
              <a:sym typeface="Calibri"/>
            </a:endParaRPr>
          </a:p>
        </p:txBody>
      </p:sp>
      <p:sp>
        <p:nvSpPr>
          <p:cNvPr id="333" name="Google Shape;333;p16"/>
          <p:cNvSpPr/>
          <p:nvPr/>
        </p:nvSpPr>
        <p:spPr>
          <a:xfrm>
            <a:off x="365750" y="3952841"/>
            <a:ext cx="8412600" cy="34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lang="en-US" sz="1000">
                <a:solidFill>
                  <a:srgbClr val="592C82"/>
                </a:solidFill>
                <a:latin typeface="Arial"/>
                <a:ea typeface="Arial"/>
                <a:cs typeface="Arial"/>
                <a:sym typeface="Arial"/>
              </a:rPr>
              <a:t>On Placement</a:t>
            </a:r>
            <a:endParaRPr sz="1000">
              <a:solidFill>
                <a:schemeClr val="dk1"/>
              </a:solidFill>
              <a:latin typeface="Calibri"/>
              <a:ea typeface="Calibri"/>
              <a:cs typeface="Calibri"/>
              <a:sym typeface="Calibri"/>
            </a:endParaRPr>
          </a:p>
        </p:txBody>
      </p:sp>
      <p:sp>
        <p:nvSpPr>
          <p:cNvPr id="334" name="Google Shape;334;p16"/>
          <p:cNvSpPr/>
          <p:nvPr/>
        </p:nvSpPr>
        <p:spPr>
          <a:xfrm>
            <a:off x="365750" y="4295235"/>
            <a:ext cx="8412600" cy="56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950"/>
              <a:buFont typeface="Arial"/>
              <a:buNone/>
            </a:pPr>
            <a:r>
              <a:rPr lang="en-US" sz="950">
                <a:solidFill>
                  <a:srgbClr val="1A1A2E"/>
                </a:solidFill>
                <a:latin typeface="Arial"/>
                <a:ea typeface="Arial"/>
                <a:cs typeface="Arial"/>
                <a:sym typeface="Arial"/>
              </a:rPr>
              <a:t>A student on work placement sees their supervisor shout at a colleague in front of everyone for making a mistake. The student isn't sure if this is just how workplaces are. What's wrong? What should happen?</a:t>
            </a:r>
            <a:endParaRPr sz="9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