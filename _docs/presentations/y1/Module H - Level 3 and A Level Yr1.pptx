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Lst>
  <p:sldSz cy="6858000" cx="12191675"/>
  <p:notesSz cx="6858000" cy="12191675"/>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5" Type="http://schemas.openxmlformats.org/officeDocument/2006/relationships/slide" Target="slides/slide2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 name="Shape 17"/>
        <p:cNvGrpSpPr/>
        <p:nvPr/>
      </p:nvGrpSpPr>
      <p:grpSpPr>
        <a:xfrm>
          <a:off x="0" y="0"/>
          <a:ext cx="0" cy="0"/>
          <a:chOff x="0" y="0"/>
          <a:chExt cx="0" cy="0"/>
        </a:xfrm>
      </p:grpSpPr>
      <p:sp>
        <p:nvSpPr>
          <p:cNvPr id="18" name="Google Shape;1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 name="Google Shape;19;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Level 3 pitch: sentences stay short, the demand goes up. Address them as people who own their own progress — that is the actual step-change from Level 2.</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US">
                <a:solidFill>
                  <a:srgbClr val="B34700"/>
                </a:solidFill>
              </a:rPr>
              <a:t>Inferred — please review. This deck covers a wide cohort: Content Creation and Cybersecurity at Eastbourne, Games Art and Film Production at Hastings, T Levels at Hastings (Ore) and Lewes, and Media, Film Studies and Photography A Levels. Two patterns recur. First, students who chose a creative course expecting no exams — the Creative and Design T Level carries a 2.5-hour written paper and Media A Level is 70% examined. Second, students who underestimate the independent study named on their own course page: ten hours a week on Content Creation Level 3. A Level students also arrive expecting Media and Film to be the lighter option and meet real analytical demand instead. Name all of this in week one so the challenge in this deck is pitched, not merely delivered.</a:t>
            </a:r>
            <a:endParaRPr/>
          </a:p>
        </p:txBody>
      </p:sp>
      <p:sp>
        <p:nvSpPr>
          <p:cNvPr id="20" name="Google Shape;20;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 name="Shape 30"/>
        <p:cNvGrpSpPr/>
        <p:nvPr/>
      </p:nvGrpSpPr>
      <p:grpSpPr>
        <a:xfrm>
          <a:off x="0" y="0"/>
          <a:ext cx="0" cy="0"/>
          <a:chOff x="0" y="0"/>
          <a:chExt cx="0" cy="0"/>
        </a:xfrm>
      </p:grpSpPr>
      <p:sp>
        <p:nvSpPr>
          <p:cNvPr id="31" name="Google Shape;3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 name="Google Shape;32;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 name="Google Shape;33;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 name="Shape 36"/>
        <p:cNvGrpSpPr/>
        <p:nvPr/>
      </p:nvGrpSpPr>
      <p:grpSpPr>
        <a:xfrm>
          <a:off x="0" y="0"/>
          <a:ext cx="0" cy="0"/>
          <a:chOff x="0" y="0"/>
          <a:chExt cx="0" cy="0"/>
        </a:xfrm>
      </p:grpSpPr>
      <p:sp>
        <p:nvSpPr>
          <p:cNvPr id="37" name="Google Shape;3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 name="Google Shape;38;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 name="Google Shape;39;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 name="Shape 42"/>
        <p:cNvGrpSpPr/>
        <p:nvPr/>
      </p:nvGrpSpPr>
      <p:grpSpPr>
        <a:xfrm>
          <a:off x="0" y="0"/>
          <a:ext cx="0" cy="0"/>
          <a:chOff x="0" y="0"/>
          <a:chExt cx="0" cy="0"/>
        </a:xfrm>
      </p:grpSpPr>
      <p:sp>
        <p:nvSpPr>
          <p:cNvPr id="43" name="Google Shape;4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 name="Google Shape;4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 name="Google Shape;45;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 name="Shape 48"/>
        <p:cNvGrpSpPr/>
        <p:nvPr/>
      </p:nvGrpSpPr>
      <p:grpSpPr>
        <a:xfrm>
          <a:off x="0" y="0"/>
          <a:ext cx="0" cy="0"/>
          <a:chOff x="0" y="0"/>
          <a:chExt cx="0" cy="0"/>
        </a:xfrm>
      </p:grpSpPr>
      <p:sp>
        <p:nvSpPr>
          <p:cNvPr id="49" name="Google Shape;4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 name="Google Shape;50;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Consent is a real, assessed professional standard across this department: filming consent, copyright, defamation and editorial ethics are named on the Content Creation Level 3 and T Level pages, and the Photography A Level page requires consent from every subject photographed. The scenario is chosen to be recognisable and to make the duty-of-care point concrete rather than abstract.</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US">
                <a:solidFill>
                  <a:srgbClr val="B34700"/>
                </a:solidFill>
              </a:rPr>
              <a:t>A cyber alternative for the Cybersecurity and Digital T Level groups: "During a lab you find a real weakness on a system that is not part of the exercise. You…" — this puts the Computer Misuse Act 1990 in front of students in week one rather than in Year 2. Inferred — please review: likely disclosure triggers include personal material surfacing in self-directed film, photography and journalism work, and unlawful online activity a student may already be involved in. Agree the response route before delivery.</a:t>
            </a:r>
            <a:endParaRPr/>
          </a:p>
        </p:txBody>
      </p:sp>
      <p:sp>
        <p:nvSpPr>
          <p:cNvPr id="51" name="Google Shape;51;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 name="Google Shape;72;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 name="Google Shape;73;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 name="Google Shape;78;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Every route listed appears on the ESCG Level 3, T Level and A Level pages for this department. The BA (Hons) progression at University Centre Hastings is named on both the Games Art and Animation and the Photography A Level pages, and it consistently surprises students who had assumed a degree meant moving away. Lead with it for Hastings-based students.</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US">
                <a:solidFill>
                  <a:srgbClr val="B34700"/>
                </a:solidFill>
              </a:rPr>
              <a:t>TO CONFIRM before delivery: check degree entry requirements, UCAS tariff points and apprenticeship windows with your Head of Curriculum and the current course pages. Close these published gaps first — the awarding body is not stated for Cybersecurity and Digital Systems Level 3, Film Production Level 3, Media Studies A Level at Hastings, Film Studies A Level at Hastings, or Photography A Level at Lewes. Until those are confirmed, students cannot be given correct UCAS values, specification materials or past papers. Record who confirmed it and when.</a:t>
            </a:r>
            <a:endParaRPr/>
          </a:p>
        </p:txBody>
      </p:sp>
      <p:sp>
        <p:nvSpPr>
          <p:cNvPr id="79" name="Google Shape;79;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 name="Google Shape;94;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 name="Google Shape;95;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 name="Google Shape;100;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Roles drawn from the progression sections of the Level 3, T Level and A Level pages across this department, spanning media, film, games, photography and cyber so the whole cohort is represented. The Cyber T Level page is unusually specific about destinations — SOC Analyst, Cybersecurity Technician, Infrastructure Technician — and that specificity is itself motivating. Use it.</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US">
                <a:solidFill>
                  <a:srgbClr val="B34700"/>
                </a:solidFill>
              </a:rPr>
              <a:t>The entry-route misconception to correct in week one: that a creative course means no exams. The Creative and Design T Level carries a 2.5-hour written paper on media law and audience research; Media A Level is 70% examined; Film Studies at Lewes is 70% examined. Inferred — please review: "FE lecturer or technician" and "studio manager" are reasonable sector roles but are not named on the ESCG course pages — check before presenting them as ESCG progression.</a:t>
            </a:r>
            <a:endParaRPr/>
          </a:p>
        </p:txBody>
      </p:sp>
      <p:sp>
        <p:nvSpPr>
          <p:cNvPr id="101" name="Google Shape;101;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 name="Google Shape;113;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 name="Google Shape;114;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 name="Google Shape;119;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 name="Google Shape;120;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 name="Google Shape;125;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 name="Google Shape;126;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 name="Google Shape;131;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 name="Google Shape;132;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 name="Google Shape;137;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Anchored to real assessed activity in this department: Eastbourne Youth Radio and Tag magazine on Content Creation Level 3, the nine-project Year 1 schedule on Games Art and Animation, premieres and study days at The Depot on Film Studies at Lewes, the 15-hour practical exam and cross-department collaborations on Photography A Level, and the Employer Set Projects on the T Levels.</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US">
                <a:solidFill>
                  <a:srgbClr val="B34700"/>
                </a:solidFill>
              </a:rPr>
              <a:t>Placement wording: 315 hours is the stated minimum on the Creative and Design T Level at Lewes. The Digital and Cyber T Levels at Hastings (Ore) state a mandatory placement but do not publish the hours — confirm with the department before you state a number. Independent study differs too: ten hours a week is stated on Content Creation Level 3 and six hours at Level 2, so this slide should carry your own course’s figure.</a:t>
            </a:r>
            <a:endParaRPr/>
          </a:p>
        </p:txBody>
      </p:sp>
      <p:sp>
        <p:nvSpPr>
          <p:cNvPr id="138" name="Google Shape;138;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0" name="Google Shape;150;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 name="Google Shape;151;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6" name="Google Shape;156;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 name="Google Shape;157;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2" name="Google Shape;162;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Worked example set in the live radio production named on the Content Creation Level 3 page. The analytical version models the move from "what happened" to "what I decided, why, and what changed" — the level external moderation and an admissions tutor both read for.</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US">
                <a:solidFill>
                  <a:srgbClr val="B34700"/>
                </a:solidFill>
              </a:rPr>
              <a:t>Alternatives if your group is not on the radio strand: Games Art — a character model that would not animate; Photography A Level — a print that failed in the darkroom before the 15-hour exam; Cybersecurity — a vulnerability scan that returned a false positive. Keep the analytical version specific: the decision, the reasoning, the evidence, the change in practice.</a:t>
            </a:r>
            <a:endParaRPr/>
          </a:p>
        </p:txBody>
      </p:sp>
      <p:sp>
        <p:nvSpPr>
          <p:cNvPr id="163" name="Google Shape;163;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8" name="Google Shape;178;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9" name="Google Shape;179;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4" name="Google Shape;184;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5" name="Google Shape;185;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0" name="Google Shape;190;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Warm but demanding. The independence is named as the point, and the route to help is left wide open so the challenge does not read as abandonment.</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US">
                <a:solidFill>
                  <a:srgbClr val="B34700"/>
                </a:solidFill>
              </a:rPr>
              <a:t>Name the deadline, the follow-up and the route to help in your own words: "All eight by the end of week two. I check them in the week three tutorial, and I am in the studio at Thursday lunchtime." Independence reads as abandonment unless the support route is stated as clearly as the expectation. Warm and demanding are not opposites.</a:t>
            </a:r>
            <a:endParaRPr/>
          </a:p>
        </p:txBody>
      </p:sp>
      <p:sp>
        <p:nvSpPr>
          <p:cNvPr id="191" name="Google Shape;191;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 name="Shape 15"/>
        <p:cNvGrpSpPr/>
        <p:nvPr/>
      </p:nvGrpSpPr>
      <p:grpSpPr>
        <a:xfrm>
          <a:off x="0" y="0"/>
          <a:ext cx="0" cy="0"/>
          <a:chOff x="0" y="0"/>
          <a:chExt cx="0" cy="0"/>
        </a:xfrm>
      </p:grpSpPr>
      <p:pic>
        <p:nvPicPr>
          <p:cNvPr descr="assets/slide01.png" id="16" name="Google Shape;16;p3"/>
          <p:cNvPicPr preferRelativeResize="0"/>
          <p:nvPr/>
        </p:nvPicPr>
        <p:blipFill rotWithShape="1">
          <a:blip r:embed="rId3">
            <a:alphaModFix/>
          </a:blip>
          <a:srcRect b="0" l="0" r="0" t="0"/>
          <a:stretch/>
        </p:blipFill>
        <p:spPr>
          <a:xfrm>
            <a:off x="0" y="0"/>
            <a:ext cx="12191695" cy="6858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6D2D3"/>
        </a:solidFill>
      </p:bgPr>
    </p:bg>
    <p:spTree>
      <p:nvGrpSpPr>
        <p:cNvPr id="21" name="Shape 21"/>
        <p:cNvGrpSpPr/>
        <p:nvPr/>
      </p:nvGrpSpPr>
      <p:grpSpPr>
        <a:xfrm>
          <a:off x="0" y="0"/>
          <a:ext cx="0" cy="0"/>
          <a:chOff x="0" y="0"/>
          <a:chExt cx="0" cy="0"/>
        </a:xfrm>
      </p:grpSpPr>
      <p:sp>
        <p:nvSpPr>
          <p:cNvPr id="22" name="Google Shape;22;p4"/>
          <p:cNvSpPr/>
          <p:nvPr/>
        </p:nvSpPr>
        <p:spPr>
          <a:xfrm>
            <a:off x="0" y="1170432"/>
            <a:ext cx="12191695" cy="4151376"/>
          </a:xfrm>
          <a:prstGeom prst="rect">
            <a:avLst/>
          </a:prstGeom>
          <a:solidFill>
            <a:srgbClr val="298B8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4"/>
          <p:cNvSpPr/>
          <p:nvPr/>
        </p:nvSpPr>
        <p:spPr>
          <a:xfrm>
            <a:off x="502920" y="146304"/>
            <a:ext cx="1115568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000"/>
              <a:buFont typeface="Arial"/>
              <a:buNone/>
            </a:pPr>
            <a:r>
              <a:rPr b="1" i="0" lang="en-US" sz="3000" u="none" cap="none" strike="noStrike">
                <a:solidFill>
                  <a:srgbClr val="FFFFFF"/>
                </a:solidFill>
                <a:latin typeface="Arial"/>
                <a:ea typeface="Arial"/>
                <a:cs typeface="Arial"/>
                <a:sym typeface="Arial"/>
              </a:rPr>
              <a:t>WHY </a:t>
            </a:r>
            <a:r>
              <a:rPr b="1" i="0" lang="en-US" sz="3000" u="none" cap="none" strike="noStrike">
                <a:solidFill>
                  <a:srgbClr val="4D4D4D"/>
                </a:solidFill>
                <a:latin typeface="Arial"/>
                <a:ea typeface="Arial"/>
                <a:cs typeface="Arial"/>
                <a:sym typeface="Arial"/>
              </a:rPr>
              <a:t>NAVIGATE MATTERS HERE</a:t>
            </a:r>
            <a:endParaRPr b="0" i="0" sz="3000" u="none" cap="none" strike="noStrike">
              <a:solidFill>
                <a:schemeClr val="dk1"/>
              </a:solidFill>
              <a:latin typeface="Calibri"/>
              <a:ea typeface="Calibri"/>
              <a:cs typeface="Calibri"/>
              <a:sym typeface="Calibri"/>
            </a:endParaRPr>
          </a:p>
        </p:txBody>
      </p:sp>
      <p:sp>
        <p:nvSpPr>
          <p:cNvPr id="24" name="Google Shape;24;p4"/>
          <p:cNvSpPr/>
          <p:nvPr/>
        </p:nvSpPr>
        <p:spPr>
          <a:xfrm>
            <a:off x="530352" y="768096"/>
            <a:ext cx="1115568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4D4D"/>
              </a:buClr>
              <a:buSzPts val="1600"/>
              <a:buFont typeface="Calibri"/>
              <a:buNone/>
            </a:pPr>
            <a:r>
              <a:rPr b="0" i="1" lang="en-US" sz="1600" u="none" cap="none" strike="noStrike">
                <a:solidFill>
                  <a:srgbClr val="4D4D4D"/>
                </a:solidFill>
                <a:latin typeface="Calibri"/>
                <a:ea typeface="Calibri"/>
                <a:cs typeface="Calibri"/>
                <a:sym typeface="Calibri"/>
              </a:rPr>
              <a:t>ESCG Digital, Media, Film &amp; Computing  ·  Level 3 and A Level</a:t>
            </a:r>
            <a:endParaRPr b="0" i="0" sz="1600" u="none" cap="none" strike="noStrike">
              <a:solidFill>
                <a:schemeClr val="dk1"/>
              </a:solidFill>
              <a:latin typeface="Calibri"/>
              <a:ea typeface="Calibri"/>
              <a:cs typeface="Calibri"/>
              <a:sym typeface="Calibri"/>
            </a:endParaRPr>
          </a:p>
        </p:txBody>
      </p:sp>
      <p:pic>
        <p:nvPicPr>
          <p:cNvPr descr="assets/footer_logo.png" id="25" name="Google Shape;25;p4"/>
          <p:cNvPicPr preferRelativeResize="0"/>
          <p:nvPr/>
        </p:nvPicPr>
        <p:blipFill rotWithShape="1">
          <a:blip r:embed="rId3">
            <a:alphaModFix/>
          </a:blip>
          <a:srcRect b="0" l="0" r="0" t="0"/>
          <a:stretch/>
        </p:blipFill>
        <p:spPr>
          <a:xfrm>
            <a:off x="301752" y="5788152"/>
            <a:ext cx="6936638" cy="827532"/>
          </a:xfrm>
          <a:prstGeom prst="rect">
            <a:avLst/>
          </a:prstGeom>
          <a:noFill/>
          <a:ln>
            <a:noFill/>
          </a:ln>
        </p:spPr>
      </p:pic>
      <p:sp>
        <p:nvSpPr>
          <p:cNvPr id="26" name="Google Shape;26;p4"/>
          <p:cNvSpPr/>
          <p:nvPr/>
        </p:nvSpPr>
        <p:spPr>
          <a:xfrm>
            <a:off x="548640" y="1481328"/>
            <a:ext cx="6355080" cy="3383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700"/>
              <a:buFont typeface="Calibri"/>
              <a:buNone/>
            </a:pPr>
            <a:r>
              <a:rPr b="0" i="0" lang="en-US" sz="1700" u="none" cap="none" strike="noStrike">
                <a:solidFill>
                  <a:srgbClr val="FFFFFF"/>
                </a:solidFill>
                <a:latin typeface="Calibri"/>
                <a:ea typeface="Calibri"/>
                <a:cs typeface="Calibri"/>
                <a:sym typeface="Calibri"/>
              </a:rPr>
              <a:t>At Level 3 you own your progress. Navigate is where you build the evidence that you did.</a:t>
            </a:r>
            <a:endParaRPr b="0" i="0" sz="1700" u="none" cap="none" strike="noStrike">
              <a:solidFill>
                <a:schemeClr val="dk1"/>
              </a:solidFill>
              <a:latin typeface="Calibri"/>
              <a:ea typeface="Calibri"/>
              <a:cs typeface="Calibri"/>
              <a:sym typeface="Calibri"/>
            </a:endParaRPr>
          </a:p>
          <a:p>
            <a:pPr indent="0" lvl="0" marL="0" marR="0" rtl="0" algn="l">
              <a:spcBef>
                <a:spcPts val="1000"/>
              </a:spcBef>
              <a:spcAft>
                <a:spcPts val="0"/>
              </a:spcAft>
              <a:buClr>
                <a:schemeClr val="dk1"/>
              </a:buClr>
              <a:buSzPts val="1700"/>
              <a:buFont typeface="Calibri"/>
              <a:buNone/>
            </a:pPr>
            <a:r>
              <a:t/>
            </a:r>
            <a:endParaRPr b="0" i="0" sz="1700" u="none" cap="none" strike="noStrike">
              <a:solidFill>
                <a:schemeClr val="dk1"/>
              </a:solidFill>
              <a:latin typeface="Calibri"/>
              <a:ea typeface="Calibri"/>
              <a:cs typeface="Calibri"/>
              <a:sym typeface="Calibri"/>
            </a:endParaRPr>
          </a:p>
          <a:p>
            <a:pPr indent="0" lvl="0" marL="0" marR="0" rtl="0" algn="l">
              <a:spcBef>
                <a:spcPts val="1000"/>
              </a:spcBef>
              <a:spcAft>
                <a:spcPts val="0"/>
              </a:spcAft>
              <a:buClr>
                <a:srgbClr val="FFFFFF"/>
              </a:buClr>
              <a:buSzPts val="1700"/>
              <a:buFont typeface="Calibri"/>
              <a:buNone/>
            </a:pPr>
            <a:r>
              <a:rPr b="0" i="0" lang="en-US" sz="1700" u="none" cap="none" strike="noStrike">
                <a:solidFill>
                  <a:srgbClr val="FFFFFF"/>
                </a:solidFill>
                <a:latin typeface="Calibri"/>
                <a:ea typeface="Calibri"/>
                <a:cs typeface="Calibri"/>
                <a:sym typeface="Calibri"/>
              </a:rPr>
              <a:t>University, an apprenticeship and the studio, newsroom or technical team you want to join all ask the same question: what can you actually do, and how do you know? Your Digital CV is your answer.</a:t>
            </a:r>
            <a:endParaRPr b="0" i="0" sz="1700" u="none" cap="none" strike="noStrike">
              <a:solidFill>
                <a:schemeClr val="dk1"/>
              </a:solidFill>
              <a:latin typeface="Calibri"/>
              <a:ea typeface="Calibri"/>
              <a:cs typeface="Calibri"/>
              <a:sym typeface="Calibri"/>
            </a:endParaRPr>
          </a:p>
          <a:p>
            <a:pPr indent="0" lvl="0" marL="0" marR="0" rtl="0" algn="l">
              <a:spcBef>
                <a:spcPts val="1000"/>
              </a:spcBef>
              <a:spcAft>
                <a:spcPts val="0"/>
              </a:spcAft>
              <a:buClr>
                <a:schemeClr val="dk1"/>
              </a:buClr>
              <a:buSzPts val="1700"/>
              <a:buFont typeface="Calibri"/>
              <a:buNone/>
            </a:pPr>
            <a:r>
              <a:t/>
            </a:r>
            <a:endParaRPr b="0" i="0" sz="1700" u="none" cap="none" strike="noStrike">
              <a:solidFill>
                <a:schemeClr val="dk1"/>
              </a:solidFill>
              <a:latin typeface="Calibri"/>
              <a:ea typeface="Calibri"/>
              <a:cs typeface="Calibri"/>
              <a:sym typeface="Calibri"/>
            </a:endParaRPr>
          </a:p>
          <a:p>
            <a:pPr indent="0" lvl="0" marL="0" marR="0" rtl="0" algn="l">
              <a:spcBef>
                <a:spcPts val="1000"/>
              </a:spcBef>
              <a:spcAft>
                <a:spcPts val="0"/>
              </a:spcAft>
              <a:buClr>
                <a:srgbClr val="FFFFFF"/>
              </a:buClr>
              <a:buSzPts val="1700"/>
              <a:buFont typeface="Calibri"/>
              <a:buNone/>
            </a:pPr>
            <a:r>
              <a:rPr b="0" i="0" lang="en-US" sz="1700" u="none" cap="none" strike="noStrike">
                <a:solidFill>
                  <a:srgbClr val="FFFFFF"/>
                </a:solidFill>
                <a:latin typeface="Calibri"/>
                <a:ea typeface="Calibri"/>
                <a:cs typeface="Calibri"/>
                <a:sym typeface="Calibri"/>
              </a:rPr>
              <a:t>Built across two years, it becomes something a personal statement cannot fake.</a:t>
            </a:r>
            <a:endParaRPr b="0" i="0" sz="1700" u="none" cap="none" strike="noStrike">
              <a:solidFill>
                <a:schemeClr val="dk1"/>
              </a:solidFill>
              <a:latin typeface="Calibri"/>
              <a:ea typeface="Calibri"/>
              <a:cs typeface="Calibri"/>
              <a:sym typeface="Calibri"/>
            </a:endParaRPr>
          </a:p>
        </p:txBody>
      </p:sp>
      <p:sp>
        <p:nvSpPr>
          <p:cNvPr id="27" name="Google Shape;27;p4"/>
          <p:cNvSpPr/>
          <p:nvPr/>
        </p:nvSpPr>
        <p:spPr>
          <a:xfrm>
            <a:off x="7223760" y="1481328"/>
            <a:ext cx="4416552" cy="3310128"/>
          </a:xfrm>
          <a:prstGeom prst="roundRect">
            <a:avLst>
              <a:gd fmla="val 2762"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4"/>
          <p:cNvSpPr/>
          <p:nvPr/>
        </p:nvSpPr>
        <p:spPr>
          <a:xfrm>
            <a:off x="7479792" y="1691640"/>
            <a:ext cx="3931920"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98B8E"/>
              </a:buClr>
              <a:buSzPts val="1800"/>
              <a:buFont typeface="Calibri"/>
              <a:buNone/>
            </a:pPr>
            <a:r>
              <a:rPr b="1" i="0" lang="en-US" sz="1800" u="none" cap="none" strike="noStrike">
                <a:solidFill>
                  <a:srgbClr val="298B8E"/>
                </a:solidFill>
                <a:latin typeface="Calibri"/>
                <a:ea typeface="Calibri"/>
                <a:cs typeface="Calibri"/>
                <a:sym typeface="Calibri"/>
              </a:rPr>
              <a:t>By the end of today you will be able to:</a:t>
            </a:r>
            <a:endParaRPr b="0" i="0" sz="1800" u="none" cap="none" strike="noStrike">
              <a:solidFill>
                <a:schemeClr val="dk1"/>
              </a:solidFill>
              <a:latin typeface="Calibri"/>
              <a:ea typeface="Calibri"/>
              <a:cs typeface="Calibri"/>
              <a:sym typeface="Calibri"/>
            </a:endParaRPr>
          </a:p>
        </p:txBody>
      </p:sp>
      <p:sp>
        <p:nvSpPr>
          <p:cNvPr id="29" name="Google Shape;29;p4"/>
          <p:cNvSpPr/>
          <p:nvPr/>
        </p:nvSpPr>
        <p:spPr>
          <a:xfrm>
            <a:off x="7479792" y="2331720"/>
            <a:ext cx="3931920" cy="2350008"/>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3A3A3A"/>
              </a:buClr>
              <a:buSzPts val="1700"/>
              <a:buFont typeface="Calibri"/>
              <a:buChar char="•"/>
            </a:pPr>
            <a:r>
              <a:rPr lang="en-US" sz="1700">
                <a:solidFill>
                  <a:srgbClr val="3A3A3A"/>
                </a:solidFill>
                <a:latin typeface="Calibri"/>
                <a:ea typeface="Calibri"/>
                <a:cs typeface="Calibri"/>
                <a:sym typeface="Calibri"/>
              </a:rPr>
              <a:t>I</a:t>
            </a:r>
            <a:r>
              <a:rPr b="0" i="0" lang="en-US" sz="1700" u="none" cap="none" strike="noStrike">
                <a:solidFill>
                  <a:srgbClr val="3A3A3A"/>
                </a:solidFill>
                <a:latin typeface="Calibri"/>
                <a:ea typeface="Calibri"/>
                <a:cs typeface="Calibri"/>
                <a:sym typeface="Calibri"/>
              </a:rPr>
              <a:t>nterpret your Skills Assessment results and set a development priority</a:t>
            </a:r>
            <a:endParaRPr b="0" i="0" sz="17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3A3A3A"/>
              </a:buClr>
              <a:buSzPts val="1700"/>
              <a:buFont typeface="Calibri"/>
              <a:buChar char="•"/>
            </a:pPr>
            <a:r>
              <a:rPr lang="en-US" sz="1700">
                <a:solidFill>
                  <a:srgbClr val="3A3A3A"/>
                </a:solidFill>
                <a:latin typeface="Calibri"/>
                <a:ea typeface="Calibri"/>
                <a:cs typeface="Calibri"/>
                <a:sym typeface="Calibri"/>
              </a:rPr>
              <a:t>S</a:t>
            </a:r>
            <a:r>
              <a:rPr b="0" i="0" lang="en-US" sz="1700" u="none" cap="none" strike="noStrike">
                <a:solidFill>
                  <a:srgbClr val="3A3A3A"/>
                </a:solidFill>
                <a:latin typeface="Calibri"/>
                <a:ea typeface="Calibri"/>
                <a:cs typeface="Calibri"/>
                <a:sym typeface="Calibri"/>
              </a:rPr>
              <a:t>tate a next destination and the entry requirements it carries</a:t>
            </a:r>
            <a:endParaRPr b="0" i="0" sz="17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3A3A3A"/>
              </a:buClr>
              <a:buSzPts val="1700"/>
              <a:buFont typeface="Calibri"/>
              <a:buChar char="•"/>
            </a:pPr>
            <a:r>
              <a:rPr lang="en-US" sz="1700">
                <a:solidFill>
                  <a:srgbClr val="3A3A3A"/>
                </a:solidFill>
                <a:latin typeface="Calibri"/>
                <a:ea typeface="Calibri"/>
                <a:cs typeface="Calibri"/>
                <a:sym typeface="Calibri"/>
              </a:rPr>
              <a:t>W</a:t>
            </a:r>
            <a:r>
              <a:rPr b="0" i="0" lang="en-US" sz="1700" u="none" cap="none" strike="noStrike">
                <a:solidFill>
                  <a:srgbClr val="3A3A3A"/>
                </a:solidFill>
                <a:latin typeface="Calibri"/>
                <a:ea typeface="Calibri"/>
                <a:cs typeface="Calibri"/>
                <a:sym typeface="Calibri"/>
              </a:rPr>
              <a:t>rite a reflection that evidences a skill, not just describes an event</a:t>
            </a:r>
            <a:endParaRPr b="0" i="0" sz="17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 name="Shape 34"/>
        <p:cNvGrpSpPr/>
        <p:nvPr/>
      </p:nvGrpSpPr>
      <p:grpSpPr>
        <a:xfrm>
          <a:off x="0" y="0"/>
          <a:ext cx="0" cy="0"/>
          <a:chOff x="0" y="0"/>
          <a:chExt cx="0" cy="0"/>
        </a:xfrm>
      </p:grpSpPr>
      <p:pic>
        <p:nvPicPr>
          <p:cNvPr descr="assets/slide02.png" id="35" name="Google Shape;35;p5"/>
          <p:cNvPicPr preferRelativeResize="0"/>
          <p:nvPr/>
        </p:nvPicPr>
        <p:blipFill rotWithShape="1">
          <a:blip r:embed="rId3">
            <a:alphaModFix/>
          </a:blip>
          <a:srcRect b="0" l="0" r="0" t="0"/>
          <a:stretch/>
        </p:blipFill>
        <p:spPr>
          <a:xfrm>
            <a:off x="0" y="0"/>
            <a:ext cx="12191695" cy="68580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 name="Shape 40"/>
        <p:cNvGrpSpPr/>
        <p:nvPr/>
      </p:nvGrpSpPr>
      <p:grpSpPr>
        <a:xfrm>
          <a:off x="0" y="0"/>
          <a:ext cx="0" cy="0"/>
          <a:chOff x="0" y="0"/>
          <a:chExt cx="0" cy="0"/>
        </a:xfrm>
      </p:grpSpPr>
      <p:pic>
        <p:nvPicPr>
          <p:cNvPr descr="assets/slide03.png" id="41" name="Google Shape;41;p6"/>
          <p:cNvPicPr preferRelativeResize="0"/>
          <p:nvPr/>
        </p:nvPicPr>
        <p:blipFill rotWithShape="1">
          <a:blip r:embed="rId3">
            <a:alphaModFix/>
          </a:blip>
          <a:srcRect b="0" l="0" r="0" t="0"/>
          <a:stretch/>
        </p:blipFill>
        <p:spPr>
          <a:xfrm>
            <a:off x="0" y="0"/>
            <a:ext cx="12191695" cy="68580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 name="Shape 46"/>
        <p:cNvGrpSpPr/>
        <p:nvPr/>
      </p:nvGrpSpPr>
      <p:grpSpPr>
        <a:xfrm>
          <a:off x="0" y="0"/>
          <a:ext cx="0" cy="0"/>
          <a:chOff x="0" y="0"/>
          <a:chExt cx="0" cy="0"/>
        </a:xfrm>
      </p:grpSpPr>
      <p:pic>
        <p:nvPicPr>
          <p:cNvPr descr="assets/slide04.png" id="47" name="Google Shape;47;p7"/>
          <p:cNvPicPr preferRelativeResize="0"/>
          <p:nvPr/>
        </p:nvPicPr>
        <p:blipFill rotWithShape="1">
          <a:blip r:embed="rId3">
            <a:alphaModFix/>
          </a:blip>
          <a:srcRect b="0" l="0" r="0" t="0"/>
          <a:stretch/>
        </p:blipFill>
        <p:spPr>
          <a:xfrm>
            <a:off x="0" y="0"/>
            <a:ext cx="12191695" cy="68580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6D2D3"/>
        </a:solidFill>
      </p:bgPr>
    </p:bg>
    <p:spTree>
      <p:nvGrpSpPr>
        <p:cNvPr id="52" name="Shape 52"/>
        <p:cNvGrpSpPr/>
        <p:nvPr/>
      </p:nvGrpSpPr>
      <p:grpSpPr>
        <a:xfrm>
          <a:off x="0" y="0"/>
          <a:ext cx="0" cy="0"/>
          <a:chOff x="0" y="0"/>
          <a:chExt cx="0" cy="0"/>
        </a:xfrm>
      </p:grpSpPr>
      <p:sp>
        <p:nvSpPr>
          <p:cNvPr id="53" name="Google Shape;53;p8"/>
          <p:cNvSpPr/>
          <p:nvPr/>
        </p:nvSpPr>
        <p:spPr>
          <a:xfrm>
            <a:off x="0" y="1170432"/>
            <a:ext cx="12191695" cy="4151376"/>
          </a:xfrm>
          <a:prstGeom prst="rect">
            <a:avLst/>
          </a:prstGeom>
          <a:solidFill>
            <a:srgbClr val="298B8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8"/>
          <p:cNvSpPr/>
          <p:nvPr/>
        </p:nvSpPr>
        <p:spPr>
          <a:xfrm>
            <a:off x="502920" y="274320"/>
            <a:ext cx="1115568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000"/>
              <a:buFont typeface="Arial"/>
              <a:buNone/>
            </a:pPr>
            <a:r>
              <a:rPr b="1" i="0" lang="en-US" sz="3000" u="none" cap="none" strike="noStrike">
                <a:solidFill>
                  <a:srgbClr val="FFFFFF"/>
                </a:solidFill>
                <a:latin typeface="Arial"/>
                <a:ea typeface="Arial"/>
                <a:cs typeface="Arial"/>
                <a:sym typeface="Arial"/>
              </a:rPr>
              <a:t>YOUR </a:t>
            </a:r>
            <a:r>
              <a:rPr b="1" i="0" lang="en-US" sz="3000" u="none" cap="none" strike="noStrike">
                <a:solidFill>
                  <a:srgbClr val="4D4D4D"/>
                </a:solidFill>
                <a:latin typeface="Arial"/>
                <a:ea typeface="Arial"/>
                <a:cs typeface="Arial"/>
                <a:sym typeface="Arial"/>
              </a:rPr>
              <a:t>SKILLS ASSESSMENT</a:t>
            </a:r>
            <a:endParaRPr b="0" i="0" sz="3000" u="none" cap="none" strike="noStrike">
              <a:solidFill>
                <a:schemeClr val="dk1"/>
              </a:solidFill>
              <a:latin typeface="Calibri"/>
              <a:ea typeface="Calibri"/>
              <a:cs typeface="Calibri"/>
              <a:sym typeface="Calibri"/>
            </a:endParaRPr>
          </a:p>
        </p:txBody>
      </p:sp>
      <p:pic>
        <p:nvPicPr>
          <p:cNvPr descr="assets/footer_logo.png" id="55" name="Google Shape;55;p8"/>
          <p:cNvPicPr preferRelativeResize="0"/>
          <p:nvPr/>
        </p:nvPicPr>
        <p:blipFill rotWithShape="1">
          <a:blip r:embed="rId3">
            <a:alphaModFix/>
          </a:blip>
          <a:srcRect b="0" l="0" r="0" t="0"/>
          <a:stretch/>
        </p:blipFill>
        <p:spPr>
          <a:xfrm>
            <a:off x="301752" y="5788152"/>
            <a:ext cx="6936638" cy="827532"/>
          </a:xfrm>
          <a:prstGeom prst="rect">
            <a:avLst/>
          </a:prstGeom>
          <a:noFill/>
          <a:ln>
            <a:noFill/>
          </a:ln>
        </p:spPr>
      </p:pic>
      <p:sp>
        <p:nvSpPr>
          <p:cNvPr id="56" name="Google Shape;56;p8"/>
          <p:cNvSpPr/>
          <p:nvPr/>
        </p:nvSpPr>
        <p:spPr>
          <a:xfrm>
            <a:off x="548640" y="1463040"/>
            <a:ext cx="640080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This is a self-report. Its value depends entirely on your honesty — inflate it and you get a useless picture of yourself.</a:t>
            </a:r>
            <a:endParaRPr b="0" i="0" sz="1800" u="none" cap="none" strike="noStrike">
              <a:solidFill>
                <a:schemeClr val="dk1"/>
              </a:solidFill>
              <a:latin typeface="Calibri"/>
              <a:ea typeface="Calibri"/>
              <a:cs typeface="Calibri"/>
              <a:sym typeface="Calibri"/>
            </a:endParaRPr>
          </a:p>
        </p:txBody>
      </p:sp>
      <p:sp>
        <p:nvSpPr>
          <p:cNvPr id="57" name="Google Shape;57;p8"/>
          <p:cNvSpPr/>
          <p:nvPr/>
        </p:nvSpPr>
        <p:spPr>
          <a:xfrm>
            <a:off x="548640" y="2267712"/>
            <a:ext cx="6400800" cy="1188720"/>
          </a:xfrm>
          <a:prstGeom prst="roundRect">
            <a:avLst>
              <a:gd fmla="val 7692"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a:off x="804672" y="2377440"/>
            <a:ext cx="5897880" cy="9692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3A3A"/>
              </a:buClr>
              <a:buSzPts val="1700"/>
              <a:buFont typeface="Calibri"/>
              <a:buNone/>
            </a:pPr>
            <a:r>
              <a:rPr b="0" i="1" lang="en-US" sz="1700" u="none" cap="none" strike="noStrike">
                <a:solidFill>
                  <a:srgbClr val="3A3A3A"/>
                </a:solidFill>
                <a:latin typeface="Calibri"/>
                <a:ea typeface="Calibri"/>
                <a:cs typeface="Calibri"/>
                <a:sym typeface="Calibri"/>
              </a:rPr>
              <a:t>You filmed an interview that goes out this week. Afterwards the person asks you to take it out. It is your strongest material. You…</a:t>
            </a:r>
            <a:endParaRPr b="0" i="0" sz="1800" u="none" cap="none" strike="noStrike">
              <a:solidFill>
                <a:schemeClr val="dk1"/>
              </a:solidFill>
              <a:latin typeface="Calibri"/>
              <a:ea typeface="Calibri"/>
              <a:cs typeface="Calibri"/>
              <a:sym typeface="Calibri"/>
            </a:endParaRPr>
          </a:p>
        </p:txBody>
      </p:sp>
      <p:sp>
        <p:nvSpPr>
          <p:cNvPr id="59" name="Google Shape;59;p8"/>
          <p:cNvSpPr/>
          <p:nvPr/>
        </p:nvSpPr>
        <p:spPr>
          <a:xfrm>
            <a:off x="548640" y="3611880"/>
            <a:ext cx="6400800" cy="1280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700"/>
              <a:buFont typeface="Calibri"/>
              <a:buNone/>
            </a:pPr>
            <a:r>
              <a:rPr b="0" i="0" lang="en-US" sz="1700" u="none" cap="none" strike="noStrike">
                <a:solidFill>
                  <a:srgbClr val="FFFFFF"/>
                </a:solidFill>
                <a:latin typeface="Calibri"/>
                <a:ea typeface="Calibri"/>
                <a:cs typeface="Calibri"/>
                <a:sym typeface="Calibri"/>
              </a:rPr>
              <a:t>Consider what that actually tests: professional judgement, communication, and the duty of care you carry the moment you work with someone you film, photograph or interview, a client, or a system other people rely on.</a:t>
            </a:r>
            <a:endParaRPr b="0" i="0" sz="1700" u="none" cap="none" strike="noStrike">
              <a:solidFill>
                <a:schemeClr val="dk1"/>
              </a:solidFill>
              <a:latin typeface="Calibri"/>
              <a:ea typeface="Calibri"/>
              <a:cs typeface="Calibri"/>
              <a:sym typeface="Calibri"/>
            </a:endParaRPr>
          </a:p>
        </p:txBody>
      </p:sp>
      <p:sp>
        <p:nvSpPr>
          <p:cNvPr id="60" name="Google Shape;60;p8"/>
          <p:cNvSpPr/>
          <p:nvPr/>
        </p:nvSpPr>
        <p:spPr>
          <a:xfrm>
            <a:off x="7315200" y="1572768"/>
            <a:ext cx="1298448" cy="402336"/>
          </a:xfrm>
          <a:prstGeom prst="roundRect">
            <a:avLst>
              <a:gd fmla="val 18182" name="adj"/>
            </a:avLst>
          </a:prstGeom>
          <a:solidFill>
            <a:srgbClr val="1E7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8"/>
          <p:cNvSpPr/>
          <p:nvPr/>
        </p:nvSpPr>
        <p:spPr>
          <a:xfrm>
            <a:off x="7315200" y="1572768"/>
            <a:ext cx="1298448"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GREEN</a:t>
            </a:r>
            <a:endParaRPr b="0" i="0" sz="1400" u="none" cap="none" strike="noStrike">
              <a:solidFill>
                <a:schemeClr val="dk1"/>
              </a:solidFill>
              <a:latin typeface="Calibri"/>
              <a:ea typeface="Calibri"/>
              <a:cs typeface="Calibri"/>
              <a:sym typeface="Calibri"/>
            </a:endParaRPr>
          </a:p>
        </p:txBody>
      </p:sp>
      <p:sp>
        <p:nvSpPr>
          <p:cNvPr id="62" name="Google Shape;62;p8"/>
          <p:cNvSpPr/>
          <p:nvPr/>
        </p:nvSpPr>
        <p:spPr>
          <a:xfrm>
            <a:off x="8759952" y="1517904"/>
            <a:ext cx="292608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Evidenced strength. Prove it in your Digital CV.</a:t>
            </a:r>
            <a:endParaRPr b="0" i="0" sz="1600" u="none" cap="none" strike="noStrike">
              <a:solidFill>
                <a:schemeClr val="dk1"/>
              </a:solidFill>
              <a:latin typeface="Calibri"/>
              <a:ea typeface="Calibri"/>
              <a:cs typeface="Calibri"/>
              <a:sym typeface="Calibri"/>
            </a:endParaRPr>
          </a:p>
        </p:txBody>
      </p:sp>
      <p:sp>
        <p:nvSpPr>
          <p:cNvPr id="63" name="Google Shape;63;p8"/>
          <p:cNvSpPr/>
          <p:nvPr/>
        </p:nvSpPr>
        <p:spPr>
          <a:xfrm>
            <a:off x="7315200" y="2304288"/>
            <a:ext cx="1298448" cy="402336"/>
          </a:xfrm>
          <a:prstGeom prst="roundRect">
            <a:avLst>
              <a:gd fmla="val 18182" name="adj"/>
            </a:avLst>
          </a:prstGeom>
          <a:solidFill>
            <a:srgbClr val="B77A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8"/>
          <p:cNvSpPr/>
          <p:nvPr/>
        </p:nvSpPr>
        <p:spPr>
          <a:xfrm>
            <a:off x="7315200" y="2304288"/>
            <a:ext cx="1298448"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AMBER</a:t>
            </a:r>
            <a:endParaRPr b="0" i="0" sz="1400" u="none" cap="none" strike="noStrike">
              <a:solidFill>
                <a:schemeClr val="dk1"/>
              </a:solidFill>
              <a:latin typeface="Calibri"/>
              <a:ea typeface="Calibri"/>
              <a:cs typeface="Calibri"/>
              <a:sym typeface="Calibri"/>
            </a:endParaRPr>
          </a:p>
        </p:txBody>
      </p:sp>
      <p:sp>
        <p:nvSpPr>
          <p:cNvPr id="65" name="Google Shape;65;p8"/>
          <p:cNvSpPr/>
          <p:nvPr/>
        </p:nvSpPr>
        <p:spPr>
          <a:xfrm>
            <a:off x="8759952" y="2249424"/>
            <a:ext cx="292608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Inconsistent under pressure. Most people sit here.</a:t>
            </a:r>
            <a:endParaRPr b="0" i="0" sz="1600" u="none" cap="none" strike="noStrike">
              <a:solidFill>
                <a:schemeClr val="dk1"/>
              </a:solidFill>
              <a:latin typeface="Calibri"/>
              <a:ea typeface="Calibri"/>
              <a:cs typeface="Calibri"/>
              <a:sym typeface="Calibri"/>
            </a:endParaRPr>
          </a:p>
        </p:txBody>
      </p:sp>
      <p:sp>
        <p:nvSpPr>
          <p:cNvPr id="66" name="Google Shape;66;p8"/>
          <p:cNvSpPr/>
          <p:nvPr/>
        </p:nvSpPr>
        <p:spPr>
          <a:xfrm>
            <a:off x="7315200" y="3035808"/>
            <a:ext cx="1298448" cy="402336"/>
          </a:xfrm>
          <a:prstGeom prst="roundRect">
            <a:avLst>
              <a:gd fmla="val 18182" name="adj"/>
            </a:avLst>
          </a:prstGeom>
          <a:solidFill>
            <a:srgbClr val="A832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8"/>
          <p:cNvSpPr/>
          <p:nvPr/>
        </p:nvSpPr>
        <p:spPr>
          <a:xfrm>
            <a:off x="7315200" y="3035808"/>
            <a:ext cx="1298448"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RED</a:t>
            </a:r>
            <a:endParaRPr b="0" i="0" sz="1400" u="none" cap="none" strike="noStrike">
              <a:solidFill>
                <a:schemeClr val="dk1"/>
              </a:solidFill>
              <a:latin typeface="Calibri"/>
              <a:ea typeface="Calibri"/>
              <a:cs typeface="Calibri"/>
              <a:sym typeface="Calibri"/>
            </a:endParaRPr>
          </a:p>
        </p:txBody>
      </p:sp>
      <p:sp>
        <p:nvSpPr>
          <p:cNvPr id="68" name="Google Shape;68;p8"/>
          <p:cNvSpPr/>
          <p:nvPr/>
        </p:nvSpPr>
        <p:spPr>
          <a:xfrm>
            <a:off x="8759952" y="2980944"/>
            <a:ext cx="292608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Your development priority this term.</a:t>
            </a:r>
            <a:endParaRPr b="0" i="0" sz="1600" u="none" cap="none" strike="noStrike">
              <a:solidFill>
                <a:schemeClr val="dk1"/>
              </a:solidFill>
              <a:latin typeface="Calibri"/>
              <a:ea typeface="Calibri"/>
              <a:cs typeface="Calibri"/>
              <a:sym typeface="Calibri"/>
            </a:endParaRPr>
          </a:p>
        </p:txBody>
      </p:sp>
      <p:sp>
        <p:nvSpPr>
          <p:cNvPr id="69" name="Google Shape;69;p8"/>
          <p:cNvSpPr/>
          <p:nvPr/>
        </p:nvSpPr>
        <p:spPr>
          <a:xfrm>
            <a:off x="7315200" y="3858768"/>
            <a:ext cx="4370832"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700"/>
              <a:buFont typeface="Calibri"/>
              <a:buNone/>
            </a:pPr>
            <a:r>
              <a:rPr b="0" i="1" lang="en-US" sz="1700" u="none" cap="none" strike="noStrike">
                <a:solidFill>
                  <a:srgbClr val="FFFFFF"/>
                </a:solidFill>
                <a:latin typeface="Calibri"/>
                <a:ea typeface="Calibri"/>
                <a:cs typeface="Calibri"/>
                <a:sym typeface="Calibri"/>
              </a:rPr>
              <a:t>Read the Amber list carefully.</a:t>
            </a:r>
            <a:endParaRPr b="0" i="0" sz="17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700"/>
              <a:buFont typeface="Calibri"/>
              <a:buNone/>
            </a:pPr>
            <a:r>
              <a:rPr b="0" i="1" lang="en-US" sz="1700" u="none" cap="none" strike="noStrike">
                <a:solidFill>
                  <a:srgbClr val="FFFFFF"/>
                </a:solidFill>
                <a:latin typeface="Calibri"/>
                <a:ea typeface="Calibri"/>
                <a:cs typeface="Calibri"/>
                <a:sym typeface="Calibri"/>
              </a:rPr>
              <a:t>Amber is where the real gains are — Red is usually already obvious to you.</a:t>
            </a:r>
            <a:endParaRPr b="0" i="0" sz="17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pic>
        <p:nvPicPr>
          <p:cNvPr descr="assets/slide05.png" id="75" name="Google Shape;75;p9"/>
          <p:cNvPicPr preferRelativeResize="0"/>
          <p:nvPr/>
        </p:nvPicPr>
        <p:blipFill rotWithShape="1">
          <a:blip r:embed="rId3">
            <a:alphaModFix/>
          </a:blip>
          <a:srcRect b="0" l="0" r="0" t="0"/>
          <a:stretch/>
        </p:blipFill>
        <p:spPr>
          <a:xfrm>
            <a:off x="0" y="0"/>
            <a:ext cx="12191695" cy="68580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6D2D3"/>
        </a:solidFill>
      </p:bgPr>
    </p:bg>
    <p:spTree>
      <p:nvGrpSpPr>
        <p:cNvPr id="80" name="Shape 80"/>
        <p:cNvGrpSpPr/>
        <p:nvPr/>
      </p:nvGrpSpPr>
      <p:grpSpPr>
        <a:xfrm>
          <a:off x="0" y="0"/>
          <a:ext cx="0" cy="0"/>
          <a:chOff x="0" y="0"/>
          <a:chExt cx="0" cy="0"/>
        </a:xfrm>
      </p:grpSpPr>
      <p:sp>
        <p:nvSpPr>
          <p:cNvPr id="81" name="Google Shape;81;p10"/>
          <p:cNvSpPr/>
          <p:nvPr/>
        </p:nvSpPr>
        <p:spPr>
          <a:xfrm>
            <a:off x="0" y="1170432"/>
            <a:ext cx="12191695" cy="4151376"/>
          </a:xfrm>
          <a:prstGeom prst="rect">
            <a:avLst/>
          </a:prstGeom>
          <a:solidFill>
            <a:srgbClr val="298B8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0"/>
          <p:cNvSpPr/>
          <p:nvPr/>
        </p:nvSpPr>
        <p:spPr>
          <a:xfrm>
            <a:off x="502920" y="274320"/>
            <a:ext cx="1115568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000"/>
              <a:buFont typeface="Arial"/>
              <a:buNone/>
            </a:pPr>
            <a:r>
              <a:rPr b="1" i="0" lang="en-US" sz="3000" u="none" cap="none" strike="noStrike">
                <a:solidFill>
                  <a:srgbClr val="FFFFFF"/>
                </a:solidFill>
                <a:latin typeface="Arial"/>
                <a:ea typeface="Arial"/>
                <a:cs typeface="Arial"/>
                <a:sym typeface="Arial"/>
              </a:rPr>
              <a:t>YOUR </a:t>
            </a:r>
            <a:r>
              <a:rPr b="1" i="0" lang="en-US" sz="3000" u="none" cap="none" strike="noStrike">
                <a:solidFill>
                  <a:srgbClr val="4D4D4D"/>
                </a:solidFill>
                <a:latin typeface="Arial"/>
                <a:ea typeface="Arial"/>
                <a:cs typeface="Arial"/>
                <a:sym typeface="Arial"/>
              </a:rPr>
              <a:t>NEXT DESTINATION</a:t>
            </a:r>
            <a:endParaRPr b="0" i="0" sz="3000" u="none" cap="none" strike="noStrike">
              <a:solidFill>
                <a:schemeClr val="dk1"/>
              </a:solidFill>
              <a:latin typeface="Calibri"/>
              <a:ea typeface="Calibri"/>
              <a:cs typeface="Calibri"/>
              <a:sym typeface="Calibri"/>
            </a:endParaRPr>
          </a:p>
        </p:txBody>
      </p:sp>
      <p:pic>
        <p:nvPicPr>
          <p:cNvPr descr="assets/footer_logo.png" id="83" name="Google Shape;83;p10"/>
          <p:cNvPicPr preferRelativeResize="0"/>
          <p:nvPr/>
        </p:nvPicPr>
        <p:blipFill rotWithShape="1">
          <a:blip r:embed="rId3">
            <a:alphaModFix/>
          </a:blip>
          <a:srcRect b="0" l="0" r="0" t="0"/>
          <a:stretch/>
        </p:blipFill>
        <p:spPr>
          <a:xfrm>
            <a:off x="301752" y="5788152"/>
            <a:ext cx="6936638" cy="827532"/>
          </a:xfrm>
          <a:prstGeom prst="rect">
            <a:avLst/>
          </a:prstGeom>
          <a:noFill/>
          <a:ln>
            <a:noFill/>
          </a:ln>
        </p:spPr>
      </p:pic>
      <p:sp>
        <p:nvSpPr>
          <p:cNvPr id="84" name="Google Shape;84;p10"/>
          <p:cNvSpPr/>
          <p:nvPr/>
        </p:nvSpPr>
        <p:spPr>
          <a:xfrm>
            <a:off x="548640" y="1444752"/>
            <a:ext cx="11091672"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Set it now, with the entry requirements checked. Vague ambition is not a plan.</a:t>
            </a:r>
            <a:endParaRPr b="0" i="0" sz="1800" u="none" cap="none" strike="noStrike">
              <a:solidFill>
                <a:schemeClr val="dk1"/>
              </a:solidFill>
              <a:latin typeface="Calibri"/>
              <a:ea typeface="Calibri"/>
              <a:cs typeface="Calibri"/>
              <a:sym typeface="Calibri"/>
            </a:endParaRPr>
          </a:p>
        </p:txBody>
      </p:sp>
      <p:sp>
        <p:nvSpPr>
          <p:cNvPr id="85" name="Google Shape;85;p10"/>
          <p:cNvSpPr/>
          <p:nvPr/>
        </p:nvSpPr>
        <p:spPr>
          <a:xfrm>
            <a:off x="548640" y="1975104"/>
            <a:ext cx="6492240" cy="2670048"/>
          </a:xfrm>
          <a:prstGeom prst="roundRect">
            <a:avLst>
              <a:gd fmla="val 3425"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0"/>
          <p:cNvSpPr/>
          <p:nvPr/>
        </p:nvSpPr>
        <p:spPr>
          <a:xfrm>
            <a:off x="804672" y="2103120"/>
            <a:ext cx="5989320"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98B8E"/>
              </a:buClr>
              <a:buSzPts val="1800"/>
              <a:buFont typeface="Calibri"/>
              <a:buNone/>
            </a:pPr>
            <a:r>
              <a:rPr b="1" i="0" lang="en-US" sz="1800" u="none" cap="none" strike="noStrike">
                <a:solidFill>
                  <a:srgbClr val="298B8E"/>
                </a:solidFill>
                <a:latin typeface="Calibri"/>
                <a:ea typeface="Calibri"/>
                <a:cs typeface="Calibri"/>
                <a:sym typeface="Calibri"/>
              </a:rPr>
              <a:t>Where this leads</a:t>
            </a:r>
            <a:endParaRPr b="0" i="0" sz="1800" u="none" cap="none" strike="noStrike">
              <a:solidFill>
                <a:schemeClr val="dk1"/>
              </a:solidFill>
              <a:latin typeface="Calibri"/>
              <a:ea typeface="Calibri"/>
              <a:cs typeface="Calibri"/>
              <a:sym typeface="Calibri"/>
            </a:endParaRPr>
          </a:p>
        </p:txBody>
      </p:sp>
      <p:sp>
        <p:nvSpPr>
          <p:cNvPr id="87" name="Google Shape;87;p10"/>
          <p:cNvSpPr/>
          <p:nvPr/>
        </p:nvSpPr>
        <p:spPr>
          <a:xfrm>
            <a:off x="804672" y="2542032"/>
            <a:ext cx="5989320" cy="2029968"/>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3A3A3A"/>
              </a:buClr>
              <a:buSzPts val="1700"/>
              <a:buFont typeface="Calibri"/>
              <a:buChar char="•"/>
            </a:pPr>
            <a:r>
              <a:rPr b="0" i="0" lang="en-US" sz="1700" u="none" cap="none" strike="noStrike">
                <a:solidFill>
                  <a:srgbClr val="3A3A3A"/>
                </a:solidFill>
                <a:latin typeface="Calibri"/>
                <a:ea typeface="Calibri"/>
                <a:cs typeface="Calibri"/>
                <a:sym typeface="Calibri"/>
              </a:rPr>
              <a:t>Media, film, journalism, PR and marketing degrees</a:t>
            </a:r>
            <a:endParaRPr b="0" i="0" sz="1700" u="none" cap="none" strike="noStrike">
              <a:solidFill>
                <a:schemeClr val="dk1"/>
              </a:solidFill>
              <a:latin typeface="Calibri"/>
              <a:ea typeface="Calibri"/>
              <a:cs typeface="Calibri"/>
              <a:sym typeface="Calibri"/>
            </a:endParaRPr>
          </a:p>
          <a:p>
            <a:pPr indent="-342900" lvl="0" marL="342900" marR="0" rtl="0" algn="l">
              <a:spcBef>
                <a:spcPts val="700"/>
              </a:spcBef>
              <a:spcAft>
                <a:spcPts val="0"/>
              </a:spcAft>
              <a:buClr>
                <a:srgbClr val="3A3A3A"/>
              </a:buClr>
              <a:buSzPts val="1700"/>
              <a:buFont typeface="Calibri"/>
              <a:buChar char="•"/>
            </a:pPr>
            <a:r>
              <a:rPr b="0" i="0" lang="en-US" sz="1700" u="none" cap="none" strike="noStrike">
                <a:solidFill>
                  <a:srgbClr val="3A3A3A"/>
                </a:solidFill>
                <a:latin typeface="Calibri"/>
                <a:ea typeface="Calibri"/>
                <a:cs typeface="Calibri"/>
                <a:sym typeface="Calibri"/>
              </a:rPr>
              <a:t>Animation, illustration, graphic design, photography degrees</a:t>
            </a:r>
            <a:endParaRPr b="0" i="0" sz="1700" u="none" cap="none" strike="noStrike">
              <a:solidFill>
                <a:schemeClr val="dk1"/>
              </a:solidFill>
              <a:latin typeface="Calibri"/>
              <a:ea typeface="Calibri"/>
              <a:cs typeface="Calibri"/>
              <a:sym typeface="Calibri"/>
            </a:endParaRPr>
          </a:p>
          <a:p>
            <a:pPr indent="-342900" lvl="0" marL="342900" marR="0" rtl="0" algn="l">
              <a:spcBef>
                <a:spcPts val="700"/>
              </a:spcBef>
              <a:spcAft>
                <a:spcPts val="0"/>
              </a:spcAft>
              <a:buClr>
                <a:srgbClr val="3A3A3A"/>
              </a:buClr>
              <a:buSzPts val="1700"/>
              <a:buFont typeface="Calibri"/>
              <a:buChar char="•"/>
            </a:pPr>
            <a:r>
              <a:rPr b="0" i="0" lang="en-US" sz="1700" u="none" cap="none" strike="noStrike">
                <a:solidFill>
                  <a:srgbClr val="3A3A3A"/>
                </a:solidFill>
                <a:latin typeface="Calibri"/>
                <a:ea typeface="Calibri"/>
                <a:cs typeface="Calibri"/>
                <a:sym typeface="Calibri"/>
              </a:rPr>
              <a:t>BA (Hons) at University Centre Hastings — a degree without moving</a:t>
            </a:r>
            <a:endParaRPr b="0" i="0" sz="1700" u="none" cap="none" strike="noStrike">
              <a:solidFill>
                <a:schemeClr val="dk1"/>
              </a:solidFill>
              <a:latin typeface="Calibri"/>
              <a:ea typeface="Calibri"/>
              <a:cs typeface="Calibri"/>
              <a:sym typeface="Calibri"/>
            </a:endParaRPr>
          </a:p>
          <a:p>
            <a:pPr indent="-342900" lvl="0" marL="342900" marR="0" rtl="0" algn="l">
              <a:spcBef>
                <a:spcPts val="700"/>
              </a:spcBef>
              <a:spcAft>
                <a:spcPts val="0"/>
              </a:spcAft>
              <a:buClr>
                <a:srgbClr val="3A3A3A"/>
              </a:buClr>
              <a:buSzPts val="1700"/>
              <a:buFont typeface="Calibri"/>
              <a:buChar char="•"/>
            </a:pPr>
            <a:r>
              <a:rPr b="0" i="0" lang="en-US" sz="1700" u="none" cap="none" strike="noStrike">
                <a:solidFill>
                  <a:srgbClr val="3A3A3A"/>
                </a:solidFill>
                <a:latin typeface="Calibri"/>
                <a:ea typeface="Calibri"/>
                <a:cs typeface="Calibri"/>
                <a:sym typeface="Calibri"/>
              </a:rPr>
              <a:t>Digital Media Design Foundation Degree; HNC/HND Computing</a:t>
            </a:r>
            <a:endParaRPr b="0" i="0" sz="1700" u="none" cap="none" strike="noStrike">
              <a:solidFill>
                <a:schemeClr val="dk1"/>
              </a:solidFill>
              <a:latin typeface="Calibri"/>
              <a:ea typeface="Calibri"/>
              <a:cs typeface="Calibri"/>
              <a:sym typeface="Calibri"/>
            </a:endParaRPr>
          </a:p>
          <a:p>
            <a:pPr indent="-342900" lvl="0" marL="342900" marR="0" rtl="0" algn="l">
              <a:spcBef>
                <a:spcPts val="700"/>
              </a:spcBef>
              <a:spcAft>
                <a:spcPts val="0"/>
              </a:spcAft>
              <a:buClr>
                <a:srgbClr val="3A3A3A"/>
              </a:buClr>
              <a:buSzPts val="1700"/>
              <a:buFont typeface="Calibri"/>
              <a:buChar char="•"/>
            </a:pPr>
            <a:r>
              <a:rPr b="0" i="0" lang="en-US" sz="1700" u="none" cap="none" strike="noStrike">
                <a:solidFill>
                  <a:srgbClr val="3A3A3A"/>
                </a:solidFill>
                <a:latin typeface="Calibri"/>
                <a:ea typeface="Calibri"/>
                <a:cs typeface="Calibri"/>
                <a:sym typeface="Calibri"/>
              </a:rPr>
              <a:t>Higher Apprenticeship at Level 4, 5 or 6, or employment</a:t>
            </a:r>
            <a:endParaRPr b="0" i="0" sz="1700" u="none" cap="none" strike="noStrike">
              <a:solidFill>
                <a:schemeClr val="dk1"/>
              </a:solidFill>
              <a:latin typeface="Calibri"/>
              <a:ea typeface="Calibri"/>
              <a:cs typeface="Calibri"/>
              <a:sym typeface="Calibri"/>
            </a:endParaRPr>
          </a:p>
        </p:txBody>
      </p:sp>
      <p:sp>
        <p:nvSpPr>
          <p:cNvPr id="88" name="Google Shape;88;p10"/>
          <p:cNvSpPr/>
          <p:nvPr/>
        </p:nvSpPr>
        <p:spPr>
          <a:xfrm>
            <a:off x="7223760" y="1975104"/>
            <a:ext cx="4416552" cy="2670048"/>
          </a:xfrm>
          <a:prstGeom prst="roundRect">
            <a:avLst>
              <a:gd fmla="val 3425"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0"/>
          <p:cNvSpPr/>
          <p:nvPr/>
        </p:nvSpPr>
        <p:spPr>
          <a:xfrm>
            <a:off x="7479792" y="2103120"/>
            <a:ext cx="3931920"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98B8E"/>
              </a:buClr>
              <a:buSzPts val="1800"/>
              <a:buFont typeface="Calibri"/>
              <a:buNone/>
            </a:pPr>
            <a:r>
              <a:rPr b="1" i="0" lang="en-US" sz="1800" u="none" cap="none" strike="noStrike">
                <a:solidFill>
                  <a:srgbClr val="298B8E"/>
                </a:solidFill>
                <a:latin typeface="Calibri"/>
                <a:ea typeface="Calibri"/>
                <a:cs typeface="Calibri"/>
                <a:sym typeface="Calibri"/>
              </a:rPr>
              <a:t>Two honest points</a:t>
            </a:r>
            <a:endParaRPr b="0" i="0" sz="1800" u="none" cap="none" strike="noStrike">
              <a:solidFill>
                <a:schemeClr val="dk1"/>
              </a:solidFill>
              <a:latin typeface="Calibri"/>
              <a:ea typeface="Calibri"/>
              <a:cs typeface="Calibri"/>
              <a:sym typeface="Calibri"/>
            </a:endParaRPr>
          </a:p>
        </p:txBody>
      </p:sp>
      <p:sp>
        <p:nvSpPr>
          <p:cNvPr id="90" name="Google Shape;90;p10"/>
          <p:cNvSpPr/>
          <p:nvPr/>
        </p:nvSpPr>
        <p:spPr>
          <a:xfrm>
            <a:off x="7479792" y="2542032"/>
            <a:ext cx="3931920" cy="2029968"/>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3A3A3A"/>
              </a:buClr>
              <a:buSzPts val="1700"/>
              <a:buFont typeface="Calibri"/>
              <a:buChar char="•"/>
            </a:pPr>
            <a:r>
              <a:rPr b="0" i="0" lang="en-US" sz="1700" u="none" cap="none" strike="noStrike">
                <a:solidFill>
                  <a:srgbClr val="3A3A3A"/>
                </a:solidFill>
                <a:latin typeface="Calibri"/>
                <a:ea typeface="Calibri"/>
                <a:cs typeface="Calibri"/>
                <a:sym typeface="Calibri"/>
              </a:rPr>
              <a:t>UCAS runs in Year 2, alongside your external assessments. The material for a personal statement is built in Year 1</a:t>
            </a:r>
            <a:endParaRPr b="0" i="0" sz="1700" u="none" cap="none" strike="noStrike">
              <a:solidFill>
                <a:schemeClr val="dk1"/>
              </a:solidFill>
              <a:latin typeface="Calibri"/>
              <a:ea typeface="Calibri"/>
              <a:cs typeface="Calibri"/>
              <a:sym typeface="Calibri"/>
            </a:endParaRPr>
          </a:p>
          <a:p>
            <a:pPr indent="-342900" lvl="0" marL="342900" marR="0" rtl="0" algn="l">
              <a:spcBef>
                <a:spcPts val="700"/>
              </a:spcBef>
              <a:spcAft>
                <a:spcPts val="0"/>
              </a:spcAft>
              <a:buClr>
                <a:srgbClr val="3A3A3A"/>
              </a:buClr>
              <a:buSzPts val="1700"/>
              <a:buFont typeface="Calibri"/>
              <a:buChar char="•"/>
            </a:pPr>
            <a:r>
              <a:rPr b="0" i="0" lang="en-US" sz="1700" u="none" cap="none" strike="noStrike">
                <a:solidFill>
                  <a:srgbClr val="3A3A3A"/>
                </a:solidFill>
                <a:latin typeface="Calibri"/>
                <a:ea typeface="Calibri"/>
                <a:cs typeface="Calibri"/>
                <a:sym typeface="Calibri"/>
              </a:rPr>
              <a:t>Year 1 sets the trajectory of Year 2. It is not a warm-up</a:t>
            </a:r>
            <a:endParaRPr b="0" i="0" sz="1700" u="none" cap="none" strike="noStrike">
              <a:solidFill>
                <a:schemeClr val="dk1"/>
              </a:solidFill>
              <a:latin typeface="Calibri"/>
              <a:ea typeface="Calibri"/>
              <a:cs typeface="Calibri"/>
              <a:sym typeface="Calibri"/>
            </a:endParaRPr>
          </a:p>
        </p:txBody>
      </p:sp>
      <p:sp>
        <p:nvSpPr>
          <p:cNvPr id="91" name="Google Shape;91;p10"/>
          <p:cNvSpPr/>
          <p:nvPr/>
        </p:nvSpPr>
        <p:spPr>
          <a:xfrm>
            <a:off x="548640" y="4736592"/>
            <a:ext cx="11091672"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600"/>
              <a:buFont typeface="Calibri"/>
              <a:buNone/>
            </a:pPr>
            <a:r>
              <a:rPr b="0" i="1" lang="en-US" sz="1600" u="none" cap="none" strike="noStrike">
                <a:solidFill>
                  <a:srgbClr val="FFFFFF"/>
                </a:solidFill>
                <a:latin typeface="Calibri"/>
                <a:ea typeface="Calibri"/>
                <a:cs typeface="Calibri"/>
                <a:sym typeface="Calibri"/>
              </a:rPr>
              <a:t>Specialist routes open up later: digital forensics, network engineering, editing and post-production, cinematography.</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pic>
        <p:nvPicPr>
          <p:cNvPr descr="assets/slide06.png" id="97" name="Google Shape;97;p11"/>
          <p:cNvPicPr preferRelativeResize="0"/>
          <p:nvPr/>
        </p:nvPicPr>
        <p:blipFill rotWithShape="1">
          <a:blip r:embed="rId3">
            <a:alphaModFix/>
          </a:blip>
          <a:srcRect b="0" l="0" r="0" t="0"/>
          <a:stretch/>
        </p:blipFill>
        <p:spPr>
          <a:xfrm>
            <a:off x="0" y="0"/>
            <a:ext cx="12191695" cy="68580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6D2D3"/>
        </a:solidFill>
      </p:bgPr>
    </p:bg>
    <p:spTree>
      <p:nvGrpSpPr>
        <p:cNvPr id="102" name="Shape 102"/>
        <p:cNvGrpSpPr/>
        <p:nvPr/>
      </p:nvGrpSpPr>
      <p:grpSpPr>
        <a:xfrm>
          <a:off x="0" y="0"/>
          <a:ext cx="0" cy="0"/>
          <a:chOff x="0" y="0"/>
          <a:chExt cx="0" cy="0"/>
        </a:xfrm>
      </p:grpSpPr>
      <p:sp>
        <p:nvSpPr>
          <p:cNvPr id="103" name="Google Shape;103;p12"/>
          <p:cNvSpPr/>
          <p:nvPr/>
        </p:nvSpPr>
        <p:spPr>
          <a:xfrm>
            <a:off x="0" y="1170432"/>
            <a:ext cx="12191695" cy="4151376"/>
          </a:xfrm>
          <a:prstGeom prst="rect">
            <a:avLst/>
          </a:prstGeom>
          <a:solidFill>
            <a:srgbClr val="298B8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2"/>
          <p:cNvSpPr/>
          <p:nvPr/>
        </p:nvSpPr>
        <p:spPr>
          <a:xfrm>
            <a:off x="502920" y="274320"/>
            <a:ext cx="1115568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000"/>
              <a:buFont typeface="Arial"/>
              <a:buNone/>
            </a:pPr>
            <a:r>
              <a:rPr b="1" i="0" lang="en-US" sz="3000" u="none" cap="none" strike="noStrike">
                <a:solidFill>
                  <a:srgbClr val="FFFFFF"/>
                </a:solidFill>
                <a:latin typeface="Arial"/>
                <a:ea typeface="Arial"/>
                <a:cs typeface="Arial"/>
                <a:sym typeface="Arial"/>
              </a:rPr>
              <a:t>CAREERS </a:t>
            </a:r>
            <a:r>
              <a:rPr b="1" i="0" lang="en-US" sz="3000" u="none" cap="none" strike="noStrike">
                <a:solidFill>
                  <a:srgbClr val="4D4D4D"/>
                </a:solidFill>
                <a:latin typeface="Arial"/>
                <a:ea typeface="Arial"/>
                <a:cs typeface="Arial"/>
                <a:sym typeface="Arial"/>
              </a:rPr>
              <a:t>THIS LEADS TO</a:t>
            </a:r>
            <a:endParaRPr b="0" i="0" sz="3000" u="none" cap="none" strike="noStrike">
              <a:solidFill>
                <a:schemeClr val="dk1"/>
              </a:solidFill>
              <a:latin typeface="Calibri"/>
              <a:ea typeface="Calibri"/>
              <a:cs typeface="Calibri"/>
              <a:sym typeface="Calibri"/>
            </a:endParaRPr>
          </a:p>
        </p:txBody>
      </p:sp>
      <p:pic>
        <p:nvPicPr>
          <p:cNvPr descr="assets/footer_logo.png" id="105" name="Google Shape;105;p12"/>
          <p:cNvPicPr preferRelativeResize="0"/>
          <p:nvPr/>
        </p:nvPicPr>
        <p:blipFill rotWithShape="1">
          <a:blip r:embed="rId3">
            <a:alphaModFix/>
          </a:blip>
          <a:srcRect b="0" l="0" r="0" t="0"/>
          <a:stretch/>
        </p:blipFill>
        <p:spPr>
          <a:xfrm>
            <a:off x="301752" y="5788152"/>
            <a:ext cx="6936638" cy="827532"/>
          </a:xfrm>
          <a:prstGeom prst="rect">
            <a:avLst/>
          </a:prstGeom>
          <a:noFill/>
          <a:ln>
            <a:noFill/>
          </a:ln>
        </p:spPr>
      </p:pic>
      <p:sp>
        <p:nvSpPr>
          <p:cNvPr id="106" name="Google Shape;106;p12"/>
          <p:cNvSpPr/>
          <p:nvPr/>
        </p:nvSpPr>
        <p:spPr>
          <a:xfrm>
            <a:off x="548640" y="1426464"/>
            <a:ext cx="11091672"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Do not click through the quiz quickly. Interrogate each profile: entry route, qualification level, earnings, and what the job is like day to day.</a:t>
            </a:r>
            <a:endParaRPr b="0" i="0" sz="1800" u="none" cap="none" strike="noStrike">
              <a:solidFill>
                <a:schemeClr val="dk1"/>
              </a:solidFill>
              <a:latin typeface="Calibri"/>
              <a:ea typeface="Calibri"/>
              <a:cs typeface="Calibri"/>
              <a:sym typeface="Calibri"/>
            </a:endParaRPr>
          </a:p>
        </p:txBody>
      </p:sp>
      <p:sp>
        <p:nvSpPr>
          <p:cNvPr id="107" name="Google Shape;107;p12"/>
          <p:cNvSpPr/>
          <p:nvPr/>
        </p:nvSpPr>
        <p:spPr>
          <a:xfrm>
            <a:off x="685800" y="1956816"/>
            <a:ext cx="5486400" cy="237744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FFFFFF"/>
              </a:buClr>
              <a:buSzPts val="1700"/>
              <a:buFont typeface="Calibri"/>
              <a:buChar char="•"/>
            </a:pPr>
            <a:r>
              <a:rPr b="0" i="0" lang="en-US" sz="1700" u="none" cap="none" strike="noStrike">
                <a:solidFill>
                  <a:srgbClr val="FFFFFF"/>
                </a:solidFill>
                <a:latin typeface="Calibri"/>
                <a:ea typeface="Calibri"/>
                <a:cs typeface="Calibri"/>
                <a:sym typeface="Calibri"/>
              </a:rPr>
              <a:t>Journalist; film or TV producer; cyber security analyst</a:t>
            </a:r>
            <a:endParaRPr b="0" i="0" sz="170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FFFFFF"/>
              </a:buClr>
              <a:buSzPts val="1700"/>
              <a:buFont typeface="Calibri"/>
              <a:buChar char="•"/>
            </a:pPr>
            <a:r>
              <a:rPr b="0" i="0" lang="en-US" sz="1700" u="none" cap="none" strike="noStrike">
                <a:solidFill>
                  <a:srgbClr val="FFFFFF"/>
                </a:solidFill>
                <a:latin typeface="Calibri"/>
                <a:ea typeface="Calibri"/>
                <a:cs typeface="Calibri"/>
                <a:sym typeface="Calibri"/>
              </a:rPr>
              <a:t>Digital video editor; junior content producer; social media co-ordinator</a:t>
            </a:r>
            <a:endParaRPr b="0" i="0" sz="170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FFFFFF"/>
              </a:buClr>
              <a:buSzPts val="1700"/>
              <a:buFont typeface="Calibri"/>
              <a:buChar char="•"/>
            </a:pPr>
            <a:r>
              <a:rPr b="0" i="0" lang="en-US" sz="1700" u="none" cap="none" strike="noStrike">
                <a:solidFill>
                  <a:srgbClr val="FFFFFF"/>
                </a:solidFill>
                <a:latin typeface="Calibri"/>
                <a:ea typeface="Calibri"/>
                <a:cs typeface="Calibri"/>
                <a:sym typeface="Calibri"/>
              </a:rPr>
              <a:t>Games artist; animator; CGI artist; concept artist</a:t>
            </a:r>
            <a:endParaRPr b="0" i="0" sz="1700" u="none" cap="none" strike="noStrike">
              <a:solidFill>
                <a:schemeClr val="dk1"/>
              </a:solidFill>
              <a:latin typeface="Calibri"/>
              <a:ea typeface="Calibri"/>
              <a:cs typeface="Calibri"/>
              <a:sym typeface="Calibri"/>
            </a:endParaRPr>
          </a:p>
        </p:txBody>
      </p:sp>
      <p:sp>
        <p:nvSpPr>
          <p:cNvPr id="108" name="Google Shape;108;p12"/>
          <p:cNvSpPr/>
          <p:nvPr/>
        </p:nvSpPr>
        <p:spPr>
          <a:xfrm>
            <a:off x="6492240" y="1956816"/>
            <a:ext cx="5120640" cy="237744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FFFFFF"/>
              </a:buClr>
              <a:buSzPts val="1700"/>
              <a:buFont typeface="Calibri"/>
              <a:buChar char="•"/>
            </a:pPr>
            <a:r>
              <a:rPr b="0" i="0" lang="en-US" sz="1700" u="none" cap="none" strike="noStrike">
                <a:solidFill>
                  <a:srgbClr val="FFFFFF"/>
                </a:solidFill>
                <a:latin typeface="Calibri"/>
                <a:ea typeface="Calibri"/>
                <a:cs typeface="Calibri"/>
                <a:sym typeface="Calibri"/>
              </a:rPr>
              <a:t>FE lecturer or technician in media, film or computing</a:t>
            </a:r>
            <a:endParaRPr b="0" i="0" sz="170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FFFFFF"/>
              </a:buClr>
              <a:buSzPts val="1700"/>
              <a:buFont typeface="Calibri"/>
              <a:buChar char="•"/>
            </a:pPr>
            <a:r>
              <a:rPr b="0" i="0" lang="en-US" sz="1700" u="none" cap="none" strike="noStrike">
                <a:solidFill>
                  <a:srgbClr val="FFFFFF"/>
                </a:solidFill>
                <a:latin typeface="Calibri"/>
                <a:ea typeface="Calibri"/>
                <a:cs typeface="Calibri"/>
                <a:sym typeface="Calibri"/>
              </a:rPr>
              <a:t>Art director; production manager; studio manager</a:t>
            </a:r>
            <a:endParaRPr b="0" i="0" sz="170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FFFFFF"/>
              </a:buClr>
              <a:buSzPts val="1700"/>
              <a:buFont typeface="Calibri"/>
              <a:buChar char="•"/>
            </a:pPr>
            <a:r>
              <a:rPr b="0" i="0" lang="en-US" sz="1700" u="none" cap="none" strike="noStrike">
                <a:solidFill>
                  <a:srgbClr val="FFFFFF"/>
                </a:solidFill>
                <a:latin typeface="Calibri"/>
                <a:ea typeface="Calibri"/>
                <a:cs typeface="Calibri"/>
                <a:sym typeface="Calibri"/>
              </a:rPr>
              <a:t>SOC analyst; infrastructure technician; digital forensics</a:t>
            </a:r>
            <a:endParaRPr b="0" i="0" sz="1700" u="none" cap="none" strike="noStrike">
              <a:solidFill>
                <a:schemeClr val="dk1"/>
              </a:solidFill>
              <a:latin typeface="Calibri"/>
              <a:ea typeface="Calibri"/>
              <a:cs typeface="Calibri"/>
              <a:sym typeface="Calibri"/>
            </a:endParaRPr>
          </a:p>
        </p:txBody>
      </p:sp>
      <p:sp>
        <p:nvSpPr>
          <p:cNvPr id="109" name="Google Shape;109;p12"/>
          <p:cNvSpPr/>
          <p:nvPr/>
        </p:nvSpPr>
        <p:spPr>
          <a:xfrm>
            <a:off x="548640" y="4443984"/>
            <a:ext cx="11091672" cy="713232"/>
          </a:xfrm>
          <a:prstGeom prst="roundRect">
            <a:avLst>
              <a:gd fmla="val 12821"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2"/>
          <p:cNvSpPr/>
          <p:nvPr/>
        </p:nvSpPr>
        <p:spPr>
          <a:xfrm>
            <a:off x="822960" y="4498848"/>
            <a:ext cx="10607040"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3A3A"/>
              </a:buClr>
              <a:buSzPts val="1700"/>
              <a:buFont typeface="Calibri"/>
              <a:buNone/>
            </a:pPr>
            <a:r>
              <a:rPr b="0" i="0" lang="en-US" sz="1700" u="none" cap="none" strike="noStrike">
                <a:solidFill>
                  <a:srgbClr val="3A3A3A"/>
                </a:solidFill>
                <a:latin typeface="Calibri"/>
                <a:ea typeface="Calibri"/>
                <a:cs typeface="Calibri"/>
                <a:sym typeface="Calibri"/>
              </a:rPr>
              <a:t>The most useful outcome of this quiz is a clear NO. Ruling something out is progress, and it is faster than drifting into it.</a:t>
            </a:r>
            <a:endParaRPr b="0" i="0" sz="17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pic>
        <p:nvPicPr>
          <p:cNvPr descr="assets/slide07.png" id="116" name="Google Shape;116;p13"/>
          <p:cNvPicPr preferRelativeResize="0"/>
          <p:nvPr/>
        </p:nvPicPr>
        <p:blipFill rotWithShape="1">
          <a:blip r:embed="rId3">
            <a:alphaModFix/>
          </a:blip>
          <a:srcRect b="0" l="0" r="0" t="0"/>
          <a:stretch/>
        </p:blipFill>
        <p:spPr>
          <a:xfrm>
            <a:off x="0" y="0"/>
            <a:ext cx="12191695" cy="68580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pic>
        <p:nvPicPr>
          <p:cNvPr descr="assets/slide08.png" id="122" name="Google Shape;122;p14"/>
          <p:cNvPicPr preferRelativeResize="0"/>
          <p:nvPr/>
        </p:nvPicPr>
        <p:blipFill rotWithShape="1">
          <a:blip r:embed="rId3">
            <a:alphaModFix/>
          </a:blip>
          <a:srcRect b="0" l="0" r="0" t="0"/>
          <a:stretch/>
        </p:blipFill>
        <p:spPr>
          <a:xfrm>
            <a:off x="0" y="0"/>
            <a:ext cx="12191695" cy="68580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pic>
        <p:nvPicPr>
          <p:cNvPr descr="assets/slide09.png" id="128" name="Google Shape;128;p15"/>
          <p:cNvPicPr preferRelativeResize="0"/>
          <p:nvPr/>
        </p:nvPicPr>
        <p:blipFill rotWithShape="1">
          <a:blip r:embed="rId3">
            <a:alphaModFix/>
          </a:blip>
          <a:srcRect b="0" l="0" r="0" t="0"/>
          <a:stretch/>
        </p:blipFill>
        <p:spPr>
          <a:xfrm>
            <a:off x="0" y="0"/>
            <a:ext cx="12191695" cy="68580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pic>
        <p:nvPicPr>
          <p:cNvPr descr="assets/slide10.png" id="134" name="Google Shape;134;p16"/>
          <p:cNvPicPr preferRelativeResize="0"/>
          <p:nvPr/>
        </p:nvPicPr>
        <p:blipFill rotWithShape="1">
          <a:blip r:embed="rId3">
            <a:alphaModFix/>
          </a:blip>
          <a:srcRect b="0" l="0" r="0" t="0"/>
          <a:stretch/>
        </p:blipFill>
        <p:spPr>
          <a:xfrm>
            <a:off x="0" y="0"/>
            <a:ext cx="12191695" cy="6858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6D2D3"/>
        </a:solidFill>
      </p:bgPr>
    </p:bg>
    <p:spTree>
      <p:nvGrpSpPr>
        <p:cNvPr id="139" name="Shape 139"/>
        <p:cNvGrpSpPr/>
        <p:nvPr/>
      </p:nvGrpSpPr>
      <p:grpSpPr>
        <a:xfrm>
          <a:off x="0" y="0"/>
          <a:ext cx="0" cy="0"/>
          <a:chOff x="0" y="0"/>
          <a:chExt cx="0" cy="0"/>
        </a:xfrm>
      </p:grpSpPr>
      <p:sp>
        <p:nvSpPr>
          <p:cNvPr id="140" name="Google Shape;140;p17"/>
          <p:cNvSpPr/>
          <p:nvPr/>
        </p:nvSpPr>
        <p:spPr>
          <a:xfrm>
            <a:off x="0" y="1170432"/>
            <a:ext cx="12191695" cy="4151376"/>
          </a:xfrm>
          <a:prstGeom prst="rect">
            <a:avLst/>
          </a:prstGeom>
          <a:solidFill>
            <a:srgbClr val="298B8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7"/>
          <p:cNvSpPr/>
          <p:nvPr/>
        </p:nvSpPr>
        <p:spPr>
          <a:xfrm>
            <a:off x="502920" y="274320"/>
            <a:ext cx="1115568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000"/>
              <a:buFont typeface="Arial"/>
              <a:buNone/>
            </a:pPr>
            <a:r>
              <a:rPr b="1" i="0" lang="en-US" sz="3000" u="none" cap="none" strike="noStrike">
                <a:solidFill>
                  <a:srgbClr val="FFFFFF"/>
                </a:solidFill>
                <a:latin typeface="Arial"/>
                <a:ea typeface="Arial"/>
                <a:cs typeface="Arial"/>
                <a:sym typeface="Arial"/>
              </a:rPr>
              <a:t>WHAT </a:t>
            </a:r>
            <a:r>
              <a:rPr b="1" i="0" lang="en-US" sz="3000" u="none" cap="none" strike="noStrike">
                <a:solidFill>
                  <a:srgbClr val="4D4D4D"/>
                </a:solidFill>
                <a:latin typeface="Arial"/>
                <a:ea typeface="Arial"/>
                <a:cs typeface="Arial"/>
                <a:sym typeface="Arial"/>
              </a:rPr>
              <a:t>YOU SHOULD BE LOGGING</a:t>
            </a:r>
            <a:endParaRPr b="0" i="0" sz="3000" u="none" cap="none" strike="noStrike">
              <a:solidFill>
                <a:schemeClr val="dk1"/>
              </a:solidFill>
              <a:latin typeface="Calibri"/>
              <a:ea typeface="Calibri"/>
              <a:cs typeface="Calibri"/>
              <a:sym typeface="Calibri"/>
            </a:endParaRPr>
          </a:p>
        </p:txBody>
      </p:sp>
      <p:pic>
        <p:nvPicPr>
          <p:cNvPr descr="assets/footer_logo.png" id="142" name="Google Shape;142;p17"/>
          <p:cNvPicPr preferRelativeResize="0"/>
          <p:nvPr/>
        </p:nvPicPr>
        <p:blipFill rotWithShape="1">
          <a:blip r:embed="rId3">
            <a:alphaModFix/>
          </a:blip>
          <a:srcRect b="0" l="0" r="0" t="0"/>
          <a:stretch/>
        </p:blipFill>
        <p:spPr>
          <a:xfrm>
            <a:off x="301752" y="5788152"/>
            <a:ext cx="6936638" cy="827532"/>
          </a:xfrm>
          <a:prstGeom prst="rect">
            <a:avLst/>
          </a:prstGeom>
          <a:noFill/>
          <a:ln>
            <a:noFill/>
          </a:ln>
        </p:spPr>
      </p:pic>
      <p:sp>
        <p:nvSpPr>
          <p:cNvPr id="143" name="Google Shape;143;p17"/>
          <p:cNvSpPr/>
          <p:nvPr/>
        </p:nvSpPr>
        <p:spPr>
          <a:xfrm>
            <a:off x="548640" y="1426464"/>
            <a:ext cx="11091672"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Two years of consistent logging becomes a portfolio. Two years of good intentions becomes a panic in February.</a:t>
            </a:r>
            <a:endParaRPr b="0" i="0" sz="1800" u="none" cap="none" strike="noStrike">
              <a:solidFill>
                <a:schemeClr val="dk1"/>
              </a:solidFill>
              <a:latin typeface="Calibri"/>
              <a:ea typeface="Calibri"/>
              <a:cs typeface="Calibri"/>
              <a:sym typeface="Calibri"/>
            </a:endParaRPr>
          </a:p>
        </p:txBody>
      </p:sp>
      <p:sp>
        <p:nvSpPr>
          <p:cNvPr id="144" name="Google Shape;144;p17"/>
          <p:cNvSpPr/>
          <p:nvPr/>
        </p:nvSpPr>
        <p:spPr>
          <a:xfrm>
            <a:off x="685800" y="1956816"/>
            <a:ext cx="5486400" cy="237744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FFFFFF"/>
              </a:buClr>
              <a:buSzPts val="1700"/>
              <a:buFont typeface="Calibri"/>
              <a:buChar char="•"/>
            </a:pPr>
            <a:r>
              <a:rPr b="0" i="0" lang="en-US" sz="1700" u="none" cap="none" strike="noStrike">
                <a:solidFill>
                  <a:srgbClr val="FFFFFF"/>
                </a:solidFill>
                <a:latin typeface="Calibri"/>
                <a:ea typeface="Calibri"/>
                <a:cs typeface="Calibri"/>
                <a:sym typeface="Calibri"/>
              </a:rPr>
              <a:t>Film, audio, graphics and code you plan, make and evaluate</a:t>
            </a:r>
            <a:endParaRPr b="0" i="0" sz="170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FFFFFF"/>
              </a:buClr>
              <a:buSzPts val="1700"/>
              <a:buFont typeface="Calibri"/>
              <a:buChar char="•"/>
            </a:pPr>
            <a:r>
              <a:rPr b="0" i="0" lang="en-US" sz="1700" u="none" cap="none" strike="noStrike">
                <a:solidFill>
                  <a:srgbClr val="FFFFFF"/>
                </a:solidFill>
                <a:latin typeface="Calibri"/>
                <a:ea typeface="Calibri"/>
                <a:cs typeface="Calibri"/>
                <a:sym typeface="Calibri"/>
              </a:rPr>
              <a:t>Externally moderated projects and Final Major Projects</a:t>
            </a:r>
            <a:endParaRPr b="0" i="0" sz="170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FFFFFF"/>
              </a:buClr>
              <a:buSzPts val="1700"/>
              <a:buFont typeface="Calibri"/>
              <a:buChar char="•"/>
            </a:pPr>
            <a:r>
              <a:rPr b="0" i="0" lang="en-US" sz="1700" u="none" cap="none" strike="noStrike">
                <a:solidFill>
                  <a:srgbClr val="FFFFFF"/>
                </a:solidFill>
                <a:latin typeface="Calibri"/>
                <a:ea typeface="Calibri"/>
                <a:cs typeface="Calibri"/>
                <a:sym typeface="Calibri"/>
              </a:rPr>
              <a:t>Edits, builds and tests — Premiere Pro, DaVinci, Blender</a:t>
            </a:r>
            <a:endParaRPr b="0" i="0" sz="170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FFFFFF"/>
              </a:buClr>
              <a:buSzPts val="1700"/>
              <a:buFont typeface="Calibri"/>
              <a:buChar char="•"/>
            </a:pPr>
            <a:r>
              <a:rPr b="0" i="0" lang="en-US" sz="1700" u="none" cap="none" strike="noStrike">
                <a:solidFill>
                  <a:srgbClr val="FFFFFF"/>
                </a:solidFill>
                <a:latin typeface="Calibri"/>
                <a:ea typeface="Calibri"/>
                <a:cs typeface="Calibri"/>
                <a:sym typeface="Calibri"/>
              </a:rPr>
              <a:t>Live media: Youth Radio, Tag magazine, The Depot</a:t>
            </a:r>
            <a:endParaRPr b="0" i="0" sz="1700" u="none" cap="none" strike="noStrike">
              <a:solidFill>
                <a:schemeClr val="dk1"/>
              </a:solidFill>
              <a:latin typeface="Calibri"/>
              <a:ea typeface="Calibri"/>
              <a:cs typeface="Calibri"/>
              <a:sym typeface="Calibri"/>
            </a:endParaRPr>
          </a:p>
        </p:txBody>
      </p:sp>
      <p:sp>
        <p:nvSpPr>
          <p:cNvPr id="145" name="Google Shape;145;p17"/>
          <p:cNvSpPr/>
          <p:nvPr/>
        </p:nvSpPr>
        <p:spPr>
          <a:xfrm>
            <a:off x="6492240" y="1956816"/>
            <a:ext cx="5120640" cy="237744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FFFFFF"/>
              </a:buClr>
              <a:buSzPts val="1700"/>
              <a:buFont typeface="Calibri"/>
              <a:buChar char="•"/>
            </a:pPr>
            <a:r>
              <a:rPr b="0" i="0" lang="en-US" sz="1700" u="none" cap="none" strike="noStrike">
                <a:solidFill>
                  <a:srgbClr val="FFFFFF"/>
                </a:solidFill>
                <a:latin typeface="Calibri"/>
                <a:ea typeface="Calibri"/>
                <a:cs typeface="Calibri"/>
                <a:sym typeface="Calibri"/>
              </a:rPr>
              <a:t>Cross-department work — photographing for Hair and Beauty</a:t>
            </a:r>
            <a:endParaRPr b="0" i="0" sz="170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FFFFFF"/>
              </a:buClr>
              <a:buSzPts val="1700"/>
              <a:buFont typeface="Calibri"/>
              <a:buChar char="•"/>
            </a:pPr>
            <a:r>
              <a:rPr b="0" i="0" lang="en-US" sz="1700" u="none" cap="none" strike="noStrike">
                <a:solidFill>
                  <a:srgbClr val="FFFFFF"/>
                </a:solidFill>
                <a:latin typeface="Calibri"/>
                <a:ea typeface="Calibri"/>
                <a:cs typeface="Calibri"/>
                <a:sym typeface="Calibri"/>
              </a:rPr>
              <a:t>Visiting media professionals and industry visits</a:t>
            </a:r>
            <a:endParaRPr b="0" i="0" sz="170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FFFFFF"/>
              </a:buClr>
              <a:buSzPts val="1700"/>
              <a:buFont typeface="Calibri"/>
              <a:buChar char="•"/>
            </a:pPr>
            <a:r>
              <a:rPr b="0" i="0" lang="en-US" sz="1700" u="none" cap="none" strike="noStrike">
                <a:solidFill>
                  <a:srgbClr val="FFFFFF"/>
                </a:solidFill>
                <a:latin typeface="Calibri"/>
                <a:ea typeface="Calibri"/>
                <a:cs typeface="Calibri"/>
                <a:sym typeface="Calibri"/>
              </a:rPr>
              <a:t>Industry placement — 315 hours on the T Levels</a:t>
            </a:r>
            <a:endParaRPr b="0" i="0" sz="170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FFFFFF"/>
              </a:buClr>
              <a:buSzPts val="1700"/>
              <a:buFont typeface="Calibri"/>
              <a:buChar char="•"/>
            </a:pPr>
            <a:r>
              <a:rPr b="0" i="0" lang="en-US" sz="1700" u="none" cap="none" strike="noStrike">
                <a:solidFill>
                  <a:srgbClr val="FFFFFF"/>
                </a:solidFill>
                <a:latin typeface="Calibri"/>
                <a:ea typeface="Calibri"/>
                <a:cs typeface="Calibri"/>
                <a:sym typeface="Calibri"/>
              </a:rPr>
              <a:t>Part-time work — professionalism and communication are the same skills</a:t>
            </a:r>
            <a:endParaRPr b="0" i="0" sz="1700" u="none" cap="none" strike="noStrike">
              <a:solidFill>
                <a:schemeClr val="dk1"/>
              </a:solidFill>
              <a:latin typeface="Calibri"/>
              <a:ea typeface="Calibri"/>
              <a:cs typeface="Calibri"/>
              <a:sym typeface="Calibri"/>
            </a:endParaRPr>
          </a:p>
        </p:txBody>
      </p:sp>
      <p:sp>
        <p:nvSpPr>
          <p:cNvPr id="146" name="Google Shape;146;p17"/>
          <p:cNvSpPr/>
          <p:nvPr/>
        </p:nvSpPr>
        <p:spPr>
          <a:xfrm>
            <a:off x="548640" y="4443984"/>
            <a:ext cx="11091672" cy="713232"/>
          </a:xfrm>
          <a:prstGeom prst="roundRect">
            <a:avLst>
              <a:gd fmla="val 12821"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7"/>
          <p:cNvSpPr/>
          <p:nvPr/>
        </p:nvSpPr>
        <p:spPr>
          <a:xfrm>
            <a:off x="822960" y="4498848"/>
            <a:ext cx="10607040"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3A3A"/>
              </a:buClr>
              <a:buSzPts val="1700"/>
              <a:buFont typeface="Calibri"/>
              <a:buNone/>
            </a:pPr>
            <a:r>
              <a:rPr b="0" i="0" lang="en-US" sz="1700" u="none" cap="none" strike="noStrike">
                <a:solidFill>
                  <a:srgbClr val="3A3A3A"/>
                </a:solidFill>
                <a:latin typeface="Calibri"/>
                <a:ea typeface="Calibri"/>
                <a:cs typeface="Calibri"/>
                <a:sym typeface="Calibri"/>
              </a:rPr>
              <a:t>One entry per activity, logged the same week, tagged to the skills it evidences. Ten minutes now saves an afternoon in Year 2.</a:t>
            </a:r>
            <a:endParaRPr b="0" i="0" sz="17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pic>
        <p:nvPicPr>
          <p:cNvPr descr="assets/slide11.png" id="153" name="Google Shape;153;p18"/>
          <p:cNvPicPr preferRelativeResize="0"/>
          <p:nvPr/>
        </p:nvPicPr>
        <p:blipFill rotWithShape="1">
          <a:blip r:embed="rId3">
            <a:alphaModFix/>
          </a:blip>
          <a:srcRect b="0" l="0" r="0" t="0"/>
          <a:stretch/>
        </p:blipFill>
        <p:spPr>
          <a:xfrm>
            <a:off x="0" y="0"/>
            <a:ext cx="12191695" cy="68580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pic>
        <p:nvPicPr>
          <p:cNvPr descr="assets/slide12.png" id="159" name="Google Shape;159;p19"/>
          <p:cNvPicPr preferRelativeResize="0"/>
          <p:nvPr/>
        </p:nvPicPr>
        <p:blipFill rotWithShape="1">
          <a:blip r:embed="rId3">
            <a:alphaModFix/>
          </a:blip>
          <a:srcRect b="0" l="0" r="0" t="0"/>
          <a:stretch/>
        </p:blipFill>
        <p:spPr>
          <a:xfrm>
            <a:off x="0" y="0"/>
            <a:ext cx="12191695" cy="68580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6D2D3"/>
        </a:solidFill>
      </p:bgPr>
    </p:bg>
    <p:spTree>
      <p:nvGrpSpPr>
        <p:cNvPr id="164" name="Shape 164"/>
        <p:cNvGrpSpPr/>
        <p:nvPr/>
      </p:nvGrpSpPr>
      <p:grpSpPr>
        <a:xfrm>
          <a:off x="0" y="0"/>
          <a:ext cx="0" cy="0"/>
          <a:chOff x="0" y="0"/>
          <a:chExt cx="0" cy="0"/>
        </a:xfrm>
      </p:grpSpPr>
      <p:sp>
        <p:nvSpPr>
          <p:cNvPr id="165" name="Google Shape;165;p20"/>
          <p:cNvSpPr/>
          <p:nvPr/>
        </p:nvSpPr>
        <p:spPr>
          <a:xfrm>
            <a:off x="0" y="1170432"/>
            <a:ext cx="12191695" cy="4151376"/>
          </a:xfrm>
          <a:prstGeom prst="rect">
            <a:avLst/>
          </a:prstGeom>
          <a:solidFill>
            <a:srgbClr val="298B8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20"/>
          <p:cNvSpPr/>
          <p:nvPr/>
        </p:nvSpPr>
        <p:spPr>
          <a:xfrm>
            <a:off x="502920" y="274320"/>
            <a:ext cx="1115568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000"/>
              <a:buFont typeface="Arial"/>
              <a:buNone/>
            </a:pPr>
            <a:r>
              <a:rPr b="1" i="0" lang="en-US" sz="3000" u="none" cap="none" strike="noStrike">
                <a:solidFill>
                  <a:srgbClr val="FFFFFF"/>
                </a:solidFill>
                <a:latin typeface="Arial"/>
                <a:ea typeface="Arial"/>
                <a:cs typeface="Arial"/>
                <a:sym typeface="Arial"/>
              </a:rPr>
              <a:t>A REFLECTION </a:t>
            </a:r>
            <a:r>
              <a:rPr b="1" i="0" lang="en-US" sz="3000" u="none" cap="none" strike="noStrike">
                <a:solidFill>
                  <a:srgbClr val="4D4D4D"/>
                </a:solidFill>
                <a:latin typeface="Arial"/>
                <a:ea typeface="Arial"/>
                <a:cs typeface="Arial"/>
                <a:sym typeface="Arial"/>
              </a:rPr>
              <a:t>THAT MEETS THE STANDARD</a:t>
            </a:r>
            <a:endParaRPr b="0" i="0" sz="3000" u="none" cap="none" strike="noStrike">
              <a:solidFill>
                <a:schemeClr val="dk1"/>
              </a:solidFill>
              <a:latin typeface="Calibri"/>
              <a:ea typeface="Calibri"/>
              <a:cs typeface="Calibri"/>
              <a:sym typeface="Calibri"/>
            </a:endParaRPr>
          </a:p>
        </p:txBody>
      </p:sp>
      <p:pic>
        <p:nvPicPr>
          <p:cNvPr descr="assets/footer_logo.png" id="167" name="Google Shape;167;p20"/>
          <p:cNvPicPr preferRelativeResize="0"/>
          <p:nvPr/>
        </p:nvPicPr>
        <p:blipFill rotWithShape="1">
          <a:blip r:embed="rId3">
            <a:alphaModFix/>
          </a:blip>
          <a:srcRect b="0" l="0" r="0" t="0"/>
          <a:stretch/>
        </p:blipFill>
        <p:spPr>
          <a:xfrm>
            <a:off x="301752" y="5788152"/>
            <a:ext cx="6936638" cy="827532"/>
          </a:xfrm>
          <a:prstGeom prst="rect">
            <a:avLst/>
          </a:prstGeom>
          <a:noFill/>
          <a:ln>
            <a:noFill/>
          </a:ln>
        </p:spPr>
      </p:pic>
      <p:sp>
        <p:nvSpPr>
          <p:cNvPr id="168" name="Google Shape;168;p20"/>
          <p:cNvSpPr/>
          <p:nvPr/>
        </p:nvSpPr>
        <p:spPr>
          <a:xfrm>
            <a:off x="548640" y="1426464"/>
            <a:ext cx="11091672"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Reflection is a professional skill, not an admin task. Compare these.</a:t>
            </a:r>
            <a:endParaRPr b="0" i="0" sz="1800" u="none" cap="none" strike="noStrike">
              <a:solidFill>
                <a:schemeClr val="dk1"/>
              </a:solidFill>
              <a:latin typeface="Calibri"/>
              <a:ea typeface="Calibri"/>
              <a:cs typeface="Calibri"/>
              <a:sym typeface="Calibri"/>
            </a:endParaRPr>
          </a:p>
        </p:txBody>
      </p:sp>
      <p:sp>
        <p:nvSpPr>
          <p:cNvPr id="169" name="Google Shape;169;p20"/>
          <p:cNvSpPr/>
          <p:nvPr/>
        </p:nvSpPr>
        <p:spPr>
          <a:xfrm>
            <a:off x="548640" y="1920240"/>
            <a:ext cx="5577840" cy="2103120"/>
          </a:xfrm>
          <a:prstGeom prst="roundRect">
            <a:avLst>
              <a:gd fmla="val 4348" name="adj"/>
            </a:avLst>
          </a:prstGeom>
          <a:solidFill>
            <a:srgbClr val="A6D2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20"/>
          <p:cNvSpPr/>
          <p:nvPr/>
        </p:nvSpPr>
        <p:spPr>
          <a:xfrm>
            <a:off x="804672" y="2029968"/>
            <a:ext cx="5074920" cy="32918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A83226"/>
              </a:buClr>
              <a:buSzPts val="1500"/>
              <a:buFont typeface="Calibri"/>
              <a:buNone/>
            </a:pPr>
            <a:r>
              <a:rPr b="1" i="0" lang="en-US" sz="1500" u="none" cap="none" strike="noStrike">
                <a:solidFill>
                  <a:srgbClr val="A83226"/>
                </a:solidFill>
                <a:latin typeface="Calibri"/>
                <a:ea typeface="Calibri"/>
                <a:cs typeface="Calibri"/>
                <a:sym typeface="Calibri"/>
              </a:rPr>
              <a:t>DESCRIPTIVE</a:t>
            </a:r>
            <a:endParaRPr b="0" i="0" sz="1500" u="none" cap="none" strike="noStrike">
              <a:solidFill>
                <a:schemeClr val="dk1"/>
              </a:solidFill>
              <a:latin typeface="Calibri"/>
              <a:ea typeface="Calibri"/>
              <a:cs typeface="Calibri"/>
              <a:sym typeface="Calibri"/>
            </a:endParaRPr>
          </a:p>
        </p:txBody>
      </p:sp>
      <p:sp>
        <p:nvSpPr>
          <p:cNvPr id="171" name="Google Shape;171;p20"/>
          <p:cNvSpPr/>
          <p:nvPr/>
        </p:nvSpPr>
        <p:spPr>
          <a:xfrm>
            <a:off x="804672" y="2414016"/>
            <a:ext cx="5074920" cy="14813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A3A3A"/>
              </a:buClr>
              <a:buSzPts val="1500"/>
              <a:buFont typeface="Calibri"/>
              <a:buNone/>
            </a:pPr>
            <a:r>
              <a:rPr b="0" i="1" lang="en-US" sz="1500" u="none" cap="none" strike="noStrike">
                <a:solidFill>
                  <a:srgbClr val="3A3A3A"/>
                </a:solidFill>
                <a:latin typeface="Calibri"/>
                <a:ea typeface="Calibri"/>
                <a:cs typeface="Calibri"/>
                <a:sym typeface="Calibri"/>
              </a:rPr>
              <a:t>“I edited the radio package. It went okay. I was not sure about the sound.”</a:t>
            </a:r>
            <a:endParaRPr b="0" i="0" sz="1700" u="none" cap="none" strike="noStrike">
              <a:solidFill>
                <a:schemeClr val="dk1"/>
              </a:solidFill>
              <a:latin typeface="Calibri"/>
              <a:ea typeface="Calibri"/>
              <a:cs typeface="Calibri"/>
              <a:sym typeface="Calibri"/>
            </a:endParaRPr>
          </a:p>
        </p:txBody>
      </p:sp>
      <p:sp>
        <p:nvSpPr>
          <p:cNvPr id="172" name="Google Shape;172;p20"/>
          <p:cNvSpPr/>
          <p:nvPr/>
        </p:nvSpPr>
        <p:spPr>
          <a:xfrm>
            <a:off x="6492240" y="1920240"/>
            <a:ext cx="5148072" cy="2103120"/>
          </a:xfrm>
          <a:prstGeom prst="roundRect">
            <a:avLst>
              <a:gd fmla="val 4348"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20"/>
          <p:cNvSpPr/>
          <p:nvPr/>
        </p:nvSpPr>
        <p:spPr>
          <a:xfrm>
            <a:off x="6748272" y="2029968"/>
            <a:ext cx="4645152" cy="32918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7A4A"/>
              </a:buClr>
              <a:buSzPts val="1500"/>
              <a:buFont typeface="Calibri"/>
              <a:buNone/>
            </a:pPr>
            <a:r>
              <a:rPr b="1" i="0" lang="en-US" sz="1500" u="none" cap="none" strike="noStrike">
                <a:solidFill>
                  <a:srgbClr val="1E7A4A"/>
                </a:solidFill>
                <a:latin typeface="Calibri"/>
                <a:ea typeface="Calibri"/>
                <a:cs typeface="Calibri"/>
                <a:sym typeface="Calibri"/>
              </a:rPr>
              <a:t>ANALYTICAL</a:t>
            </a:r>
            <a:endParaRPr b="0" i="0" sz="1500" u="none" cap="none" strike="noStrike">
              <a:solidFill>
                <a:schemeClr val="dk1"/>
              </a:solidFill>
              <a:latin typeface="Calibri"/>
              <a:ea typeface="Calibri"/>
              <a:cs typeface="Calibri"/>
              <a:sym typeface="Calibri"/>
            </a:endParaRPr>
          </a:p>
        </p:txBody>
      </p:sp>
      <p:sp>
        <p:nvSpPr>
          <p:cNvPr id="174" name="Google Shape;174;p20"/>
          <p:cNvSpPr/>
          <p:nvPr/>
        </p:nvSpPr>
        <p:spPr>
          <a:xfrm>
            <a:off x="6748272" y="2414016"/>
            <a:ext cx="4645152" cy="14813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A3A3A"/>
              </a:buClr>
              <a:buSzPts val="1500"/>
              <a:buFont typeface="Calibri"/>
              <a:buNone/>
            </a:pPr>
            <a:r>
              <a:rPr b="0" i="1" lang="en-US" sz="1500" u="none" cap="none" strike="noStrike">
                <a:solidFill>
                  <a:srgbClr val="3A3A3A"/>
                </a:solidFill>
                <a:latin typeface="Calibri"/>
                <a:ea typeface="Calibri"/>
                <a:cs typeface="Calibri"/>
                <a:sym typeface="Calibri"/>
              </a:rPr>
              <a:t>“I cut a three-minute package for the radio show. The music kept covering the voice, so I dropped the music. That did not fix it: my voice was recorded too far from the mic, so lifting it lifted the room noise as well. I re-recorded close to the mic and the mix cleared. The fault was in the recording, not the edit. Next time I set levels as I record.”</a:t>
            </a:r>
            <a:endParaRPr b="0" i="0" sz="1300" u="none" cap="none" strike="noStrike">
              <a:solidFill>
                <a:schemeClr val="dk1"/>
              </a:solidFill>
              <a:latin typeface="Calibri"/>
              <a:ea typeface="Calibri"/>
              <a:cs typeface="Calibri"/>
              <a:sym typeface="Calibri"/>
            </a:endParaRPr>
          </a:p>
        </p:txBody>
      </p:sp>
      <p:sp>
        <p:nvSpPr>
          <p:cNvPr id="175" name="Google Shape;175;p20"/>
          <p:cNvSpPr/>
          <p:nvPr/>
        </p:nvSpPr>
        <p:spPr>
          <a:xfrm>
            <a:off x="548640" y="4169664"/>
            <a:ext cx="11091672" cy="10241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The second names the decision, the reasoning, the evidence and the change in practice — the level a personal statement or a professional portfolio needs.</a:t>
            </a:r>
            <a:endParaRPr b="0" i="0" sz="1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The Reflection Coach prompts you towards this. It does not do it for you, and an assessor can tell the difference.</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pic>
        <p:nvPicPr>
          <p:cNvPr descr="assets/slide13.png" id="181" name="Google Shape;181;p21"/>
          <p:cNvPicPr preferRelativeResize="0"/>
          <p:nvPr/>
        </p:nvPicPr>
        <p:blipFill rotWithShape="1">
          <a:blip r:embed="rId3">
            <a:alphaModFix/>
          </a:blip>
          <a:srcRect b="0" l="0" r="0" t="0"/>
          <a:stretch/>
        </p:blipFill>
        <p:spPr>
          <a:xfrm>
            <a:off x="0" y="0"/>
            <a:ext cx="12191695" cy="68580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pic>
        <p:nvPicPr>
          <p:cNvPr descr="assets/slide14.png" id="187" name="Google Shape;187;p22"/>
          <p:cNvPicPr preferRelativeResize="0"/>
          <p:nvPr/>
        </p:nvPicPr>
        <p:blipFill rotWithShape="1">
          <a:blip r:embed="rId3">
            <a:alphaModFix/>
          </a:blip>
          <a:srcRect b="0" l="0" r="0" t="0"/>
          <a:stretch/>
        </p:blipFill>
        <p:spPr>
          <a:xfrm>
            <a:off x="0" y="0"/>
            <a:ext cx="12191695" cy="68580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6D2D3"/>
        </a:solidFill>
      </p:bgPr>
    </p:bg>
    <p:spTree>
      <p:nvGrpSpPr>
        <p:cNvPr id="192" name="Shape 192"/>
        <p:cNvGrpSpPr/>
        <p:nvPr/>
      </p:nvGrpSpPr>
      <p:grpSpPr>
        <a:xfrm>
          <a:off x="0" y="0"/>
          <a:ext cx="0" cy="0"/>
          <a:chOff x="0" y="0"/>
          <a:chExt cx="0" cy="0"/>
        </a:xfrm>
      </p:grpSpPr>
      <p:sp>
        <p:nvSpPr>
          <p:cNvPr id="193" name="Google Shape;193;p23"/>
          <p:cNvSpPr/>
          <p:nvPr/>
        </p:nvSpPr>
        <p:spPr>
          <a:xfrm>
            <a:off x="0" y="1170432"/>
            <a:ext cx="12191695" cy="4151376"/>
          </a:xfrm>
          <a:prstGeom prst="rect">
            <a:avLst/>
          </a:prstGeom>
          <a:solidFill>
            <a:srgbClr val="298B8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23"/>
          <p:cNvSpPr/>
          <p:nvPr/>
        </p:nvSpPr>
        <p:spPr>
          <a:xfrm>
            <a:off x="502920" y="274320"/>
            <a:ext cx="1115568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000"/>
              <a:buFont typeface="Arial"/>
              <a:buNone/>
            </a:pPr>
            <a:r>
              <a:rPr b="1" i="0" lang="en-US" sz="3000" u="none" cap="none" strike="noStrike">
                <a:solidFill>
                  <a:srgbClr val="FFFFFF"/>
                </a:solidFill>
                <a:latin typeface="Arial"/>
                <a:ea typeface="Arial"/>
                <a:cs typeface="Arial"/>
                <a:sym typeface="Arial"/>
              </a:rPr>
              <a:t>YOUR </a:t>
            </a:r>
            <a:r>
              <a:rPr b="1" i="0" lang="en-US" sz="3000" u="none" cap="none" strike="noStrike">
                <a:solidFill>
                  <a:srgbClr val="4D4D4D"/>
                </a:solidFill>
                <a:latin typeface="Arial"/>
                <a:ea typeface="Arial"/>
                <a:cs typeface="Arial"/>
                <a:sym typeface="Arial"/>
              </a:rPr>
              <a:t>FIRST TWO WEEKS</a:t>
            </a:r>
            <a:endParaRPr b="0" i="0" sz="3000" u="none" cap="none" strike="noStrike">
              <a:solidFill>
                <a:schemeClr val="dk1"/>
              </a:solidFill>
              <a:latin typeface="Calibri"/>
              <a:ea typeface="Calibri"/>
              <a:cs typeface="Calibri"/>
              <a:sym typeface="Calibri"/>
            </a:endParaRPr>
          </a:p>
        </p:txBody>
      </p:sp>
      <p:pic>
        <p:nvPicPr>
          <p:cNvPr descr="assets/footer_logo.png" id="195" name="Google Shape;195;p23"/>
          <p:cNvPicPr preferRelativeResize="0"/>
          <p:nvPr/>
        </p:nvPicPr>
        <p:blipFill rotWithShape="1">
          <a:blip r:embed="rId3">
            <a:alphaModFix/>
          </a:blip>
          <a:srcRect b="0" l="0" r="0" t="0"/>
          <a:stretch/>
        </p:blipFill>
        <p:spPr>
          <a:xfrm>
            <a:off x="301752" y="5788152"/>
            <a:ext cx="6936638" cy="827532"/>
          </a:xfrm>
          <a:prstGeom prst="rect">
            <a:avLst/>
          </a:prstGeom>
          <a:noFill/>
          <a:ln>
            <a:noFill/>
          </a:ln>
        </p:spPr>
      </p:pic>
      <p:sp>
        <p:nvSpPr>
          <p:cNvPr id="196" name="Google Shape;196;p23"/>
          <p:cNvSpPr/>
          <p:nvPr/>
        </p:nvSpPr>
        <p:spPr>
          <a:xfrm>
            <a:off x="548640" y="1426464"/>
            <a:ext cx="11091672"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Complete these independently by the end of week two.</a:t>
            </a:r>
            <a:endParaRPr b="0" i="0" sz="1800" u="none" cap="none" strike="noStrike">
              <a:solidFill>
                <a:schemeClr val="dk1"/>
              </a:solidFill>
              <a:latin typeface="Calibri"/>
              <a:ea typeface="Calibri"/>
              <a:cs typeface="Calibri"/>
              <a:sym typeface="Calibri"/>
            </a:endParaRPr>
          </a:p>
        </p:txBody>
      </p:sp>
      <p:sp>
        <p:nvSpPr>
          <p:cNvPr id="197" name="Google Shape;197;p23"/>
          <p:cNvSpPr/>
          <p:nvPr/>
        </p:nvSpPr>
        <p:spPr>
          <a:xfrm>
            <a:off x="685800" y="1938528"/>
            <a:ext cx="5486400" cy="23774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700"/>
              <a:buFont typeface="Calibri"/>
              <a:buNone/>
            </a:pPr>
            <a:r>
              <a:rPr b="0" i="0" lang="en-US" sz="1700" u="none" cap="none" strike="noStrike">
                <a:solidFill>
                  <a:srgbClr val="FFFFFF"/>
                </a:solidFill>
                <a:latin typeface="Calibri"/>
                <a:ea typeface="Calibri"/>
                <a:cs typeface="Calibri"/>
                <a:sym typeface="Calibri"/>
              </a:rPr>
              <a:t>1.  App or shortcut set up</a:t>
            </a:r>
            <a:endParaRPr b="0" i="0" sz="1700" u="none" cap="none" strike="noStrike">
              <a:solidFill>
                <a:schemeClr val="dk1"/>
              </a:solidFill>
              <a:latin typeface="Calibri"/>
              <a:ea typeface="Calibri"/>
              <a:cs typeface="Calibri"/>
              <a:sym typeface="Calibri"/>
            </a:endParaRPr>
          </a:p>
          <a:p>
            <a:pPr indent="0" lvl="0" marL="0" marR="0" rtl="0" algn="l">
              <a:spcBef>
                <a:spcPts val="1000"/>
              </a:spcBef>
              <a:spcAft>
                <a:spcPts val="0"/>
              </a:spcAft>
              <a:buClr>
                <a:srgbClr val="FFFFFF"/>
              </a:buClr>
              <a:buSzPts val="1700"/>
              <a:buFont typeface="Calibri"/>
              <a:buNone/>
            </a:pPr>
            <a:r>
              <a:rPr b="0" i="0" lang="en-US" sz="1700" u="none" cap="none" strike="noStrike">
                <a:solidFill>
                  <a:srgbClr val="FFFFFF"/>
                </a:solidFill>
                <a:latin typeface="Calibri"/>
                <a:ea typeface="Calibri"/>
                <a:cs typeface="Calibri"/>
                <a:sym typeface="Calibri"/>
              </a:rPr>
              <a:t>2.  Skills Assessment completed honestly</a:t>
            </a:r>
            <a:endParaRPr b="0" i="0" sz="1700" u="none" cap="none" strike="noStrike">
              <a:solidFill>
                <a:schemeClr val="dk1"/>
              </a:solidFill>
              <a:latin typeface="Calibri"/>
              <a:ea typeface="Calibri"/>
              <a:cs typeface="Calibri"/>
              <a:sym typeface="Calibri"/>
            </a:endParaRPr>
          </a:p>
          <a:p>
            <a:pPr indent="0" lvl="0" marL="0" marR="0" rtl="0" algn="l">
              <a:spcBef>
                <a:spcPts val="1000"/>
              </a:spcBef>
              <a:spcAft>
                <a:spcPts val="0"/>
              </a:spcAft>
              <a:buClr>
                <a:srgbClr val="FFFFFF"/>
              </a:buClr>
              <a:buSzPts val="1700"/>
              <a:buFont typeface="Calibri"/>
              <a:buNone/>
            </a:pPr>
            <a:r>
              <a:rPr b="0" i="0" lang="en-US" sz="1700" u="none" cap="none" strike="noStrike">
                <a:solidFill>
                  <a:srgbClr val="FFFFFF"/>
                </a:solidFill>
                <a:latin typeface="Calibri"/>
                <a:ea typeface="Calibri"/>
                <a:cs typeface="Calibri"/>
                <a:sym typeface="Calibri"/>
              </a:rPr>
              <a:t>3.  Results interpreted — Green, Amber and Red</a:t>
            </a:r>
            <a:endParaRPr b="0" i="0" sz="1700" u="none" cap="none" strike="noStrike">
              <a:solidFill>
                <a:schemeClr val="dk1"/>
              </a:solidFill>
              <a:latin typeface="Calibri"/>
              <a:ea typeface="Calibri"/>
              <a:cs typeface="Calibri"/>
              <a:sym typeface="Calibri"/>
            </a:endParaRPr>
          </a:p>
          <a:p>
            <a:pPr indent="0" lvl="0" marL="0" marR="0" rtl="0" algn="l">
              <a:spcBef>
                <a:spcPts val="1000"/>
              </a:spcBef>
              <a:spcAft>
                <a:spcPts val="0"/>
              </a:spcAft>
              <a:buClr>
                <a:srgbClr val="FFFFFF"/>
              </a:buClr>
              <a:buSzPts val="1700"/>
              <a:buFont typeface="Calibri"/>
              <a:buNone/>
            </a:pPr>
            <a:r>
              <a:rPr b="0" i="0" lang="en-US" sz="1700" u="none" cap="none" strike="noStrike">
                <a:solidFill>
                  <a:srgbClr val="FFFFFF"/>
                </a:solidFill>
                <a:latin typeface="Calibri"/>
                <a:ea typeface="Calibri"/>
                <a:cs typeface="Calibri"/>
                <a:sym typeface="Calibri"/>
              </a:rPr>
              <a:t>4.  Skills Focus set from your Amber and Red</a:t>
            </a:r>
            <a:endParaRPr b="0" i="0" sz="1700" u="none" cap="none" strike="noStrike">
              <a:solidFill>
                <a:schemeClr val="dk1"/>
              </a:solidFill>
              <a:latin typeface="Calibri"/>
              <a:ea typeface="Calibri"/>
              <a:cs typeface="Calibri"/>
              <a:sym typeface="Calibri"/>
            </a:endParaRPr>
          </a:p>
        </p:txBody>
      </p:sp>
      <p:sp>
        <p:nvSpPr>
          <p:cNvPr id="198" name="Google Shape;198;p23"/>
          <p:cNvSpPr/>
          <p:nvPr/>
        </p:nvSpPr>
        <p:spPr>
          <a:xfrm>
            <a:off x="6492240" y="1938528"/>
            <a:ext cx="5120640" cy="23774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700"/>
              <a:buFont typeface="Calibri"/>
              <a:buNone/>
            </a:pPr>
            <a:r>
              <a:rPr b="0" i="0" lang="en-US" sz="1700" u="none" cap="none" strike="noStrike">
                <a:solidFill>
                  <a:srgbClr val="FFFFFF"/>
                </a:solidFill>
                <a:latin typeface="Calibri"/>
                <a:ea typeface="Calibri"/>
                <a:cs typeface="Calibri"/>
                <a:sym typeface="Calibri"/>
              </a:rPr>
              <a:t>5.  Next Destination set, entry requirements checked</a:t>
            </a:r>
            <a:endParaRPr b="0" i="0" sz="1700" u="none" cap="none" strike="noStrike">
              <a:solidFill>
                <a:schemeClr val="dk1"/>
              </a:solidFill>
              <a:latin typeface="Calibri"/>
              <a:ea typeface="Calibri"/>
              <a:cs typeface="Calibri"/>
              <a:sym typeface="Calibri"/>
            </a:endParaRPr>
          </a:p>
          <a:p>
            <a:pPr indent="0" lvl="0" marL="0" marR="0" rtl="0" algn="l">
              <a:spcBef>
                <a:spcPts val="1000"/>
              </a:spcBef>
              <a:spcAft>
                <a:spcPts val="0"/>
              </a:spcAft>
              <a:buClr>
                <a:srgbClr val="FFFFFF"/>
              </a:buClr>
              <a:buSzPts val="1700"/>
              <a:buFont typeface="Calibri"/>
              <a:buNone/>
            </a:pPr>
            <a:r>
              <a:rPr b="0" i="0" lang="en-US" sz="1700" u="none" cap="none" strike="noStrike">
                <a:solidFill>
                  <a:srgbClr val="FFFFFF"/>
                </a:solidFill>
                <a:latin typeface="Calibri"/>
                <a:ea typeface="Calibri"/>
                <a:cs typeface="Calibri"/>
                <a:sym typeface="Calibri"/>
              </a:rPr>
              <a:t>6.  Career Quiz completed, every profile reviewed</a:t>
            </a:r>
            <a:endParaRPr b="0" i="0" sz="1700" u="none" cap="none" strike="noStrike">
              <a:solidFill>
                <a:schemeClr val="dk1"/>
              </a:solidFill>
              <a:latin typeface="Calibri"/>
              <a:ea typeface="Calibri"/>
              <a:cs typeface="Calibri"/>
              <a:sym typeface="Calibri"/>
            </a:endParaRPr>
          </a:p>
          <a:p>
            <a:pPr indent="0" lvl="0" marL="0" marR="0" rtl="0" algn="l">
              <a:spcBef>
                <a:spcPts val="1000"/>
              </a:spcBef>
              <a:spcAft>
                <a:spcPts val="0"/>
              </a:spcAft>
              <a:buClr>
                <a:srgbClr val="FFFFFF"/>
              </a:buClr>
              <a:buSzPts val="1700"/>
              <a:buFont typeface="Calibri"/>
              <a:buNone/>
            </a:pPr>
            <a:r>
              <a:rPr b="0" i="0" lang="en-US" sz="1700" u="none" cap="none" strike="noStrike">
                <a:solidFill>
                  <a:srgbClr val="FFFFFF"/>
                </a:solidFill>
                <a:latin typeface="Calibri"/>
                <a:ea typeface="Calibri"/>
                <a:cs typeface="Calibri"/>
                <a:sym typeface="Calibri"/>
              </a:rPr>
              <a:t>7.  Digital CV Introduction written</a:t>
            </a:r>
            <a:endParaRPr b="0" i="0" sz="1700" u="none" cap="none" strike="noStrike">
              <a:solidFill>
                <a:schemeClr val="dk1"/>
              </a:solidFill>
              <a:latin typeface="Calibri"/>
              <a:ea typeface="Calibri"/>
              <a:cs typeface="Calibri"/>
              <a:sym typeface="Calibri"/>
            </a:endParaRPr>
          </a:p>
          <a:p>
            <a:pPr indent="0" lvl="0" marL="0" marR="0" rtl="0" algn="l">
              <a:spcBef>
                <a:spcPts val="1000"/>
              </a:spcBef>
              <a:spcAft>
                <a:spcPts val="0"/>
              </a:spcAft>
              <a:buClr>
                <a:srgbClr val="FFFFFF"/>
              </a:buClr>
              <a:buSzPts val="1700"/>
              <a:buFont typeface="Calibri"/>
              <a:buNone/>
            </a:pPr>
            <a:r>
              <a:rPr b="0" i="0" lang="en-US" sz="1700" u="none" cap="none" strike="noStrike">
                <a:solidFill>
                  <a:srgbClr val="FFFFFF"/>
                </a:solidFill>
                <a:latin typeface="Calibri"/>
                <a:ea typeface="Calibri"/>
                <a:cs typeface="Calibri"/>
                <a:sym typeface="Calibri"/>
              </a:rPr>
              <a:t>8.  One activity logged, with a strong reflection</a:t>
            </a:r>
            <a:endParaRPr b="0" i="0" sz="1700" u="none" cap="none" strike="noStrike">
              <a:solidFill>
                <a:schemeClr val="dk1"/>
              </a:solidFill>
              <a:latin typeface="Calibri"/>
              <a:ea typeface="Calibri"/>
              <a:cs typeface="Calibri"/>
              <a:sym typeface="Calibri"/>
            </a:endParaRPr>
          </a:p>
        </p:txBody>
      </p:sp>
      <p:sp>
        <p:nvSpPr>
          <p:cNvPr id="199" name="Google Shape;199;p23"/>
          <p:cNvSpPr/>
          <p:nvPr/>
        </p:nvSpPr>
        <p:spPr>
          <a:xfrm>
            <a:off x="548640" y="4425696"/>
            <a:ext cx="11091672" cy="749808"/>
          </a:xfrm>
          <a:prstGeom prst="roundRect">
            <a:avLst>
              <a:gd fmla="val 12195"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23"/>
          <p:cNvSpPr/>
          <p:nvPr/>
        </p:nvSpPr>
        <p:spPr>
          <a:xfrm>
            <a:off x="822960" y="4480560"/>
            <a:ext cx="1060704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3A3A"/>
              </a:buClr>
              <a:buSzPts val="1700"/>
              <a:buFont typeface="Calibri"/>
              <a:buNone/>
            </a:pPr>
            <a:r>
              <a:rPr b="0" i="0" lang="en-US" sz="1700" u="none" cap="none" strike="noStrike">
                <a:solidFill>
                  <a:srgbClr val="3A3A3A"/>
                </a:solidFill>
                <a:latin typeface="Calibri"/>
                <a:ea typeface="Calibri"/>
                <a:cs typeface="Calibri"/>
                <a:sym typeface="Calibri"/>
              </a:rPr>
              <a:t>No reminders are coming, and that is deliberate. If you hit a genuine barrier, message your tutor in the app — asking early is a professional skill, not a weakness.</a:t>
            </a:r>
            <a:endParaRPr b="0" i="0" sz="17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