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2AB430E-8FD1-44FE-AAE3-1514E094F7B2}">
  <a:tblStyle styleId="{F2AB430E-8FD1-44FE-AAE3-1514E094F7B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SLIDE 1 — TITLE</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TEACHER INPUT | Variant: L3 Year 2 / A-level Year 2</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Do not use this deck with new starters. This variant is calibrated for students who have been at ESCG for at least one year.</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The subtitle — 'You know how this works. Now decide what you do with that.' — sets the register. This isn't induction. It's a check-in and a decision point.</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Two subgroups to hold in mind:</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L3 Year 2: Last year of their Level 3. Don't fumble the last lap. They have enough institutional knowledge to stand for Rep or Governor with genuine credibility.</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A-level Year 2: UCAS is live or imminent. Time is finite. Rep role is still real and worth taking on; Governor election in November is less relevant (most will have left before they could serve a full term — flag this in speaker notes context on slide 7).</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PROUD value: Encourage Unity. The returner framing: 'You've seen collective voice work or not work. You're the ones who know how to make it work this year.'</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DEPARTMENT VERSION — this deck has been personalised for Year 1 Level 3 and T Level Digital, Media, Film and Computing (Content Creation and Cybersecurity &amp; Digital Systems at Eastbourne; Games Art and Animation at Station Plaza; Film Production and the Digital and Cyber Security T Levels at Ore; Creative and Design T Level at Lewes). Five things still need your local detail: campus and group, the English and maths class times and teachers, where the Governor application link lives, who holds the Student Rep Register for your area, and one real example of something that changed here because students asked.</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NEW THIS YEAR: this group elects TWO reps — one for their course, one for their English and maths class. Both go on the central Student Rep Register today.</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Register note: this is a vocational L3 group. The productive frame throughout is professional conduct — speaking up, evidencing a concern, following it through — because it is the same behaviour their placement or employer will assess.</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2 — SESSION MAP</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SESSION MAP | Time: 1 min</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Returners don't need a detailed walkthrough — they know the format. Keep this to 30 seconds.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The one thing to flag: 'Today ends with an election. Whether or not you want to stand, pay attention to the earlier slides — you know what makes a good rep better than first-years do.'</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 two seats are filled in the election slot: the course rep and the English/maths rep.</a:t>
            </a:r>
            <a:endParaRPr/>
          </a:p>
        </p:txBody>
      </p:sp>
      <p:sp>
        <p:nvSpPr>
          <p:cNvPr id="27" name="Google Shape;2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3 — CHECK IN</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DISCUSSION | Time: 10 mins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Two questions, not one. The first is analytical — what actually happened? The second is forward-looking — what would you want to be different? Together they establish that this group has the experience to make the election today meaningful.</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Running it: 3 minutes paired, then invite 4–5 responses. Don't editorialise — note the themes briefly. The punchline: 'You've just described what a good rep looks like. Keep that in mind when you're voting — or standing — later.'</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What to watch for: students who say 'I never knew who our rep was' or 'they never fed back.' These are valid critiques. Acknowledge them directly — 'That's exactly the gap this year's election can fix.' Don't get defensive.</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L3Y2 specific: some may be genuinely energised by the start of a new year. Others may be coasting. The two-question format tends to surface both.</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A-level Y2 specific: UCAS pressure may be visible already. Acknowledge at close of discussion if relevant: 'I know some of you are already deep into applications. That's exactly why having a rep who understands the pressure you're under matters.'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Safeguarding: open questions occasionally surface concerns. Listen calmly, do not promise confidentiality, report same day. Module F covers full procedure.</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 both check-in questions now name this department's working environment: studios, software, edit time, kit and the placement process. The more concrete the question, the more usable the feedback the rep carries to Council. Push once for the named thing — “four edit stations can't run Premiere” is usable at Council; “the software is rubbish” is not.</a:t>
            </a:r>
            <a:endParaRPr/>
          </a:p>
        </p:txBody>
      </p:sp>
      <p:sp>
        <p:nvSpPr>
          <p:cNvPr id="86" name="Google Shape;8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4 — STUDENTS' VOICE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Mode: TEACHER INPUT | Time: 10 mins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move the conversation from 'what is this' (which returners already know) to 'what makes it actually work.' This is a more sophisticated framing than Core's introductory slide.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left panel names the four conditions for effectiveness. Each one is worth a sentence — draw on what the check-in discussion surfaced. If the group said their rep 'never fed back,' that maps directly to the third bullet ('groups who tell their rep what matters').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honest case: 'Students' Voice doesn't work automatically. It works when the rep is genuinely plugged in, and when the group uses them. Both sides of that have to function.'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Don't over-promise outcomes — returners will call it out if you do. The 'visible outcomes' card is the important one: outcomes are documented and visible, even when they're partial or slow.</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Bridge: 'So — knowing all that — let's look at the roles available and which one might suit where you are this year.'</a:t>
            </a:r>
            <a:endParaRPr/>
          </a:p>
        </p:txBody>
      </p:sp>
      <p:sp>
        <p:nvSpPr>
          <p:cNvPr id="103" name="Google Shape;10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5 — WAYS TO GET INVOLVED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Mode: TEACHER INPUT | Time: 10 mins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Returners don't need each option explained from scratch. The framing question — 'which one fits Year 2?' — is the right lens.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Student Rep: 'You've seen what a rep does, and you probably have views on what makes a good one. That knowledge is exactly what makes you a stronger candidate than you were last year.'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Student Governor: note the forward flag — 'requires commitment beyond this year.' A-level Y2 students who are leaving after this year are not eligible to serve a full Governor term. Flag this without making it a barrier: 'If you're continuing at ESCG, this is worth looking at seriously in November.'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Induction Survey: 'Three minutes, and it's how the college gets a picture of what Year 2 actually looks like from the inside. Worth doing even if you do nothing else today.'</a:t>
            </a:r>
            <a:endParaRPr/>
          </a:p>
        </p:txBody>
      </p:sp>
      <p:sp>
        <p:nvSpPr>
          <p:cNvPr id="136" name="Google Shape;13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6 — THE STUDENT REP ROLE</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TEACHER INPUT | Time: 10 mins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The returner-specific framing is in the green tinted strip: 'Year 2 advantage — you know the staff, the meetings, and what actually moves things.' Say this directly.</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Familiarity-as-risk is the thing to name honestly: 'The risk in Year 2 is that you know the system well enough to go through the motions. A rep who's coasting doesn't help anyone.' Pair it immediately with the positive: 'But knowing the system also means you can make it work faster than a first-year can. That's a genuine advantage.'</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Training note: even returners who have been reps before are expected to attend the 14 October training as newly elected reps. It's not optional — flag this clearly.</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A-level Y2 specific: for students with UCAS pressure, acknowledge the time cost honestly. 'Three meetings a year. If you're managing UCAS alongside this, it's manageable — but it requires being organised. Don't stand if you can't commit.'</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 the sixth bullet is new: the rep role now covers the group's English and maths class as well as the course. Both reps attend the same 14 October training.</a:t>
            </a:r>
            <a:endParaRPr/>
          </a:p>
        </p:txBody>
      </p:sp>
      <p:sp>
        <p:nvSpPr>
          <p:cNvPr id="175" name="Google Shape;17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7 — STUDENT GOVERNOR ROLE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Mode: TEACHER INPUT | Time: 5 mins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A-level Y2 eligibility note is on-slide for this variant — it prevents students from investing enthusiasm in an option that isn't available to them. Say it directly: 'If you're finishing A-levels this year and not continuing at the college, the Governor role isn't open to you. That's not a criticism — it's just the requirement.'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For L3Y2 students who are progressing: this is worth pressing before the 16 October deadline. 'You've already got a year here. You know how this college works. That's exactly the kind of experience a Governor needs.'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Student Enrichment Co-ordinators for students who want to find out more: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Eastbourne: Chelsey King</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Lewes: Tessa Echalaz</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Station Plaza &amp; Ore Valley: Paige Baker-Carroll</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Bridge: 'One more thought before we get to the election.'</a:t>
            </a:r>
            <a:endParaRPr/>
          </a:p>
        </p:txBody>
      </p:sp>
      <p:sp>
        <p:nvSpPr>
          <p:cNvPr id="199" name="Google Shape;19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8 — WHAT THE BOARD DOES</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TEACHER INPUT | Time: 4 mins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The distinction in the red box is the content of this slide: a Student Governor brings a student perspective; they are not a representative. The nearest workplace parallel is a board director versus a union rep — for groups already on placement, that comparison usually lands first time.</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Both mechanisms are real. The rep is accountable to this group; the governor is appointed for what they bring.</a:t>
            </a:r>
            <a:endParaRPr/>
          </a:p>
        </p:txBody>
      </p:sp>
      <p:sp>
        <p:nvSpPr>
          <p:cNvPr id="222" name="Google Shape;222;p8: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9 — WHAT IT TAKES</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TEACHER INPUT | Time: 4 mins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Be concrete about the time, especially for groups with placement blocks — 3–5 hours a month is real and Board dates are fixed a year ahead.</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Card 4 is the one to dwell on: confidentiality, preparation and professional conduct are things this group is already assessed on in the workplace. Name that transfer explicitly.</a:t>
            </a:r>
            <a:endParaRPr/>
          </a:p>
        </p:txBody>
      </p:sp>
      <p:sp>
        <p:nvSpPr>
          <p:cNvPr id="245" name="Google Shape;245;p9: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10 — HOW TO APPLY</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TEACHER INPUT | Time: 4 mins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The deadline — midday, Friday 16 October — is the operative fact.</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Eligibility: students must be planning to study at ESCG for at least one more year. For final-year groups, redirect to the Rep role rather than letting them draft an application that cannot proceed.</a:t>
            </a:r>
            <a:endParaRPr/>
          </a:p>
        </p:txBody>
      </p:sp>
      <p:sp>
        <p:nvSpPr>
          <p:cNvPr id="283" name="Google Shape;283;p10: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8 — ENCOURAGE UNITY (PROUD)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Mode: TEACHER INPUT | Time: 5 mins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returner-specific angle: 'You've been here long enough to know what collective voice looks like when it's working. That's exactly why this year is different — you're not starting from scratch.'</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three cards are talking points — use whichever lands: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Experience card: returners carry institutional knowledge that new students can't have. That knowledge is only useful if it's shared — through the rep, through the survey, through talking to the group.</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Rep card: you chose your rep today. That means they're accountable to you. Use that.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Legacy card: slightly different register — this group's engagement (or disengagement) shapes what the next cohort walks into. Worth saying once, briefly, without making it heavy.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Bridge: 'Right — election time.'</a:t>
            </a:r>
            <a:endParaRPr/>
          </a:p>
        </p:txBody>
      </p:sp>
      <p:sp>
        <p:nvSpPr>
          <p:cNvPr id="323" name="Google Shape;32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9 — ELECTION ACTIVITY</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ACTIVITY | Time: 30–35 mins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Returner-specific framing for the pitches: 'You've seen a rep do this job. You know what good looks like — and what doesn't. If you're standing, say what you'd actually do. If you're voting, hold candidates to that.'</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STAGE 1 — NOMINATIONS: Returners are generally less hesitant to put themselves forward than first-years. Allow 2 minutes but don't be surprised if it moves faster. If nobody stands initially: 'Who in this room do you trust to take your feedback forward?' — redirect to character, not volunteering.</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STAGE 2 — PITCHES: The pitch slide copy says 'you've seen this done — say what you'd do differently.' That's the returner register. Credit experience without making it a condition: students who didn't engage much last year can still stand.</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STAGE 3 — VOTE: Returners often prefer to move quickly. Let them set the pace on voting method — they've done it before.</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STAGE 4 — CONFIRM AND REGISTER: Must happen before session closes. Add to central Student Rep Register: name, group, campus.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MANDATORY: Elections must be completed by end of Week 2. This session is Week 3. Do not leave this unfinished. If nobody stands, flag immediately to Head of Department and Student Enrichment Co-ordinator.</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 run nominations once and elect both seats: course rep first, then the English/maths rep. If the group is split across placement days, make sure absent students still get a vote.</a:t>
            </a:r>
            <a:endParaRPr/>
          </a:p>
        </p:txBody>
      </p:sp>
      <p:sp>
        <p:nvSpPr>
          <p:cNvPr id="342" name="Google Shape;342;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10 — COMMITMENT CARD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Mode: ACTIVITY | Time: 5 mins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Key returner differences from Core: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Option 2 — 'I'll brief my rep': upgraded from Core's 'I'll talk to my rep.' The returner version names a specific, accountable action: something from last year that still needs fixing, with a follow-up check. This credits their experience and sets a higher bar than the passive version.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Option 3 — 'I'll use what I know': the most distinctively returner option. Three routes — stand (for Rep today or Governor in November), advise (a friend, a new student, this year's rep), or pass on knowledge. Works for both L3Y2 (Governor route is available) and A-level Y2 (Governor route may not be, but the advising and passing-on routes still are).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Option 4 — safeguarding disclosure: identical to Core. Standard language, same structural purpose. Keep a note of who chooses this and check in individually before the week is out.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Running it: 2 minutes to choose, then 2–3 students share. Acknowledge without evaluating.</a:t>
            </a:r>
            <a:endParaRPr/>
          </a:p>
        </p:txBody>
      </p:sp>
      <p:sp>
        <p:nvSpPr>
          <p:cNvPr id="381" name="Google Shape;381;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11 — CLOSE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Mode: SESSION MAP | Time: 5 mins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Name the rep aloud — 'Your Student Rep is [name], elected just now.' Make it concrete.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Rep training note: even returners who have been reps before attend the 14 October training as newly elected reps. Say this explicitly — some will assume it doesn't apply to them.</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Governor note: the 'continuing at ESCG' qualifier is in the bullet for A-level Y2 visibility. Don't labour it — just let it land.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Close briskly. Returners don't need a warm wind-down — they need clear next steps and to get on with their day.</a:t>
            </a:r>
            <a:endParaRPr/>
          </a:p>
        </p:txBody>
      </p:sp>
      <p:sp>
        <p:nvSpPr>
          <p:cNvPr id="413" name="Google Shape;413;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Teacher appendix — not for student display.</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 teacher appendix. This deck has been personalised for Year 1 Level 3 and T Level Digital, Media, Film and Computing and every adaptation marker has been completed. Still needs your local detail: campus and group, English and maths class times and teachers, the Governor application link, who holds the Student Rep Register for your area, and one real local example of a change students asked for.</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 the Governor block (slides 8–10) adds roughly 12 minutes. Protect the election: it is mandatory by end of Week 2. Please also check the speaker notes on slides 1, 3, 5, 6 and 15 before you deliver: several of them address a Year 2 returner group rather than Year 1, which looks like an error inherited from the Year 2 variant of this deck.</a:t>
            </a:r>
            <a:endParaRPr/>
          </a:p>
        </p:txBody>
      </p:sp>
      <p:sp>
        <p:nvSpPr>
          <p:cNvPr id="443" name="Google Shape;443;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 Id="rId10" Type="http://schemas.openxmlformats.org/officeDocument/2006/relationships/image" Target="../media/image8.png"/><Relationship Id="rId9"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png"/><Relationship Id="rId7"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11" name="Shape 11"/>
        <p:cNvGrpSpPr/>
        <p:nvPr/>
      </p:nvGrpSpPr>
      <p:grpSpPr>
        <a:xfrm>
          <a:off x="0" y="0"/>
          <a:ext cx="0" cy="0"/>
          <a:chOff x="0" y="0"/>
          <a:chExt cx="0" cy="0"/>
        </a:xfrm>
      </p:grpSpPr>
      <p:sp>
        <p:nvSpPr>
          <p:cNvPr id="12" name="Google Shape;12;p3"/>
          <p:cNvSpPr/>
          <p:nvPr/>
        </p:nvSpPr>
        <p:spPr>
          <a:xfrm>
            <a:off x="0" y="0"/>
            <a:ext cx="411480" cy="514350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 name="Google Shape;13;p3"/>
          <p:cNvSpPr/>
          <p:nvPr/>
        </p:nvSpPr>
        <p:spPr>
          <a:xfrm>
            <a:off x="640080" y="777240"/>
            <a:ext cx="1463040" cy="347472"/>
          </a:xfrm>
          <a:prstGeom prst="rect">
            <a:avLst/>
          </a:prstGeom>
          <a:solidFill>
            <a:srgbClr val="FFCF01"/>
          </a:solidFill>
          <a:ln cap="flat" cmpd="sng" w="12700">
            <a:solidFill>
              <a:srgbClr val="FFCF0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3"/>
          <p:cNvSpPr/>
          <p:nvPr/>
        </p:nvSpPr>
        <p:spPr>
          <a:xfrm>
            <a:off x="640080" y="777240"/>
            <a:ext cx="14630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2A30"/>
              </a:buClr>
              <a:buSzPts val="1000"/>
              <a:buFont typeface="Arial"/>
              <a:buNone/>
            </a:pPr>
            <a:r>
              <a:rPr b="1" i="0" lang="en-US" sz="1000" u="none" cap="none" strike="noStrike">
                <a:solidFill>
                  <a:srgbClr val="1B2A30"/>
                </a:solidFill>
                <a:latin typeface="Arial"/>
                <a:ea typeface="Arial"/>
                <a:cs typeface="Arial"/>
                <a:sym typeface="Arial"/>
              </a:rPr>
              <a:t>MODULE D</a:t>
            </a:r>
            <a:endParaRPr b="0" i="0" sz="1000" u="none" cap="none" strike="noStrike">
              <a:solidFill>
                <a:schemeClr val="dk1"/>
              </a:solidFill>
              <a:latin typeface="Calibri"/>
              <a:ea typeface="Calibri"/>
              <a:cs typeface="Calibri"/>
              <a:sym typeface="Calibri"/>
            </a:endParaRPr>
          </a:p>
        </p:txBody>
      </p:sp>
      <p:sp>
        <p:nvSpPr>
          <p:cNvPr id="15" name="Google Shape;15;p3"/>
          <p:cNvSpPr/>
          <p:nvPr/>
        </p:nvSpPr>
        <p:spPr>
          <a:xfrm>
            <a:off x="640080" y="1170432"/>
            <a:ext cx="598932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A54"/>
              </a:buClr>
              <a:buSzPts val="1000"/>
              <a:buFont typeface="Arial"/>
              <a:buNone/>
            </a:pPr>
            <a:r>
              <a:rPr b="0" i="1" lang="en-US" sz="1000" u="none" cap="none" strike="noStrike">
                <a:solidFill>
                  <a:srgbClr val="0F7A54"/>
                </a:solidFill>
                <a:latin typeface="Arial"/>
                <a:ea typeface="Arial"/>
                <a:cs typeface="Arial"/>
                <a:sym typeface="Arial"/>
              </a:rPr>
              <a:t>Group 1 — Settling In &amp; Belonging  |  L3 and T Level Digital, Media, Film and Computing</a:t>
            </a:r>
            <a:endParaRPr b="0" i="0" sz="1000" u="none" cap="none" strike="noStrike">
              <a:solidFill>
                <a:schemeClr val="dk1"/>
              </a:solidFill>
              <a:latin typeface="Calibri"/>
              <a:ea typeface="Calibri"/>
              <a:cs typeface="Calibri"/>
              <a:sym typeface="Calibri"/>
            </a:endParaRPr>
          </a:p>
        </p:txBody>
      </p:sp>
      <p:sp>
        <p:nvSpPr>
          <p:cNvPr id="16" name="Google Shape;16;p3"/>
          <p:cNvSpPr/>
          <p:nvPr/>
        </p:nvSpPr>
        <p:spPr>
          <a:xfrm>
            <a:off x="640080" y="1508760"/>
            <a:ext cx="5943600" cy="1920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Students' Voice</a:t>
            </a:r>
            <a:endParaRPr b="0" i="0" sz="4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&amp; Student Rep</a:t>
            </a:r>
            <a:endParaRPr b="0" i="0" sz="4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Elections</a:t>
            </a:r>
            <a:endParaRPr b="0" i="0" sz="4000" u="none" cap="none" strike="noStrike">
              <a:solidFill>
                <a:schemeClr val="dk1"/>
              </a:solidFill>
              <a:latin typeface="Calibri"/>
              <a:ea typeface="Calibri"/>
              <a:cs typeface="Calibri"/>
              <a:sym typeface="Calibri"/>
            </a:endParaRPr>
          </a:p>
        </p:txBody>
      </p:sp>
      <p:sp>
        <p:nvSpPr>
          <p:cNvPr id="17" name="Google Shape;17;p3"/>
          <p:cNvSpPr/>
          <p:nvPr/>
        </p:nvSpPr>
        <p:spPr>
          <a:xfrm>
            <a:off x="640080" y="3474720"/>
            <a:ext cx="59436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2DBDA"/>
              </a:buClr>
              <a:buSzPts val="1400"/>
              <a:buFont typeface="Arial"/>
              <a:buNone/>
            </a:pPr>
            <a:r>
              <a:rPr b="0" i="1" lang="en-US" sz="1400" u="none" cap="none" strike="noStrike">
                <a:solidFill>
                  <a:srgbClr val="D2DBDA"/>
                </a:solidFill>
                <a:latin typeface="Arial"/>
                <a:ea typeface="Arial"/>
                <a:cs typeface="Arial"/>
                <a:sym typeface="Arial"/>
              </a:rPr>
              <a:t>You're training for industry — placements, employer briefs, live products. This is how you get a say in how that training runs.</a:t>
            </a:r>
            <a:endParaRPr b="0" i="0" sz="1400" u="none" cap="none" strike="noStrike">
              <a:solidFill>
                <a:schemeClr val="dk1"/>
              </a:solidFill>
              <a:latin typeface="Calibri"/>
              <a:ea typeface="Calibri"/>
              <a:cs typeface="Calibri"/>
              <a:sym typeface="Calibri"/>
            </a:endParaRPr>
          </a:p>
        </p:txBody>
      </p:sp>
      <p:sp>
        <p:nvSpPr>
          <p:cNvPr id="18" name="Google Shape;18;p3"/>
          <p:cNvSpPr/>
          <p:nvPr/>
        </p:nvSpPr>
        <p:spPr>
          <a:xfrm>
            <a:off x="640080" y="4315968"/>
            <a:ext cx="1645920" cy="32004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 name="Google Shape;19;p3"/>
          <p:cNvSpPr/>
          <p:nvPr/>
        </p:nvSpPr>
        <p:spPr>
          <a:xfrm>
            <a:off x="640080" y="4315968"/>
            <a:ext cx="164592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100 minutes</a:t>
            </a:r>
            <a:endParaRPr b="0" i="0" sz="1000" u="none" cap="none" strike="noStrike">
              <a:solidFill>
                <a:schemeClr val="dk1"/>
              </a:solidFill>
              <a:latin typeface="Calibri"/>
              <a:ea typeface="Calibri"/>
              <a:cs typeface="Calibri"/>
              <a:sym typeface="Calibri"/>
            </a:endParaRPr>
          </a:p>
        </p:txBody>
      </p:sp>
      <p:sp>
        <p:nvSpPr>
          <p:cNvPr id="20" name="Google Shape;20;p3"/>
          <p:cNvSpPr/>
          <p:nvPr/>
        </p:nvSpPr>
        <p:spPr>
          <a:xfrm>
            <a:off x="2423160" y="4315968"/>
            <a:ext cx="2011680" cy="320040"/>
          </a:xfrm>
          <a:prstGeom prst="rect">
            <a:avLst/>
          </a:prstGeom>
          <a:solidFill>
            <a:srgbClr val="0F7A54">
              <a:alpha val="40000"/>
            </a:srgbClr>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 name="Google Shape;21;p3"/>
          <p:cNvSpPr/>
          <p:nvPr/>
        </p:nvSpPr>
        <p:spPr>
          <a:xfrm>
            <a:off x="2423160" y="4315968"/>
            <a:ext cx="201168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BTEC Level 3 / T-Level</a:t>
            </a:r>
            <a:endParaRPr b="0" i="0" sz="900" u="none" cap="none" strike="noStrike">
              <a:solidFill>
                <a:schemeClr val="dk1"/>
              </a:solidFill>
              <a:latin typeface="Calibri"/>
              <a:ea typeface="Calibri"/>
              <a:cs typeface="Calibri"/>
              <a:sym typeface="Calibri"/>
            </a:endParaRPr>
          </a:p>
        </p:txBody>
      </p:sp>
      <p:sp>
        <p:nvSpPr>
          <p:cNvPr id="22" name="Google Shape;22;p3"/>
          <p:cNvSpPr/>
          <p:nvPr/>
        </p:nvSpPr>
        <p:spPr>
          <a:xfrm>
            <a:off x="640080" y="4700016"/>
            <a:ext cx="78638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900"/>
              <a:buFont typeface="Arial"/>
              <a:buNone/>
            </a:pPr>
            <a:r>
              <a:rPr b="0" i="0" lang="en-US" sz="900" u="none" cap="none" strike="noStrike">
                <a:solidFill>
                  <a:srgbClr val="5A6A6F"/>
                </a:solidFill>
                <a:latin typeface="Arial"/>
                <a:ea typeface="Arial"/>
                <a:cs typeface="Arial"/>
                <a:sym typeface="Arial"/>
              </a:rPr>
              <a:t>PROUD value: Encourage Unity  |  Eastbourne · Lewes · Hastings (Station Plaza &amp; Ore)</a:t>
            </a:r>
            <a:endParaRPr b="0" i="0" sz="900" u="none" cap="none" strike="noStrike">
              <a:solidFill>
                <a:schemeClr val="dk1"/>
              </a:solidFill>
              <a:latin typeface="Calibri"/>
              <a:ea typeface="Calibri"/>
              <a:cs typeface="Calibri"/>
              <a:sym typeface="Calibri"/>
            </a:endParaRPr>
          </a:p>
        </p:txBody>
      </p:sp>
      <p:pic>
        <p:nvPicPr>
          <p:cNvPr descr="preencoded.png" id="23" name="Google Shape;23;p3"/>
          <p:cNvPicPr preferRelativeResize="0"/>
          <p:nvPr/>
        </p:nvPicPr>
        <p:blipFill rotWithShape="1">
          <a:blip r:embed="rId3">
            <a:alphaModFix/>
          </a:blip>
          <a:srcRect b="0" l="0" r="0" t="0"/>
          <a:stretch/>
        </p:blipFill>
        <p:spPr>
          <a:xfrm>
            <a:off x="6858000" y="914400"/>
            <a:ext cx="1828800" cy="1828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8" name="Shape 28"/>
        <p:cNvGrpSpPr/>
        <p:nvPr/>
      </p:nvGrpSpPr>
      <p:grpSpPr>
        <a:xfrm>
          <a:off x="0" y="0"/>
          <a:ext cx="0" cy="0"/>
          <a:chOff x="0" y="0"/>
          <a:chExt cx="0" cy="0"/>
        </a:xfrm>
      </p:grpSpPr>
      <p:sp>
        <p:nvSpPr>
          <p:cNvPr id="29" name="Google Shape;29;p4"/>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What we're doing today</a:t>
            </a:r>
            <a:endParaRPr b="0" i="0" sz="2200" u="none" cap="none" strike="noStrike">
              <a:solidFill>
                <a:schemeClr val="dk1"/>
              </a:solidFill>
              <a:latin typeface="Calibri"/>
              <a:ea typeface="Calibri"/>
              <a:cs typeface="Calibri"/>
              <a:sym typeface="Calibri"/>
            </a:endParaRPr>
          </a:p>
        </p:txBody>
      </p:sp>
      <p:sp>
        <p:nvSpPr>
          <p:cNvPr id="30" name="Google Shape;30;p4"/>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About 100 minutes — the shape of the session</a:t>
            </a:r>
            <a:endParaRPr b="0" i="0" sz="1100" u="none" cap="none" strike="noStrike">
              <a:solidFill>
                <a:schemeClr val="dk1"/>
              </a:solidFill>
              <a:latin typeface="Calibri"/>
              <a:ea typeface="Calibri"/>
              <a:cs typeface="Calibri"/>
              <a:sym typeface="Calibri"/>
            </a:endParaRPr>
          </a:p>
        </p:txBody>
      </p:sp>
      <p:sp>
        <p:nvSpPr>
          <p:cNvPr id="31" name="Google Shape;31;p4"/>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 name="Google Shape;32;p4"/>
          <p:cNvSpPr/>
          <p:nvPr/>
        </p:nvSpPr>
        <p:spPr>
          <a:xfrm>
            <a:off x="7498080" y="109728"/>
            <a:ext cx="1508760" cy="292608"/>
          </a:xfrm>
          <a:prstGeom prst="rect">
            <a:avLst/>
          </a:prstGeom>
          <a:solidFill>
            <a:srgbClr val="5A6A6F"/>
          </a:solidFill>
          <a:ln cap="flat" cmpd="sng" w="12700">
            <a:solidFill>
              <a:srgbClr val="5A6A6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 name="Google Shape;33;p4"/>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SESSION MAP</a:t>
            </a:r>
            <a:endParaRPr b="0" i="0" sz="750" u="none" cap="none" strike="noStrike">
              <a:solidFill>
                <a:schemeClr val="dk1"/>
              </a:solidFill>
              <a:latin typeface="Calibri"/>
              <a:ea typeface="Calibri"/>
              <a:cs typeface="Calibri"/>
              <a:sym typeface="Calibri"/>
            </a:endParaRPr>
          </a:p>
        </p:txBody>
      </p:sp>
      <p:sp>
        <p:nvSpPr>
          <p:cNvPr id="34" name="Google Shape;34;p4"/>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L3 &amp; T Level Digital, Media, Film and Computing</a:t>
            </a:r>
            <a:endParaRPr b="0" i="0" sz="800" u="none" cap="none" strike="noStrike">
              <a:solidFill>
                <a:schemeClr val="dk1"/>
              </a:solidFill>
              <a:latin typeface="Calibri"/>
              <a:ea typeface="Calibri"/>
              <a:cs typeface="Calibri"/>
              <a:sym typeface="Calibri"/>
            </a:endParaRPr>
          </a:p>
        </p:txBody>
      </p:sp>
      <p:sp>
        <p:nvSpPr>
          <p:cNvPr id="35" name="Google Shape;35;p4"/>
          <p:cNvSpPr/>
          <p:nvPr/>
        </p:nvSpPr>
        <p:spPr>
          <a:xfrm>
            <a:off x="411480" y="1005840"/>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6" name="Google Shape;36;p4"/>
          <p:cNvCxnSpPr/>
          <p:nvPr/>
        </p:nvCxnSpPr>
        <p:spPr>
          <a:xfrm>
            <a:off x="521208" y="1115568"/>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7" name="Google Shape;37;p4"/>
          <p:cNvSpPr/>
          <p:nvPr/>
        </p:nvSpPr>
        <p:spPr>
          <a:xfrm>
            <a:off x="521208" y="1115568"/>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1</a:t>
            </a:r>
            <a:endParaRPr b="0" i="0" sz="1100" u="none" cap="none" strike="noStrike">
              <a:solidFill>
                <a:schemeClr val="dk1"/>
              </a:solidFill>
              <a:latin typeface="Calibri"/>
              <a:ea typeface="Calibri"/>
              <a:cs typeface="Calibri"/>
              <a:sym typeface="Calibri"/>
            </a:endParaRPr>
          </a:p>
        </p:txBody>
      </p:sp>
      <p:pic>
        <p:nvPicPr>
          <p:cNvPr descr="preencoded.png" id="38" name="Google Shape;38;p4"/>
          <p:cNvPicPr preferRelativeResize="0"/>
          <p:nvPr/>
        </p:nvPicPr>
        <p:blipFill rotWithShape="1">
          <a:blip r:embed="rId3">
            <a:alphaModFix/>
          </a:blip>
          <a:srcRect b="0" l="0" r="0" t="0"/>
          <a:stretch/>
        </p:blipFill>
        <p:spPr>
          <a:xfrm>
            <a:off x="1874520" y="1097280"/>
            <a:ext cx="347472" cy="347472"/>
          </a:xfrm>
          <a:prstGeom prst="rect">
            <a:avLst/>
          </a:prstGeom>
          <a:noFill/>
          <a:ln>
            <a:noFill/>
          </a:ln>
        </p:spPr>
      </p:pic>
      <p:sp>
        <p:nvSpPr>
          <p:cNvPr id="39" name="Google Shape;39;p4"/>
          <p:cNvSpPr/>
          <p:nvPr/>
        </p:nvSpPr>
        <p:spPr>
          <a:xfrm>
            <a:off x="521208" y="1536192"/>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Check in</a:t>
            </a:r>
            <a:endParaRPr b="0" i="0" sz="1200" u="none" cap="none" strike="noStrike">
              <a:solidFill>
                <a:schemeClr val="dk1"/>
              </a:solidFill>
              <a:latin typeface="Calibri"/>
              <a:ea typeface="Calibri"/>
              <a:cs typeface="Calibri"/>
              <a:sym typeface="Calibri"/>
            </a:endParaRPr>
          </a:p>
        </p:txBody>
      </p:sp>
      <p:sp>
        <p:nvSpPr>
          <p:cNvPr id="40" name="Google Shape;40;p4"/>
          <p:cNvSpPr/>
          <p:nvPr/>
        </p:nvSpPr>
        <p:spPr>
          <a:xfrm>
            <a:off x="521208" y="1901952"/>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What would you change about your course? (10 mins)</a:t>
            </a:r>
            <a:endParaRPr b="0" i="0" sz="950" u="none" cap="none" strike="noStrike">
              <a:solidFill>
                <a:schemeClr val="dk1"/>
              </a:solidFill>
              <a:latin typeface="Calibri"/>
              <a:ea typeface="Calibri"/>
              <a:cs typeface="Calibri"/>
              <a:sym typeface="Calibri"/>
            </a:endParaRPr>
          </a:p>
        </p:txBody>
      </p:sp>
      <p:sp>
        <p:nvSpPr>
          <p:cNvPr id="41" name="Google Shape;41;p4"/>
          <p:cNvSpPr/>
          <p:nvPr/>
        </p:nvSpPr>
        <p:spPr>
          <a:xfrm>
            <a:off x="2542032" y="1005840"/>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2" name="Google Shape;42;p4"/>
          <p:cNvCxnSpPr/>
          <p:nvPr/>
        </p:nvCxnSpPr>
        <p:spPr>
          <a:xfrm>
            <a:off x="2651760" y="1115568"/>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43" name="Google Shape;43;p4"/>
          <p:cNvSpPr/>
          <p:nvPr/>
        </p:nvSpPr>
        <p:spPr>
          <a:xfrm>
            <a:off x="2651760" y="1115568"/>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2</a:t>
            </a:r>
            <a:endParaRPr b="0" i="0" sz="1100" u="none" cap="none" strike="noStrike">
              <a:solidFill>
                <a:schemeClr val="dk1"/>
              </a:solidFill>
              <a:latin typeface="Calibri"/>
              <a:ea typeface="Calibri"/>
              <a:cs typeface="Calibri"/>
              <a:sym typeface="Calibri"/>
            </a:endParaRPr>
          </a:p>
        </p:txBody>
      </p:sp>
      <p:pic>
        <p:nvPicPr>
          <p:cNvPr descr="preencoded.png" id="44" name="Google Shape;44;p4"/>
          <p:cNvPicPr preferRelativeResize="0"/>
          <p:nvPr/>
        </p:nvPicPr>
        <p:blipFill rotWithShape="1">
          <a:blip r:embed="rId4">
            <a:alphaModFix/>
          </a:blip>
          <a:srcRect b="0" l="0" r="0" t="0"/>
          <a:stretch/>
        </p:blipFill>
        <p:spPr>
          <a:xfrm>
            <a:off x="4005072" y="1097280"/>
            <a:ext cx="347472" cy="347472"/>
          </a:xfrm>
          <a:prstGeom prst="rect">
            <a:avLst/>
          </a:prstGeom>
          <a:noFill/>
          <a:ln>
            <a:noFill/>
          </a:ln>
        </p:spPr>
      </p:pic>
      <p:sp>
        <p:nvSpPr>
          <p:cNvPr id="45" name="Google Shape;45;p4"/>
          <p:cNvSpPr/>
          <p:nvPr/>
        </p:nvSpPr>
        <p:spPr>
          <a:xfrm>
            <a:off x="2651760" y="1536192"/>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Students' Voice</a:t>
            </a:r>
            <a:endParaRPr b="0" i="0" sz="1200" u="none" cap="none" strike="noStrike">
              <a:solidFill>
                <a:schemeClr val="dk1"/>
              </a:solidFill>
              <a:latin typeface="Calibri"/>
              <a:ea typeface="Calibri"/>
              <a:cs typeface="Calibri"/>
              <a:sym typeface="Calibri"/>
            </a:endParaRPr>
          </a:p>
        </p:txBody>
      </p:sp>
      <p:sp>
        <p:nvSpPr>
          <p:cNvPr id="46" name="Google Shape;46;p4"/>
          <p:cNvSpPr/>
          <p:nvPr/>
        </p:nvSpPr>
        <p:spPr>
          <a:xfrm>
            <a:off x="2651760" y="1901952"/>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What makes it work — and what doesn't (10 mins)</a:t>
            </a:r>
            <a:endParaRPr b="0" i="0" sz="950" u="none" cap="none" strike="noStrike">
              <a:solidFill>
                <a:schemeClr val="dk1"/>
              </a:solidFill>
              <a:latin typeface="Calibri"/>
              <a:ea typeface="Calibri"/>
              <a:cs typeface="Calibri"/>
              <a:sym typeface="Calibri"/>
            </a:endParaRPr>
          </a:p>
        </p:txBody>
      </p:sp>
      <p:sp>
        <p:nvSpPr>
          <p:cNvPr id="47" name="Google Shape;47;p4"/>
          <p:cNvSpPr/>
          <p:nvPr/>
        </p:nvSpPr>
        <p:spPr>
          <a:xfrm>
            <a:off x="4672584" y="1005840"/>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8" name="Google Shape;48;p4"/>
          <p:cNvCxnSpPr/>
          <p:nvPr/>
        </p:nvCxnSpPr>
        <p:spPr>
          <a:xfrm>
            <a:off x="4782312" y="1115568"/>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49" name="Google Shape;49;p4"/>
          <p:cNvSpPr/>
          <p:nvPr/>
        </p:nvSpPr>
        <p:spPr>
          <a:xfrm>
            <a:off x="4782312" y="1115568"/>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3</a:t>
            </a:r>
            <a:endParaRPr b="0" i="0" sz="1100" u="none" cap="none" strike="noStrike">
              <a:solidFill>
                <a:schemeClr val="dk1"/>
              </a:solidFill>
              <a:latin typeface="Calibri"/>
              <a:ea typeface="Calibri"/>
              <a:cs typeface="Calibri"/>
              <a:sym typeface="Calibri"/>
            </a:endParaRPr>
          </a:p>
        </p:txBody>
      </p:sp>
      <p:pic>
        <p:nvPicPr>
          <p:cNvPr descr="preencoded.png" id="50" name="Google Shape;50;p4"/>
          <p:cNvPicPr preferRelativeResize="0"/>
          <p:nvPr/>
        </p:nvPicPr>
        <p:blipFill rotWithShape="1">
          <a:blip r:embed="rId5">
            <a:alphaModFix/>
          </a:blip>
          <a:srcRect b="0" l="0" r="0" t="0"/>
          <a:stretch/>
        </p:blipFill>
        <p:spPr>
          <a:xfrm>
            <a:off x="6135624" y="1097280"/>
            <a:ext cx="347472" cy="347472"/>
          </a:xfrm>
          <a:prstGeom prst="rect">
            <a:avLst/>
          </a:prstGeom>
          <a:noFill/>
          <a:ln>
            <a:noFill/>
          </a:ln>
        </p:spPr>
      </p:pic>
      <p:sp>
        <p:nvSpPr>
          <p:cNvPr id="51" name="Google Shape;51;p4"/>
          <p:cNvSpPr/>
          <p:nvPr/>
        </p:nvSpPr>
        <p:spPr>
          <a:xfrm>
            <a:off x="4782312" y="1536192"/>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Ways to get involved</a:t>
            </a:r>
            <a:endParaRPr b="0" i="0" sz="1200" u="none" cap="none" strike="noStrike">
              <a:solidFill>
                <a:schemeClr val="dk1"/>
              </a:solidFill>
              <a:latin typeface="Calibri"/>
              <a:ea typeface="Calibri"/>
              <a:cs typeface="Calibri"/>
              <a:sym typeface="Calibri"/>
            </a:endParaRPr>
          </a:p>
        </p:txBody>
      </p:sp>
      <p:sp>
        <p:nvSpPr>
          <p:cNvPr id="52" name="Google Shape;52;p4"/>
          <p:cNvSpPr/>
          <p:nvPr/>
        </p:nvSpPr>
        <p:spPr>
          <a:xfrm>
            <a:off x="4782312" y="1901952"/>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Reps, Governors, NUS, surveys (10 mins)</a:t>
            </a:r>
            <a:endParaRPr b="0" i="0" sz="950" u="none" cap="none" strike="noStrike">
              <a:solidFill>
                <a:schemeClr val="dk1"/>
              </a:solidFill>
              <a:latin typeface="Calibri"/>
              <a:ea typeface="Calibri"/>
              <a:cs typeface="Calibri"/>
              <a:sym typeface="Calibri"/>
            </a:endParaRPr>
          </a:p>
        </p:txBody>
      </p:sp>
      <p:sp>
        <p:nvSpPr>
          <p:cNvPr id="53" name="Google Shape;53;p4"/>
          <p:cNvSpPr/>
          <p:nvPr/>
        </p:nvSpPr>
        <p:spPr>
          <a:xfrm>
            <a:off x="6803136" y="1005840"/>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54" name="Google Shape;54;p4"/>
          <p:cNvCxnSpPr/>
          <p:nvPr/>
        </p:nvCxnSpPr>
        <p:spPr>
          <a:xfrm>
            <a:off x="6912864" y="1115568"/>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55" name="Google Shape;55;p4"/>
          <p:cNvSpPr/>
          <p:nvPr/>
        </p:nvSpPr>
        <p:spPr>
          <a:xfrm>
            <a:off x="6912864" y="1115568"/>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4</a:t>
            </a:r>
            <a:endParaRPr b="0" i="0" sz="1100" u="none" cap="none" strike="noStrike">
              <a:solidFill>
                <a:schemeClr val="dk1"/>
              </a:solidFill>
              <a:latin typeface="Calibri"/>
              <a:ea typeface="Calibri"/>
              <a:cs typeface="Calibri"/>
              <a:sym typeface="Calibri"/>
            </a:endParaRPr>
          </a:p>
        </p:txBody>
      </p:sp>
      <p:pic>
        <p:nvPicPr>
          <p:cNvPr descr="preencoded.png" id="56" name="Google Shape;56;p4"/>
          <p:cNvPicPr preferRelativeResize="0"/>
          <p:nvPr/>
        </p:nvPicPr>
        <p:blipFill rotWithShape="1">
          <a:blip r:embed="rId6">
            <a:alphaModFix/>
          </a:blip>
          <a:srcRect b="0" l="0" r="0" t="0"/>
          <a:stretch/>
        </p:blipFill>
        <p:spPr>
          <a:xfrm>
            <a:off x="8266176" y="1097280"/>
            <a:ext cx="347472" cy="347472"/>
          </a:xfrm>
          <a:prstGeom prst="rect">
            <a:avLst/>
          </a:prstGeom>
          <a:noFill/>
          <a:ln>
            <a:noFill/>
          </a:ln>
        </p:spPr>
      </p:pic>
      <p:sp>
        <p:nvSpPr>
          <p:cNvPr id="57" name="Google Shape;57;p4"/>
          <p:cNvSpPr/>
          <p:nvPr/>
        </p:nvSpPr>
        <p:spPr>
          <a:xfrm>
            <a:off x="6912864" y="1536192"/>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The Rep role</a:t>
            </a:r>
            <a:endParaRPr b="0" i="0" sz="1200" u="none" cap="none" strike="noStrike">
              <a:solidFill>
                <a:schemeClr val="dk1"/>
              </a:solidFill>
              <a:latin typeface="Calibri"/>
              <a:ea typeface="Calibri"/>
              <a:cs typeface="Calibri"/>
              <a:sym typeface="Calibri"/>
            </a:endParaRPr>
          </a:p>
        </p:txBody>
      </p:sp>
      <p:sp>
        <p:nvSpPr>
          <p:cNvPr id="58" name="Google Shape;58;p4"/>
          <p:cNvSpPr/>
          <p:nvPr/>
        </p:nvSpPr>
        <p:spPr>
          <a:xfrm>
            <a:off x="6912864" y="1901952"/>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What reps do and when (10 mins)</a:t>
            </a:r>
            <a:endParaRPr b="0" i="0" sz="950" u="none" cap="none" strike="noStrike">
              <a:solidFill>
                <a:schemeClr val="dk1"/>
              </a:solidFill>
              <a:latin typeface="Calibri"/>
              <a:ea typeface="Calibri"/>
              <a:cs typeface="Calibri"/>
              <a:sym typeface="Calibri"/>
            </a:endParaRPr>
          </a:p>
        </p:txBody>
      </p:sp>
      <p:sp>
        <p:nvSpPr>
          <p:cNvPr id="59" name="Google Shape;59;p4"/>
          <p:cNvSpPr/>
          <p:nvPr/>
        </p:nvSpPr>
        <p:spPr>
          <a:xfrm>
            <a:off x="411480" y="2670048"/>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0" name="Google Shape;60;p4"/>
          <p:cNvCxnSpPr/>
          <p:nvPr/>
        </p:nvCxnSpPr>
        <p:spPr>
          <a:xfrm>
            <a:off x="521208" y="2779776"/>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61" name="Google Shape;61;p4"/>
          <p:cNvSpPr/>
          <p:nvPr/>
        </p:nvSpPr>
        <p:spPr>
          <a:xfrm>
            <a:off x="521208" y="2779776"/>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5</a:t>
            </a:r>
            <a:endParaRPr b="0" i="0" sz="1100" u="none" cap="none" strike="noStrike">
              <a:solidFill>
                <a:schemeClr val="dk1"/>
              </a:solidFill>
              <a:latin typeface="Calibri"/>
              <a:ea typeface="Calibri"/>
              <a:cs typeface="Calibri"/>
              <a:sym typeface="Calibri"/>
            </a:endParaRPr>
          </a:p>
        </p:txBody>
      </p:sp>
      <p:pic>
        <p:nvPicPr>
          <p:cNvPr descr="preencoded.png" id="62" name="Google Shape;62;p4"/>
          <p:cNvPicPr preferRelativeResize="0"/>
          <p:nvPr/>
        </p:nvPicPr>
        <p:blipFill rotWithShape="1">
          <a:blip r:embed="rId7">
            <a:alphaModFix/>
          </a:blip>
          <a:srcRect b="0" l="0" r="0" t="0"/>
          <a:stretch/>
        </p:blipFill>
        <p:spPr>
          <a:xfrm>
            <a:off x="1874520" y="2761488"/>
            <a:ext cx="347472" cy="347472"/>
          </a:xfrm>
          <a:prstGeom prst="rect">
            <a:avLst/>
          </a:prstGeom>
          <a:noFill/>
          <a:ln>
            <a:noFill/>
          </a:ln>
        </p:spPr>
      </p:pic>
      <p:sp>
        <p:nvSpPr>
          <p:cNvPr id="63" name="Google Shape;63;p4"/>
          <p:cNvSpPr/>
          <p:nvPr/>
        </p:nvSpPr>
        <p:spPr>
          <a:xfrm>
            <a:off x="521208" y="3200400"/>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The Governor role</a:t>
            </a:r>
            <a:endParaRPr b="0" i="0" sz="1200" u="none" cap="none" strike="noStrike">
              <a:solidFill>
                <a:schemeClr val="dk1"/>
              </a:solidFill>
              <a:latin typeface="Calibri"/>
              <a:ea typeface="Calibri"/>
              <a:cs typeface="Calibri"/>
              <a:sym typeface="Calibri"/>
            </a:endParaRPr>
          </a:p>
        </p:txBody>
      </p:sp>
      <p:sp>
        <p:nvSpPr>
          <p:cNvPr id="64" name="Google Shape;64;p4"/>
          <p:cNvSpPr/>
          <p:nvPr/>
        </p:nvSpPr>
        <p:spPr>
          <a:xfrm>
            <a:off x="521208" y="3566160"/>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The Board, the commitment, how to apply (15 mins)</a:t>
            </a:r>
            <a:endParaRPr b="0" i="0" sz="950" u="none" cap="none" strike="noStrike">
              <a:solidFill>
                <a:schemeClr val="dk1"/>
              </a:solidFill>
              <a:latin typeface="Calibri"/>
              <a:ea typeface="Calibri"/>
              <a:cs typeface="Calibri"/>
              <a:sym typeface="Calibri"/>
            </a:endParaRPr>
          </a:p>
        </p:txBody>
      </p:sp>
      <p:sp>
        <p:nvSpPr>
          <p:cNvPr id="65" name="Google Shape;65;p4"/>
          <p:cNvSpPr/>
          <p:nvPr/>
        </p:nvSpPr>
        <p:spPr>
          <a:xfrm>
            <a:off x="2542032" y="2670048"/>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6" name="Google Shape;66;p4"/>
          <p:cNvCxnSpPr/>
          <p:nvPr/>
        </p:nvCxnSpPr>
        <p:spPr>
          <a:xfrm>
            <a:off x="2651760" y="2779776"/>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67" name="Google Shape;67;p4"/>
          <p:cNvSpPr/>
          <p:nvPr/>
        </p:nvSpPr>
        <p:spPr>
          <a:xfrm>
            <a:off x="2651760" y="2779776"/>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6</a:t>
            </a:r>
            <a:endParaRPr b="0" i="0" sz="1100" u="none" cap="none" strike="noStrike">
              <a:solidFill>
                <a:schemeClr val="dk1"/>
              </a:solidFill>
              <a:latin typeface="Calibri"/>
              <a:ea typeface="Calibri"/>
              <a:cs typeface="Calibri"/>
              <a:sym typeface="Calibri"/>
            </a:endParaRPr>
          </a:p>
        </p:txBody>
      </p:sp>
      <p:pic>
        <p:nvPicPr>
          <p:cNvPr descr="preencoded.png" id="68" name="Google Shape;68;p4"/>
          <p:cNvPicPr preferRelativeResize="0"/>
          <p:nvPr/>
        </p:nvPicPr>
        <p:blipFill rotWithShape="1">
          <a:blip r:embed="rId8">
            <a:alphaModFix/>
          </a:blip>
          <a:srcRect b="0" l="0" r="0" t="0"/>
          <a:stretch/>
        </p:blipFill>
        <p:spPr>
          <a:xfrm>
            <a:off x="4005072" y="2761488"/>
            <a:ext cx="347472" cy="347472"/>
          </a:xfrm>
          <a:prstGeom prst="rect">
            <a:avLst/>
          </a:prstGeom>
          <a:noFill/>
          <a:ln>
            <a:noFill/>
          </a:ln>
        </p:spPr>
      </p:pic>
      <p:sp>
        <p:nvSpPr>
          <p:cNvPr id="69" name="Google Shape;69;p4"/>
          <p:cNvSpPr/>
          <p:nvPr/>
        </p:nvSpPr>
        <p:spPr>
          <a:xfrm>
            <a:off x="2651760" y="3200400"/>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Encourage Unity</a:t>
            </a:r>
            <a:endParaRPr b="0" i="0" sz="1200" u="none" cap="none" strike="noStrike">
              <a:solidFill>
                <a:schemeClr val="dk1"/>
              </a:solidFill>
              <a:latin typeface="Calibri"/>
              <a:ea typeface="Calibri"/>
              <a:cs typeface="Calibri"/>
              <a:sym typeface="Calibri"/>
            </a:endParaRPr>
          </a:p>
        </p:txBody>
      </p:sp>
      <p:sp>
        <p:nvSpPr>
          <p:cNvPr id="70" name="Google Shape;70;p4"/>
          <p:cNvSpPr/>
          <p:nvPr/>
        </p:nvSpPr>
        <p:spPr>
          <a:xfrm>
            <a:off x="2651760" y="3566160"/>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PROUD value anchor (5 mins)</a:t>
            </a:r>
            <a:endParaRPr b="0" i="0" sz="950" u="none" cap="none" strike="noStrike">
              <a:solidFill>
                <a:schemeClr val="dk1"/>
              </a:solidFill>
              <a:latin typeface="Calibri"/>
              <a:ea typeface="Calibri"/>
              <a:cs typeface="Calibri"/>
              <a:sym typeface="Calibri"/>
            </a:endParaRPr>
          </a:p>
        </p:txBody>
      </p:sp>
      <p:sp>
        <p:nvSpPr>
          <p:cNvPr id="71" name="Google Shape;71;p4"/>
          <p:cNvSpPr/>
          <p:nvPr/>
        </p:nvSpPr>
        <p:spPr>
          <a:xfrm>
            <a:off x="4672584" y="2670048"/>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72" name="Google Shape;72;p4"/>
          <p:cNvCxnSpPr/>
          <p:nvPr/>
        </p:nvCxnSpPr>
        <p:spPr>
          <a:xfrm>
            <a:off x="4782312" y="2779776"/>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73" name="Google Shape;73;p4"/>
          <p:cNvSpPr/>
          <p:nvPr/>
        </p:nvSpPr>
        <p:spPr>
          <a:xfrm>
            <a:off x="4782312" y="2779776"/>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7</a:t>
            </a:r>
            <a:endParaRPr b="0" i="0" sz="1100" u="none" cap="none" strike="noStrike">
              <a:solidFill>
                <a:schemeClr val="dk1"/>
              </a:solidFill>
              <a:latin typeface="Calibri"/>
              <a:ea typeface="Calibri"/>
              <a:cs typeface="Calibri"/>
              <a:sym typeface="Calibri"/>
            </a:endParaRPr>
          </a:p>
        </p:txBody>
      </p:sp>
      <p:pic>
        <p:nvPicPr>
          <p:cNvPr descr="preencoded.png" id="74" name="Google Shape;74;p4"/>
          <p:cNvPicPr preferRelativeResize="0"/>
          <p:nvPr/>
        </p:nvPicPr>
        <p:blipFill rotWithShape="1">
          <a:blip r:embed="rId9">
            <a:alphaModFix/>
          </a:blip>
          <a:srcRect b="0" l="0" r="0" t="0"/>
          <a:stretch/>
        </p:blipFill>
        <p:spPr>
          <a:xfrm>
            <a:off x="6135624" y="2761488"/>
            <a:ext cx="347472" cy="347472"/>
          </a:xfrm>
          <a:prstGeom prst="rect">
            <a:avLst/>
          </a:prstGeom>
          <a:noFill/>
          <a:ln>
            <a:noFill/>
          </a:ln>
        </p:spPr>
      </p:pic>
      <p:sp>
        <p:nvSpPr>
          <p:cNvPr id="75" name="Google Shape;75;p4"/>
          <p:cNvSpPr/>
          <p:nvPr/>
        </p:nvSpPr>
        <p:spPr>
          <a:xfrm>
            <a:off x="4782312" y="3200400"/>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Election</a:t>
            </a:r>
            <a:endParaRPr b="0" i="0" sz="1200" u="none" cap="none" strike="noStrike">
              <a:solidFill>
                <a:schemeClr val="dk1"/>
              </a:solidFill>
              <a:latin typeface="Calibri"/>
              <a:ea typeface="Calibri"/>
              <a:cs typeface="Calibri"/>
              <a:sym typeface="Calibri"/>
            </a:endParaRPr>
          </a:p>
        </p:txBody>
      </p:sp>
      <p:sp>
        <p:nvSpPr>
          <p:cNvPr id="76" name="Google Shape;76;p4"/>
          <p:cNvSpPr/>
          <p:nvPr/>
        </p:nvSpPr>
        <p:spPr>
          <a:xfrm>
            <a:off x="4782312" y="3566160"/>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Nominations, pitches, vote — course rep + English/maths rep (30–35 mins)</a:t>
            </a:r>
            <a:endParaRPr b="0" i="0" sz="950" u="none" cap="none" strike="noStrike">
              <a:solidFill>
                <a:schemeClr val="dk1"/>
              </a:solidFill>
              <a:latin typeface="Calibri"/>
              <a:ea typeface="Calibri"/>
              <a:cs typeface="Calibri"/>
              <a:sym typeface="Calibri"/>
            </a:endParaRPr>
          </a:p>
        </p:txBody>
      </p:sp>
      <p:sp>
        <p:nvSpPr>
          <p:cNvPr id="77" name="Google Shape;77;p4"/>
          <p:cNvSpPr/>
          <p:nvPr/>
        </p:nvSpPr>
        <p:spPr>
          <a:xfrm>
            <a:off x="6803136" y="2670048"/>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78" name="Google Shape;78;p4"/>
          <p:cNvCxnSpPr/>
          <p:nvPr/>
        </p:nvCxnSpPr>
        <p:spPr>
          <a:xfrm>
            <a:off x="6912864" y="2779776"/>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79" name="Google Shape;79;p4"/>
          <p:cNvSpPr/>
          <p:nvPr/>
        </p:nvSpPr>
        <p:spPr>
          <a:xfrm>
            <a:off x="6912864" y="2779776"/>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8</a:t>
            </a:r>
            <a:endParaRPr b="0" i="0" sz="1100" u="none" cap="none" strike="noStrike">
              <a:solidFill>
                <a:schemeClr val="dk1"/>
              </a:solidFill>
              <a:latin typeface="Calibri"/>
              <a:ea typeface="Calibri"/>
              <a:cs typeface="Calibri"/>
              <a:sym typeface="Calibri"/>
            </a:endParaRPr>
          </a:p>
        </p:txBody>
      </p:sp>
      <p:pic>
        <p:nvPicPr>
          <p:cNvPr descr="preencoded.png" id="80" name="Google Shape;80;p4"/>
          <p:cNvPicPr preferRelativeResize="0"/>
          <p:nvPr/>
        </p:nvPicPr>
        <p:blipFill rotWithShape="1">
          <a:blip r:embed="rId10">
            <a:alphaModFix/>
          </a:blip>
          <a:srcRect b="0" l="0" r="0" t="0"/>
          <a:stretch/>
        </p:blipFill>
        <p:spPr>
          <a:xfrm>
            <a:off x="8266176" y="2761488"/>
            <a:ext cx="347472" cy="347472"/>
          </a:xfrm>
          <a:prstGeom prst="rect">
            <a:avLst/>
          </a:prstGeom>
          <a:noFill/>
          <a:ln>
            <a:noFill/>
          </a:ln>
        </p:spPr>
      </p:pic>
      <p:sp>
        <p:nvSpPr>
          <p:cNvPr id="81" name="Google Shape;81;p4"/>
          <p:cNvSpPr/>
          <p:nvPr/>
        </p:nvSpPr>
        <p:spPr>
          <a:xfrm>
            <a:off x="6912864" y="3200400"/>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Close</a:t>
            </a:r>
            <a:endParaRPr b="0" i="0" sz="1200" u="none" cap="none" strike="noStrike">
              <a:solidFill>
                <a:schemeClr val="dk1"/>
              </a:solidFill>
              <a:latin typeface="Calibri"/>
              <a:ea typeface="Calibri"/>
              <a:cs typeface="Calibri"/>
              <a:sym typeface="Calibri"/>
            </a:endParaRPr>
          </a:p>
        </p:txBody>
      </p:sp>
      <p:sp>
        <p:nvSpPr>
          <p:cNvPr id="82" name="Google Shape;82;p4"/>
          <p:cNvSpPr/>
          <p:nvPr/>
        </p:nvSpPr>
        <p:spPr>
          <a:xfrm>
            <a:off x="6912864" y="3566160"/>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Your rep, what's next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87" name="Shape 87"/>
        <p:cNvGrpSpPr/>
        <p:nvPr/>
      </p:nvGrpSpPr>
      <p:grpSpPr>
        <a:xfrm>
          <a:off x="0" y="0"/>
          <a:ext cx="0" cy="0"/>
          <a:chOff x="0" y="0"/>
          <a:chExt cx="0" cy="0"/>
        </a:xfrm>
      </p:grpSpPr>
      <p:sp>
        <p:nvSpPr>
          <p:cNvPr id="88" name="Google Shape;88;p5"/>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Check in</a:t>
            </a:r>
            <a:endParaRPr b="0" i="0" sz="2200" u="none" cap="none" strike="noStrike">
              <a:solidFill>
                <a:schemeClr val="dk1"/>
              </a:solidFill>
              <a:latin typeface="Calibri"/>
              <a:ea typeface="Calibri"/>
              <a:cs typeface="Calibri"/>
              <a:sym typeface="Calibri"/>
            </a:endParaRPr>
          </a:p>
        </p:txBody>
      </p:sp>
      <p:sp>
        <p:nvSpPr>
          <p:cNvPr id="89" name="Google Shape;89;p5"/>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Paired discussion — 10 minutes</a:t>
            </a:r>
            <a:endParaRPr b="0" i="0" sz="1100" u="none" cap="none" strike="noStrike">
              <a:solidFill>
                <a:schemeClr val="dk1"/>
              </a:solidFill>
              <a:latin typeface="Calibri"/>
              <a:ea typeface="Calibri"/>
              <a:cs typeface="Calibri"/>
              <a:sym typeface="Calibri"/>
            </a:endParaRPr>
          </a:p>
        </p:txBody>
      </p:sp>
      <p:sp>
        <p:nvSpPr>
          <p:cNvPr id="90" name="Google Shape;90;p5"/>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 name="Google Shape;91;p5"/>
          <p:cNvSpPr/>
          <p:nvPr/>
        </p:nvSpPr>
        <p:spPr>
          <a:xfrm>
            <a:off x="7498080" y="109728"/>
            <a:ext cx="1508760" cy="29260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5"/>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DISCUSSION</a:t>
            </a:r>
            <a:endParaRPr b="0" i="0" sz="750" u="none" cap="none" strike="noStrike">
              <a:solidFill>
                <a:schemeClr val="dk1"/>
              </a:solidFill>
              <a:latin typeface="Calibri"/>
              <a:ea typeface="Calibri"/>
              <a:cs typeface="Calibri"/>
              <a:sym typeface="Calibri"/>
            </a:endParaRPr>
          </a:p>
        </p:txBody>
      </p:sp>
      <p:sp>
        <p:nvSpPr>
          <p:cNvPr id="93" name="Google Shape;93;p5"/>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L3 &amp; T Level Digital, Media, Film and Computing</a:t>
            </a:r>
            <a:endParaRPr b="0" i="0" sz="800" u="none" cap="none" strike="noStrike">
              <a:solidFill>
                <a:schemeClr val="dk1"/>
              </a:solidFill>
              <a:latin typeface="Calibri"/>
              <a:ea typeface="Calibri"/>
              <a:cs typeface="Calibri"/>
              <a:sym typeface="Calibri"/>
            </a:endParaRPr>
          </a:p>
        </p:txBody>
      </p:sp>
      <p:sp>
        <p:nvSpPr>
          <p:cNvPr id="94" name="Google Shape;94;p5"/>
          <p:cNvSpPr/>
          <p:nvPr/>
        </p:nvSpPr>
        <p:spPr>
          <a:xfrm>
            <a:off x="411480" y="1005840"/>
            <a:ext cx="4023360" cy="2468880"/>
          </a:xfrm>
          <a:prstGeom prst="rect">
            <a:avLst/>
          </a:prstGeom>
          <a:solidFill>
            <a:srgbClr val="0F7A54"/>
          </a:solidFill>
          <a:ln cap="flat" cmpd="sng" w="12700">
            <a:solidFill>
              <a:srgbClr val="0F7A54"/>
            </a:solidFill>
            <a:prstDash val="solid"/>
            <a:round/>
            <a:headEnd len="sm" w="sm" type="none"/>
            <a:tailEnd len="sm" w="sm" type="none"/>
          </a:ln>
          <a:effectLst>
            <a:outerShdw blurRad="101600" rotWithShape="0" algn="bl" dir="2700000" dist="25400">
              <a:srgbClr val="000000">
                <a:alpha val="12157"/>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5"/>
          <p:cNvSpPr/>
          <p:nvPr/>
        </p:nvSpPr>
        <p:spPr>
          <a:xfrm>
            <a:off x="640080" y="1097280"/>
            <a:ext cx="3611880" cy="2240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What's one thing about the studios, the software or the placement process that would be different if students had been asked?</a:t>
            </a:r>
            <a:endParaRPr b="0" i="0" sz="1900" u="none" cap="none" strike="noStrike">
              <a:solidFill>
                <a:schemeClr val="dk1"/>
              </a:solidFill>
              <a:latin typeface="Calibri"/>
              <a:ea typeface="Calibri"/>
              <a:cs typeface="Calibri"/>
              <a:sym typeface="Calibri"/>
            </a:endParaRPr>
          </a:p>
        </p:txBody>
      </p:sp>
      <p:sp>
        <p:nvSpPr>
          <p:cNvPr id="96" name="Google Shape;96;p5"/>
          <p:cNvSpPr/>
          <p:nvPr/>
        </p:nvSpPr>
        <p:spPr>
          <a:xfrm>
            <a:off x="4709160" y="1005840"/>
            <a:ext cx="4023360" cy="2468880"/>
          </a:xfrm>
          <a:prstGeom prst="rect">
            <a:avLst/>
          </a:prstGeom>
          <a:solidFill>
            <a:srgbClr val="0D2434"/>
          </a:solidFill>
          <a:ln cap="flat" cmpd="sng" w="12700">
            <a:solidFill>
              <a:srgbClr val="0D2434"/>
            </a:solidFill>
            <a:prstDash val="solid"/>
            <a:round/>
            <a:headEnd len="sm" w="sm" type="none"/>
            <a:tailEnd len="sm" w="sm" type="none"/>
          </a:ln>
          <a:effectLst>
            <a:outerShdw blurRad="101600" rotWithShape="0" algn="bl" dir="2700000" dist="25400">
              <a:srgbClr val="000000">
                <a:alpha val="12157"/>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p5"/>
          <p:cNvSpPr/>
          <p:nvPr/>
        </p:nvSpPr>
        <p:spPr>
          <a:xfrm>
            <a:off x="4937760" y="1097280"/>
            <a:ext cx="3611880" cy="2240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What would you want your rep to take to Student Council — software licences, edit time, kit availability, placement support?</a:t>
            </a:r>
            <a:endParaRPr b="0" i="0" sz="1900" u="none" cap="none" strike="noStrike">
              <a:solidFill>
                <a:schemeClr val="dk1"/>
              </a:solidFill>
              <a:latin typeface="Calibri"/>
              <a:ea typeface="Calibri"/>
              <a:cs typeface="Calibri"/>
              <a:sym typeface="Calibri"/>
            </a:endParaRPr>
          </a:p>
        </p:txBody>
      </p:sp>
      <p:sp>
        <p:nvSpPr>
          <p:cNvPr id="98" name="Google Shape;98;p5"/>
          <p:cNvSpPr/>
          <p:nvPr/>
        </p:nvSpPr>
        <p:spPr>
          <a:xfrm>
            <a:off x="411480" y="3639312"/>
            <a:ext cx="8321040" cy="594360"/>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 name="Google Shape;99;p5"/>
          <p:cNvSpPr/>
          <p:nvPr/>
        </p:nvSpPr>
        <p:spPr>
          <a:xfrm>
            <a:off x="594360" y="3639312"/>
            <a:ext cx="79552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A30"/>
              </a:buClr>
              <a:buSzPts val="1200"/>
              <a:buFont typeface="Arial"/>
              <a:buNone/>
            </a:pPr>
            <a:r>
              <a:rPr b="0" i="0" lang="en-US" sz="1200" u="none" cap="none" strike="noStrike">
                <a:solidFill>
                  <a:srgbClr val="1B2A30"/>
                </a:solidFill>
                <a:latin typeface="Arial"/>
                <a:ea typeface="Arial"/>
                <a:cs typeface="Arial"/>
                <a:sym typeface="Arial"/>
              </a:rPr>
              <a:t>Talk to the person next to you — 3 minutes, then we'll hear a few thoughts from the room.</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04" name="Shape 104"/>
        <p:cNvGrpSpPr/>
        <p:nvPr/>
      </p:nvGrpSpPr>
      <p:grpSpPr>
        <a:xfrm>
          <a:off x="0" y="0"/>
          <a:ext cx="0" cy="0"/>
          <a:chOff x="0" y="0"/>
          <a:chExt cx="0" cy="0"/>
        </a:xfrm>
      </p:grpSpPr>
      <p:sp>
        <p:nvSpPr>
          <p:cNvPr id="105" name="Google Shape;105;p6"/>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Students' Voice — what makes it work</a:t>
            </a:r>
            <a:endParaRPr b="0" i="0" sz="2200" u="none" cap="none" strike="noStrike">
              <a:solidFill>
                <a:schemeClr val="dk1"/>
              </a:solidFill>
              <a:latin typeface="Calibri"/>
              <a:ea typeface="Calibri"/>
              <a:cs typeface="Calibri"/>
              <a:sym typeface="Calibri"/>
            </a:endParaRPr>
          </a:p>
        </p:txBody>
      </p:sp>
      <p:sp>
        <p:nvSpPr>
          <p:cNvPr id="106" name="Google Shape;106;p6"/>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What makes student voice actually work — and what wastes it</a:t>
            </a:r>
            <a:endParaRPr b="0" i="0" sz="1100" u="none" cap="none" strike="noStrike">
              <a:solidFill>
                <a:schemeClr val="dk1"/>
              </a:solidFill>
              <a:latin typeface="Calibri"/>
              <a:ea typeface="Calibri"/>
              <a:cs typeface="Calibri"/>
              <a:sym typeface="Calibri"/>
            </a:endParaRPr>
          </a:p>
        </p:txBody>
      </p:sp>
      <p:sp>
        <p:nvSpPr>
          <p:cNvPr id="107" name="Google Shape;107;p6"/>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6"/>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 name="Google Shape;109;p6"/>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110" name="Google Shape;110;p6"/>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L3 &amp; T Level Digital, Media, Film and Computing</a:t>
            </a:r>
            <a:endParaRPr b="0" i="0" sz="800" u="none" cap="none" strike="noStrike">
              <a:solidFill>
                <a:schemeClr val="dk1"/>
              </a:solidFill>
              <a:latin typeface="Calibri"/>
              <a:ea typeface="Calibri"/>
              <a:cs typeface="Calibri"/>
              <a:sym typeface="Calibri"/>
            </a:endParaRPr>
          </a:p>
        </p:txBody>
      </p:sp>
      <p:sp>
        <p:nvSpPr>
          <p:cNvPr id="111" name="Google Shape;111;p6"/>
          <p:cNvSpPr/>
          <p:nvPr/>
        </p:nvSpPr>
        <p:spPr>
          <a:xfrm>
            <a:off x="411480" y="1005840"/>
            <a:ext cx="3931920" cy="3547872"/>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12" name="Google Shape;112;p6"/>
          <p:cNvPicPr preferRelativeResize="0"/>
          <p:nvPr/>
        </p:nvPicPr>
        <p:blipFill rotWithShape="1">
          <a:blip r:embed="rId3">
            <a:alphaModFix/>
          </a:blip>
          <a:srcRect b="0" l="0" r="0" t="0"/>
          <a:stretch/>
        </p:blipFill>
        <p:spPr>
          <a:xfrm>
            <a:off x="594360" y="1115568"/>
            <a:ext cx="457200" cy="457200"/>
          </a:xfrm>
          <a:prstGeom prst="rect">
            <a:avLst/>
          </a:prstGeom>
          <a:noFill/>
          <a:ln>
            <a:noFill/>
          </a:ln>
        </p:spPr>
      </p:pic>
      <p:sp>
        <p:nvSpPr>
          <p:cNvPr id="113" name="Google Shape;113;p6"/>
          <p:cNvSpPr/>
          <p:nvPr/>
        </p:nvSpPr>
        <p:spPr>
          <a:xfrm>
            <a:off x="1143000" y="1115568"/>
            <a:ext cx="30175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400"/>
              <a:buFont typeface="Arial"/>
              <a:buNone/>
            </a:pPr>
            <a:r>
              <a:rPr b="1" i="0" lang="en-US" sz="1400" u="none" cap="none" strike="noStrike">
                <a:solidFill>
                  <a:srgbClr val="FFCF01"/>
                </a:solidFill>
                <a:latin typeface="Arial"/>
                <a:ea typeface="Arial"/>
                <a:cs typeface="Arial"/>
                <a:sym typeface="Arial"/>
              </a:rPr>
              <a:t>When it works</a:t>
            </a:r>
            <a:endParaRPr b="0" i="0" sz="1400" u="none" cap="none" strike="noStrike">
              <a:solidFill>
                <a:schemeClr val="dk1"/>
              </a:solidFill>
              <a:latin typeface="Calibri"/>
              <a:ea typeface="Calibri"/>
              <a:cs typeface="Calibri"/>
              <a:sym typeface="Calibri"/>
            </a:endParaRPr>
          </a:p>
        </p:txBody>
      </p:sp>
      <p:sp>
        <p:nvSpPr>
          <p:cNvPr id="114" name="Google Shape;114;p6"/>
          <p:cNvSpPr/>
          <p:nvPr/>
        </p:nvSpPr>
        <p:spPr>
          <a:xfrm>
            <a:off x="594360" y="1664208"/>
            <a:ext cx="3566160" cy="22402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Reps who actually consult their group — not just improvise at meetings</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Feedback that names the thing — “four edit stations can't run Premiere” beats “the software is rubbish”</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Groups who tell their rep what matters — before the meeting, not after</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Students who follow up — checking the licence actually arrived, or the kit was actually booked</a:t>
            </a:r>
            <a:endParaRPr b="0" i="0" sz="1050" u="none" cap="none" strike="noStrike">
              <a:solidFill>
                <a:schemeClr val="dk1"/>
              </a:solidFill>
              <a:latin typeface="Calibri"/>
              <a:ea typeface="Calibri"/>
              <a:cs typeface="Calibri"/>
              <a:sym typeface="Calibri"/>
            </a:endParaRPr>
          </a:p>
        </p:txBody>
      </p:sp>
      <p:sp>
        <p:nvSpPr>
          <p:cNvPr id="115" name="Google Shape;115;p6"/>
          <p:cNvSpPr/>
          <p:nvPr/>
        </p:nvSpPr>
        <p:spPr>
          <a:xfrm>
            <a:off x="411480" y="3840480"/>
            <a:ext cx="3931920" cy="68580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6"/>
          <p:cNvSpPr/>
          <p:nvPr/>
        </p:nvSpPr>
        <p:spPr>
          <a:xfrm>
            <a:off x="594360" y="3840480"/>
            <a:ext cx="374904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50"/>
              <a:buFont typeface="Arial"/>
              <a:buNone/>
            </a:pPr>
            <a:r>
              <a:rPr b="0" i="1" lang="en-US" sz="1050" u="none" cap="none" strike="noStrike">
                <a:solidFill>
                  <a:srgbClr val="FFFFFF"/>
                </a:solidFill>
                <a:latin typeface="Arial"/>
                <a:ea typeface="Arial"/>
                <a:cs typeface="Arial"/>
                <a:sym typeface="Arial"/>
              </a:rPr>
              <a:t>Collective voice is a shared responsibility — not just the rep's job</a:t>
            </a:r>
            <a:endParaRPr b="0" i="0" sz="1050" u="none" cap="none" strike="noStrike">
              <a:solidFill>
                <a:schemeClr val="dk1"/>
              </a:solidFill>
              <a:latin typeface="Calibri"/>
              <a:ea typeface="Calibri"/>
              <a:cs typeface="Calibri"/>
              <a:sym typeface="Calibri"/>
            </a:endParaRPr>
          </a:p>
        </p:txBody>
      </p:sp>
      <p:sp>
        <p:nvSpPr>
          <p:cNvPr id="117" name="Google Shape;117;p6"/>
          <p:cNvSpPr/>
          <p:nvPr/>
        </p:nvSpPr>
        <p:spPr>
          <a:xfrm>
            <a:off x="4526280" y="1005840"/>
            <a:ext cx="2011680" cy="1627632"/>
          </a:xfrm>
          <a:prstGeom prst="rect">
            <a:avLst/>
          </a:prstGeom>
          <a:solidFill>
            <a:srgbClr val="E8F4EF"/>
          </a:solidFill>
          <a:ln cap="flat" cmpd="sng" w="12700">
            <a:solidFill>
              <a:srgbClr val="D2DBDA"/>
            </a:solidFill>
            <a:prstDash val="solid"/>
            <a:round/>
            <a:headEnd len="sm" w="sm" type="none"/>
            <a:tailEnd len="sm" w="sm" type="none"/>
          </a:ln>
          <a:effectLst>
            <a:outerShdw blurRad="50800" rotWithShape="0" algn="bl" dir="2700000" dist="12700">
              <a:srgbClr val="000000">
                <a:alpha val="705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18" name="Google Shape;118;p6"/>
          <p:cNvPicPr preferRelativeResize="0"/>
          <p:nvPr/>
        </p:nvPicPr>
        <p:blipFill rotWithShape="1">
          <a:blip r:embed="rId4">
            <a:alphaModFix/>
          </a:blip>
          <a:srcRect b="0" l="0" r="0" t="0"/>
          <a:stretch/>
        </p:blipFill>
        <p:spPr>
          <a:xfrm>
            <a:off x="4636008" y="1143000"/>
            <a:ext cx="347472" cy="347472"/>
          </a:xfrm>
          <a:prstGeom prst="rect">
            <a:avLst/>
          </a:prstGeom>
          <a:noFill/>
          <a:ln>
            <a:noFill/>
          </a:ln>
        </p:spPr>
      </p:pic>
      <p:sp>
        <p:nvSpPr>
          <p:cNvPr id="119" name="Google Shape;119;p6"/>
          <p:cNvSpPr/>
          <p:nvPr/>
        </p:nvSpPr>
        <p:spPr>
          <a:xfrm>
            <a:off x="4636008" y="1554480"/>
            <a:ext cx="18288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050"/>
              <a:buFont typeface="Arial"/>
              <a:buNone/>
            </a:pPr>
            <a:r>
              <a:rPr b="1" i="0" lang="en-US" sz="1050" u="none" cap="none" strike="noStrike">
                <a:solidFill>
                  <a:srgbClr val="0D2434"/>
                </a:solidFill>
                <a:latin typeface="Arial"/>
                <a:ea typeface="Arial"/>
                <a:cs typeface="Arial"/>
                <a:sym typeface="Arial"/>
              </a:rPr>
              <a:t>Teaching &amp; Learning</a:t>
            </a:r>
            <a:endParaRPr b="0" i="0" sz="1050" u="none" cap="none" strike="noStrike">
              <a:solidFill>
                <a:schemeClr val="dk1"/>
              </a:solidFill>
              <a:latin typeface="Calibri"/>
              <a:ea typeface="Calibri"/>
              <a:cs typeface="Calibri"/>
              <a:sym typeface="Calibri"/>
            </a:endParaRPr>
          </a:p>
        </p:txBody>
      </p:sp>
      <p:sp>
        <p:nvSpPr>
          <p:cNvPr id="120" name="Google Shape;120;p6"/>
          <p:cNvSpPr/>
          <p:nvPr/>
        </p:nvSpPr>
        <p:spPr>
          <a:xfrm>
            <a:off x="4636008" y="1865376"/>
            <a:ext cx="18288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Curriculum and delivery shaped by what students report — which units run when, how placement weeks fall</a:t>
            </a:r>
            <a:endParaRPr b="0" i="0" sz="950" u="none" cap="none" strike="noStrike">
              <a:solidFill>
                <a:schemeClr val="dk1"/>
              </a:solidFill>
              <a:latin typeface="Calibri"/>
              <a:ea typeface="Calibri"/>
              <a:cs typeface="Calibri"/>
              <a:sym typeface="Calibri"/>
            </a:endParaRPr>
          </a:p>
        </p:txBody>
      </p:sp>
      <p:sp>
        <p:nvSpPr>
          <p:cNvPr id="121" name="Google Shape;121;p6"/>
          <p:cNvSpPr/>
          <p:nvPr/>
        </p:nvSpPr>
        <p:spPr>
          <a:xfrm>
            <a:off x="6675120" y="1005840"/>
            <a:ext cx="2011680" cy="1627632"/>
          </a:xfrm>
          <a:prstGeom prst="rect">
            <a:avLst/>
          </a:prstGeom>
          <a:solidFill>
            <a:srgbClr val="E8F4EF"/>
          </a:solidFill>
          <a:ln cap="flat" cmpd="sng" w="12700">
            <a:solidFill>
              <a:srgbClr val="D2DBDA"/>
            </a:solidFill>
            <a:prstDash val="solid"/>
            <a:round/>
            <a:headEnd len="sm" w="sm" type="none"/>
            <a:tailEnd len="sm" w="sm" type="none"/>
          </a:ln>
          <a:effectLst>
            <a:outerShdw blurRad="50800" rotWithShape="0" algn="bl" dir="2700000" dist="12700">
              <a:srgbClr val="000000">
                <a:alpha val="705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22" name="Google Shape;122;p6"/>
          <p:cNvPicPr preferRelativeResize="0"/>
          <p:nvPr/>
        </p:nvPicPr>
        <p:blipFill rotWithShape="1">
          <a:blip r:embed="rId5">
            <a:alphaModFix/>
          </a:blip>
          <a:srcRect b="0" l="0" r="0" t="0"/>
          <a:stretch/>
        </p:blipFill>
        <p:spPr>
          <a:xfrm>
            <a:off x="6784848" y="1143000"/>
            <a:ext cx="347472" cy="347472"/>
          </a:xfrm>
          <a:prstGeom prst="rect">
            <a:avLst/>
          </a:prstGeom>
          <a:noFill/>
          <a:ln>
            <a:noFill/>
          </a:ln>
        </p:spPr>
      </p:pic>
      <p:sp>
        <p:nvSpPr>
          <p:cNvPr id="123" name="Google Shape;123;p6"/>
          <p:cNvSpPr/>
          <p:nvPr/>
        </p:nvSpPr>
        <p:spPr>
          <a:xfrm>
            <a:off x="6784848" y="1554480"/>
            <a:ext cx="18288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050"/>
              <a:buFont typeface="Arial"/>
              <a:buNone/>
            </a:pPr>
            <a:r>
              <a:rPr b="1" i="0" lang="en-US" sz="1050" u="none" cap="none" strike="noStrike">
                <a:solidFill>
                  <a:srgbClr val="0D2434"/>
                </a:solidFill>
                <a:latin typeface="Arial"/>
                <a:ea typeface="Arial"/>
                <a:cs typeface="Arial"/>
                <a:sym typeface="Arial"/>
              </a:rPr>
              <a:t>Student experience</a:t>
            </a:r>
            <a:endParaRPr b="0" i="0" sz="1050" u="none" cap="none" strike="noStrike">
              <a:solidFill>
                <a:schemeClr val="dk1"/>
              </a:solidFill>
              <a:latin typeface="Calibri"/>
              <a:ea typeface="Calibri"/>
              <a:cs typeface="Calibri"/>
              <a:sym typeface="Calibri"/>
            </a:endParaRPr>
          </a:p>
        </p:txBody>
      </p:sp>
      <p:sp>
        <p:nvSpPr>
          <p:cNvPr id="124" name="Google Shape;124;p6"/>
          <p:cNvSpPr/>
          <p:nvPr/>
        </p:nvSpPr>
        <p:spPr>
          <a:xfrm>
            <a:off x="6784848" y="1865376"/>
            <a:ext cx="18288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Campus life improved by evidenced feedback — studio access, edit time, travel between campuses</a:t>
            </a:r>
            <a:endParaRPr b="0" i="0" sz="950" u="none" cap="none" strike="noStrike">
              <a:solidFill>
                <a:schemeClr val="dk1"/>
              </a:solidFill>
              <a:latin typeface="Calibri"/>
              <a:ea typeface="Calibri"/>
              <a:cs typeface="Calibri"/>
              <a:sym typeface="Calibri"/>
            </a:endParaRPr>
          </a:p>
        </p:txBody>
      </p:sp>
      <p:sp>
        <p:nvSpPr>
          <p:cNvPr id="125" name="Google Shape;125;p6"/>
          <p:cNvSpPr/>
          <p:nvPr/>
        </p:nvSpPr>
        <p:spPr>
          <a:xfrm>
            <a:off x="4526280" y="2770632"/>
            <a:ext cx="2011680" cy="1627632"/>
          </a:xfrm>
          <a:prstGeom prst="rect">
            <a:avLst/>
          </a:prstGeom>
          <a:solidFill>
            <a:srgbClr val="E8F4EF"/>
          </a:solidFill>
          <a:ln cap="flat" cmpd="sng" w="12700">
            <a:solidFill>
              <a:srgbClr val="D2DBDA"/>
            </a:solidFill>
            <a:prstDash val="solid"/>
            <a:round/>
            <a:headEnd len="sm" w="sm" type="none"/>
            <a:tailEnd len="sm" w="sm" type="none"/>
          </a:ln>
          <a:effectLst>
            <a:outerShdw blurRad="50800" rotWithShape="0" algn="bl" dir="2700000" dist="12700">
              <a:srgbClr val="000000">
                <a:alpha val="705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26" name="Google Shape;126;p6"/>
          <p:cNvPicPr preferRelativeResize="0"/>
          <p:nvPr/>
        </p:nvPicPr>
        <p:blipFill rotWithShape="1">
          <a:blip r:embed="rId6">
            <a:alphaModFix/>
          </a:blip>
          <a:srcRect b="0" l="0" r="0" t="0"/>
          <a:stretch/>
        </p:blipFill>
        <p:spPr>
          <a:xfrm>
            <a:off x="4636008" y="2907792"/>
            <a:ext cx="347472" cy="347472"/>
          </a:xfrm>
          <a:prstGeom prst="rect">
            <a:avLst/>
          </a:prstGeom>
          <a:noFill/>
          <a:ln>
            <a:noFill/>
          </a:ln>
        </p:spPr>
      </p:pic>
      <p:sp>
        <p:nvSpPr>
          <p:cNvPr id="127" name="Google Shape;127;p6"/>
          <p:cNvSpPr/>
          <p:nvPr/>
        </p:nvSpPr>
        <p:spPr>
          <a:xfrm>
            <a:off x="4636008" y="3319272"/>
            <a:ext cx="18288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050"/>
              <a:buFont typeface="Arial"/>
              <a:buNone/>
            </a:pPr>
            <a:r>
              <a:rPr b="1" i="0" lang="en-US" sz="1050" u="none" cap="none" strike="noStrike">
                <a:solidFill>
                  <a:srgbClr val="0D2434"/>
                </a:solidFill>
                <a:latin typeface="Arial"/>
                <a:ea typeface="Arial"/>
                <a:cs typeface="Arial"/>
                <a:sym typeface="Arial"/>
              </a:rPr>
              <a:t>Community</a:t>
            </a:r>
            <a:endParaRPr b="0" i="0" sz="1050" u="none" cap="none" strike="noStrike">
              <a:solidFill>
                <a:schemeClr val="dk1"/>
              </a:solidFill>
              <a:latin typeface="Calibri"/>
              <a:ea typeface="Calibri"/>
              <a:cs typeface="Calibri"/>
              <a:sym typeface="Calibri"/>
            </a:endParaRPr>
          </a:p>
        </p:txBody>
      </p:sp>
      <p:sp>
        <p:nvSpPr>
          <p:cNvPr id="128" name="Google Shape;128;p6"/>
          <p:cNvSpPr/>
          <p:nvPr/>
        </p:nvSpPr>
        <p:spPr>
          <a:xfrm>
            <a:off x="4636008" y="3630168"/>
            <a:ext cx="18288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Staff and students agreeing what “industry-ready” actually means on this course</a:t>
            </a:r>
            <a:endParaRPr b="0" i="0" sz="950" u="none" cap="none" strike="noStrike">
              <a:solidFill>
                <a:schemeClr val="dk1"/>
              </a:solidFill>
              <a:latin typeface="Calibri"/>
              <a:ea typeface="Calibri"/>
              <a:cs typeface="Calibri"/>
              <a:sym typeface="Calibri"/>
            </a:endParaRPr>
          </a:p>
        </p:txBody>
      </p:sp>
      <p:sp>
        <p:nvSpPr>
          <p:cNvPr id="129" name="Google Shape;129;p6"/>
          <p:cNvSpPr/>
          <p:nvPr/>
        </p:nvSpPr>
        <p:spPr>
          <a:xfrm>
            <a:off x="6675120" y="2770632"/>
            <a:ext cx="2011680" cy="1627632"/>
          </a:xfrm>
          <a:prstGeom prst="rect">
            <a:avLst/>
          </a:prstGeom>
          <a:solidFill>
            <a:srgbClr val="E8F4EF"/>
          </a:solidFill>
          <a:ln cap="flat" cmpd="sng" w="12700">
            <a:solidFill>
              <a:srgbClr val="D2DBDA"/>
            </a:solidFill>
            <a:prstDash val="solid"/>
            <a:round/>
            <a:headEnd len="sm" w="sm" type="none"/>
            <a:tailEnd len="sm" w="sm" type="none"/>
          </a:ln>
          <a:effectLst>
            <a:outerShdw blurRad="50800" rotWithShape="0" algn="bl" dir="2700000" dist="12700">
              <a:srgbClr val="000000">
                <a:alpha val="705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30" name="Google Shape;130;p6"/>
          <p:cNvPicPr preferRelativeResize="0"/>
          <p:nvPr/>
        </p:nvPicPr>
        <p:blipFill rotWithShape="1">
          <a:blip r:embed="rId7">
            <a:alphaModFix/>
          </a:blip>
          <a:srcRect b="0" l="0" r="0" t="0"/>
          <a:stretch/>
        </p:blipFill>
        <p:spPr>
          <a:xfrm>
            <a:off x="6784848" y="2907792"/>
            <a:ext cx="347472" cy="347472"/>
          </a:xfrm>
          <a:prstGeom prst="rect">
            <a:avLst/>
          </a:prstGeom>
          <a:noFill/>
          <a:ln>
            <a:noFill/>
          </a:ln>
        </p:spPr>
      </p:pic>
      <p:sp>
        <p:nvSpPr>
          <p:cNvPr id="131" name="Google Shape;131;p6"/>
          <p:cNvSpPr/>
          <p:nvPr/>
        </p:nvSpPr>
        <p:spPr>
          <a:xfrm>
            <a:off x="6784848" y="3319272"/>
            <a:ext cx="18288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050"/>
              <a:buFont typeface="Arial"/>
              <a:buNone/>
            </a:pPr>
            <a:r>
              <a:rPr b="1" i="0" lang="en-US" sz="1050" u="none" cap="none" strike="noStrike">
                <a:solidFill>
                  <a:srgbClr val="0D2434"/>
                </a:solidFill>
                <a:latin typeface="Arial"/>
                <a:ea typeface="Arial"/>
                <a:cs typeface="Arial"/>
                <a:sym typeface="Arial"/>
              </a:rPr>
              <a:t>Visible outcomes</a:t>
            </a:r>
            <a:endParaRPr b="0" i="0" sz="1050" u="none" cap="none" strike="noStrike">
              <a:solidFill>
                <a:schemeClr val="dk1"/>
              </a:solidFill>
              <a:latin typeface="Calibri"/>
              <a:ea typeface="Calibri"/>
              <a:cs typeface="Calibri"/>
              <a:sym typeface="Calibri"/>
            </a:endParaRPr>
          </a:p>
        </p:txBody>
      </p:sp>
      <p:sp>
        <p:nvSpPr>
          <p:cNvPr id="132" name="Google Shape;132;p6"/>
          <p:cNvSpPr/>
          <p:nvPr/>
        </p:nvSpPr>
        <p:spPr>
          <a:xfrm>
            <a:off x="6784848" y="3630168"/>
            <a:ext cx="18288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You can see what changed — and what's still being worked 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37" name="Shape 137"/>
        <p:cNvGrpSpPr/>
        <p:nvPr/>
      </p:nvGrpSpPr>
      <p:grpSpPr>
        <a:xfrm>
          <a:off x="0" y="0"/>
          <a:ext cx="0" cy="0"/>
          <a:chOff x="0" y="0"/>
          <a:chExt cx="0" cy="0"/>
        </a:xfrm>
      </p:grpSpPr>
      <p:sp>
        <p:nvSpPr>
          <p:cNvPr id="138" name="Google Shape;138;p7"/>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Ways to get involved</a:t>
            </a:r>
            <a:endParaRPr b="0" i="0" sz="2200" u="none" cap="none" strike="noStrike">
              <a:solidFill>
                <a:schemeClr val="dk1"/>
              </a:solidFill>
              <a:latin typeface="Calibri"/>
              <a:ea typeface="Calibri"/>
              <a:cs typeface="Calibri"/>
              <a:sym typeface="Calibri"/>
            </a:endParaRPr>
          </a:p>
        </p:txBody>
      </p:sp>
      <p:sp>
        <p:nvSpPr>
          <p:cNvPr id="139" name="Google Shape;139;p7"/>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Four ways in — pick the one that fits</a:t>
            </a:r>
            <a:endParaRPr b="0" i="0" sz="1100" u="none" cap="none" strike="noStrike">
              <a:solidFill>
                <a:schemeClr val="dk1"/>
              </a:solidFill>
              <a:latin typeface="Calibri"/>
              <a:ea typeface="Calibri"/>
              <a:cs typeface="Calibri"/>
              <a:sym typeface="Calibri"/>
            </a:endParaRPr>
          </a:p>
        </p:txBody>
      </p:sp>
      <p:sp>
        <p:nvSpPr>
          <p:cNvPr id="140" name="Google Shape;140;p7"/>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7"/>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 name="Google Shape;142;p7"/>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143" name="Google Shape;143;p7"/>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L3 &amp; T Level Digital, Media, Film and Computing</a:t>
            </a:r>
            <a:endParaRPr b="0" i="0" sz="800" u="none" cap="none" strike="noStrike">
              <a:solidFill>
                <a:schemeClr val="dk1"/>
              </a:solidFill>
              <a:latin typeface="Calibri"/>
              <a:ea typeface="Calibri"/>
              <a:cs typeface="Calibri"/>
              <a:sym typeface="Calibri"/>
            </a:endParaRPr>
          </a:p>
        </p:txBody>
      </p:sp>
      <p:sp>
        <p:nvSpPr>
          <p:cNvPr id="144" name="Google Shape;144;p7"/>
          <p:cNvSpPr/>
          <p:nvPr/>
        </p:nvSpPr>
        <p:spPr>
          <a:xfrm>
            <a:off x="411480" y="1005840"/>
            <a:ext cx="4069080" cy="166420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45" name="Google Shape;145;p7"/>
          <p:cNvCxnSpPr/>
          <p:nvPr/>
        </p:nvCxnSpPr>
        <p:spPr>
          <a:xfrm>
            <a:off x="548640" y="1170432"/>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pic>
        <p:nvPicPr>
          <p:cNvPr descr="preencoded.png" id="146" name="Google Shape;146;p7"/>
          <p:cNvPicPr preferRelativeResize="0"/>
          <p:nvPr/>
        </p:nvPicPr>
        <p:blipFill rotWithShape="1">
          <a:blip r:embed="rId3">
            <a:alphaModFix/>
          </a:blip>
          <a:srcRect b="0" l="0" r="0" t="0"/>
          <a:stretch/>
        </p:blipFill>
        <p:spPr>
          <a:xfrm>
            <a:off x="566928" y="1188720"/>
            <a:ext cx="438912" cy="438912"/>
          </a:xfrm>
          <a:prstGeom prst="rect">
            <a:avLst/>
          </a:prstGeom>
          <a:noFill/>
          <a:ln>
            <a:noFill/>
          </a:ln>
        </p:spPr>
      </p:pic>
      <p:sp>
        <p:nvSpPr>
          <p:cNvPr id="147" name="Google Shape;147;p7"/>
          <p:cNvSpPr/>
          <p:nvPr/>
        </p:nvSpPr>
        <p:spPr>
          <a:xfrm>
            <a:off x="3154680" y="1170432"/>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 name="Google Shape;148;p7"/>
          <p:cNvSpPr/>
          <p:nvPr/>
        </p:nvSpPr>
        <p:spPr>
          <a:xfrm>
            <a:off x="3154680" y="1170432"/>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Two elected today</a:t>
            </a:r>
            <a:endParaRPr b="0" i="0" sz="800" u="none" cap="none" strike="noStrike">
              <a:solidFill>
                <a:schemeClr val="dk1"/>
              </a:solidFill>
              <a:latin typeface="Calibri"/>
              <a:ea typeface="Calibri"/>
              <a:cs typeface="Calibri"/>
              <a:sym typeface="Calibri"/>
            </a:endParaRPr>
          </a:p>
        </p:txBody>
      </p:sp>
      <p:sp>
        <p:nvSpPr>
          <p:cNvPr id="149" name="Google Shape;149;p7"/>
          <p:cNvSpPr/>
          <p:nvPr/>
        </p:nvSpPr>
        <p:spPr>
          <a:xfrm>
            <a:off x="1161288" y="1170432"/>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Student Rep</a:t>
            </a:r>
            <a:endParaRPr b="0" i="0" sz="1200" u="none" cap="none" strike="noStrike">
              <a:solidFill>
                <a:schemeClr val="dk1"/>
              </a:solidFill>
              <a:latin typeface="Calibri"/>
              <a:ea typeface="Calibri"/>
              <a:cs typeface="Calibri"/>
              <a:sym typeface="Calibri"/>
            </a:endParaRPr>
          </a:p>
        </p:txBody>
      </p:sp>
      <p:sp>
        <p:nvSpPr>
          <p:cNvPr id="150" name="Google Shape;150;p7"/>
          <p:cNvSpPr/>
          <p:nvPr/>
        </p:nvSpPr>
        <p:spPr>
          <a:xfrm>
            <a:off x="548640" y="1719072"/>
            <a:ext cx="379476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Elected today. You speak for this group at Student Council — and you elect a rep for your English and maths class too.</a:t>
            </a:r>
            <a:endParaRPr b="0" i="0" sz="1050" u="none" cap="none" strike="noStrike">
              <a:solidFill>
                <a:schemeClr val="dk1"/>
              </a:solidFill>
              <a:latin typeface="Calibri"/>
              <a:ea typeface="Calibri"/>
              <a:cs typeface="Calibri"/>
              <a:sym typeface="Calibri"/>
            </a:endParaRPr>
          </a:p>
        </p:txBody>
      </p:sp>
      <p:sp>
        <p:nvSpPr>
          <p:cNvPr id="151" name="Google Shape;151;p7"/>
          <p:cNvSpPr/>
          <p:nvPr/>
        </p:nvSpPr>
        <p:spPr>
          <a:xfrm>
            <a:off x="4709160" y="1005840"/>
            <a:ext cx="4069080" cy="166420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52" name="Google Shape;152;p7"/>
          <p:cNvCxnSpPr/>
          <p:nvPr/>
        </p:nvCxnSpPr>
        <p:spPr>
          <a:xfrm>
            <a:off x="4846320" y="1170432"/>
            <a:ext cx="475488" cy="475488"/>
          </a:xfrm>
          <a:prstGeom prst="straightConnector1">
            <a:avLst/>
          </a:prstGeom>
          <a:solidFill>
            <a:srgbClr val="0D2434"/>
          </a:solidFill>
          <a:ln cap="flat" cmpd="sng" w="12700">
            <a:solidFill>
              <a:srgbClr val="0D2434"/>
            </a:solidFill>
            <a:prstDash val="solid"/>
            <a:round/>
            <a:headEnd len="sm" w="sm" type="none"/>
            <a:tailEnd len="sm" w="sm" type="none"/>
          </a:ln>
        </p:spPr>
      </p:cxnSp>
      <p:pic>
        <p:nvPicPr>
          <p:cNvPr descr="preencoded.png" id="153" name="Google Shape;153;p7"/>
          <p:cNvPicPr preferRelativeResize="0"/>
          <p:nvPr/>
        </p:nvPicPr>
        <p:blipFill rotWithShape="1">
          <a:blip r:embed="rId4">
            <a:alphaModFix/>
          </a:blip>
          <a:srcRect b="0" l="0" r="0" t="0"/>
          <a:stretch/>
        </p:blipFill>
        <p:spPr>
          <a:xfrm>
            <a:off x="4864608" y="1188720"/>
            <a:ext cx="438912" cy="438912"/>
          </a:xfrm>
          <a:prstGeom prst="rect">
            <a:avLst/>
          </a:prstGeom>
          <a:noFill/>
          <a:ln>
            <a:noFill/>
          </a:ln>
        </p:spPr>
      </p:pic>
      <p:sp>
        <p:nvSpPr>
          <p:cNvPr id="154" name="Google Shape;154;p7"/>
          <p:cNvSpPr/>
          <p:nvPr/>
        </p:nvSpPr>
        <p:spPr>
          <a:xfrm>
            <a:off x="7452360" y="1170432"/>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7"/>
          <p:cNvSpPr/>
          <p:nvPr/>
        </p:nvSpPr>
        <p:spPr>
          <a:xfrm>
            <a:off x="7452360" y="1170432"/>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Apply by 16 Oct</a:t>
            </a:r>
            <a:endParaRPr b="0" i="0" sz="800" u="none" cap="none" strike="noStrike">
              <a:solidFill>
                <a:schemeClr val="dk1"/>
              </a:solidFill>
              <a:latin typeface="Calibri"/>
              <a:ea typeface="Calibri"/>
              <a:cs typeface="Calibri"/>
              <a:sym typeface="Calibri"/>
            </a:endParaRPr>
          </a:p>
        </p:txBody>
      </p:sp>
      <p:sp>
        <p:nvSpPr>
          <p:cNvPr id="156" name="Google Shape;156;p7"/>
          <p:cNvSpPr/>
          <p:nvPr/>
        </p:nvSpPr>
        <p:spPr>
          <a:xfrm>
            <a:off x="5458968" y="1170432"/>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Student Governor</a:t>
            </a:r>
            <a:endParaRPr b="0" i="0" sz="1200" u="none" cap="none" strike="noStrike">
              <a:solidFill>
                <a:schemeClr val="dk1"/>
              </a:solidFill>
              <a:latin typeface="Calibri"/>
              <a:ea typeface="Calibri"/>
              <a:cs typeface="Calibri"/>
              <a:sym typeface="Calibri"/>
            </a:endParaRPr>
          </a:p>
        </p:txBody>
      </p:sp>
      <p:sp>
        <p:nvSpPr>
          <p:cNvPr id="157" name="Google Shape;157;p7"/>
          <p:cNvSpPr/>
          <p:nvPr/>
        </p:nvSpPr>
        <p:spPr>
          <a:xfrm>
            <a:off x="4846320" y="1719072"/>
            <a:ext cx="379476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3 places on the Main Governing Board — where studio, kit and software investment gets decided. Applications close midday, Friday 16 October — see slides 7–10.</a:t>
            </a:r>
            <a:endParaRPr b="0" i="0" sz="1050" u="none" cap="none" strike="noStrike">
              <a:solidFill>
                <a:schemeClr val="dk1"/>
              </a:solidFill>
              <a:latin typeface="Calibri"/>
              <a:ea typeface="Calibri"/>
              <a:cs typeface="Calibri"/>
              <a:sym typeface="Calibri"/>
            </a:endParaRPr>
          </a:p>
        </p:txBody>
      </p:sp>
      <p:sp>
        <p:nvSpPr>
          <p:cNvPr id="158" name="Google Shape;158;p7"/>
          <p:cNvSpPr/>
          <p:nvPr/>
        </p:nvSpPr>
        <p:spPr>
          <a:xfrm>
            <a:off x="411480" y="2834640"/>
            <a:ext cx="4069080" cy="166420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59" name="Google Shape;159;p7"/>
          <p:cNvCxnSpPr/>
          <p:nvPr/>
        </p:nvCxnSpPr>
        <p:spPr>
          <a:xfrm>
            <a:off x="548640" y="2999232"/>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pic>
        <p:nvPicPr>
          <p:cNvPr descr="preencoded.png" id="160" name="Google Shape;160;p7"/>
          <p:cNvPicPr preferRelativeResize="0"/>
          <p:nvPr/>
        </p:nvPicPr>
        <p:blipFill rotWithShape="1">
          <a:blip r:embed="rId5">
            <a:alphaModFix/>
          </a:blip>
          <a:srcRect b="0" l="0" r="0" t="0"/>
          <a:stretch/>
        </p:blipFill>
        <p:spPr>
          <a:xfrm>
            <a:off x="566928" y="3017520"/>
            <a:ext cx="438912" cy="438912"/>
          </a:xfrm>
          <a:prstGeom prst="rect">
            <a:avLst/>
          </a:prstGeom>
          <a:noFill/>
          <a:ln>
            <a:noFill/>
          </a:ln>
        </p:spPr>
      </p:pic>
      <p:sp>
        <p:nvSpPr>
          <p:cNvPr id="161" name="Google Shape;161;p7"/>
          <p:cNvSpPr/>
          <p:nvPr/>
        </p:nvSpPr>
        <p:spPr>
          <a:xfrm>
            <a:off x="3154680" y="2999232"/>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p7"/>
          <p:cNvSpPr/>
          <p:nvPr/>
        </p:nvSpPr>
        <p:spPr>
          <a:xfrm>
            <a:off x="3154680" y="2999232"/>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You're already in</a:t>
            </a:r>
            <a:endParaRPr b="0" i="0" sz="800" u="none" cap="none" strike="noStrike">
              <a:solidFill>
                <a:schemeClr val="dk1"/>
              </a:solidFill>
              <a:latin typeface="Calibri"/>
              <a:ea typeface="Calibri"/>
              <a:cs typeface="Calibri"/>
              <a:sym typeface="Calibri"/>
            </a:endParaRPr>
          </a:p>
        </p:txBody>
      </p:sp>
      <p:sp>
        <p:nvSpPr>
          <p:cNvPr id="163" name="Google Shape;163;p7"/>
          <p:cNvSpPr/>
          <p:nvPr/>
        </p:nvSpPr>
        <p:spPr>
          <a:xfrm>
            <a:off x="1161288" y="2999232"/>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NUS Membership</a:t>
            </a:r>
            <a:endParaRPr b="0" i="0" sz="1200" u="none" cap="none" strike="noStrike">
              <a:solidFill>
                <a:schemeClr val="dk1"/>
              </a:solidFill>
              <a:latin typeface="Calibri"/>
              <a:ea typeface="Calibri"/>
              <a:cs typeface="Calibri"/>
              <a:sym typeface="Calibri"/>
            </a:endParaRPr>
          </a:p>
        </p:txBody>
      </p:sp>
      <p:sp>
        <p:nvSpPr>
          <p:cNvPr id="164" name="Google Shape;164;p7"/>
          <p:cNvSpPr/>
          <p:nvPr/>
        </p:nvSpPr>
        <p:spPr>
          <a:xfrm>
            <a:off x="548640" y="3547872"/>
            <a:ext cx="379476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You're already a member. TOTUM card (£14.99/year) gives discounts across hundreds of retailers — worth checking before you buy a drive, headphones or software.</a:t>
            </a:r>
            <a:endParaRPr b="0" i="0" sz="1050" u="none" cap="none" strike="noStrike">
              <a:solidFill>
                <a:schemeClr val="dk1"/>
              </a:solidFill>
              <a:latin typeface="Calibri"/>
              <a:ea typeface="Calibri"/>
              <a:cs typeface="Calibri"/>
              <a:sym typeface="Calibri"/>
            </a:endParaRPr>
          </a:p>
        </p:txBody>
      </p:sp>
      <p:sp>
        <p:nvSpPr>
          <p:cNvPr id="165" name="Google Shape;165;p7"/>
          <p:cNvSpPr/>
          <p:nvPr/>
        </p:nvSpPr>
        <p:spPr>
          <a:xfrm>
            <a:off x="4709160" y="2834640"/>
            <a:ext cx="4069080" cy="166420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66" name="Google Shape;166;p7"/>
          <p:cNvCxnSpPr/>
          <p:nvPr/>
        </p:nvCxnSpPr>
        <p:spPr>
          <a:xfrm>
            <a:off x="4846320" y="2999232"/>
            <a:ext cx="475488" cy="475488"/>
          </a:xfrm>
          <a:prstGeom prst="straightConnector1">
            <a:avLst/>
          </a:prstGeom>
          <a:solidFill>
            <a:srgbClr val="0D2434"/>
          </a:solidFill>
          <a:ln cap="flat" cmpd="sng" w="12700">
            <a:solidFill>
              <a:srgbClr val="0D2434"/>
            </a:solidFill>
            <a:prstDash val="solid"/>
            <a:round/>
            <a:headEnd len="sm" w="sm" type="none"/>
            <a:tailEnd len="sm" w="sm" type="none"/>
          </a:ln>
        </p:spPr>
      </p:cxnSp>
      <p:pic>
        <p:nvPicPr>
          <p:cNvPr descr="preencoded.png" id="167" name="Google Shape;167;p7"/>
          <p:cNvPicPr preferRelativeResize="0"/>
          <p:nvPr/>
        </p:nvPicPr>
        <p:blipFill rotWithShape="1">
          <a:blip r:embed="rId6">
            <a:alphaModFix/>
          </a:blip>
          <a:srcRect b="0" l="0" r="0" t="0"/>
          <a:stretch/>
        </p:blipFill>
        <p:spPr>
          <a:xfrm>
            <a:off x="4864608" y="3017520"/>
            <a:ext cx="438912" cy="438912"/>
          </a:xfrm>
          <a:prstGeom prst="rect">
            <a:avLst/>
          </a:prstGeom>
          <a:noFill/>
          <a:ln>
            <a:noFill/>
          </a:ln>
        </p:spPr>
      </p:pic>
      <p:sp>
        <p:nvSpPr>
          <p:cNvPr id="168" name="Google Shape;168;p7"/>
          <p:cNvSpPr/>
          <p:nvPr/>
        </p:nvSpPr>
        <p:spPr>
          <a:xfrm>
            <a:off x="7452360" y="2999232"/>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7"/>
          <p:cNvSpPr/>
          <p:nvPr/>
        </p:nvSpPr>
        <p:spPr>
          <a:xfrm>
            <a:off x="7452360" y="2999232"/>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From 3 Nov</a:t>
            </a:r>
            <a:endParaRPr b="0" i="0" sz="800" u="none" cap="none" strike="noStrike">
              <a:solidFill>
                <a:schemeClr val="dk1"/>
              </a:solidFill>
              <a:latin typeface="Calibri"/>
              <a:ea typeface="Calibri"/>
              <a:cs typeface="Calibri"/>
              <a:sym typeface="Calibri"/>
            </a:endParaRPr>
          </a:p>
        </p:txBody>
      </p:sp>
      <p:sp>
        <p:nvSpPr>
          <p:cNvPr id="170" name="Google Shape;170;p7"/>
          <p:cNvSpPr/>
          <p:nvPr/>
        </p:nvSpPr>
        <p:spPr>
          <a:xfrm>
            <a:off x="5458968" y="2999232"/>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Surveys &amp; Forums</a:t>
            </a:r>
            <a:endParaRPr b="0" i="0" sz="1200" u="none" cap="none" strike="noStrike">
              <a:solidFill>
                <a:schemeClr val="dk1"/>
              </a:solidFill>
              <a:latin typeface="Calibri"/>
              <a:ea typeface="Calibri"/>
              <a:cs typeface="Calibri"/>
              <a:sym typeface="Calibri"/>
            </a:endParaRPr>
          </a:p>
        </p:txBody>
      </p:sp>
      <p:sp>
        <p:nvSpPr>
          <p:cNvPr id="171" name="Google Shape;171;p7"/>
          <p:cNvSpPr/>
          <p:nvPr/>
        </p:nvSpPr>
        <p:spPr>
          <a:xfrm>
            <a:off x="4846320" y="3547872"/>
            <a:ext cx="379476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Induction Survey opens 3 November. Three minutes — the place to report a software, kit or placement problem while there is still time to fix it.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76" name="Shape 176"/>
        <p:cNvGrpSpPr/>
        <p:nvPr/>
      </p:nvGrpSpPr>
      <p:grpSpPr>
        <a:xfrm>
          <a:off x="0" y="0"/>
          <a:ext cx="0" cy="0"/>
          <a:chOff x="0" y="0"/>
          <a:chExt cx="0" cy="0"/>
        </a:xfrm>
      </p:grpSpPr>
      <p:sp>
        <p:nvSpPr>
          <p:cNvPr id="177" name="Google Shape;177;p8"/>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The Student Representative role</a:t>
            </a:r>
            <a:endParaRPr b="0" i="0" sz="2200" u="none" cap="none" strike="noStrike">
              <a:solidFill>
                <a:schemeClr val="dk1"/>
              </a:solidFill>
              <a:latin typeface="Calibri"/>
              <a:ea typeface="Calibri"/>
              <a:cs typeface="Calibri"/>
              <a:sym typeface="Calibri"/>
            </a:endParaRPr>
          </a:p>
        </p:txBody>
      </p:sp>
      <p:sp>
        <p:nvSpPr>
          <p:cNvPr id="178" name="Google Shape;178;p8"/>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What the role involves — and what you get out of it</a:t>
            </a:r>
            <a:endParaRPr b="0" i="0" sz="1100" u="none" cap="none" strike="noStrike">
              <a:solidFill>
                <a:schemeClr val="dk1"/>
              </a:solidFill>
              <a:latin typeface="Calibri"/>
              <a:ea typeface="Calibri"/>
              <a:cs typeface="Calibri"/>
              <a:sym typeface="Calibri"/>
            </a:endParaRPr>
          </a:p>
        </p:txBody>
      </p:sp>
      <p:sp>
        <p:nvSpPr>
          <p:cNvPr id="179" name="Google Shape;179;p8"/>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p8"/>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1" name="Google Shape;181;p8"/>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182" name="Google Shape;182;p8"/>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L3 &amp; T Level Digital, Media, Film and Computing</a:t>
            </a:r>
            <a:endParaRPr b="0" i="0" sz="800" u="none" cap="none" strike="noStrike">
              <a:solidFill>
                <a:schemeClr val="dk1"/>
              </a:solidFill>
              <a:latin typeface="Calibri"/>
              <a:ea typeface="Calibri"/>
              <a:cs typeface="Calibri"/>
              <a:sym typeface="Calibri"/>
            </a:endParaRPr>
          </a:p>
        </p:txBody>
      </p:sp>
      <p:sp>
        <p:nvSpPr>
          <p:cNvPr id="183" name="Google Shape;183;p8"/>
          <p:cNvSpPr/>
          <p:nvPr/>
        </p:nvSpPr>
        <p:spPr>
          <a:xfrm>
            <a:off x="411480" y="1005840"/>
            <a:ext cx="4160520" cy="3749040"/>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4" name="Google Shape;184;p8"/>
          <p:cNvSpPr/>
          <p:nvPr/>
        </p:nvSpPr>
        <p:spPr>
          <a:xfrm>
            <a:off x="594360" y="1078992"/>
            <a:ext cx="37490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300"/>
              <a:buFont typeface="Arial"/>
              <a:buNone/>
            </a:pPr>
            <a:r>
              <a:rPr b="1" i="0" lang="en-US" sz="1300" u="none" cap="none" strike="noStrike">
                <a:solidFill>
                  <a:srgbClr val="FFCF01"/>
                </a:solidFill>
                <a:latin typeface="Arial"/>
                <a:ea typeface="Arial"/>
                <a:cs typeface="Arial"/>
                <a:sym typeface="Arial"/>
              </a:rPr>
              <a:t>What reps do</a:t>
            </a:r>
            <a:endParaRPr b="0" i="0" sz="1300" u="none" cap="none" strike="noStrike">
              <a:solidFill>
                <a:schemeClr val="dk1"/>
              </a:solidFill>
              <a:latin typeface="Calibri"/>
              <a:ea typeface="Calibri"/>
              <a:cs typeface="Calibri"/>
              <a:sym typeface="Calibri"/>
            </a:endParaRPr>
          </a:p>
        </p:txBody>
      </p:sp>
      <p:sp>
        <p:nvSpPr>
          <p:cNvPr id="185" name="Google Shape;185;p8"/>
          <p:cNvSpPr/>
          <p:nvPr/>
        </p:nvSpPr>
        <p:spPr>
          <a:xfrm>
            <a:off x="594360" y="1481328"/>
            <a:ext cx="3749040" cy="210312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Gather and convey student opinions to college leadership</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Attend 3 Student Council meetings per year (dates on the right)</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Provide feedback on teaching, studios, edit suites, kit and software licences</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Work with staff to develop solutions — not just present problems</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Keep the group informed after every meeting</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Represent this group in your English and maths class too</a:t>
            </a:r>
            <a:endParaRPr b="0" i="0" sz="1050" u="none" cap="none" strike="noStrike">
              <a:solidFill>
                <a:schemeClr val="dk1"/>
              </a:solidFill>
              <a:latin typeface="Calibri"/>
              <a:ea typeface="Calibri"/>
              <a:cs typeface="Calibri"/>
              <a:sym typeface="Calibri"/>
            </a:endParaRPr>
          </a:p>
        </p:txBody>
      </p:sp>
      <p:sp>
        <p:nvSpPr>
          <p:cNvPr id="186" name="Google Shape;186;p8"/>
          <p:cNvSpPr/>
          <p:nvPr/>
        </p:nvSpPr>
        <p:spPr>
          <a:xfrm>
            <a:off x="411480" y="3803904"/>
            <a:ext cx="4160520" cy="502920"/>
          </a:xfrm>
          <a:prstGeom prst="rect">
            <a:avLst/>
          </a:prstGeom>
          <a:solidFill>
            <a:srgbClr val="0F7A54">
              <a:alpha val="70196"/>
            </a:srgbClr>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7" name="Google Shape;187;p8"/>
          <p:cNvSpPr/>
          <p:nvPr/>
        </p:nvSpPr>
        <p:spPr>
          <a:xfrm>
            <a:off x="594360" y="3803904"/>
            <a:ext cx="38404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50"/>
              <a:buFont typeface="Arial"/>
              <a:buNone/>
            </a:pPr>
            <a:r>
              <a:rPr b="0" i="1" lang="en-US" sz="950" u="none" cap="none" strike="noStrike">
                <a:solidFill>
                  <a:srgbClr val="FFFFFF"/>
                </a:solidFill>
                <a:latin typeface="Arial"/>
                <a:ea typeface="Arial"/>
                <a:cs typeface="Arial"/>
                <a:sym typeface="Arial"/>
              </a:rPr>
              <a:t>Employers notice this: it is evidence of communication, negotiation and professional conduct.</a:t>
            </a:r>
            <a:endParaRPr b="0" i="0" sz="950" u="none" cap="none" strike="noStrike">
              <a:solidFill>
                <a:schemeClr val="dk1"/>
              </a:solidFill>
              <a:latin typeface="Calibri"/>
              <a:ea typeface="Calibri"/>
              <a:cs typeface="Calibri"/>
              <a:sym typeface="Calibri"/>
            </a:endParaRPr>
          </a:p>
        </p:txBody>
      </p:sp>
      <p:sp>
        <p:nvSpPr>
          <p:cNvPr id="188" name="Google Shape;188;p8"/>
          <p:cNvSpPr/>
          <p:nvPr/>
        </p:nvSpPr>
        <p:spPr>
          <a:xfrm>
            <a:off x="411480" y="4325112"/>
            <a:ext cx="4160520" cy="42976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8"/>
          <p:cNvSpPr/>
          <p:nvPr/>
        </p:nvSpPr>
        <p:spPr>
          <a:xfrm>
            <a:off x="594360" y="4325112"/>
            <a:ext cx="3840480" cy="4297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1" lang="en-US" sz="1000" u="none" cap="none" strike="noStrike">
                <a:solidFill>
                  <a:srgbClr val="FFFFFF"/>
                </a:solidFill>
                <a:latin typeface="Arial"/>
                <a:ea typeface="Arial"/>
                <a:cs typeface="Arial"/>
                <a:sym typeface="Arial"/>
              </a:rPr>
              <a:t>Develops: communication, leadership, problem-solving, and employability skills</a:t>
            </a:r>
            <a:endParaRPr b="0" i="0" sz="1000" u="none" cap="none" strike="noStrike">
              <a:solidFill>
                <a:schemeClr val="dk1"/>
              </a:solidFill>
              <a:latin typeface="Calibri"/>
              <a:ea typeface="Calibri"/>
              <a:cs typeface="Calibri"/>
              <a:sym typeface="Calibri"/>
            </a:endParaRPr>
          </a:p>
        </p:txBody>
      </p:sp>
      <p:sp>
        <p:nvSpPr>
          <p:cNvPr id="190" name="Google Shape;190;p8"/>
          <p:cNvSpPr/>
          <p:nvPr/>
        </p:nvSpPr>
        <p:spPr>
          <a:xfrm>
            <a:off x="4754880" y="1005840"/>
            <a:ext cx="39776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Student Council meetings 26/27</a:t>
            </a:r>
            <a:endParaRPr b="0" i="0" sz="1300" u="none" cap="none" strike="noStrike">
              <a:solidFill>
                <a:schemeClr val="dk1"/>
              </a:solidFill>
              <a:latin typeface="Calibri"/>
              <a:ea typeface="Calibri"/>
              <a:cs typeface="Calibri"/>
              <a:sym typeface="Calibri"/>
            </a:endParaRPr>
          </a:p>
        </p:txBody>
      </p:sp>
      <p:graphicFrame>
        <p:nvGraphicFramePr>
          <p:cNvPr id="191" name="Google Shape;191;p8"/>
          <p:cNvGraphicFramePr/>
          <p:nvPr/>
        </p:nvGraphicFramePr>
        <p:xfrm>
          <a:off x="4754880" y="1417320"/>
          <a:ext cx="3000000" cy="3000000"/>
        </p:xfrm>
        <a:graphic>
          <a:graphicData uri="http://schemas.openxmlformats.org/drawingml/2006/table">
            <a:tbl>
              <a:tblPr>
                <a:noFill/>
                <a:tableStyleId>{F2AB430E-8FD1-44FE-AAE3-1514E094F7B2}</a:tableStyleId>
              </a:tblPr>
              <a:tblGrid>
                <a:gridCol w="1325875"/>
                <a:gridCol w="886975"/>
                <a:gridCol w="886975"/>
                <a:gridCol w="886975"/>
              </a:tblGrid>
              <a:tr h="365750">
                <a:tc>
                  <a:txBody>
                    <a:bodyPr/>
                    <a:lstStyle/>
                    <a:p>
                      <a:pPr indent="0" lvl="0" marL="0" marR="0" rtl="0" algn="l">
                        <a:lnSpc>
                          <a:spcPct val="10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Campus</a:t>
                      </a:r>
                      <a:endParaRPr sz="90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0F7A54"/>
                    </a:solidFill>
                  </a:tcPr>
                </a:tc>
                <a:tc>
                  <a:txBody>
                    <a:bodyPr/>
                    <a:lstStyle/>
                    <a:p>
                      <a:pPr indent="0" lvl="0" marL="0" marR="0" rtl="0" algn="ctr">
                        <a:lnSpc>
                          <a:spcPct val="10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Council 1</a:t>
                      </a:r>
                      <a:endParaRPr sz="90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0F7A54"/>
                    </a:solidFill>
                  </a:tcPr>
                </a:tc>
                <a:tc>
                  <a:txBody>
                    <a:bodyPr/>
                    <a:lstStyle/>
                    <a:p>
                      <a:pPr indent="0" lvl="0" marL="0" marR="0" rtl="0" algn="ctr">
                        <a:lnSpc>
                          <a:spcPct val="10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Council 2</a:t>
                      </a:r>
                      <a:endParaRPr sz="90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0F7A54"/>
                    </a:solidFill>
                  </a:tcPr>
                </a:tc>
                <a:tc>
                  <a:txBody>
                    <a:bodyPr/>
                    <a:lstStyle/>
                    <a:p>
                      <a:pPr indent="0" lvl="0" marL="0" marR="0" rtl="0" algn="ctr">
                        <a:lnSpc>
                          <a:spcPct val="10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Council 3</a:t>
                      </a:r>
                      <a:endParaRPr sz="90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0F7A54"/>
                    </a:solidFill>
                  </a:tcPr>
                </a:tc>
              </a:tr>
              <a:tr h="365750">
                <a:tc>
                  <a:txBody>
                    <a:bodyPr/>
                    <a:lstStyle/>
                    <a:p>
                      <a:pPr indent="0" lvl="0" marL="0" marR="0" rtl="0" algn="l">
                        <a:lnSpc>
                          <a:spcPct val="100000"/>
                        </a:lnSpc>
                        <a:spcBef>
                          <a:spcPts val="0"/>
                        </a:spcBef>
                        <a:spcAft>
                          <a:spcPts val="0"/>
                        </a:spcAft>
                        <a:buClr>
                          <a:srgbClr val="0D2434"/>
                        </a:buClr>
                        <a:buSzPts val="950"/>
                        <a:buFont typeface="Arial"/>
                        <a:buNone/>
                      </a:pPr>
                      <a:r>
                        <a:rPr b="1" lang="en-US" sz="950" u="none" cap="none" strike="noStrike">
                          <a:solidFill>
                            <a:srgbClr val="0D2434"/>
                          </a:solidFill>
                          <a:latin typeface="Arial"/>
                          <a:ea typeface="Arial"/>
                          <a:cs typeface="Arial"/>
                          <a:sym typeface="Arial"/>
                        </a:rPr>
                        <a:t>Eastbourne</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Wed 11 Nov</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Mon 15 Mar</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Wed 5 May</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0D2434"/>
                        </a:buClr>
                        <a:buSzPts val="950"/>
                        <a:buFont typeface="Arial"/>
                        <a:buNone/>
                      </a:pPr>
                      <a:r>
                        <a:rPr b="1" lang="en-US" sz="950" u="none" cap="none" strike="noStrike">
                          <a:solidFill>
                            <a:srgbClr val="0D2434"/>
                          </a:solidFill>
                          <a:latin typeface="Arial"/>
                          <a:ea typeface="Arial"/>
                          <a:cs typeface="Arial"/>
                          <a:sym typeface="Arial"/>
                        </a:rPr>
                        <a:t>Lewes</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Tue 10 Nov</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Wed 17 Mar</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Wed 5 May</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r>
              <a:tr h="365750">
                <a:tc>
                  <a:txBody>
                    <a:bodyPr/>
                    <a:lstStyle/>
                    <a:p>
                      <a:pPr indent="0" lvl="0" marL="0" marR="0" rtl="0" algn="l">
                        <a:lnSpc>
                          <a:spcPct val="100000"/>
                        </a:lnSpc>
                        <a:spcBef>
                          <a:spcPts val="0"/>
                        </a:spcBef>
                        <a:spcAft>
                          <a:spcPts val="0"/>
                        </a:spcAft>
                        <a:buClr>
                          <a:srgbClr val="0D2434"/>
                        </a:buClr>
                        <a:buSzPts val="950"/>
                        <a:buFont typeface="Arial"/>
                        <a:buNone/>
                      </a:pPr>
                      <a:r>
                        <a:rPr b="1" lang="en-US" sz="950" u="none" cap="none" strike="noStrike">
                          <a:solidFill>
                            <a:srgbClr val="0D2434"/>
                          </a:solidFill>
                          <a:latin typeface="Arial"/>
                          <a:ea typeface="Arial"/>
                          <a:cs typeface="Arial"/>
                          <a:sym typeface="Arial"/>
                        </a:rPr>
                        <a:t>Station Plaza</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Thu 12 Nov</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Mon 15 Mar</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Tue 4 May</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0D2434"/>
                        </a:buClr>
                        <a:buSzPts val="950"/>
                        <a:buFont typeface="Arial"/>
                        <a:buNone/>
                      </a:pPr>
                      <a:r>
                        <a:rPr b="1" lang="en-US" sz="950" u="none" cap="none" strike="noStrike">
                          <a:solidFill>
                            <a:srgbClr val="0D2434"/>
                          </a:solidFill>
                          <a:latin typeface="Arial"/>
                          <a:ea typeface="Arial"/>
                          <a:cs typeface="Arial"/>
                          <a:sym typeface="Arial"/>
                        </a:rPr>
                        <a:t>Ore Valley &amp; ATIC</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Tue 10 Nov</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Wed 17 Mar</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Wed 5 May</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r>
            </a:tbl>
          </a:graphicData>
        </a:graphic>
      </p:graphicFrame>
      <p:sp>
        <p:nvSpPr>
          <p:cNvPr id="192" name="Google Shape;192;p8"/>
          <p:cNvSpPr/>
          <p:nvPr/>
        </p:nvSpPr>
        <p:spPr>
          <a:xfrm>
            <a:off x="4754880" y="3337560"/>
            <a:ext cx="3977640" cy="1234440"/>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93" name="Google Shape;193;p8"/>
          <p:cNvPicPr preferRelativeResize="0"/>
          <p:nvPr/>
        </p:nvPicPr>
        <p:blipFill rotWithShape="1">
          <a:blip r:embed="rId3">
            <a:alphaModFix/>
          </a:blip>
          <a:srcRect b="0" l="0" r="0" t="0"/>
          <a:stretch/>
        </p:blipFill>
        <p:spPr>
          <a:xfrm>
            <a:off x="4892040" y="3401568"/>
            <a:ext cx="384048" cy="384048"/>
          </a:xfrm>
          <a:prstGeom prst="rect">
            <a:avLst/>
          </a:prstGeom>
          <a:noFill/>
          <a:ln>
            <a:noFill/>
          </a:ln>
        </p:spPr>
      </p:pic>
      <p:sp>
        <p:nvSpPr>
          <p:cNvPr id="194" name="Google Shape;194;p8"/>
          <p:cNvSpPr/>
          <p:nvPr/>
        </p:nvSpPr>
        <p:spPr>
          <a:xfrm>
            <a:off x="5349240" y="3364992"/>
            <a:ext cx="32461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Rep training: Wednesday 14 October (all campuses)</a:t>
            </a:r>
            <a:endParaRPr b="0" i="0" sz="1100" u="none" cap="none" strike="noStrike">
              <a:solidFill>
                <a:schemeClr val="dk1"/>
              </a:solidFill>
              <a:latin typeface="Calibri"/>
              <a:ea typeface="Calibri"/>
              <a:cs typeface="Calibri"/>
              <a:sym typeface="Calibri"/>
            </a:endParaRPr>
          </a:p>
        </p:txBody>
      </p:sp>
      <p:sp>
        <p:nvSpPr>
          <p:cNvPr id="195" name="Google Shape;195;p8"/>
          <p:cNvSpPr/>
          <p:nvPr/>
        </p:nvSpPr>
        <p:spPr>
          <a:xfrm>
            <a:off x="5349240" y="3767328"/>
            <a:ext cx="324612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Training is expected for all newly elected reps. Flag it now if 14 October clashes with a placement day or a studio deadline.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00" name="Shape 200"/>
        <p:cNvGrpSpPr/>
        <p:nvPr/>
      </p:nvGrpSpPr>
      <p:grpSpPr>
        <a:xfrm>
          <a:off x="0" y="0"/>
          <a:ext cx="0" cy="0"/>
          <a:chOff x="0" y="0"/>
          <a:chExt cx="0" cy="0"/>
        </a:xfrm>
      </p:grpSpPr>
      <p:sp>
        <p:nvSpPr>
          <p:cNvPr id="201" name="Google Shape;201;p9"/>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The Student Governor role</a:t>
            </a:r>
            <a:endParaRPr b="0" i="0" sz="2200" u="none" cap="none" strike="noStrike">
              <a:solidFill>
                <a:schemeClr val="dk1"/>
              </a:solidFill>
              <a:latin typeface="Calibri"/>
              <a:ea typeface="Calibri"/>
              <a:cs typeface="Calibri"/>
              <a:sym typeface="Calibri"/>
            </a:endParaRPr>
          </a:p>
        </p:txBody>
      </p:sp>
      <p:sp>
        <p:nvSpPr>
          <p:cNvPr id="202" name="Google Shape;202;p9"/>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A different role — and a serious one</a:t>
            </a:r>
            <a:endParaRPr b="0" i="0" sz="1100" u="none" cap="none" strike="noStrike">
              <a:solidFill>
                <a:schemeClr val="dk1"/>
              </a:solidFill>
              <a:latin typeface="Calibri"/>
              <a:ea typeface="Calibri"/>
              <a:cs typeface="Calibri"/>
              <a:sym typeface="Calibri"/>
            </a:endParaRPr>
          </a:p>
        </p:txBody>
      </p:sp>
      <p:sp>
        <p:nvSpPr>
          <p:cNvPr id="203" name="Google Shape;203;p9"/>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4" name="Google Shape;204;p9"/>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9"/>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206" name="Google Shape;206;p9"/>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L3 &amp; T Level Digital, Media, Film and Computing</a:t>
            </a:r>
            <a:endParaRPr b="0" i="0" sz="800" u="none" cap="none" strike="noStrike">
              <a:solidFill>
                <a:schemeClr val="dk1"/>
              </a:solidFill>
              <a:latin typeface="Calibri"/>
              <a:ea typeface="Calibri"/>
              <a:cs typeface="Calibri"/>
              <a:sym typeface="Calibri"/>
            </a:endParaRPr>
          </a:p>
        </p:txBody>
      </p:sp>
      <p:sp>
        <p:nvSpPr>
          <p:cNvPr id="207" name="Google Shape;207;p9"/>
          <p:cNvSpPr/>
          <p:nvPr/>
        </p:nvSpPr>
        <p:spPr>
          <a:xfrm>
            <a:off x="411480" y="1005840"/>
            <a:ext cx="4160520" cy="3429000"/>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08" name="Google Shape;208;p9"/>
          <p:cNvPicPr preferRelativeResize="0"/>
          <p:nvPr/>
        </p:nvPicPr>
        <p:blipFill rotWithShape="1">
          <a:blip r:embed="rId3">
            <a:alphaModFix/>
          </a:blip>
          <a:srcRect b="0" l="0" r="0" t="0"/>
          <a:stretch/>
        </p:blipFill>
        <p:spPr>
          <a:xfrm>
            <a:off x="594360" y="1097280"/>
            <a:ext cx="457200" cy="457200"/>
          </a:xfrm>
          <a:prstGeom prst="rect">
            <a:avLst/>
          </a:prstGeom>
          <a:noFill/>
          <a:ln>
            <a:noFill/>
          </a:ln>
        </p:spPr>
      </p:pic>
      <p:sp>
        <p:nvSpPr>
          <p:cNvPr id="209" name="Google Shape;209;p9"/>
          <p:cNvSpPr/>
          <p:nvPr/>
        </p:nvSpPr>
        <p:spPr>
          <a:xfrm>
            <a:off x="1143000" y="1097280"/>
            <a:ext cx="32461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300"/>
              <a:buFont typeface="Arial"/>
              <a:buNone/>
            </a:pPr>
            <a:r>
              <a:rPr b="1" i="0" lang="en-US" sz="1300" u="none" cap="none" strike="noStrike">
                <a:solidFill>
                  <a:srgbClr val="FFCF01"/>
                </a:solidFill>
                <a:latin typeface="Arial"/>
                <a:ea typeface="Arial"/>
                <a:cs typeface="Arial"/>
                <a:sym typeface="Arial"/>
              </a:rPr>
              <a:t>What Student Governors do</a:t>
            </a:r>
            <a:endParaRPr b="0" i="0" sz="1300" u="none" cap="none" strike="noStrike">
              <a:solidFill>
                <a:schemeClr val="dk1"/>
              </a:solidFill>
              <a:latin typeface="Calibri"/>
              <a:ea typeface="Calibri"/>
              <a:cs typeface="Calibri"/>
              <a:sym typeface="Calibri"/>
            </a:endParaRPr>
          </a:p>
        </p:txBody>
      </p:sp>
      <p:sp>
        <p:nvSpPr>
          <p:cNvPr id="210" name="Google Shape;210;p9"/>
          <p:cNvSpPr/>
          <p:nvPr/>
        </p:nvSpPr>
        <p:spPr>
          <a:xfrm>
            <a:off x="594360" y="1664208"/>
            <a:ext cx="3749040" cy="214884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3 places on the Main Governing Board — strategic decisions about the whole college</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Represent authentic student experience — what an industry placement or an employer-set brief is actually like</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Contribute to decisions on curriculum and budget — software licences, studio kit, where investment goes</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Exceptional leadership experience — genuinely CV-worthy at this level</a:t>
            </a:r>
            <a:endParaRPr b="0" i="0" sz="1050" u="none" cap="none" strike="noStrike">
              <a:solidFill>
                <a:schemeClr val="dk1"/>
              </a:solidFill>
              <a:latin typeface="Calibri"/>
              <a:ea typeface="Calibri"/>
              <a:cs typeface="Calibri"/>
              <a:sym typeface="Calibri"/>
            </a:endParaRPr>
          </a:p>
        </p:txBody>
      </p:sp>
      <p:sp>
        <p:nvSpPr>
          <p:cNvPr id="211" name="Google Shape;211;p9"/>
          <p:cNvSpPr/>
          <p:nvPr/>
        </p:nvSpPr>
        <p:spPr>
          <a:xfrm>
            <a:off x="411480" y="3749040"/>
            <a:ext cx="4160520" cy="68580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9"/>
          <p:cNvSpPr/>
          <p:nvPr/>
        </p:nvSpPr>
        <p:spPr>
          <a:xfrm>
            <a:off x="594360" y="3749040"/>
            <a:ext cx="38404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1" lang="en-US" sz="1000" u="none" cap="none" strike="noStrike">
                <a:solidFill>
                  <a:srgbClr val="FFFFFF"/>
                </a:solidFill>
                <a:latin typeface="Arial"/>
                <a:ea typeface="Arial"/>
                <a:cs typeface="Arial"/>
                <a:sym typeface="Arial"/>
              </a:rPr>
              <a:t>Different from Student Rep — strategic scope, institutional weight</a:t>
            </a:r>
            <a:endParaRPr b="0" i="0" sz="1000" u="none" cap="none" strike="noStrike">
              <a:solidFill>
                <a:schemeClr val="dk1"/>
              </a:solidFill>
              <a:latin typeface="Calibri"/>
              <a:ea typeface="Calibri"/>
              <a:cs typeface="Calibri"/>
              <a:sym typeface="Calibri"/>
            </a:endParaRPr>
          </a:p>
        </p:txBody>
      </p:sp>
      <p:sp>
        <p:nvSpPr>
          <p:cNvPr id="213" name="Google Shape;213;p9"/>
          <p:cNvSpPr/>
          <p:nvPr/>
        </p:nvSpPr>
        <p:spPr>
          <a:xfrm>
            <a:off x="4754880" y="1005840"/>
            <a:ext cx="39776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Who can apply</a:t>
            </a:r>
            <a:endParaRPr b="0" i="0" sz="1300" u="none" cap="none" strike="noStrike">
              <a:solidFill>
                <a:schemeClr val="dk1"/>
              </a:solidFill>
              <a:latin typeface="Calibri"/>
              <a:ea typeface="Calibri"/>
              <a:cs typeface="Calibri"/>
              <a:sym typeface="Calibri"/>
            </a:endParaRPr>
          </a:p>
        </p:txBody>
      </p:sp>
      <p:sp>
        <p:nvSpPr>
          <p:cNvPr id="214" name="Google Shape;214;p9"/>
          <p:cNvSpPr/>
          <p:nvPr/>
        </p:nvSpPr>
        <p:spPr>
          <a:xfrm>
            <a:off x="4754880" y="1417320"/>
            <a:ext cx="3977640" cy="15544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Full-time students and apprentices (part-time considered)</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Planning to study at ESCG for at least one more year — Year 2 of this course counts</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Enthusiastic about sharing opinions on how the college is run</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Willing to act as a link between the Board and the student body</a:t>
            </a:r>
            <a:endParaRPr b="0" i="0" sz="1050" u="none" cap="none" strike="noStrike">
              <a:solidFill>
                <a:schemeClr val="dk1"/>
              </a:solidFill>
              <a:latin typeface="Calibri"/>
              <a:ea typeface="Calibri"/>
              <a:cs typeface="Calibri"/>
              <a:sym typeface="Calibri"/>
            </a:endParaRPr>
          </a:p>
        </p:txBody>
      </p:sp>
      <p:sp>
        <p:nvSpPr>
          <p:cNvPr id="215" name="Google Shape;215;p9"/>
          <p:cNvSpPr/>
          <p:nvPr/>
        </p:nvSpPr>
        <p:spPr>
          <a:xfrm>
            <a:off x="4754880" y="3063240"/>
            <a:ext cx="3977640" cy="841248"/>
          </a:xfrm>
          <a:prstGeom prst="rect">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6" name="Google Shape;216;p9"/>
          <p:cNvSpPr/>
          <p:nvPr/>
        </p:nvSpPr>
        <p:spPr>
          <a:xfrm>
            <a:off x="4892040" y="3081528"/>
            <a:ext cx="3703320" cy="8046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23A2E"/>
              </a:buClr>
              <a:buSzPts val="900"/>
              <a:buFont typeface="Arial"/>
              <a:buNone/>
            </a:pPr>
            <a:r>
              <a:rPr b="0" i="0" lang="en-US" sz="900" u="none" cap="none" strike="noStrike">
                <a:solidFill>
                  <a:srgbClr val="B23A2E"/>
                </a:solidFill>
                <a:latin typeface="Arial"/>
                <a:ea typeface="Arial"/>
                <a:cs typeface="Arial"/>
                <a:sym typeface="Arial"/>
              </a:rPr>
              <a:t>You must be planning to study at ESCG for at least one more year. If this is your final year, speak to your Student Enrichment Co-ordinator before applying.</a:t>
            </a:r>
            <a:endParaRPr b="0" i="0" sz="900" u="none" cap="none" strike="noStrike">
              <a:solidFill>
                <a:schemeClr val="dk1"/>
              </a:solidFill>
              <a:latin typeface="Calibri"/>
              <a:ea typeface="Calibri"/>
              <a:cs typeface="Calibri"/>
              <a:sym typeface="Calibri"/>
            </a:endParaRPr>
          </a:p>
        </p:txBody>
      </p:sp>
      <p:sp>
        <p:nvSpPr>
          <p:cNvPr id="217" name="Google Shape;217;p9"/>
          <p:cNvSpPr/>
          <p:nvPr/>
        </p:nvSpPr>
        <p:spPr>
          <a:xfrm>
            <a:off x="4754880" y="3995928"/>
            <a:ext cx="3977640" cy="594360"/>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18" name="Google Shape;218;p9"/>
          <p:cNvPicPr preferRelativeResize="0"/>
          <p:nvPr/>
        </p:nvPicPr>
        <p:blipFill rotWithShape="1">
          <a:blip r:embed="rId4">
            <a:alphaModFix/>
          </a:blip>
          <a:srcRect b="0" l="0" r="0" t="0"/>
          <a:stretch/>
        </p:blipFill>
        <p:spPr>
          <a:xfrm>
            <a:off x="4892040" y="4069080"/>
            <a:ext cx="347472" cy="347472"/>
          </a:xfrm>
          <a:prstGeom prst="rect">
            <a:avLst/>
          </a:prstGeom>
          <a:noFill/>
          <a:ln>
            <a:noFill/>
          </a:ln>
        </p:spPr>
      </p:pic>
      <p:sp>
        <p:nvSpPr>
          <p:cNvPr id="219" name="Google Shape;219;p9"/>
          <p:cNvSpPr/>
          <p:nvPr/>
        </p:nvSpPr>
        <p:spPr>
          <a:xfrm>
            <a:off x="5321808" y="4041648"/>
            <a:ext cx="32461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000"/>
              <a:buFont typeface="Arial"/>
              <a:buNone/>
            </a:pPr>
            <a:r>
              <a:rPr b="0" i="0" lang="en-US" sz="1000" u="none" cap="none" strike="noStrike">
                <a:solidFill>
                  <a:srgbClr val="0D2434"/>
                </a:solidFill>
                <a:latin typeface="Arial"/>
                <a:ea typeface="Arial"/>
                <a:cs typeface="Arial"/>
                <a:sym typeface="Arial"/>
              </a:rPr>
              <a:t>Applications close at midday on Friday 16 October — the next three slides show the process.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23" name="Shape 223"/>
        <p:cNvGrpSpPr/>
        <p:nvPr/>
      </p:nvGrpSpPr>
      <p:grpSpPr>
        <a:xfrm>
          <a:off x="0" y="0"/>
          <a:ext cx="0" cy="0"/>
          <a:chOff x="0" y="0"/>
          <a:chExt cx="0" cy="0"/>
        </a:xfrm>
      </p:grpSpPr>
      <p:sp>
        <p:nvSpPr>
          <p:cNvPr id="224" name="Google Shape;224;p10"/>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What the Board does — and where a Governor sits</a:t>
            </a:r>
            <a:endParaRPr b="0" i="0" sz="2200" u="none" cap="none" strike="noStrike">
              <a:solidFill>
                <a:schemeClr val="dk1"/>
              </a:solidFill>
              <a:latin typeface="Calibri"/>
              <a:ea typeface="Calibri"/>
              <a:cs typeface="Calibri"/>
              <a:sym typeface="Calibri"/>
            </a:endParaRPr>
          </a:p>
        </p:txBody>
      </p:sp>
      <p:sp>
        <p:nvSpPr>
          <p:cNvPr id="225" name="Google Shape;225;p10"/>
          <p:cNvSpPr/>
          <p:nvPr/>
        </p:nvSpPr>
        <p:spPr>
          <a:xfrm>
            <a:off x="411480" y="621792"/>
            <a:ext cx="83210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Strategic governance, not day-to-day management</a:t>
            </a:r>
            <a:endParaRPr b="0" i="0" sz="1100" u="none" cap="none" strike="noStrike">
              <a:solidFill>
                <a:schemeClr val="dk1"/>
              </a:solidFill>
              <a:latin typeface="Calibri"/>
              <a:ea typeface="Calibri"/>
              <a:cs typeface="Calibri"/>
              <a:sym typeface="Calibri"/>
            </a:endParaRPr>
          </a:p>
        </p:txBody>
      </p:sp>
      <p:sp>
        <p:nvSpPr>
          <p:cNvPr id="226" name="Google Shape;226;p10"/>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10"/>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8" name="Google Shape;228;p10"/>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229" name="Google Shape;229;p10"/>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L3 &amp; T Level Digital, Media, Film and Computing</a:t>
            </a:r>
            <a:endParaRPr b="0" i="0" sz="800" u="none" cap="none" strike="noStrike">
              <a:solidFill>
                <a:schemeClr val="dk1"/>
              </a:solidFill>
              <a:latin typeface="Calibri"/>
              <a:ea typeface="Calibri"/>
              <a:cs typeface="Calibri"/>
              <a:sym typeface="Calibri"/>
            </a:endParaRPr>
          </a:p>
        </p:txBody>
      </p:sp>
      <p:sp>
        <p:nvSpPr>
          <p:cNvPr id="230" name="Google Shape;230;p10"/>
          <p:cNvSpPr/>
          <p:nvPr/>
        </p:nvSpPr>
        <p:spPr>
          <a:xfrm>
            <a:off x="411480" y="1005840"/>
            <a:ext cx="4160520" cy="3429000"/>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31" name="Google Shape;231;p10"/>
          <p:cNvPicPr preferRelativeResize="0"/>
          <p:nvPr/>
        </p:nvPicPr>
        <p:blipFill rotWithShape="1">
          <a:blip r:embed="rId3">
            <a:alphaModFix/>
          </a:blip>
          <a:srcRect b="0" l="0" r="0" t="0"/>
          <a:stretch/>
        </p:blipFill>
        <p:spPr>
          <a:xfrm>
            <a:off x="594360" y="1097280"/>
            <a:ext cx="457200" cy="457200"/>
          </a:xfrm>
          <a:prstGeom prst="rect">
            <a:avLst/>
          </a:prstGeom>
          <a:noFill/>
          <a:ln>
            <a:noFill/>
          </a:ln>
        </p:spPr>
      </p:pic>
      <p:sp>
        <p:nvSpPr>
          <p:cNvPr id="232" name="Google Shape;232;p10"/>
          <p:cNvSpPr/>
          <p:nvPr/>
        </p:nvSpPr>
        <p:spPr>
          <a:xfrm>
            <a:off x="1143000" y="1097280"/>
            <a:ext cx="32461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300"/>
              <a:buFont typeface="Arial"/>
              <a:buNone/>
            </a:pPr>
            <a:r>
              <a:rPr b="1" i="0" lang="en-US" sz="1300" u="none" cap="none" strike="noStrike">
                <a:solidFill>
                  <a:srgbClr val="FFCF01"/>
                </a:solidFill>
                <a:latin typeface="Arial"/>
                <a:ea typeface="Arial"/>
                <a:cs typeface="Arial"/>
                <a:sym typeface="Arial"/>
              </a:rPr>
              <a:t>What the Board is responsible for</a:t>
            </a:r>
            <a:endParaRPr b="0" i="0" sz="1300" u="none" cap="none" strike="noStrike">
              <a:solidFill>
                <a:schemeClr val="dk1"/>
              </a:solidFill>
              <a:latin typeface="Calibri"/>
              <a:ea typeface="Calibri"/>
              <a:cs typeface="Calibri"/>
              <a:sym typeface="Calibri"/>
            </a:endParaRPr>
          </a:p>
        </p:txBody>
      </p:sp>
      <p:sp>
        <p:nvSpPr>
          <p:cNvPr id="233" name="Google Shape;233;p10"/>
          <p:cNvSpPr/>
          <p:nvPr/>
        </p:nvSpPr>
        <p:spPr>
          <a:xfrm>
            <a:off x="594360" y="1664208"/>
            <a:ext cx="3749040" cy="214884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Setting the strategic direction of the College</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Monitoring performance and quality</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Overseeing finances, estates and resources — studios, edit suites, cameras and software licences</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Ensuring students receive an excellent experience</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Holding senior leaders to account</a:t>
            </a:r>
            <a:endParaRPr b="0" i="0" sz="1050" u="none" cap="none" strike="noStrike">
              <a:solidFill>
                <a:schemeClr val="dk1"/>
              </a:solidFill>
              <a:latin typeface="Calibri"/>
              <a:ea typeface="Calibri"/>
              <a:cs typeface="Calibri"/>
              <a:sym typeface="Calibri"/>
            </a:endParaRPr>
          </a:p>
        </p:txBody>
      </p:sp>
      <p:sp>
        <p:nvSpPr>
          <p:cNvPr id="234" name="Google Shape;234;p10"/>
          <p:cNvSpPr/>
          <p:nvPr/>
        </p:nvSpPr>
        <p:spPr>
          <a:xfrm>
            <a:off x="411480" y="3749040"/>
            <a:ext cx="4160520" cy="68580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10"/>
          <p:cNvSpPr/>
          <p:nvPr/>
        </p:nvSpPr>
        <p:spPr>
          <a:xfrm>
            <a:off x="594360" y="3749040"/>
            <a:ext cx="38404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1" lang="en-US" sz="1000" u="none" cap="none" strike="noStrike">
                <a:solidFill>
                  <a:srgbClr val="FFFFFF"/>
                </a:solidFill>
                <a:latin typeface="Arial"/>
                <a:ea typeface="Arial"/>
                <a:cs typeface="Arial"/>
                <a:sym typeface="Arial"/>
              </a:rPr>
              <a:t>Governors do not manage the day-to-day running of the College.</a:t>
            </a:r>
            <a:endParaRPr b="0" i="0" sz="1000" u="none" cap="none" strike="noStrike">
              <a:solidFill>
                <a:schemeClr val="dk1"/>
              </a:solidFill>
              <a:latin typeface="Calibri"/>
              <a:ea typeface="Calibri"/>
              <a:cs typeface="Calibri"/>
              <a:sym typeface="Calibri"/>
            </a:endParaRPr>
          </a:p>
        </p:txBody>
      </p:sp>
      <p:sp>
        <p:nvSpPr>
          <p:cNvPr id="236" name="Google Shape;236;p10"/>
          <p:cNvSpPr/>
          <p:nvPr/>
        </p:nvSpPr>
        <p:spPr>
          <a:xfrm>
            <a:off x="4754880" y="1005840"/>
            <a:ext cx="39776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Where a Student Governor sits</a:t>
            </a:r>
            <a:endParaRPr b="0" i="0" sz="1300" u="none" cap="none" strike="noStrike">
              <a:solidFill>
                <a:schemeClr val="dk1"/>
              </a:solidFill>
              <a:latin typeface="Calibri"/>
              <a:ea typeface="Calibri"/>
              <a:cs typeface="Calibri"/>
              <a:sym typeface="Calibri"/>
            </a:endParaRPr>
          </a:p>
        </p:txBody>
      </p:sp>
      <p:sp>
        <p:nvSpPr>
          <p:cNvPr id="237" name="Google Shape;237;p10"/>
          <p:cNvSpPr/>
          <p:nvPr/>
        </p:nvSpPr>
        <p:spPr>
          <a:xfrm>
            <a:off x="4754880" y="1417320"/>
            <a:ext cx="3977640" cy="15544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Brings the student perspective into Board discussion — such as whether the kit here matches what employers actually use</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Helps Governors understand lived student experience</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Asks questions and offers constructive challenge</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Acts in the interests of the whole College community</a:t>
            </a:r>
            <a:endParaRPr b="0" i="0" sz="1050" u="none" cap="none" strike="noStrike">
              <a:solidFill>
                <a:schemeClr val="dk1"/>
              </a:solidFill>
              <a:latin typeface="Calibri"/>
              <a:ea typeface="Calibri"/>
              <a:cs typeface="Calibri"/>
              <a:sym typeface="Calibri"/>
            </a:endParaRPr>
          </a:p>
        </p:txBody>
      </p:sp>
      <p:sp>
        <p:nvSpPr>
          <p:cNvPr id="238" name="Google Shape;238;p10"/>
          <p:cNvSpPr/>
          <p:nvPr/>
        </p:nvSpPr>
        <p:spPr>
          <a:xfrm>
            <a:off x="4754880" y="3063240"/>
            <a:ext cx="3977640" cy="841248"/>
          </a:xfrm>
          <a:prstGeom prst="rect">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9" name="Google Shape;239;p10"/>
          <p:cNvSpPr/>
          <p:nvPr/>
        </p:nvSpPr>
        <p:spPr>
          <a:xfrm>
            <a:off x="4892040" y="3081528"/>
            <a:ext cx="3703320" cy="8046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23A2E"/>
              </a:buClr>
              <a:buSzPts val="900"/>
              <a:buFont typeface="Arial"/>
              <a:buNone/>
            </a:pPr>
            <a:r>
              <a:rPr b="0" i="0" lang="en-US" sz="900" u="none" cap="none" strike="noStrike">
                <a:solidFill>
                  <a:srgbClr val="B23A2E"/>
                </a:solidFill>
                <a:latin typeface="Arial"/>
                <a:ea typeface="Arial"/>
                <a:cs typeface="Arial"/>
                <a:sym typeface="Arial"/>
              </a:rPr>
              <a:t>Student Governors provide a student perspective — they are not elected to represent a course, campus or student group. That is the Student Rep's role.</a:t>
            </a:r>
            <a:endParaRPr b="0" i="0" sz="900" u="none" cap="none" strike="noStrike">
              <a:solidFill>
                <a:schemeClr val="dk1"/>
              </a:solidFill>
              <a:latin typeface="Calibri"/>
              <a:ea typeface="Calibri"/>
              <a:cs typeface="Calibri"/>
              <a:sym typeface="Calibri"/>
            </a:endParaRPr>
          </a:p>
        </p:txBody>
      </p:sp>
      <p:sp>
        <p:nvSpPr>
          <p:cNvPr id="240" name="Google Shape;240;p10"/>
          <p:cNvSpPr/>
          <p:nvPr/>
        </p:nvSpPr>
        <p:spPr>
          <a:xfrm>
            <a:off x="4754880" y="3995928"/>
            <a:ext cx="3977640" cy="822960"/>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41" name="Google Shape;241;p10"/>
          <p:cNvPicPr preferRelativeResize="0"/>
          <p:nvPr/>
        </p:nvPicPr>
        <p:blipFill rotWithShape="1">
          <a:blip r:embed="rId4">
            <a:alphaModFix/>
          </a:blip>
          <a:srcRect b="0" l="0" r="0" t="0"/>
          <a:stretch/>
        </p:blipFill>
        <p:spPr>
          <a:xfrm>
            <a:off x="4892040" y="4069080"/>
            <a:ext cx="347472" cy="347472"/>
          </a:xfrm>
          <a:prstGeom prst="rect">
            <a:avLst/>
          </a:prstGeom>
          <a:noFill/>
          <a:ln>
            <a:noFill/>
          </a:ln>
        </p:spPr>
      </p:pic>
      <p:sp>
        <p:nvSpPr>
          <p:cNvPr id="242" name="Google Shape;242;p10"/>
          <p:cNvSpPr/>
          <p:nvPr/>
        </p:nvSpPr>
        <p:spPr>
          <a:xfrm>
            <a:off x="5321808" y="4041648"/>
            <a:ext cx="324612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000"/>
              <a:buFont typeface="Arial"/>
              <a:buNone/>
            </a:pPr>
            <a:r>
              <a:rPr b="0" i="0" lang="en-US" sz="1000" u="none" cap="none" strike="noStrike">
                <a:solidFill>
                  <a:srgbClr val="0D2434"/>
                </a:solidFill>
                <a:latin typeface="Arial"/>
                <a:ea typeface="Arial"/>
                <a:cs typeface="Arial"/>
                <a:sym typeface="Arial"/>
              </a:rPr>
              <a:t>Three places: Eastbourne, Hastings &amp; Ore Valley, Lewes &amp; Newhaven. Open to FE, HE and Adult Learning students.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46" name="Shape 246"/>
        <p:cNvGrpSpPr/>
        <p:nvPr/>
      </p:nvGrpSpPr>
      <p:grpSpPr>
        <a:xfrm>
          <a:off x="0" y="0"/>
          <a:ext cx="0" cy="0"/>
          <a:chOff x="0" y="0"/>
          <a:chExt cx="0" cy="0"/>
        </a:xfrm>
      </p:grpSpPr>
      <p:sp>
        <p:nvSpPr>
          <p:cNvPr id="247" name="Google Shape;247;p11"/>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What it takes — and what you get</a:t>
            </a:r>
            <a:endParaRPr b="0" i="0" sz="2200" u="none" cap="none" strike="noStrike">
              <a:solidFill>
                <a:schemeClr val="dk1"/>
              </a:solidFill>
              <a:latin typeface="Calibri"/>
              <a:ea typeface="Calibri"/>
              <a:cs typeface="Calibri"/>
              <a:sym typeface="Calibri"/>
            </a:endParaRPr>
          </a:p>
        </p:txBody>
      </p:sp>
      <p:sp>
        <p:nvSpPr>
          <p:cNvPr id="248" name="Google Shape;248;p11"/>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Roughly 3–5 hours a month, across the academic year</a:t>
            </a:r>
            <a:endParaRPr b="0" i="0" sz="1100" u="none" cap="none" strike="noStrike">
              <a:solidFill>
                <a:schemeClr val="dk1"/>
              </a:solidFill>
              <a:latin typeface="Calibri"/>
              <a:ea typeface="Calibri"/>
              <a:cs typeface="Calibri"/>
              <a:sym typeface="Calibri"/>
            </a:endParaRPr>
          </a:p>
        </p:txBody>
      </p:sp>
      <p:sp>
        <p:nvSpPr>
          <p:cNvPr id="249" name="Google Shape;249;p11"/>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0" name="Google Shape;250;p11"/>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1" name="Google Shape;251;p11"/>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252" name="Google Shape;252;p11"/>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L3 &amp; T Level Digital, Media, Film and Computing</a:t>
            </a:r>
            <a:endParaRPr b="0" i="0" sz="800" u="none" cap="none" strike="noStrike">
              <a:solidFill>
                <a:schemeClr val="dk1"/>
              </a:solidFill>
              <a:latin typeface="Calibri"/>
              <a:ea typeface="Calibri"/>
              <a:cs typeface="Calibri"/>
              <a:sym typeface="Calibri"/>
            </a:endParaRPr>
          </a:p>
        </p:txBody>
      </p:sp>
      <p:sp>
        <p:nvSpPr>
          <p:cNvPr id="253" name="Google Shape;253;p11"/>
          <p:cNvSpPr/>
          <p:nvPr/>
        </p:nvSpPr>
        <p:spPr>
          <a:xfrm>
            <a:off x="411480" y="1005840"/>
            <a:ext cx="4069080" cy="180136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54" name="Google Shape;254;p11"/>
          <p:cNvCxnSpPr/>
          <p:nvPr/>
        </p:nvCxnSpPr>
        <p:spPr>
          <a:xfrm>
            <a:off x="548640" y="1170432"/>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pic>
        <p:nvPicPr>
          <p:cNvPr descr="preencoded.png" id="255" name="Google Shape;255;p11"/>
          <p:cNvPicPr preferRelativeResize="0"/>
          <p:nvPr/>
        </p:nvPicPr>
        <p:blipFill rotWithShape="1">
          <a:blip r:embed="rId3">
            <a:alphaModFix/>
          </a:blip>
          <a:srcRect b="0" l="0" r="0" t="0"/>
          <a:stretch/>
        </p:blipFill>
        <p:spPr>
          <a:xfrm>
            <a:off x="566928" y="1188720"/>
            <a:ext cx="438912" cy="438912"/>
          </a:xfrm>
          <a:prstGeom prst="rect">
            <a:avLst/>
          </a:prstGeom>
          <a:noFill/>
          <a:ln>
            <a:noFill/>
          </a:ln>
        </p:spPr>
      </p:pic>
      <p:sp>
        <p:nvSpPr>
          <p:cNvPr id="256" name="Google Shape;256;p11"/>
          <p:cNvSpPr/>
          <p:nvPr/>
        </p:nvSpPr>
        <p:spPr>
          <a:xfrm>
            <a:off x="3154680" y="1170432"/>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p11"/>
          <p:cNvSpPr/>
          <p:nvPr/>
        </p:nvSpPr>
        <p:spPr>
          <a:xfrm>
            <a:off x="3154680" y="1170432"/>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3–5 hrs/month</a:t>
            </a:r>
            <a:endParaRPr b="0" i="0" sz="800" u="none" cap="none" strike="noStrike">
              <a:solidFill>
                <a:schemeClr val="dk1"/>
              </a:solidFill>
              <a:latin typeface="Calibri"/>
              <a:ea typeface="Calibri"/>
              <a:cs typeface="Calibri"/>
              <a:sym typeface="Calibri"/>
            </a:endParaRPr>
          </a:p>
        </p:txBody>
      </p:sp>
      <p:sp>
        <p:nvSpPr>
          <p:cNvPr id="258" name="Google Shape;258;p11"/>
          <p:cNvSpPr/>
          <p:nvPr/>
        </p:nvSpPr>
        <p:spPr>
          <a:xfrm>
            <a:off x="1161288" y="1170432"/>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The commitment</a:t>
            </a:r>
            <a:endParaRPr b="0" i="0" sz="1200" u="none" cap="none" strike="noStrike">
              <a:solidFill>
                <a:schemeClr val="dk1"/>
              </a:solidFill>
              <a:latin typeface="Calibri"/>
              <a:ea typeface="Calibri"/>
              <a:cs typeface="Calibri"/>
              <a:sym typeface="Calibri"/>
            </a:endParaRPr>
          </a:p>
        </p:txBody>
      </p:sp>
      <p:sp>
        <p:nvSpPr>
          <p:cNvPr id="259" name="Google Shape;259;p11"/>
          <p:cNvSpPr/>
          <p:nvPr/>
        </p:nvSpPr>
        <p:spPr>
          <a:xfrm>
            <a:off x="548640" y="1719072"/>
            <a:ext cx="379476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4 Board meetings a year (2–3 hours each), around 3 committee meetings, 2 strategy days, plus reading papers in advance. It has to fit around placement blocks, assignment windows and employer project deadlines.</a:t>
            </a:r>
            <a:endParaRPr b="0" i="0" sz="1050" u="none" cap="none" strike="noStrike">
              <a:solidFill>
                <a:schemeClr val="dk1"/>
              </a:solidFill>
              <a:latin typeface="Calibri"/>
              <a:ea typeface="Calibri"/>
              <a:cs typeface="Calibri"/>
              <a:sym typeface="Calibri"/>
            </a:endParaRPr>
          </a:p>
        </p:txBody>
      </p:sp>
      <p:sp>
        <p:nvSpPr>
          <p:cNvPr id="260" name="Google Shape;260;p11"/>
          <p:cNvSpPr/>
          <p:nvPr/>
        </p:nvSpPr>
        <p:spPr>
          <a:xfrm>
            <a:off x="4709160" y="1005840"/>
            <a:ext cx="4069080" cy="180136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61" name="Google Shape;261;p11"/>
          <p:cNvCxnSpPr/>
          <p:nvPr/>
        </p:nvCxnSpPr>
        <p:spPr>
          <a:xfrm>
            <a:off x="4846320" y="1170432"/>
            <a:ext cx="475488" cy="475488"/>
          </a:xfrm>
          <a:prstGeom prst="straightConnector1">
            <a:avLst/>
          </a:prstGeom>
          <a:solidFill>
            <a:srgbClr val="0D2434"/>
          </a:solidFill>
          <a:ln cap="flat" cmpd="sng" w="12700">
            <a:solidFill>
              <a:srgbClr val="0D2434"/>
            </a:solidFill>
            <a:prstDash val="solid"/>
            <a:round/>
            <a:headEnd len="sm" w="sm" type="none"/>
            <a:tailEnd len="sm" w="sm" type="none"/>
          </a:ln>
        </p:spPr>
      </p:cxnSp>
      <p:pic>
        <p:nvPicPr>
          <p:cNvPr descr="preencoded.png" id="262" name="Google Shape;262;p11"/>
          <p:cNvPicPr preferRelativeResize="0"/>
          <p:nvPr/>
        </p:nvPicPr>
        <p:blipFill rotWithShape="1">
          <a:blip r:embed="rId4">
            <a:alphaModFix/>
          </a:blip>
          <a:srcRect b="0" l="0" r="0" t="0"/>
          <a:stretch/>
        </p:blipFill>
        <p:spPr>
          <a:xfrm>
            <a:off x="4864608" y="1188720"/>
            <a:ext cx="438912" cy="438912"/>
          </a:xfrm>
          <a:prstGeom prst="rect">
            <a:avLst/>
          </a:prstGeom>
          <a:noFill/>
          <a:ln>
            <a:noFill/>
          </a:ln>
        </p:spPr>
      </p:pic>
      <p:sp>
        <p:nvSpPr>
          <p:cNvPr id="263" name="Google Shape;263;p11"/>
          <p:cNvSpPr/>
          <p:nvPr/>
        </p:nvSpPr>
        <p:spPr>
          <a:xfrm>
            <a:off x="7452360" y="1170432"/>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p11"/>
          <p:cNvSpPr/>
          <p:nvPr/>
        </p:nvSpPr>
        <p:spPr>
          <a:xfrm>
            <a:off x="7452360" y="1170432"/>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Real influence</a:t>
            </a:r>
            <a:endParaRPr b="0" i="0" sz="800" u="none" cap="none" strike="noStrike">
              <a:solidFill>
                <a:schemeClr val="dk1"/>
              </a:solidFill>
              <a:latin typeface="Calibri"/>
              <a:ea typeface="Calibri"/>
              <a:cs typeface="Calibri"/>
              <a:sym typeface="Calibri"/>
            </a:endParaRPr>
          </a:p>
        </p:txBody>
      </p:sp>
      <p:sp>
        <p:nvSpPr>
          <p:cNvPr id="265" name="Google Shape;265;p11"/>
          <p:cNvSpPr/>
          <p:nvPr/>
        </p:nvSpPr>
        <p:spPr>
          <a:xfrm>
            <a:off x="5458968" y="1170432"/>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The work itself</a:t>
            </a:r>
            <a:endParaRPr b="0" i="0" sz="1200" u="none" cap="none" strike="noStrike">
              <a:solidFill>
                <a:schemeClr val="dk1"/>
              </a:solidFill>
              <a:latin typeface="Calibri"/>
              <a:ea typeface="Calibri"/>
              <a:cs typeface="Calibri"/>
              <a:sym typeface="Calibri"/>
            </a:endParaRPr>
          </a:p>
        </p:txBody>
      </p:sp>
      <p:sp>
        <p:nvSpPr>
          <p:cNvPr id="266" name="Google Shape;266;p11"/>
          <p:cNvSpPr/>
          <p:nvPr/>
        </p:nvSpPr>
        <p:spPr>
          <a:xfrm>
            <a:off x="4846320" y="1719072"/>
            <a:ext cx="379476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Termly Student Governor reports to the Board and presentations to committee — on topics such as sustainability and green skills, AI, careers advice and College values. Whether kit and software keep pace with industry belongs on that list too.</a:t>
            </a:r>
            <a:endParaRPr b="0" i="0" sz="1050" u="none" cap="none" strike="noStrike">
              <a:solidFill>
                <a:schemeClr val="dk1"/>
              </a:solidFill>
              <a:latin typeface="Calibri"/>
              <a:ea typeface="Calibri"/>
              <a:cs typeface="Calibri"/>
              <a:sym typeface="Calibri"/>
            </a:endParaRPr>
          </a:p>
        </p:txBody>
      </p:sp>
      <p:sp>
        <p:nvSpPr>
          <p:cNvPr id="267" name="Google Shape;267;p11"/>
          <p:cNvSpPr/>
          <p:nvPr/>
        </p:nvSpPr>
        <p:spPr>
          <a:xfrm>
            <a:off x="411480" y="2953512"/>
            <a:ext cx="4069080" cy="180136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68" name="Google Shape;268;p11"/>
          <p:cNvCxnSpPr/>
          <p:nvPr/>
        </p:nvCxnSpPr>
        <p:spPr>
          <a:xfrm>
            <a:off x="548640" y="3118104"/>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pic>
        <p:nvPicPr>
          <p:cNvPr descr="preencoded.png" id="269" name="Google Shape;269;p11"/>
          <p:cNvPicPr preferRelativeResize="0"/>
          <p:nvPr/>
        </p:nvPicPr>
        <p:blipFill rotWithShape="1">
          <a:blip r:embed="rId5">
            <a:alphaModFix/>
          </a:blip>
          <a:srcRect b="0" l="0" r="0" t="0"/>
          <a:stretch/>
        </p:blipFill>
        <p:spPr>
          <a:xfrm>
            <a:off x="566928" y="3136392"/>
            <a:ext cx="438912" cy="438912"/>
          </a:xfrm>
          <a:prstGeom prst="rect">
            <a:avLst/>
          </a:prstGeom>
          <a:noFill/>
          <a:ln>
            <a:noFill/>
          </a:ln>
        </p:spPr>
      </p:pic>
      <p:sp>
        <p:nvSpPr>
          <p:cNvPr id="270" name="Google Shape;270;p11"/>
          <p:cNvSpPr/>
          <p:nvPr/>
        </p:nvSpPr>
        <p:spPr>
          <a:xfrm>
            <a:off x="3154680" y="3118104"/>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1" name="Google Shape;271;p11"/>
          <p:cNvSpPr/>
          <p:nvPr/>
        </p:nvSpPr>
        <p:spPr>
          <a:xfrm>
            <a:off x="3154680" y="3118104"/>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Induction + training</a:t>
            </a:r>
            <a:endParaRPr b="0" i="0" sz="800" u="none" cap="none" strike="noStrike">
              <a:solidFill>
                <a:schemeClr val="dk1"/>
              </a:solidFill>
              <a:latin typeface="Calibri"/>
              <a:ea typeface="Calibri"/>
              <a:cs typeface="Calibri"/>
              <a:sym typeface="Calibri"/>
            </a:endParaRPr>
          </a:p>
        </p:txBody>
      </p:sp>
      <p:sp>
        <p:nvSpPr>
          <p:cNvPr id="272" name="Google Shape;272;p11"/>
          <p:cNvSpPr/>
          <p:nvPr/>
        </p:nvSpPr>
        <p:spPr>
          <a:xfrm>
            <a:off x="1161288" y="3118104"/>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Support provided</a:t>
            </a:r>
            <a:endParaRPr b="0" i="0" sz="1200" u="none" cap="none" strike="noStrike">
              <a:solidFill>
                <a:schemeClr val="dk1"/>
              </a:solidFill>
              <a:latin typeface="Calibri"/>
              <a:ea typeface="Calibri"/>
              <a:cs typeface="Calibri"/>
              <a:sym typeface="Calibri"/>
            </a:endParaRPr>
          </a:p>
        </p:txBody>
      </p:sp>
      <p:sp>
        <p:nvSpPr>
          <p:cNvPr id="273" name="Google Shape;273;p11"/>
          <p:cNvSpPr/>
          <p:nvPr/>
        </p:nvSpPr>
        <p:spPr>
          <a:xfrm>
            <a:off x="548640" y="3666744"/>
            <a:ext cx="379476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Induction with the Director of Governance, ongoing training, Governor portal and iPad, expenses reimbursed, an annual 1:1 with the Chair.</a:t>
            </a:r>
            <a:endParaRPr b="0" i="0" sz="1050" u="none" cap="none" strike="noStrike">
              <a:solidFill>
                <a:schemeClr val="dk1"/>
              </a:solidFill>
              <a:latin typeface="Calibri"/>
              <a:ea typeface="Calibri"/>
              <a:cs typeface="Calibri"/>
              <a:sym typeface="Calibri"/>
            </a:endParaRPr>
          </a:p>
        </p:txBody>
      </p:sp>
      <p:sp>
        <p:nvSpPr>
          <p:cNvPr id="274" name="Google Shape;274;p11"/>
          <p:cNvSpPr/>
          <p:nvPr/>
        </p:nvSpPr>
        <p:spPr>
          <a:xfrm>
            <a:off x="4709160" y="2953512"/>
            <a:ext cx="4069080" cy="180136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75" name="Google Shape;275;p11"/>
          <p:cNvCxnSpPr/>
          <p:nvPr/>
        </p:nvCxnSpPr>
        <p:spPr>
          <a:xfrm>
            <a:off x="4846320" y="3118104"/>
            <a:ext cx="475488" cy="475488"/>
          </a:xfrm>
          <a:prstGeom prst="straightConnector1">
            <a:avLst/>
          </a:prstGeom>
          <a:solidFill>
            <a:srgbClr val="0D2434"/>
          </a:solidFill>
          <a:ln cap="flat" cmpd="sng" w="12700">
            <a:solidFill>
              <a:srgbClr val="0D2434"/>
            </a:solidFill>
            <a:prstDash val="solid"/>
            <a:round/>
            <a:headEnd len="sm" w="sm" type="none"/>
            <a:tailEnd len="sm" w="sm" type="none"/>
          </a:ln>
        </p:spPr>
      </p:cxnSp>
      <p:pic>
        <p:nvPicPr>
          <p:cNvPr descr="preencoded.png" id="276" name="Google Shape;276;p11"/>
          <p:cNvPicPr preferRelativeResize="0"/>
          <p:nvPr/>
        </p:nvPicPr>
        <p:blipFill rotWithShape="1">
          <a:blip r:embed="rId6">
            <a:alphaModFix/>
          </a:blip>
          <a:srcRect b="0" l="0" r="0" t="0"/>
          <a:stretch/>
        </p:blipFill>
        <p:spPr>
          <a:xfrm>
            <a:off x="4864608" y="3136392"/>
            <a:ext cx="438912" cy="438912"/>
          </a:xfrm>
          <a:prstGeom prst="rect">
            <a:avLst/>
          </a:prstGeom>
          <a:noFill/>
          <a:ln>
            <a:noFill/>
          </a:ln>
        </p:spPr>
      </p:pic>
      <p:sp>
        <p:nvSpPr>
          <p:cNvPr id="277" name="Google Shape;277;p11"/>
          <p:cNvSpPr/>
          <p:nvPr/>
        </p:nvSpPr>
        <p:spPr>
          <a:xfrm>
            <a:off x="7452360" y="3118104"/>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p11"/>
          <p:cNvSpPr/>
          <p:nvPr/>
        </p:nvSpPr>
        <p:spPr>
          <a:xfrm>
            <a:off x="7452360" y="3118104"/>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No experience needed</a:t>
            </a:r>
            <a:endParaRPr b="0" i="0" sz="800" u="none" cap="none" strike="noStrike">
              <a:solidFill>
                <a:schemeClr val="dk1"/>
              </a:solidFill>
              <a:latin typeface="Calibri"/>
              <a:ea typeface="Calibri"/>
              <a:cs typeface="Calibri"/>
              <a:sym typeface="Calibri"/>
            </a:endParaRPr>
          </a:p>
        </p:txBody>
      </p:sp>
      <p:sp>
        <p:nvSpPr>
          <p:cNvPr id="279" name="Google Shape;279;p11"/>
          <p:cNvSpPr/>
          <p:nvPr/>
        </p:nvSpPr>
        <p:spPr>
          <a:xfrm>
            <a:off x="5458968" y="3118104"/>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Is it for you?</a:t>
            </a:r>
            <a:endParaRPr b="0" i="0" sz="1200" u="none" cap="none" strike="noStrike">
              <a:solidFill>
                <a:schemeClr val="dk1"/>
              </a:solidFill>
              <a:latin typeface="Calibri"/>
              <a:ea typeface="Calibri"/>
              <a:cs typeface="Calibri"/>
              <a:sym typeface="Calibri"/>
            </a:endParaRPr>
          </a:p>
        </p:txBody>
      </p:sp>
      <p:sp>
        <p:nvSpPr>
          <p:cNvPr id="280" name="Google Shape;280;p11"/>
          <p:cNvSpPr/>
          <p:nvPr/>
        </p:nvSpPr>
        <p:spPr>
          <a:xfrm>
            <a:off x="4846320" y="3666744"/>
            <a:ext cx="379476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Reliable, prepared, comfortable asking questions in a room of adults, able to handle confidential information — which you already do on placement and when you hand work to a real audience. Strong evidence for UCAS, apprenticeship and employer applications.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84" name="Shape 284"/>
        <p:cNvGrpSpPr/>
        <p:nvPr/>
      </p:nvGrpSpPr>
      <p:grpSpPr>
        <a:xfrm>
          <a:off x="0" y="0"/>
          <a:ext cx="0" cy="0"/>
          <a:chOff x="0" y="0"/>
          <a:chExt cx="0" cy="0"/>
        </a:xfrm>
      </p:grpSpPr>
      <p:sp>
        <p:nvSpPr>
          <p:cNvPr id="285" name="Google Shape;285;p12"/>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How to apply</a:t>
            </a:r>
            <a:endParaRPr b="0" i="0" sz="2200" u="none" cap="none" strike="noStrike">
              <a:solidFill>
                <a:schemeClr val="dk1"/>
              </a:solidFill>
              <a:latin typeface="Calibri"/>
              <a:ea typeface="Calibri"/>
              <a:cs typeface="Calibri"/>
              <a:sym typeface="Calibri"/>
            </a:endParaRPr>
          </a:p>
        </p:txBody>
      </p:sp>
      <p:sp>
        <p:nvSpPr>
          <p:cNvPr id="286" name="Google Shape;286;p12"/>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Applications close at midday on Friday 16 October</a:t>
            </a:r>
            <a:endParaRPr b="0" i="0" sz="1100" u="none" cap="none" strike="noStrike">
              <a:solidFill>
                <a:schemeClr val="dk1"/>
              </a:solidFill>
              <a:latin typeface="Calibri"/>
              <a:ea typeface="Calibri"/>
              <a:cs typeface="Calibri"/>
              <a:sym typeface="Calibri"/>
            </a:endParaRPr>
          </a:p>
        </p:txBody>
      </p:sp>
      <p:sp>
        <p:nvSpPr>
          <p:cNvPr id="287" name="Google Shape;287;p12"/>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p12"/>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p12"/>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290" name="Google Shape;290;p12"/>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L3 &amp; T Level Digital, Media, Film and Computing</a:t>
            </a:r>
            <a:endParaRPr b="0" i="0" sz="800" u="none" cap="none" strike="noStrike">
              <a:solidFill>
                <a:schemeClr val="dk1"/>
              </a:solidFill>
              <a:latin typeface="Calibri"/>
              <a:ea typeface="Calibri"/>
              <a:cs typeface="Calibri"/>
              <a:sym typeface="Calibri"/>
            </a:endParaRPr>
          </a:p>
        </p:txBody>
      </p:sp>
      <p:sp>
        <p:nvSpPr>
          <p:cNvPr id="291" name="Google Shape;291;p12"/>
          <p:cNvSpPr/>
          <p:nvPr/>
        </p:nvSpPr>
        <p:spPr>
          <a:xfrm>
            <a:off x="411480" y="987552"/>
            <a:ext cx="1965960" cy="3246120"/>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92" name="Google Shape;292;p12"/>
          <p:cNvCxnSpPr/>
          <p:nvPr/>
        </p:nvCxnSpPr>
        <p:spPr>
          <a:xfrm>
            <a:off x="521208"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293" name="Google Shape;293;p12"/>
          <p:cNvSpPr/>
          <p:nvPr/>
        </p:nvSpPr>
        <p:spPr>
          <a:xfrm>
            <a:off x="521208"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pic>
        <p:nvPicPr>
          <p:cNvPr descr="preencoded.png" id="294" name="Google Shape;294;p12"/>
          <p:cNvPicPr preferRelativeResize="0"/>
          <p:nvPr/>
        </p:nvPicPr>
        <p:blipFill rotWithShape="1">
          <a:blip r:embed="rId3">
            <a:alphaModFix/>
          </a:blip>
          <a:srcRect b="0" l="0" r="0" t="0"/>
          <a:stretch/>
        </p:blipFill>
        <p:spPr>
          <a:xfrm>
            <a:off x="1161288" y="1115568"/>
            <a:ext cx="438912" cy="438912"/>
          </a:xfrm>
          <a:prstGeom prst="rect">
            <a:avLst/>
          </a:prstGeom>
          <a:noFill/>
          <a:ln>
            <a:noFill/>
          </a:ln>
        </p:spPr>
      </p:pic>
      <p:sp>
        <p:nvSpPr>
          <p:cNvPr id="295" name="Google Shape;295;p12"/>
          <p:cNvSpPr/>
          <p:nvPr/>
        </p:nvSpPr>
        <p:spPr>
          <a:xfrm>
            <a:off x="521208"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Application</a:t>
            </a:r>
            <a:endParaRPr b="0" i="0" sz="1300" u="none" cap="none" strike="noStrike">
              <a:solidFill>
                <a:schemeClr val="dk1"/>
              </a:solidFill>
              <a:latin typeface="Calibri"/>
              <a:ea typeface="Calibri"/>
              <a:cs typeface="Calibri"/>
              <a:sym typeface="Calibri"/>
            </a:endParaRPr>
          </a:p>
        </p:txBody>
      </p:sp>
      <p:sp>
        <p:nvSpPr>
          <p:cNvPr id="296" name="Google Shape;296;p12"/>
          <p:cNvSpPr/>
          <p:nvPr/>
        </p:nvSpPr>
        <p:spPr>
          <a:xfrm>
            <a:off x="521208"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Submit the online nomination form. Deadline: midday, Friday 16 October.</a:t>
            </a:r>
            <a:endParaRPr b="0" i="1" sz="750" u="none" cap="none" strike="noStrike">
              <a:solidFill>
                <a:srgbClr val="9B1B6B"/>
              </a:solidFill>
              <a:latin typeface="Arial"/>
              <a:ea typeface="Arial"/>
              <a:cs typeface="Arial"/>
              <a:sym typeface="Arial"/>
            </a:endParaRPr>
          </a:p>
          <a:p>
            <a:pPr indent="0" lvl="0" marL="0" marR="0" rtl="0" algn="l">
              <a:lnSpc>
                <a:spcPct val="100000"/>
              </a:lnSpc>
              <a:spcBef>
                <a:spcPts val="0"/>
              </a:spcBef>
              <a:spcAft>
                <a:spcPts val="0"/>
              </a:spcAft>
              <a:buClr>
                <a:srgbClr val="1B2A30"/>
              </a:buClr>
              <a:buSzPts val="1050"/>
              <a:buFont typeface="Arial"/>
              <a:buNone/>
            </a:pPr>
            <a:r>
              <a:t/>
            </a:r>
            <a:endParaRPr b="0" i="1" sz="750" u="none" cap="none" strike="noStrike">
              <a:solidFill>
                <a:srgbClr val="9B1B6B"/>
              </a:solidFill>
              <a:latin typeface="Arial"/>
              <a:ea typeface="Arial"/>
              <a:cs typeface="Arial"/>
              <a:sym typeface="Arial"/>
            </a:endParaRPr>
          </a:p>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chemeClr val="dk1"/>
                </a:solidFill>
                <a:latin typeface="Arial"/>
                <a:ea typeface="Arial"/>
                <a:cs typeface="Arial"/>
                <a:sym typeface="Arial"/>
              </a:rPr>
              <a:t>Please scan to access the application form</a:t>
            </a:r>
            <a:endParaRPr b="0" i="1" sz="750" u="none" cap="none" strike="noStrike">
              <a:solidFill>
                <a:srgbClr val="9B1B6B"/>
              </a:solidFill>
              <a:latin typeface="Arial"/>
              <a:ea typeface="Arial"/>
              <a:cs typeface="Arial"/>
              <a:sym typeface="Arial"/>
            </a:endParaRPr>
          </a:p>
        </p:txBody>
      </p:sp>
      <p:sp>
        <p:nvSpPr>
          <p:cNvPr id="297" name="Google Shape;297;p12"/>
          <p:cNvSpPr/>
          <p:nvPr/>
        </p:nvSpPr>
        <p:spPr>
          <a:xfrm>
            <a:off x="2532888" y="987552"/>
            <a:ext cx="1965960" cy="3246120"/>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98" name="Google Shape;298;p12"/>
          <p:cNvCxnSpPr/>
          <p:nvPr/>
        </p:nvCxnSpPr>
        <p:spPr>
          <a:xfrm>
            <a:off x="2642616"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299" name="Google Shape;299;p12"/>
          <p:cNvSpPr/>
          <p:nvPr/>
        </p:nvSpPr>
        <p:spPr>
          <a:xfrm>
            <a:off x="2642616"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pic>
        <p:nvPicPr>
          <p:cNvPr descr="preencoded.png" id="300" name="Google Shape;300;p12"/>
          <p:cNvPicPr preferRelativeResize="0"/>
          <p:nvPr/>
        </p:nvPicPr>
        <p:blipFill rotWithShape="1">
          <a:blip r:embed="rId4">
            <a:alphaModFix/>
          </a:blip>
          <a:srcRect b="0" l="0" r="0" t="0"/>
          <a:stretch/>
        </p:blipFill>
        <p:spPr>
          <a:xfrm>
            <a:off x="3282696" y="1115568"/>
            <a:ext cx="438912" cy="438912"/>
          </a:xfrm>
          <a:prstGeom prst="rect">
            <a:avLst/>
          </a:prstGeom>
          <a:noFill/>
          <a:ln>
            <a:noFill/>
          </a:ln>
        </p:spPr>
      </p:pic>
      <p:sp>
        <p:nvSpPr>
          <p:cNvPr id="301" name="Google Shape;301;p12"/>
          <p:cNvSpPr/>
          <p:nvPr/>
        </p:nvSpPr>
        <p:spPr>
          <a:xfrm>
            <a:off x="2642616"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Governor discussion</a:t>
            </a:r>
            <a:endParaRPr b="0" i="0" sz="1300" u="none" cap="none" strike="noStrike">
              <a:solidFill>
                <a:schemeClr val="dk1"/>
              </a:solidFill>
              <a:latin typeface="Calibri"/>
              <a:ea typeface="Calibri"/>
              <a:cs typeface="Calibri"/>
              <a:sym typeface="Calibri"/>
            </a:endParaRPr>
          </a:p>
        </p:txBody>
      </p:sp>
      <p:sp>
        <p:nvSpPr>
          <p:cNvPr id="302" name="Google Shape;302;p12"/>
          <p:cNvSpPr/>
          <p:nvPr/>
        </p:nvSpPr>
        <p:spPr>
          <a:xfrm>
            <a:off x="2642616"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An informal conversation about your interest, the commitment and what you'd bring. 2–5 November. It is not an interview and does not need preparing for like one.</a:t>
            </a:r>
            <a:endParaRPr b="0" i="0" sz="1050" u="none" cap="none" strike="noStrike">
              <a:solidFill>
                <a:schemeClr val="dk1"/>
              </a:solidFill>
              <a:latin typeface="Calibri"/>
              <a:ea typeface="Calibri"/>
              <a:cs typeface="Calibri"/>
              <a:sym typeface="Calibri"/>
            </a:endParaRPr>
          </a:p>
        </p:txBody>
      </p:sp>
      <p:sp>
        <p:nvSpPr>
          <p:cNvPr id="303" name="Google Shape;303;p12"/>
          <p:cNvSpPr/>
          <p:nvPr/>
        </p:nvSpPr>
        <p:spPr>
          <a:xfrm>
            <a:off x="4654296" y="987552"/>
            <a:ext cx="1965960" cy="3246120"/>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04" name="Google Shape;304;p12"/>
          <p:cNvCxnSpPr/>
          <p:nvPr/>
        </p:nvCxnSpPr>
        <p:spPr>
          <a:xfrm>
            <a:off x="4764024"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05" name="Google Shape;305;p12"/>
          <p:cNvSpPr/>
          <p:nvPr/>
        </p:nvSpPr>
        <p:spPr>
          <a:xfrm>
            <a:off x="4764024"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pic>
        <p:nvPicPr>
          <p:cNvPr descr="preencoded.png" id="306" name="Google Shape;306;p12"/>
          <p:cNvPicPr preferRelativeResize="0"/>
          <p:nvPr/>
        </p:nvPicPr>
        <p:blipFill rotWithShape="1">
          <a:blip r:embed="rId5">
            <a:alphaModFix/>
          </a:blip>
          <a:srcRect b="0" l="0" r="0" t="0"/>
          <a:stretch/>
        </p:blipFill>
        <p:spPr>
          <a:xfrm>
            <a:off x="5404104" y="1115568"/>
            <a:ext cx="438912" cy="438912"/>
          </a:xfrm>
          <a:prstGeom prst="rect">
            <a:avLst/>
          </a:prstGeom>
          <a:noFill/>
          <a:ln>
            <a:noFill/>
          </a:ln>
        </p:spPr>
      </p:pic>
      <p:sp>
        <p:nvSpPr>
          <p:cNvPr id="307" name="Google Shape;307;p12"/>
          <p:cNvSpPr/>
          <p:nvPr/>
        </p:nvSpPr>
        <p:spPr>
          <a:xfrm>
            <a:off x="4764024"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Student ballot</a:t>
            </a:r>
            <a:endParaRPr b="0" i="0" sz="1300" u="none" cap="none" strike="noStrike">
              <a:solidFill>
                <a:schemeClr val="dk1"/>
              </a:solidFill>
              <a:latin typeface="Calibri"/>
              <a:ea typeface="Calibri"/>
              <a:cs typeface="Calibri"/>
              <a:sym typeface="Calibri"/>
            </a:endParaRPr>
          </a:p>
        </p:txBody>
      </p:sp>
      <p:sp>
        <p:nvSpPr>
          <p:cNvPr id="308" name="Google Shape;308;p12"/>
          <p:cNvSpPr/>
          <p:nvPr/>
        </p:nvSpPr>
        <p:spPr>
          <a:xfrm>
            <a:off x="4764024"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Held where more candidates apply than there are places. 9–23 November.</a:t>
            </a:r>
            <a:endParaRPr b="0" i="0" sz="1050" u="none" cap="none" strike="noStrike">
              <a:solidFill>
                <a:schemeClr val="dk1"/>
              </a:solidFill>
              <a:latin typeface="Calibri"/>
              <a:ea typeface="Calibri"/>
              <a:cs typeface="Calibri"/>
              <a:sym typeface="Calibri"/>
            </a:endParaRPr>
          </a:p>
        </p:txBody>
      </p:sp>
      <p:sp>
        <p:nvSpPr>
          <p:cNvPr id="309" name="Google Shape;309;p12"/>
          <p:cNvSpPr/>
          <p:nvPr/>
        </p:nvSpPr>
        <p:spPr>
          <a:xfrm>
            <a:off x="6775704" y="987552"/>
            <a:ext cx="1965960" cy="3246120"/>
          </a:xfrm>
          <a:prstGeom prst="rect">
            <a:avLst/>
          </a:prstGeom>
          <a:solidFill>
            <a:srgbClr val="FFFFFF"/>
          </a:solidFill>
          <a:ln cap="flat" cmpd="sng" w="25400">
            <a:solidFill>
              <a:srgbClr val="0F7A54"/>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10" name="Google Shape;310;p12"/>
          <p:cNvCxnSpPr/>
          <p:nvPr/>
        </p:nvCxnSpPr>
        <p:spPr>
          <a:xfrm>
            <a:off x="6885432"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11" name="Google Shape;311;p12"/>
          <p:cNvSpPr/>
          <p:nvPr/>
        </p:nvSpPr>
        <p:spPr>
          <a:xfrm>
            <a:off x="6885432"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4</a:t>
            </a:r>
            <a:endParaRPr b="0" i="0" sz="1400" u="none" cap="none" strike="noStrike">
              <a:solidFill>
                <a:schemeClr val="dk1"/>
              </a:solidFill>
              <a:latin typeface="Calibri"/>
              <a:ea typeface="Calibri"/>
              <a:cs typeface="Calibri"/>
              <a:sym typeface="Calibri"/>
            </a:endParaRPr>
          </a:p>
        </p:txBody>
      </p:sp>
      <p:pic>
        <p:nvPicPr>
          <p:cNvPr descr="preencoded.png" id="312" name="Google Shape;312;p12"/>
          <p:cNvPicPr preferRelativeResize="0"/>
          <p:nvPr/>
        </p:nvPicPr>
        <p:blipFill rotWithShape="1">
          <a:blip r:embed="rId6">
            <a:alphaModFix/>
          </a:blip>
          <a:srcRect b="0" l="0" r="0" t="0"/>
          <a:stretch/>
        </p:blipFill>
        <p:spPr>
          <a:xfrm>
            <a:off x="7525512" y="1115568"/>
            <a:ext cx="438912" cy="438912"/>
          </a:xfrm>
          <a:prstGeom prst="rect">
            <a:avLst/>
          </a:prstGeom>
          <a:noFill/>
          <a:ln>
            <a:noFill/>
          </a:ln>
        </p:spPr>
      </p:pic>
      <p:sp>
        <p:nvSpPr>
          <p:cNvPr id="313" name="Google Shape;313;p12"/>
          <p:cNvSpPr/>
          <p:nvPr/>
        </p:nvSpPr>
        <p:spPr>
          <a:xfrm>
            <a:off x="6885432"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Appointment</a:t>
            </a:r>
            <a:endParaRPr b="0" i="0" sz="1300" u="none" cap="none" strike="noStrike">
              <a:solidFill>
                <a:schemeClr val="dk1"/>
              </a:solidFill>
              <a:latin typeface="Calibri"/>
              <a:ea typeface="Calibri"/>
              <a:cs typeface="Calibri"/>
              <a:sym typeface="Calibri"/>
            </a:endParaRPr>
          </a:p>
        </p:txBody>
      </p:sp>
      <p:sp>
        <p:nvSpPr>
          <p:cNvPr id="314" name="Google Shape;314;p12"/>
          <p:cNvSpPr/>
          <p:nvPr/>
        </p:nvSpPr>
        <p:spPr>
          <a:xfrm>
            <a:off x="6885432"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Committee recommendation on 24 November; formal Board appointment on 14 December.</a:t>
            </a:r>
            <a:endParaRPr b="0" i="0" sz="1050" u="none" cap="none" strike="noStrike">
              <a:solidFill>
                <a:schemeClr val="dk1"/>
              </a:solidFill>
              <a:latin typeface="Calibri"/>
              <a:ea typeface="Calibri"/>
              <a:cs typeface="Calibri"/>
              <a:sym typeface="Calibri"/>
            </a:endParaRPr>
          </a:p>
        </p:txBody>
      </p:sp>
      <p:sp>
        <p:nvSpPr>
          <p:cNvPr id="315" name="Google Shape;315;p12"/>
          <p:cNvSpPr/>
          <p:nvPr/>
        </p:nvSpPr>
        <p:spPr>
          <a:xfrm>
            <a:off x="6885432" y="3547872"/>
            <a:ext cx="1755648" cy="47548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p12"/>
          <p:cNvSpPr/>
          <p:nvPr/>
        </p:nvSpPr>
        <p:spPr>
          <a:xfrm>
            <a:off x="6885432" y="3547872"/>
            <a:ext cx="175564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Deadline</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midday, Fri 16 Oct</a:t>
            </a:r>
            <a:endParaRPr b="0" i="0" sz="900" u="none" cap="none" strike="noStrike">
              <a:solidFill>
                <a:schemeClr val="dk1"/>
              </a:solidFill>
              <a:latin typeface="Calibri"/>
              <a:ea typeface="Calibri"/>
              <a:cs typeface="Calibri"/>
              <a:sym typeface="Calibri"/>
            </a:endParaRPr>
          </a:p>
        </p:txBody>
      </p:sp>
      <p:sp>
        <p:nvSpPr>
          <p:cNvPr id="317" name="Google Shape;317;p12"/>
          <p:cNvSpPr/>
          <p:nvPr/>
        </p:nvSpPr>
        <p:spPr>
          <a:xfrm>
            <a:off x="411480" y="4261104"/>
            <a:ext cx="8321040" cy="603504"/>
          </a:xfrm>
          <a:prstGeom prst="rect">
            <a:avLst/>
          </a:prstGeom>
          <a:solidFill>
            <a:srgbClr val="E8F4EF"/>
          </a:solidFill>
          <a:ln cap="flat" cmpd="sng" w="19050">
            <a:solidFill>
              <a:srgbClr val="E8F4EF"/>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8" name="Google Shape;318;p12"/>
          <p:cNvSpPr/>
          <p:nvPr/>
        </p:nvSpPr>
        <p:spPr>
          <a:xfrm>
            <a:off x="548640" y="4261104"/>
            <a:ext cx="804672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A54"/>
              </a:buClr>
              <a:buSzPts val="950"/>
              <a:buFont typeface="Arial"/>
              <a:buNone/>
            </a:pPr>
            <a:r>
              <a:rPr b="1" i="0" lang="en-US" sz="950" u="none" cap="none" strike="noStrike">
                <a:solidFill>
                  <a:srgbClr val="0F7A54"/>
                </a:solidFill>
                <a:latin typeface="Arial"/>
                <a:ea typeface="Arial"/>
                <a:cs typeface="Arial"/>
                <a:sym typeface="Arial"/>
              </a:rPr>
              <a:t>Strong applications are specific: why improving the College matters to you, an example of leadership or influence — leading a shoot, running a project schedule, sorting a problem on placement — and evidence you will prepare and turn up.</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D2434"/>
              </a:buClr>
              <a:buSzPts val="950"/>
              <a:buFont typeface="Arial"/>
              <a:buNone/>
            </a:pPr>
            <a:r>
              <a:rPr b="1" i="0" lang="en-US" sz="950" u="none" cap="none" strike="noStrike">
                <a:solidFill>
                  <a:srgbClr val="0D2434"/>
                </a:solidFill>
                <a:latin typeface="Arial"/>
                <a:ea typeface="Arial"/>
                <a:cs typeface="Arial"/>
                <a:sym typeface="Arial"/>
              </a:rPr>
              <a:t>Questions? Belle Howard, Director of Governance — Belle.Howard@escg.ac.uk</a:t>
            </a:r>
            <a:endParaRPr b="0" i="0" sz="950" u="none" cap="none" strike="noStrike">
              <a:solidFill>
                <a:schemeClr val="dk1"/>
              </a:solidFill>
              <a:latin typeface="Calibri"/>
              <a:ea typeface="Calibri"/>
              <a:cs typeface="Calibri"/>
              <a:sym typeface="Calibri"/>
            </a:endParaRPr>
          </a:p>
        </p:txBody>
      </p:sp>
      <p:pic>
        <p:nvPicPr>
          <p:cNvPr id="319" name="Google Shape;319;p12"/>
          <p:cNvPicPr preferRelativeResize="0"/>
          <p:nvPr/>
        </p:nvPicPr>
        <p:blipFill rotWithShape="1">
          <a:blip r:embed="rId7">
            <a:alphaModFix/>
          </a:blip>
          <a:srcRect b="0" l="0" r="0" t="0"/>
          <a:stretch/>
        </p:blipFill>
        <p:spPr>
          <a:xfrm>
            <a:off x="838950" y="3435601"/>
            <a:ext cx="668376" cy="6683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324" name="Shape 324"/>
        <p:cNvGrpSpPr/>
        <p:nvPr/>
      </p:nvGrpSpPr>
      <p:grpSpPr>
        <a:xfrm>
          <a:off x="0" y="0"/>
          <a:ext cx="0" cy="0"/>
          <a:chOff x="0" y="0"/>
          <a:chExt cx="0" cy="0"/>
        </a:xfrm>
      </p:grpSpPr>
      <p:sp>
        <p:nvSpPr>
          <p:cNvPr id="325" name="Google Shape;325;p13"/>
          <p:cNvSpPr/>
          <p:nvPr/>
        </p:nvSpPr>
        <p:spPr>
          <a:xfrm>
            <a:off x="0" y="0"/>
            <a:ext cx="411480" cy="514350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6" name="Google Shape;326;p13"/>
          <p:cNvSpPr/>
          <p:nvPr/>
        </p:nvSpPr>
        <p:spPr>
          <a:xfrm>
            <a:off x="640080" y="201168"/>
            <a:ext cx="1280160" cy="292608"/>
          </a:xfrm>
          <a:prstGeom prst="rect">
            <a:avLst/>
          </a:prstGeom>
          <a:solidFill>
            <a:srgbClr val="FFCF01"/>
          </a:solidFill>
          <a:ln cap="flat" cmpd="sng" w="12700">
            <a:solidFill>
              <a:srgbClr val="FFCF0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3"/>
          <p:cNvSpPr/>
          <p:nvPr/>
        </p:nvSpPr>
        <p:spPr>
          <a:xfrm>
            <a:off x="640080" y="201168"/>
            <a:ext cx="12801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2A30"/>
              </a:buClr>
              <a:buSzPts val="800"/>
              <a:buFont typeface="Arial"/>
              <a:buNone/>
            </a:pPr>
            <a:r>
              <a:rPr b="1" i="0" lang="en-US" sz="800" u="none" cap="none" strike="noStrike">
                <a:solidFill>
                  <a:srgbClr val="1B2A30"/>
                </a:solidFill>
                <a:latin typeface="Arial"/>
                <a:ea typeface="Arial"/>
                <a:cs typeface="Arial"/>
                <a:sym typeface="Arial"/>
              </a:rPr>
              <a:t>PROUD VALUE</a:t>
            </a:r>
            <a:endParaRPr b="0" i="0" sz="800" u="none" cap="none" strike="noStrike">
              <a:solidFill>
                <a:schemeClr val="dk1"/>
              </a:solidFill>
              <a:latin typeface="Calibri"/>
              <a:ea typeface="Calibri"/>
              <a:cs typeface="Calibri"/>
              <a:sym typeface="Calibri"/>
            </a:endParaRPr>
          </a:p>
        </p:txBody>
      </p:sp>
      <p:sp>
        <p:nvSpPr>
          <p:cNvPr id="328" name="Google Shape;328;p13"/>
          <p:cNvSpPr/>
          <p:nvPr/>
        </p:nvSpPr>
        <p:spPr>
          <a:xfrm>
            <a:off x="640080" y="594360"/>
            <a:ext cx="77724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Encourage Unity</a:t>
            </a:r>
            <a:endParaRPr b="0" i="0" sz="3600" u="none" cap="none" strike="noStrike">
              <a:solidFill>
                <a:schemeClr val="dk1"/>
              </a:solidFill>
              <a:latin typeface="Calibri"/>
              <a:ea typeface="Calibri"/>
              <a:cs typeface="Calibri"/>
              <a:sym typeface="Calibri"/>
            </a:endParaRPr>
          </a:p>
        </p:txBody>
      </p:sp>
      <p:sp>
        <p:nvSpPr>
          <p:cNvPr id="329" name="Google Shape;329;p13"/>
          <p:cNvSpPr/>
          <p:nvPr/>
        </p:nvSpPr>
        <p:spPr>
          <a:xfrm>
            <a:off x="640080" y="1325880"/>
            <a:ext cx="5943600" cy="960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2DBDA"/>
              </a:buClr>
              <a:buSzPts val="1400"/>
              <a:buFont typeface="Arial"/>
              <a:buNone/>
            </a:pPr>
            <a:r>
              <a:rPr b="0" i="0" lang="en-US" sz="1400" u="none" cap="none" strike="noStrike">
                <a:solidFill>
                  <a:srgbClr val="D2DBDA"/>
                </a:solidFill>
                <a:latin typeface="Arial"/>
                <a:ea typeface="Arial"/>
                <a:cs typeface="Arial"/>
                <a:sym typeface="Arial"/>
              </a:rPr>
              <a:t>One person's complaint is an opinion. A group saying the same thing is evidence — and evidence is what changes decisions. One person waiting for a camera is bad luck. A whole cohort waiting is evidence.</a:t>
            </a:r>
            <a:endParaRPr b="0" i="0" sz="1400" u="none" cap="none" strike="noStrike">
              <a:solidFill>
                <a:schemeClr val="dk1"/>
              </a:solidFill>
              <a:latin typeface="Calibri"/>
              <a:ea typeface="Calibri"/>
              <a:cs typeface="Calibri"/>
              <a:sym typeface="Calibri"/>
            </a:endParaRPr>
          </a:p>
        </p:txBody>
      </p:sp>
      <p:sp>
        <p:nvSpPr>
          <p:cNvPr id="330" name="Google Shape;330;p13"/>
          <p:cNvSpPr/>
          <p:nvPr/>
        </p:nvSpPr>
        <p:spPr>
          <a:xfrm>
            <a:off x="640080" y="2331720"/>
            <a:ext cx="2606040" cy="1572768"/>
          </a:xfrm>
          <a:prstGeom prst="rect">
            <a:avLst/>
          </a:prstGeom>
          <a:solidFill>
            <a:srgbClr val="0F7A54"/>
          </a:solidFill>
          <a:ln cap="flat" cmpd="sng" w="12700">
            <a:solidFill>
              <a:srgbClr val="0F7A54"/>
            </a:solidFill>
            <a:prstDash val="solid"/>
            <a:round/>
            <a:headEnd len="sm" w="sm" type="none"/>
            <a:tailEnd len="sm" w="sm" type="none"/>
          </a:ln>
          <a:effectLst>
            <a:outerShdw blurRad="76200" rotWithShape="0" algn="bl" dir="2700000" dist="25400">
              <a:srgbClr val="000000">
                <a:alpha val="1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31" name="Google Shape;331;p13"/>
          <p:cNvPicPr preferRelativeResize="0"/>
          <p:nvPr/>
        </p:nvPicPr>
        <p:blipFill rotWithShape="1">
          <a:blip r:embed="rId3">
            <a:alphaModFix/>
          </a:blip>
          <a:srcRect b="0" l="0" r="0" t="0"/>
          <a:stretch/>
        </p:blipFill>
        <p:spPr>
          <a:xfrm>
            <a:off x="777240" y="2441448"/>
            <a:ext cx="365760" cy="365760"/>
          </a:xfrm>
          <a:prstGeom prst="rect">
            <a:avLst/>
          </a:prstGeom>
          <a:noFill/>
          <a:ln>
            <a:noFill/>
          </a:ln>
        </p:spPr>
      </p:pic>
      <p:sp>
        <p:nvSpPr>
          <p:cNvPr id="332" name="Google Shape;332;p13"/>
          <p:cNvSpPr/>
          <p:nvPr/>
        </p:nvSpPr>
        <p:spPr>
          <a:xfrm>
            <a:off x="777240" y="2880360"/>
            <a:ext cx="2331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On placement and in the studio you already spot what isn't working — you flag a fault on a shoot without being asked. Do the same here.</a:t>
            </a:r>
            <a:endParaRPr b="0" i="0" sz="1000" u="none" cap="none" strike="noStrike">
              <a:solidFill>
                <a:schemeClr val="dk1"/>
              </a:solidFill>
              <a:latin typeface="Calibri"/>
              <a:ea typeface="Calibri"/>
              <a:cs typeface="Calibri"/>
              <a:sym typeface="Calibri"/>
            </a:endParaRPr>
          </a:p>
        </p:txBody>
      </p:sp>
      <p:sp>
        <p:nvSpPr>
          <p:cNvPr id="333" name="Google Shape;333;p13"/>
          <p:cNvSpPr/>
          <p:nvPr/>
        </p:nvSpPr>
        <p:spPr>
          <a:xfrm>
            <a:off x="3474720" y="2331720"/>
            <a:ext cx="2606040" cy="1572768"/>
          </a:xfrm>
          <a:prstGeom prst="rect">
            <a:avLst/>
          </a:prstGeom>
          <a:solidFill>
            <a:srgbClr val="0F7A54"/>
          </a:solidFill>
          <a:ln cap="flat" cmpd="sng" w="12700">
            <a:solidFill>
              <a:srgbClr val="0F7A54"/>
            </a:solidFill>
            <a:prstDash val="solid"/>
            <a:round/>
            <a:headEnd len="sm" w="sm" type="none"/>
            <a:tailEnd len="sm" w="sm" type="none"/>
          </a:ln>
          <a:effectLst>
            <a:outerShdw blurRad="76200" rotWithShape="0" algn="bl" dir="2700000" dist="25400">
              <a:srgbClr val="000000">
                <a:alpha val="1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34" name="Google Shape;334;p13"/>
          <p:cNvPicPr preferRelativeResize="0"/>
          <p:nvPr/>
        </p:nvPicPr>
        <p:blipFill rotWithShape="1">
          <a:blip r:embed="rId4">
            <a:alphaModFix/>
          </a:blip>
          <a:srcRect b="0" l="0" r="0" t="0"/>
          <a:stretch/>
        </p:blipFill>
        <p:spPr>
          <a:xfrm>
            <a:off x="3611880" y="2441448"/>
            <a:ext cx="365760" cy="365760"/>
          </a:xfrm>
          <a:prstGeom prst="rect">
            <a:avLst/>
          </a:prstGeom>
          <a:noFill/>
          <a:ln>
            <a:noFill/>
          </a:ln>
        </p:spPr>
      </p:pic>
      <p:sp>
        <p:nvSpPr>
          <p:cNvPr id="335" name="Google Shape;335;p13"/>
          <p:cNvSpPr/>
          <p:nvPr/>
        </p:nvSpPr>
        <p:spPr>
          <a:xfrm>
            <a:off x="3611880" y="2880360"/>
            <a:ext cx="2331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A rep you helped choose is a rep who'll listen when you tell them what matters — like edit stations that can't run the software your assignment needs.</a:t>
            </a:r>
            <a:endParaRPr b="0" i="0" sz="1000" u="none" cap="none" strike="noStrike">
              <a:solidFill>
                <a:schemeClr val="dk1"/>
              </a:solidFill>
              <a:latin typeface="Calibri"/>
              <a:ea typeface="Calibri"/>
              <a:cs typeface="Calibri"/>
              <a:sym typeface="Calibri"/>
            </a:endParaRPr>
          </a:p>
        </p:txBody>
      </p:sp>
      <p:sp>
        <p:nvSpPr>
          <p:cNvPr id="336" name="Google Shape;336;p13"/>
          <p:cNvSpPr/>
          <p:nvPr/>
        </p:nvSpPr>
        <p:spPr>
          <a:xfrm>
            <a:off x="6309360" y="2331720"/>
            <a:ext cx="2606040" cy="1572768"/>
          </a:xfrm>
          <a:prstGeom prst="rect">
            <a:avLst/>
          </a:prstGeom>
          <a:solidFill>
            <a:srgbClr val="0F7A54"/>
          </a:solidFill>
          <a:ln cap="flat" cmpd="sng" w="12700">
            <a:solidFill>
              <a:srgbClr val="0F7A54"/>
            </a:solidFill>
            <a:prstDash val="solid"/>
            <a:round/>
            <a:headEnd len="sm" w="sm" type="none"/>
            <a:tailEnd len="sm" w="sm" type="none"/>
          </a:ln>
          <a:effectLst>
            <a:outerShdw blurRad="76200" rotWithShape="0" algn="bl" dir="2700000" dist="25400">
              <a:srgbClr val="000000">
                <a:alpha val="1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37" name="Google Shape;337;p13"/>
          <p:cNvPicPr preferRelativeResize="0"/>
          <p:nvPr/>
        </p:nvPicPr>
        <p:blipFill rotWithShape="1">
          <a:blip r:embed="rId5">
            <a:alphaModFix/>
          </a:blip>
          <a:srcRect b="0" l="0" r="0" t="0"/>
          <a:stretch/>
        </p:blipFill>
        <p:spPr>
          <a:xfrm>
            <a:off x="6446520" y="2441448"/>
            <a:ext cx="365760" cy="365760"/>
          </a:xfrm>
          <a:prstGeom prst="rect">
            <a:avLst/>
          </a:prstGeom>
          <a:noFill/>
          <a:ln>
            <a:noFill/>
          </a:ln>
        </p:spPr>
      </p:pic>
      <p:sp>
        <p:nvSpPr>
          <p:cNvPr id="338" name="Google Shape;338;p13"/>
          <p:cNvSpPr/>
          <p:nvPr/>
        </p:nvSpPr>
        <p:spPr>
          <a:xfrm>
            <a:off x="6446520" y="2880360"/>
            <a:ext cx="2331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The group that engages this year sets the standard for the one that comes after. Next year's intake inherits whatever you settle for.</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43" name="Shape 343"/>
        <p:cNvGrpSpPr/>
        <p:nvPr/>
      </p:nvGrpSpPr>
      <p:grpSpPr>
        <a:xfrm>
          <a:off x="0" y="0"/>
          <a:ext cx="0" cy="0"/>
          <a:chOff x="0" y="0"/>
          <a:chExt cx="0" cy="0"/>
        </a:xfrm>
      </p:grpSpPr>
      <p:sp>
        <p:nvSpPr>
          <p:cNvPr id="344" name="Google Shape;344;p14"/>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Election time</a:t>
            </a:r>
            <a:endParaRPr b="0" i="0" sz="2200" u="none" cap="none" strike="noStrike">
              <a:solidFill>
                <a:schemeClr val="dk1"/>
              </a:solidFill>
              <a:latin typeface="Calibri"/>
              <a:ea typeface="Calibri"/>
              <a:cs typeface="Calibri"/>
              <a:sym typeface="Calibri"/>
            </a:endParaRPr>
          </a:p>
        </p:txBody>
      </p:sp>
      <p:sp>
        <p:nvSpPr>
          <p:cNvPr id="345" name="Google Shape;345;p14"/>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Nominations · Pitches · Vote · Confirm — 30–35 minutes</a:t>
            </a:r>
            <a:endParaRPr b="0" i="0" sz="1100" u="none" cap="none" strike="noStrike">
              <a:solidFill>
                <a:schemeClr val="dk1"/>
              </a:solidFill>
              <a:latin typeface="Calibri"/>
              <a:ea typeface="Calibri"/>
              <a:cs typeface="Calibri"/>
              <a:sym typeface="Calibri"/>
            </a:endParaRPr>
          </a:p>
        </p:txBody>
      </p:sp>
      <p:sp>
        <p:nvSpPr>
          <p:cNvPr id="346" name="Google Shape;346;p14"/>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7" name="Google Shape;347;p14"/>
          <p:cNvSpPr/>
          <p:nvPr/>
        </p:nvSpPr>
        <p:spPr>
          <a:xfrm>
            <a:off x="7498080" y="109728"/>
            <a:ext cx="1508760" cy="292608"/>
          </a:xfrm>
          <a:prstGeom prst="rect">
            <a:avLst/>
          </a:prstGeom>
          <a:solidFill>
            <a:srgbClr val="FFCF01"/>
          </a:solidFill>
          <a:ln cap="flat" cmpd="sng" w="12700">
            <a:solidFill>
              <a:srgbClr val="FFCF0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8" name="Google Shape;348;p14"/>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2A30"/>
              </a:buClr>
              <a:buSzPts val="750"/>
              <a:buFont typeface="Arial"/>
              <a:buNone/>
            </a:pPr>
            <a:r>
              <a:rPr b="1" i="0" lang="en-US" sz="750" u="none" cap="none" strike="noStrike">
                <a:solidFill>
                  <a:srgbClr val="1B2A30"/>
                </a:solidFill>
                <a:latin typeface="Arial"/>
                <a:ea typeface="Arial"/>
                <a:cs typeface="Arial"/>
                <a:sym typeface="Arial"/>
              </a:rPr>
              <a:t>ACTIVITY</a:t>
            </a:r>
            <a:endParaRPr b="0" i="0" sz="750" u="none" cap="none" strike="noStrike">
              <a:solidFill>
                <a:schemeClr val="dk1"/>
              </a:solidFill>
              <a:latin typeface="Calibri"/>
              <a:ea typeface="Calibri"/>
              <a:cs typeface="Calibri"/>
              <a:sym typeface="Calibri"/>
            </a:endParaRPr>
          </a:p>
        </p:txBody>
      </p:sp>
      <p:sp>
        <p:nvSpPr>
          <p:cNvPr id="349" name="Google Shape;349;p14"/>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L3 &amp; T Level Digital, Media, Film and Computing</a:t>
            </a:r>
            <a:endParaRPr b="0" i="0" sz="800" u="none" cap="none" strike="noStrike">
              <a:solidFill>
                <a:schemeClr val="dk1"/>
              </a:solidFill>
              <a:latin typeface="Calibri"/>
              <a:ea typeface="Calibri"/>
              <a:cs typeface="Calibri"/>
              <a:sym typeface="Calibri"/>
            </a:endParaRPr>
          </a:p>
        </p:txBody>
      </p:sp>
      <p:sp>
        <p:nvSpPr>
          <p:cNvPr id="350" name="Google Shape;350;p14"/>
          <p:cNvSpPr/>
          <p:nvPr/>
        </p:nvSpPr>
        <p:spPr>
          <a:xfrm>
            <a:off x="411480" y="987552"/>
            <a:ext cx="1965960" cy="3246120"/>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51" name="Google Shape;351;p14"/>
          <p:cNvCxnSpPr/>
          <p:nvPr/>
        </p:nvCxnSpPr>
        <p:spPr>
          <a:xfrm>
            <a:off x="521208"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52" name="Google Shape;352;p14"/>
          <p:cNvSpPr/>
          <p:nvPr/>
        </p:nvSpPr>
        <p:spPr>
          <a:xfrm>
            <a:off x="521208"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pic>
        <p:nvPicPr>
          <p:cNvPr descr="preencoded.png" id="353" name="Google Shape;353;p14"/>
          <p:cNvPicPr preferRelativeResize="0"/>
          <p:nvPr/>
        </p:nvPicPr>
        <p:blipFill rotWithShape="1">
          <a:blip r:embed="rId3">
            <a:alphaModFix/>
          </a:blip>
          <a:srcRect b="0" l="0" r="0" t="0"/>
          <a:stretch/>
        </p:blipFill>
        <p:spPr>
          <a:xfrm>
            <a:off x="1161288" y="1115568"/>
            <a:ext cx="438912" cy="438912"/>
          </a:xfrm>
          <a:prstGeom prst="rect">
            <a:avLst/>
          </a:prstGeom>
          <a:noFill/>
          <a:ln>
            <a:noFill/>
          </a:ln>
        </p:spPr>
      </p:pic>
      <p:sp>
        <p:nvSpPr>
          <p:cNvPr id="354" name="Google Shape;354;p14"/>
          <p:cNvSpPr/>
          <p:nvPr/>
        </p:nvSpPr>
        <p:spPr>
          <a:xfrm>
            <a:off x="521208"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Nominations</a:t>
            </a:r>
            <a:endParaRPr b="0" i="0" sz="1300" u="none" cap="none" strike="noStrike">
              <a:solidFill>
                <a:schemeClr val="dk1"/>
              </a:solidFill>
              <a:latin typeface="Calibri"/>
              <a:ea typeface="Calibri"/>
              <a:cs typeface="Calibri"/>
              <a:sym typeface="Calibri"/>
            </a:endParaRPr>
          </a:p>
        </p:txBody>
      </p:sp>
      <p:sp>
        <p:nvSpPr>
          <p:cNvPr id="355" name="Google Shape;355;p14"/>
          <p:cNvSpPr/>
          <p:nvPr/>
        </p:nvSpPr>
        <p:spPr>
          <a:xfrm>
            <a:off x="521208"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Any student may put themselves forward. Two seats are elected today: course rep, and English/maths rep. Allow 2 minutes.</a:t>
            </a:r>
            <a:endParaRPr b="0" i="0" sz="1050" u="none" cap="none" strike="noStrike">
              <a:solidFill>
                <a:schemeClr val="dk1"/>
              </a:solidFill>
              <a:latin typeface="Calibri"/>
              <a:ea typeface="Calibri"/>
              <a:cs typeface="Calibri"/>
              <a:sym typeface="Calibri"/>
            </a:endParaRPr>
          </a:p>
        </p:txBody>
      </p:sp>
      <p:sp>
        <p:nvSpPr>
          <p:cNvPr id="356" name="Google Shape;356;p14"/>
          <p:cNvSpPr/>
          <p:nvPr/>
        </p:nvSpPr>
        <p:spPr>
          <a:xfrm>
            <a:off x="2532888" y="987552"/>
            <a:ext cx="1965960" cy="3246120"/>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57" name="Google Shape;357;p14"/>
          <p:cNvCxnSpPr/>
          <p:nvPr/>
        </p:nvCxnSpPr>
        <p:spPr>
          <a:xfrm>
            <a:off x="2642616"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58" name="Google Shape;358;p14"/>
          <p:cNvSpPr/>
          <p:nvPr/>
        </p:nvSpPr>
        <p:spPr>
          <a:xfrm>
            <a:off x="2642616"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pic>
        <p:nvPicPr>
          <p:cNvPr descr="preencoded.png" id="359" name="Google Shape;359;p14"/>
          <p:cNvPicPr preferRelativeResize="0"/>
          <p:nvPr/>
        </p:nvPicPr>
        <p:blipFill rotWithShape="1">
          <a:blip r:embed="rId4">
            <a:alphaModFix/>
          </a:blip>
          <a:srcRect b="0" l="0" r="0" t="0"/>
          <a:stretch/>
        </p:blipFill>
        <p:spPr>
          <a:xfrm>
            <a:off x="3282696" y="1115568"/>
            <a:ext cx="438912" cy="438912"/>
          </a:xfrm>
          <a:prstGeom prst="rect">
            <a:avLst/>
          </a:prstGeom>
          <a:noFill/>
          <a:ln>
            <a:noFill/>
          </a:ln>
        </p:spPr>
      </p:pic>
      <p:sp>
        <p:nvSpPr>
          <p:cNvPr id="360" name="Google Shape;360;p14"/>
          <p:cNvSpPr/>
          <p:nvPr/>
        </p:nvSpPr>
        <p:spPr>
          <a:xfrm>
            <a:off x="2642616"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Candidate pitches</a:t>
            </a:r>
            <a:endParaRPr b="0" i="0" sz="1300" u="none" cap="none" strike="noStrike">
              <a:solidFill>
                <a:schemeClr val="dk1"/>
              </a:solidFill>
              <a:latin typeface="Calibri"/>
              <a:ea typeface="Calibri"/>
              <a:cs typeface="Calibri"/>
              <a:sym typeface="Calibri"/>
            </a:endParaRPr>
          </a:p>
        </p:txBody>
      </p:sp>
      <p:sp>
        <p:nvSpPr>
          <p:cNvPr id="361" name="Google Shape;361;p14"/>
          <p:cNvSpPr/>
          <p:nvPr/>
        </p:nvSpPr>
        <p:spPr>
          <a:xfrm>
            <a:off x="2642616"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Each nominee takes 1 minute. Say what you'd actually do — be specific. “I'd get the kit booking system published so we know what's free.” Tutor keeps time.</a:t>
            </a:r>
            <a:endParaRPr b="0" i="0" sz="1050" u="none" cap="none" strike="noStrike">
              <a:solidFill>
                <a:schemeClr val="dk1"/>
              </a:solidFill>
              <a:latin typeface="Calibri"/>
              <a:ea typeface="Calibri"/>
              <a:cs typeface="Calibri"/>
              <a:sym typeface="Calibri"/>
            </a:endParaRPr>
          </a:p>
        </p:txBody>
      </p:sp>
      <p:sp>
        <p:nvSpPr>
          <p:cNvPr id="362" name="Google Shape;362;p14"/>
          <p:cNvSpPr/>
          <p:nvPr/>
        </p:nvSpPr>
        <p:spPr>
          <a:xfrm>
            <a:off x="4654296" y="987552"/>
            <a:ext cx="1965960" cy="3246120"/>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63" name="Google Shape;363;p14"/>
          <p:cNvCxnSpPr/>
          <p:nvPr/>
        </p:nvCxnSpPr>
        <p:spPr>
          <a:xfrm>
            <a:off x="4764024"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64" name="Google Shape;364;p14"/>
          <p:cNvSpPr/>
          <p:nvPr/>
        </p:nvSpPr>
        <p:spPr>
          <a:xfrm>
            <a:off x="4764024"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pic>
        <p:nvPicPr>
          <p:cNvPr descr="preencoded.png" id="365" name="Google Shape;365;p14"/>
          <p:cNvPicPr preferRelativeResize="0"/>
          <p:nvPr/>
        </p:nvPicPr>
        <p:blipFill rotWithShape="1">
          <a:blip r:embed="rId5">
            <a:alphaModFix/>
          </a:blip>
          <a:srcRect b="0" l="0" r="0" t="0"/>
          <a:stretch/>
        </p:blipFill>
        <p:spPr>
          <a:xfrm>
            <a:off x="5404104" y="1115568"/>
            <a:ext cx="438912" cy="438912"/>
          </a:xfrm>
          <a:prstGeom prst="rect">
            <a:avLst/>
          </a:prstGeom>
          <a:noFill/>
          <a:ln>
            <a:noFill/>
          </a:ln>
        </p:spPr>
      </p:pic>
      <p:sp>
        <p:nvSpPr>
          <p:cNvPr id="366" name="Google Shape;366;p14"/>
          <p:cNvSpPr/>
          <p:nvPr/>
        </p:nvSpPr>
        <p:spPr>
          <a:xfrm>
            <a:off x="4764024"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The vote</a:t>
            </a:r>
            <a:endParaRPr b="0" i="0" sz="1300" u="none" cap="none" strike="noStrike">
              <a:solidFill>
                <a:schemeClr val="dk1"/>
              </a:solidFill>
              <a:latin typeface="Calibri"/>
              <a:ea typeface="Calibri"/>
              <a:cs typeface="Calibri"/>
              <a:sym typeface="Calibri"/>
            </a:endParaRPr>
          </a:p>
        </p:txBody>
      </p:sp>
      <p:sp>
        <p:nvSpPr>
          <p:cNvPr id="367" name="Google Shape;367;p14"/>
          <p:cNvSpPr/>
          <p:nvPr/>
        </p:nvSpPr>
        <p:spPr>
          <a:xfrm>
            <a:off x="4764024"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Group decides the fairest method. Tutor facilitates agreement then runs the vote. Slips work well when the group is split across placement days.</a:t>
            </a:r>
            <a:endParaRPr b="0" i="0" sz="1050" u="none" cap="none" strike="noStrike">
              <a:solidFill>
                <a:schemeClr val="dk1"/>
              </a:solidFill>
              <a:latin typeface="Calibri"/>
              <a:ea typeface="Calibri"/>
              <a:cs typeface="Calibri"/>
              <a:sym typeface="Calibri"/>
            </a:endParaRPr>
          </a:p>
        </p:txBody>
      </p:sp>
      <p:sp>
        <p:nvSpPr>
          <p:cNvPr id="368" name="Google Shape;368;p14"/>
          <p:cNvSpPr/>
          <p:nvPr/>
        </p:nvSpPr>
        <p:spPr>
          <a:xfrm>
            <a:off x="6775704" y="987552"/>
            <a:ext cx="1965960" cy="3246120"/>
          </a:xfrm>
          <a:prstGeom prst="rect">
            <a:avLst/>
          </a:prstGeom>
          <a:solidFill>
            <a:srgbClr val="FFFFFF"/>
          </a:solidFill>
          <a:ln cap="flat" cmpd="sng" w="25400">
            <a:solidFill>
              <a:srgbClr val="0F7A54"/>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69" name="Google Shape;369;p14"/>
          <p:cNvCxnSpPr/>
          <p:nvPr/>
        </p:nvCxnSpPr>
        <p:spPr>
          <a:xfrm>
            <a:off x="6885432"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70" name="Google Shape;370;p14"/>
          <p:cNvSpPr/>
          <p:nvPr/>
        </p:nvSpPr>
        <p:spPr>
          <a:xfrm>
            <a:off x="6885432"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4</a:t>
            </a:r>
            <a:endParaRPr b="0" i="0" sz="1400" u="none" cap="none" strike="noStrike">
              <a:solidFill>
                <a:schemeClr val="dk1"/>
              </a:solidFill>
              <a:latin typeface="Calibri"/>
              <a:ea typeface="Calibri"/>
              <a:cs typeface="Calibri"/>
              <a:sym typeface="Calibri"/>
            </a:endParaRPr>
          </a:p>
        </p:txBody>
      </p:sp>
      <p:pic>
        <p:nvPicPr>
          <p:cNvPr descr="preencoded.png" id="371" name="Google Shape;371;p14"/>
          <p:cNvPicPr preferRelativeResize="0"/>
          <p:nvPr/>
        </p:nvPicPr>
        <p:blipFill rotWithShape="1">
          <a:blip r:embed="rId6">
            <a:alphaModFix/>
          </a:blip>
          <a:srcRect b="0" l="0" r="0" t="0"/>
          <a:stretch/>
        </p:blipFill>
        <p:spPr>
          <a:xfrm>
            <a:off x="7525512" y="1115568"/>
            <a:ext cx="438912" cy="438912"/>
          </a:xfrm>
          <a:prstGeom prst="rect">
            <a:avLst/>
          </a:prstGeom>
          <a:noFill/>
          <a:ln>
            <a:noFill/>
          </a:ln>
        </p:spPr>
      </p:pic>
      <p:sp>
        <p:nvSpPr>
          <p:cNvPr id="372" name="Google Shape;372;p14"/>
          <p:cNvSpPr/>
          <p:nvPr/>
        </p:nvSpPr>
        <p:spPr>
          <a:xfrm>
            <a:off x="6885432"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Confirm &amp; register</a:t>
            </a:r>
            <a:endParaRPr b="0" i="0" sz="1300" u="none" cap="none" strike="noStrike">
              <a:solidFill>
                <a:schemeClr val="dk1"/>
              </a:solidFill>
              <a:latin typeface="Calibri"/>
              <a:ea typeface="Calibri"/>
              <a:cs typeface="Calibri"/>
              <a:sym typeface="Calibri"/>
            </a:endParaRPr>
          </a:p>
        </p:txBody>
      </p:sp>
      <p:sp>
        <p:nvSpPr>
          <p:cNvPr id="373" name="Google Shape;373;p14"/>
          <p:cNvSpPr/>
          <p:nvPr/>
        </p:nvSpPr>
        <p:spPr>
          <a:xfrm>
            <a:off x="6885432"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Announce both results. Add the course rep and the English/maths rep to the central Student Rep Register before this session closes.</a:t>
            </a:r>
            <a:endParaRPr b="0" i="0" sz="1050" u="none" cap="none" strike="noStrike">
              <a:solidFill>
                <a:schemeClr val="dk1"/>
              </a:solidFill>
              <a:latin typeface="Calibri"/>
              <a:ea typeface="Calibri"/>
              <a:cs typeface="Calibri"/>
              <a:sym typeface="Calibri"/>
            </a:endParaRPr>
          </a:p>
        </p:txBody>
      </p:sp>
      <p:sp>
        <p:nvSpPr>
          <p:cNvPr id="374" name="Google Shape;374;p14"/>
          <p:cNvSpPr/>
          <p:nvPr/>
        </p:nvSpPr>
        <p:spPr>
          <a:xfrm>
            <a:off x="6885432" y="3547872"/>
            <a:ext cx="1755648" cy="47548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5" name="Google Shape;375;p14"/>
          <p:cNvSpPr/>
          <p:nvPr/>
        </p:nvSpPr>
        <p:spPr>
          <a:xfrm>
            <a:off x="6885432" y="3547872"/>
            <a:ext cx="175564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Must complete</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before session ends</a:t>
            </a:r>
            <a:endParaRPr b="0" i="0" sz="900" u="none" cap="none" strike="noStrike">
              <a:solidFill>
                <a:schemeClr val="dk1"/>
              </a:solidFill>
              <a:latin typeface="Calibri"/>
              <a:ea typeface="Calibri"/>
              <a:cs typeface="Calibri"/>
              <a:sym typeface="Calibri"/>
            </a:endParaRPr>
          </a:p>
        </p:txBody>
      </p:sp>
      <p:sp>
        <p:nvSpPr>
          <p:cNvPr id="376" name="Google Shape;376;p14"/>
          <p:cNvSpPr/>
          <p:nvPr/>
        </p:nvSpPr>
        <p:spPr>
          <a:xfrm>
            <a:off x="411480" y="4315968"/>
            <a:ext cx="8321040" cy="457200"/>
          </a:xfrm>
          <a:prstGeom prst="rect">
            <a:avLst/>
          </a:prstGeom>
          <a:solidFill>
            <a:srgbClr val="F8E7E3"/>
          </a:solidFill>
          <a:ln cap="flat" cmpd="sng" w="1905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7" name="Google Shape;377;p14"/>
          <p:cNvSpPr/>
          <p:nvPr/>
        </p:nvSpPr>
        <p:spPr>
          <a:xfrm>
            <a:off x="548640" y="4315968"/>
            <a:ext cx="8046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3A2E"/>
              </a:buClr>
              <a:buSzPts val="950"/>
              <a:buFont typeface="Arial"/>
              <a:buNone/>
            </a:pPr>
            <a:r>
              <a:rPr b="1" i="0" lang="en-US" sz="950" u="none" cap="none" strike="noStrike">
                <a:solidFill>
                  <a:srgbClr val="B23A2E"/>
                </a:solidFill>
                <a:latin typeface="Arial"/>
                <a:ea typeface="Arial"/>
                <a:cs typeface="Arial"/>
                <a:sym typeface="Arial"/>
              </a:rPr>
              <a:t>MANDATORY: Student Rep elections must be completed and the rep confirmed no later than the end of Week 2 of the academic year.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82" name="Shape 382"/>
        <p:cNvGrpSpPr/>
        <p:nvPr/>
      </p:nvGrpSpPr>
      <p:grpSpPr>
        <a:xfrm>
          <a:off x="0" y="0"/>
          <a:ext cx="0" cy="0"/>
          <a:chOff x="0" y="0"/>
          <a:chExt cx="0" cy="0"/>
        </a:xfrm>
      </p:grpSpPr>
      <p:sp>
        <p:nvSpPr>
          <p:cNvPr id="383" name="Google Shape;383;p15"/>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Before you go</a:t>
            </a:r>
            <a:endParaRPr b="0" i="0" sz="2200" u="none" cap="none" strike="noStrike">
              <a:solidFill>
                <a:schemeClr val="dk1"/>
              </a:solidFill>
              <a:latin typeface="Calibri"/>
              <a:ea typeface="Calibri"/>
              <a:cs typeface="Calibri"/>
              <a:sym typeface="Calibri"/>
            </a:endParaRPr>
          </a:p>
        </p:txBody>
      </p:sp>
      <p:sp>
        <p:nvSpPr>
          <p:cNvPr id="384" name="Google Shape;384;p15"/>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One thing to take from today</a:t>
            </a:r>
            <a:endParaRPr b="0" i="0" sz="1100" u="none" cap="none" strike="noStrike">
              <a:solidFill>
                <a:schemeClr val="dk1"/>
              </a:solidFill>
              <a:latin typeface="Calibri"/>
              <a:ea typeface="Calibri"/>
              <a:cs typeface="Calibri"/>
              <a:sym typeface="Calibri"/>
            </a:endParaRPr>
          </a:p>
        </p:txBody>
      </p:sp>
      <p:sp>
        <p:nvSpPr>
          <p:cNvPr id="385" name="Google Shape;385;p15"/>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15"/>
          <p:cNvSpPr/>
          <p:nvPr/>
        </p:nvSpPr>
        <p:spPr>
          <a:xfrm>
            <a:off x="7498080" y="109728"/>
            <a:ext cx="1508760" cy="292608"/>
          </a:xfrm>
          <a:prstGeom prst="rect">
            <a:avLst/>
          </a:prstGeom>
          <a:solidFill>
            <a:srgbClr val="FFCF01"/>
          </a:solidFill>
          <a:ln cap="flat" cmpd="sng" w="12700">
            <a:solidFill>
              <a:srgbClr val="FFCF0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7" name="Google Shape;387;p15"/>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2A30"/>
              </a:buClr>
              <a:buSzPts val="750"/>
              <a:buFont typeface="Arial"/>
              <a:buNone/>
            </a:pPr>
            <a:r>
              <a:rPr b="1" i="0" lang="en-US" sz="750" u="none" cap="none" strike="noStrike">
                <a:solidFill>
                  <a:srgbClr val="1B2A30"/>
                </a:solidFill>
                <a:latin typeface="Arial"/>
                <a:ea typeface="Arial"/>
                <a:cs typeface="Arial"/>
                <a:sym typeface="Arial"/>
              </a:rPr>
              <a:t>ACTIVITY</a:t>
            </a:r>
            <a:endParaRPr b="0" i="0" sz="750" u="none" cap="none" strike="noStrike">
              <a:solidFill>
                <a:schemeClr val="dk1"/>
              </a:solidFill>
              <a:latin typeface="Calibri"/>
              <a:ea typeface="Calibri"/>
              <a:cs typeface="Calibri"/>
              <a:sym typeface="Calibri"/>
            </a:endParaRPr>
          </a:p>
        </p:txBody>
      </p:sp>
      <p:sp>
        <p:nvSpPr>
          <p:cNvPr id="388" name="Google Shape;388;p15"/>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L3 &amp; T Level Digital, Media, Film and Computing</a:t>
            </a:r>
            <a:endParaRPr b="0" i="0" sz="800" u="none" cap="none" strike="noStrike">
              <a:solidFill>
                <a:schemeClr val="dk1"/>
              </a:solidFill>
              <a:latin typeface="Calibri"/>
              <a:ea typeface="Calibri"/>
              <a:cs typeface="Calibri"/>
              <a:sym typeface="Calibri"/>
            </a:endParaRPr>
          </a:p>
        </p:txBody>
      </p:sp>
      <p:sp>
        <p:nvSpPr>
          <p:cNvPr id="389" name="Google Shape;389;p15"/>
          <p:cNvSpPr/>
          <p:nvPr/>
        </p:nvSpPr>
        <p:spPr>
          <a:xfrm>
            <a:off x="411480" y="932688"/>
            <a:ext cx="83210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50"/>
              <a:buFont typeface="Arial"/>
              <a:buNone/>
            </a:pPr>
            <a:r>
              <a:rPr b="0" i="0" lang="en-US" sz="1150" u="none" cap="none" strike="noStrike">
                <a:solidFill>
                  <a:srgbClr val="5A6A6F"/>
                </a:solidFill>
                <a:latin typeface="Arial"/>
                <a:ea typeface="Arial"/>
                <a:cs typeface="Arial"/>
                <a:sym typeface="Arial"/>
              </a:rPr>
              <a:t>Choose one — write it down, or tell the person next to you:</a:t>
            </a:r>
            <a:endParaRPr b="0" i="0" sz="1150" u="none" cap="none" strike="noStrike">
              <a:solidFill>
                <a:schemeClr val="dk1"/>
              </a:solidFill>
              <a:latin typeface="Calibri"/>
              <a:ea typeface="Calibri"/>
              <a:cs typeface="Calibri"/>
              <a:sym typeface="Calibri"/>
            </a:endParaRPr>
          </a:p>
        </p:txBody>
      </p:sp>
      <p:sp>
        <p:nvSpPr>
          <p:cNvPr id="390" name="Google Shape;390;p15"/>
          <p:cNvSpPr/>
          <p:nvPr/>
        </p:nvSpPr>
        <p:spPr>
          <a:xfrm>
            <a:off x="411480" y="1298448"/>
            <a:ext cx="4069080" cy="1572768"/>
          </a:xfrm>
          <a:prstGeom prst="rect">
            <a:avLst/>
          </a:prstGeom>
          <a:solidFill>
            <a:srgbClr val="0F7A54"/>
          </a:solidFill>
          <a:ln cap="flat" cmpd="sng" w="12700">
            <a:solidFill>
              <a:srgbClr val="0F7A54"/>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91" name="Google Shape;391;p15"/>
          <p:cNvCxnSpPr/>
          <p:nvPr/>
        </p:nvCxnSpPr>
        <p:spPr>
          <a:xfrm>
            <a:off x="548640" y="1435608"/>
            <a:ext cx="384048" cy="384048"/>
          </a:xfrm>
          <a:prstGeom prst="straightConnector1">
            <a:avLst/>
          </a:prstGeom>
          <a:solidFill>
            <a:srgbClr val="FFFFFF"/>
          </a:solidFill>
          <a:ln cap="flat" cmpd="sng" w="12700">
            <a:solidFill>
              <a:srgbClr val="FFFFFF"/>
            </a:solidFill>
            <a:prstDash val="solid"/>
            <a:round/>
            <a:headEnd len="sm" w="sm" type="none"/>
            <a:tailEnd len="sm" w="sm" type="none"/>
          </a:ln>
        </p:spPr>
      </p:cxnSp>
      <p:sp>
        <p:nvSpPr>
          <p:cNvPr id="392" name="Google Shape;392;p15"/>
          <p:cNvSpPr/>
          <p:nvPr/>
        </p:nvSpPr>
        <p:spPr>
          <a:xfrm>
            <a:off x="548640" y="1435608"/>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1</a:t>
            </a:r>
            <a:endParaRPr b="0" i="0" sz="1200" u="none" cap="none" strike="noStrike">
              <a:solidFill>
                <a:schemeClr val="dk1"/>
              </a:solidFill>
              <a:latin typeface="Calibri"/>
              <a:ea typeface="Calibri"/>
              <a:cs typeface="Calibri"/>
              <a:sym typeface="Calibri"/>
            </a:endParaRPr>
          </a:p>
        </p:txBody>
      </p:sp>
      <p:sp>
        <p:nvSpPr>
          <p:cNvPr id="393" name="Google Shape;393;p15"/>
          <p:cNvSpPr/>
          <p:nvPr/>
        </p:nvSpPr>
        <p:spPr>
          <a:xfrm>
            <a:off x="1051560" y="1435608"/>
            <a:ext cx="32918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50"/>
              <a:buFont typeface="Arial"/>
              <a:buNone/>
            </a:pPr>
            <a:r>
              <a:rPr b="1" i="0" lang="en-US" sz="1250" u="none" cap="none" strike="noStrike">
                <a:solidFill>
                  <a:srgbClr val="FFFFFF"/>
                </a:solidFill>
                <a:latin typeface="Arial"/>
                <a:ea typeface="Arial"/>
                <a:cs typeface="Arial"/>
                <a:sym typeface="Arial"/>
              </a:rPr>
              <a:t>I'll use my vote</a:t>
            </a:r>
            <a:endParaRPr b="0" i="0" sz="1250" u="none" cap="none" strike="noStrike">
              <a:solidFill>
                <a:schemeClr val="dk1"/>
              </a:solidFill>
              <a:latin typeface="Calibri"/>
              <a:ea typeface="Calibri"/>
              <a:cs typeface="Calibri"/>
              <a:sym typeface="Calibri"/>
            </a:endParaRPr>
          </a:p>
        </p:txBody>
      </p:sp>
      <p:sp>
        <p:nvSpPr>
          <p:cNvPr id="394" name="Google Shape;394;p15"/>
          <p:cNvSpPr/>
          <p:nvPr/>
        </p:nvSpPr>
        <p:spPr>
          <a:xfrm>
            <a:off x="548640" y="1920240"/>
            <a:ext cx="379476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I'll vote in any college elections or surveys this year — and I'll actually think about who or what I'm voting for. Like which brief or live project the group takes on.</a:t>
            </a:r>
            <a:endParaRPr b="0" i="0" sz="1050" u="none" cap="none" strike="noStrike">
              <a:solidFill>
                <a:schemeClr val="dk1"/>
              </a:solidFill>
              <a:latin typeface="Calibri"/>
              <a:ea typeface="Calibri"/>
              <a:cs typeface="Calibri"/>
              <a:sym typeface="Calibri"/>
            </a:endParaRPr>
          </a:p>
        </p:txBody>
      </p:sp>
      <p:sp>
        <p:nvSpPr>
          <p:cNvPr id="395" name="Google Shape;395;p15"/>
          <p:cNvSpPr/>
          <p:nvPr/>
        </p:nvSpPr>
        <p:spPr>
          <a:xfrm>
            <a:off x="4663440" y="1298448"/>
            <a:ext cx="4069080" cy="1572768"/>
          </a:xfrm>
          <a:prstGeom prst="rect">
            <a:avLst/>
          </a:prstGeom>
          <a:solidFill>
            <a:srgbClr val="0D2434"/>
          </a:solidFill>
          <a:ln cap="flat" cmpd="sng" w="12700">
            <a:solidFill>
              <a:srgbClr val="0D2434"/>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96" name="Google Shape;396;p15"/>
          <p:cNvCxnSpPr/>
          <p:nvPr/>
        </p:nvCxnSpPr>
        <p:spPr>
          <a:xfrm>
            <a:off x="4800600" y="1435608"/>
            <a:ext cx="384048" cy="384048"/>
          </a:xfrm>
          <a:prstGeom prst="straightConnector1">
            <a:avLst/>
          </a:prstGeom>
          <a:solidFill>
            <a:srgbClr val="FFFFFF"/>
          </a:solidFill>
          <a:ln cap="flat" cmpd="sng" w="12700">
            <a:solidFill>
              <a:srgbClr val="FFFFFF"/>
            </a:solidFill>
            <a:prstDash val="solid"/>
            <a:round/>
            <a:headEnd len="sm" w="sm" type="none"/>
            <a:tailEnd len="sm" w="sm" type="none"/>
          </a:ln>
        </p:spPr>
      </p:cxnSp>
      <p:sp>
        <p:nvSpPr>
          <p:cNvPr id="397" name="Google Shape;397;p15"/>
          <p:cNvSpPr/>
          <p:nvPr/>
        </p:nvSpPr>
        <p:spPr>
          <a:xfrm>
            <a:off x="4800600" y="1435608"/>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2</a:t>
            </a:r>
            <a:endParaRPr b="0" i="0" sz="1200" u="none" cap="none" strike="noStrike">
              <a:solidFill>
                <a:schemeClr val="dk1"/>
              </a:solidFill>
              <a:latin typeface="Calibri"/>
              <a:ea typeface="Calibri"/>
              <a:cs typeface="Calibri"/>
              <a:sym typeface="Calibri"/>
            </a:endParaRPr>
          </a:p>
        </p:txBody>
      </p:sp>
      <p:sp>
        <p:nvSpPr>
          <p:cNvPr id="398" name="Google Shape;398;p15"/>
          <p:cNvSpPr/>
          <p:nvPr/>
        </p:nvSpPr>
        <p:spPr>
          <a:xfrm>
            <a:off x="5303520" y="1435608"/>
            <a:ext cx="32918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50"/>
              <a:buFont typeface="Arial"/>
              <a:buNone/>
            </a:pPr>
            <a:r>
              <a:rPr b="1" i="0" lang="en-US" sz="1250" u="none" cap="none" strike="noStrike">
                <a:solidFill>
                  <a:srgbClr val="FFFFFF"/>
                </a:solidFill>
                <a:latin typeface="Arial"/>
                <a:ea typeface="Arial"/>
                <a:cs typeface="Arial"/>
                <a:sym typeface="Arial"/>
              </a:rPr>
              <a:t>I'll brief my rep</a:t>
            </a:r>
            <a:endParaRPr b="0" i="0" sz="1250" u="none" cap="none" strike="noStrike">
              <a:solidFill>
                <a:schemeClr val="dk1"/>
              </a:solidFill>
              <a:latin typeface="Calibri"/>
              <a:ea typeface="Calibri"/>
              <a:cs typeface="Calibri"/>
              <a:sym typeface="Calibri"/>
            </a:endParaRPr>
          </a:p>
        </p:txBody>
      </p:sp>
      <p:sp>
        <p:nvSpPr>
          <p:cNvPr id="399" name="Google Shape;399;p15"/>
          <p:cNvSpPr/>
          <p:nvPr/>
        </p:nvSpPr>
        <p:spPr>
          <a:xfrm>
            <a:off x="4800600" y="1920240"/>
            <a:ext cx="379476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I'll tell my Student Rep something specific that needs fixing — like kit or a licence being unavailable when an assignment is due — and brief my English/maths rep on that class too.</a:t>
            </a:r>
            <a:endParaRPr b="0" i="0" sz="1050" u="none" cap="none" strike="noStrike">
              <a:solidFill>
                <a:schemeClr val="dk1"/>
              </a:solidFill>
              <a:latin typeface="Calibri"/>
              <a:ea typeface="Calibri"/>
              <a:cs typeface="Calibri"/>
              <a:sym typeface="Calibri"/>
            </a:endParaRPr>
          </a:p>
        </p:txBody>
      </p:sp>
      <p:sp>
        <p:nvSpPr>
          <p:cNvPr id="400" name="Google Shape;400;p15"/>
          <p:cNvSpPr/>
          <p:nvPr/>
        </p:nvSpPr>
        <p:spPr>
          <a:xfrm>
            <a:off x="411480" y="3017520"/>
            <a:ext cx="4069080" cy="1755648"/>
          </a:xfrm>
          <a:prstGeom prst="rect">
            <a:avLst/>
          </a:prstGeom>
          <a:solidFill>
            <a:srgbClr val="E8F4EF"/>
          </a:solidFill>
          <a:ln cap="flat" cmpd="sng" w="12700">
            <a:solidFill>
              <a:srgbClr val="E8F4EF"/>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01" name="Google Shape;401;p15"/>
          <p:cNvCxnSpPr/>
          <p:nvPr/>
        </p:nvCxnSpPr>
        <p:spPr>
          <a:xfrm>
            <a:off x="548640" y="3154680"/>
            <a:ext cx="384048" cy="38404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402" name="Google Shape;402;p15"/>
          <p:cNvSpPr/>
          <p:nvPr/>
        </p:nvSpPr>
        <p:spPr>
          <a:xfrm>
            <a:off x="548640" y="3154680"/>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3</a:t>
            </a:r>
            <a:endParaRPr b="0" i="0" sz="1200" u="none" cap="none" strike="noStrike">
              <a:solidFill>
                <a:schemeClr val="dk1"/>
              </a:solidFill>
              <a:latin typeface="Calibri"/>
              <a:ea typeface="Calibri"/>
              <a:cs typeface="Calibri"/>
              <a:sym typeface="Calibri"/>
            </a:endParaRPr>
          </a:p>
        </p:txBody>
      </p:sp>
      <p:sp>
        <p:nvSpPr>
          <p:cNvPr id="403" name="Google Shape;403;p15"/>
          <p:cNvSpPr/>
          <p:nvPr/>
        </p:nvSpPr>
        <p:spPr>
          <a:xfrm>
            <a:off x="1051560" y="3154680"/>
            <a:ext cx="32918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50"/>
              <a:buFont typeface="Arial"/>
              <a:buNone/>
            </a:pPr>
            <a:r>
              <a:rPr b="1" i="0" lang="en-US" sz="1250" u="none" cap="none" strike="noStrike">
                <a:solidFill>
                  <a:srgbClr val="0D2434"/>
                </a:solidFill>
                <a:latin typeface="Arial"/>
                <a:ea typeface="Arial"/>
                <a:cs typeface="Arial"/>
                <a:sym typeface="Arial"/>
              </a:rPr>
              <a:t>I'll use what I know</a:t>
            </a:r>
            <a:endParaRPr b="0" i="0" sz="1250" u="none" cap="none" strike="noStrike">
              <a:solidFill>
                <a:schemeClr val="dk1"/>
              </a:solidFill>
              <a:latin typeface="Calibri"/>
              <a:ea typeface="Calibri"/>
              <a:cs typeface="Calibri"/>
              <a:sym typeface="Calibri"/>
            </a:endParaRPr>
          </a:p>
        </p:txBody>
      </p:sp>
      <p:sp>
        <p:nvSpPr>
          <p:cNvPr id="404" name="Google Shape;404;p15"/>
          <p:cNvSpPr/>
          <p:nvPr/>
        </p:nvSpPr>
        <p:spPr>
          <a:xfrm>
            <a:off x="548640" y="3639312"/>
            <a:ext cx="3794760"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D2434"/>
              </a:buClr>
              <a:buSzPts val="1050"/>
              <a:buFont typeface="Arial"/>
              <a:buNone/>
            </a:pPr>
            <a:r>
              <a:rPr b="0" i="0" lang="en-US" sz="1050" u="none" cap="none" strike="noStrike">
                <a:solidFill>
                  <a:srgbClr val="0D2434"/>
                </a:solidFill>
                <a:latin typeface="Arial"/>
                <a:ea typeface="Arial"/>
                <a:cs typeface="Arial"/>
                <a:sym typeface="Arial"/>
              </a:rPr>
              <a:t>I'll stand, advise, or pass on what I know — to a rep, a first-year about to start their first shoot or placement, or through a Governor application by 16 October.</a:t>
            </a:r>
            <a:endParaRPr b="0" i="0" sz="1050" u="none" cap="none" strike="noStrike">
              <a:solidFill>
                <a:schemeClr val="dk1"/>
              </a:solidFill>
              <a:latin typeface="Calibri"/>
              <a:ea typeface="Calibri"/>
              <a:cs typeface="Calibri"/>
              <a:sym typeface="Calibri"/>
            </a:endParaRPr>
          </a:p>
        </p:txBody>
      </p:sp>
      <p:sp>
        <p:nvSpPr>
          <p:cNvPr id="405" name="Google Shape;405;p15"/>
          <p:cNvSpPr/>
          <p:nvPr/>
        </p:nvSpPr>
        <p:spPr>
          <a:xfrm>
            <a:off x="4663440" y="3017520"/>
            <a:ext cx="4069080" cy="1755648"/>
          </a:xfrm>
          <a:prstGeom prst="rect">
            <a:avLst/>
          </a:prstGeom>
          <a:solidFill>
            <a:srgbClr val="FFCF01"/>
          </a:solidFill>
          <a:ln cap="flat" cmpd="sng" w="25400">
            <a:solidFill>
              <a:srgbClr val="B23A2E"/>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06" name="Google Shape;406;p15"/>
          <p:cNvCxnSpPr/>
          <p:nvPr/>
        </p:nvCxnSpPr>
        <p:spPr>
          <a:xfrm>
            <a:off x="4800600" y="3154680"/>
            <a:ext cx="384048" cy="384048"/>
          </a:xfrm>
          <a:prstGeom prst="straightConnector1">
            <a:avLst/>
          </a:prstGeom>
          <a:solidFill>
            <a:srgbClr val="0D2434"/>
          </a:solidFill>
          <a:ln cap="flat" cmpd="sng" w="12700">
            <a:solidFill>
              <a:srgbClr val="0D2434"/>
            </a:solidFill>
            <a:prstDash val="solid"/>
            <a:round/>
            <a:headEnd len="sm" w="sm" type="none"/>
            <a:tailEnd len="sm" w="sm" type="none"/>
          </a:ln>
        </p:spPr>
      </p:cxnSp>
      <p:sp>
        <p:nvSpPr>
          <p:cNvPr id="407" name="Google Shape;407;p15"/>
          <p:cNvSpPr/>
          <p:nvPr/>
        </p:nvSpPr>
        <p:spPr>
          <a:xfrm>
            <a:off x="4800600" y="3154680"/>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4</a:t>
            </a:r>
            <a:endParaRPr b="0" i="0" sz="1200" u="none" cap="none" strike="noStrike">
              <a:solidFill>
                <a:schemeClr val="dk1"/>
              </a:solidFill>
              <a:latin typeface="Calibri"/>
              <a:ea typeface="Calibri"/>
              <a:cs typeface="Calibri"/>
              <a:sym typeface="Calibri"/>
            </a:endParaRPr>
          </a:p>
        </p:txBody>
      </p:sp>
      <p:sp>
        <p:nvSpPr>
          <p:cNvPr id="408" name="Google Shape;408;p15"/>
          <p:cNvSpPr/>
          <p:nvPr/>
        </p:nvSpPr>
        <p:spPr>
          <a:xfrm>
            <a:off x="5303520" y="3154680"/>
            <a:ext cx="32918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A30"/>
              </a:buClr>
              <a:buSzPts val="1250"/>
              <a:buFont typeface="Arial"/>
              <a:buNone/>
            </a:pPr>
            <a:r>
              <a:rPr b="1" i="0" lang="en-US" sz="1250" u="none" cap="none" strike="noStrike">
                <a:solidFill>
                  <a:srgbClr val="1B2A30"/>
                </a:solidFill>
                <a:latin typeface="Arial"/>
                <a:ea typeface="Arial"/>
                <a:cs typeface="Arial"/>
                <a:sym typeface="Arial"/>
              </a:rPr>
              <a:t>I'll tell someone about a barrier</a:t>
            </a:r>
            <a:endParaRPr b="0" i="0" sz="1250" u="none" cap="none" strike="noStrike">
              <a:solidFill>
                <a:schemeClr val="dk1"/>
              </a:solidFill>
              <a:latin typeface="Calibri"/>
              <a:ea typeface="Calibri"/>
              <a:cs typeface="Calibri"/>
              <a:sym typeface="Calibri"/>
            </a:endParaRPr>
          </a:p>
        </p:txBody>
      </p:sp>
      <p:sp>
        <p:nvSpPr>
          <p:cNvPr id="409" name="Google Shape;409;p15"/>
          <p:cNvSpPr/>
          <p:nvPr/>
        </p:nvSpPr>
        <p:spPr>
          <a:xfrm>
            <a:off x="4800600" y="3639312"/>
            <a:ext cx="3794760"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There's something affecting my experience here that I haven't said yet. I'll tell my course tutor, my placement tutor, my rep or my Student Enrichment Co-ordinator this week.</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414" name="Shape 414"/>
        <p:cNvGrpSpPr/>
        <p:nvPr/>
      </p:nvGrpSpPr>
      <p:grpSpPr>
        <a:xfrm>
          <a:off x="0" y="0"/>
          <a:ext cx="0" cy="0"/>
          <a:chOff x="0" y="0"/>
          <a:chExt cx="0" cy="0"/>
        </a:xfrm>
      </p:grpSpPr>
      <p:sp>
        <p:nvSpPr>
          <p:cNvPr id="415" name="Google Shape;415;p16"/>
          <p:cNvSpPr/>
          <p:nvPr/>
        </p:nvSpPr>
        <p:spPr>
          <a:xfrm>
            <a:off x="0" y="0"/>
            <a:ext cx="411480" cy="514350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6" name="Google Shape;416;p16"/>
          <p:cNvSpPr/>
          <p:nvPr/>
        </p:nvSpPr>
        <p:spPr>
          <a:xfrm>
            <a:off x="640080" y="228600"/>
            <a:ext cx="7772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2000"/>
              <a:buFont typeface="Arial"/>
              <a:buNone/>
            </a:pPr>
            <a:r>
              <a:rPr b="1" i="0" lang="en-US" sz="2000" u="none" cap="none" strike="noStrike">
                <a:solidFill>
                  <a:srgbClr val="FFCF01"/>
                </a:solidFill>
                <a:latin typeface="Arial"/>
                <a:ea typeface="Arial"/>
                <a:cs typeface="Arial"/>
                <a:sym typeface="Arial"/>
              </a:rPr>
              <a:t>Your Students' Voice team</a:t>
            </a:r>
            <a:endParaRPr b="0" i="0" sz="2000" u="none" cap="none" strike="noStrike">
              <a:solidFill>
                <a:schemeClr val="dk1"/>
              </a:solidFill>
              <a:latin typeface="Calibri"/>
              <a:ea typeface="Calibri"/>
              <a:cs typeface="Calibri"/>
              <a:sym typeface="Calibri"/>
            </a:endParaRPr>
          </a:p>
        </p:txBody>
      </p:sp>
      <p:sp>
        <p:nvSpPr>
          <p:cNvPr id="417" name="Google Shape;417;p16"/>
          <p:cNvSpPr/>
          <p:nvPr/>
        </p:nvSpPr>
        <p:spPr>
          <a:xfrm>
            <a:off x="640080" y="777240"/>
            <a:ext cx="3840480" cy="146304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418" name="Google Shape;418;p16"/>
          <p:cNvPicPr preferRelativeResize="0"/>
          <p:nvPr/>
        </p:nvPicPr>
        <p:blipFill rotWithShape="1">
          <a:blip r:embed="rId3">
            <a:alphaModFix/>
          </a:blip>
          <a:srcRect b="0" l="0" r="0" t="0"/>
          <a:stretch/>
        </p:blipFill>
        <p:spPr>
          <a:xfrm>
            <a:off x="804672" y="896112"/>
            <a:ext cx="384048" cy="384048"/>
          </a:xfrm>
          <a:prstGeom prst="rect">
            <a:avLst/>
          </a:prstGeom>
          <a:noFill/>
          <a:ln>
            <a:noFill/>
          </a:ln>
        </p:spPr>
      </p:pic>
      <p:sp>
        <p:nvSpPr>
          <p:cNvPr id="419" name="Google Shape;419;p16"/>
          <p:cNvSpPr/>
          <p:nvPr/>
        </p:nvSpPr>
        <p:spPr>
          <a:xfrm>
            <a:off x="1280160" y="868680"/>
            <a:ext cx="301752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Your Student Rep</a:t>
            </a:r>
            <a:endParaRPr b="0" i="0" sz="1300" u="none" cap="none" strike="noStrike">
              <a:solidFill>
                <a:schemeClr val="dk1"/>
              </a:solidFill>
              <a:latin typeface="Calibri"/>
              <a:ea typeface="Calibri"/>
              <a:cs typeface="Calibri"/>
              <a:sym typeface="Calibri"/>
            </a:endParaRPr>
          </a:p>
        </p:txBody>
      </p:sp>
      <p:sp>
        <p:nvSpPr>
          <p:cNvPr id="420" name="Google Shape;420;p16"/>
          <p:cNvSpPr/>
          <p:nvPr/>
        </p:nvSpPr>
        <p:spPr>
          <a:xfrm>
            <a:off x="804672" y="1298448"/>
            <a:ext cx="3520440" cy="960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Elected today — confirmed on the central register.</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They represent this group at Student Council.</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Your English/maths rep represents this group in that class.</a:t>
            </a:r>
            <a:endParaRPr b="0" i="0" sz="1000" u="none" cap="none" strike="noStrike">
              <a:solidFill>
                <a:schemeClr val="dk1"/>
              </a:solidFill>
              <a:latin typeface="Calibri"/>
              <a:ea typeface="Calibri"/>
              <a:cs typeface="Calibri"/>
              <a:sym typeface="Calibri"/>
            </a:endParaRPr>
          </a:p>
        </p:txBody>
      </p:sp>
      <p:sp>
        <p:nvSpPr>
          <p:cNvPr id="421" name="Google Shape;421;p16"/>
          <p:cNvSpPr/>
          <p:nvPr/>
        </p:nvSpPr>
        <p:spPr>
          <a:xfrm>
            <a:off x="4663440" y="777240"/>
            <a:ext cx="4069080" cy="1463040"/>
          </a:xfrm>
          <a:prstGeom prst="rect">
            <a:avLst/>
          </a:prstGeom>
          <a:solidFill>
            <a:srgbClr val="1A3A4A"/>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422" name="Google Shape;422;p16"/>
          <p:cNvPicPr preferRelativeResize="0"/>
          <p:nvPr/>
        </p:nvPicPr>
        <p:blipFill rotWithShape="1">
          <a:blip r:embed="rId4">
            <a:alphaModFix/>
          </a:blip>
          <a:srcRect b="0" l="0" r="0" t="0"/>
          <a:stretch/>
        </p:blipFill>
        <p:spPr>
          <a:xfrm>
            <a:off x="4828032" y="896112"/>
            <a:ext cx="384048" cy="384048"/>
          </a:xfrm>
          <a:prstGeom prst="rect">
            <a:avLst/>
          </a:prstGeom>
          <a:noFill/>
          <a:ln>
            <a:noFill/>
          </a:ln>
        </p:spPr>
      </p:pic>
      <p:sp>
        <p:nvSpPr>
          <p:cNvPr id="423" name="Google Shape;423;p16"/>
          <p:cNvSpPr/>
          <p:nvPr/>
        </p:nvSpPr>
        <p:spPr>
          <a:xfrm>
            <a:off x="5303520" y="868680"/>
            <a:ext cx="324612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200"/>
              <a:buFont typeface="Arial"/>
              <a:buNone/>
            </a:pPr>
            <a:r>
              <a:rPr b="1" i="0" lang="en-US" sz="1200" u="none" cap="none" strike="noStrike">
                <a:solidFill>
                  <a:srgbClr val="FFCF01"/>
                </a:solidFill>
                <a:latin typeface="Arial"/>
                <a:ea typeface="Arial"/>
                <a:cs typeface="Arial"/>
                <a:sym typeface="Arial"/>
              </a:rPr>
              <a:t>Student Enrichment Co-ordinators</a:t>
            </a:r>
            <a:endParaRPr b="0" i="0" sz="1200" u="none" cap="none" strike="noStrike">
              <a:solidFill>
                <a:schemeClr val="dk1"/>
              </a:solidFill>
              <a:latin typeface="Calibri"/>
              <a:ea typeface="Calibri"/>
              <a:cs typeface="Calibri"/>
              <a:sym typeface="Calibri"/>
            </a:endParaRPr>
          </a:p>
        </p:txBody>
      </p:sp>
      <p:sp>
        <p:nvSpPr>
          <p:cNvPr id="424" name="Google Shape;424;p16"/>
          <p:cNvSpPr/>
          <p:nvPr/>
        </p:nvSpPr>
        <p:spPr>
          <a:xfrm>
            <a:off x="4828032" y="1298448"/>
            <a:ext cx="3749040" cy="960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Eastbourne: Chelsey King</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Lewes: Tessa Echalaz</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Station Plaza &amp; Ore Valley: Paige Baker-Carroll</a:t>
            </a:r>
            <a:endParaRPr b="0" i="0" sz="1000" u="none" cap="none" strike="noStrike">
              <a:solidFill>
                <a:schemeClr val="dk1"/>
              </a:solidFill>
              <a:latin typeface="Calibri"/>
              <a:ea typeface="Calibri"/>
              <a:cs typeface="Calibri"/>
              <a:sym typeface="Calibri"/>
            </a:endParaRPr>
          </a:p>
        </p:txBody>
      </p:sp>
      <p:sp>
        <p:nvSpPr>
          <p:cNvPr id="425" name="Google Shape;425;p16"/>
          <p:cNvSpPr/>
          <p:nvPr/>
        </p:nvSpPr>
        <p:spPr>
          <a:xfrm>
            <a:off x="640080" y="2350008"/>
            <a:ext cx="8046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150"/>
              <a:buFont typeface="Arial"/>
              <a:buNone/>
            </a:pPr>
            <a:r>
              <a:rPr b="1" i="0" lang="en-US" sz="1150" u="none" cap="none" strike="noStrike">
                <a:solidFill>
                  <a:srgbClr val="FFCF01"/>
                </a:solidFill>
                <a:latin typeface="Arial"/>
                <a:ea typeface="Arial"/>
                <a:cs typeface="Arial"/>
                <a:sym typeface="Arial"/>
              </a:rPr>
              <a:t>Your first Student Council meeting:</a:t>
            </a:r>
            <a:endParaRPr b="0" i="0" sz="1150" u="none" cap="none" strike="noStrike">
              <a:solidFill>
                <a:schemeClr val="dk1"/>
              </a:solidFill>
              <a:latin typeface="Calibri"/>
              <a:ea typeface="Calibri"/>
              <a:cs typeface="Calibri"/>
              <a:sym typeface="Calibri"/>
            </a:endParaRPr>
          </a:p>
        </p:txBody>
      </p:sp>
      <p:sp>
        <p:nvSpPr>
          <p:cNvPr id="426" name="Google Shape;426;p16"/>
          <p:cNvSpPr/>
          <p:nvPr/>
        </p:nvSpPr>
        <p:spPr>
          <a:xfrm>
            <a:off x="640080" y="2770632"/>
            <a:ext cx="2011680" cy="74980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16"/>
          <p:cNvSpPr/>
          <p:nvPr/>
        </p:nvSpPr>
        <p:spPr>
          <a:xfrm>
            <a:off x="640080" y="2798064"/>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Eastbourne</a:t>
            </a:r>
            <a:endParaRPr b="0" i="0" sz="950" u="none" cap="none" strike="noStrike">
              <a:solidFill>
                <a:schemeClr val="dk1"/>
              </a:solidFill>
              <a:latin typeface="Calibri"/>
              <a:ea typeface="Calibri"/>
              <a:cs typeface="Calibri"/>
              <a:sym typeface="Calibri"/>
            </a:endParaRPr>
          </a:p>
        </p:txBody>
      </p:sp>
      <p:sp>
        <p:nvSpPr>
          <p:cNvPr id="428" name="Google Shape;428;p16"/>
          <p:cNvSpPr/>
          <p:nvPr/>
        </p:nvSpPr>
        <p:spPr>
          <a:xfrm>
            <a:off x="640080" y="3090672"/>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F01"/>
              </a:buClr>
              <a:buSzPts val="1000"/>
              <a:buFont typeface="Arial"/>
              <a:buNone/>
            </a:pPr>
            <a:r>
              <a:rPr b="0" i="0" lang="en-US" sz="1000" u="none" cap="none" strike="noStrike">
                <a:solidFill>
                  <a:srgbClr val="FFCF01"/>
                </a:solidFill>
                <a:latin typeface="Arial"/>
                <a:ea typeface="Arial"/>
                <a:cs typeface="Arial"/>
                <a:sym typeface="Arial"/>
              </a:rPr>
              <a:t>Wed 11 Nov 2026</a:t>
            </a:r>
            <a:endParaRPr b="0" i="0" sz="1000" u="none" cap="none" strike="noStrike">
              <a:solidFill>
                <a:schemeClr val="dk1"/>
              </a:solidFill>
              <a:latin typeface="Calibri"/>
              <a:ea typeface="Calibri"/>
              <a:cs typeface="Calibri"/>
              <a:sym typeface="Calibri"/>
            </a:endParaRPr>
          </a:p>
        </p:txBody>
      </p:sp>
      <p:sp>
        <p:nvSpPr>
          <p:cNvPr id="429" name="Google Shape;429;p16"/>
          <p:cNvSpPr/>
          <p:nvPr/>
        </p:nvSpPr>
        <p:spPr>
          <a:xfrm>
            <a:off x="2788920" y="2770632"/>
            <a:ext cx="2011680" cy="74980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16"/>
          <p:cNvSpPr/>
          <p:nvPr/>
        </p:nvSpPr>
        <p:spPr>
          <a:xfrm>
            <a:off x="2788920" y="2798064"/>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Lewes</a:t>
            </a:r>
            <a:endParaRPr b="0" i="0" sz="950" u="none" cap="none" strike="noStrike">
              <a:solidFill>
                <a:schemeClr val="dk1"/>
              </a:solidFill>
              <a:latin typeface="Calibri"/>
              <a:ea typeface="Calibri"/>
              <a:cs typeface="Calibri"/>
              <a:sym typeface="Calibri"/>
            </a:endParaRPr>
          </a:p>
        </p:txBody>
      </p:sp>
      <p:sp>
        <p:nvSpPr>
          <p:cNvPr id="431" name="Google Shape;431;p16"/>
          <p:cNvSpPr/>
          <p:nvPr/>
        </p:nvSpPr>
        <p:spPr>
          <a:xfrm>
            <a:off x="2788920" y="3090672"/>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F01"/>
              </a:buClr>
              <a:buSzPts val="1000"/>
              <a:buFont typeface="Arial"/>
              <a:buNone/>
            </a:pPr>
            <a:r>
              <a:rPr b="0" i="0" lang="en-US" sz="1000" u="none" cap="none" strike="noStrike">
                <a:solidFill>
                  <a:srgbClr val="FFCF01"/>
                </a:solidFill>
                <a:latin typeface="Arial"/>
                <a:ea typeface="Arial"/>
                <a:cs typeface="Arial"/>
                <a:sym typeface="Arial"/>
              </a:rPr>
              <a:t>Tue 10 Nov 2026</a:t>
            </a:r>
            <a:endParaRPr b="0" i="0" sz="1000" u="none" cap="none" strike="noStrike">
              <a:solidFill>
                <a:schemeClr val="dk1"/>
              </a:solidFill>
              <a:latin typeface="Calibri"/>
              <a:ea typeface="Calibri"/>
              <a:cs typeface="Calibri"/>
              <a:sym typeface="Calibri"/>
            </a:endParaRPr>
          </a:p>
        </p:txBody>
      </p:sp>
      <p:sp>
        <p:nvSpPr>
          <p:cNvPr id="432" name="Google Shape;432;p16"/>
          <p:cNvSpPr/>
          <p:nvPr/>
        </p:nvSpPr>
        <p:spPr>
          <a:xfrm>
            <a:off x="4937760" y="2770632"/>
            <a:ext cx="2011680" cy="74980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3" name="Google Shape;433;p16"/>
          <p:cNvSpPr/>
          <p:nvPr/>
        </p:nvSpPr>
        <p:spPr>
          <a:xfrm>
            <a:off x="4937760" y="2798064"/>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Station Plaza</a:t>
            </a:r>
            <a:endParaRPr b="0" i="0" sz="950" u="none" cap="none" strike="noStrike">
              <a:solidFill>
                <a:schemeClr val="dk1"/>
              </a:solidFill>
              <a:latin typeface="Calibri"/>
              <a:ea typeface="Calibri"/>
              <a:cs typeface="Calibri"/>
              <a:sym typeface="Calibri"/>
            </a:endParaRPr>
          </a:p>
        </p:txBody>
      </p:sp>
      <p:sp>
        <p:nvSpPr>
          <p:cNvPr id="434" name="Google Shape;434;p16"/>
          <p:cNvSpPr/>
          <p:nvPr/>
        </p:nvSpPr>
        <p:spPr>
          <a:xfrm>
            <a:off x="4937760" y="3090672"/>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F01"/>
              </a:buClr>
              <a:buSzPts val="1000"/>
              <a:buFont typeface="Arial"/>
              <a:buNone/>
            </a:pPr>
            <a:r>
              <a:rPr b="0" i="0" lang="en-US" sz="1000" u="none" cap="none" strike="noStrike">
                <a:solidFill>
                  <a:srgbClr val="FFCF01"/>
                </a:solidFill>
                <a:latin typeface="Arial"/>
                <a:ea typeface="Arial"/>
                <a:cs typeface="Arial"/>
                <a:sym typeface="Arial"/>
              </a:rPr>
              <a:t>Thu 12 Nov 2026</a:t>
            </a:r>
            <a:endParaRPr b="0" i="0" sz="1000" u="none" cap="none" strike="noStrike">
              <a:solidFill>
                <a:schemeClr val="dk1"/>
              </a:solidFill>
              <a:latin typeface="Calibri"/>
              <a:ea typeface="Calibri"/>
              <a:cs typeface="Calibri"/>
              <a:sym typeface="Calibri"/>
            </a:endParaRPr>
          </a:p>
        </p:txBody>
      </p:sp>
      <p:sp>
        <p:nvSpPr>
          <p:cNvPr id="435" name="Google Shape;435;p16"/>
          <p:cNvSpPr/>
          <p:nvPr/>
        </p:nvSpPr>
        <p:spPr>
          <a:xfrm>
            <a:off x="7086600" y="2770632"/>
            <a:ext cx="2011680" cy="74980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6" name="Google Shape;436;p16"/>
          <p:cNvSpPr/>
          <p:nvPr/>
        </p:nvSpPr>
        <p:spPr>
          <a:xfrm>
            <a:off x="7086600" y="2798064"/>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Ore Valley &amp; ATIC</a:t>
            </a:r>
            <a:endParaRPr b="0" i="0" sz="950" u="none" cap="none" strike="noStrike">
              <a:solidFill>
                <a:schemeClr val="dk1"/>
              </a:solidFill>
              <a:latin typeface="Calibri"/>
              <a:ea typeface="Calibri"/>
              <a:cs typeface="Calibri"/>
              <a:sym typeface="Calibri"/>
            </a:endParaRPr>
          </a:p>
        </p:txBody>
      </p:sp>
      <p:sp>
        <p:nvSpPr>
          <p:cNvPr id="437" name="Google Shape;437;p16"/>
          <p:cNvSpPr/>
          <p:nvPr/>
        </p:nvSpPr>
        <p:spPr>
          <a:xfrm>
            <a:off x="7086600" y="3090672"/>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F01"/>
              </a:buClr>
              <a:buSzPts val="1000"/>
              <a:buFont typeface="Arial"/>
              <a:buNone/>
            </a:pPr>
            <a:r>
              <a:rPr b="0" i="0" lang="en-US" sz="1000" u="none" cap="none" strike="noStrike">
                <a:solidFill>
                  <a:srgbClr val="FFCF01"/>
                </a:solidFill>
                <a:latin typeface="Arial"/>
                <a:ea typeface="Arial"/>
                <a:cs typeface="Arial"/>
                <a:sym typeface="Arial"/>
              </a:rPr>
              <a:t>Tue 10 Nov 2026</a:t>
            </a:r>
            <a:endParaRPr b="0" i="0" sz="1000" u="none" cap="none" strike="noStrike">
              <a:solidFill>
                <a:schemeClr val="dk1"/>
              </a:solidFill>
              <a:latin typeface="Calibri"/>
              <a:ea typeface="Calibri"/>
              <a:cs typeface="Calibri"/>
              <a:sym typeface="Calibri"/>
            </a:endParaRPr>
          </a:p>
        </p:txBody>
      </p:sp>
      <p:sp>
        <p:nvSpPr>
          <p:cNvPr id="438" name="Google Shape;438;p16"/>
          <p:cNvSpPr/>
          <p:nvPr/>
        </p:nvSpPr>
        <p:spPr>
          <a:xfrm>
            <a:off x="640080" y="3657600"/>
            <a:ext cx="80467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050"/>
              <a:buFont typeface="Arial"/>
              <a:buNone/>
            </a:pPr>
            <a:r>
              <a:rPr b="1" i="0" lang="en-US" sz="1050" u="none" cap="none" strike="noStrike">
                <a:solidFill>
                  <a:srgbClr val="FFCF01"/>
                </a:solidFill>
                <a:latin typeface="Arial"/>
                <a:ea typeface="Arial"/>
                <a:cs typeface="Arial"/>
                <a:sym typeface="Arial"/>
              </a:rPr>
              <a:t>Next steps:</a:t>
            </a:r>
            <a:endParaRPr b="0" i="0" sz="1050" u="none" cap="none" strike="noStrike">
              <a:solidFill>
                <a:schemeClr val="dk1"/>
              </a:solidFill>
              <a:latin typeface="Calibri"/>
              <a:ea typeface="Calibri"/>
              <a:cs typeface="Calibri"/>
              <a:sym typeface="Calibri"/>
            </a:endParaRPr>
          </a:p>
        </p:txBody>
      </p:sp>
      <p:sp>
        <p:nvSpPr>
          <p:cNvPr id="439" name="Google Shape;439;p16"/>
          <p:cNvSpPr/>
          <p:nvPr/>
        </p:nvSpPr>
        <p:spPr>
          <a:xfrm>
            <a:off x="640080" y="3931920"/>
            <a:ext cx="8046720" cy="10972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D2DBDA"/>
              </a:buClr>
              <a:buSzPts val="950"/>
              <a:buFont typeface="Arial"/>
              <a:buChar char="•"/>
            </a:pPr>
            <a:r>
              <a:rPr b="0" i="0" lang="en-US" sz="950" u="none" cap="none" strike="noStrike">
                <a:solidFill>
                  <a:srgbClr val="D2DBDA"/>
                </a:solidFill>
                <a:latin typeface="Arial"/>
                <a:ea typeface="Arial"/>
                <a:cs typeface="Arial"/>
                <a:sym typeface="Arial"/>
              </a:rPr>
              <a:t>Rep training: Wednesday 14 October — newly elected reps must attend (all campuses)</a:t>
            </a:r>
            <a:endParaRPr b="0" i="0" sz="95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D2DBDA"/>
              </a:buClr>
              <a:buSzPts val="950"/>
              <a:buFont typeface="Arial"/>
              <a:buChar char="•"/>
            </a:pPr>
            <a:r>
              <a:rPr b="0" i="0" lang="en-US" sz="950" u="none" cap="none" strike="noStrike">
                <a:solidFill>
                  <a:srgbClr val="D2DBDA"/>
                </a:solidFill>
                <a:latin typeface="Arial"/>
                <a:ea typeface="Arial"/>
                <a:cs typeface="Arial"/>
                <a:sym typeface="Arial"/>
              </a:rPr>
              <a:t>Induction Survey opens: Monday 3 November — three minutes, worth doing</a:t>
            </a:r>
            <a:endParaRPr b="0" i="0" sz="95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D2DBDA"/>
              </a:buClr>
              <a:buSzPts val="950"/>
              <a:buFont typeface="Arial"/>
              <a:buChar char="•"/>
            </a:pPr>
            <a:r>
              <a:rPr b="0" i="0" lang="en-US" sz="950" u="none" cap="none" strike="noStrike">
                <a:solidFill>
                  <a:srgbClr val="D2DBDA"/>
                </a:solidFill>
                <a:latin typeface="Arial"/>
                <a:ea typeface="Arial"/>
                <a:cs typeface="Arial"/>
                <a:sym typeface="Arial"/>
              </a:rPr>
              <a:t>Student Governor applications: close midday, Friday 16 October — speak to your Student Enrichment Co-ordinator if you're continuing at ESCG</a:t>
            </a:r>
            <a:endParaRPr b="0" i="0" sz="95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D2DBDA"/>
              </a:buClr>
              <a:buSzPts val="950"/>
              <a:buFont typeface="Arial"/>
              <a:buChar char="•"/>
            </a:pPr>
            <a:r>
              <a:rPr b="0" i="0" lang="en-US" sz="950" u="none" cap="none" strike="noStrike">
                <a:solidFill>
                  <a:srgbClr val="D2DBDA"/>
                </a:solidFill>
                <a:latin typeface="Arial"/>
                <a:ea typeface="Arial"/>
                <a:cs typeface="Arial"/>
                <a:sym typeface="Arial"/>
              </a:rPr>
              <a:t>English/maths rep: elected today too — same training, same Council meetings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444" name="Shape 444"/>
        <p:cNvGrpSpPr/>
        <p:nvPr/>
      </p:nvGrpSpPr>
      <p:grpSpPr>
        <a:xfrm>
          <a:off x="0" y="0"/>
          <a:ext cx="0" cy="0"/>
          <a:chOff x="0" y="0"/>
          <a:chExt cx="0" cy="0"/>
        </a:xfrm>
      </p:grpSpPr>
      <p:sp>
        <p:nvSpPr>
          <p:cNvPr id="445" name="Google Shape;445;p17"/>
          <p:cNvSpPr/>
          <p:nvPr/>
        </p:nvSpPr>
        <p:spPr>
          <a:xfrm>
            <a:off x="0" y="0"/>
            <a:ext cx="9144000" cy="384048"/>
          </a:xfrm>
          <a:prstGeom prst="rect">
            <a:avLst/>
          </a:prstGeom>
          <a:solidFill>
            <a:srgbClr val="B23A2E"/>
          </a:solidFill>
          <a:ln cap="flat" cmpd="sng" w="12700">
            <a:solidFill>
              <a:srgbClr val="B23A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6" name="Google Shape;446;p17"/>
          <p:cNvSpPr/>
          <p:nvPr/>
        </p:nvSpPr>
        <p:spPr>
          <a:xfrm>
            <a:off x="0" y="0"/>
            <a:ext cx="914400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DO NOT DISPLAY TO STUDENTS — TEACHER APPENDIX</a:t>
            </a:r>
            <a:endParaRPr b="0" i="0" sz="1100" u="none" cap="none" strike="noStrike">
              <a:solidFill>
                <a:schemeClr val="dk1"/>
              </a:solidFill>
              <a:latin typeface="Calibri"/>
              <a:ea typeface="Calibri"/>
              <a:cs typeface="Calibri"/>
              <a:sym typeface="Calibri"/>
            </a:endParaRPr>
          </a:p>
        </p:txBody>
      </p:sp>
      <p:sp>
        <p:nvSpPr>
          <p:cNvPr id="447" name="Google Shape;447;p17"/>
          <p:cNvSpPr/>
          <p:nvPr/>
        </p:nvSpPr>
        <p:spPr>
          <a:xfrm>
            <a:off x="274320" y="438912"/>
            <a:ext cx="859536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900"/>
              <a:buFont typeface="Arial"/>
              <a:buNone/>
            </a:pPr>
            <a:r>
              <a:rPr b="0" i="0" lang="en-US" sz="900" u="none" cap="none" strike="noStrike">
                <a:solidFill>
                  <a:srgbClr val="5A6A6F"/>
                </a:solidFill>
                <a:latin typeface="Arial"/>
                <a:ea typeface="Arial"/>
                <a:cs typeface="Arial"/>
                <a:sym typeface="Arial"/>
              </a:rPr>
              <a:t>Module D — Students' Voice &amp; Student Rep Elections  |  BTEC Level 3 / T-Level — Digital, Media, Film and Computing  |  100 minutes  |  Group 1: Settling In &amp; Belonging</a:t>
            </a:r>
            <a:endParaRPr b="0" i="0" sz="900" u="none" cap="none" strike="noStrike">
              <a:solidFill>
                <a:schemeClr val="dk1"/>
              </a:solidFill>
              <a:latin typeface="Calibri"/>
              <a:ea typeface="Calibri"/>
              <a:cs typeface="Calibri"/>
              <a:sym typeface="Calibri"/>
            </a:endParaRPr>
          </a:p>
        </p:txBody>
      </p:sp>
      <p:sp>
        <p:nvSpPr>
          <p:cNvPr id="448" name="Google Shape;448;p17"/>
          <p:cNvSpPr/>
          <p:nvPr/>
        </p:nvSpPr>
        <p:spPr>
          <a:xfrm>
            <a:off x="274320" y="749808"/>
            <a:ext cx="4160520" cy="2148840"/>
          </a:xfrm>
          <a:prstGeom prst="rect">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9" name="Google Shape;449;p17"/>
          <p:cNvSpPr/>
          <p:nvPr/>
        </p:nvSpPr>
        <p:spPr>
          <a:xfrm>
            <a:off x="411480" y="804672"/>
            <a:ext cx="3886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Running order</a:t>
            </a:r>
            <a:endParaRPr b="0" i="0" sz="1100" u="none" cap="none" strike="noStrike">
              <a:solidFill>
                <a:schemeClr val="dk1"/>
              </a:solidFill>
              <a:latin typeface="Calibri"/>
              <a:ea typeface="Calibri"/>
              <a:cs typeface="Calibri"/>
              <a:sym typeface="Calibri"/>
            </a:endParaRPr>
          </a:p>
        </p:txBody>
      </p:sp>
      <p:sp>
        <p:nvSpPr>
          <p:cNvPr id="450" name="Google Shape;450;p17"/>
          <p:cNvSpPr/>
          <p:nvPr/>
        </p:nvSpPr>
        <p:spPr>
          <a:xfrm>
            <a:off x="411480" y="1115568"/>
            <a:ext cx="3886200" cy="1691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0–10 min   Slide 3   Check-in: two questions</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10–20 min  Slide 4   Students' Voice — what makes it work</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20–30 min  Slide 5   Ways to get involved</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30–40 min  Slide 6   The Rep role + what employers see in it</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40–45 min  Slide 7   The Governor role + eligibility note</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45–57 min  Slides 8–10  Governor: the Board, the commitment, how to apply</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57–62 min  Slide 11  Encourage Unity (PROUD)</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62–94 min  Slide 12  Election: course rep + English/maths rep</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94–99 min  Slide 13  Commitment card</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99–102 min Slide 14  Close + next steps</a:t>
            </a:r>
            <a:endParaRPr b="0" i="0" sz="850" u="none" cap="none" strike="noStrike">
              <a:solidFill>
                <a:schemeClr val="dk1"/>
              </a:solidFill>
              <a:latin typeface="Calibri"/>
              <a:ea typeface="Calibri"/>
              <a:cs typeface="Calibri"/>
              <a:sym typeface="Calibri"/>
            </a:endParaRPr>
          </a:p>
        </p:txBody>
      </p:sp>
      <p:sp>
        <p:nvSpPr>
          <p:cNvPr id="451" name="Google Shape;451;p17"/>
          <p:cNvSpPr/>
          <p:nvPr/>
        </p:nvSpPr>
        <p:spPr>
          <a:xfrm>
            <a:off x="4663440" y="749808"/>
            <a:ext cx="4160520" cy="2148840"/>
          </a:xfrm>
          <a:prstGeom prst="rect">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2" name="Google Shape;452;p17"/>
          <p:cNvSpPr/>
          <p:nvPr/>
        </p:nvSpPr>
        <p:spPr>
          <a:xfrm>
            <a:off x="4800600" y="804672"/>
            <a:ext cx="3886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Teaching this group — BTEC Level 3 / T-Level</a:t>
            </a:r>
            <a:endParaRPr b="0" i="0" sz="1100" u="none" cap="none" strike="noStrike">
              <a:solidFill>
                <a:schemeClr val="dk1"/>
              </a:solidFill>
              <a:latin typeface="Calibri"/>
              <a:ea typeface="Calibri"/>
              <a:cs typeface="Calibri"/>
              <a:sym typeface="Calibri"/>
            </a:endParaRPr>
          </a:p>
        </p:txBody>
      </p:sp>
      <p:sp>
        <p:nvSpPr>
          <p:cNvPr id="453" name="Google Shape;453;p17"/>
          <p:cNvSpPr/>
          <p:nvPr/>
        </p:nvSpPr>
        <p:spPr>
          <a:xfrm>
            <a:off x="4800600" y="1115568"/>
            <a:ext cx="3886200" cy="1691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This group is already working to professional standards somewhere — a workshop, a placement, a live brief. Frame speaking up as professional conduct rather than complaint, and the role lands.</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Assessment pressure is continuous rather than terminal. Reps need to know that raising something in November is more useful than raising it in May.</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Placement blocks split the group. Check who is out when — both rep seats need to be filled by students the group will actually see. In this department that room spans Content Creation at Eastbourne (Eastbourne Youth Radio, Tag magazine, ten hours a week of independent study), Games Art at Station Plaza (nine projects in Year 1), and Film Production and the T Levels at Ore and Lewes. All are already producing for a real audience or employer. Inferred — please review.</a:t>
            </a:r>
            <a:endParaRPr b="0" i="0" sz="850" u="none" cap="none" strike="noStrike">
              <a:solidFill>
                <a:schemeClr val="dk1"/>
              </a:solidFill>
              <a:latin typeface="Calibri"/>
              <a:ea typeface="Calibri"/>
              <a:cs typeface="Calibri"/>
              <a:sym typeface="Calibri"/>
            </a:endParaRPr>
          </a:p>
        </p:txBody>
      </p:sp>
      <p:sp>
        <p:nvSpPr>
          <p:cNvPr id="454" name="Google Shape;454;p17"/>
          <p:cNvSpPr/>
          <p:nvPr/>
        </p:nvSpPr>
        <p:spPr>
          <a:xfrm>
            <a:off x="274320" y="2999232"/>
            <a:ext cx="4160520" cy="2075688"/>
          </a:xfrm>
          <a:prstGeom prst="rect">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5" name="Google Shape;455;p17"/>
          <p:cNvSpPr/>
          <p:nvPr/>
        </p:nvSpPr>
        <p:spPr>
          <a:xfrm>
            <a:off x="411480" y="3054096"/>
            <a:ext cx="3886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Pre-flight checklist</a:t>
            </a:r>
            <a:endParaRPr b="0" i="0" sz="1100" u="none" cap="none" strike="noStrike">
              <a:solidFill>
                <a:schemeClr val="dk1"/>
              </a:solidFill>
              <a:latin typeface="Calibri"/>
              <a:ea typeface="Calibri"/>
              <a:cs typeface="Calibri"/>
              <a:sym typeface="Calibri"/>
            </a:endParaRPr>
          </a:p>
        </p:txBody>
      </p:sp>
      <p:sp>
        <p:nvSpPr>
          <p:cNvPr id="456" name="Google Shape;456;p17"/>
          <p:cNvSpPr/>
          <p:nvPr/>
        </p:nvSpPr>
        <p:spPr>
          <a:xfrm>
            <a:off x="411480" y="3364992"/>
            <a:ext cx="38862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Know your campus's Student Council 1 date (slide 6 table)</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Access to the central Student Rep Register</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Know which students are in their final year (Governor eligibility, slide 7)</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Student Enrichment Co-ordinator contacts:</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Eastbourne: Chelsey King</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Lewes: Tessa Echalaz</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Station Plaza &amp; Ore Valley: Paige Baker-Carroll</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Rep training noted: Wednesday 14 October (all campuses)</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English/maths rep seat confirmed — both names on the register</a:t>
            </a:r>
            <a:endParaRPr b="0" i="0" sz="850" u="none" cap="none" strike="noStrike">
              <a:solidFill>
                <a:schemeClr val="dk1"/>
              </a:solidFill>
              <a:latin typeface="Calibri"/>
              <a:ea typeface="Calibri"/>
              <a:cs typeface="Calibri"/>
              <a:sym typeface="Calibri"/>
            </a:endParaRPr>
          </a:p>
        </p:txBody>
      </p:sp>
      <p:sp>
        <p:nvSpPr>
          <p:cNvPr id="457" name="Google Shape;457;p17"/>
          <p:cNvSpPr/>
          <p:nvPr/>
        </p:nvSpPr>
        <p:spPr>
          <a:xfrm>
            <a:off x="4663440" y="2999232"/>
            <a:ext cx="4160520" cy="2075688"/>
          </a:xfrm>
          <a:prstGeom prst="rect">
            <a:avLst/>
          </a:prstGeom>
          <a:solidFill>
            <a:srgbClr val="F8E7E3"/>
          </a:solidFill>
          <a:ln cap="flat" cmpd="sng" w="1905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17"/>
          <p:cNvSpPr/>
          <p:nvPr/>
        </p:nvSpPr>
        <p:spPr>
          <a:xfrm>
            <a:off x="4800600" y="3054096"/>
            <a:ext cx="3886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3A2E"/>
              </a:buClr>
              <a:buSzPts val="1100"/>
              <a:buFont typeface="Arial"/>
              <a:buNone/>
            </a:pPr>
            <a:r>
              <a:rPr b="1" i="0" lang="en-US" sz="1100" u="none" cap="none" strike="noStrike">
                <a:solidFill>
                  <a:srgbClr val="B23A2E"/>
                </a:solidFill>
                <a:latin typeface="Arial"/>
                <a:ea typeface="Arial"/>
                <a:cs typeface="Arial"/>
                <a:sym typeface="Arial"/>
              </a:rPr>
              <a:t>Safeguarding alert</a:t>
            </a:r>
            <a:endParaRPr b="0" i="0" sz="1100" u="none" cap="none" strike="noStrike">
              <a:solidFill>
                <a:schemeClr val="dk1"/>
              </a:solidFill>
              <a:latin typeface="Calibri"/>
              <a:ea typeface="Calibri"/>
              <a:cs typeface="Calibri"/>
              <a:sym typeface="Calibri"/>
            </a:endParaRPr>
          </a:p>
        </p:txBody>
      </p:sp>
      <p:sp>
        <p:nvSpPr>
          <p:cNvPr id="459" name="Google Shape;459;p17"/>
          <p:cNvSpPr/>
          <p:nvPr/>
        </p:nvSpPr>
        <p:spPr>
          <a:xfrm>
            <a:off x="4800600" y="3364992"/>
            <a:ext cx="38862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Highest-risk surfaces: check-in discussion (slide 3) and commitment card option 4 (slide 13).</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Placement and workplace pressure may mask wellbeing concerns — watch for students describing an unsafe or unsupportive placement as “just how it is”.</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Standard procedure: listen calmly, do not promise confidentiality, do not investigate. Report same day via ESCG safeguarding procedure. Module F covers full detail. Two department-specific surfaces: consent when filming people, and cyber security content — the legal framework must land before a student describes what they have already done. Inferred — please review.</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