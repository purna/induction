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MODULE B — CONFIDENCE, INDEPENDENCE &amp; ATTENDANCE  |  Core variant (L3 Year 1)</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WHO THIS IS FOR: new Level 3 Year 1 students, ~2-3 weeks into college. They've had Module A; they know each other a bit; they're past the very first day jitters but the patterns of college aren't yet set. This is the moment to shape them.</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WHAT THIS MODULE ACTUALLY IS: this is the first induction module where we ask students to CHANGE something about themselves — their habits, their attendance, the way they manage time. That makes it the most delicate. Lecturing kills it. The deck is built to AVOID preaching.</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PROUD ANCHOR: this whole deck is grounded in 'Seek Opportunity' — proactivity, treating mistakes as chances to learn, building skills. Name it at the start and end. Don't sloganise it through every slide; let it carry the meaning.</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THREE THREADS bundled in this module are deliberately handled separately:</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1. SCHOOL → COLLEGE — what's actually different (slide 4).</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2. INDEPENDENCE &amp; ORGANISATION — concrete reframes, not abstract virtues (slides 5–7).</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3. ATTENDANCE — why it matters PLAINLY, then barriers honestly (slides 8–9).</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ATTENDANCE SECTION IS THE MOST IMPORTANT BIT. Two slides, deliberately distinct: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Slide 8 makes the case in plain, non-preachy terms. NO percentage thresholds. NO threats. Just what they actually lose.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Slide 9 is the honest one: if coming in is hard, that's a real problem with real causes — and we want to know about it so we can help. Treat absence as a signal that something's going on, not as a discipline issue.</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TONE: respectful, honest, peer-to-peer. Treat them as the near-adults they are. The students who attend will feel respected; the students who struggle will not feel shamed in front of their peers.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TEACHING RHYTHM: TEACHER INPUT, DISCUSSION, ACTIVITY chips on every slide. Don't let any TELL stretch run over 6 minutes.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IF A STUDENT DISCLOSES SOMETHING — and this module is more likely to surface things than Module A, especially around attendance barriers: listen, stay calm, don't promise secrecy, report it the same day via the ESCG safeguarding route. If unsure, speak to your Safeguarding lead before you teach.</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SAY SOMETHING LIKE: 'A couple of weeks in. You've started to find your feet. This module is about the things that decide how the rest of the year goes — how you organise yourself, how you build confidence in this new place, and yes, attendance. Bear with me — I'm going to try not to preach.'</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 — SESSION MAP  |  ~2 mins  |  Mode: SESSION MAP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Walk the six beats quickly. Flag the structure to them — three threads (transition, organisation, attendance), and a commitment activity at the end.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Notice the third beat — 'Seek Opportunity'. That's the ESCG PROUD value this module is grounded in. Mention it now, then let it surface naturally on slide 6.</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Be open about what this session is: 'I'm going to try not to preach, but I do want to be honest with you about a couple of things that decide how this year goes.' Setting expectations honestly earns the room.</a:t>
            </a:r>
            <a:endParaRPr/>
          </a:p>
        </p:txBody>
      </p:sp>
      <p:sp>
        <p:nvSpPr>
          <p:cNvPr id="29" name="Google Shape;2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3 — HOW IS IT ACTUALLY GOING  |  ~10 mins  |  Mode: DISCUSSION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this is your first chance to hear what's really happening for this group. Far more useful than starting with content. It also signals tone for the whole session — honest, not preachy.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Groups of 3-4 for 5-6 minutes.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Circulate. LISTEN — this is intelligence about your group.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Bring it back; take 3-4 honest shares. Don't push for cheerful answers — value the honest 'I'm finding mornings really hard' more than 'it's all great'.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Recurring themes — if half the room finds the volume of work hard, that's useful to acknowledge in slide 5.</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Disclosure signals — if a student names a barrier that hints at home, money, mental health: don't probe in front of others. Note it for private follow-up via the ESCG safeguarding route.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Quietness in a specific student — track them. They may need a private check-in.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DON'T fix anything yet. Just listen and acknowledge. The deck handles the substance over the next slides.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'I'm not asking you to be cheerful — I'm asking you to be honest. The point of this session is to be useful, and I can't do that if I don't know what's actually going on for you.'</a:t>
            </a:r>
            <a:endParaRPr/>
          </a:p>
        </p:txBody>
      </p:sp>
      <p:sp>
        <p:nvSpPr>
          <p:cNvPr id="80" name="Google Shape;8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4 — SCHOOL → COLLEGE  |  ~6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Walk the three contrasts. These are HONEST not motivational. The point isn't to scare — it's to make the change visible. Most students don't yet see how different the system is; that's why they can drift for weeks before noticing.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THIRD ONE is the most important — 'a bad week shows up two months from now'. This is the genuine, useful insight. The feedback loop has lengthened, which means small slips don't feel like anything until suddenly they do. That's the reframe to spend time 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'School's job was to drag you to the line. College's job is different — we'll teach you well, and we'll help you when you ask, but no one is checking that you've done the reading. That's not a punishment. It's the actual training for the next thing.'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Link forward: 'Which is why how you spend your unstructured time matters more than it did before — next slide.'</a:t>
            </a:r>
            <a:endParaRPr/>
          </a:p>
        </p:txBody>
      </p:sp>
      <p:sp>
        <p:nvSpPr>
          <p:cNvPr id="112" name="Google Shape;11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5 — TIME MANAGEMENT (the long fuse)  |  ~6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INSIGHT — name it plainly: at college, consequences arrive late. Most missed work doesn't punish you in the moment; it builds quietly and shows up months later. That's the real time-management problem, not 'be organised.'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WALK THE DIAGRAM: skipped reading in week 3 → visible in a week 8 mock. Make it concrete.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'ONE MOVE' on the right: decide in advance what each free period is for. That's it. Not a study skills system, not a productivity method — just the one habit that actually changes outcomes. This is deliberate — Module B is one session, not a study skills course; that depth properly belongs in tutorial / Module G work.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'I'm not going to teach you a system today. I'm going to tell you the single most useful thing I know: students who decide in advance what their free time is for do dramatically better than students who don't. That's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ACKNOWLEDGE: 'You won't do this perfectly. Nobody does. But even getting it half-right beats not trying.'</a:t>
            </a:r>
            <a:endParaRPr/>
          </a:p>
        </p:txBody>
      </p:sp>
      <p:sp>
        <p:nvSpPr>
          <p:cNvPr id="145" name="Google Shape;14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6 — SEEK OPPORTUNITY  |  ~5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PROUD ANCHOR. The three behaviours are taken directly from the ESCG PROUD poster's student behaviours under 'Seek Opportunity' — joining clubs/volunteering, exploring careers/building skills, treating mistakes as learning.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IT'S HERE: 'Independence' as an abstract virtue is meaningless. This is the institutionally-owned, honest version: proactivity in concrete forms.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WALK THE THREE BEHAVIOURS: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1. JOIN CLUBS — link forward to Module A's Freshers Fair encouragement. Belonging IS academic; it isn't separate from the course.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2. EXPLORE &amp; BUILD — they don't need to know what they want to do. They DO need to be actively trying things — placements, careers visits, asking questions. 'Live' beats 'decided.'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3. MISTAKES AS LEARNING — this is the growth-mindset move, done honestly. Not 'failure is fine'. More: 'getting things wrong is data — use it, don't hide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Don't over-explain that this is a PROUD value — say it once, then let the content speak. Sloganising kills it.</a:t>
            </a:r>
            <a:endParaRPr/>
          </a:p>
        </p:txBody>
      </p:sp>
      <p:sp>
        <p:nvSpPr>
          <p:cNvPr id="186" name="Google Shape;186;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7 — CONFIDENCE  |  ~5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growth mindset done honestly — Dweck's more recent, more careful framing, not the slogan version. Don't say 'you can do anything'. Do say: feeling out of depth is the signal you've stepped up. That's true and useful.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LEFT PANEL is the substance. Read the second sentence slowly — 'confidence isn't a personality trait, it's what you build by doing things you weren't sure you could.' That's the actual reframe.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TWO CARDS ON THE RIGHT make the move concrete. The trap is real — most students who quietly disengage do it because they took the difficulty as proof they didn't belong. The reframe gives them a way out of that.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LINK FORWARD to support: 'And the second sentence — and should ask — matters. Asking for help is one of those things you do that builds the confidence. Module A covered who's available. Use them.'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Watch for students who look uncomfortable on this slide — they may be the ones already struggling silently. Note them for private follow-up.</a:t>
            </a:r>
            <a:endParaRPr/>
          </a:p>
        </p:txBody>
      </p:sp>
      <p:sp>
        <p:nvSpPr>
          <p:cNvPr id="213" name="Google Shape;21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8 — WHY ATTENDANCE MATTERS (plain)  |  ~5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CRITICAL TONE NOTE: this is the slide most likely to land badly if delivered as a lecture. It is NOT a threats slide. There are deliberately NO percentage thresholds, NO mention of warnings or consequences. The case is made in terms of what students actually LOSE.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WALK THE FOUR PANELS plainly, briefly: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1. THE BIT THAT ISN'T ON THE SLIDES — this is the strongest argument. Lessons aren't equivalent to the slides; the explanation, the questions, the worked examples are where understanding happens. Missing a lesson isn't missing the slides — it's missing the actual teaching.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2. SPACED LEARNING (Hattie / cognitive science) — attendance IS the spacing of practice across time, which is what builds durable knowledge. This isn't motivational; it's how memory works.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3. RELATIONSHIPS — the social safety net. Teachers who know you can support you. Classmates can text you when you're absent.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4. BEING SEEN — references, opportunities. Staff write references about people they know.</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DELIBERATELY ABSENT: 80% / 90% / 95% thresholds. The percentage-poster approach insults the students who are there and threatens the ones who struggle. We're making the case differently.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'I'm not going to bore you with attendance percentages. What I want you to hear is what you actually miss when you're not in the room. That's the real argument.'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LINK FORWARD to slide 9: 'And the second thing — because attendance is hard for some people for real reasons — we should talk about that honestly.'</a:t>
            </a:r>
            <a:endParaRPr/>
          </a:p>
        </p:txBody>
      </p:sp>
      <p:sp>
        <p:nvSpPr>
          <p:cNvPr id="237" name="Google Shape;23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9 — BARRIERS &amp; SUPPORT  |  ~7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MOST IMPORTANT SLIDE IN THE DECK. It's where attendance content earns its keep — by being honest about why attendance is hard, instead of pretending it's just about willpower.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TONE: compassionate, matter-of-fact, not pitying. Read the five barriers slowly. Don't editorialise — let the list do the work. The point is that a student in the room hearing 'mental health' or 'things at home' named openly might be the one who, three weeks from now, decides to come and talk to you instead of disappearing.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LINE (mustard panel): 'A barrier we know about is one we can help with. A barrier we don't know about is one that quietly takes you out.' Say it as a single sentence and let it land.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PANEL IS CRITICAL: students need to leave this slide ABLE TO NAME a person they could approach. Vague 'speak to someone' is not enough. Get the real, current first-point-of-contact for this group — personal tutor, HoC, wellbeing team — and name them.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SAFEGUARDING NOTE: this slide is likely to surface things. Watch faces. If a student looks distressed, don't push the topic in front of the room — note them, follow up privately and via the proper safeguarding route. Be especially alert to mentions in the slide 10 activity cards.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you yourself are unsure of the right routes for this group, check before teaching. Don't improvise.</a:t>
            </a:r>
            <a:endParaRPr/>
          </a:p>
        </p:txBody>
      </p:sp>
      <p:sp>
        <p:nvSpPr>
          <p:cNvPr id="272" name="Google Shape;27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10 — MY ONE HABIT  |  ~7 mins  |  Mode: ACTIVITY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YOU NEED: a card / sticky note per student, plus pens.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THIS WORKS: students who write down one specific commitment are far more likely to follow through than students who form a vague intention. Behavioural science basics. The four options are deliberately drawn from the four key beats of the deck — long-fuse time management, asking for help, Seek Opportunity, telling someone about a barrier.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RUN IT: ~4 minutes quiet. Circulate. Don't read what they write unless they offer.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EVIDENCING (light touch): collect the cards. They're the record that Module B happened, and they tell you who's named what — especially anyone who picked option 4 (barrier disclosure). Follow up on those PRIVATELY and via the safeguarding route as needed.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POWERFUL FOLLOW-UP: revisit the cards in a tutorial in a fortnight. 'Did you do your one habit?' is the actual accountability — far more useful than another whole-class lecture.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ANYTHING CONCERNING on a card → follow up privately and via the ESCG safeguarding route. If unsure, speak to your Safeguarding lead today.</a:t>
            </a:r>
            <a:endParaRPr/>
          </a:p>
        </p:txBody>
      </p:sp>
      <p:sp>
        <p:nvSpPr>
          <p:cNvPr id="308" name="Google Shape;30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11 — CLOSE  |  ~3 mins  |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Brisk recap. Run the ticks quickly.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'COMING UP' — reassure rather than warn. The other modules are supportive.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END ON THE MUSTARD LINE — 'Seek Opportunity. Decide in advance. Tell us when it's hard. That's the year.' It ties the three threads of the session together: the PROUD value, the time-management move, and the attendance honesty. Say it as one sentence and let it land.</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ADMIN: collect the 'One Habit' cards. Note any students whose card flags concern. Log completion as your centre requires.</a:t>
            </a:r>
            <a:endParaRPr/>
          </a:p>
        </p:txBody>
      </p:sp>
      <p:sp>
        <p:nvSpPr>
          <p:cNvPr id="340" name="Google Shape;34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12 — TEACHER APPENDIX  |  NOT FOR DISPLAY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Teacher reference only. Skip or delete this slide in presentation mode.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whole session on one page: timings, the two main traps, prep checklist, and the safeguarding alert that slide 9 may surface concerns.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safeguarding wording is general. The definitive ESCG reporting procedure and named leads are covered in Module F and the ESCG Safeguarding &amp; Prevent Policy. [ESCG TO CONFIRM: check that the prompts on slide 9 and the routing on follow-up disclosures align with current ESCG safeguarding procedure before publishing.]</a:t>
            </a:r>
            <a:endParaRPr/>
          </a:p>
        </p:txBody>
      </p:sp>
      <p:sp>
        <p:nvSpPr>
          <p:cNvPr id="371" name="Google Shape;37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8869680" y="-1554480"/>
            <a:ext cx="4754880" cy="4754880"/>
          </a:xfrm>
          <a:prstGeom prst="ellipse">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9646920" y="-777240"/>
            <a:ext cx="3200400" cy="32004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3"/>
          <p:cNvSpPr/>
          <p:nvPr/>
        </p:nvSpPr>
        <p:spPr>
          <a:xfrm>
            <a:off x="10104120" y="2788920"/>
            <a:ext cx="310896" cy="310896"/>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 name="Google Shape;15;p3"/>
          <p:cNvSpPr/>
          <p:nvPr/>
        </p:nvSpPr>
        <p:spPr>
          <a:xfrm>
            <a:off x="777240" y="12344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50"/>
              <a:buFont typeface="Poppins SemiBold"/>
              <a:buNone/>
            </a:pPr>
            <a:r>
              <a:rPr lang="en-US" sz="1250">
                <a:solidFill>
                  <a:srgbClr val="FFCF01"/>
                </a:solidFill>
                <a:latin typeface="Poppins SemiBold"/>
                <a:ea typeface="Poppins SemiBold"/>
                <a:cs typeface="Poppins SemiBold"/>
                <a:sym typeface="Poppins SemiBold"/>
              </a:rPr>
              <a:t>ESCG STUDENT INDUCTION  ·  2026–27</a:t>
            </a:r>
            <a:endParaRPr sz="1250">
              <a:solidFill>
                <a:schemeClr val="dk1"/>
              </a:solidFill>
              <a:latin typeface="Calibri"/>
              <a:ea typeface="Calibri"/>
              <a:cs typeface="Calibri"/>
              <a:sym typeface="Calibri"/>
            </a:endParaRPr>
          </a:p>
        </p:txBody>
      </p:sp>
      <p:sp>
        <p:nvSpPr>
          <p:cNvPr id="16" name="Google Shape;16;p3"/>
          <p:cNvSpPr/>
          <p:nvPr/>
        </p:nvSpPr>
        <p:spPr>
          <a:xfrm>
            <a:off x="731520" y="1783080"/>
            <a:ext cx="5486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700"/>
              <a:buFont typeface="Poppins SemiBold"/>
              <a:buNone/>
            </a:pPr>
            <a:r>
              <a:rPr lang="en-US" sz="1700">
                <a:solidFill>
                  <a:srgbClr val="94A1A4"/>
                </a:solidFill>
                <a:latin typeface="Poppins SemiBold"/>
                <a:ea typeface="Poppins SemiBold"/>
                <a:cs typeface="Poppins SemiBold"/>
                <a:sym typeface="Poppins SemiBold"/>
              </a:rPr>
              <a:t>MODULE B</a:t>
            </a:r>
            <a:endParaRPr sz="1700">
              <a:solidFill>
                <a:schemeClr val="dk1"/>
              </a:solidFill>
              <a:latin typeface="Calibri"/>
              <a:ea typeface="Calibri"/>
              <a:cs typeface="Calibri"/>
              <a:sym typeface="Calibri"/>
            </a:endParaRPr>
          </a:p>
        </p:txBody>
      </p:sp>
      <p:sp>
        <p:nvSpPr>
          <p:cNvPr id="17" name="Google Shape;17;p3"/>
          <p:cNvSpPr/>
          <p:nvPr/>
        </p:nvSpPr>
        <p:spPr>
          <a:xfrm>
            <a:off x="731520" y="2286000"/>
            <a:ext cx="8412480" cy="24688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FFFFFF"/>
              </a:buClr>
              <a:buSzPts val="4000"/>
              <a:buFont typeface="Poppins SemiBold"/>
              <a:buNone/>
            </a:pPr>
            <a:r>
              <a:rPr lang="en-US" sz="4000">
                <a:solidFill>
                  <a:srgbClr val="FFFFFF"/>
                </a:solidFill>
                <a:latin typeface="Poppins SemiBold"/>
                <a:ea typeface="Poppins SemiBold"/>
                <a:cs typeface="Poppins SemiBold"/>
                <a:sym typeface="Poppins SemiBold"/>
              </a:rPr>
              <a:t>Confidence,</a:t>
            </a:r>
            <a:endParaRPr sz="40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000"/>
              <a:buFont typeface="Poppins SemiBold"/>
              <a:buNone/>
            </a:pPr>
            <a:r>
              <a:rPr lang="en-US" sz="4000">
                <a:solidFill>
                  <a:srgbClr val="FFFFFF"/>
                </a:solidFill>
                <a:latin typeface="Poppins SemiBold"/>
                <a:ea typeface="Poppins SemiBold"/>
                <a:cs typeface="Poppins SemiBold"/>
                <a:sym typeface="Poppins SemiBold"/>
              </a:rPr>
              <a:t>Independence</a:t>
            </a:r>
            <a:endParaRPr sz="4000">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4000"/>
              <a:buFont typeface="Poppins SemiBold"/>
              <a:buNone/>
            </a:pPr>
            <a:r>
              <a:rPr lang="en-US" sz="4000">
                <a:solidFill>
                  <a:srgbClr val="FFFFFF"/>
                </a:solidFill>
                <a:latin typeface="Poppins SemiBold"/>
                <a:ea typeface="Poppins SemiBold"/>
                <a:cs typeface="Poppins SemiBold"/>
                <a:sym typeface="Poppins SemiBold"/>
              </a:rPr>
              <a:t>&amp; Attendance</a:t>
            </a:r>
            <a:endParaRPr sz="4000">
              <a:solidFill>
                <a:schemeClr val="dk1"/>
              </a:solidFill>
              <a:latin typeface="Calibri"/>
              <a:ea typeface="Calibri"/>
              <a:cs typeface="Calibri"/>
              <a:sym typeface="Calibri"/>
            </a:endParaRPr>
          </a:p>
        </p:txBody>
      </p:sp>
      <p:sp>
        <p:nvSpPr>
          <p:cNvPr id="18" name="Google Shape;18;p3"/>
          <p:cNvSpPr/>
          <p:nvPr/>
        </p:nvSpPr>
        <p:spPr>
          <a:xfrm>
            <a:off x="758952" y="4937760"/>
            <a:ext cx="7680960" cy="731520"/>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C7D0D3"/>
              </a:buClr>
              <a:buSzPts val="1300"/>
              <a:buFont typeface="Poppins"/>
              <a:buNone/>
            </a:pPr>
            <a:r>
              <a:rPr lang="en-US" sz="1300">
                <a:solidFill>
                  <a:srgbClr val="C7D0D3"/>
                </a:solidFill>
                <a:latin typeface="Poppins"/>
                <a:ea typeface="Poppins"/>
                <a:cs typeface="Poppins"/>
                <a:sym typeface="Poppins"/>
              </a:rPr>
              <a:t>Settling into college — and the habits that will matter when you’re on a film set, running a live radio show, completing an industry placement, or delivering a real employer brief.</a:t>
            </a:r>
            <a:endParaRPr sz="1300">
              <a:solidFill>
                <a:schemeClr val="dk1"/>
              </a:solidFill>
              <a:latin typeface="Calibri"/>
              <a:ea typeface="Calibri"/>
              <a:cs typeface="Calibri"/>
              <a:sym typeface="Calibri"/>
            </a:endParaRPr>
          </a:p>
        </p:txBody>
      </p:sp>
      <p:cxnSp>
        <p:nvCxnSpPr>
          <p:cNvPr id="19" name="Google Shape;19;p3"/>
          <p:cNvCxnSpPr/>
          <p:nvPr/>
        </p:nvCxnSpPr>
        <p:spPr>
          <a:xfrm>
            <a:off x="777240" y="5623560"/>
            <a:ext cx="6858000" cy="0"/>
          </a:xfrm>
          <a:prstGeom prst="straightConnector1">
            <a:avLst/>
          </a:prstGeom>
          <a:noFill/>
          <a:ln cap="flat" cmpd="sng" w="12700">
            <a:solidFill>
              <a:srgbClr val="1C3A4D"/>
            </a:solidFill>
            <a:prstDash val="solid"/>
            <a:round/>
            <a:headEnd len="sm" w="sm" type="none"/>
            <a:tailEnd len="sm" w="sm" type="none"/>
          </a:ln>
        </p:spPr>
      </p:cxnSp>
      <p:sp>
        <p:nvSpPr>
          <p:cNvPr id="20" name="Google Shape;20;p3"/>
          <p:cNvSpPr/>
          <p:nvPr/>
        </p:nvSpPr>
        <p:spPr>
          <a:xfrm>
            <a:off x="777240" y="577900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050"/>
              <a:buFont typeface="Poppins"/>
              <a:buNone/>
            </a:pPr>
            <a:r>
              <a:rPr b="1" lang="en-US" sz="1050">
                <a:solidFill>
                  <a:srgbClr val="94A1A4"/>
                </a:solidFill>
                <a:latin typeface="Poppins"/>
                <a:ea typeface="Poppins"/>
                <a:cs typeface="Poppins"/>
                <a:sym typeface="Poppins"/>
              </a:rPr>
              <a:t>VARIANT   </a:t>
            </a:r>
            <a:r>
              <a:rPr lang="en-US" sz="1050">
                <a:solidFill>
                  <a:srgbClr val="FFFFFF"/>
                </a:solidFill>
                <a:latin typeface="Poppins"/>
                <a:ea typeface="Poppins"/>
                <a:cs typeface="Poppins"/>
                <a:sym typeface="Poppins"/>
              </a:rPr>
              <a:t>DIGITAL, MEDIA &amp; FILM  ·  LEVEL 3, YEAR 1</a:t>
            </a:r>
            <a:endParaRPr sz="1050">
              <a:solidFill>
                <a:schemeClr val="dk1"/>
              </a:solidFill>
              <a:latin typeface="Calibri"/>
              <a:ea typeface="Calibri"/>
              <a:cs typeface="Calibri"/>
              <a:sym typeface="Calibri"/>
            </a:endParaRPr>
          </a:p>
        </p:txBody>
      </p:sp>
      <p:sp>
        <p:nvSpPr>
          <p:cNvPr id="21" name="Google Shape;21;p3"/>
          <p:cNvSpPr/>
          <p:nvPr/>
        </p:nvSpPr>
        <p:spPr>
          <a:xfrm>
            <a:off x="777240" y="608076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050"/>
              <a:buFont typeface="Poppins"/>
              <a:buNone/>
            </a:pPr>
            <a:r>
              <a:rPr b="1" lang="en-US" sz="1050">
                <a:solidFill>
                  <a:srgbClr val="94A1A4"/>
                </a:solidFill>
                <a:latin typeface="Poppins"/>
                <a:ea typeface="Poppins"/>
                <a:cs typeface="Poppins"/>
                <a:sym typeface="Poppins"/>
              </a:rPr>
              <a:t>SESSION   </a:t>
            </a:r>
            <a:r>
              <a:rPr lang="en-US" sz="1050">
                <a:solidFill>
                  <a:srgbClr val="FFFFFF"/>
                </a:solidFill>
                <a:latin typeface="Poppins"/>
                <a:ea typeface="Poppins"/>
                <a:cs typeface="Poppins"/>
                <a:sym typeface="Poppins"/>
              </a:rPr>
              <a:t>approx. 60 minutes  ·  teacher-led</a:t>
            </a:r>
            <a:endParaRPr sz="1050">
              <a:solidFill>
                <a:schemeClr val="dk1"/>
              </a:solidFill>
              <a:latin typeface="Calibri"/>
              <a:ea typeface="Calibri"/>
              <a:cs typeface="Calibri"/>
              <a:sym typeface="Calibri"/>
            </a:endParaRPr>
          </a:p>
        </p:txBody>
      </p:sp>
      <p:sp>
        <p:nvSpPr>
          <p:cNvPr id="22" name="Google Shape;22;p3"/>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23" name="Google Shape;23;p3"/>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3"/>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25" name="Google Shape;25;p3"/>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0" name="Shape 30"/>
        <p:cNvGrpSpPr/>
        <p:nvPr/>
      </p:nvGrpSpPr>
      <p:grpSpPr>
        <a:xfrm>
          <a:off x="0" y="0"/>
          <a:ext cx="0" cy="0"/>
          <a:chOff x="0" y="0"/>
          <a:chExt cx="0" cy="0"/>
        </a:xfrm>
      </p:grpSpPr>
      <p:sp>
        <p:nvSpPr>
          <p:cNvPr id="31" name="Google Shape;31;p4"/>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4"/>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SETTLING IN</a:t>
            </a:r>
            <a:endParaRPr sz="1100">
              <a:solidFill>
                <a:schemeClr val="dk1"/>
              </a:solidFill>
              <a:latin typeface="Calibri"/>
              <a:ea typeface="Calibri"/>
              <a:cs typeface="Calibri"/>
              <a:sym typeface="Calibri"/>
            </a:endParaRPr>
          </a:p>
        </p:txBody>
      </p:sp>
      <p:sp>
        <p:nvSpPr>
          <p:cNvPr id="33" name="Google Shape;33;p4"/>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we'll cover</a:t>
            </a:r>
            <a:endParaRPr sz="3000">
              <a:solidFill>
                <a:schemeClr val="dk1"/>
              </a:solidFill>
              <a:latin typeface="Calibri"/>
              <a:ea typeface="Calibri"/>
              <a:cs typeface="Calibri"/>
              <a:sym typeface="Calibri"/>
            </a:endParaRPr>
          </a:p>
        </p:txBody>
      </p:sp>
      <p:sp>
        <p:nvSpPr>
          <p:cNvPr id="34" name="Google Shape;34;p4"/>
          <p:cNvSpPr/>
          <p:nvPr/>
        </p:nvSpPr>
        <p:spPr>
          <a:xfrm>
            <a:off x="9494215" y="502920"/>
            <a:ext cx="2194560" cy="384048"/>
          </a:xfrm>
          <a:prstGeom prst="roundRect">
            <a:avLst>
              <a:gd fmla="val 50000" name="adj"/>
            </a:avLst>
          </a:prstGeom>
          <a:solidFill>
            <a:srgbClr val="E2F0EA"/>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4"/>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950"/>
              <a:buFont typeface="Poppins SemiBold"/>
              <a:buNone/>
            </a:pPr>
            <a:r>
              <a:rPr lang="en-US" sz="950">
                <a:solidFill>
                  <a:srgbClr val="0F7A54"/>
                </a:solidFill>
                <a:latin typeface="Poppins SemiBold"/>
                <a:ea typeface="Poppins SemiBold"/>
                <a:cs typeface="Poppins SemiBold"/>
                <a:sym typeface="Poppins SemiBold"/>
              </a:rPr>
              <a:t>SESSION MAP</a:t>
            </a:r>
            <a:endParaRPr sz="950">
              <a:solidFill>
                <a:schemeClr val="dk1"/>
              </a:solidFill>
              <a:latin typeface="Calibri"/>
              <a:ea typeface="Calibri"/>
              <a:cs typeface="Calibri"/>
              <a:sym typeface="Calibri"/>
            </a:endParaRPr>
          </a:p>
        </p:txBody>
      </p:sp>
      <p:sp>
        <p:nvSpPr>
          <p:cNvPr id="36" name="Google Shape;36;p4"/>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Three threads, an honest conversation in the middle, and one habit you'll commit to by the end.</a:t>
            </a:r>
            <a:endParaRPr sz="1300">
              <a:solidFill>
                <a:schemeClr val="dk1"/>
              </a:solidFill>
              <a:latin typeface="Calibri"/>
              <a:ea typeface="Calibri"/>
              <a:cs typeface="Calibri"/>
              <a:sym typeface="Calibri"/>
            </a:endParaRPr>
          </a:p>
        </p:txBody>
      </p:sp>
      <p:sp>
        <p:nvSpPr>
          <p:cNvPr id="37" name="Google Shape;37;p4"/>
          <p:cNvSpPr/>
          <p:nvPr/>
        </p:nvSpPr>
        <p:spPr>
          <a:xfrm>
            <a:off x="502920" y="2368296"/>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4"/>
          <p:cNvSpPr/>
          <p:nvPr/>
        </p:nvSpPr>
        <p:spPr>
          <a:xfrm>
            <a:off x="704088" y="2569464"/>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70408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1</a:t>
            </a:r>
            <a:endParaRPr sz="1300">
              <a:solidFill>
                <a:schemeClr val="dk1"/>
              </a:solidFill>
              <a:latin typeface="Calibri"/>
              <a:ea typeface="Calibri"/>
              <a:cs typeface="Calibri"/>
              <a:sym typeface="Calibri"/>
            </a:endParaRPr>
          </a:p>
        </p:txBody>
      </p:sp>
      <p:pic>
        <p:nvPicPr>
          <p:cNvPr descr="preencoded.png" id="40" name="Google Shape;40;p4"/>
          <p:cNvPicPr preferRelativeResize="0"/>
          <p:nvPr/>
        </p:nvPicPr>
        <p:blipFill rotWithShape="1">
          <a:blip r:embed="rId3">
            <a:alphaModFix/>
          </a:blip>
          <a:srcRect b="0" l="0" r="0" t="0"/>
          <a:stretch/>
        </p:blipFill>
        <p:spPr>
          <a:xfrm>
            <a:off x="3374136" y="2569464"/>
            <a:ext cx="420624" cy="420624"/>
          </a:xfrm>
          <a:prstGeom prst="rect">
            <a:avLst/>
          </a:prstGeom>
          <a:noFill/>
          <a:ln>
            <a:noFill/>
          </a:ln>
        </p:spPr>
      </p:pic>
      <p:sp>
        <p:nvSpPr>
          <p:cNvPr id="41" name="Google Shape;41;p4"/>
          <p:cNvSpPr/>
          <p:nvPr/>
        </p:nvSpPr>
        <p:spPr>
          <a:xfrm>
            <a:off x="722376" y="3044952"/>
            <a:ext cx="3145536" cy="384048"/>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What changes</a:t>
            </a:r>
            <a:endParaRPr sz="1300">
              <a:solidFill>
                <a:schemeClr val="dk1"/>
              </a:solidFill>
              <a:latin typeface="Calibri"/>
              <a:ea typeface="Calibri"/>
              <a:cs typeface="Calibri"/>
              <a:sym typeface="Calibri"/>
            </a:endParaRPr>
          </a:p>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from school</a:t>
            </a:r>
            <a:endParaRPr sz="1300">
              <a:solidFill>
                <a:schemeClr val="dk1"/>
              </a:solidFill>
              <a:latin typeface="Calibri"/>
              <a:ea typeface="Calibri"/>
              <a:cs typeface="Calibri"/>
              <a:sym typeface="Calibri"/>
            </a:endParaRPr>
          </a:p>
        </p:txBody>
      </p:sp>
      <p:sp>
        <p:nvSpPr>
          <p:cNvPr id="42" name="Google Shape;42;p4"/>
          <p:cNvSpPr/>
          <p:nvPr/>
        </p:nvSpPr>
        <p:spPr>
          <a:xfrm>
            <a:off x="722376" y="3410712"/>
            <a:ext cx="3182112" cy="384048"/>
          </a:xfrm>
          <a:prstGeom prst="rect">
            <a:avLst/>
          </a:prstGeom>
          <a:noFill/>
          <a:ln>
            <a:noFill/>
          </a:ln>
        </p:spPr>
        <p:txBody>
          <a:bodyPr anchorCtr="0" anchor="ctr" bIns="0" lIns="0" spcFirstLastPara="1" rIns="0" wrap="square" tIns="0">
            <a:noAutofit/>
          </a:bodyPr>
          <a:lstStyle/>
          <a:p>
            <a:pPr indent="0" lvl="0" marL="0" marR="0" rtl="0" algn="l">
              <a:lnSpc>
                <a:spcPct val="125773"/>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The shift you're already feeling.</a:t>
            </a:r>
            <a:endParaRPr sz="970">
              <a:solidFill>
                <a:schemeClr val="dk1"/>
              </a:solidFill>
              <a:latin typeface="Calibri"/>
              <a:ea typeface="Calibri"/>
              <a:cs typeface="Calibri"/>
              <a:sym typeface="Calibri"/>
            </a:endParaRPr>
          </a:p>
        </p:txBody>
      </p:sp>
      <p:sp>
        <p:nvSpPr>
          <p:cNvPr id="43" name="Google Shape;43;p4"/>
          <p:cNvSpPr/>
          <p:nvPr/>
        </p:nvSpPr>
        <p:spPr>
          <a:xfrm>
            <a:off x="4343400" y="2368296"/>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4"/>
          <p:cNvSpPr/>
          <p:nvPr/>
        </p:nvSpPr>
        <p:spPr>
          <a:xfrm>
            <a:off x="4544568" y="2569464"/>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4"/>
          <p:cNvSpPr/>
          <p:nvPr/>
        </p:nvSpPr>
        <p:spPr>
          <a:xfrm>
            <a:off x="454456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2</a:t>
            </a:r>
            <a:endParaRPr sz="1300">
              <a:solidFill>
                <a:schemeClr val="dk1"/>
              </a:solidFill>
              <a:latin typeface="Calibri"/>
              <a:ea typeface="Calibri"/>
              <a:cs typeface="Calibri"/>
              <a:sym typeface="Calibri"/>
            </a:endParaRPr>
          </a:p>
        </p:txBody>
      </p:sp>
      <p:pic>
        <p:nvPicPr>
          <p:cNvPr descr="preencoded.png" id="46" name="Google Shape;46;p4"/>
          <p:cNvPicPr preferRelativeResize="0"/>
          <p:nvPr/>
        </p:nvPicPr>
        <p:blipFill rotWithShape="1">
          <a:blip r:embed="rId4">
            <a:alphaModFix/>
          </a:blip>
          <a:srcRect b="0" l="0" r="0" t="0"/>
          <a:stretch/>
        </p:blipFill>
        <p:spPr>
          <a:xfrm>
            <a:off x="7214616" y="2569464"/>
            <a:ext cx="420624" cy="420624"/>
          </a:xfrm>
          <a:prstGeom prst="rect">
            <a:avLst/>
          </a:prstGeom>
          <a:noFill/>
          <a:ln>
            <a:noFill/>
          </a:ln>
        </p:spPr>
      </p:pic>
      <p:sp>
        <p:nvSpPr>
          <p:cNvPr id="47" name="Google Shape;47;p4"/>
          <p:cNvSpPr/>
          <p:nvPr/>
        </p:nvSpPr>
        <p:spPr>
          <a:xfrm>
            <a:off x="4562856" y="3044952"/>
            <a:ext cx="3145536" cy="384048"/>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Time &amp; organisation</a:t>
            </a:r>
            <a:endParaRPr sz="1300">
              <a:solidFill>
                <a:schemeClr val="dk1"/>
              </a:solidFill>
              <a:latin typeface="Calibri"/>
              <a:ea typeface="Calibri"/>
              <a:cs typeface="Calibri"/>
              <a:sym typeface="Calibri"/>
            </a:endParaRPr>
          </a:p>
        </p:txBody>
      </p:sp>
      <p:sp>
        <p:nvSpPr>
          <p:cNvPr id="48" name="Google Shape;48;p4"/>
          <p:cNvSpPr/>
          <p:nvPr/>
        </p:nvSpPr>
        <p:spPr>
          <a:xfrm>
            <a:off x="4562856" y="3410712"/>
            <a:ext cx="3182112" cy="384048"/>
          </a:xfrm>
          <a:prstGeom prst="rect">
            <a:avLst/>
          </a:prstGeom>
          <a:noFill/>
          <a:ln>
            <a:noFill/>
          </a:ln>
        </p:spPr>
        <p:txBody>
          <a:bodyPr anchorCtr="0" anchor="ctr" bIns="0" lIns="0" spcFirstLastPara="1" rIns="0" wrap="square" tIns="0">
            <a:noAutofit/>
          </a:bodyPr>
          <a:lstStyle/>
          <a:p>
            <a:pPr indent="0" lvl="0" marL="0" marR="0" rtl="0" algn="l">
              <a:lnSpc>
                <a:spcPct val="125773"/>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Where consequences actually land.</a:t>
            </a:r>
            <a:endParaRPr sz="970">
              <a:solidFill>
                <a:schemeClr val="dk1"/>
              </a:solidFill>
              <a:latin typeface="Calibri"/>
              <a:ea typeface="Calibri"/>
              <a:cs typeface="Calibri"/>
              <a:sym typeface="Calibri"/>
            </a:endParaRPr>
          </a:p>
        </p:txBody>
      </p:sp>
      <p:sp>
        <p:nvSpPr>
          <p:cNvPr id="49" name="Google Shape;49;p4"/>
          <p:cNvSpPr/>
          <p:nvPr/>
        </p:nvSpPr>
        <p:spPr>
          <a:xfrm>
            <a:off x="8183880" y="2368296"/>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 name="Google Shape;50;p4"/>
          <p:cNvSpPr/>
          <p:nvPr/>
        </p:nvSpPr>
        <p:spPr>
          <a:xfrm>
            <a:off x="8385048" y="2569464"/>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8385048" y="256946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3</a:t>
            </a:r>
            <a:endParaRPr sz="1300">
              <a:solidFill>
                <a:schemeClr val="dk1"/>
              </a:solidFill>
              <a:latin typeface="Calibri"/>
              <a:ea typeface="Calibri"/>
              <a:cs typeface="Calibri"/>
              <a:sym typeface="Calibri"/>
            </a:endParaRPr>
          </a:p>
        </p:txBody>
      </p:sp>
      <p:pic>
        <p:nvPicPr>
          <p:cNvPr descr="preencoded.png" id="52" name="Google Shape;52;p4"/>
          <p:cNvPicPr preferRelativeResize="0"/>
          <p:nvPr/>
        </p:nvPicPr>
        <p:blipFill rotWithShape="1">
          <a:blip r:embed="rId5">
            <a:alphaModFix/>
          </a:blip>
          <a:srcRect b="0" l="0" r="0" t="0"/>
          <a:stretch/>
        </p:blipFill>
        <p:spPr>
          <a:xfrm>
            <a:off x="11055096" y="2569464"/>
            <a:ext cx="420624" cy="420624"/>
          </a:xfrm>
          <a:prstGeom prst="rect">
            <a:avLst/>
          </a:prstGeom>
          <a:noFill/>
          <a:ln>
            <a:noFill/>
          </a:ln>
        </p:spPr>
      </p:pic>
      <p:sp>
        <p:nvSpPr>
          <p:cNvPr id="53" name="Google Shape;53;p4"/>
          <p:cNvSpPr/>
          <p:nvPr/>
        </p:nvSpPr>
        <p:spPr>
          <a:xfrm>
            <a:off x="8403336" y="3044952"/>
            <a:ext cx="3145536" cy="384048"/>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Seek Opportunity</a:t>
            </a:r>
            <a:endParaRPr sz="1300">
              <a:solidFill>
                <a:schemeClr val="dk1"/>
              </a:solidFill>
              <a:latin typeface="Calibri"/>
              <a:ea typeface="Calibri"/>
              <a:cs typeface="Calibri"/>
              <a:sym typeface="Calibri"/>
            </a:endParaRPr>
          </a:p>
        </p:txBody>
      </p:sp>
      <p:sp>
        <p:nvSpPr>
          <p:cNvPr id="54" name="Google Shape;54;p4"/>
          <p:cNvSpPr/>
          <p:nvPr/>
        </p:nvSpPr>
        <p:spPr>
          <a:xfrm>
            <a:off x="8403336" y="3410712"/>
            <a:ext cx="3182112" cy="384048"/>
          </a:xfrm>
          <a:prstGeom prst="rect">
            <a:avLst/>
          </a:prstGeom>
          <a:noFill/>
          <a:ln>
            <a:noFill/>
          </a:ln>
        </p:spPr>
        <p:txBody>
          <a:bodyPr anchorCtr="0" anchor="ctr" bIns="0" lIns="0" spcFirstLastPara="1" rIns="0" wrap="square" tIns="0">
            <a:noAutofit/>
          </a:bodyPr>
          <a:lstStyle/>
          <a:p>
            <a:pPr indent="0" lvl="0" marL="0" marR="0" rtl="0" algn="l">
              <a:lnSpc>
                <a:spcPct val="125773"/>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Independence — the useful version.</a:t>
            </a:r>
            <a:endParaRPr sz="970">
              <a:solidFill>
                <a:schemeClr val="dk1"/>
              </a:solidFill>
              <a:latin typeface="Calibri"/>
              <a:ea typeface="Calibri"/>
              <a:cs typeface="Calibri"/>
              <a:sym typeface="Calibri"/>
            </a:endParaRPr>
          </a:p>
        </p:txBody>
      </p:sp>
      <p:sp>
        <p:nvSpPr>
          <p:cNvPr id="55" name="Google Shape;55;p4"/>
          <p:cNvSpPr/>
          <p:nvPr/>
        </p:nvSpPr>
        <p:spPr>
          <a:xfrm>
            <a:off x="502920" y="4087368"/>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4"/>
          <p:cNvSpPr/>
          <p:nvPr/>
        </p:nvSpPr>
        <p:spPr>
          <a:xfrm>
            <a:off x="704088" y="4288536"/>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704088" y="42885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4</a:t>
            </a:r>
            <a:endParaRPr sz="1300">
              <a:solidFill>
                <a:schemeClr val="dk1"/>
              </a:solidFill>
              <a:latin typeface="Calibri"/>
              <a:ea typeface="Calibri"/>
              <a:cs typeface="Calibri"/>
              <a:sym typeface="Calibri"/>
            </a:endParaRPr>
          </a:p>
        </p:txBody>
      </p:sp>
      <p:pic>
        <p:nvPicPr>
          <p:cNvPr descr="preencoded.png" id="58" name="Google Shape;58;p4"/>
          <p:cNvPicPr preferRelativeResize="0"/>
          <p:nvPr/>
        </p:nvPicPr>
        <p:blipFill rotWithShape="1">
          <a:blip r:embed="rId6">
            <a:alphaModFix/>
          </a:blip>
          <a:srcRect b="0" l="0" r="0" t="0"/>
          <a:stretch/>
        </p:blipFill>
        <p:spPr>
          <a:xfrm>
            <a:off x="3374136" y="4288536"/>
            <a:ext cx="420624" cy="420624"/>
          </a:xfrm>
          <a:prstGeom prst="rect">
            <a:avLst/>
          </a:prstGeom>
          <a:noFill/>
          <a:ln>
            <a:noFill/>
          </a:ln>
        </p:spPr>
      </p:pic>
      <p:sp>
        <p:nvSpPr>
          <p:cNvPr id="59" name="Google Shape;59;p4"/>
          <p:cNvSpPr/>
          <p:nvPr/>
        </p:nvSpPr>
        <p:spPr>
          <a:xfrm>
            <a:off x="722376" y="4764024"/>
            <a:ext cx="3145536" cy="384048"/>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Confidence</a:t>
            </a:r>
            <a:endParaRPr sz="1300">
              <a:solidFill>
                <a:schemeClr val="dk1"/>
              </a:solidFill>
              <a:latin typeface="Calibri"/>
              <a:ea typeface="Calibri"/>
              <a:cs typeface="Calibri"/>
              <a:sym typeface="Calibri"/>
            </a:endParaRPr>
          </a:p>
        </p:txBody>
      </p:sp>
      <p:sp>
        <p:nvSpPr>
          <p:cNvPr id="60" name="Google Shape;60;p4"/>
          <p:cNvSpPr/>
          <p:nvPr/>
        </p:nvSpPr>
        <p:spPr>
          <a:xfrm>
            <a:off x="722376" y="5129784"/>
            <a:ext cx="3182112" cy="384048"/>
          </a:xfrm>
          <a:prstGeom prst="rect">
            <a:avLst/>
          </a:prstGeom>
          <a:noFill/>
          <a:ln>
            <a:noFill/>
          </a:ln>
        </p:spPr>
        <p:txBody>
          <a:bodyPr anchorCtr="0" anchor="ctr" bIns="0" lIns="0" spcFirstLastPara="1" rIns="0" wrap="square" tIns="0">
            <a:noAutofit/>
          </a:bodyPr>
          <a:lstStyle/>
          <a:p>
            <a:pPr indent="0" lvl="0" marL="0" marR="0" rtl="0" algn="l">
              <a:lnSpc>
                <a:spcPct val="125773"/>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Feeling out of depth ≠ wrong place.</a:t>
            </a:r>
            <a:endParaRPr sz="970">
              <a:solidFill>
                <a:schemeClr val="dk1"/>
              </a:solidFill>
              <a:latin typeface="Calibri"/>
              <a:ea typeface="Calibri"/>
              <a:cs typeface="Calibri"/>
              <a:sym typeface="Calibri"/>
            </a:endParaRPr>
          </a:p>
        </p:txBody>
      </p:sp>
      <p:sp>
        <p:nvSpPr>
          <p:cNvPr id="61" name="Google Shape;61;p4"/>
          <p:cNvSpPr/>
          <p:nvPr/>
        </p:nvSpPr>
        <p:spPr>
          <a:xfrm>
            <a:off x="4343400" y="4087368"/>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4"/>
          <p:cNvSpPr/>
          <p:nvPr/>
        </p:nvSpPr>
        <p:spPr>
          <a:xfrm>
            <a:off x="4544568" y="4288536"/>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 name="Google Shape;63;p4"/>
          <p:cNvSpPr/>
          <p:nvPr/>
        </p:nvSpPr>
        <p:spPr>
          <a:xfrm>
            <a:off x="4544568" y="42885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5</a:t>
            </a:r>
            <a:endParaRPr sz="1300">
              <a:solidFill>
                <a:schemeClr val="dk1"/>
              </a:solidFill>
              <a:latin typeface="Calibri"/>
              <a:ea typeface="Calibri"/>
              <a:cs typeface="Calibri"/>
              <a:sym typeface="Calibri"/>
            </a:endParaRPr>
          </a:p>
        </p:txBody>
      </p:sp>
      <p:pic>
        <p:nvPicPr>
          <p:cNvPr descr="preencoded.png" id="64" name="Google Shape;64;p4"/>
          <p:cNvPicPr preferRelativeResize="0"/>
          <p:nvPr/>
        </p:nvPicPr>
        <p:blipFill rotWithShape="1">
          <a:blip r:embed="rId7">
            <a:alphaModFix/>
          </a:blip>
          <a:srcRect b="0" l="0" r="0" t="0"/>
          <a:stretch/>
        </p:blipFill>
        <p:spPr>
          <a:xfrm>
            <a:off x="7214616" y="4288536"/>
            <a:ext cx="420624" cy="420624"/>
          </a:xfrm>
          <a:prstGeom prst="rect">
            <a:avLst/>
          </a:prstGeom>
          <a:noFill/>
          <a:ln>
            <a:noFill/>
          </a:ln>
        </p:spPr>
      </p:pic>
      <p:sp>
        <p:nvSpPr>
          <p:cNvPr id="65" name="Google Shape;65;p4"/>
          <p:cNvSpPr/>
          <p:nvPr/>
        </p:nvSpPr>
        <p:spPr>
          <a:xfrm>
            <a:off x="4562856" y="4764024"/>
            <a:ext cx="3145536" cy="384048"/>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Attendance</a:t>
            </a:r>
            <a:endParaRPr sz="1300">
              <a:solidFill>
                <a:schemeClr val="dk1"/>
              </a:solidFill>
              <a:latin typeface="Calibri"/>
              <a:ea typeface="Calibri"/>
              <a:cs typeface="Calibri"/>
              <a:sym typeface="Calibri"/>
            </a:endParaRPr>
          </a:p>
        </p:txBody>
      </p:sp>
      <p:sp>
        <p:nvSpPr>
          <p:cNvPr id="66" name="Google Shape;66;p4"/>
          <p:cNvSpPr/>
          <p:nvPr/>
        </p:nvSpPr>
        <p:spPr>
          <a:xfrm>
            <a:off x="4562856" y="5129784"/>
            <a:ext cx="3182112" cy="384048"/>
          </a:xfrm>
          <a:prstGeom prst="rect">
            <a:avLst/>
          </a:prstGeom>
          <a:noFill/>
          <a:ln>
            <a:noFill/>
          </a:ln>
        </p:spPr>
        <p:txBody>
          <a:bodyPr anchorCtr="0" anchor="ctr" bIns="0" lIns="0" spcFirstLastPara="1" rIns="0" wrap="square" tIns="0">
            <a:noAutofit/>
          </a:bodyPr>
          <a:lstStyle/>
          <a:p>
            <a:pPr indent="0" lvl="0" marL="0" marR="0" rtl="0" algn="l">
              <a:lnSpc>
                <a:spcPct val="125773"/>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The plain case — and the real barriers.</a:t>
            </a:r>
            <a:endParaRPr sz="970">
              <a:solidFill>
                <a:schemeClr val="dk1"/>
              </a:solidFill>
              <a:latin typeface="Calibri"/>
              <a:ea typeface="Calibri"/>
              <a:cs typeface="Calibri"/>
              <a:sym typeface="Calibri"/>
            </a:endParaRPr>
          </a:p>
        </p:txBody>
      </p:sp>
      <p:sp>
        <p:nvSpPr>
          <p:cNvPr id="67" name="Google Shape;67;p4"/>
          <p:cNvSpPr/>
          <p:nvPr/>
        </p:nvSpPr>
        <p:spPr>
          <a:xfrm>
            <a:off x="8183880" y="4087368"/>
            <a:ext cx="3584448" cy="1481328"/>
          </a:xfrm>
          <a:prstGeom prst="roundRect">
            <a:avLst>
              <a:gd fmla="val 617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8385048" y="4288536"/>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 name="Google Shape;69;p4"/>
          <p:cNvSpPr/>
          <p:nvPr/>
        </p:nvSpPr>
        <p:spPr>
          <a:xfrm>
            <a:off x="8385048" y="428853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300"/>
              <a:buFont typeface="Poppins SemiBold"/>
              <a:buNone/>
            </a:pPr>
            <a:r>
              <a:rPr lang="en-US" sz="1300">
                <a:solidFill>
                  <a:srgbClr val="0F7A54"/>
                </a:solidFill>
                <a:latin typeface="Poppins SemiBold"/>
                <a:ea typeface="Poppins SemiBold"/>
                <a:cs typeface="Poppins SemiBold"/>
                <a:sym typeface="Poppins SemiBold"/>
              </a:rPr>
              <a:t>6</a:t>
            </a:r>
            <a:endParaRPr sz="1300">
              <a:solidFill>
                <a:schemeClr val="dk1"/>
              </a:solidFill>
              <a:latin typeface="Calibri"/>
              <a:ea typeface="Calibri"/>
              <a:cs typeface="Calibri"/>
              <a:sym typeface="Calibri"/>
            </a:endParaRPr>
          </a:p>
        </p:txBody>
      </p:sp>
      <p:pic>
        <p:nvPicPr>
          <p:cNvPr descr="preencoded.png" id="70" name="Google Shape;70;p4"/>
          <p:cNvPicPr preferRelativeResize="0"/>
          <p:nvPr/>
        </p:nvPicPr>
        <p:blipFill rotWithShape="1">
          <a:blip r:embed="rId8">
            <a:alphaModFix/>
          </a:blip>
          <a:srcRect b="0" l="0" r="0" t="0"/>
          <a:stretch/>
        </p:blipFill>
        <p:spPr>
          <a:xfrm>
            <a:off x="11055096" y="4288536"/>
            <a:ext cx="420624" cy="420624"/>
          </a:xfrm>
          <a:prstGeom prst="rect">
            <a:avLst/>
          </a:prstGeom>
          <a:noFill/>
          <a:ln>
            <a:noFill/>
          </a:ln>
        </p:spPr>
      </p:pic>
      <p:sp>
        <p:nvSpPr>
          <p:cNvPr id="71" name="Google Shape;71;p4"/>
          <p:cNvSpPr/>
          <p:nvPr/>
        </p:nvSpPr>
        <p:spPr>
          <a:xfrm>
            <a:off x="8403336" y="4764024"/>
            <a:ext cx="3145536" cy="384048"/>
          </a:xfrm>
          <a:prstGeom prst="rect">
            <a:avLst/>
          </a:prstGeom>
          <a:noFill/>
          <a:ln>
            <a:noFill/>
          </a:ln>
        </p:spPr>
        <p:txBody>
          <a:bodyPr anchorCtr="0" anchor="ctr" bIns="0" lIns="0" spcFirstLastPara="1" rIns="0" wrap="square" tIns="0">
            <a:noAutofit/>
          </a:bodyPr>
          <a:lstStyle/>
          <a:p>
            <a:pPr indent="0" lvl="0" marL="0" marR="0" rtl="0" algn="l">
              <a:lnSpc>
                <a:spcPct val="115384"/>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Your habit</a:t>
            </a:r>
            <a:endParaRPr sz="1300">
              <a:solidFill>
                <a:schemeClr val="dk1"/>
              </a:solidFill>
              <a:latin typeface="Calibri"/>
              <a:ea typeface="Calibri"/>
              <a:cs typeface="Calibri"/>
              <a:sym typeface="Calibri"/>
            </a:endParaRPr>
          </a:p>
        </p:txBody>
      </p:sp>
      <p:sp>
        <p:nvSpPr>
          <p:cNvPr id="72" name="Google Shape;72;p4"/>
          <p:cNvSpPr/>
          <p:nvPr/>
        </p:nvSpPr>
        <p:spPr>
          <a:xfrm>
            <a:off x="8403336" y="5129784"/>
            <a:ext cx="3182112" cy="384048"/>
          </a:xfrm>
          <a:prstGeom prst="rect">
            <a:avLst/>
          </a:prstGeom>
          <a:noFill/>
          <a:ln>
            <a:noFill/>
          </a:ln>
        </p:spPr>
        <p:txBody>
          <a:bodyPr anchorCtr="0" anchor="ctr" bIns="0" lIns="0" spcFirstLastPara="1" rIns="0" wrap="square" tIns="0">
            <a:noAutofit/>
          </a:bodyPr>
          <a:lstStyle/>
          <a:p>
            <a:pPr indent="0" lvl="0" marL="0" marR="0" rtl="0" algn="l">
              <a:lnSpc>
                <a:spcPct val="125773"/>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One thing you'll change this week.</a:t>
            </a:r>
            <a:endParaRPr sz="970">
              <a:solidFill>
                <a:schemeClr val="dk1"/>
              </a:solidFill>
              <a:latin typeface="Calibri"/>
              <a:ea typeface="Calibri"/>
              <a:cs typeface="Calibri"/>
              <a:sym typeface="Calibri"/>
            </a:endParaRPr>
          </a:p>
        </p:txBody>
      </p:sp>
      <p:sp>
        <p:nvSpPr>
          <p:cNvPr id="73" name="Google Shape;73;p4"/>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74" name="Google Shape;74;p4"/>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4"/>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76" name="Google Shape;76;p4"/>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1" name="Shape 81"/>
        <p:cNvGrpSpPr/>
        <p:nvPr/>
      </p:nvGrpSpPr>
      <p:grpSpPr>
        <a:xfrm>
          <a:off x="0" y="0"/>
          <a:ext cx="0" cy="0"/>
          <a:chOff x="0" y="0"/>
          <a:chExt cx="0" cy="0"/>
        </a:xfrm>
      </p:grpSpPr>
      <p:sp>
        <p:nvSpPr>
          <p:cNvPr id="82" name="Google Shape;82;p5"/>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5"/>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TWO WEEKS IN</a:t>
            </a:r>
            <a:endParaRPr sz="1100">
              <a:solidFill>
                <a:schemeClr val="dk1"/>
              </a:solidFill>
              <a:latin typeface="Calibri"/>
              <a:ea typeface="Calibri"/>
              <a:cs typeface="Calibri"/>
              <a:sym typeface="Calibri"/>
            </a:endParaRPr>
          </a:p>
        </p:txBody>
      </p:sp>
      <p:sp>
        <p:nvSpPr>
          <p:cNvPr id="84" name="Google Shape;84;p5"/>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How is it actually going?</a:t>
            </a:r>
            <a:endParaRPr sz="3000">
              <a:solidFill>
                <a:schemeClr val="dk1"/>
              </a:solidFill>
              <a:latin typeface="Calibri"/>
              <a:ea typeface="Calibri"/>
              <a:cs typeface="Calibri"/>
              <a:sym typeface="Calibri"/>
            </a:endParaRPr>
          </a:p>
        </p:txBody>
      </p:sp>
      <p:sp>
        <p:nvSpPr>
          <p:cNvPr id="85" name="Google Shape;85;p5"/>
          <p:cNvSpPr/>
          <p:nvPr/>
        </p:nvSpPr>
        <p:spPr>
          <a:xfrm>
            <a:off x="9494215" y="502920"/>
            <a:ext cx="2194560" cy="384048"/>
          </a:xfrm>
          <a:prstGeom prst="roundRect">
            <a:avLst>
              <a:gd fmla="val 50000" name="adj"/>
            </a:avLst>
          </a:prstGeom>
          <a:solidFill>
            <a:srgbClr val="0F7A5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6" name="Google Shape;86;p5"/>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DISCUSSION</a:t>
            </a:r>
            <a:endParaRPr sz="950">
              <a:solidFill>
                <a:schemeClr val="dk1"/>
              </a:solidFill>
              <a:latin typeface="Calibri"/>
              <a:ea typeface="Calibri"/>
              <a:cs typeface="Calibri"/>
              <a:sym typeface="Calibri"/>
            </a:endParaRPr>
          </a:p>
        </p:txBody>
      </p:sp>
      <p:sp>
        <p:nvSpPr>
          <p:cNvPr id="87" name="Google Shape;87;p5"/>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Before we get into the content — a settled, honest check-in on the first couple of weeks.</a:t>
            </a:r>
            <a:endParaRPr sz="1300">
              <a:solidFill>
                <a:schemeClr val="dk1"/>
              </a:solidFill>
              <a:latin typeface="Calibri"/>
              <a:ea typeface="Calibri"/>
              <a:cs typeface="Calibri"/>
              <a:sym typeface="Calibri"/>
            </a:endParaRPr>
          </a:p>
        </p:txBody>
      </p:sp>
      <p:sp>
        <p:nvSpPr>
          <p:cNvPr id="88" name="Google Shape;88;p5"/>
          <p:cNvSpPr/>
          <p:nvPr/>
        </p:nvSpPr>
        <p:spPr>
          <a:xfrm>
            <a:off x="502920" y="2350008"/>
            <a:ext cx="5989320" cy="3383280"/>
          </a:xfrm>
          <a:prstGeom prst="roundRect">
            <a:avLst>
              <a:gd fmla="val 324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502920" y="2350008"/>
            <a:ext cx="5989320" cy="5303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5"/>
          <p:cNvSpPr/>
          <p:nvPr/>
        </p:nvSpPr>
        <p:spPr>
          <a:xfrm>
            <a:off x="777240" y="2350008"/>
            <a:ext cx="54406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50"/>
              <a:buFont typeface="Poppins SemiBold"/>
              <a:buNone/>
            </a:pPr>
            <a:r>
              <a:rPr lang="en-US" sz="1150">
                <a:solidFill>
                  <a:srgbClr val="FFFFFF"/>
                </a:solidFill>
                <a:latin typeface="Poppins SemiBold"/>
                <a:ea typeface="Poppins SemiBold"/>
                <a:cs typeface="Poppins SemiBold"/>
                <a:sym typeface="Poppins SemiBold"/>
              </a:rPr>
              <a:t>IN YOUR GROUP — TALK ABOUT</a:t>
            </a:r>
            <a:endParaRPr sz="1150">
              <a:solidFill>
                <a:schemeClr val="dk1"/>
              </a:solidFill>
              <a:latin typeface="Calibri"/>
              <a:ea typeface="Calibri"/>
              <a:cs typeface="Calibri"/>
              <a:sym typeface="Calibri"/>
            </a:endParaRPr>
          </a:p>
        </p:txBody>
      </p:sp>
      <p:sp>
        <p:nvSpPr>
          <p:cNvPr id="91" name="Google Shape;91;p5"/>
          <p:cNvSpPr/>
          <p:nvPr/>
        </p:nvSpPr>
        <p:spPr>
          <a:xfrm>
            <a:off x="795528" y="3127248"/>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5"/>
          <p:cNvSpPr/>
          <p:nvPr/>
        </p:nvSpPr>
        <p:spPr>
          <a:xfrm>
            <a:off x="795528" y="312724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400"/>
              <a:buFont typeface="Poppins SemiBold"/>
              <a:buNone/>
            </a:pPr>
            <a:r>
              <a:rPr lang="en-US" sz="1400">
                <a:solidFill>
                  <a:srgbClr val="0F7A54"/>
                </a:solidFill>
                <a:latin typeface="Poppins SemiBold"/>
                <a:ea typeface="Poppins SemiBold"/>
                <a:cs typeface="Poppins SemiBold"/>
                <a:sym typeface="Poppins SemiBold"/>
              </a:rPr>
              <a:t>1</a:t>
            </a:r>
            <a:endParaRPr sz="1400">
              <a:solidFill>
                <a:schemeClr val="dk1"/>
              </a:solidFill>
              <a:latin typeface="Calibri"/>
              <a:ea typeface="Calibri"/>
              <a:cs typeface="Calibri"/>
              <a:sym typeface="Calibri"/>
            </a:endParaRPr>
          </a:p>
        </p:txBody>
      </p:sp>
      <p:sp>
        <p:nvSpPr>
          <p:cNvPr id="93" name="Google Shape;93;p5"/>
          <p:cNvSpPr/>
          <p:nvPr/>
        </p:nvSpPr>
        <p:spPr>
          <a:xfrm>
            <a:off x="1380744" y="3054096"/>
            <a:ext cx="4800600" cy="64008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One thing about college that's surprised you — good or bad.</a:t>
            </a:r>
            <a:endParaRPr sz="1150">
              <a:solidFill>
                <a:schemeClr val="dk1"/>
              </a:solidFill>
              <a:latin typeface="Calibri"/>
              <a:ea typeface="Calibri"/>
              <a:cs typeface="Calibri"/>
              <a:sym typeface="Calibri"/>
            </a:endParaRPr>
          </a:p>
        </p:txBody>
      </p:sp>
      <p:sp>
        <p:nvSpPr>
          <p:cNvPr id="94" name="Google Shape;94;p5"/>
          <p:cNvSpPr/>
          <p:nvPr/>
        </p:nvSpPr>
        <p:spPr>
          <a:xfrm>
            <a:off x="795528" y="3840480"/>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5"/>
          <p:cNvSpPr/>
          <p:nvPr/>
        </p:nvSpPr>
        <p:spPr>
          <a:xfrm>
            <a:off x="795528" y="384048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400"/>
              <a:buFont typeface="Poppins SemiBold"/>
              <a:buNone/>
            </a:pPr>
            <a:r>
              <a:rPr lang="en-US" sz="1400">
                <a:solidFill>
                  <a:srgbClr val="0F7A54"/>
                </a:solidFill>
                <a:latin typeface="Poppins SemiBold"/>
                <a:ea typeface="Poppins SemiBold"/>
                <a:cs typeface="Poppins SemiBold"/>
                <a:sym typeface="Poppins SemiBold"/>
              </a:rPr>
              <a:t>2</a:t>
            </a:r>
            <a:endParaRPr sz="1400">
              <a:solidFill>
                <a:schemeClr val="dk1"/>
              </a:solidFill>
              <a:latin typeface="Calibri"/>
              <a:ea typeface="Calibri"/>
              <a:cs typeface="Calibri"/>
              <a:sym typeface="Calibri"/>
            </a:endParaRPr>
          </a:p>
        </p:txBody>
      </p:sp>
      <p:sp>
        <p:nvSpPr>
          <p:cNvPr id="96" name="Google Shape;96;p5"/>
          <p:cNvSpPr/>
          <p:nvPr/>
        </p:nvSpPr>
        <p:spPr>
          <a:xfrm>
            <a:off x="1380744" y="3767328"/>
            <a:ext cx="4800600" cy="64008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One thing you're already doing differently from school.</a:t>
            </a:r>
            <a:endParaRPr sz="1150">
              <a:solidFill>
                <a:schemeClr val="dk1"/>
              </a:solidFill>
              <a:latin typeface="Calibri"/>
              <a:ea typeface="Calibri"/>
              <a:cs typeface="Calibri"/>
              <a:sym typeface="Calibri"/>
            </a:endParaRPr>
          </a:p>
        </p:txBody>
      </p:sp>
      <p:sp>
        <p:nvSpPr>
          <p:cNvPr id="97" name="Google Shape;97;p5"/>
          <p:cNvSpPr/>
          <p:nvPr/>
        </p:nvSpPr>
        <p:spPr>
          <a:xfrm>
            <a:off x="795528" y="4553712"/>
            <a:ext cx="420624" cy="420624"/>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5"/>
          <p:cNvSpPr/>
          <p:nvPr/>
        </p:nvSpPr>
        <p:spPr>
          <a:xfrm>
            <a:off x="795528" y="455371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400"/>
              <a:buFont typeface="Poppins SemiBold"/>
              <a:buNone/>
            </a:pPr>
            <a:r>
              <a:rPr lang="en-US" sz="1400">
                <a:solidFill>
                  <a:srgbClr val="0F7A54"/>
                </a:solidFill>
                <a:latin typeface="Poppins SemiBold"/>
                <a:ea typeface="Poppins SemiBold"/>
                <a:cs typeface="Poppins SemiBold"/>
                <a:sym typeface="Poppins SemiBold"/>
              </a:rPr>
              <a:t>3</a:t>
            </a:r>
            <a:endParaRPr sz="1400">
              <a:solidFill>
                <a:schemeClr val="dk1"/>
              </a:solidFill>
              <a:latin typeface="Calibri"/>
              <a:ea typeface="Calibri"/>
              <a:cs typeface="Calibri"/>
              <a:sym typeface="Calibri"/>
            </a:endParaRPr>
          </a:p>
        </p:txBody>
      </p:sp>
      <p:sp>
        <p:nvSpPr>
          <p:cNvPr id="99" name="Google Shape;99;p5"/>
          <p:cNvSpPr/>
          <p:nvPr/>
        </p:nvSpPr>
        <p:spPr>
          <a:xfrm>
            <a:off x="1380744" y="4480560"/>
            <a:ext cx="4800600" cy="64008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One thing you're finding harder than you expected.</a:t>
            </a:r>
            <a:endParaRPr sz="1150">
              <a:solidFill>
                <a:schemeClr val="dk1"/>
              </a:solidFill>
              <a:latin typeface="Calibri"/>
              <a:ea typeface="Calibri"/>
              <a:cs typeface="Calibri"/>
              <a:sym typeface="Calibri"/>
            </a:endParaRPr>
          </a:p>
        </p:txBody>
      </p:sp>
      <p:sp>
        <p:nvSpPr>
          <p:cNvPr id="100" name="Google Shape;100;p5"/>
          <p:cNvSpPr/>
          <p:nvPr/>
        </p:nvSpPr>
        <p:spPr>
          <a:xfrm>
            <a:off x="795528" y="5394960"/>
            <a:ext cx="5404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50"/>
              <a:buFont typeface="Poppins"/>
              <a:buNone/>
            </a:pPr>
            <a:r>
              <a:rPr i="1" lang="en-US" sz="1050">
                <a:solidFill>
                  <a:srgbClr val="5A6A6F"/>
                </a:solidFill>
                <a:latin typeface="Poppins"/>
                <a:ea typeface="Poppins"/>
                <a:cs typeface="Poppins"/>
                <a:sym typeface="Poppins"/>
              </a:rPr>
              <a:t>About 6 minutes — honest answers beat polished ones.</a:t>
            </a:r>
            <a:endParaRPr sz="1050">
              <a:solidFill>
                <a:schemeClr val="dk1"/>
              </a:solidFill>
              <a:latin typeface="Calibri"/>
              <a:ea typeface="Calibri"/>
              <a:cs typeface="Calibri"/>
              <a:sym typeface="Calibri"/>
            </a:endParaRPr>
          </a:p>
        </p:txBody>
      </p:sp>
      <p:sp>
        <p:nvSpPr>
          <p:cNvPr id="101" name="Google Shape;101;p5"/>
          <p:cNvSpPr/>
          <p:nvPr/>
        </p:nvSpPr>
        <p:spPr>
          <a:xfrm>
            <a:off x="6766560" y="2350008"/>
            <a:ext cx="4919472" cy="3383280"/>
          </a:xfrm>
          <a:prstGeom prst="roundRect">
            <a:avLst>
              <a:gd fmla="val 3243"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2" name="Google Shape;102;p5"/>
          <p:cNvPicPr preferRelativeResize="0"/>
          <p:nvPr/>
        </p:nvPicPr>
        <p:blipFill rotWithShape="1">
          <a:blip r:embed="rId3">
            <a:alphaModFix/>
          </a:blip>
          <a:srcRect b="0" l="0" r="0" t="0"/>
          <a:stretch/>
        </p:blipFill>
        <p:spPr>
          <a:xfrm>
            <a:off x="7077456" y="2679192"/>
            <a:ext cx="457200" cy="457200"/>
          </a:xfrm>
          <a:prstGeom prst="rect">
            <a:avLst/>
          </a:prstGeom>
          <a:noFill/>
          <a:ln>
            <a:noFill/>
          </a:ln>
        </p:spPr>
      </p:pic>
      <p:sp>
        <p:nvSpPr>
          <p:cNvPr id="103" name="Google Shape;103;p5"/>
          <p:cNvSpPr/>
          <p:nvPr/>
        </p:nvSpPr>
        <p:spPr>
          <a:xfrm>
            <a:off x="7077456" y="3227832"/>
            <a:ext cx="4297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Why we're starting here</a:t>
            </a:r>
            <a:endParaRPr sz="1600">
              <a:solidFill>
                <a:schemeClr val="dk1"/>
              </a:solidFill>
              <a:latin typeface="Calibri"/>
              <a:ea typeface="Calibri"/>
              <a:cs typeface="Calibri"/>
              <a:sym typeface="Calibri"/>
            </a:endParaRPr>
          </a:p>
        </p:txBody>
      </p:sp>
      <p:sp>
        <p:nvSpPr>
          <p:cNvPr id="104" name="Google Shape;104;p5"/>
          <p:cNvSpPr/>
          <p:nvPr/>
        </p:nvSpPr>
        <p:spPr>
          <a:xfrm>
            <a:off x="7077456" y="3721608"/>
            <a:ext cx="4297680" cy="187452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C7D0D3"/>
              </a:buClr>
              <a:buSzPts val="1150"/>
              <a:buFont typeface="Poppins"/>
              <a:buNone/>
            </a:pPr>
            <a:r>
              <a:rPr lang="en-US" sz="1150">
                <a:solidFill>
                  <a:srgbClr val="C7D0D3"/>
                </a:solidFill>
                <a:latin typeface="Poppins"/>
                <a:ea typeface="Poppins"/>
                <a:cs typeface="Poppins"/>
                <a:sym typeface="Poppins"/>
              </a:rPr>
              <a:t>By now you've had a fortnight of the real thing. Whatever you imagined college would be like, it'll be a bit different from that — for better or worse.</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C7D0D3"/>
              </a:buClr>
              <a:buSzPts val="1150"/>
              <a:buFont typeface="Poppins"/>
              <a:buNone/>
            </a:pPr>
            <a:r>
              <a:rPr lang="en-US" sz="1150">
                <a:solidFill>
                  <a:srgbClr val="C7D0D3"/>
                </a:solidFill>
                <a:latin typeface="Poppins"/>
                <a:ea typeface="Poppins"/>
                <a:cs typeface="Poppins"/>
                <a:sym typeface="Poppins"/>
              </a:rPr>
              <a:t>Naming what's actually been hard, and what's been a relief, is more useful than another welcome speech. Everyone else in your group is feeling something too.</a:t>
            </a:r>
            <a:endParaRPr sz="1150">
              <a:solidFill>
                <a:schemeClr val="dk1"/>
              </a:solidFill>
              <a:latin typeface="Calibri"/>
              <a:ea typeface="Calibri"/>
              <a:cs typeface="Calibri"/>
              <a:sym typeface="Calibri"/>
            </a:endParaRPr>
          </a:p>
        </p:txBody>
      </p:sp>
      <p:sp>
        <p:nvSpPr>
          <p:cNvPr id="105" name="Google Shape;105;p5"/>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106" name="Google Shape;106;p5"/>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5"/>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108" name="Google Shape;108;p5"/>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3" name="Shape 113"/>
        <p:cNvGrpSpPr/>
        <p:nvPr/>
      </p:nvGrpSpPr>
      <p:grpSpPr>
        <a:xfrm>
          <a:off x="0" y="0"/>
          <a:ext cx="0" cy="0"/>
          <a:chOff x="0" y="0"/>
          <a:chExt cx="0" cy="0"/>
        </a:xfrm>
      </p:grpSpPr>
      <p:sp>
        <p:nvSpPr>
          <p:cNvPr id="114" name="Google Shape;114;p6"/>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6"/>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WHAT ACTUALLY CHANGED</a:t>
            </a:r>
            <a:endParaRPr sz="1100">
              <a:solidFill>
                <a:schemeClr val="dk1"/>
              </a:solidFill>
              <a:latin typeface="Calibri"/>
              <a:ea typeface="Calibri"/>
              <a:cs typeface="Calibri"/>
              <a:sym typeface="Calibri"/>
            </a:endParaRPr>
          </a:p>
        </p:txBody>
      </p:sp>
      <p:sp>
        <p:nvSpPr>
          <p:cNvPr id="116" name="Google Shape;116;p6"/>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School → college</a:t>
            </a:r>
            <a:endParaRPr sz="3000">
              <a:solidFill>
                <a:schemeClr val="dk1"/>
              </a:solidFill>
              <a:latin typeface="Calibri"/>
              <a:ea typeface="Calibri"/>
              <a:cs typeface="Calibri"/>
              <a:sym typeface="Calibri"/>
            </a:endParaRPr>
          </a:p>
        </p:txBody>
      </p:sp>
      <p:sp>
        <p:nvSpPr>
          <p:cNvPr id="117" name="Google Shape;117;p6"/>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119" name="Google Shape;119;p6"/>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Not 'be more grown up'. The honest, concrete version of what's different.</a:t>
            </a:r>
            <a:endParaRPr sz="1300">
              <a:solidFill>
                <a:schemeClr val="dk1"/>
              </a:solidFill>
              <a:latin typeface="Calibri"/>
              <a:ea typeface="Calibri"/>
              <a:cs typeface="Calibri"/>
              <a:sym typeface="Calibri"/>
            </a:endParaRPr>
          </a:p>
        </p:txBody>
      </p:sp>
      <p:sp>
        <p:nvSpPr>
          <p:cNvPr id="120" name="Google Shape;120;p6"/>
          <p:cNvSpPr/>
          <p:nvPr/>
        </p:nvSpPr>
        <p:spPr>
          <a:xfrm>
            <a:off x="502920" y="2350008"/>
            <a:ext cx="3630168" cy="2907792"/>
          </a:xfrm>
          <a:prstGeom prst="roundRect">
            <a:avLst>
              <a:gd fmla="val 377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758952" y="2642616"/>
            <a:ext cx="311810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SemiBold"/>
              <a:buNone/>
            </a:pPr>
            <a:r>
              <a:rPr lang="en-US" sz="900">
                <a:solidFill>
                  <a:srgbClr val="5A6A6F"/>
                </a:solidFill>
                <a:latin typeface="Poppins SemiBold"/>
                <a:ea typeface="Poppins SemiBold"/>
                <a:cs typeface="Poppins SemiBold"/>
                <a:sym typeface="Poppins SemiBold"/>
              </a:rPr>
              <a:t>SCHOOL</a:t>
            </a:r>
            <a:endParaRPr sz="900">
              <a:solidFill>
                <a:schemeClr val="dk1"/>
              </a:solidFill>
              <a:latin typeface="Calibri"/>
              <a:ea typeface="Calibri"/>
              <a:cs typeface="Calibri"/>
              <a:sym typeface="Calibri"/>
            </a:endParaRPr>
          </a:p>
        </p:txBody>
      </p:sp>
      <p:sp>
        <p:nvSpPr>
          <p:cNvPr id="122" name="Google Shape;122;p6"/>
          <p:cNvSpPr/>
          <p:nvPr/>
        </p:nvSpPr>
        <p:spPr>
          <a:xfrm>
            <a:off x="758952" y="2898648"/>
            <a:ext cx="3118104" cy="82296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5A6A6F"/>
              </a:buClr>
              <a:buSzPts val="1150"/>
              <a:buFont typeface="Poppins"/>
              <a:buNone/>
            </a:pPr>
            <a:r>
              <a:rPr i="1" lang="en-US" sz="1150">
                <a:solidFill>
                  <a:srgbClr val="5A6A6F"/>
                </a:solidFill>
                <a:latin typeface="Poppins"/>
                <a:ea typeface="Poppins"/>
                <a:cs typeface="Poppins"/>
                <a:sym typeface="Poppins"/>
              </a:rPr>
              <a:t>Someone chased you when work was missing.</a:t>
            </a:r>
            <a:endParaRPr sz="1150">
              <a:solidFill>
                <a:schemeClr val="dk1"/>
              </a:solidFill>
              <a:latin typeface="Calibri"/>
              <a:ea typeface="Calibri"/>
              <a:cs typeface="Calibri"/>
              <a:sym typeface="Calibri"/>
            </a:endParaRPr>
          </a:p>
        </p:txBody>
      </p:sp>
      <p:cxnSp>
        <p:nvCxnSpPr>
          <p:cNvPr id="123" name="Google Shape;123;p6"/>
          <p:cNvCxnSpPr/>
          <p:nvPr/>
        </p:nvCxnSpPr>
        <p:spPr>
          <a:xfrm>
            <a:off x="758952" y="3813048"/>
            <a:ext cx="3118104" cy="0"/>
          </a:xfrm>
          <a:prstGeom prst="straightConnector1">
            <a:avLst/>
          </a:prstGeom>
          <a:noFill/>
          <a:ln cap="flat" cmpd="sng" w="12700">
            <a:solidFill>
              <a:srgbClr val="D2DBDA"/>
            </a:solidFill>
            <a:prstDash val="solid"/>
            <a:round/>
            <a:headEnd len="sm" w="sm" type="none"/>
            <a:tailEnd len="sm" w="sm" type="none"/>
          </a:ln>
        </p:spPr>
      </p:cxnSp>
      <p:sp>
        <p:nvSpPr>
          <p:cNvPr id="124" name="Google Shape;124;p6"/>
          <p:cNvSpPr/>
          <p:nvPr/>
        </p:nvSpPr>
        <p:spPr>
          <a:xfrm>
            <a:off x="758952" y="3941064"/>
            <a:ext cx="311810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900"/>
              <a:buFont typeface="Poppins SemiBold"/>
              <a:buNone/>
            </a:pPr>
            <a:r>
              <a:rPr lang="en-US" sz="900">
                <a:solidFill>
                  <a:srgbClr val="0F7A54"/>
                </a:solidFill>
                <a:latin typeface="Poppins SemiBold"/>
                <a:ea typeface="Poppins SemiBold"/>
                <a:cs typeface="Poppins SemiBold"/>
                <a:sym typeface="Poppins SemiBold"/>
              </a:rPr>
              <a:t>COLLEGE</a:t>
            </a:r>
            <a:endParaRPr sz="900">
              <a:solidFill>
                <a:schemeClr val="dk1"/>
              </a:solidFill>
              <a:latin typeface="Calibri"/>
              <a:ea typeface="Calibri"/>
              <a:cs typeface="Calibri"/>
              <a:sym typeface="Calibri"/>
            </a:endParaRPr>
          </a:p>
        </p:txBody>
      </p:sp>
      <p:sp>
        <p:nvSpPr>
          <p:cNvPr id="125" name="Google Shape;125;p6"/>
          <p:cNvSpPr/>
          <p:nvPr/>
        </p:nvSpPr>
        <p:spPr>
          <a:xfrm>
            <a:off x="758952" y="4197096"/>
            <a:ext cx="3118104" cy="10058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No one chases. The work is yours — or it doesn't get done.</a:t>
            </a:r>
            <a:endParaRPr sz="1200">
              <a:solidFill>
                <a:schemeClr val="dk1"/>
              </a:solidFill>
              <a:latin typeface="Calibri"/>
              <a:ea typeface="Calibri"/>
              <a:cs typeface="Calibri"/>
              <a:sym typeface="Calibri"/>
            </a:endParaRPr>
          </a:p>
        </p:txBody>
      </p:sp>
      <p:sp>
        <p:nvSpPr>
          <p:cNvPr id="126" name="Google Shape;126;p6"/>
          <p:cNvSpPr/>
          <p:nvPr/>
        </p:nvSpPr>
        <p:spPr>
          <a:xfrm>
            <a:off x="4297680" y="2350008"/>
            <a:ext cx="3630168" cy="2907792"/>
          </a:xfrm>
          <a:prstGeom prst="roundRect">
            <a:avLst>
              <a:gd fmla="val 377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6"/>
          <p:cNvSpPr/>
          <p:nvPr/>
        </p:nvSpPr>
        <p:spPr>
          <a:xfrm>
            <a:off x="4553712" y="2642616"/>
            <a:ext cx="311810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SemiBold"/>
              <a:buNone/>
            </a:pPr>
            <a:r>
              <a:rPr lang="en-US" sz="900">
                <a:solidFill>
                  <a:srgbClr val="5A6A6F"/>
                </a:solidFill>
                <a:latin typeface="Poppins SemiBold"/>
                <a:ea typeface="Poppins SemiBold"/>
                <a:cs typeface="Poppins SemiBold"/>
                <a:sym typeface="Poppins SemiBold"/>
              </a:rPr>
              <a:t>SCHOOL</a:t>
            </a:r>
            <a:endParaRPr sz="900">
              <a:solidFill>
                <a:schemeClr val="dk1"/>
              </a:solidFill>
              <a:latin typeface="Calibri"/>
              <a:ea typeface="Calibri"/>
              <a:cs typeface="Calibri"/>
              <a:sym typeface="Calibri"/>
            </a:endParaRPr>
          </a:p>
        </p:txBody>
      </p:sp>
      <p:sp>
        <p:nvSpPr>
          <p:cNvPr id="128" name="Google Shape;128;p6"/>
          <p:cNvSpPr/>
          <p:nvPr/>
        </p:nvSpPr>
        <p:spPr>
          <a:xfrm>
            <a:off x="4553712" y="2898648"/>
            <a:ext cx="3118104" cy="82296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5A6A6F"/>
              </a:buClr>
              <a:buSzPts val="1150"/>
              <a:buFont typeface="Poppins"/>
              <a:buNone/>
            </a:pPr>
            <a:r>
              <a:rPr i="1" lang="en-US" sz="1150">
                <a:solidFill>
                  <a:srgbClr val="5A6A6F"/>
                </a:solidFill>
                <a:latin typeface="Poppins"/>
                <a:ea typeface="Poppins"/>
                <a:cs typeface="Poppins"/>
                <a:sym typeface="Poppins"/>
              </a:rPr>
              <a:t>Your day was filled in for you.</a:t>
            </a:r>
            <a:endParaRPr sz="1150">
              <a:solidFill>
                <a:schemeClr val="dk1"/>
              </a:solidFill>
              <a:latin typeface="Calibri"/>
              <a:ea typeface="Calibri"/>
              <a:cs typeface="Calibri"/>
              <a:sym typeface="Calibri"/>
            </a:endParaRPr>
          </a:p>
        </p:txBody>
      </p:sp>
      <p:cxnSp>
        <p:nvCxnSpPr>
          <p:cNvPr id="129" name="Google Shape;129;p6"/>
          <p:cNvCxnSpPr/>
          <p:nvPr/>
        </p:nvCxnSpPr>
        <p:spPr>
          <a:xfrm>
            <a:off x="4553712" y="3813048"/>
            <a:ext cx="3118104" cy="0"/>
          </a:xfrm>
          <a:prstGeom prst="straightConnector1">
            <a:avLst/>
          </a:prstGeom>
          <a:noFill/>
          <a:ln cap="flat" cmpd="sng" w="12700">
            <a:solidFill>
              <a:srgbClr val="D2DBDA"/>
            </a:solidFill>
            <a:prstDash val="solid"/>
            <a:round/>
            <a:headEnd len="sm" w="sm" type="none"/>
            <a:tailEnd len="sm" w="sm" type="none"/>
          </a:ln>
        </p:spPr>
      </p:cxnSp>
      <p:sp>
        <p:nvSpPr>
          <p:cNvPr id="130" name="Google Shape;130;p6"/>
          <p:cNvSpPr/>
          <p:nvPr/>
        </p:nvSpPr>
        <p:spPr>
          <a:xfrm>
            <a:off x="4553712" y="3941064"/>
            <a:ext cx="311810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900"/>
              <a:buFont typeface="Poppins SemiBold"/>
              <a:buNone/>
            </a:pPr>
            <a:r>
              <a:rPr lang="en-US" sz="900">
                <a:solidFill>
                  <a:srgbClr val="0F7A54"/>
                </a:solidFill>
                <a:latin typeface="Poppins SemiBold"/>
                <a:ea typeface="Poppins SemiBold"/>
                <a:cs typeface="Poppins SemiBold"/>
                <a:sym typeface="Poppins SemiBold"/>
              </a:rPr>
              <a:t>COLLEGE</a:t>
            </a:r>
            <a:endParaRPr sz="900">
              <a:solidFill>
                <a:schemeClr val="dk1"/>
              </a:solidFill>
              <a:latin typeface="Calibri"/>
              <a:ea typeface="Calibri"/>
              <a:cs typeface="Calibri"/>
              <a:sym typeface="Calibri"/>
            </a:endParaRPr>
          </a:p>
        </p:txBody>
      </p:sp>
      <p:sp>
        <p:nvSpPr>
          <p:cNvPr id="131" name="Google Shape;131;p6"/>
          <p:cNvSpPr/>
          <p:nvPr/>
        </p:nvSpPr>
        <p:spPr>
          <a:xfrm>
            <a:off x="4553712" y="4197096"/>
            <a:ext cx="3118104" cy="10058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Big chunks of unstructured time. You decide what they're for.</a:t>
            </a:r>
            <a:endParaRPr sz="1200">
              <a:solidFill>
                <a:schemeClr val="dk1"/>
              </a:solidFill>
              <a:latin typeface="Calibri"/>
              <a:ea typeface="Calibri"/>
              <a:cs typeface="Calibri"/>
              <a:sym typeface="Calibri"/>
            </a:endParaRPr>
          </a:p>
        </p:txBody>
      </p:sp>
      <p:sp>
        <p:nvSpPr>
          <p:cNvPr id="132" name="Google Shape;132;p6"/>
          <p:cNvSpPr/>
          <p:nvPr/>
        </p:nvSpPr>
        <p:spPr>
          <a:xfrm>
            <a:off x="8092440" y="2350008"/>
            <a:ext cx="3630168" cy="2907792"/>
          </a:xfrm>
          <a:prstGeom prst="roundRect">
            <a:avLst>
              <a:gd fmla="val 377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6"/>
          <p:cNvSpPr/>
          <p:nvPr/>
        </p:nvSpPr>
        <p:spPr>
          <a:xfrm>
            <a:off x="8348472" y="2642616"/>
            <a:ext cx="311810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900"/>
              <a:buFont typeface="Poppins SemiBold"/>
              <a:buNone/>
            </a:pPr>
            <a:r>
              <a:rPr lang="en-US" sz="900">
                <a:solidFill>
                  <a:srgbClr val="5A6A6F"/>
                </a:solidFill>
                <a:latin typeface="Poppins SemiBold"/>
                <a:ea typeface="Poppins SemiBold"/>
                <a:cs typeface="Poppins SemiBold"/>
                <a:sym typeface="Poppins SemiBold"/>
              </a:rPr>
              <a:t>SCHOOL</a:t>
            </a:r>
            <a:endParaRPr sz="900">
              <a:solidFill>
                <a:schemeClr val="dk1"/>
              </a:solidFill>
              <a:latin typeface="Calibri"/>
              <a:ea typeface="Calibri"/>
              <a:cs typeface="Calibri"/>
              <a:sym typeface="Calibri"/>
            </a:endParaRPr>
          </a:p>
        </p:txBody>
      </p:sp>
      <p:sp>
        <p:nvSpPr>
          <p:cNvPr id="134" name="Google Shape;134;p6"/>
          <p:cNvSpPr/>
          <p:nvPr/>
        </p:nvSpPr>
        <p:spPr>
          <a:xfrm>
            <a:off x="8348472" y="2898648"/>
            <a:ext cx="3118104" cy="82296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5A6A6F"/>
              </a:buClr>
              <a:buSzPts val="1150"/>
              <a:buFont typeface="Poppins"/>
              <a:buNone/>
            </a:pPr>
            <a:r>
              <a:rPr i="1" lang="en-US" sz="1150">
                <a:solidFill>
                  <a:srgbClr val="5A6A6F"/>
                </a:solidFill>
                <a:latin typeface="Poppins"/>
                <a:ea typeface="Poppins"/>
                <a:cs typeface="Poppins"/>
                <a:sym typeface="Poppins"/>
              </a:rPr>
              <a:t>A bad week showed up next week.</a:t>
            </a:r>
            <a:endParaRPr sz="1150">
              <a:solidFill>
                <a:schemeClr val="dk1"/>
              </a:solidFill>
              <a:latin typeface="Calibri"/>
              <a:ea typeface="Calibri"/>
              <a:cs typeface="Calibri"/>
              <a:sym typeface="Calibri"/>
            </a:endParaRPr>
          </a:p>
        </p:txBody>
      </p:sp>
      <p:cxnSp>
        <p:nvCxnSpPr>
          <p:cNvPr id="135" name="Google Shape;135;p6"/>
          <p:cNvCxnSpPr/>
          <p:nvPr/>
        </p:nvCxnSpPr>
        <p:spPr>
          <a:xfrm>
            <a:off x="8348472" y="3813048"/>
            <a:ext cx="3118104" cy="0"/>
          </a:xfrm>
          <a:prstGeom prst="straightConnector1">
            <a:avLst/>
          </a:prstGeom>
          <a:noFill/>
          <a:ln cap="flat" cmpd="sng" w="12700">
            <a:solidFill>
              <a:srgbClr val="D2DBDA"/>
            </a:solidFill>
            <a:prstDash val="solid"/>
            <a:round/>
            <a:headEnd len="sm" w="sm" type="none"/>
            <a:tailEnd len="sm" w="sm" type="none"/>
          </a:ln>
        </p:spPr>
      </p:cxnSp>
      <p:sp>
        <p:nvSpPr>
          <p:cNvPr id="136" name="Google Shape;136;p6"/>
          <p:cNvSpPr/>
          <p:nvPr/>
        </p:nvSpPr>
        <p:spPr>
          <a:xfrm>
            <a:off x="8348472" y="3941064"/>
            <a:ext cx="3118104"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900"/>
              <a:buFont typeface="Poppins SemiBold"/>
              <a:buNone/>
            </a:pPr>
            <a:r>
              <a:rPr lang="en-US" sz="900">
                <a:solidFill>
                  <a:srgbClr val="0F7A54"/>
                </a:solidFill>
                <a:latin typeface="Poppins SemiBold"/>
                <a:ea typeface="Poppins SemiBold"/>
                <a:cs typeface="Poppins SemiBold"/>
                <a:sym typeface="Poppins SemiBold"/>
              </a:rPr>
              <a:t>COLLEGE</a:t>
            </a:r>
            <a:endParaRPr sz="900">
              <a:solidFill>
                <a:schemeClr val="dk1"/>
              </a:solidFill>
              <a:latin typeface="Calibri"/>
              <a:ea typeface="Calibri"/>
              <a:cs typeface="Calibri"/>
              <a:sym typeface="Calibri"/>
            </a:endParaRPr>
          </a:p>
        </p:txBody>
      </p:sp>
      <p:sp>
        <p:nvSpPr>
          <p:cNvPr id="137" name="Google Shape;137;p6"/>
          <p:cNvSpPr/>
          <p:nvPr/>
        </p:nvSpPr>
        <p:spPr>
          <a:xfrm>
            <a:off x="8348472" y="4197096"/>
            <a:ext cx="3118104" cy="1005840"/>
          </a:xfrm>
          <a:prstGeom prst="rect">
            <a:avLst/>
          </a:prstGeom>
          <a:noFill/>
          <a:ln>
            <a:noFill/>
          </a:ln>
        </p:spPr>
        <p:txBody>
          <a:bodyPr anchorCtr="0" anchor="ctr" bIns="0" lIns="0" spcFirstLastPara="1" rIns="0" wrap="square" tIns="0">
            <a:noAutofit/>
          </a:bodyPr>
          <a:lstStyle/>
          <a:p>
            <a:pPr indent="0" lvl="0" marL="0" marR="0" rtl="0" algn="l">
              <a:lnSpc>
                <a:spcPct val="120833"/>
              </a:lnSpc>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A bad week shows up two months from now. Quieter — and worse.</a:t>
            </a:r>
            <a:endParaRPr sz="1200">
              <a:solidFill>
                <a:schemeClr val="dk1"/>
              </a:solidFill>
              <a:latin typeface="Calibri"/>
              <a:ea typeface="Calibri"/>
              <a:cs typeface="Calibri"/>
              <a:sym typeface="Calibri"/>
            </a:endParaRPr>
          </a:p>
        </p:txBody>
      </p:sp>
      <p:sp>
        <p:nvSpPr>
          <p:cNvPr id="138" name="Google Shape;138;p6"/>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139" name="Google Shape;139;p6"/>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6"/>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141" name="Google Shape;141;p6"/>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4</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46" name="Shape 146"/>
        <p:cNvGrpSpPr/>
        <p:nvPr/>
      </p:nvGrpSpPr>
      <p:grpSpPr>
        <a:xfrm>
          <a:off x="0" y="0"/>
          <a:ext cx="0" cy="0"/>
          <a:chOff x="0" y="0"/>
          <a:chExt cx="0" cy="0"/>
        </a:xfrm>
      </p:grpSpPr>
      <p:sp>
        <p:nvSpPr>
          <p:cNvPr id="147" name="Google Shape;147;p7"/>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7"/>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WHERE CONSEQUENCES LAND</a:t>
            </a:r>
            <a:endParaRPr sz="1100">
              <a:solidFill>
                <a:schemeClr val="dk1"/>
              </a:solidFill>
              <a:latin typeface="Calibri"/>
              <a:ea typeface="Calibri"/>
              <a:cs typeface="Calibri"/>
              <a:sym typeface="Calibri"/>
            </a:endParaRPr>
          </a:p>
        </p:txBody>
      </p:sp>
      <p:sp>
        <p:nvSpPr>
          <p:cNvPr id="149" name="Google Shape;149;p7"/>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Time and the long fuse</a:t>
            </a:r>
            <a:endParaRPr sz="3000">
              <a:solidFill>
                <a:schemeClr val="dk1"/>
              </a:solidFill>
              <a:latin typeface="Calibri"/>
              <a:ea typeface="Calibri"/>
              <a:cs typeface="Calibri"/>
              <a:sym typeface="Calibri"/>
            </a:endParaRPr>
          </a:p>
        </p:txBody>
      </p:sp>
      <p:sp>
        <p:nvSpPr>
          <p:cNvPr id="150" name="Google Shape;150;p7"/>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7"/>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152" name="Google Shape;152;p7"/>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Not 'be organised'. One honest point about how time actually works at college.</a:t>
            </a:r>
            <a:endParaRPr sz="1300">
              <a:solidFill>
                <a:schemeClr val="dk1"/>
              </a:solidFill>
              <a:latin typeface="Calibri"/>
              <a:ea typeface="Calibri"/>
              <a:cs typeface="Calibri"/>
              <a:sym typeface="Calibri"/>
            </a:endParaRPr>
          </a:p>
        </p:txBody>
      </p:sp>
      <p:sp>
        <p:nvSpPr>
          <p:cNvPr id="153" name="Google Shape;153;p7"/>
          <p:cNvSpPr/>
          <p:nvPr/>
        </p:nvSpPr>
        <p:spPr>
          <a:xfrm>
            <a:off x="502920" y="2368296"/>
            <a:ext cx="5989320" cy="3337560"/>
          </a:xfrm>
          <a:prstGeom prst="roundRect">
            <a:avLst>
              <a:gd fmla="val 3288"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7"/>
          <p:cNvSpPr/>
          <p:nvPr/>
        </p:nvSpPr>
        <p:spPr>
          <a:xfrm>
            <a:off x="795528" y="2624328"/>
            <a:ext cx="54041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000"/>
              <a:buFont typeface="Poppins SemiBold"/>
              <a:buNone/>
            </a:pPr>
            <a:r>
              <a:rPr lang="en-US" sz="1000">
                <a:solidFill>
                  <a:srgbClr val="0F7A54"/>
                </a:solidFill>
                <a:latin typeface="Poppins SemiBold"/>
                <a:ea typeface="Poppins SemiBold"/>
                <a:cs typeface="Poppins SemiBold"/>
                <a:sym typeface="Poppins SemiBold"/>
              </a:rPr>
              <a:t>THE LONG FUSE</a:t>
            </a:r>
            <a:endParaRPr sz="1000">
              <a:solidFill>
                <a:schemeClr val="dk1"/>
              </a:solidFill>
              <a:latin typeface="Calibri"/>
              <a:ea typeface="Calibri"/>
              <a:cs typeface="Calibri"/>
              <a:sym typeface="Calibri"/>
            </a:endParaRPr>
          </a:p>
        </p:txBody>
      </p:sp>
      <p:sp>
        <p:nvSpPr>
          <p:cNvPr id="155" name="Google Shape;155;p7"/>
          <p:cNvSpPr/>
          <p:nvPr/>
        </p:nvSpPr>
        <p:spPr>
          <a:xfrm>
            <a:off x="685800" y="3209544"/>
            <a:ext cx="292608" cy="292608"/>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7"/>
          <p:cNvSpPr/>
          <p:nvPr/>
        </p:nvSpPr>
        <p:spPr>
          <a:xfrm>
            <a:off x="685800"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850"/>
              <a:buFont typeface="Poppins SemiBold"/>
              <a:buNone/>
            </a:pPr>
            <a:r>
              <a:rPr lang="en-US" sz="850">
                <a:solidFill>
                  <a:srgbClr val="0F7A54"/>
                </a:solidFill>
                <a:latin typeface="Poppins SemiBold"/>
                <a:ea typeface="Poppins SemiBold"/>
                <a:cs typeface="Poppins SemiBold"/>
                <a:sym typeface="Poppins SemiBold"/>
              </a:rPr>
              <a:t>1</a:t>
            </a:r>
            <a:endParaRPr sz="850">
              <a:solidFill>
                <a:schemeClr val="dk1"/>
              </a:solidFill>
              <a:latin typeface="Calibri"/>
              <a:ea typeface="Calibri"/>
              <a:cs typeface="Calibri"/>
              <a:sym typeface="Calibri"/>
            </a:endParaRPr>
          </a:p>
        </p:txBody>
      </p:sp>
      <p:sp>
        <p:nvSpPr>
          <p:cNvPr id="157" name="Google Shape;157;p7"/>
          <p:cNvSpPr/>
          <p:nvPr/>
        </p:nvSpPr>
        <p:spPr>
          <a:xfrm>
            <a:off x="1447365" y="3209544"/>
            <a:ext cx="292608" cy="292608"/>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7"/>
          <p:cNvSpPr/>
          <p:nvPr/>
        </p:nvSpPr>
        <p:spPr>
          <a:xfrm>
            <a:off x="1447365"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850"/>
              <a:buFont typeface="Poppins SemiBold"/>
              <a:buNone/>
            </a:pPr>
            <a:r>
              <a:rPr lang="en-US" sz="850">
                <a:solidFill>
                  <a:srgbClr val="0F7A54"/>
                </a:solidFill>
                <a:latin typeface="Poppins SemiBold"/>
                <a:ea typeface="Poppins SemiBold"/>
                <a:cs typeface="Poppins SemiBold"/>
                <a:sym typeface="Poppins SemiBold"/>
              </a:rPr>
              <a:t>2</a:t>
            </a:r>
            <a:endParaRPr sz="850">
              <a:solidFill>
                <a:schemeClr val="dk1"/>
              </a:solidFill>
              <a:latin typeface="Calibri"/>
              <a:ea typeface="Calibri"/>
              <a:cs typeface="Calibri"/>
              <a:sym typeface="Calibri"/>
            </a:endParaRPr>
          </a:p>
        </p:txBody>
      </p:sp>
      <p:sp>
        <p:nvSpPr>
          <p:cNvPr id="159" name="Google Shape;159;p7"/>
          <p:cNvSpPr/>
          <p:nvPr/>
        </p:nvSpPr>
        <p:spPr>
          <a:xfrm>
            <a:off x="2208929" y="3209544"/>
            <a:ext cx="292608" cy="292608"/>
          </a:xfrm>
          <a:prstGeom prst="ellipse">
            <a:avLst/>
          </a:prstGeom>
          <a:solidFill>
            <a:srgbClr val="FFF3D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7"/>
          <p:cNvSpPr/>
          <p:nvPr/>
        </p:nvSpPr>
        <p:spPr>
          <a:xfrm>
            <a:off x="2208929"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B500"/>
              </a:buClr>
              <a:buSzPts val="850"/>
              <a:buFont typeface="Poppins SemiBold"/>
              <a:buNone/>
            </a:pPr>
            <a:r>
              <a:rPr lang="en-US" sz="850">
                <a:solidFill>
                  <a:srgbClr val="E0B500"/>
                </a:solidFill>
                <a:latin typeface="Poppins SemiBold"/>
                <a:ea typeface="Poppins SemiBold"/>
                <a:cs typeface="Poppins SemiBold"/>
                <a:sym typeface="Poppins SemiBold"/>
              </a:rPr>
              <a:t>3</a:t>
            </a:r>
            <a:endParaRPr sz="850">
              <a:solidFill>
                <a:schemeClr val="dk1"/>
              </a:solidFill>
              <a:latin typeface="Calibri"/>
              <a:ea typeface="Calibri"/>
              <a:cs typeface="Calibri"/>
              <a:sym typeface="Calibri"/>
            </a:endParaRPr>
          </a:p>
        </p:txBody>
      </p:sp>
      <p:sp>
        <p:nvSpPr>
          <p:cNvPr id="161" name="Google Shape;161;p7"/>
          <p:cNvSpPr/>
          <p:nvPr/>
        </p:nvSpPr>
        <p:spPr>
          <a:xfrm>
            <a:off x="2970494" y="3209544"/>
            <a:ext cx="292608" cy="292608"/>
          </a:xfrm>
          <a:prstGeom prst="ellipse">
            <a:avLst/>
          </a:prstGeom>
          <a:solidFill>
            <a:srgbClr val="FFF3D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7"/>
          <p:cNvSpPr/>
          <p:nvPr/>
        </p:nvSpPr>
        <p:spPr>
          <a:xfrm>
            <a:off x="2970494"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B500"/>
              </a:buClr>
              <a:buSzPts val="850"/>
              <a:buFont typeface="Poppins SemiBold"/>
              <a:buNone/>
            </a:pPr>
            <a:r>
              <a:rPr lang="en-US" sz="850">
                <a:solidFill>
                  <a:srgbClr val="E0B500"/>
                </a:solidFill>
                <a:latin typeface="Poppins SemiBold"/>
                <a:ea typeface="Poppins SemiBold"/>
                <a:cs typeface="Poppins SemiBold"/>
                <a:sym typeface="Poppins SemiBold"/>
              </a:rPr>
              <a:t>4</a:t>
            </a:r>
            <a:endParaRPr sz="850">
              <a:solidFill>
                <a:schemeClr val="dk1"/>
              </a:solidFill>
              <a:latin typeface="Calibri"/>
              <a:ea typeface="Calibri"/>
              <a:cs typeface="Calibri"/>
              <a:sym typeface="Calibri"/>
            </a:endParaRPr>
          </a:p>
        </p:txBody>
      </p:sp>
      <p:sp>
        <p:nvSpPr>
          <p:cNvPr id="163" name="Google Shape;163;p7"/>
          <p:cNvSpPr/>
          <p:nvPr/>
        </p:nvSpPr>
        <p:spPr>
          <a:xfrm>
            <a:off x="3732058" y="3209544"/>
            <a:ext cx="292608" cy="292608"/>
          </a:xfrm>
          <a:prstGeom prst="ellipse">
            <a:avLst/>
          </a:prstGeom>
          <a:solidFill>
            <a:srgbClr val="FFF3D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7"/>
          <p:cNvSpPr/>
          <p:nvPr/>
        </p:nvSpPr>
        <p:spPr>
          <a:xfrm>
            <a:off x="3732058"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B500"/>
              </a:buClr>
              <a:buSzPts val="850"/>
              <a:buFont typeface="Poppins SemiBold"/>
              <a:buNone/>
            </a:pPr>
            <a:r>
              <a:rPr lang="en-US" sz="850">
                <a:solidFill>
                  <a:srgbClr val="E0B500"/>
                </a:solidFill>
                <a:latin typeface="Poppins SemiBold"/>
                <a:ea typeface="Poppins SemiBold"/>
                <a:cs typeface="Poppins SemiBold"/>
                <a:sym typeface="Poppins SemiBold"/>
              </a:rPr>
              <a:t>5</a:t>
            </a:r>
            <a:endParaRPr sz="850">
              <a:solidFill>
                <a:schemeClr val="dk1"/>
              </a:solidFill>
              <a:latin typeface="Calibri"/>
              <a:ea typeface="Calibri"/>
              <a:cs typeface="Calibri"/>
              <a:sym typeface="Calibri"/>
            </a:endParaRPr>
          </a:p>
        </p:txBody>
      </p:sp>
      <p:sp>
        <p:nvSpPr>
          <p:cNvPr id="165" name="Google Shape;165;p7"/>
          <p:cNvSpPr/>
          <p:nvPr/>
        </p:nvSpPr>
        <p:spPr>
          <a:xfrm>
            <a:off x="4493623" y="3209544"/>
            <a:ext cx="292608" cy="292608"/>
          </a:xfrm>
          <a:prstGeom prst="ellipse">
            <a:avLst/>
          </a:prstGeom>
          <a:solidFill>
            <a:srgbClr val="FFF3D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7"/>
          <p:cNvSpPr/>
          <p:nvPr/>
        </p:nvSpPr>
        <p:spPr>
          <a:xfrm>
            <a:off x="4493623"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B500"/>
              </a:buClr>
              <a:buSzPts val="850"/>
              <a:buFont typeface="Poppins SemiBold"/>
              <a:buNone/>
            </a:pPr>
            <a:r>
              <a:rPr lang="en-US" sz="850">
                <a:solidFill>
                  <a:srgbClr val="E0B500"/>
                </a:solidFill>
                <a:latin typeface="Poppins SemiBold"/>
                <a:ea typeface="Poppins SemiBold"/>
                <a:cs typeface="Poppins SemiBold"/>
                <a:sym typeface="Poppins SemiBold"/>
              </a:rPr>
              <a:t>6</a:t>
            </a:r>
            <a:endParaRPr sz="850">
              <a:solidFill>
                <a:schemeClr val="dk1"/>
              </a:solidFill>
              <a:latin typeface="Calibri"/>
              <a:ea typeface="Calibri"/>
              <a:cs typeface="Calibri"/>
              <a:sym typeface="Calibri"/>
            </a:endParaRPr>
          </a:p>
        </p:txBody>
      </p:sp>
      <p:sp>
        <p:nvSpPr>
          <p:cNvPr id="167" name="Google Shape;167;p7"/>
          <p:cNvSpPr/>
          <p:nvPr/>
        </p:nvSpPr>
        <p:spPr>
          <a:xfrm>
            <a:off x="5255187" y="3209544"/>
            <a:ext cx="292608" cy="292608"/>
          </a:xfrm>
          <a:prstGeom prst="ellipse">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7"/>
          <p:cNvSpPr/>
          <p:nvPr/>
        </p:nvSpPr>
        <p:spPr>
          <a:xfrm>
            <a:off x="5255187"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Poppins SemiBold"/>
              <a:buNone/>
            </a:pPr>
            <a:r>
              <a:rPr lang="en-US" sz="850">
                <a:solidFill>
                  <a:srgbClr val="FFFFFF"/>
                </a:solidFill>
                <a:latin typeface="Poppins SemiBold"/>
                <a:ea typeface="Poppins SemiBold"/>
                <a:cs typeface="Poppins SemiBold"/>
                <a:sym typeface="Poppins SemiBold"/>
              </a:rPr>
              <a:t>7</a:t>
            </a:r>
            <a:endParaRPr sz="850">
              <a:solidFill>
                <a:schemeClr val="dk1"/>
              </a:solidFill>
              <a:latin typeface="Calibri"/>
              <a:ea typeface="Calibri"/>
              <a:cs typeface="Calibri"/>
              <a:sym typeface="Calibri"/>
            </a:endParaRPr>
          </a:p>
        </p:txBody>
      </p:sp>
      <p:sp>
        <p:nvSpPr>
          <p:cNvPr id="169" name="Google Shape;169;p7"/>
          <p:cNvSpPr/>
          <p:nvPr/>
        </p:nvSpPr>
        <p:spPr>
          <a:xfrm>
            <a:off x="6016752" y="3209544"/>
            <a:ext cx="292608" cy="292608"/>
          </a:xfrm>
          <a:prstGeom prst="ellipse">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7"/>
          <p:cNvSpPr/>
          <p:nvPr/>
        </p:nvSpPr>
        <p:spPr>
          <a:xfrm>
            <a:off x="6016752" y="3209544"/>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Poppins SemiBold"/>
              <a:buNone/>
            </a:pPr>
            <a:r>
              <a:rPr lang="en-US" sz="850">
                <a:solidFill>
                  <a:srgbClr val="FFFFFF"/>
                </a:solidFill>
                <a:latin typeface="Poppins SemiBold"/>
                <a:ea typeface="Poppins SemiBold"/>
                <a:cs typeface="Poppins SemiBold"/>
                <a:sym typeface="Poppins SemiBold"/>
              </a:rPr>
              <a:t>8</a:t>
            </a:r>
            <a:endParaRPr sz="850">
              <a:solidFill>
                <a:schemeClr val="dk1"/>
              </a:solidFill>
              <a:latin typeface="Calibri"/>
              <a:ea typeface="Calibri"/>
              <a:cs typeface="Calibri"/>
              <a:sym typeface="Calibri"/>
            </a:endParaRPr>
          </a:p>
        </p:txBody>
      </p:sp>
      <p:cxnSp>
        <p:nvCxnSpPr>
          <p:cNvPr id="171" name="Google Shape;171;p7"/>
          <p:cNvCxnSpPr/>
          <p:nvPr/>
        </p:nvCxnSpPr>
        <p:spPr>
          <a:xfrm>
            <a:off x="978408" y="3355848"/>
            <a:ext cx="5038344" cy="0"/>
          </a:xfrm>
          <a:prstGeom prst="straightConnector1">
            <a:avLst/>
          </a:prstGeom>
          <a:noFill/>
          <a:ln cap="flat" cmpd="sng" w="19050">
            <a:solidFill>
              <a:srgbClr val="D2DBDA"/>
            </a:solidFill>
            <a:prstDash val="dash"/>
            <a:round/>
            <a:headEnd len="sm" w="sm" type="none"/>
            <a:tailEnd len="sm" w="sm" type="none"/>
          </a:ln>
        </p:spPr>
      </p:cxnSp>
      <p:sp>
        <p:nvSpPr>
          <p:cNvPr id="172" name="Google Shape;172;p7"/>
          <p:cNvSpPr/>
          <p:nvPr/>
        </p:nvSpPr>
        <p:spPr>
          <a:xfrm>
            <a:off x="1715153" y="3648456"/>
            <a:ext cx="1280160" cy="548640"/>
          </a:xfrm>
          <a:prstGeom prst="rect">
            <a:avLst/>
          </a:prstGeom>
          <a:noFill/>
          <a:ln>
            <a:noFill/>
          </a:ln>
        </p:spPr>
        <p:txBody>
          <a:bodyPr anchorCtr="0" anchor="ctr" bIns="0" lIns="0" spcFirstLastPara="1" rIns="0" wrap="square" tIns="0">
            <a:noAutofit/>
          </a:bodyPr>
          <a:lstStyle/>
          <a:p>
            <a:pPr indent="0" lvl="0" marL="0" marR="0" rtl="0" algn="ctr">
              <a:lnSpc>
                <a:spcPct val="122222"/>
              </a:lnSpc>
              <a:spcBef>
                <a:spcPts val="0"/>
              </a:spcBef>
              <a:spcAft>
                <a:spcPts val="0"/>
              </a:spcAft>
              <a:buClr>
                <a:srgbClr val="E0B500"/>
              </a:buClr>
              <a:buSzPts val="900"/>
              <a:buFont typeface="Poppins"/>
              <a:buNone/>
            </a:pPr>
            <a:r>
              <a:rPr lang="en-US" sz="900">
                <a:solidFill>
                  <a:srgbClr val="E0B500"/>
                </a:solidFill>
                <a:latin typeface="Poppins"/>
                <a:ea typeface="Poppins"/>
                <a:cs typeface="Poppins"/>
                <a:sym typeface="Poppins"/>
              </a:rPr>
              <a:t>Skipped brief or footage review</a:t>
            </a:r>
            <a:endParaRPr sz="900">
              <a:solidFill>
                <a:schemeClr val="dk1"/>
              </a:solidFill>
              <a:latin typeface="Calibri"/>
              <a:ea typeface="Calibri"/>
              <a:cs typeface="Calibri"/>
              <a:sym typeface="Calibri"/>
            </a:endParaRPr>
          </a:p>
          <a:p>
            <a:pPr indent="0" lvl="0" marL="0" marR="0" rtl="0" algn="ctr">
              <a:lnSpc>
                <a:spcPct val="122222"/>
              </a:lnSpc>
              <a:spcBef>
                <a:spcPts val="0"/>
              </a:spcBef>
              <a:spcAft>
                <a:spcPts val="0"/>
              </a:spcAft>
              <a:buClr>
                <a:srgbClr val="E0B500"/>
              </a:buClr>
              <a:buSzPts val="900"/>
              <a:buFont typeface="Poppins"/>
              <a:buNone/>
            </a:pPr>
            <a:r>
              <a:rPr lang="en-US" sz="900">
                <a:solidFill>
                  <a:srgbClr val="E0B500"/>
                </a:solidFill>
                <a:latin typeface="Poppins"/>
                <a:ea typeface="Poppins"/>
                <a:cs typeface="Poppins"/>
                <a:sym typeface="Poppins"/>
              </a:rPr>
              <a:t>in week 3</a:t>
            </a:r>
            <a:endParaRPr sz="900">
              <a:solidFill>
                <a:schemeClr val="dk1"/>
              </a:solidFill>
              <a:latin typeface="Calibri"/>
              <a:ea typeface="Calibri"/>
              <a:cs typeface="Calibri"/>
              <a:sym typeface="Calibri"/>
            </a:endParaRPr>
          </a:p>
        </p:txBody>
      </p:sp>
      <p:sp>
        <p:nvSpPr>
          <p:cNvPr id="173" name="Google Shape;173;p7"/>
          <p:cNvSpPr/>
          <p:nvPr/>
        </p:nvSpPr>
        <p:spPr>
          <a:xfrm>
            <a:off x="5029201" y="3657606"/>
            <a:ext cx="1280100" cy="548700"/>
          </a:xfrm>
          <a:prstGeom prst="rect">
            <a:avLst/>
          </a:prstGeom>
          <a:noFill/>
          <a:ln>
            <a:noFill/>
          </a:ln>
        </p:spPr>
        <p:txBody>
          <a:bodyPr anchorCtr="0" anchor="ctr" bIns="0" lIns="0" spcFirstLastPara="1" rIns="0" wrap="square" tIns="0">
            <a:noAutofit/>
          </a:bodyPr>
          <a:lstStyle/>
          <a:p>
            <a:pPr indent="0" lvl="0" marL="0" marR="0" rtl="0" algn="ctr">
              <a:lnSpc>
                <a:spcPct val="122222"/>
              </a:lnSpc>
              <a:spcBef>
                <a:spcPts val="0"/>
              </a:spcBef>
              <a:spcAft>
                <a:spcPts val="0"/>
              </a:spcAft>
              <a:buClr>
                <a:srgbClr val="B23A2E"/>
              </a:buClr>
              <a:buSzPts val="900"/>
              <a:buFont typeface="Poppins"/>
              <a:buNone/>
            </a:pPr>
            <a:r>
              <a:rPr lang="en-US" sz="900">
                <a:solidFill>
                  <a:srgbClr val="B23A2E"/>
                </a:solidFill>
                <a:latin typeface="Poppins"/>
                <a:ea typeface="Poppins"/>
                <a:cs typeface="Poppins"/>
                <a:sym typeface="Poppins"/>
              </a:rPr>
              <a:t>Gap in</a:t>
            </a:r>
            <a:endParaRPr sz="900">
              <a:solidFill>
                <a:schemeClr val="dk1"/>
              </a:solidFill>
              <a:latin typeface="Calibri"/>
              <a:ea typeface="Calibri"/>
              <a:cs typeface="Calibri"/>
              <a:sym typeface="Calibri"/>
            </a:endParaRPr>
          </a:p>
          <a:p>
            <a:pPr indent="0" lvl="0" marL="0" marR="0" rtl="0" algn="ctr">
              <a:lnSpc>
                <a:spcPct val="122222"/>
              </a:lnSpc>
              <a:spcBef>
                <a:spcPts val="0"/>
              </a:spcBef>
              <a:spcAft>
                <a:spcPts val="0"/>
              </a:spcAft>
              <a:buClr>
                <a:srgbClr val="B23A2E"/>
              </a:buClr>
              <a:buSzPts val="900"/>
              <a:buFont typeface="Poppins"/>
              <a:buNone/>
            </a:pPr>
            <a:r>
              <a:rPr lang="en-US" sz="900">
                <a:solidFill>
                  <a:srgbClr val="B23A2E"/>
                </a:solidFill>
                <a:latin typeface="Poppins"/>
                <a:ea typeface="Poppins"/>
                <a:cs typeface="Poppins"/>
                <a:sym typeface="Poppins"/>
              </a:rPr>
              <a:t>mid-unit portfolio review or assignment submission</a:t>
            </a:r>
            <a:endParaRPr sz="900">
              <a:solidFill>
                <a:schemeClr val="dk1"/>
              </a:solidFill>
              <a:latin typeface="Calibri"/>
              <a:ea typeface="Calibri"/>
              <a:cs typeface="Calibri"/>
              <a:sym typeface="Calibri"/>
            </a:endParaRPr>
          </a:p>
        </p:txBody>
      </p:sp>
      <p:sp>
        <p:nvSpPr>
          <p:cNvPr id="174" name="Google Shape;174;p7"/>
          <p:cNvSpPr/>
          <p:nvPr/>
        </p:nvSpPr>
        <p:spPr>
          <a:xfrm>
            <a:off x="795528" y="4361688"/>
            <a:ext cx="5404104" cy="1188720"/>
          </a:xfrm>
          <a:prstGeom prst="rect">
            <a:avLst/>
          </a:prstGeom>
          <a:noFill/>
          <a:ln>
            <a:noFill/>
          </a:ln>
        </p:spPr>
        <p:txBody>
          <a:bodyPr anchorCtr="0" anchor="ctr" bIns="0" lIns="0" spcFirstLastPara="1" rIns="0" wrap="square" tIns="0">
            <a:noAutofit/>
          </a:bodyPr>
          <a:lstStyle/>
          <a:p>
            <a:pPr indent="0" lvl="0" marL="0" marR="0" rtl="0" algn="l">
              <a:lnSpc>
                <a:spcPct val="138095"/>
              </a:lnSpc>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Most missed work doesn't punish you that week. It punishes you a couple of months later, when you can't catch up — and you didn't know you needed to. That's the actual time-management problem.</a:t>
            </a:r>
            <a:endParaRPr sz="1050">
              <a:solidFill>
                <a:schemeClr val="dk1"/>
              </a:solidFill>
              <a:latin typeface="Calibri"/>
              <a:ea typeface="Calibri"/>
              <a:cs typeface="Calibri"/>
              <a:sym typeface="Calibri"/>
            </a:endParaRPr>
          </a:p>
        </p:txBody>
      </p:sp>
      <p:sp>
        <p:nvSpPr>
          <p:cNvPr id="175" name="Google Shape;175;p7"/>
          <p:cNvSpPr/>
          <p:nvPr/>
        </p:nvSpPr>
        <p:spPr>
          <a:xfrm>
            <a:off x="6766560" y="2368296"/>
            <a:ext cx="4919472" cy="3337560"/>
          </a:xfrm>
          <a:prstGeom prst="roundRect">
            <a:avLst>
              <a:gd fmla="val 3288"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6" name="Google Shape;176;p7"/>
          <p:cNvPicPr preferRelativeResize="0"/>
          <p:nvPr/>
        </p:nvPicPr>
        <p:blipFill rotWithShape="1">
          <a:blip r:embed="rId3">
            <a:alphaModFix/>
          </a:blip>
          <a:srcRect b="0" l="0" r="0" t="0"/>
          <a:stretch/>
        </p:blipFill>
        <p:spPr>
          <a:xfrm>
            <a:off x="7059168" y="2697480"/>
            <a:ext cx="457200" cy="457200"/>
          </a:xfrm>
          <a:prstGeom prst="rect">
            <a:avLst/>
          </a:prstGeom>
          <a:noFill/>
          <a:ln>
            <a:noFill/>
          </a:ln>
        </p:spPr>
      </p:pic>
      <p:sp>
        <p:nvSpPr>
          <p:cNvPr id="177" name="Google Shape;177;p7"/>
          <p:cNvSpPr/>
          <p:nvPr/>
        </p:nvSpPr>
        <p:spPr>
          <a:xfrm>
            <a:off x="7059168" y="3246120"/>
            <a:ext cx="4334256" cy="548640"/>
          </a:xfrm>
          <a:prstGeom prst="rect">
            <a:avLst/>
          </a:prstGeom>
          <a:noFill/>
          <a:ln>
            <a:noFill/>
          </a:ln>
        </p:spPr>
        <p:txBody>
          <a:bodyPr anchorCtr="0" anchor="ctr" bIns="0" lIns="0" spcFirstLastPara="1" rIns="0" wrap="square" tIns="0">
            <a:noAutofit/>
          </a:bodyPr>
          <a:lstStyle/>
          <a:p>
            <a:pPr indent="0" lvl="0" marL="0" marR="0" rtl="0" algn="l">
              <a:lnSpc>
                <a:spcPct val="116129"/>
              </a:lnSpc>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The one move that actually helps</a:t>
            </a:r>
            <a:endParaRPr sz="1550">
              <a:solidFill>
                <a:schemeClr val="dk1"/>
              </a:solidFill>
              <a:latin typeface="Calibri"/>
              <a:ea typeface="Calibri"/>
              <a:cs typeface="Calibri"/>
              <a:sym typeface="Calibri"/>
            </a:endParaRPr>
          </a:p>
        </p:txBody>
      </p:sp>
      <p:sp>
        <p:nvSpPr>
          <p:cNvPr id="178" name="Google Shape;178;p7"/>
          <p:cNvSpPr/>
          <p:nvPr/>
        </p:nvSpPr>
        <p:spPr>
          <a:xfrm>
            <a:off x="7059168" y="4014216"/>
            <a:ext cx="4334256" cy="164592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0D2434"/>
              </a:buClr>
              <a:buSzPts val="1100"/>
              <a:buFont typeface="Poppins"/>
              <a:buNone/>
            </a:pPr>
            <a:r>
              <a:rPr lang="en-US" sz="1100">
                <a:solidFill>
                  <a:srgbClr val="0D2434"/>
                </a:solidFill>
                <a:latin typeface="Poppins"/>
                <a:ea typeface="Poppins"/>
                <a:cs typeface="Poppins"/>
                <a:sym typeface="Poppins"/>
              </a:rPr>
              <a:t>Treat your unstructured periods as actual sessions. Not vague 'study time' — a specific thing, for a specific lesson, for a set amount of time.</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0D2434"/>
              </a:buClr>
              <a:buSzPts val="1100"/>
              <a:buFont typeface="Poppins"/>
              <a:buNone/>
            </a:pPr>
            <a:r>
              <a:rPr lang="en-US" sz="1100">
                <a:solidFill>
                  <a:srgbClr val="0D2434"/>
                </a:solidFill>
                <a:latin typeface="Poppins"/>
                <a:ea typeface="Poppins"/>
                <a:cs typeface="Poppins"/>
                <a:sym typeface="Poppins"/>
              </a:rPr>
              <a:t>The students who do this don't work harder than everyone else. They just decide in advance.</a:t>
            </a:r>
            <a:endParaRPr sz="1100">
              <a:solidFill>
                <a:schemeClr val="dk1"/>
              </a:solidFill>
              <a:latin typeface="Calibri"/>
              <a:ea typeface="Calibri"/>
              <a:cs typeface="Calibri"/>
              <a:sym typeface="Calibri"/>
            </a:endParaRPr>
          </a:p>
        </p:txBody>
      </p:sp>
      <p:sp>
        <p:nvSpPr>
          <p:cNvPr id="179" name="Google Shape;179;p7"/>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180" name="Google Shape;180;p7"/>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7"/>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182" name="Google Shape;182;p7"/>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7A54"/>
        </a:solidFill>
      </p:bgPr>
    </p:bg>
    <p:spTree>
      <p:nvGrpSpPr>
        <p:cNvPr id="187" name="Shape 187"/>
        <p:cNvGrpSpPr/>
        <p:nvPr/>
      </p:nvGrpSpPr>
      <p:grpSpPr>
        <a:xfrm>
          <a:off x="0" y="0"/>
          <a:ext cx="0" cy="0"/>
          <a:chOff x="0" y="0"/>
          <a:chExt cx="0" cy="0"/>
        </a:xfrm>
      </p:grpSpPr>
      <p:sp>
        <p:nvSpPr>
          <p:cNvPr id="188" name="Google Shape;188;p8"/>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8"/>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190" name="Google Shape;190;p8"/>
          <p:cNvSpPr/>
          <p:nvPr/>
        </p:nvSpPr>
        <p:spPr>
          <a:xfrm>
            <a:off x="502920" y="56692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8"/>
          <p:cNvSpPr/>
          <p:nvPr/>
        </p:nvSpPr>
        <p:spPr>
          <a:xfrm>
            <a:off x="841248" y="493776"/>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ONE OF OUR PROUD VALUES</a:t>
            </a:r>
            <a:endParaRPr sz="1100">
              <a:solidFill>
                <a:schemeClr val="dk1"/>
              </a:solidFill>
              <a:latin typeface="Calibri"/>
              <a:ea typeface="Calibri"/>
              <a:cs typeface="Calibri"/>
              <a:sym typeface="Calibri"/>
            </a:endParaRPr>
          </a:p>
        </p:txBody>
      </p:sp>
      <p:sp>
        <p:nvSpPr>
          <p:cNvPr id="192" name="Google Shape;192;p8"/>
          <p:cNvSpPr/>
          <p:nvPr/>
        </p:nvSpPr>
        <p:spPr>
          <a:xfrm>
            <a:off x="475488" y="868680"/>
            <a:ext cx="10515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800"/>
              <a:buFont typeface="Poppins SemiBold"/>
              <a:buNone/>
            </a:pPr>
            <a:r>
              <a:rPr lang="en-US" sz="3800">
                <a:solidFill>
                  <a:srgbClr val="FFFFFF"/>
                </a:solidFill>
                <a:latin typeface="Poppins SemiBold"/>
                <a:ea typeface="Poppins SemiBold"/>
                <a:cs typeface="Poppins SemiBold"/>
                <a:sym typeface="Poppins SemiBold"/>
              </a:rPr>
              <a:t>Seek Opportunity</a:t>
            </a:r>
            <a:endParaRPr sz="3800">
              <a:solidFill>
                <a:schemeClr val="dk1"/>
              </a:solidFill>
              <a:latin typeface="Calibri"/>
              <a:ea typeface="Calibri"/>
              <a:cs typeface="Calibri"/>
              <a:sym typeface="Calibri"/>
            </a:endParaRPr>
          </a:p>
        </p:txBody>
      </p:sp>
      <p:sp>
        <p:nvSpPr>
          <p:cNvPr id="193" name="Google Shape;193;p8"/>
          <p:cNvSpPr/>
          <p:nvPr/>
        </p:nvSpPr>
        <p:spPr>
          <a:xfrm>
            <a:off x="502925" y="2103128"/>
            <a:ext cx="3630300" cy="3856500"/>
          </a:xfrm>
          <a:prstGeom prst="roundRect">
            <a:avLst>
              <a:gd fmla="val 4528" name="adj"/>
            </a:avLst>
          </a:prstGeom>
          <a:solidFill>
            <a:srgbClr val="1C3A4D"/>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4" name="Google Shape;194;p8"/>
          <p:cNvPicPr preferRelativeResize="0"/>
          <p:nvPr/>
        </p:nvPicPr>
        <p:blipFill rotWithShape="1">
          <a:blip r:embed="rId3">
            <a:alphaModFix/>
          </a:blip>
          <a:srcRect b="0" l="0" r="0" t="0"/>
          <a:stretch/>
        </p:blipFill>
        <p:spPr>
          <a:xfrm>
            <a:off x="795528" y="2395728"/>
            <a:ext cx="475488" cy="475488"/>
          </a:xfrm>
          <a:prstGeom prst="rect">
            <a:avLst/>
          </a:prstGeom>
          <a:noFill/>
          <a:ln>
            <a:noFill/>
          </a:ln>
        </p:spPr>
      </p:pic>
      <p:sp>
        <p:nvSpPr>
          <p:cNvPr id="195" name="Google Shape;195;p8"/>
          <p:cNvSpPr/>
          <p:nvPr/>
        </p:nvSpPr>
        <p:spPr>
          <a:xfrm>
            <a:off x="795525" y="3035788"/>
            <a:ext cx="3045000" cy="1898400"/>
          </a:xfrm>
          <a:prstGeom prst="rect">
            <a:avLst/>
          </a:prstGeom>
          <a:noFill/>
          <a:ln>
            <a:noFill/>
          </a:ln>
        </p:spPr>
        <p:txBody>
          <a:bodyPr anchorCtr="0" anchor="ctr" bIns="0" lIns="0" spcFirstLastPara="1" rIns="0" wrap="square" tIns="0">
            <a:noAutofit/>
          </a:bodyPr>
          <a:lstStyle/>
          <a:p>
            <a:pPr indent="0" lvl="0" marL="0" marR="0" rtl="0" algn="l">
              <a:lnSpc>
                <a:spcPct val="122222"/>
              </a:lnSpc>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Join clubs and volunteer when you can. Enter a short film or digital media competition, build a public portfolio on Behance or Vimeo, or apply for a student media or journalism project at the college.</a:t>
            </a:r>
            <a:endParaRPr sz="1350">
              <a:solidFill>
                <a:schemeClr val="dk1"/>
              </a:solidFill>
              <a:latin typeface="Calibri"/>
              <a:ea typeface="Calibri"/>
              <a:cs typeface="Calibri"/>
              <a:sym typeface="Calibri"/>
            </a:endParaRPr>
          </a:p>
        </p:txBody>
      </p:sp>
      <p:sp>
        <p:nvSpPr>
          <p:cNvPr id="196" name="Google Shape;196;p8"/>
          <p:cNvSpPr/>
          <p:nvPr/>
        </p:nvSpPr>
        <p:spPr>
          <a:xfrm>
            <a:off x="786378" y="5065768"/>
            <a:ext cx="3063300" cy="731400"/>
          </a:xfrm>
          <a:prstGeom prst="rect">
            <a:avLst/>
          </a:prstGeom>
          <a:noFill/>
          <a:ln>
            <a:noFill/>
          </a:ln>
        </p:spPr>
        <p:txBody>
          <a:bodyPr anchorCtr="0" anchor="ctr" bIns="0" lIns="0" spcFirstLastPara="1" rIns="0" wrap="square" tIns="0">
            <a:noAutofit/>
          </a:bodyPr>
          <a:lstStyle/>
          <a:p>
            <a:pPr indent="0" lvl="0" marL="0" marR="0" rtl="0" algn="l">
              <a:lnSpc>
                <a:spcPct val="131067"/>
              </a:lnSpc>
              <a:spcBef>
                <a:spcPts val="0"/>
              </a:spcBef>
              <a:spcAft>
                <a:spcPts val="0"/>
              </a:spcAft>
              <a:buClr>
                <a:srgbClr val="C7D0D3"/>
              </a:buClr>
              <a:buSzPts val="1030"/>
              <a:buFont typeface="Poppins"/>
              <a:buNone/>
            </a:pPr>
            <a:r>
              <a:rPr lang="en-US" sz="1030">
                <a:solidFill>
                  <a:srgbClr val="C7D0D3"/>
                </a:solidFill>
                <a:latin typeface="Poppins"/>
                <a:ea typeface="Poppins"/>
                <a:cs typeface="Poppins"/>
                <a:sym typeface="Poppins"/>
              </a:rPr>
              <a:t>Belonging compounds. So does what you learn alongside the course.</a:t>
            </a:r>
            <a:endParaRPr sz="1030">
              <a:solidFill>
                <a:schemeClr val="dk1"/>
              </a:solidFill>
              <a:latin typeface="Calibri"/>
              <a:ea typeface="Calibri"/>
              <a:cs typeface="Calibri"/>
              <a:sym typeface="Calibri"/>
            </a:endParaRPr>
          </a:p>
        </p:txBody>
      </p:sp>
      <p:sp>
        <p:nvSpPr>
          <p:cNvPr id="197" name="Google Shape;197;p8"/>
          <p:cNvSpPr/>
          <p:nvPr/>
        </p:nvSpPr>
        <p:spPr>
          <a:xfrm>
            <a:off x="4297675" y="2103128"/>
            <a:ext cx="3630300" cy="3780300"/>
          </a:xfrm>
          <a:prstGeom prst="roundRect">
            <a:avLst>
              <a:gd fmla="val 4528" name="adj"/>
            </a:avLst>
          </a:prstGeom>
          <a:solidFill>
            <a:srgbClr val="1C3A4D"/>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8" name="Google Shape;198;p8"/>
          <p:cNvPicPr preferRelativeResize="0"/>
          <p:nvPr/>
        </p:nvPicPr>
        <p:blipFill rotWithShape="1">
          <a:blip r:embed="rId4">
            <a:alphaModFix/>
          </a:blip>
          <a:srcRect b="0" l="0" r="0" t="0"/>
          <a:stretch/>
        </p:blipFill>
        <p:spPr>
          <a:xfrm>
            <a:off x="4443988" y="2230328"/>
            <a:ext cx="475488" cy="475488"/>
          </a:xfrm>
          <a:prstGeom prst="rect">
            <a:avLst/>
          </a:prstGeom>
          <a:noFill/>
          <a:ln>
            <a:noFill/>
          </a:ln>
        </p:spPr>
      </p:pic>
      <p:sp>
        <p:nvSpPr>
          <p:cNvPr id="199" name="Google Shape;199;p8"/>
          <p:cNvSpPr/>
          <p:nvPr/>
        </p:nvSpPr>
        <p:spPr>
          <a:xfrm>
            <a:off x="4471513" y="3035775"/>
            <a:ext cx="3305100" cy="2030100"/>
          </a:xfrm>
          <a:prstGeom prst="rect">
            <a:avLst/>
          </a:prstGeom>
          <a:noFill/>
          <a:ln>
            <a:noFill/>
          </a:ln>
        </p:spPr>
        <p:txBody>
          <a:bodyPr anchorCtr="0" anchor="ctr" bIns="0" lIns="0" spcFirstLastPara="1" rIns="0" wrap="square" tIns="0">
            <a:noAutofit/>
          </a:bodyPr>
          <a:lstStyle/>
          <a:p>
            <a:pPr indent="0" lvl="0" marL="0" marR="0" rtl="0" algn="l">
              <a:lnSpc>
                <a:spcPct val="122222"/>
              </a:lnSpc>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Explore careers and build your skills. Research BA degrees at University Centre Hastings, digital media and film degrees, and Higher Apprenticeship routes in software development, cybersecurity, or content production. The UK games industry alone is worth almost £4 billion — the careers in this field are real and growing.</a:t>
            </a:r>
            <a:endParaRPr sz="1350">
              <a:solidFill>
                <a:schemeClr val="dk1"/>
              </a:solidFill>
              <a:latin typeface="Calibri"/>
              <a:ea typeface="Calibri"/>
              <a:cs typeface="Calibri"/>
              <a:sym typeface="Calibri"/>
            </a:endParaRPr>
          </a:p>
        </p:txBody>
      </p:sp>
      <p:sp>
        <p:nvSpPr>
          <p:cNvPr id="200" name="Google Shape;200;p8"/>
          <p:cNvSpPr/>
          <p:nvPr/>
        </p:nvSpPr>
        <p:spPr>
          <a:xfrm>
            <a:off x="4581225" y="5239248"/>
            <a:ext cx="3063300" cy="475500"/>
          </a:xfrm>
          <a:prstGeom prst="rect">
            <a:avLst/>
          </a:prstGeom>
          <a:noFill/>
          <a:ln>
            <a:noFill/>
          </a:ln>
        </p:spPr>
        <p:txBody>
          <a:bodyPr anchorCtr="0" anchor="ctr" bIns="0" lIns="0" spcFirstLastPara="1" rIns="0" wrap="square" tIns="0">
            <a:noAutofit/>
          </a:bodyPr>
          <a:lstStyle/>
          <a:p>
            <a:pPr indent="0" lvl="0" marL="0" marR="0" rtl="0" algn="l">
              <a:lnSpc>
                <a:spcPct val="131067"/>
              </a:lnSpc>
              <a:spcBef>
                <a:spcPts val="0"/>
              </a:spcBef>
              <a:spcAft>
                <a:spcPts val="0"/>
              </a:spcAft>
              <a:buClr>
                <a:srgbClr val="C7D0D3"/>
              </a:buClr>
              <a:buSzPts val="1030"/>
              <a:buFont typeface="Poppins"/>
              <a:buNone/>
            </a:pPr>
            <a:r>
              <a:rPr lang="en-US" sz="1030">
                <a:solidFill>
                  <a:srgbClr val="C7D0D3"/>
                </a:solidFill>
                <a:latin typeface="Poppins"/>
                <a:ea typeface="Poppins"/>
                <a:cs typeface="Poppins"/>
                <a:sym typeface="Poppins"/>
              </a:rPr>
              <a:t>Doesn't have to be decided. But it has to be live.</a:t>
            </a:r>
            <a:endParaRPr sz="1030">
              <a:solidFill>
                <a:schemeClr val="dk1"/>
              </a:solidFill>
              <a:latin typeface="Calibri"/>
              <a:ea typeface="Calibri"/>
              <a:cs typeface="Calibri"/>
              <a:sym typeface="Calibri"/>
            </a:endParaRPr>
          </a:p>
        </p:txBody>
      </p:sp>
      <p:sp>
        <p:nvSpPr>
          <p:cNvPr id="201" name="Google Shape;201;p8"/>
          <p:cNvSpPr/>
          <p:nvPr/>
        </p:nvSpPr>
        <p:spPr>
          <a:xfrm>
            <a:off x="8092450" y="2103128"/>
            <a:ext cx="3630300" cy="3721500"/>
          </a:xfrm>
          <a:prstGeom prst="roundRect">
            <a:avLst>
              <a:gd fmla="val 4528" name="adj"/>
            </a:avLst>
          </a:prstGeom>
          <a:solidFill>
            <a:srgbClr val="1C3A4D"/>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2" name="Google Shape;202;p8"/>
          <p:cNvPicPr preferRelativeResize="0"/>
          <p:nvPr/>
        </p:nvPicPr>
        <p:blipFill rotWithShape="1">
          <a:blip r:embed="rId5">
            <a:alphaModFix/>
          </a:blip>
          <a:srcRect b="0" l="0" r="0" t="0"/>
          <a:stretch/>
        </p:blipFill>
        <p:spPr>
          <a:xfrm>
            <a:off x="8385048" y="2395728"/>
            <a:ext cx="475488" cy="475488"/>
          </a:xfrm>
          <a:prstGeom prst="rect">
            <a:avLst/>
          </a:prstGeom>
          <a:noFill/>
          <a:ln>
            <a:noFill/>
          </a:ln>
        </p:spPr>
      </p:pic>
      <p:sp>
        <p:nvSpPr>
          <p:cNvPr id="203" name="Google Shape;203;p8"/>
          <p:cNvSpPr/>
          <p:nvPr/>
        </p:nvSpPr>
        <p:spPr>
          <a:xfrm>
            <a:off x="8385048" y="3035808"/>
            <a:ext cx="3044952" cy="777240"/>
          </a:xfrm>
          <a:prstGeom prst="rect">
            <a:avLst/>
          </a:prstGeom>
          <a:noFill/>
          <a:ln>
            <a:noFill/>
          </a:ln>
        </p:spPr>
        <p:txBody>
          <a:bodyPr anchorCtr="0" anchor="ctr" bIns="0" lIns="0" spcFirstLastPara="1" rIns="0" wrap="square" tIns="0">
            <a:noAutofit/>
          </a:bodyPr>
          <a:lstStyle/>
          <a:p>
            <a:pPr indent="0" lvl="0" marL="0" marR="0" rtl="0" algn="l">
              <a:lnSpc>
                <a:spcPct val="122222"/>
              </a:lnSpc>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Treat mistakes as how you learn.</a:t>
            </a:r>
            <a:endParaRPr sz="1350">
              <a:solidFill>
                <a:schemeClr val="dk1"/>
              </a:solidFill>
              <a:latin typeface="Calibri"/>
              <a:ea typeface="Calibri"/>
              <a:cs typeface="Calibri"/>
              <a:sym typeface="Calibri"/>
            </a:endParaRPr>
          </a:p>
        </p:txBody>
      </p:sp>
      <p:sp>
        <p:nvSpPr>
          <p:cNvPr id="204" name="Google Shape;204;p8"/>
          <p:cNvSpPr/>
          <p:nvPr/>
        </p:nvSpPr>
        <p:spPr>
          <a:xfrm>
            <a:off x="8385048" y="3858768"/>
            <a:ext cx="3063240" cy="731520"/>
          </a:xfrm>
          <a:prstGeom prst="rect">
            <a:avLst/>
          </a:prstGeom>
          <a:noFill/>
          <a:ln>
            <a:noFill/>
          </a:ln>
        </p:spPr>
        <p:txBody>
          <a:bodyPr anchorCtr="0" anchor="ctr" bIns="0" lIns="0" spcFirstLastPara="1" rIns="0" wrap="square" tIns="0">
            <a:noAutofit/>
          </a:bodyPr>
          <a:lstStyle/>
          <a:p>
            <a:pPr indent="0" lvl="0" marL="0" marR="0" rtl="0" algn="l">
              <a:lnSpc>
                <a:spcPct val="131067"/>
              </a:lnSpc>
              <a:spcBef>
                <a:spcPts val="0"/>
              </a:spcBef>
              <a:spcAft>
                <a:spcPts val="0"/>
              </a:spcAft>
              <a:buClr>
                <a:srgbClr val="C7D0D3"/>
              </a:buClr>
              <a:buSzPts val="1030"/>
              <a:buFont typeface="Poppins"/>
              <a:buNone/>
            </a:pPr>
            <a:r>
              <a:rPr lang="en-US" sz="1030">
                <a:solidFill>
                  <a:srgbClr val="C7D0D3"/>
                </a:solidFill>
                <a:latin typeface="Poppins"/>
                <a:ea typeface="Poppins"/>
                <a:cs typeface="Poppins"/>
                <a:sym typeface="Poppins"/>
              </a:rPr>
              <a:t>Not the embarrassing bit. The useful bit.</a:t>
            </a:r>
            <a:endParaRPr sz="1030">
              <a:solidFill>
                <a:schemeClr val="dk1"/>
              </a:solidFill>
              <a:latin typeface="Calibri"/>
              <a:ea typeface="Calibri"/>
              <a:cs typeface="Calibri"/>
              <a:sym typeface="Calibri"/>
            </a:endParaRPr>
          </a:p>
        </p:txBody>
      </p:sp>
      <p:sp>
        <p:nvSpPr>
          <p:cNvPr id="205" name="Google Shape;205;p8"/>
          <p:cNvSpPr/>
          <p:nvPr/>
        </p:nvSpPr>
        <p:spPr>
          <a:xfrm>
            <a:off x="475495" y="5824715"/>
            <a:ext cx="11155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EAE3"/>
              </a:buClr>
              <a:buSzPts val="1250"/>
              <a:buFont typeface="Poppins"/>
              <a:buNone/>
            </a:pPr>
            <a:r>
              <a:rPr i="1" lang="en-US" sz="1250">
                <a:solidFill>
                  <a:srgbClr val="DCEAE3"/>
                </a:solidFill>
                <a:latin typeface="Poppins"/>
                <a:ea typeface="Poppins"/>
                <a:cs typeface="Poppins"/>
                <a:sym typeface="Poppins"/>
              </a:rPr>
              <a:t>This is the honest version of "be independent" — and it's one of our values for a reason.</a:t>
            </a:r>
            <a:endParaRPr sz="1250">
              <a:solidFill>
                <a:schemeClr val="dk1"/>
              </a:solidFill>
              <a:latin typeface="Calibri"/>
              <a:ea typeface="Calibri"/>
              <a:cs typeface="Calibri"/>
              <a:sym typeface="Calibri"/>
            </a:endParaRPr>
          </a:p>
        </p:txBody>
      </p:sp>
      <p:sp>
        <p:nvSpPr>
          <p:cNvPr id="206" name="Google Shape;206;p8"/>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207" name="Google Shape;207;p8"/>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8"/>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209" name="Google Shape;209;p8"/>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6</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14" name="Shape 214"/>
        <p:cNvGrpSpPr/>
        <p:nvPr/>
      </p:nvGrpSpPr>
      <p:grpSpPr>
        <a:xfrm>
          <a:off x="0" y="0"/>
          <a:ext cx="0" cy="0"/>
          <a:chOff x="0" y="0"/>
          <a:chExt cx="0" cy="0"/>
        </a:xfrm>
      </p:grpSpPr>
      <p:sp>
        <p:nvSpPr>
          <p:cNvPr id="215" name="Google Shape;215;p9"/>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9"/>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FEELING OUT OF DEPTH</a:t>
            </a:r>
            <a:endParaRPr sz="1100">
              <a:solidFill>
                <a:schemeClr val="dk1"/>
              </a:solidFill>
              <a:latin typeface="Calibri"/>
              <a:ea typeface="Calibri"/>
              <a:cs typeface="Calibri"/>
              <a:sym typeface="Calibri"/>
            </a:endParaRPr>
          </a:p>
        </p:txBody>
      </p:sp>
      <p:sp>
        <p:nvSpPr>
          <p:cNvPr id="217" name="Google Shape;217;p9"/>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confidence actually is</a:t>
            </a:r>
            <a:endParaRPr sz="3000">
              <a:solidFill>
                <a:schemeClr val="dk1"/>
              </a:solidFill>
              <a:latin typeface="Calibri"/>
              <a:ea typeface="Calibri"/>
              <a:cs typeface="Calibri"/>
              <a:sym typeface="Calibri"/>
            </a:endParaRPr>
          </a:p>
        </p:txBody>
      </p:sp>
      <p:sp>
        <p:nvSpPr>
          <p:cNvPr id="218" name="Google Shape;218;p9"/>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9"/>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220" name="Google Shape;220;p9"/>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If college feels harder than school did — that's the point. Here's what's actually happening.</a:t>
            </a:r>
            <a:endParaRPr sz="1300">
              <a:solidFill>
                <a:schemeClr val="dk1"/>
              </a:solidFill>
              <a:latin typeface="Calibri"/>
              <a:ea typeface="Calibri"/>
              <a:cs typeface="Calibri"/>
              <a:sym typeface="Calibri"/>
            </a:endParaRPr>
          </a:p>
        </p:txBody>
      </p:sp>
      <p:sp>
        <p:nvSpPr>
          <p:cNvPr id="221" name="Google Shape;221;p9"/>
          <p:cNvSpPr/>
          <p:nvPr/>
        </p:nvSpPr>
        <p:spPr>
          <a:xfrm>
            <a:off x="502920" y="2368296"/>
            <a:ext cx="5989320" cy="3291840"/>
          </a:xfrm>
          <a:prstGeom prst="roundRect">
            <a:avLst>
              <a:gd fmla="val 333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9"/>
          <p:cNvSpPr/>
          <p:nvPr/>
        </p:nvSpPr>
        <p:spPr>
          <a:xfrm>
            <a:off x="795528" y="2606040"/>
            <a:ext cx="54041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000"/>
              <a:buFont typeface="Poppins SemiBold"/>
              <a:buNone/>
            </a:pPr>
            <a:r>
              <a:rPr lang="en-US" sz="1800">
                <a:solidFill>
                  <a:srgbClr val="0F7A54"/>
                </a:solidFill>
                <a:latin typeface="Poppins SemiBold"/>
                <a:ea typeface="Poppins SemiBold"/>
                <a:cs typeface="Poppins SemiBold"/>
                <a:sym typeface="Poppins SemiBold"/>
              </a:rPr>
              <a:t>THE HONEST BIT</a:t>
            </a:r>
            <a:endParaRPr sz="1800">
              <a:solidFill>
                <a:schemeClr val="dk1"/>
              </a:solidFill>
              <a:latin typeface="Calibri"/>
              <a:ea typeface="Calibri"/>
              <a:cs typeface="Calibri"/>
              <a:sym typeface="Calibri"/>
            </a:endParaRPr>
          </a:p>
        </p:txBody>
      </p:sp>
      <p:sp>
        <p:nvSpPr>
          <p:cNvPr id="223" name="Google Shape;223;p9"/>
          <p:cNvSpPr/>
          <p:nvPr/>
        </p:nvSpPr>
        <p:spPr>
          <a:xfrm>
            <a:off x="795528" y="2916936"/>
            <a:ext cx="5404104" cy="260604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1B2A30"/>
              </a:buClr>
              <a:buSzPts val="1150"/>
              <a:buFont typeface="Poppins"/>
              <a:buNone/>
            </a:pPr>
            <a:r>
              <a:rPr lang="en-US" sz="1550">
                <a:solidFill>
                  <a:srgbClr val="1B2A30"/>
                </a:solidFill>
                <a:latin typeface="Poppins"/>
                <a:ea typeface="Poppins"/>
                <a:cs typeface="Poppins"/>
                <a:sym typeface="Poppins"/>
              </a:rPr>
              <a:t>Most students feel out of depth in their first weeks at college. Not some — most. It's a sign you've moved up, not that you're in the wrong place.</a:t>
            </a:r>
            <a:endParaRPr sz="1550">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chemeClr val="dk1"/>
              </a:buClr>
              <a:buSzPts val="1150"/>
              <a:buFont typeface="Calibri"/>
              <a:buNone/>
            </a:pPr>
            <a:r>
              <a:t/>
            </a:r>
            <a:endParaRPr sz="1550">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rgbClr val="1B2A30"/>
              </a:buClr>
              <a:buSzPts val="1150"/>
              <a:buFont typeface="Poppins"/>
              <a:buNone/>
            </a:pPr>
            <a:r>
              <a:rPr lang="en-US" sz="1550">
                <a:solidFill>
                  <a:srgbClr val="1B2A30"/>
                </a:solidFill>
                <a:latin typeface="Poppins"/>
                <a:ea typeface="Poppins"/>
                <a:cs typeface="Poppins"/>
                <a:sym typeface="Poppins"/>
              </a:rPr>
              <a:t>Confidence isn't a personality trait. It's what you build by doing things you weren't sure you could.</a:t>
            </a:r>
            <a:endParaRPr sz="1550">
              <a:solidFill>
                <a:schemeClr val="dk1"/>
              </a:solidFill>
              <a:latin typeface="Calibri"/>
              <a:ea typeface="Calibri"/>
              <a:cs typeface="Calibri"/>
              <a:sym typeface="Calibri"/>
            </a:endParaRPr>
          </a:p>
        </p:txBody>
      </p:sp>
      <p:sp>
        <p:nvSpPr>
          <p:cNvPr id="224" name="Google Shape;224;p9"/>
          <p:cNvSpPr/>
          <p:nvPr/>
        </p:nvSpPr>
        <p:spPr>
          <a:xfrm>
            <a:off x="6766560" y="2368296"/>
            <a:ext cx="4919472" cy="1554480"/>
          </a:xfrm>
          <a:prstGeom prst="roundRect">
            <a:avLst>
              <a:gd fmla="val 7059" name="adj"/>
            </a:avLst>
          </a:prstGeom>
          <a:solidFill>
            <a:srgbClr val="FFF3D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9"/>
          <p:cNvSpPr/>
          <p:nvPr/>
        </p:nvSpPr>
        <p:spPr>
          <a:xfrm>
            <a:off x="7022592" y="2532888"/>
            <a:ext cx="44074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B500"/>
              </a:buClr>
              <a:buSzPts val="950"/>
              <a:buFont typeface="Poppins SemiBold"/>
              <a:buNone/>
            </a:pPr>
            <a:r>
              <a:rPr lang="en-US" sz="950">
                <a:solidFill>
                  <a:srgbClr val="E0B500"/>
                </a:solidFill>
                <a:latin typeface="Poppins SemiBold"/>
                <a:ea typeface="Poppins SemiBold"/>
                <a:cs typeface="Poppins SemiBold"/>
                <a:sym typeface="Poppins SemiBold"/>
              </a:rPr>
              <a:t>THE TRAP</a:t>
            </a:r>
            <a:endParaRPr sz="950">
              <a:solidFill>
                <a:schemeClr val="dk1"/>
              </a:solidFill>
              <a:latin typeface="Calibri"/>
              <a:ea typeface="Calibri"/>
              <a:cs typeface="Calibri"/>
              <a:sym typeface="Calibri"/>
            </a:endParaRPr>
          </a:p>
        </p:txBody>
      </p:sp>
      <p:sp>
        <p:nvSpPr>
          <p:cNvPr id="226" name="Google Shape;226;p9"/>
          <p:cNvSpPr/>
          <p:nvPr/>
        </p:nvSpPr>
        <p:spPr>
          <a:xfrm>
            <a:off x="7022592" y="2825496"/>
            <a:ext cx="4407408" cy="1051560"/>
          </a:xfrm>
          <a:prstGeom prst="rect">
            <a:avLst/>
          </a:prstGeom>
          <a:noFill/>
          <a:ln>
            <a:noFill/>
          </a:ln>
        </p:spPr>
        <p:txBody>
          <a:bodyPr anchorCtr="0" anchor="ctr" bIns="0" lIns="0" spcFirstLastPara="1" rIns="0" wrap="square" tIns="0">
            <a:noAutofit/>
          </a:bodyPr>
          <a:lstStyle/>
          <a:p>
            <a:pPr indent="0" lvl="0" marL="0" marR="0" rtl="0" algn="l">
              <a:lnSpc>
                <a:spcPct val="123076"/>
              </a:lnSpc>
              <a:spcBef>
                <a:spcPts val="0"/>
              </a:spcBef>
              <a:spcAft>
                <a:spcPts val="0"/>
              </a:spcAft>
              <a:buClr>
                <a:srgbClr val="1B2A30"/>
              </a:buClr>
              <a:buSzPts val="1300"/>
              <a:buFont typeface="Poppins SemiBold"/>
              <a:buNone/>
            </a:pPr>
            <a:r>
              <a:rPr i="1" lang="en-US" sz="1300">
                <a:solidFill>
                  <a:srgbClr val="1B2A30"/>
                </a:solidFill>
                <a:latin typeface="Poppins SemiBold"/>
                <a:ea typeface="Poppins SemiBold"/>
                <a:cs typeface="Poppins SemiBold"/>
                <a:sym typeface="Poppins SemiBold"/>
              </a:rPr>
              <a:t>"I'm finding this hard, so I must not be cut out for it."</a:t>
            </a:r>
            <a:endParaRPr sz="1300">
              <a:solidFill>
                <a:schemeClr val="dk1"/>
              </a:solidFill>
              <a:latin typeface="Calibri"/>
              <a:ea typeface="Calibri"/>
              <a:cs typeface="Calibri"/>
              <a:sym typeface="Calibri"/>
            </a:endParaRPr>
          </a:p>
        </p:txBody>
      </p:sp>
      <p:sp>
        <p:nvSpPr>
          <p:cNvPr id="227" name="Google Shape;227;p9"/>
          <p:cNvSpPr/>
          <p:nvPr/>
        </p:nvSpPr>
        <p:spPr>
          <a:xfrm>
            <a:off x="6766560" y="4105656"/>
            <a:ext cx="4919472" cy="1554480"/>
          </a:xfrm>
          <a:prstGeom prst="roundRect">
            <a:avLst>
              <a:gd fmla="val 7059"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9"/>
          <p:cNvSpPr/>
          <p:nvPr/>
        </p:nvSpPr>
        <p:spPr>
          <a:xfrm>
            <a:off x="7022592" y="4270248"/>
            <a:ext cx="44074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950"/>
              <a:buFont typeface="Poppins SemiBold"/>
              <a:buNone/>
            </a:pPr>
            <a:r>
              <a:rPr lang="en-US" sz="950">
                <a:solidFill>
                  <a:srgbClr val="0F7A54"/>
                </a:solidFill>
                <a:latin typeface="Poppins SemiBold"/>
                <a:ea typeface="Poppins SemiBold"/>
                <a:cs typeface="Poppins SemiBold"/>
                <a:sym typeface="Poppins SemiBold"/>
              </a:rPr>
              <a:t>THE HONEST VERSION</a:t>
            </a:r>
            <a:endParaRPr sz="950">
              <a:solidFill>
                <a:schemeClr val="dk1"/>
              </a:solidFill>
              <a:latin typeface="Calibri"/>
              <a:ea typeface="Calibri"/>
              <a:cs typeface="Calibri"/>
              <a:sym typeface="Calibri"/>
            </a:endParaRPr>
          </a:p>
        </p:txBody>
      </p:sp>
      <p:sp>
        <p:nvSpPr>
          <p:cNvPr id="229" name="Google Shape;229;p9"/>
          <p:cNvSpPr/>
          <p:nvPr/>
        </p:nvSpPr>
        <p:spPr>
          <a:xfrm>
            <a:off x="7022592" y="4562856"/>
            <a:ext cx="4407408" cy="1051560"/>
          </a:xfrm>
          <a:prstGeom prst="rect">
            <a:avLst/>
          </a:prstGeom>
          <a:noFill/>
          <a:ln>
            <a:noFill/>
          </a:ln>
        </p:spPr>
        <p:txBody>
          <a:bodyPr anchorCtr="0" anchor="ctr" bIns="0" lIns="0" spcFirstLastPara="1" rIns="0" wrap="square" tIns="0">
            <a:noAutofit/>
          </a:bodyPr>
          <a:lstStyle/>
          <a:p>
            <a:pPr indent="0" lvl="0" marL="0" marR="0" rtl="0" algn="l">
              <a:lnSpc>
                <a:spcPct val="123076"/>
              </a:lnSpc>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"I'm finding this hard. That means I'm doing it properly — and I should ask."</a:t>
            </a:r>
            <a:endParaRPr sz="1300">
              <a:solidFill>
                <a:schemeClr val="dk1"/>
              </a:solidFill>
              <a:latin typeface="Calibri"/>
              <a:ea typeface="Calibri"/>
              <a:cs typeface="Calibri"/>
              <a:sym typeface="Calibri"/>
            </a:endParaRPr>
          </a:p>
        </p:txBody>
      </p:sp>
      <p:sp>
        <p:nvSpPr>
          <p:cNvPr id="230" name="Google Shape;230;p9"/>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231" name="Google Shape;231;p9"/>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9"/>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233" name="Google Shape;233;p9"/>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7</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38" name="Shape 238"/>
        <p:cNvGrpSpPr/>
        <p:nvPr/>
      </p:nvGrpSpPr>
      <p:grpSpPr>
        <a:xfrm>
          <a:off x="0" y="0"/>
          <a:ext cx="0" cy="0"/>
          <a:chOff x="0" y="0"/>
          <a:chExt cx="0" cy="0"/>
        </a:xfrm>
      </p:grpSpPr>
      <p:sp>
        <p:nvSpPr>
          <p:cNvPr id="239" name="Google Shape;239;p10"/>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0"/>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ATTENDANCE — THE PLAIN CASE</a:t>
            </a:r>
            <a:endParaRPr sz="1100">
              <a:solidFill>
                <a:schemeClr val="dk1"/>
              </a:solidFill>
              <a:latin typeface="Calibri"/>
              <a:ea typeface="Calibri"/>
              <a:cs typeface="Calibri"/>
              <a:sym typeface="Calibri"/>
            </a:endParaRPr>
          </a:p>
        </p:txBody>
      </p:sp>
      <p:sp>
        <p:nvSpPr>
          <p:cNvPr id="241" name="Google Shape;241;p10"/>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being here actually buys you</a:t>
            </a:r>
            <a:endParaRPr sz="3000">
              <a:solidFill>
                <a:schemeClr val="dk1"/>
              </a:solidFill>
              <a:latin typeface="Calibri"/>
              <a:ea typeface="Calibri"/>
              <a:cs typeface="Calibri"/>
              <a:sym typeface="Calibri"/>
            </a:endParaRPr>
          </a:p>
        </p:txBody>
      </p:sp>
      <p:sp>
        <p:nvSpPr>
          <p:cNvPr id="242" name="Google Shape;242;p10"/>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10"/>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244" name="Google Shape;244;p10"/>
          <p:cNvSpPr/>
          <p:nvPr/>
        </p:nvSpPr>
        <p:spPr>
          <a:xfrm>
            <a:off x="502920" y="1728216"/>
            <a:ext cx="10607040" cy="457200"/>
          </a:xfrm>
          <a:prstGeom prst="rect">
            <a:avLst/>
          </a:prstGeom>
          <a:noFill/>
          <a:ln>
            <a:noFill/>
          </a:ln>
        </p:spPr>
        <p:txBody>
          <a:bodyPr anchorCtr="0" anchor="ctr" bIns="0" lIns="0" spcFirstLastPara="1" rIns="0" wrap="square" tIns="0">
            <a:noAutofit/>
          </a:bodyPr>
          <a:lstStyle/>
          <a:p>
            <a:pPr indent="0" lvl="0" marL="0" marR="0" rtl="0" algn="l">
              <a:lnSpc>
                <a:spcPct val="130769"/>
              </a:lnSpc>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No percentage thresholds. No lecture. Just what you genuinely lose when you're not in the room.</a:t>
            </a:r>
            <a:endParaRPr sz="1300">
              <a:solidFill>
                <a:schemeClr val="dk1"/>
              </a:solidFill>
              <a:latin typeface="Calibri"/>
              <a:ea typeface="Calibri"/>
              <a:cs typeface="Calibri"/>
              <a:sym typeface="Calibri"/>
            </a:endParaRPr>
          </a:p>
        </p:txBody>
      </p:sp>
      <p:sp>
        <p:nvSpPr>
          <p:cNvPr id="245" name="Google Shape;245;p10"/>
          <p:cNvSpPr/>
          <p:nvPr/>
        </p:nvSpPr>
        <p:spPr>
          <a:xfrm>
            <a:off x="502920" y="2368296"/>
            <a:ext cx="2715768" cy="2788920"/>
          </a:xfrm>
          <a:prstGeom prst="roundRect">
            <a:avLst>
              <a:gd fmla="val 404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10"/>
          <p:cNvSpPr/>
          <p:nvPr/>
        </p:nvSpPr>
        <p:spPr>
          <a:xfrm>
            <a:off x="502920" y="2368296"/>
            <a:ext cx="27157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7" name="Google Shape;247;p10"/>
          <p:cNvPicPr preferRelativeResize="0"/>
          <p:nvPr/>
        </p:nvPicPr>
        <p:blipFill rotWithShape="1">
          <a:blip r:embed="rId3">
            <a:alphaModFix/>
          </a:blip>
          <a:srcRect b="0" l="0" r="0" t="0"/>
          <a:stretch/>
        </p:blipFill>
        <p:spPr>
          <a:xfrm>
            <a:off x="758952" y="2660904"/>
            <a:ext cx="457200" cy="457200"/>
          </a:xfrm>
          <a:prstGeom prst="rect">
            <a:avLst/>
          </a:prstGeom>
          <a:noFill/>
          <a:ln>
            <a:noFill/>
          </a:ln>
        </p:spPr>
      </p:pic>
      <p:sp>
        <p:nvSpPr>
          <p:cNvPr id="248" name="Google Shape;248;p10"/>
          <p:cNvSpPr/>
          <p:nvPr/>
        </p:nvSpPr>
        <p:spPr>
          <a:xfrm>
            <a:off x="758952" y="3227832"/>
            <a:ext cx="2203704" cy="1005840"/>
          </a:xfrm>
          <a:prstGeom prst="rect">
            <a:avLst/>
          </a:prstGeom>
          <a:noFill/>
          <a:ln>
            <a:noFill/>
          </a:ln>
        </p:spPr>
        <p:txBody>
          <a:bodyPr anchorCtr="0" anchor="ctr" bIns="0" lIns="0" spcFirstLastPara="1" rIns="0" wrap="square" tIns="0">
            <a:noAutofit/>
          </a:bodyPr>
          <a:lstStyle/>
          <a:p>
            <a:pPr indent="0" lvl="0" marL="0" marR="0" rtl="0" algn="l">
              <a:lnSpc>
                <a:spcPct val="124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The bit that isn't on the slides</a:t>
            </a:r>
            <a:endParaRPr sz="1250">
              <a:solidFill>
                <a:schemeClr val="dk1"/>
              </a:solidFill>
              <a:latin typeface="Calibri"/>
              <a:ea typeface="Calibri"/>
              <a:cs typeface="Calibri"/>
              <a:sym typeface="Calibri"/>
            </a:endParaRPr>
          </a:p>
        </p:txBody>
      </p:sp>
      <p:sp>
        <p:nvSpPr>
          <p:cNvPr id="249" name="Google Shape;249;p10"/>
          <p:cNvSpPr/>
          <p:nvPr/>
        </p:nvSpPr>
        <p:spPr>
          <a:xfrm>
            <a:off x="758952" y="4197096"/>
            <a:ext cx="2221992" cy="914400"/>
          </a:xfrm>
          <a:prstGeom prst="rect">
            <a:avLst/>
          </a:prstGeom>
          <a:noFill/>
          <a:ln>
            <a:noFill/>
          </a:ln>
        </p:spPr>
        <p:txBody>
          <a:bodyPr anchorCtr="0" anchor="ctr" bIns="0" lIns="0" spcFirstLastPara="1" rIns="0" wrap="square" tIns="0">
            <a:noAutofit/>
          </a:bodyPr>
          <a:lstStyle/>
          <a:p>
            <a:pPr indent="0" lvl="0" marL="0" marR="0" rtl="0" algn="l">
              <a:lnSpc>
                <a:spcPct val="131958"/>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What teachers say in response to questions, the worked example, the off-script explanation. Not catchable up.</a:t>
            </a:r>
            <a:endParaRPr sz="970">
              <a:solidFill>
                <a:schemeClr val="dk1"/>
              </a:solidFill>
              <a:latin typeface="Calibri"/>
              <a:ea typeface="Calibri"/>
              <a:cs typeface="Calibri"/>
              <a:sym typeface="Calibri"/>
            </a:endParaRPr>
          </a:p>
        </p:txBody>
      </p:sp>
      <p:sp>
        <p:nvSpPr>
          <p:cNvPr id="250" name="Google Shape;250;p10"/>
          <p:cNvSpPr/>
          <p:nvPr/>
        </p:nvSpPr>
        <p:spPr>
          <a:xfrm>
            <a:off x="3383280" y="2368296"/>
            <a:ext cx="2715768" cy="2788920"/>
          </a:xfrm>
          <a:prstGeom prst="roundRect">
            <a:avLst>
              <a:gd fmla="val 404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10"/>
          <p:cNvSpPr/>
          <p:nvPr/>
        </p:nvSpPr>
        <p:spPr>
          <a:xfrm>
            <a:off x="3383280" y="2368296"/>
            <a:ext cx="27157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2" name="Google Shape;252;p10"/>
          <p:cNvPicPr preferRelativeResize="0"/>
          <p:nvPr/>
        </p:nvPicPr>
        <p:blipFill rotWithShape="1">
          <a:blip r:embed="rId4">
            <a:alphaModFix/>
          </a:blip>
          <a:srcRect b="0" l="0" r="0" t="0"/>
          <a:stretch/>
        </p:blipFill>
        <p:spPr>
          <a:xfrm>
            <a:off x="3639312" y="2660904"/>
            <a:ext cx="457200" cy="457200"/>
          </a:xfrm>
          <a:prstGeom prst="rect">
            <a:avLst/>
          </a:prstGeom>
          <a:noFill/>
          <a:ln>
            <a:noFill/>
          </a:ln>
        </p:spPr>
      </p:pic>
      <p:sp>
        <p:nvSpPr>
          <p:cNvPr id="253" name="Google Shape;253;p10"/>
          <p:cNvSpPr/>
          <p:nvPr/>
        </p:nvSpPr>
        <p:spPr>
          <a:xfrm>
            <a:off x="3639312" y="3227832"/>
            <a:ext cx="2203704" cy="1005840"/>
          </a:xfrm>
          <a:prstGeom prst="rect">
            <a:avLst/>
          </a:prstGeom>
          <a:noFill/>
          <a:ln>
            <a:noFill/>
          </a:ln>
        </p:spPr>
        <p:txBody>
          <a:bodyPr anchorCtr="0" anchor="ctr" bIns="0" lIns="0" spcFirstLastPara="1" rIns="0" wrap="square" tIns="0">
            <a:noAutofit/>
          </a:bodyPr>
          <a:lstStyle/>
          <a:p>
            <a:pPr indent="0" lvl="0" marL="0" marR="0" rtl="0" algn="l">
              <a:lnSpc>
                <a:spcPct val="124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Spaced learning that actually sticks</a:t>
            </a:r>
            <a:endParaRPr sz="1250">
              <a:solidFill>
                <a:schemeClr val="dk1"/>
              </a:solidFill>
              <a:latin typeface="Calibri"/>
              <a:ea typeface="Calibri"/>
              <a:cs typeface="Calibri"/>
              <a:sym typeface="Calibri"/>
            </a:endParaRPr>
          </a:p>
        </p:txBody>
      </p:sp>
      <p:sp>
        <p:nvSpPr>
          <p:cNvPr id="254" name="Google Shape;254;p10"/>
          <p:cNvSpPr/>
          <p:nvPr/>
        </p:nvSpPr>
        <p:spPr>
          <a:xfrm>
            <a:off x="3639312" y="4197096"/>
            <a:ext cx="2221992" cy="914400"/>
          </a:xfrm>
          <a:prstGeom prst="rect">
            <a:avLst/>
          </a:prstGeom>
          <a:noFill/>
          <a:ln>
            <a:noFill/>
          </a:ln>
        </p:spPr>
        <p:txBody>
          <a:bodyPr anchorCtr="0" anchor="ctr" bIns="0" lIns="0" spcFirstLastPara="1" rIns="0" wrap="square" tIns="0">
            <a:noAutofit/>
          </a:bodyPr>
          <a:lstStyle/>
          <a:p>
            <a:pPr indent="0" lvl="0" marL="0" marR="0" rtl="0" algn="l">
              <a:lnSpc>
                <a:spcPct val="131958"/>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Knowledge built across weeks beats knowledge crammed in a fortnight. Attendance is the spacing.</a:t>
            </a:r>
            <a:endParaRPr sz="970">
              <a:solidFill>
                <a:schemeClr val="dk1"/>
              </a:solidFill>
              <a:latin typeface="Calibri"/>
              <a:ea typeface="Calibri"/>
              <a:cs typeface="Calibri"/>
              <a:sym typeface="Calibri"/>
            </a:endParaRPr>
          </a:p>
        </p:txBody>
      </p:sp>
      <p:sp>
        <p:nvSpPr>
          <p:cNvPr id="255" name="Google Shape;255;p10"/>
          <p:cNvSpPr/>
          <p:nvPr/>
        </p:nvSpPr>
        <p:spPr>
          <a:xfrm>
            <a:off x="6263640" y="2368296"/>
            <a:ext cx="2715768" cy="2788920"/>
          </a:xfrm>
          <a:prstGeom prst="roundRect">
            <a:avLst>
              <a:gd fmla="val 404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0"/>
          <p:cNvSpPr/>
          <p:nvPr/>
        </p:nvSpPr>
        <p:spPr>
          <a:xfrm>
            <a:off x="6263640" y="2368296"/>
            <a:ext cx="27157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7" name="Google Shape;257;p10"/>
          <p:cNvPicPr preferRelativeResize="0"/>
          <p:nvPr/>
        </p:nvPicPr>
        <p:blipFill rotWithShape="1">
          <a:blip r:embed="rId5">
            <a:alphaModFix/>
          </a:blip>
          <a:srcRect b="0" l="0" r="0" t="0"/>
          <a:stretch/>
        </p:blipFill>
        <p:spPr>
          <a:xfrm>
            <a:off x="6519672" y="2660904"/>
            <a:ext cx="457200" cy="457200"/>
          </a:xfrm>
          <a:prstGeom prst="rect">
            <a:avLst/>
          </a:prstGeom>
          <a:noFill/>
          <a:ln>
            <a:noFill/>
          </a:ln>
        </p:spPr>
      </p:pic>
      <p:sp>
        <p:nvSpPr>
          <p:cNvPr id="258" name="Google Shape;258;p10"/>
          <p:cNvSpPr/>
          <p:nvPr/>
        </p:nvSpPr>
        <p:spPr>
          <a:xfrm>
            <a:off x="6519672" y="3227832"/>
            <a:ext cx="2203704" cy="1005840"/>
          </a:xfrm>
          <a:prstGeom prst="rect">
            <a:avLst/>
          </a:prstGeom>
          <a:noFill/>
          <a:ln>
            <a:noFill/>
          </a:ln>
        </p:spPr>
        <p:txBody>
          <a:bodyPr anchorCtr="0" anchor="ctr" bIns="0" lIns="0" spcFirstLastPara="1" rIns="0" wrap="square" tIns="0">
            <a:noAutofit/>
          </a:bodyPr>
          <a:lstStyle/>
          <a:p>
            <a:pPr indent="0" lvl="0" marL="0" marR="0" rtl="0" algn="l">
              <a:lnSpc>
                <a:spcPct val="124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The relationships that catch you when you slip</a:t>
            </a:r>
            <a:endParaRPr sz="1250">
              <a:solidFill>
                <a:schemeClr val="dk1"/>
              </a:solidFill>
              <a:latin typeface="Calibri"/>
              <a:ea typeface="Calibri"/>
              <a:cs typeface="Calibri"/>
              <a:sym typeface="Calibri"/>
            </a:endParaRPr>
          </a:p>
        </p:txBody>
      </p:sp>
      <p:sp>
        <p:nvSpPr>
          <p:cNvPr id="259" name="Google Shape;259;p10"/>
          <p:cNvSpPr/>
          <p:nvPr/>
        </p:nvSpPr>
        <p:spPr>
          <a:xfrm>
            <a:off x="6519672" y="4197096"/>
            <a:ext cx="2221992" cy="914400"/>
          </a:xfrm>
          <a:prstGeom prst="rect">
            <a:avLst/>
          </a:prstGeom>
          <a:noFill/>
          <a:ln>
            <a:noFill/>
          </a:ln>
        </p:spPr>
        <p:txBody>
          <a:bodyPr anchorCtr="0" anchor="ctr" bIns="0" lIns="0" spcFirstLastPara="1" rIns="0" wrap="square" tIns="0">
            <a:noAutofit/>
          </a:bodyPr>
          <a:lstStyle/>
          <a:p>
            <a:pPr indent="0" lvl="0" marL="0" marR="0" rtl="0" algn="l">
              <a:lnSpc>
                <a:spcPct val="131958"/>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Teachers who know you can support you. Classmates who notice you're missing can be a lifeline.</a:t>
            </a:r>
            <a:endParaRPr sz="970">
              <a:solidFill>
                <a:schemeClr val="dk1"/>
              </a:solidFill>
              <a:latin typeface="Calibri"/>
              <a:ea typeface="Calibri"/>
              <a:cs typeface="Calibri"/>
              <a:sym typeface="Calibri"/>
            </a:endParaRPr>
          </a:p>
        </p:txBody>
      </p:sp>
      <p:sp>
        <p:nvSpPr>
          <p:cNvPr id="260" name="Google Shape;260;p10"/>
          <p:cNvSpPr/>
          <p:nvPr/>
        </p:nvSpPr>
        <p:spPr>
          <a:xfrm>
            <a:off x="9144000" y="2368296"/>
            <a:ext cx="2715768" cy="2788920"/>
          </a:xfrm>
          <a:prstGeom prst="roundRect">
            <a:avLst>
              <a:gd fmla="val 404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0"/>
          <p:cNvSpPr/>
          <p:nvPr/>
        </p:nvSpPr>
        <p:spPr>
          <a:xfrm>
            <a:off x="9144000" y="2368296"/>
            <a:ext cx="27157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62" name="Google Shape;262;p10"/>
          <p:cNvPicPr preferRelativeResize="0"/>
          <p:nvPr/>
        </p:nvPicPr>
        <p:blipFill rotWithShape="1">
          <a:blip r:embed="rId6">
            <a:alphaModFix/>
          </a:blip>
          <a:srcRect b="0" l="0" r="0" t="0"/>
          <a:stretch/>
        </p:blipFill>
        <p:spPr>
          <a:xfrm>
            <a:off x="9400032" y="2660904"/>
            <a:ext cx="457200" cy="457200"/>
          </a:xfrm>
          <a:prstGeom prst="rect">
            <a:avLst/>
          </a:prstGeom>
          <a:noFill/>
          <a:ln>
            <a:noFill/>
          </a:ln>
        </p:spPr>
      </p:pic>
      <p:sp>
        <p:nvSpPr>
          <p:cNvPr id="263" name="Google Shape;263;p10"/>
          <p:cNvSpPr/>
          <p:nvPr/>
        </p:nvSpPr>
        <p:spPr>
          <a:xfrm>
            <a:off x="9400032" y="3227832"/>
            <a:ext cx="2203704" cy="1005840"/>
          </a:xfrm>
          <a:prstGeom prst="rect">
            <a:avLst/>
          </a:prstGeom>
          <a:noFill/>
          <a:ln>
            <a:noFill/>
          </a:ln>
        </p:spPr>
        <p:txBody>
          <a:bodyPr anchorCtr="0" anchor="ctr" bIns="0" lIns="0" spcFirstLastPara="1" rIns="0" wrap="square" tIns="0">
            <a:noAutofit/>
          </a:bodyPr>
          <a:lstStyle/>
          <a:p>
            <a:pPr indent="0" lvl="0" marL="0" marR="0" rtl="0" algn="l">
              <a:lnSpc>
                <a:spcPct val="124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Being seen — by the people writing your reference</a:t>
            </a:r>
            <a:endParaRPr sz="1250">
              <a:solidFill>
                <a:schemeClr val="dk1"/>
              </a:solidFill>
              <a:latin typeface="Calibri"/>
              <a:ea typeface="Calibri"/>
              <a:cs typeface="Calibri"/>
              <a:sym typeface="Calibri"/>
            </a:endParaRPr>
          </a:p>
        </p:txBody>
      </p:sp>
      <p:sp>
        <p:nvSpPr>
          <p:cNvPr id="264" name="Google Shape;264;p10"/>
          <p:cNvSpPr/>
          <p:nvPr/>
        </p:nvSpPr>
        <p:spPr>
          <a:xfrm>
            <a:off x="9400032" y="4197096"/>
            <a:ext cx="2221992" cy="914400"/>
          </a:xfrm>
          <a:prstGeom prst="rect">
            <a:avLst/>
          </a:prstGeom>
          <a:noFill/>
          <a:ln>
            <a:noFill/>
          </a:ln>
        </p:spPr>
        <p:txBody>
          <a:bodyPr anchorCtr="0" anchor="ctr" bIns="0" lIns="0" spcFirstLastPara="1" rIns="0" wrap="square" tIns="0">
            <a:noAutofit/>
          </a:bodyPr>
          <a:lstStyle/>
          <a:p>
            <a:pPr indent="0" lvl="0" marL="0" marR="0" rtl="0" algn="l">
              <a:lnSpc>
                <a:spcPct val="131958"/>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Attendance is how staff know who you are. References, opportunities, the benefit of the doubt — all of it.</a:t>
            </a:r>
            <a:endParaRPr sz="970">
              <a:solidFill>
                <a:schemeClr val="dk1"/>
              </a:solidFill>
              <a:latin typeface="Calibri"/>
              <a:ea typeface="Calibri"/>
              <a:cs typeface="Calibri"/>
              <a:sym typeface="Calibri"/>
            </a:endParaRPr>
          </a:p>
        </p:txBody>
      </p:sp>
      <p:sp>
        <p:nvSpPr>
          <p:cNvPr id="265" name="Google Shape;265;p10"/>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266" name="Google Shape;266;p10"/>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0"/>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268" name="Google Shape;268;p10"/>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8</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73" name="Shape 273"/>
        <p:cNvGrpSpPr/>
        <p:nvPr/>
      </p:nvGrpSpPr>
      <p:grpSpPr>
        <a:xfrm>
          <a:off x="0" y="0"/>
          <a:ext cx="0" cy="0"/>
          <a:chOff x="0" y="0"/>
          <a:chExt cx="0" cy="0"/>
        </a:xfrm>
      </p:grpSpPr>
      <p:sp>
        <p:nvSpPr>
          <p:cNvPr id="274" name="Google Shape;274;p11"/>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1"/>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WHEN COMING IN IS HARD</a:t>
            </a:r>
            <a:endParaRPr sz="1100">
              <a:solidFill>
                <a:schemeClr val="dk1"/>
              </a:solidFill>
              <a:latin typeface="Calibri"/>
              <a:ea typeface="Calibri"/>
              <a:cs typeface="Calibri"/>
              <a:sym typeface="Calibri"/>
            </a:endParaRPr>
          </a:p>
        </p:txBody>
      </p:sp>
      <p:sp>
        <p:nvSpPr>
          <p:cNvPr id="276" name="Google Shape;276;p11"/>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Barriers — and what to do</a:t>
            </a:r>
            <a:endParaRPr sz="3000">
              <a:solidFill>
                <a:schemeClr val="dk1"/>
              </a:solidFill>
              <a:latin typeface="Calibri"/>
              <a:ea typeface="Calibri"/>
              <a:cs typeface="Calibri"/>
              <a:sym typeface="Calibri"/>
            </a:endParaRPr>
          </a:p>
        </p:txBody>
      </p:sp>
      <p:sp>
        <p:nvSpPr>
          <p:cNvPr id="277" name="Google Shape;277;p11"/>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1"/>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279" name="Google Shape;279;p11"/>
          <p:cNvSpPr/>
          <p:nvPr/>
        </p:nvSpPr>
        <p:spPr>
          <a:xfrm>
            <a:off x="502920" y="1728216"/>
            <a:ext cx="1088136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Attendance isn't always about willpower. Sometimes it's about something real — and the response is help, not a warning.</a:t>
            </a:r>
            <a:endParaRPr sz="1250">
              <a:solidFill>
                <a:schemeClr val="dk1"/>
              </a:solidFill>
              <a:latin typeface="Calibri"/>
              <a:ea typeface="Calibri"/>
              <a:cs typeface="Calibri"/>
              <a:sym typeface="Calibri"/>
            </a:endParaRPr>
          </a:p>
        </p:txBody>
      </p:sp>
      <p:sp>
        <p:nvSpPr>
          <p:cNvPr id="280" name="Google Shape;280;p11"/>
          <p:cNvSpPr/>
          <p:nvPr/>
        </p:nvSpPr>
        <p:spPr>
          <a:xfrm>
            <a:off x="502920" y="2350008"/>
            <a:ext cx="5989320" cy="3337560"/>
          </a:xfrm>
          <a:prstGeom prst="roundRect">
            <a:avLst>
              <a:gd fmla="val 3288"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1"/>
          <p:cNvSpPr/>
          <p:nvPr/>
        </p:nvSpPr>
        <p:spPr>
          <a:xfrm>
            <a:off x="502920" y="2350008"/>
            <a:ext cx="5989320" cy="457200"/>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1"/>
          <p:cNvSpPr/>
          <p:nvPr/>
        </p:nvSpPr>
        <p:spPr>
          <a:xfrm>
            <a:off x="777240" y="2350008"/>
            <a:ext cx="5440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Poppins SemiBold"/>
              <a:buNone/>
            </a:pPr>
            <a:r>
              <a:rPr lang="en-US" sz="1050">
                <a:solidFill>
                  <a:srgbClr val="FFFFFF"/>
                </a:solidFill>
                <a:latin typeface="Poppins SemiBold"/>
                <a:ea typeface="Poppins SemiBold"/>
                <a:cs typeface="Poppins SemiBold"/>
                <a:sym typeface="Poppins SemiBold"/>
              </a:rPr>
              <a:t>REAL BARRIERS — NOT EXCUSES</a:t>
            </a:r>
            <a:endParaRPr sz="1050">
              <a:solidFill>
                <a:schemeClr val="dk1"/>
              </a:solidFill>
              <a:latin typeface="Calibri"/>
              <a:ea typeface="Calibri"/>
              <a:cs typeface="Calibri"/>
              <a:sym typeface="Calibri"/>
            </a:endParaRPr>
          </a:p>
        </p:txBody>
      </p:sp>
      <p:sp>
        <p:nvSpPr>
          <p:cNvPr id="283" name="Google Shape;283;p11"/>
          <p:cNvSpPr/>
          <p:nvPr/>
        </p:nvSpPr>
        <p:spPr>
          <a:xfrm>
            <a:off x="795528" y="309067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11"/>
          <p:cNvSpPr/>
          <p:nvPr/>
        </p:nvSpPr>
        <p:spPr>
          <a:xfrm>
            <a:off x="1051560" y="2971800"/>
            <a:ext cx="5166360" cy="50292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Mental health — anxiety, low mood, sleep that doesn't come.</a:t>
            </a:r>
            <a:endParaRPr sz="1100">
              <a:solidFill>
                <a:schemeClr val="dk1"/>
              </a:solidFill>
              <a:latin typeface="Calibri"/>
              <a:ea typeface="Calibri"/>
              <a:cs typeface="Calibri"/>
              <a:sym typeface="Calibri"/>
            </a:endParaRPr>
          </a:p>
        </p:txBody>
      </p:sp>
      <p:sp>
        <p:nvSpPr>
          <p:cNvPr id="285" name="Google Shape;285;p11"/>
          <p:cNvSpPr/>
          <p:nvPr/>
        </p:nvSpPr>
        <p:spPr>
          <a:xfrm>
            <a:off x="795528" y="359359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1"/>
          <p:cNvSpPr/>
          <p:nvPr/>
        </p:nvSpPr>
        <p:spPr>
          <a:xfrm>
            <a:off x="1051560" y="3474720"/>
            <a:ext cx="5166360" cy="50292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Money and travel — when bus fares add up.</a:t>
            </a:r>
            <a:endParaRPr sz="1100">
              <a:solidFill>
                <a:schemeClr val="dk1"/>
              </a:solidFill>
              <a:latin typeface="Calibri"/>
              <a:ea typeface="Calibri"/>
              <a:cs typeface="Calibri"/>
              <a:sym typeface="Calibri"/>
            </a:endParaRPr>
          </a:p>
        </p:txBody>
      </p:sp>
      <p:sp>
        <p:nvSpPr>
          <p:cNvPr id="287" name="Google Shape;287;p11"/>
          <p:cNvSpPr/>
          <p:nvPr/>
        </p:nvSpPr>
        <p:spPr>
          <a:xfrm>
            <a:off x="795528" y="409651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1"/>
          <p:cNvSpPr/>
          <p:nvPr/>
        </p:nvSpPr>
        <p:spPr>
          <a:xfrm>
            <a:off x="1051560" y="3977640"/>
            <a:ext cx="5166360" cy="50292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Things at home — caring responsibilities, family pressure, unsafe situations.</a:t>
            </a:r>
            <a:endParaRPr sz="1100">
              <a:solidFill>
                <a:schemeClr val="dk1"/>
              </a:solidFill>
              <a:latin typeface="Calibri"/>
              <a:ea typeface="Calibri"/>
              <a:cs typeface="Calibri"/>
              <a:sym typeface="Calibri"/>
            </a:endParaRPr>
          </a:p>
        </p:txBody>
      </p:sp>
      <p:sp>
        <p:nvSpPr>
          <p:cNvPr id="289" name="Google Shape;289;p11"/>
          <p:cNvSpPr/>
          <p:nvPr/>
        </p:nvSpPr>
        <p:spPr>
          <a:xfrm>
            <a:off x="795528" y="459943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1"/>
          <p:cNvSpPr/>
          <p:nvPr/>
        </p:nvSpPr>
        <p:spPr>
          <a:xfrm>
            <a:off x="1051560" y="4480560"/>
            <a:ext cx="5166360" cy="50292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Neurodivergence not yet supported, or chronic health.</a:t>
            </a:r>
            <a:endParaRPr sz="1100">
              <a:solidFill>
                <a:schemeClr val="dk1"/>
              </a:solidFill>
              <a:latin typeface="Calibri"/>
              <a:ea typeface="Calibri"/>
              <a:cs typeface="Calibri"/>
              <a:sym typeface="Calibri"/>
            </a:endParaRPr>
          </a:p>
        </p:txBody>
      </p:sp>
      <p:sp>
        <p:nvSpPr>
          <p:cNvPr id="291" name="Google Shape;291;p11"/>
          <p:cNvSpPr/>
          <p:nvPr/>
        </p:nvSpPr>
        <p:spPr>
          <a:xfrm>
            <a:off x="795528" y="510235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1"/>
          <p:cNvSpPr/>
          <p:nvPr/>
        </p:nvSpPr>
        <p:spPr>
          <a:xfrm>
            <a:off x="1051560" y="4983480"/>
            <a:ext cx="5166360" cy="50292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Friendships or feeling like you don't fit — bigger than people admit.</a:t>
            </a:r>
            <a:endParaRPr sz="1100">
              <a:solidFill>
                <a:schemeClr val="dk1"/>
              </a:solidFill>
              <a:latin typeface="Calibri"/>
              <a:ea typeface="Calibri"/>
              <a:cs typeface="Calibri"/>
              <a:sym typeface="Calibri"/>
            </a:endParaRPr>
          </a:p>
        </p:txBody>
      </p:sp>
      <p:sp>
        <p:nvSpPr>
          <p:cNvPr id="293" name="Google Shape;293;p11"/>
          <p:cNvSpPr/>
          <p:nvPr/>
        </p:nvSpPr>
        <p:spPr>
          <a:xfrm>
            <a:off x="6766560" y="2350008"/>
            <a:ext cx="4919472" cy="1463040"/>
          </a:xfrm>
          <a:prstGeom prst="roundRect">
            <a:avLst>
              <a:gd fmla="val 7500"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4" name="Google Shape;294;p11"/>
          <p:cNvPicPr preferRelativeResize="0"/>
          <p:nvPr/>
        </p:nvPicPr>
        <p:blipFill rotWithShape="1">
          <a:blip r:embed="rId3">
            <a:alphaModFix/>
          </a:blip>
          <a:srcRect b="0" l="0" r="0" t="0"/>
          <a:stretch/>
        </p:blipFill>
        <p:spPr>
          <a:xfrm>
            <a:off x="7040880" y="2624328"/>
            <a:ext cx="420624" cy="420624"/>
          </a:xfrm>
          <a:prstGeom prst="rect">
            <a:avLst/>
          </a:prstGeom>
          <a:noFill/>
          <a:ln>
            <a:noFill/>
          </a:ln>
        </p:spPr>
      </p:pic>
      <p:sp>
        <p:nvSpPr>
          <p:cNvPr id="295" name="Google Shape;295;p11"/>
          <p:cNvSpPr/>
          <p:nvPr/>
        </p:nvSpPr>
        <p:spPr>
          <a:xfrm>
            <a:off x="7589520" y="2624328"/>
            <a:ext cx="38221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Tell someone. Early.</a:t>
            </a:r>
            <a:endParaRPr sz="1500">
              <a:solidFill>
                <a:schemeClr val="dk1"/>
              </a:solidFill>
              <a:latin typeface="Calibri"/>
              <a:ea typeface="Calibri"/>
              <a:cs typeface="Calibri"/>
              <a:sym typeface="Calibri"/>
            </a:endParaRPr>
          </a:p>
        </p:txBody>
      </p:sp>
      <p:sp>
        <p:nvSpPr>
          <p:cNvPr id="296" name="Google Shape;296;p11"/>
          <p:cNvSpPr/>
          <p:nvPr/>
        </p:nvSpPr>
        <p:spPr>
          <a:xfrm>
            <a:off x="7040880" y="3127248"/>
            <a:ext cx="4370832" cy="64008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0D2434"/>
              </a:buClr>
              <a:buSzPts val="1100"/>
              <a:buFont typeface="Poppins"/>
              <a:buNone/>
            </a:pPr>
            <a:r>
              <a:rPr lang="en-US" sz="1100">
                <a:solidFill>
                  <a:srgbClr val="0D2434"/>
                </a:solidFill>
                <a:latin typeface="Poppins"/>
                <a:ea typeface="Poppins"/>
                <a:cs typeface="Poppins"/>
                <a:sym typeface="Poppins"/>
              </a:rPr>
              <a:t>A barrier we know about is one we can help with. A barrier we don't know about is one that quietly takes you out.</a:t>
            </a:r>
            <a:endParaRPr sz="1100">
              <a:solidFill>
                <a:schemeClr val="dk1"/>
              </a:solidFill>
              <a:latin typeface="Calibri"/>
              <a:ea typeface="Calibri"/>
              <a:cs typeface="Calibri"/>
              <a:sym typeface="Calibri"/>
            </a:endParaRPr>
          </a:p>
        </p:txBody>
      </p:sp>
      <p:sp>
        <p:nvSpPr>
          <p:cNvPr id="297" name="Google Shape;297;p11"/>
          <p:cNvSpPr/>
          <p:nvPr/>
        </p:nvSpPr>
        <p:spPr>
          <a:xfrm>
            <a:off x="6766550" y="3977654"/>
            <a:ext cx="4919400" cy="2304000"/>
          </a:xfrm>
          <a:prstGeom prst="roundRect">
            <a:avLst>
              <a:gd fmla="val 4278"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98" name="Google Shape;298;p11"/>
          <p:cNvPicPr preferRelativeResize="0"/>
          <p:nvPr/>
        </p:nvPicPr>
        <p:blipFill rotWithShape="1">
          <a:blip r:embed="rId4">
            <a:alphaModFix/>
          </a:blip>
          <a:srcRect b="0" l="0" r="0" t="0"/>
          <a:stretch/>
        </p:blipFill>
        <p:spPr>
          <a:xfrm>
            <a:off x="6931152" y="4133088"/>
            <a:ext cx="237744" cy="237744"/>
          </a:xfrm>
          <a:prstGeom prst="rect">
            <a:avLst/>
          </a:prstGeom>
          <a:noFill/>
          <a:ln>
            <a:noFill/>
          </a:ln>
        </p:spPr>
      </p:pic>
      <p:sp>
        <p:nvSpPr>
          <p:cNvPr id="299" name="Google Shape;299;p11"/>
          <p:cNvSpPr/>
          <p:nvPr/>
        </p:nvSpPr>
        <p:spPr>
          <a:xfrm>
            <a:off x="7242048" y="4096512"/>
            <a:ext cx="427939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00"/>
              <a:buFont typeface="Poppins SemiBold"/>
              <a:buNone/>
            </a:pPr>
            <a:r>
              <a:rPr lang="en-US" sz="1000">
                <a:solidFill>
                  <a:srgbClr val="B23A2E"/>
                </a:solidFill>
                <a:latin typeface="Poppins SemiBold"/>
                <a:ea typeface="Poppins SemiBold"/>
                <a:cs typeface="Poppins SemiBold"/>
                <a:sym typeface="Poppins SemiBold"/>
              </a:rPr>
              <a:t>Confirm your campus number before delivery — Eastbourne 0303 003 9039 / Hastings 07848 442081 / Lewes 07823 668772 — and delete the other two.</a:t>
            </a:r>
            <a:endParaRPr sz="1000">
              <a:solidFill>
                <a:schemeClr val="dk1"/>
              </a:solidFill>
              <a:latin typeface="Calibri"/>
              <a:ea typeface="Calibri"/>
              <a:cs typeface="Calibri"/>
              <a:sym typeface="Calibri"/>
            </a:endParaRPr>
          </a:p>
        </p:txBody>
      </p:sp>
      <p:sp>
        <p:nvSpPr>
          <p:cNvPr id="300" name="Google Shape;300;p11"/>
          <p:cNvSpPr/>
          <p:nvPr/>
        </p:nvSpPr>
        <p:spPr>
          <a:xfrm>
            <a:off x="7242050" y="4599426"/>
            <a:ext cx="4279500" cy="15639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Name your personal tutor or Head of Curriculum contact here before delivery. Add room and drop-in hours. Tell students: “You don’t need to have failed. You just need to say: I’m finding it hard.” Note any Digital/Media/Film-specific support at your campus — for example, industry placement welfare contact or Learning Support linked to your department.</a:t>
            </a:r>
            <a:endParaRPr sz="950">
              <a:solidFill>
                <a:schemeClr val="dk1"/>
              </a:solidFill>
              <a:latin typeface="Calibri"/>
              <a:ea typeface="Calibri"/>
              <a:cs typeface="Calibri"/>
              <a:sym typeface="Calibri"/>
            </a:endParaRPr>
          </a:p>
        </p:txBody>
      </p:sp>
      <p:sp>
        <p:nvSpPr>
          <p:cNvPr id="301" name="Google Shape;301;p11"/>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302" name="Google Shape;302;p11"/>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11"/>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304" name="Google Shape;304;p11"/>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9</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09" name="Shape 309"/>
        <p:cNvGrpSpPr/>
        <p:nvPr/>
      </p:nvGrpSpPr>
      <p:grpSpPr>
        <a:xfrm>
          <a:off x="0" y="0"/>
          <a:ext cx="0" cy="0"/>
          <a:chOff x="0" y="0"/>
          <a:chExt cx="0" cy="0"/>
        </a:xfrm>
      </p:grpSpPr>
      <p:sp>
        <p:nvSpPr>
          <p:cNvPr id="310" name="Google Shape;310;p12"/>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12"/>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BEFORE WE FINISH</a:t>
            </a:r>
            <a:endParaRPr sz="1100">
              <a:solidFill>
                <a:schemeClr val="dk1"/>
              </a:solidFill>
              <a:latin typeface="Calibri"/>
              <a:ea typeface="Calibri"/>
              <a:cs typeface="Calibri"/>
              <a:sym typeface="Calibri"/>
            </a:endParaRPr>
          </a:p>
        </p:txBody>
      </p:sp>
      <p:sp>
        <p:nvSpPr>
          <p:cNvPr id="312" name="Google Shape;312;p12"/>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My one habit</a:t>
            </a:r>
            <a:endParaRPr sz="3000">
              <a:solidFill>
                <a:schemeClr val="dk1"/>
              </a:solidFill>
              <a:latin typeface="Calibri"/>
              <a:ea typeface="Calibri"/>
              <a:cs typeface="Calibri"/>
              <a:sym typeface="Calibri"/>
            </a:endParaRPr>
          </a:p>
        </p:txBody>
      </p:sp>
      <p:sp>
        <p:nvSpPr>
          <p:cNvPr id="313" name="Google Shape;313;p12"/>
          <p:cNvSpPr/>
          <p:nvPr/>
        </p:nvSpPr>
        <p:spPr>
          <a:xfrm>
            <a:off x="9494215" y="502920"/>
            <a:ext cx="2194560" cy="384048"/>
          </a:xfrm>
          <a:prstGeom prst="roundRect">
            <a:avLst>
              <a:gd fmla="val 50000"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2"/>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950"/>
              <a:buFont typeface="Poppins SemiBold"/>
              <a:buNone/>
            </a:pPr>
            <a:r>
              <a:rPr lang="en-US" sz="950">
                <a:solidFill>
                  <a:srgbClr val="0D2434"/>
                </a:solidFill>
                <a:latin typeface="Poppins SemiBold"/>
                <a:ea typeface="Poppins SemiBold"/>
                <a:cs typeface="Poppins SemiBold"/>
                <a:sym typeface="Poppins SemiBold"/>
              </a:rPr>
              <a:t>ACTIVITY</a:t>
            </a:r>
            <a:endParaRPr sz="950">
              <a:solidFill>
                <a:schemeClr val="dk1"/>
              </a:solidFill>
              <a:latin typeface="Calibri"/>
              <a:ea typeface="Calibri"/>
              <a:cs typeface="Calibri"/>
              <a:sym typeface="Calibri"/>
            </a:endParaRPr>
          </a:p>
        </p:txBody>
      </p:sp>
      <p:sp>
        <p:nvSpPr>
          <p:cNvPr id="315" name="Google Shape;315;p12"/>
          <p:cNvSpPr/>
          <p:nvPr/>
        </p:nvSpPr>
        <p:spPr>
          <a:xfrm>
            <a:off x="502920" y="1801368"/>
            <a:ext cx="6035040" cy="3383280"/>
          </a:xfrm>
          <a:prstGeom prst="roundRect">
            <a:avLst>
              <a:gd fmla="val 3243"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2"/>
          <p:cNvSpPr/>
          <p:nvPr/>
        </p:nvSpPr>
        <p:spPr>
          <a:xfrm>
            <a:off x="502920" y="1801368"/>
            <a:ext cx="6035040" cy="530352"/>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2"/>
          <p:cNvSpPr/>
          <p:nvPr/>
        </p:nvSpPr>
        <p:spPr>
          <a:xfrm>
            <a:off x="777240" y="1801368"/>
            <a:ext cx="548640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ACTIVITY  ·  ONE HABIT FOR THIS WEEK</a:t>
            </a:r>
            <a:endParaRPr sz="1200">
              <a:solidFill>
                <a:schemeClr val="dk1"/>
              </a:solidFill>
              <a:latin typeface="Calibri"/>
              <a:ea typeface="Calibri"/>
              <a:cs typeface="Calibri"/>
              <a:sym typeface="Calibri"/>
            </a:endParaRPr>
          </a:p>
        </p:txBody>
      </p:sp>
      <p:sp>
        <p:nvSpPr>
          <p:cNvPr id="318" name="Google Shape;318;p12"/>
          <p:cNvSpPr/>
          <p:nvPr/>
        </p:nvSpPr>
        <p:spPr>
          <a:xfrm>
            <a:off x="795528" y="2514600"/>
            <a:ext cx="5468112" cy="50292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Pick ONE thing from this session you'll genuinely do this week. Write it on your card.</a:t>
            </a:r>
            <a:endParaRPr sz="1150">
              <a:solidFill>
                <a:schemeClr val="dk1"/>
              </a:solidFill>
              <a:latin typeface="Calibri"/>
              <a:ea typeface="Calibri"/>
              <a:cs typeface="Calibri"/>
              <a:sym typeface="Calibri"/>
            </a:endParaRPr>
          </a:p>
        </p:txBody>
      </p:sp>
      <p:sp>
        <p:nvSpPr>
          <p:cNvPr id="319" name="Google Shape;319;p12"/>
          <p:cNvSpPr/>
          <p:nvPr/>
        </p:nvSpPr>
        <p:spPr>
          <a:xfrm>
            <a:off x="813816" y="3118104"/>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p:nvPr/>
        </p:nvSpPr>
        <p:spPr>
          <a:xfrm>
            <a:off x="1088136" y="3008376"/>
            <a:ext cx="512064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I'll decide in advance what one free period is for.</a:t>
            </a:r>
            <a:endParaRPr sz="1100">
              <a:solidFill>
                <a:schemeClr val="dk1"/>
              </a:solidFill>
              <a:latin typeface="Calibri"/>
              <a:ea typeface="Calibri"/>
              <a:cs typeface="Calibri"/>
              <a:sym typeface="Calibri"/>
            </a:endParaRPr>
          </a:p>
        </p:txBody>
      </p:sp>
      <p:sp>
        <p:nvSpPr>
          <p:cNvPr id="321" name="Google Shape;321;p12"/>
          <p:cNvSpPr/>
          <p:nvPr/>
        </p:nvSpPr>
        <p:spPr>
          <a:xfrm>
            <a:off x="813816" y="359359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12"/>
          <p:cNvSpPr/>
          <p:nvPr/>
        </p:nvSpPr>
        <p:spPr>
          <a:xfrm>
            <a:off x="1088136" y="3483864"/>
            <a:ext cx="512064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I'll ask for help with the thing I've been quietly stuck on.</a:t>
            </a:r>
            <a:endParaRPr sz="1100">
              <a:solidFill>
                <a:schemeClr val="dk1"/>
              </a:solidFill>
              <a:latin typeface="Calibri"/>
              <a:ea typeface="Calibri"/>
              <a:cs typeface="Calibri"/>
              <a:sym typeface="Calibri"/>
            </a:endParaRPr>
          </a:p>
        </p:txBody>
      </p:sp>
      <p:sp>
        <p:nvSpPr>
          <p:cNvPr id="323" name="Google Shape;323;p12"/>
          <p:cNvSpPr/>
          <p:nvPr/>
        </p:nvSpPr>
        <p:spPr>
          <a:xfrm>
            <a:off x="813816" y="4069080"/>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2"/>
          <p:cNvSpPr/>
          <p:nvPr/>
        </p:nvSpPr>
        <p:spPr>
          <a:xfrm>
            <a:off x="1088136" y="3959352"/>
            <a:ext cx="512064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I'll do one Seek-Opportunity thing — a club, a careers event, asking a question.</a:t>
            </a:r>
            <a:endParaRPr sz="1100">
              <a:solidFill>
                <a:schemeClr val="dk1"/>
              </a:solidFill>
              <a:latin typeface="Calibri"/>
              <a:ea typeface="Calibri"/>
              <a:cs typeface="Calibri"/>
              <a:sym typeface="Calibri"/>
            </a:endParaRPr>
          </a:p>
        </p:txBody>
      </p:sp>
      <p:sp>
        <p:nvSpPr>
          <p:cNvPr id="325" name="Google Shape;325;p12"/>
          <p:cNvSpPr/>
          <p:nvPr/>
        </p:nvSpPr>
        <p:spPr>
          <a:xfrm>
            <a:off x="813816" y="4544568"/>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2"/>
          <p:cNvSpPr/>
          <p:nvPr/>
        </p:nvSpPr>
        <p:spPr>
          <a:xfrm>
            <a:off x="1088136" y="4434840"/>
            <a:ext cx="5120640" cy="457200"/>
          </a:xfrm>
          <a:prstGeom prst="rect">
            <a:avLst/>
          </a:prstGeom>
          <a:noFill/>
          <a:ln>
            <a:noFill/>
          </a:ln>
        </p:spPr>
        <p:txBody>
          <a:bodyPr anchorCtr="0" anchor="ctr" bIns="0" lIns="0" spcFirstLastPara="1" rIns="0" wrap="square" tIns="0">
            <a:noAutofit/>
          </a:bodyPr>
          <a:lstStyle/>
          <a:p>
            <a:pPr indent="0" lvl="0" marL="0" marR="0" rtl="0" algn="l">
              <a:lnSpc>
                <a:spcPct val="122727"/>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I'll tell someone about a barrier that's making attendance hard.</a:t>
            </a:r>
            <a:endParaRPr sz="1100">
              <a:solidFill>
                <a:schemeClr val="dk1"/>
              </a:solidFill>
              <a:latin typeface="Calibri"/>
              <a:ea typeface="Calibri"/>
              <a:cs typeface="Calibri"/>
              <a:sym typeface="Calibri"/>
            </a:endParaRPr>
          </a:p>
        </p:txBody>
      </p:sp>
      <p:cxnSp>
        <p:nvCxnSpPr>
          <p:cNvPr id="327" name="Google Shape;327;p12"/>
          <p:cNvCxnSpPr/>
          <p:nvPr/>
        </p:nvCxnSpPr>
        <p:spPr>
          <a:xfrm>
            <a:off x="813816" y="5020056"/>
            <a:ext cx="5413248" cy="0"/>
          </a:xfrm>
          <a:prstGeom prst="straightConnector1">
            <a:avLst/>
          </a:prstGeom>
          <a:noFill/>
          <a:ln cap="flat" cmpd="sng" w="12700">
            <a:solidFill>
              <a:srgbClr val="D2DBDA"/>
            </a:solidFill>
            <a:prstDash val="solid"/>
            <a:round/>
            <a:headEnd len="sm" w="sm" type="none"/>
            <a:tailEnd len="sm" w="sm" type="none"/>
          </a:ln>
        </p:spPr>
      </p:cxnSp>
      <p:sp>
        <p:nvSpPr>
          <p:cNvPr id="328" name="Google Shape;328;p12"/>
          <p:cNvSpPr/>
          <p:nvPr/>
        </p:nvSpPr>
        <p:spPr>
          <a:xfrm>
            <a:off x="813816" y="5129784"/>
            <a:ext cx="5413248"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A6A6F"/>
              </a:buClr>
              <a:buSzPts val="1000"/>
              <a:buFont typeface="Poppins"/>
              <a:buNone/>
            </a:pPr>
            <a:r>
              <a:rPr i="1" lang="en-US" sz="1000">
                <a:solidFill>
                  <a:srgbClr val="5A6A6F"/>
                </a:solidFill>
                <a:latin typeface="Poppins"/>
                <a:ea typeface="Poppins"/>
                <a:cs typeface="Poppins"/>
                <a:sym typeface="Poppins"/>
              </a:rPr>
              <a:t>One thing. Specific. This week. Be honest, not impressive.</a:t>
            </a:r>
            <a:endParaRPr sz="1000">
              <a:solidFill>
                <a:schemeClr val="dk1"/>
              </a:solidFill>
              <a:latin typeface="Calibri"/>
              <a:ea typeface="Calibri"/>
              <a:cs typeface="Calibri"/>
              <a:sym typeface="Calibri"/>
            </a:endParaRPr>
          </a:p>
        </p:txBody>
      </p:sp>
      <p:sp>
        <p:nvSpPr>
          <p:cNvPr id="329" name="Google Shape;329;p12"/>
          <p:cNvSpPr/>
          <p:nvPr/>
        </p:nvSpPr>
        <p:spPr>
          <a:xfrm>
            <a:off x="6812280" y="1801368"/>
            <a:ext cx="4873752" cy="3383280"/>
          </a:xfrm>
          <a:prstGeom prst="roundRect">
            <a:avLst>
              <a:gd fmla="val 3243"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30" name="Google Shape;330;p12"/>
          <p:cNvPicPr preferRelativeResize="0"/>
          <p:nvPr/>
        </p:nvPicPr>
        <p:blipFill rotWithShape="1">
          <a:blip r:embed="rId3">
            <a:alphaModFix/>
          </a:blip>
          <a:srcRect b="0" l="0" r="0" t="0"/>
          <a:stretch/>
        </p:blipFill>
        <p:spPr>
          <a:xfrm>
            <a:off x="7104888" y="2112264"/>
            <a:ext cx="457200" cy="457200"/>
          </a:xfrm>
          <a:prstGeom prst="rect">
            <a:avLst/>
          </a:prstGeom>
          <a:noFill/>
          <a:ln>
            <a:noFill/>
          </a:ln>
        </p:spPr>
      </p:pic>
      <p:sp>
        <p:nvSpPr>
          <p:cNvPr id="331" name="Google Shape;331;p12"/>
          <p:cNvSpPr/>
          <p:nvPr/>
        </p:nvSpPr>
        <p:spPr>
          <a:xfrm>
            <a:off x="7104888" y="2642616"/>
            <a:ext cx="428853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500"/>
              <a:buFont typeface="Poppins SemiBold"/>
              <a:buNone/>
            </a:pPr>
            <a:r>
              <a:rPr lang="en-US" sz="1500">
                <a:solidFill>
                  <a:srgbClr val="0F7A54"/>
                </a:solidFill>
                <a:latin typeface="Poppins SemiBold"/>
                <a:ea typeface="Poppins SemiBold"/>
                <a:cs typeface="Poppins SemiBold"/>
                <a:sym typeface="Poppins SemiBold"/>
              </a:rPr>
              <a:t>Why one habit, not five</a:t>
            </a:r>
            <a:endParaRPr sz="1500">
              <a:solidFill>
                <a:schemeClr val="dk1"/>
              </a:solidFill>
              <a:latin typeface="Calibri"/>
              <a:ea typeface="Calibri"/>
              <a:cs typeface="Calibri"/>
              <a:sym typeface="Calibri"/>
            </a:endParaRPr>
          </a:p>
        </p:txBody>
      </p:sp>
      <p:sp>
        <p:nvSpPr>
          <p:cNvPr id="332" name="Google Shape;332;p12"/>
          <p:cNvSpPr/>
          <p:nvPr/>
        </p:nvSpPr>
        <p:spPr>
          <a:xfrm>
            <a:off x="7104888" y="3099816"/>
            <a:ext cx="4288536" cy="192024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Habits change behaviour. Plans don't. And five habits at once is a plan — which is to say, none.</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Pick the one that's actually a stretch but actually possible. Then check in with yourself next week — your tutor will keep your card.</a:t>
            </a:r>
            <a:endParaRPr sz="1100">
              <a:solidFill>
                <a:schemeClr val="dk1"/>
              </a:solidFill>
              <a:latin typeface="Calibri"/>
              <a:ea typeface="Calibri"/>
              <a:cs typeface="Calibri"/>
              <a:sym typeface="Calibri"/>
            </a:endParaRPr>
          </a:p>
        </p:txBody>
      </p:sp>
      <p:sp>
        <p:nvSpPr>
          <p:cNvPr id="333" name="Google Shape;333;p12"/>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334" name="Google Shape;334;p12"/>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12"/>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336" name="Google Shape;336;p12"/>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10</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41" name="Shape 341"/>
        <p:cNvGrpSpPr/>
        <p:nvPr/>
      </p:nvGrpSpPr>
      <p:grpSpPr>
        <a:xfrm>
          <a:off x="0" y="0"/>
          <a:ext cx="0" cy="0"/>
          <a:chOff x="0" y="0"/>
          <a:chExt cx="0" cy="0"/>
        </a:xfrm>
      </p:grpSpPr>
      <p:sp>
        <p:nvSpPr>
          <p:cNvPr id="342" name="Google Shape;342;p13"/>
          <p:cNvSpPr/>
          <p:nvPr/>
        </p:nvSpPr>
        <p:spPr>
          <a:xfrm>
            <a:off x="502920" y="521208"/>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13"/>
          <p:cNvSpPr/>
          <p:nvPr/>
        </p:nvSpPr>
        <p:spPr>
          <a:xfrm>
            <a:off x="841248" y="466344"/>
            <a:ext cx="82296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WRAPPING UP</a:t>
            </a:r>
            <a:endParaRPr sz="1100">
              <a:solidFill>
                <a:schemeClr val="dk1"/>
              </a:solidFill>
              <a:latin typeface="Calibri"/>
              <a:ea typeface="Calibri"/>
              <a:cs typeface="Calibri"/>
              <a:sym typeface="Calibri"/>
            </a:endParaRPr>
          </a:p>
        </p:txBody>
      </p:sp>
      <p:sp>
        <p:nvSpPr>
          <p:cNvPr id="344" name="Google Shape;344;p13"/>
          <p:cNvSpPr/>
          <p:nvPr/>
        </p:nvSpPr>
        <p:spPr>
          <a:xfrm>
            <a:off x="475488" y="777240"/>
            <a:ext cx="10058400" cy="822960"/>
          </a:xfrm>
          <a:prstGeom prst="rect">
            <a:avLst/>
          </a:prstGeom>
          <a:noFill/>
          <a:ln>
            <a:noFill/>
          </a:ln>
        </p:spPr>
        <p:txBody>
          <a:bodyPr anchorCtr="0" anchor="t" bIns="0" lIns="0" spcFirstLastPara="1" rIns="0" wrap="square" tIns="0">
            <a:noAutofit/>
          </a:bodyPr>
          <a:lstStyle/>
          <a:p>
            <a:pPr indent="0" lvl="0" marL="0" marR="0" rtl="0" algn="l">
              <a:lnSpc>
                <a:spcPct val="106666"/>
              </a:lnSpc>
              <a:spcBef>
                <a:spcPts val="0"/>
              </a:spcBef>
              <a:spcAft>
                <a:spcPts val="0"/>
              </a:spcAft>
              <a:buClr>
                <a:srgbClr val="0D2434"/>
              </a:buClr>
              <a:buSzPts val="3000"/>
              <a:buFont typeface="Poppins SemiBold"/>
              <a:buNone/>
            </a:pPr>
            <a:r>
              <a:rPr lang="en-US" sz="3000">
                <a:solidFill>
                  <a:srgbClr val="0D2434"/>
                </a:solidFill>
                <a:latin typeface="Poppins SemiBold"/>
                <a:ea typeface="Poppins SemiBold"/>
                <a:cs typeface="Poppins SemiBold"/>
                <a:sym typeface="Poppins SemiBold"/>
              </a:rPr>
              <a:t>What you take from this</a:t>
            </a:r>
            <a:endParaRPr sz="3000">
              <a:solidFill>
                <a:schemeClr val="dk1"/>
              </a:solidFill>
              <a:latin typeface="Calibri"/>
              <a:ea typeface="Calibri"/>
              <a:cs typeface="Calibri"/>
              <a:sym typeface="Calibri"/>
            </a:endParaRPr>
          </a:p>
        </p:txBody>
      </p:sp>
      <p:sp>
        <p:nvSpPr>
          <p:cNvPr id="345" name="Google Shape;345;p13"/>
          <p:cNvSpPr/>
          <p:nvPr/>
        </p:nvSpPr>
        <p:spPr>
          <a:xfrm>
            <a:off x="9494215" y="502920"/>
            <a:ext cx="2194560" cy="384048"/>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13"/>
          <p:cNvSpPr/>
          <p:nvPr/>
        </p:nvSpPr>
        <p:spPr>
          <a:xfrm>
            <a:off x="9494215" y="502920"/>
            <a:ext cx="219456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TEACHER INPUT</a:t>
            </a:r>
            <a:endParaRPr sz="950">
              <a:solidFill>
                <a:schemeClr val="dk1"/>
              </a:solidFill>
              <a:latin typeface="Calibri"/>
              <a:ea typeface="Calibri"/>
              <a:cs typeface="Calibri"/>
              <a:sym typeface="Calibri"/>
            </a:endParaRPr>
          </a:p>
        </p:txBody>
      </p:sp>
      <p:sp>
        <p:nvSpPr>
          <p:cNvPr id="347" name="Google Shape;347;p13"/>
          <p:cNvSpPr/>
          <p:nvPr/>
        </p:nvSpPr>
        <p:spPr>
          <a:xfrm>
            <a:off x="502920" y="1755648"/>
            <a:ext cx="45720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00"/>
              <a:buFont typeface="Poppins SemiBold"/>
              <a:buNone/>
            </a:pPr>
            <a:r>
              <a:rPr lang="en-US" sz="1100">
                <a:solidFill>
                  <a:srgbClr val="0F7A54"/>
                </a:solidFill>
                <a:latin typeface="Poppins SemiBold"/>
                <a:ea typeface="Poppins SemiBold"/>
                <a:cs typeface="Poppins SemiBold"/>
                <a:sym typeface="Poppins SemiBold"/>
              </a:rPr>
              <a:t>TODAY YOU HAVE:</a:t>
            </a:r>
            <a:endParaRPr sz="1100">
              <a:solidFill>
                <a:schemeClr val="dk1"/>
              </a:solidFill>
              <a:latin typeface="Calibri"/>
              <a:ea typeface="Calibri"/>
              <a:cs typeface="Calibri"/>
              <a:sym typeface="Calibri"/>
            </a:endParaRPr>
          </a:p>
        </p:txBody>
      </p:sp>
      <p:pic>
        <p:nvPicPr>
          <p:cNvPr descr="preencoded.png" id="348" name="Google Shape;348;p13"/>
          <p:cNvPicPr preferRelativeResize="0"/>
          <p:nvPr/>
        </p:nvPicPr>
        <p:blipFill rotWithShape="1">
          <a:blip r:embed="rId3">
            <a:alphaModFix/>
          </a:blip>
          <a:srcRect b="0" l="0" r="0" t="0"/>
          <a:stretch/>
        </p:blipFill>
        <p:spPr>
          <a:xfrm>
            <a:off x="521208" y="2139696"/>
            <a:ext cx="237744" cy="237744"/>
          </a:xfrm>
          <a:prstGeom prst="rect">
            <a:avLst/>
          </a:prstGeom>
          <a:noFill/>
          <a:ln>
            <a:noFill/>
          </a:ln>
        </p:spPr>
      </p:pic>
      <p:sp>
        <p:nvSpPr>
          <p:cNvPr id="349" name="Google Shape;349;p13"/>
          <p:cNvSpPr/>
          <p:nvPr/>
        </p:nvSpPr>
        <p:spPr>
          <a:xfrm>
            <a:off x="868680" y="2057400"/>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Heard what's actually different about college</a:t>
            </a:r>
            <a:endParaRPr sz="1150">
              <a:solidFill>
                <a:schemeClr val="dk1"/>
              </a:solidFill>
              <a:latin typeface="Calibri"/>
              <a:ea typeface="Calibri"/>
              <a:cs typeface="Calibri"/>
              <a:sym typeface="Calibri"/>
            </a:endParaRPr>
          </a:p>
        </p:txBody>
      </p:sp>
      <p:pic>
        <p:nvPicPr>
          <p:cNvPr descr="preencoded.png" id="350" name="Google Shape;350;p13"/>
          <p:cNvPicPr preferRelativeResize="0"/>
          <p:nvPr/>
        </p:nvPicPr>
        <p:blipFill rotWithShape="1">
          <a:blip r:embed="rId3">
            <a:alphaModFix/>
          </a:blip>
          <a:srcRect b="0" l="0" r="0" t="0"/>
          <a:stretch/>
        </p:blipFill>
        <p:spPr>
          <a:xfrm>
            <a:off x="521208" y="2560320"/>
            <a:ext cx="237744" cy="237744"/>
          </a:xfrm>
          <a:prstGeom prst="rect">
            <a:avLst/>
          </a:prstGeom>
          <a:noFill/>
          <a:ln>
            <a:noFill/>
          </a:ln>
        </p:spPr>
      </p:pic>
      <p:sp>
        <p:nvSpPr>
          <p:cNvPr id="351" name="Google Shape;351;p13"/>
          <p:cNvSpPr/>
          <p:nvPr/>
        </p:nvSpPr>
        <p:spPr>
          <a:xfrm>
            <a:off x="868680" y="2478024"/>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Seen where the consequences land (the long fuse)</a:t>
            </a:r>
            <a:endParaRPr sz="1150">
              <a:solidFill>
                <a:schemeClr val="dk1"/>
              </a:solidFill>
              <a:latin typeface="Calibri"/>
              <a:ea typeface="Calibri"/>
              <a:cs typeface="Calibri"/>
              <a:sym typeface="Calibri"/>
            </a:endParaRPr>
          </a:p>
        </p:txBody>
      </p:sp>
      <p:pic>
        <p:nvPicPr>
          <p:cNvPr descr="preencoded.png" id="352" name="Google Shape;352;p13"/>
          <p:cNvPicPr preferRelativeResize="0"/>
          <p:nvPr/>
        </p:nvPicPr>
        <p:blipFill rotWithShape="1">
          <a:blip r:embed="rId3">
            <a:alphaModFix/>
          </a:blip>
          <a:srcRect b="0" l="0" r="0" t="0"/>
          <a:stretch/>
        </p:blipFill>
        <p:spPr>
          <a:xfrm>
            <a:off x="521208" y="2980944"/>
            <a:ext cx="237744" cy="237744"/>
          </a:xfrm>
          <a:prstGeom prst="rect">
            <a:avLst/>
          </a:prstGeom>
          <a:noFill/>
          <a:ln>
            <a:noFill/>
          </a:ln>
        </p:spPr>
      </p:pic>
      <p:sp>
        <p:nvSpPr>
          <p:cNvPr id="353" name="Google Shape;353;p13"/>
          <p:cNvSpPr/>
          <p:nvPr/>
        </p:nvSpPr>
        <p:spPr>
          <a:xfrm>
            <a:off x="868680" y="2898648"/>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Met Seek Opportunity — the honest version of independence</a:t>
            </a:r>
            <a:endParaRPr sz="1150">
              <a:solidFill>
                <a:schemeClr val="dk1"/>
              </a:solidFill>
              <a:latin typeface="Calibri"/>
              <a:ea typeface="Calibri"/>
              <a:cs typeface="Calibri"/>
              <a:sym typeface="Calibri"/>
            </a:endParaRPr>
          </a:p>
        </p:txBody>
      </p:sp>
      <p:pic>
        <p:nvPicPr>
          <p:cNvPr descr="preencoded.png" id="354" name="Google Shape;354;p13"/>
          <p:cNvPicPr preferRelativeResize="0"/>
          <p:nvPr/>
        </p:nvPicPr>
        <p:blipFill rotWithShape="1">
          <a:blip r:embed="rId3">
            <a:alphaModFix/>
          </a:blip>
          <a:srcRect b="0" l="0" r="0" t="0"/>
          <a:stretch/>
        </p:blipFill>
        <p:spPr>
          <a:xfrm>
            <a:off x="521208" y="3401568"/>
            <a:ext cx="237744" cy="237744"/>
          </a:xfrm>
          <a:prstGeom prst="rect">
            <a:avLst/>
          </a:prstGeom>
          <a:noFill/>
          <a:ln>
            <a:noFill/>
          </a:ln>
        </p:spPr>
      </p:pic>
      <p:sp>
        <p:nvSpPr>
          <p:cNvPr id="355" name="Google Shape;355;p13"/>
          <p:cNvSpPr/>
          <p:nvPr/>
        </p:nvSpPr>
        <p:spPr>
          <a:xfrm>
            <a:off x="868680" y="3319272"/>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Heard the plain case for attendance — and the real barriers</a:t>
            </a:r>
            <a:endParaRPr sz="1150">
              <a:solidFill>
                <a:schemeClr val="dk1"/>
              </a:solidFill>
              <a:latin typeface="Calibri"/>
              <a:ea typeface="Calibri"/>
              <a:cs typeface="Calibri"/>
              <a:sym typeface="Calibri"/>
            </a:endParaRPr>
          </a:p>
        </p:txBody>
      </p:sp>
      <p:pic>
        <p:nvPicPr>
          <p:cNvPr descr="preencoded.png" id="356" name="Google Shape;356;p13"/>
          <p:cNvPicPr preferRelativeResize="0"/>
          <p:nvPr/>
        </p:nvPicPr>
        <p:blipFill rotWithShape="1">
          <a:blip r:embed="rId3">
            <a:alphaModFix/>
          </a:blip>
          <a:srcRect b="0" l="0" r="0" t="0"/>
          <a:stretch/>
        </p:blipFill>
        <p:spPr>
          <a:xfrm>
            <a:off x="521208" y="3822192"/>
            <a:ext cx="237744" cy="237744"/>
          </a:xfrm>
          <a:prstGeom prst="rect">
            <a:avLst/>
          </a:prstGeom>
          <a:noFill/>
          <a:ln>
            <a:noFill/>
          </a:ln>
        </p:spPr>
      </p:pic>
      <p:sp>
        <p:nvSpPr>
          <p:cNvPr id="357" name="Google Shape;357;p13"/>
          <p:cNvSpPr/>
          <p:nvPr/>
        </p:nvSpPr>
        <p:spPr>
          <a:xfrm>
            <a:off x="868680" y="3739896"/>
            <a:ext cx="566928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Picked one habit you'll actually do this week</a:t>
            </a:r>
            <a:endParaRPr sz="1150">
              <a:solidFill>
                <a:schemeClr val="dk1"/>
              </a:solidFill>
              <a:latin typeface="Calibri"/>
              <a:ea typeface="Calibri"/>
              <a:cs typeface="Calibri"/>
              <a:sym typeface="Calibri"/>
            </a:endParaRPr>
          </a:p>
        </p:txBody>
      </p:sp>
      <p:sp>
        <p:nvSpPr>
          <p:cNvPr id="358" name="Google Shape;358;p13"/>
          <p:cNvSpPr/>
          <p:nvPr/>
        </p:nvSpPr>
        <p:spPr>
          <a:xfrm>
            <a:off x="6766560" y="1755648"/>
            <a:ext cx="4919472" cy="2468880"/>
          </a:xfrm>
          <a:prstGeom prst="roundRect">
            <a:avLst>
              <a:gd fmla="val 4444"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59" name="Google Shape;359;p13"/>
          <p:cNvPicPr preferRelativeResize="0"/>
          <p:nvPr/>
        </p:nvPicPr>
        <p:blipFill rotWithShape="1">
          <a:blip r:embed="rId4">
            <a:alphaModFix/>
          </a:blip>
          <a:srcRect b="0" l="0" r="0" t="0"/>
          <a:stretch/>
        </p:blipFill>
        <p:spPr>
          <a:xfrm>
            <a:off x="7059168" y="2029968"/>
            <a:ext cx="420624" cy="420624"/>
          </a:xfrm>
          <a:prstGeom prst="rect">
            <a:avLst/>
          </a:prstGeom>
          <a:noFill/>
          <a:ln>
            <a:noFill/>
          </a:ln>
        </p:spPr>
      </p:pic>
      <p:sp>
        <p:nvSpPr>
          <p:cNvPr id="360" name="Google Shape;360;p13"/>
          <p:cNvSpPr/>
          <p:nvPr/>
        </p:nvSpPr>
        <p:spPr>
          <a:xfrm>
            <a:off x="7695343" y="1900294"/>
            <a:ext cx="4334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Coming up</a:t>
            </a:r>
            <a:endParaRPr sz="1600">
              <a:solidFill>
                <a:schemeClr val="dk1"/>
              </a:solidFill>
              <a:latin typeface="Calibri"/>
              <a:ea typeface="Calibri"/>
              <a:cs typeface="Calibri"/>
              <a:sym typeface="Calibri"/>
            </a:endParaRPr>
          </a:p>
        </p:txBody>
      </p:sp>
      <p:sp>
        <p:nvSpPr>
          <p:cNvPr id="361" name="Google Shape;361;p13"/>
          <p:cNvSpPr/>
          <p:nvPr/>
        </p:nvSpPr>
        <p:spPr>
          <a:xfrm>
            <a:off x="7059175" y="2478030"/>
            <a:ext cx="4334100" cy="165510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C7D0D3"/>
              </a:buClr>
              <a:buSzPts val="1150"/>
              <a:buFont typeface="Poppins"/>
              <a:buNone/>
            </a:pPr>
            <a:r>
              <a:rPr lang="en-US" sz="1150">
                <a:solidFill>
                  <a:srgbClr val="C7D0D3"/>
                </a:solidFill>
                <a:latin typeface="Poppins"/>
                <a:ea typeface="Poppins"/>
                <a:cs typeface="Poppins"/>
                <a:sym typeface="Poppins"/>
              </a:rPr>
              <a:t>The rest of induction covers staying safe, looking after yourself, and the careers and progression work that turns your effort into actual next steps. None of it is a test. Ahead of you: a BA (Hons) at University Centre Hastings, a media or digital degree elsewhere, a Higher Apprenticeship in software development or cybersecurity, or a first role in content production, digital design, or the games industry.</a:t>
            </a:r>
            <a:endParaRPr sz="1150">
              <a:solidFill>
                <a:schemeClr val="dk1"/>
              </a:solidFill>
              <a:latin typeface="Calibri"/>
              <a:ea typeface="Calibri"/>
              <a:cs typeface="Calibri"/>
              <a:sym typeface="Calibri"/>
            </a:endParaRPr>
          </a:p>
        </p:txBody>
      </p:sp>
      <p:sp>
        <p:nvSpPr>
          <p:cNvPr id="362" name="Google Shape;362;p13"/>
          <p:cNvSpPr/>
          <p:nvPr/>
        </p:nvSpPr>
        <p:spPr>
          <a:xfrm>
            <a:off x="502920" y="4407408"/>
            <a:ext cx="11183112" cy="841248"/>
          </a:xfrm>
          <a:prstGeom prst="roundRect">
            <a:avLst>
              <a:gd fmla="val 10870"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3"/>
          <p:cNvSpPr/>
          <p:nvPr/>
        </p:nvSpPr>
        <p:spPr>
          <a:xfrm>
            <a:off x="502920" y="4407408"/>
            <a:ext cx="11183112"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Seek Opportunity. Decide in advance. Tell us when it’s hard. On a film shoot, in a digital studio, or completing an industry placement brief, the habits you build this year are the ones your employer or university tutor will see first.</a:t>
            </a:r>
            <a:endParaRPr sz="1500">
              <a:solidFill>
                <a:schemeClr val="dk1"/>
              </a:solidFill>
              <a:latin typeface="Calibri"/>
              <a:ea typeface="Calibri"/>
              <a:cs typeface="Calibri"/>
              <a:sym typeface="Calibri"/>
            </a:endParaRPr>
          </a:p>
        </p:txBody>
      </p:sp>
      <p:sp>
        <p:nvSpPr>
          <p:cNvPr id="364" name="Google Shape;364;p13"/>
          <p:cNvSpPr/>
          <p:nvPr/>
        </p:nvSpPr>
        <p:spPr>
          <a:xfrm>
            <a:off x="502920" y="6437376"/>
            <a:ext cx="8686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B — Confidence, Independence &amp; Attendance</a:t>
            </a:r>
            <a:endParaRPr sz="850">
              <a:solidFill>
                <a:schemeClr val="dk1"/>
              </a:solidFill>
              <a:latin typeface="Calibri"/>
              <a:ea typeface="Calibri"/>
              <a:cs typeface="Calibri"/>
              <a:sym typeface="Calibri"/>
            </a:endParaRPr>
          </a:p>
        </p:txBody>
      </p:sp>
      <p:sp>
        <p:nvSpPr>
          <p:cNvPr id="365" name="Google Shape;365;p13"/>
          <p:cNvSpPr/>
          <p:nvPr/>
        </p:nvSpPr>
        <p:spPr>
          <a:xfrm>
            <a:off x="9795967" y="6400800"/>
            <a:ext cx="1892808"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3"/>
          <p:cNvSpPr/>
          <p:nvPr/>
        </p:nvSpPr>
        <p:spPr>
          <a:xfrm>
            <a:off x="9795967" y="6400800"/>
            <a:ext cx="18928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GROUP 1  ·  SETTLING IN</a:t>
            </a:r>
            <a:endParaRPr sz="700">
              <a:solidFill>
                <a:schemeClr val="dk1"/>
              </a:solidFill>
              <a:latin typeface="Calibri"/>
              <a:ea typeface="Calibri"/>
              <a:cs typeface="Calibri"/>
              <a:sym typeface="Calibri"/>
            </a:endParaRPr>
          </a:p>
        </p:txBody>
      </p:sp>
      <p:sp>
        <p:nvSpPr>
          <p:cNvPr id="367" name="Google Shape;367;p13"/>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11</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72" name="Shape 372"/>
        <p:cNvGrpSpPr/>
        <p:nvPr/>
      </p:nvGrpSpPr>
      <p:grpSpPr>
        <a:xfrm>
          <a:off x="0" y="0"/>
          <a:ext cx="0" cy="0"/>
          <a:chOff x="0" y="0"/>
          <a:chExt cx="0" cy="0"/>
        </a:xfrm>
      </p:grpSpPr>
      <p:sp>
        <p:nvSpPr>
          <p:cNvPr id="373" name="Google Shape;373;p14"/>
          <p:cNvSpPr/>
          <p:nvPr/>
        </p:nvSpPr>
        <p:spPr>
          <a:xfrm>
            <a:off x="502920" y="548640"/>
            <a:ext cx="201168" cy="201168"/>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4"/>
          <p:cNvSpPr/>
          <p:nvPr/>
        </p:nvSpPr>
        <p:spPr>
          <a:xfrm>
            <a:off x="841248" y="475488"/>
            <a:ext cx="10058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FOR THE TEACHER  ·  DO NOT DISPLAY TO STUDENTS</a:t>
            </a:r>
            <a:endParaRPr sz="1100">
              <a:solidFill>
                <a:schemeClr val="dk1"/>
              </a:solidFill>
              <a:latin typeface="Calibri"/>
              <a:ea typeface="Calibri"/>
              <a:cs typeface="Calibri"/>
              <a:sym typeface="Calibri"/>
            </a:endParaRPr>
          </a:p>
        </p:txBody>
      </p:sp>
      <p:sp>
        <p:nvSpPr>
          <p:cNvPr id="375" name="Google Shape;375;p14"/>
          <p:cNvSpPr/>
          <p:nvPr/>
        </p:nvSpPr>
        <p:spPr>
          <a:xfrm>
            <a:off x="475488" y="841248"/>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Module B — facilitation summary</a:t>
            </a:r>
            <a:endParaRPr sz="2600">
              <a:solidFill>
                <a:schemeClr val="dk1"/>
              </a:solidFill>
              <a:latin typeface="Calibri"/>
              <a:ea typeface="Calibri"/>
              <a:cs typeface="Calibri"/>
              <a:sym typeface="Calibri"/>
            </a:endParaRPr>
          </a:p>
        </p:txBody>
      </p:sp>
      <p:sp>
        <p:nvSpPr>
          <p:cNvPr id="376" name="Google Shape;376;p14"/>
          <p:cNvSpPr/>
          <p:nvPr/>
        </p:nvSpPr>
        <p:spPr>
          <a:xfrm>
            <a:off x="493776" y="132588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B5"/>
              </a:buClr>
              <a:buSzPts val="1200"/>
              <a:buFont typeface="Poppins"/>
              <a:buNone/>
            </a:pPr>
            <a:r>
              <a:rPr i="1" lang="en-US" sz="1200">
                <a:solidFill>
                  <a:srgbClr val="9FB0B5"/>
                </a:solidFill>
                <a:latin typeface="Poppins"/>
                <a:ea typeface="Poppins"/>
                <a:cs typeface="Poppins"/>
                <a:sym typeface="Poppins"/>
              </a:rPr>
              <a:t>Core (L3 Year 1) variant</a:t>
            </a:r>
            <a:endParaRPr sz="1200">
              <a:solidFill>
                <a:schemeClr val="dk1"/>
              </a:solidFill>
              <a:latin typeface="Calibri"/>
              <a:ea typeface="Calibri"/>
              <a:cs typeface="Calibri"/>
              <a:sym typeface="Calibri"/>
            </a:endParaRPr>
          </a:p>
        </p:txBody>
      </p:sp>
      <p:sp>
        <p:nvSpPr>
          <p:cNvPr id="377" name="Google Shape;377;p14"/>
          <p:cNvSpPr/>
          <p:nvPr/>
        </p:nvSpPr>
        <p:spPr>
          <a:xfrm>
            <a:off x="502920" y="1783080"/>
            <a:ext cx="5212080" cy="3657600"/>
          </a:xfrm>
          <a:prstGeom prst="roundRect">
            <a:avLst>
              <a:gd fmla="val 2500"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4"/>
          <p:cNvSpPr/>
          <p:nvPr/>
        </p:nvSpPr>
        <p:spPr>
          <a:xfrm>
            <a:off x="777240" y="198424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RUNNING ORDER &amp; TIMINGS</a:t>
            </a:r>
            <a:endParaRPr sz="1100">
              <a:solidFill>
                <a:schemeClr val="dk1"/>
              </a:solidFill>
              <a:latin typeface="Calibri"/>
              <a:ea typeface="Calibri"/>
              <a:cs typeface="Calibri"/>
              <a:sym typeface="Calibri"/>
            </a:endParaRPr>
          </a:p>
        </p:txBody>
      </p:sp>
      <p:sp>
        <p:nvSpPr>
          <p:cNvPr id="379" name="Google Shape;379;p14"/>
          <p:cNvSpPr/>
          <p:nvPr/>
        </p:nvSpPr>
        <p:spPr>
          <a:xfrm>
            <a:off x="740664" y="232257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a:t>
            </a:r>
            <a:endParaRPr sz="950">
              <a:solidFill>
                <a:schemeClr val="dk1"/>
              </a:solidFill>
              <a:latin typeface="Calibri"/>
              <a:ea typeface="Calibri"/>
              <a:cs typeface="Calibri"/>
              <a:sym typeface="Calibri"/>
            </a:endParaRPr>
          </a:p>
        </p:txBody>
      </p:sp>
      <p:sp>
        <p:nvSpPr>
          <p:cNvPr id="380" name="Google Shape;380;p14"/>
          <p:cNvSpPr/>
          <p:nvPr/>
        </p:nvSpPr>
        <p:spPr>
          <a:xfrm>
            <a:off x="1271016" y="232257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Welcome</a:t>
            </a:r>
            <a:endParaRPr sz="930">
              <a:solidFill>
                <a:schemeClr val="dk1"/>
              </a:solidFill>
              <a:latin typeface="Calibri"/>
              <a:ea typeface="Calibri"/>
              <a:cs typeface="Calibri"/>
              <a:sym typeface="Calibri"/>
            </a:endParaRPr>
          </a:p>
        </p:txBody>
      </p:sp>
      <p:sp>
        <p:nvSpPr>
          <p:cNvPr id="381" name="Google Shape;381;p14"/>
          <p:cNvSpPr/>
          <p:nvPr/>
        </p:nvSpPr>
        <p:spPr>
          <a:xfrm>
            <a:off x="4800600" y="232257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~2 min</a:t>
            </a:r>
            <a:endParaRPr sz="920">
              <a:solidFill>
                <a:schemeClr val="dk1"/>
              </a:solidFill>
              <a:latin typeface="Calibri"/>
              <a:ea typeface="Calibri"/>
              <a:cs typeface="Calibri"/>
              <a:sym typeface="Calibri"/>
            </a:endParaRPr>
          </a:p>
        </p:txBody>
      </p:sp>
      <p:sp>
        <p:nvSpPr>
          <p:cNvPr id="382" name="Google Shape;382;p14"/>
          <p:cNvSpPr/>
          <p:nvPr/>
        </p:nvSpPr>
        <p:spPr>
          <a:xfrm>
            <a:off x="667512" y="2596896"/>
            <a:ext cx="4882896"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4"/>
          <p:cNvSpPr/>
          <p:nvPr/>
        </p:nvSpPr>
        <p:spPr>
          <a:xfrm>
            <a:off x="740664" y="259689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2</a:t>
            </a:r>
            <a:endParaRPr sz="950">
              <a:solidFill>
                <a:schemeClr val="dk1"/>
              </a:solidFill>
              <a:latin typeface="Calibri"/>
              <a:ea typeface="Calibri"/>
              <a:cs typeface="Calibri"/>
              <a:sym typeface="Calibri"/>
            </a:endParaRPr>
          </a:p>
        </p:txBody>
      </p:sp>
      <p:sp>
        <p:nvSpPr>
          <p:cNvPr id="384" name="Google Shape;384;p14"/>
          <p:cNvSpPr/>
          <p:nvPr/>
        </p:nvSpPr>
        <p:spPr>
          <a:xfrm>
            <a:off x="1271016" y="259689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Session map</a:t>
            </a:r>
            <a:endParaRPr sz="930">
              <a:solidFill>
                <a:schemeClr val="dk1"/>
              </a:solidFill>
              <a:latin typeface="Calibri"/>
              <a:ea typeface="Calibri"/>
              <a:cs typeface="Calibri"/>
              <a:sym typeface="Calibri"/>
            </a:endParaRPr>
          </a:p>
        </p:txBody>
      </p:sp>
      <p:sp>
        <p:nvSpPr>
          <p:cNvPr id="385" name="Google Shape;385;p14"/>
          <p:cNvSpPr/>
          <p:nvPr/>
        </p:nvSpPr>
        <p:spPr>
          <a:xfrm>
            <a:off x="4800600" y="259689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~2 min</a:t>
            </a:r>
            <a:endParaRPr sz="920">
              <a:solidFill>
                <a:schemeClr val="dk1"/>
              </a:solidFill>
              <a:latin typeface="Calibri"/>
              <a:ea typeface="Calibri"/>
              <a:cs typeface="Calibri"/>
              <a:sym typeface="Calibri"/>
            </a:endParaRPr>
          </a:p>
        </p:txBody>
      </p:sp>
      <p:sp>
        <p:nvSpPr>
          <p:cNvPr id="386" name="Google Shape;386;p14"/>
          <p:cNvSpPr/>
          <p:nvPr/>
        </p:nvSpPr>
        <p:spPr>
          <a:xfrm>
            <a:off x="740664" y="287121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3</a:t>
            </a:r>
            <a:endParaRPr sz="950">
              <a:solidFill>
                <a:schemeClr val="dk1"/>
              </a:solidFill>
              <a:latin typeface="Calibri"/>
              <a:ea typeface="Calibri"/>
              <a:cs typeface="Calibri"/>
              <a:sym typeface="Calibri"/>
            </a:endParaRPr>
          </a:p>
        </p:txBody>
      </p:sp>
      <p:sp>
        <p:nvSpPr>
          <p:cNvPr id="387" name="Google Shape;387;p14"/>
          <p:cNvSpPr/>
          <p:nvPr/>
        </p:nvSpPr>
        <p:spPr>
          <a:xfrm>
            <a:off x="1271016" y="287121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How is it going (discussion)</a:t>
            </a:r>
            <a:endParaRPr sz="930">
              <a:solidFill>
                <a:schemeClr val="dk1"/>
              </a:solidFill>
              <a:latin typeface="Calibri"/>
              <a:ea typeface="Calibri"/>
              <a:cs typeface="Calibri"/>
              <a:sym typeface="Calibri"/>
            </a:endParaRPr>
          </a:p>
        </p:txBody>
      </p:sp>
      <p:sp>
        <p:nvSpPr>
          <p:cNvPr id="388" name="Google Shape;388;p14"/>
          <p:cNvSpPr/>
          <p:nvPr/>
        </p:nvSpPr>
        <p:spPr>
          <a:xfrm>
            <a:off x="4800600" y="287121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~10 min</a:t>
            </a:r>
            <a:endParaRPr sz="920">
              <a:solidFill>
                <a:schemeClr val="dk1"/>
              </a:solidFill>
              <a:latin typeface="Calibri"/>
              <a:ea typeface="Calibri"/>
              <a:cs typeface="Calibri"/>
              <a:sym typeface="Calibri"/>
            </a:endParaRPr>
          </a:p>
        </p:txBody>
      </p:sp>
      <p:sp>
        <p:nvSpPr>
          <p:cNvPr id="389" name="Google Shape;389;p14"/>
          <p:cNvSpPr/>
          <p:nvPr/>
        </p:nvSpPr>
        <p:spPr>
          <a:xfrm>
            <a:off x="667512" y="3145536"/>
            <a:ext cx="4882896"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4"/>
          <p:cNvSpPr/>
          <p:nvPr/>
        </p:nvSpPr>
        <p:spPr>
          <a:xfrm>
            <a:off x="740664" y="314553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4</a:t>
            </a:r>
            <a:endParaRPr sz="950">
              <a:solidFill>
                <a:schemeClr val="dk1"/>
              </a:solidFill>
              <a:latin typeface="Calibri"/>
              <a:ea typeface="Calibri"/>
              <a:cs typeface="Calibri"/>
              <a:sym typeface="Calibri"/>
            </a:endParaRPr>
          </a:p>
        </p:txBody>
      </p:sp>
      <p:sp>
        <p:nvSpPr>
          <p:cNvPr id="391" name="Google Shape;391;p14"/>
          <p:cNvSpPr/>
          <p:nvPr/>
        </p:nvSpPr>
        <p:spPr>
          <a:xfrm>
            <a:off x="1271016" y="314553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School → college</a:t>
            </a:r>
            <a:endParaRPr sz="930">
              <a:solidFill>
                <a:schemeClr val="dk1"/>
              </a:solidFill>
              <a:latin typeface="Calibri"/>
              <a:ea typeface="Calibri"/>
              <a:cs typeface="Calibri"/>
              <a:sym typeface="Calibri"/>
            </a:endParaRPr>
          </a:p>
        </p:txBody>
      </p:sp>
      <p:sp>
        <p:nvSpPr>
          <p:cNvPr id="392" name="Google Shape;392;p14"/>
          <p:cNvSpPr/>
          <p:nvPr/>
        </p:nvSpPr>
        <p:spPr>
          <a:xfrm>
            <a:off x="4800600" y="314553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~6 min</a:t>
            </a:r>
            <a:endParaRPr sz="920">
              <a:solidFill>
                <a:schemeClr val="dk1"/>
              </a:solidFill>
              <a:latin typeface="Calibri"/>
              <a:ea typeface="Calibri"/>
              <a:cs typeface="Calibri"/>
              <a:sym typeface="Calibri"/>
            </a:endParaRPr>
          </a:p>
        </p:txBody>
      </p:sp>
      <p:sp>
        <p:nvSpPr>
          <p:cNvPr id="393" name="Google Shape;393;p14"/>
          <p:cNvSpPr/>
          <p:nvPr/>
        </p:nvSpPr>
        <p:spPr>
          <a:xfrm>
            <a:off x="740664" y="341985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5</a:t>
            </a:r>
            <a:endParaRPr sz="950">
              <a:solidFill>
                <a:schemeClr val="dk1"/>
              </a:solidFill>
              <a:latin typeface="Calibri"/>
              <a:ea typeface="Calibri"/>
              <a:cs typeface="Calibri"/>
              <a:sym typeface="Calibri"/>
            </a:endParaRPr>
          </a:p>
        </p:txBody>
      </p:sp>
      <p:sp>
        <p:nvSpPr>
          <p:cNvPr id="394" name="Google Shape;394;p14"/>
          <p:cNvSpPr/>
          <p:nvPr/>
        </p:nvSpPr>
        <p:spPr>
          <a:xfrm>
            <a:off x="1271016" y="341985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The long fuse</a:t>
            </a:r>
            <a:endParaRPr sz="930">
              <a:solidFill>
                <a:schemeClr val="dk1"/>
              </a:solidFill>
              <a:latin typeface="Calibri"/>
              <a:ea typeface="Calibri"/>
              <a:cs typeface="Calibri"/>
              <a:sym typeface="Calibri"/>
            </a:endParaRPr>
          </a:p>
        </p:txBody>
      </p:sp>
      <p:sp>
        <p:nvSpPr>
          <p:cNvPr id="395" name="Google Shape;395;p14"/>
          <p:cNvSpPr/>
          <p:nvPr/>
        </p:nvSpPr>
        <p:spPr>
          <a:xfrm>
            <a:off x="4800600" y="341985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~6 min</a:t>
            </a:r>
            <a:endParaRPr sz="920">
              <a:solidFill>
                <a:schemeClr val="dk1"/>
              </a:solidFill>
              <a:latin typeface="Calibri"/>
              <a:ea typeface="Calibri"/>
              <a:cs typeface="Calibri"/>
              <a:sym typeface="Calibri"/>
            </a:endParaRPr>
          </a:p>
        </p:txBody>
      </p:sp>
      <p:sp>
        <p:nvSpPr>
          <p:cNvPr id="396" name="Google Shape;396;p14"/>
          <p:cNvSpPr/>
          <p:nvPr/>
        </p:nvSpPr>
        <p:spPr>
          <a:xfrm>
            <a:off x="667512" y="3694176"/>
            <a:ext cx="4882896"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4"/>
          <p:cNvSpPr/>
          <p:nvPr/>
        </p:nvSpPr>
        <p:spPr>
          <a:xfrm>
            <a:off x="740664" y="369417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6</a:t>
            </a:r>
            <a:endParaRPr sz="950">
              <a:solidFill>
                <a:schemeClr val="dk1"/>
              </a:solidFill>
              <a:latin typeface="Calibri"/>
              <a:ea typeface="Calibri"/>
              <a:cs typeface="Calibri"/>
              <a:sym typeface="Calibri"/>
            </a:endParaRPr>
          </a:p>
        </p:txBody>
      </p:sp>
      <p:sp>
        <p:nvSpPr>
          <p:cNvPr id="398" name="Google Shape;398;p14"/>
          <p:cNvSpPr/>
          <p:nvPr/>
        </p:nvSpPr>
        <p:spPr>
          <a:xfrm>
            <a:off x="1271016" y="369417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Seek Opportunity</a:t>
            </a:r>
            <a:endParaRPr sz="930">
              <a:solidFill>
                <a:schemeClr val="dk1"/>
              </a:solidFill>
              <a:latin typeface="Calibri"/>
              <a:ea typeface="Calibri"/>
              <a:cs typeface="Calibri"/>
              <a:sym typeface="Calibri"/>
            </a:endParaRPr>
          </a:p>
        </p:txBody>
      </p:sp>
      <p:sp>
        <p:nvSpPr>
          <p:cNvPr id="399" name="Google Shape;399;p14"/>
          <p:cNvSpPr/>
          <p:nvPr/>
        </p:nvSpPr>
        <p:spPr>
          <a:xfrm>
            <a:off x="4800600" y="369417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~5 min</a:t>
            </a:r>
            <a:endParaRPr sz="920">
              <a:solidFill>
                <a:schemeClr val="dk1"/>
              </a:solidFill>
              <a:latin typeface="Calibri"/>
              <a:ea typeface="Calibri"/>
              <a:cs typeface="Calibri"/>
              <a:sym typeface="Calibri"/>
            </a:endParaRPr>
          </a:p>
        </p:txBody>
      </p:sp>
      <p:sp>
        <p:nvSpPr>
          <p:cNvPr id="400" name="Google Shape;400;p14"/>
          <p:cNvSpPr/>
          <p:nvPr/>
        </p:nvSpPr>
        <p:spPr>
          <a:xfrm>
            <a:off x="740664" y="396849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7</a:t>
            </a:r>
            <a:endParaRPr sz="950">
              <a:solidFill>
                <a:schemeClr val="dk1"/>
              </a:solidFill>
              <a:latin typeface="Calibri"/>
              <a:ea typeface="Calibri"/>
              <a:cs typeface="Calibri"/>
              <a:sym typeface="Calibri"/>
            </a:endParaRPr>
          </a:p>
        </p:txBody>
      </p:sp>
      <p:sp>
        <p:nvSpPr>
          <p:cNvPr id="401" name="Google Shape;401;p14"/>
          <p:cNvSpPr/>
          <p:nvPr/>
        </p:nvSpPr>
        <p:spPr>
          <a:xfrm>
            <a:off x="1271016" y="396849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Confidence</a:t>
            </a:r>
            <a:endParaRPr sz="930">
              <a:solidFill>
                <a:schemeClr val="dk1"/>
              </a:solidFill>
              <a:latin typeface="Calibri"/>
              <a:ea typeface="Calibri"/>
              <a:cs typeface="Calibri"/>
              <a:sym typeface="Calibri"/>
            </a:endParaRPr>
          </a:p>
        </p:txBody>
      </p:sp>
      <p:sp>
        <p:nvSpPr>
          <p:cNvPr id="402" name="Google Shape;402;p14"/>
          <p:cNvSpPr/>
          <p:nvPr/>
        </p:nvSpPr>
        <p:spPr>
          <a:xfrm>
            <a:off x="4800600" y="396849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~5 min</a:t>
            </a:r>
            <a:endParaRPr sz="920">
              <a:solidFill>
                <a:schemeClr val="dk1"/>
              </a:solidFill>
              <a:latin typeface="Calibri"/>
              <a:ea typeface="Calibri"/>
              <a:cs typeface="Calibri"/>
              <a:sym typeface="Calibri"/>
            </a:endParaRPr>
          </a:p>
        </p:txBody>
      </p:sp>
      <p:sp>
        <p:nvSpPr>
          <p:cNvPr id="403" name="Google Shape;403;p14"/>
          <p:cNvSpPr/>
          <p:nvPr/>
        </p:nvSpPr>
        <p:spPr>
          <a:xfrm>
            <a:off x="667512" y="4242816"/>
            <a:ext cx="4882896"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4"/>
          <p:cNvSpPr/>
          <p:nvPr/>
        </p:nvSpPr>
        <p:spPr>
          <a:xfrm>
            <a:off x="740664" y="424281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8</a:t>
            </a:r>
            <a:endParaRPr sz="950">
              <a:solidFill>
                <a:schemeClr val="dk1"/>
              </a:solidFill>
              <a:latin typeface="Calibri"/>
              <a:ea typeface="Calibri"/>
              <a:cs typeface="Calibri"/>
              <a:sym typeface="Calibri"/>
            </a:endParaRPr>
          </a:p>
        </p:txBody>
      </p:sp>
      <p:sp>
        <p:nvSpPr>
          <p:cNvPr id="405" name="Google Shape;405;p14"/>
          <p:cNvSpPr/>
          <p:nvPr/>
        </p:nvSpPr>
        <p:spPr>
          <a:xfrm>
            <a:off x="1271016" y="424281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Attendance — plain case</a:t>
            </a:r>
            <a:endParaRPr sz="930">
              <a:solidFill>
                <a:schemeClr val="dk1"/>
              </a:solidFill>
              <a:latin typeface="Calibri"/>
              <a:ea typeface="Calibri"/>
              <a:cs typeface="Calibri"/>
              <a:sym typeface="Calibri"/>
            </a:endParaRPr>
          </a:p>
        </p:txBody>
      </p:sp>
      <p:sp>
        <p:nvSpPr>
          <p:cNvPr id="406" name="Google Shape;406;p14"/>
          <p:cNvSpPr/>
          <p:nvPr/>
        </p:nvSpPr>
        <p:spPr>
          <a:xfrm>
            <a:off x="4800600" y="424281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~5 min</a:t>
            </a:r>
            <a:endParaRPr sz="920">
              <a:solidFill>
                <a:schemeClr val="dk1"/>
              </a:solidFill>
              <a:latin typeface="Calibri"/>
              <a:ea typeface="Calibri"/>
              <a:cs typeface="Calibri"/>
              <a:sym typeface="Calibri"/>
            </a:endParaRPr>
          </a:p>
        </p:txBody>
      </p:sp>
      <p:sp>
        <p:nvSpPr>
          <p:cNvPr id="407" name="Google Shape;407;p14"/>
          <p:cNvSpPr/>
          <p:nvPr/>
        </p:nvSpPr>
        <p:spPr>
          <a:xfrm>
            <a:off x="740664" y="451713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9</a:t>
            </a:r>
            <a:endParaRPr sz="950">
              <a:solidFill>
                <a:schemeClr val="dk1"/>
              </a:solidFill>
              <a:latin typeface="Calibri"/>
              <a:ea typeface="Calibri"/>
              <a:cs typeface="Calibri"/>
              <a:sym typeface="Calibri"/>
            </a:endParaRPr>
          </a:p>
        </p:txBody>
      </p:sp>
      <p:sp>
        <p:nvSpPr>
          <p:cNvPr id="408" name="Google Shape;408;p14"/>
          <p:cNvSpPr/>
          <p:nvPr/>
        </p:nvSpPr>
        <p:spPr>
          <a:xfrm>
            <a:off x="1271016" y="451713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Barriers &amp; support</a:t>
            </a:r>
            <a:endParaRPr sz="930">
              <a:solidFill>
                <a:schemeClr val="dk1"/>
              </a:solidFill>
              <a:latin typeface="Calibri"/>
              <a:ea typeface="Calibri"/>
              <a:cs typeface="Calibri"/>
              <a:sym typeface="Calibri"/>
            </a:endParaRPr>
          </a:p>
        </p:txBody>
      </p:sp>
      <p:sp>
        <p:nvSpPr>
          <p:cNvPr id="409" name="Google Shape;409;p14"/>
          <p:cNvSpPr/>
          <p:nvPr/>
        </p:nvSpPr>
        <p:spPr>
          <a:xfrm>
            <a:off x="4800600" y="451713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~7 min</a:t>
            </a:r>
            <a:endParaRPr sz="920">
              <a:solidFill>
                <a:schemeClr val="dk1"/>
              </a:solidFill>
              <a:latin typeface="Calibri"/>
              <a:ea typeface="Calibri"/>
              <a:cs typeface="Calibri"/>
              <a:sym typeface="Calibri"/>
            </a:endParaRPr>
          </a:p>
        </p:txBody>
      </p:sp>
      <p:sp>
        <p:nvSpPr>
          <p:cNvPr id="410" name="Google Shape;410;p14"/>
          <p:cNvSpPr/>
          <p:nvPr/>
        </p:nvSpPr>
        <p:spPr>
          <a:xfrm>
            <a:off x="667512" y="4791456"/>
            <a:ext cx="4882896"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4"/>
          <p:cNvSpPr/>
          <p:nvPr/>
        </p:nvSpPr>
        <p:spPr>
          <a:xfrm>
            <a:off x="740664" y="479145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10</a:t>
            </a:r>
            <a:endParaRPr sz="950">
              <a:solidFill>
                <a:schemeClr val="dk1"/>
              </a:solidFill>
              <a:latin typeface="Calibri"/>
              <a:ea typeface="Calibri"/>
              <a:cs typeface="Calibri"/>
              <a:sym typeface="Calibri"/>
            </a:endParaRPr>
          </a:p>
        </p:txBody>
      </p:sp>
      <p:sp>
        <p:nvSpPr>
          <p:cNvPr id="412" name="Google Shape;412;p14"/>
          <p:cNvSpPr/>
          <p:nvPr/>
        </p:nvSpPr>
        <p:spPr>
          <a:xfrm>
            <a:off x="1271016" y="479145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My one habit (activity)</a:t>
            </a:r>
            <a:endParaRPr sz="930">
              <a:solidFill>
                <a:schemeClr val="dk1"/>
              </a:solidFill>
              <a:latin typeface="Calibri"/>
              <a:ea typeface="Calibri"/>
              <a:cs typeface="Calibri"/>
              <a:sym typeface="Calibri"/>
            </a:endParaRPr>
          </a:p>
        </p:txBody>
      </p:sp>
      <p:sp>
        <p:nvSpPr>
          <p:cNvPr id="413" name="Google Shape;413;p14"/>
          <p:cNvSpPr/>
          <p:nvPr/>
        </p:nvSpPr>
        <p:spPr>
          <a:xfrm>
            <a:off x="4800600" y="479145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~7 min</a:t>
            </a:r>
            <a:endParaRPr sz="920">
              <a:solidFill>
                <a:schemeClr val="dk1"/>
              </a:solidFill>
              <a:latin typeface="Calibri"/>
              <a:ea typeface="Calibri"/>
              <a:cs typeface="Calibri"/>
              <a:sym typeface="Calibri"/>
            </a:endParaRPr>
          </a:p>
        </p:txBody>
      </p:sp>
      <p:sp>
        <p:nvSpPr>
          <p:cNvPr id="414" name="Google Shape;414;p14"/>
          <p:cNvSpPr/>
          <p:nvPr/>
        </p:nvSpPr>
        <p:spPr>
          <a:xfrm>
            <a:off x="740664" y="5065776"/>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11</a:t>
            </a:r>
            <a:endParaRPr sz="950">
              <a:solidFill>
                <a:schemeClr val="dk1"/>
              </a:solidFill>
              <a:latin typeface="Calibri"/>
              <a:ea typeface="Calibri"/>
              <a:cs typeface="Calibri"/>
              <a:sym typeface="Calibri"/>
            </a:endParaRPr>
          </a:p>
        </p:txBody>
      </p:sp>
      <p:sp>
        <p:nvSpPr>
          <p:cNvPr id="415" name="Google Shape;415;p14"/>
          <p:cNvSpPr/>
          <p:nvPr/>
        </p:nvSpPr>
        <p:spPr>
          <a:xfrm>
            <a:off x="1271016" y="5065776"/>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30"/>
              <a:buFont typeface="Poppins"/>
              <a:buNone/>
            </a:pPr>
            <a:r>
              <a:rPr lang="en-US" sz="930">
                <a:solidFill>
                  <a:srgbClr val="FFFFFF"/>
                </a:solidFill>
                <a:latin typeface="Poppins"/>
                <a:ea typeface="Poppins"/>
                <a:cs typeface="Poppins"/>
                <a:sym typeface="Poppins"/>
              </a:rPr>
              <a:t>Close</a:t>
            </a:r>
            <a:endParaRPr sz="930">
              <a:solidFill>
                <a:schemeClr val="dk1"/>
              </a:solidFill>
              <a:latin typeface="Calibri"/>
              <a:ea typeface="Calibri"/>
              <a:cs typeface="Calibri"/>
              <a:sym typeface="Calibri"/>
            </a:endParaRPr>
          </a:p>
        </p:txBody>
      </p:sp>
      <p:sp>
        <p:nvSpPr>
          <p:cNvPr id="416" name="Google Shape;416;p14"/>
          <p:cNvSpPr/>
          <p:nvPr/>
        </p:nvSpPr>
        <p:spPr>
          <a:xfrm>
            <a:off x="4800600" y="5065776"/>
            <a:ext cx="768096"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20"/>
              <a:buFont typeface="Poppins"/>
              <a:buNone/>
            </a:pPr>
            <a:r>
              <a:rPr lang="en-US" sz="920">
                <a:solidFill>
                  <a:srgbClr val="9FB0B5"/>
                </a:solidFill>
                <a:latin typeface="Poppins"/>
                <a:ea typeface="Poppins"/>
                <a:cs typeface="Poppins"/>
                <a:sym typeface="Poppins"/>
              </a:rPr>
              <a:t>~3 min</a:t>
            </a:r>
            <a:endParaRPr sz="920">
              <a:solidFill>
                <a:schemeClr val="dk1"/>
              </a:solidFill>
              <a:latin typeface="Calibri"/>
              <a:ea typeface="Calibri"/>
              <a:cs typeface="Calibri"/>
              <a:sym typeface="Calibri"/>
            </a:endParaRPr>
          </a:p>
        </p:txBody>
      </p:sp>
      <p:sp>
        <p:nvSpPr>
          <p:cNvPr id="417" name="Google Shape;417;p14"/>
          <p:cNvSpPr/>
          <p:nvPr/>
        </p:nvSpPr>
        <p:spPr>
          <a:xfrm>
            <a:off x="5989325" y="1691658"/>
            <a:ext cx="5696700" cy="2868000"/>
          </a:xfrm>
          <a:prstGeom prst="roundRect">
            <a:avLst>
              <a:gd fmla="val 7042"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4"/>
          <p:cNvSpPr/>
          <p:nvPr/>
        </p:nvSpPr>
        <p:spPr>
          <a:xfrm>
            <a:off x="6263640" y="1993391"/>
            <a:ext cx="514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BEFORE YOU TEACH — CHECKLIST</a:t>
            </a:r>
            <a:endParaRPr sz="1100">
              <a:solidFill>
                <a:schemeClr val="dk1"/>
              </a:solidFill>
              <a:latin typeface="Calibri"/>
              <a:ea typeface="Calibri"/>
              <a:cs typeface="Calibri"/>
              <a:sym typeface="Calibri"/>
            </a:endParaRPr>
          </a:p>
        </p:txBody>
      </p:sp>
      <p:sp>
        <p:nvSpPr>
          <p:cNvPr id="419" name="Google Shape;419;p14"/>
          <p:cNvSpPr/>
          <p:nvPr/>
        </p:nvSpPr>
        <p:spPr>
          <a:xfrm>
            <a:off x="6391653" y="2462017"/>
            <a:ext cx="4892100" cy="310800"/>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Replace the [ESCG TO CONFIRM] panel on slide 9 with the real first-point-of-contact for this group</a:t>
            </a:r>
            <a:endParaRPr sz="900">
              <a:solidFill>
                <a:schemeClr val="dk1"/>
              </a:solidFill>
              <a:latin typeface="Calibri"/>
              <a:ea typeface="Calibri"/>
              <a:cs typeface="Calibri"/>
              <a:sym typeface="Calibri"/>
            </a:endParaRPr>
          </a:p>
        </p:txBody>
      </p:sp>
      <p:sp>
        <p:nvSpPr>
          <p:cNvPr id="420" name="Google Shape;420;p14"/>
          <p:cNvSpPr/>
          <p:nvPr/>
        </p:nvSpPr>
        <p:spPr>
          <a:xfrm>
            <a:off x="6391628" y="2955801"/>
            <a:ext cx="4892100" cy="310800"/>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Bring cards + pens for the 'One Habit' activity — and plan to keep them</a:t>
            </a:r>
            <a:endParaRPr sz="900">
              <a:solidFill>
                <a:schemeClr val="dk1"/>
              </a:solidFill>
              <a:latin typeface="Calibri"/>
              <a:ea typeface="Calibri"/>
              <a:cs typeface="Calibri"/>
              <a:sym typeface="Calibri"/>
            </a:endParaRPr>
          </a:p>
        </p:txBody>
      </p:sp>
      <p:sp>
        <p:nvSpPr>
          <p:cNvPr id="421" name="Google Shape;421;p14"/>
          <p:cNvSpPr/>
          <p:nvPr/>
        </p:nvSpPr>
        <p:spPr>
          <a:xfrm>
            <a:off x="6391628" y="3420947"/>
            <a:ext cx="4892100" cy="310800"/>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Know your campus Safeguarding lead's name and location — slide 9 may surface things</a:t>
            </a:r>
            <a:endParaRPr sz="900">
              <a:solidFill>
                <a:schemeClr val="dk1"/>
              </a:solidFill>
              <a:latin typeface="Calibri"/>
              <a:ea typeface="Calibri"/>
              <a:cs typeface="Calibri"/>
              <a:sym typeface="Calibri"/>
            </a:endParaRPr>
          </a:p>
        </p:txBody>
      </p:sp>
      <p:sp>
        <p:nvSpPr>
          <p:cNvPr id="422" name="Google Shape;422;p14"/>
          <p:cNvSpPr/>
          <p:nvPr/>
        </p:nvSpPr>
        <p:spPr>
          <a:xfrm>
            <a:off x="6391628" y="3868419"/>
            <a:ext cx="4892100" cy="310800"/>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Read the PROUD poster — know how Seek Opportunity sits with the other values</a:t>
            </a:r>
            <a:endParaRPr sz="900">
              <a:solidFill>
                <a:schemeClr val="dk1"/>
              </a:solidFill>
              <a:latin typeface="Calibri"/>
              <a:ea typeface="Calibri"/>
              <a:cs typeface="Calibri"/>
              <a:sym typeface="Calibri"/>
            </a:endParaRPr>
          </a:p>
        </p:txBody>
      </p:sp>
      <p:sp>
        <p:nvSpPr>
          <p:cNvPr id="423" name="Google Shape;423;p14"/>
          <p:cNvSpPr/>
          <p:nvPr/>
        </p:nvSpPr>
        <p:spPr>
          <a:xfrm>
            <a:off x="5989325" y="4636475"/>
            <a:ext cx="5696700" cy="2073900"/>
          </a:xfrm>
          <a:prstGeom prst="roundRect">
            <a:avLst>
              <a:gd fmla="val 6452"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4"/>
          <p:cNvSpPr/>
          <p:nvPr/>
        </p:nvSpPr>
        <p:spPr>
          <a:xfrm>
            <a:off x="6263615" y="4741087"/>
            <a:ext cx="514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THIS DECK MAY SURFACE THINGS</a:t>
            </a:r>
            <a:endParaRPr sz="1050">
              <a:solidFill>
                <a:schemeClr val="dk1"/>
              </a:solidFill>
              <a:latin typeface="Calibri"/>
              <a:ea typeface="Calibri"/>
              <a:cs typeface="Calibri"/>
              <a:sym typeface="Calibri"/>
            </a:endParaRPr>
          </a:p>
        </p:txBody>
      </p:sp>
      <p:sp>
        <p:nvSpPr>
          <p:cNvPr id="425" name="Google Shape;425;p14"/>
          <p:cNvSpPr/>
          <p:nvPr/>
        </p:nvSpPr>
        <p:spPr>
          <a:xfrm>
            <a:off x="6263640" y="5321808"/>
            <a:ext cx="5148072" cy="9144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0D2434"/>
              </a:buClr>
              <a:buSzPts val="900"/>
              <a:buFont typeface="Poppins"/>
              <a:buNone/>
            </a:pPr>
            <a:r>
              <a:rPr lang="en-US" sz="900">
                <a:solidFill>
                  <a:srgbClr val="0D2434"/>
                </a:solidFill>
                <a:latin typeface="Poppins"/>
                <a:ea typeface="Poppins"/>
                <a:cs typeface="Poppins"/>
                <a:sym typeface="Poppins"/>
              </a:rPr>
              <a:t>Slide 9 names real barriers (mental health, money, things at home, neurodivergence). Watch faces, watch what gets written on cards. Listen calmly, don’t promise secrecy, don’t investigate. Report the same day via the ESCG safeguarding route. Unsure? Speak to your campus Safeguarding lead today. In Digital, Media and Film, students producing content about real people, real events, or personal stories may surface disclosures through the work itself. Be alert to creative submissions that reflect personal crisis. For T Level and industry placement students, transport costs and employer contact anxiety are common barriers that appear as attendance problems.</a:t>
            </a:r>
            <a:endParaRPr sz="9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