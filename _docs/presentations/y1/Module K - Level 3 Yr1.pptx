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Medium"/>
      <p:regular r:id="rId21"/>
      <p:bold r:id="rId22"/>
      <p:italic r:id="rId23"/>
      <p:boldItalic r:id="rId24"/>
    </p:embeddedFont>
    <p:embeddedFont>
      <p:font typeface="Poppins SemiBold"/>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Medium-bold.fntdata"/><Relationship Id="rId21" Type="http://schemas.openxmlformats.org/officeDocument/2006/relationships/font" Target="fonts/PoppinsMedium-regular.fntdata"/><Relationship Id="rId24" Type="http://schemas.openxmlformats.org/officeDocument/2006/relationships/font" Target="fonts/PoppinsMedium-boldItalic.fntdata"/><Relationship Id="rId23" Type="http://schemas.openxmlformats.org/officeDocument/2006/relationships/font" Target="fonts/Poppins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bold.fntdata"/><Relationship Id="rId25" Type="http://schemas.openxmlformats.org/officeDocument/2006/relationships/font" Target="fonts/PoppinsSemiBold-regular.fntdata"/><Relationship Id="rId28" Type="http://schemas.openxmlformats.org/officeDocument/2006/relationships/font" Target="fonts/PoppinsSemiBold-boldItalic.fntdata"/><Relationship Id="rId27" Type="http://schemas.openxmlformats.org/officeDocument/2006/relationships/font" Target="fonts/PoppinsSemi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90 minutes total. This is the closing module of the induction programme — it must be delivered after all others, and Module H (Navigate, delivered by Careers) is a hard prerequisite. PURPOSE: three jobs in one session — map the full progression terrain honestly, turn aspiration into one written goal, and close the induction loop (including the course-fit conversation while the change window is still open). TONE: adult, forward-facing. This should feel like a beginning, not a ceremony. Avoid both 'dream big' inflation and 'be realistic' capping — every route on the map is legitimate, and all of them are reached through what students do this term. SAY SOMETHING LIKE: 'This is the last induction session. Everything so far has been about settling in. This one is about where you're going — and the first thing you'll do about it.' BEFORE YOU START: check the pre-flight list on the teacher appendix (slide 12) — you need a course-change deadline, Careers Team details, and confirmation that this group's Navigate profiles are active.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 minutes. MODE: session map. PURPOSE: orient the group and signal that this session ends with something in their hands — a written goal that their tutor keeps. HOW TO RUN IT: walk the eight items briskly. Flag item 6 explicitly: 'and yes, we're going to talk honestly about whether you're on the right course — because now is when that question is still easy to act on.' WHAT TO WATCH FOR: returners to this room from earlier modules will recognise the shape of the session (discussion first, card at the end) — use that familiarity, don't re-explain the format. SAY SOMETHING LIKE: 'Two things leave this room today: a map of where this course actually leads, and one goal in your own handwriting. Everything in between is about making that goal a real one.'</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(5 in pairs, 3 sharing into fours, 2 harvesting). MODE: discussion. PURPOSE: this settled discussion doubles as the reflection requirement for the whole programme — question 3 generates the material that slide 9 (closing the loop) must answer. Don't skip the harvest. HOW TO RUN IT: pairs first, then fours. While they talk, circulate and listen for course-fit doubt — anyone saying 'it's not what I expected' in a flat tone is someone to check on quietly at slide 8. Collect question 3 answers visibly: board, post-its, or one nominated scribe per table. WHAT TO WATCH FOR: groups that answer question 1 with logistics only ('the canteen queue') — push once for something about the work itself. SAY SOMETHING LIKE: 'Question three matters most. If nobody has answered it in three weeks, today is the day it gets an answer or a named person who owes you one.' SAFEGUARDING: nothing formal here, but flat or withdrawn responses three weeks in are worth a quiet follow-up through the tutor.</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minutes. MODE: teacher input, with questions taken as you go. PURPOSE: an accurate picture of the full range — the staff guide is explicit that students must not be shown only the most common route. Present the five routes as a flat map, not a ladder: no route is the 'backup' version of another. HOW TO RUN IT: for each route, ground it in this course — name one real destination recent students from this subject area have reached, if you know one. Be straight about degree apprenticeships: excellent and brutal to get, which is an argument for early preparation, not for not trying. WHAT TO WATCH FOR: two distortions. Students who assume university is the default (challenge gently: 'what would the apprenticeship version of that plan look like?') and students who have already ruled routes out on cost or confidence grounds ('people like me don't...'). The second is the one that matters most in this room — the map is drawn the same for everyone. SCOPE: this slide maps terrain. It does not deliver careers guidance — individual route conversations belong with the Careers Team, and slide 9 gives the booking route. Hold that line. SAY SOMETHING LIKE: 'Five doors. All of them real, all of them opened by the same two years of work. Your job this year isn't to pick one — it's to keep all five open.'</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 PURPOSE: connect the Navigate record (set up in Module H) to the map on the previous slide. The framing that lands: this is a live professional portfolio that develops over two years, not a college admin task. PREREQUISITE CHECK: this slide assumes active Navigate profiles from Module H. If any student's profile is incomplete, do not stop the session — name it plainly ('sort it this week — you cannot do the Skills Assessment or apply for placements without it') and pass the names to the tutor. An incomplete profile means later careers sessions cannot be fully delivered for that student. HOW TO RUN IT: pick one route from the map and trace it backwards — 'a degree apprenticeship application in Year 2 wants evidence of skills, experience and reflection; here is exactly where each piece comes from.' Concrete beats abstract. WHAT TO WATCH FOR: the student who says 'I'll do my CV when I need it.' Counter with the reference point — staff write references from what is on record, and a thin record makes a thin reference regardless of how good the student actually was. SAY SOMETHING LIKE: 'Nobody remembers in March what they did in October. Navigate remembers. That is the whole trick.'</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 with quick paired checks. PURPOSE: the distinction the staff guide requires — aspiration versus goal — done as a working test rather than an acronym. The evidence base (for your interest, not the slide): Locke and Latham's goal-setting research — specific, challenging goals reliably outperform vague 'do your best' intentions — and Gollwitzer's implementation intentions: goals with a stated 'when/then' first step get acted on far more often. That is why the example names a first step and a date. HOW TO RUN IT: read the aspiration aloud, ask 'what's wrong with it?' — someone will say 'nothing', and they're right: nothing is wrong with it as a direction. The problem only appears when it is asked to do a goal's job. Then walk the transform. Quick pair check: each student says one aspiration they hold; their partner asks 'so what happens Monday?' WHAT TO WATCH FOR: do not let this become SMART-acronym recitation — the four checks on the slide do the same work without the worksheet feel. Also watch for goals that are really tasks ('hand in my assignment') — no challenge, no growth. Push one notch up. SAY SOMETHING LIKE: 'Keep your aspirations — they're the compass. Today we build the thing the compass is for.'</a:t>
            </a:r>
            <a:endParaRPr/>
          </a:p>
        </p:txBody>
      </p:sp>
      <p:sp>
        <p:nvSpPr>
          <p:cNvPr id="158" name="Google Shape;15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minutes (2 to set up, 8 drafting alone, 5 partner-testing). MODE: activity. PURPOSE: the three horizons the staff guide requires — this term, this academic year, on completion — drafted for real, not discussed in the abstract. Working backwards from the long horizon is the point: it exposes term goals that do not actually lead anywhere. HOW TO RUN IT: silence for the solo drafting — this is thinking work. Then partners apply the four checks from the previous slide to each other's goals, hunting vagueness. Circulate and challenge: 'get better at maths' is not a goal; 'what would better look like by December, and what happens this week?' WHAT TO WATCH FOR: two failure modes. The blank page (offer the route they were drawn to on the map as a starting long horizon) and the borrowed goal (a parent's or a mate's — ask 'whose is that, honestly?' and let them keep it if they claim it). Do not correct long horizons for being ambitious. Correct them for being unowned or unconnected. FEEDS FORWARD: these drafts supply the commitment card (slide 10) and the first goal entries in the ILP — tell students that explicitly so the work feels consequential. SAY SOMETHING LIKE: 'The long one can change — most people's do. The term one cannot stay vague. That is the deal.'</a:t>
            </a:r>
            <a:endParaRPr/>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 delivered warmly — this is the slide most likely to matter enormously to two or three people in the room and not at all to the rest. PURPOSE: the staff guide requires that course-fit doubt is explicitly normalised, that now is named as the right time, and that the change deadline is communicated. This session lands roughly halfway through the six-week Right Choice window — the deadline is weeks away, not theoretical. This is realistically the last structured moment a wavering student gets before the window closes. HOW TO RUN IT: the two-card triage does the heavy lifting. Most doubt in the room is card one (difficulty) — do not manufacture churn by treating it as card two. But do not soften card two into silence either: a student on the genuinely wrong course loses more from a polite year than from an awkward conversation now. Course fees already paid transfer to a new course under Right Choice. WHAT TO WATCH FOR: quiet students during this slide, and anyone who caught your eye during the opening discussion. A public slide plus a private word afterwards is the pattern — 'you don't have to decide here; you just have to talk to someone this week.' SAFEGUARDING: course doubt sometimes masks something else — money, home, caring responsibilities, low mood. If the conversation afterwards goes there: listen calmly, do not promise secrecy, do not investigate, report the same day via the ESCG safeguarding route. SAY SOMETHING LIKE: 'Nobody enrols with perfect information. Three weeks of real experience is worth more than any open evening — so if the real experience is telling you something, act on it while acting is easy.'</a:t>
            </a:r>
            <a:endParaRPr/>
          </a:p>
        </p:txBody>
      </p:sp>
      <p:sp>
        <p:nvSpPr>
          <p:cNvPr id="204" name="Google Shape;2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discussion — this is the programme's reflection requirement made concrete. PURPOSE: close the induction loop. Three moves: a fast recap of what the eleven sessions covered (by group, not module-by-module — nobody needs a module letter), the public settling of every parked question from slide 3, and the three contacts that outlive induction. HOW TO RUN IT: recap in two minutes flat — the groups are on the slide; your job is one sentence of 'and you know where that lives now' per group. Then the parked questions: answer what you can on the spot; anything you cannot, assign a named owner and a date in front of the group ('I will find out from Student Services and tell your tutor by Friday'). Publicly owning the unanswered ones is what makes the reflection honest rather than ceremonial. WHAT TO WATCH FOR: questions that are really disclosures ('what happens if you can't afford the bus?') — answer the general question, follow up the individual privately. SAY SOMETHING LIKE: 'Induction ends today. These three contacts don't. If you remember nothing else from eleven sessions, remember who to ask.'</a:t>
            </a:r>
            <a:endParaRPr/>
          </a:p>
        </p:txBody>
      </p:sp>
      <p:sp>
        <p:nvSpPr>
          <p:cNvPr id="225" name="Google Shape;22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writing, 2 minutes collecting. MODE: activity — the constant that ends every induction module. PURPOSE: one specific, written commitment, kept by the tutor. For Module K it doubles as the first real goal record: it feeds directly into the ILP, and students are told so — a card that vanishes teaches that commitments vanish. HOW TO RUN IT: most students should be upgrading option 1 with their strongest draft from the horizons activity — the card is where that draft becomes real. Options 2 and 3 are legitimate choices, not lesser ones. Collect every card; do not read them aloud. OPTION 4 IS THE DISCLOSURE ROUTE: any card carrying option 4 gets a same-day conversation — tutor or you, quietly, before the student goes home if at all possible. Treat it exactly as you would a barrier disclosure: listen calmly, no promises of outcomes, triage between 'hard' and 'wrong' (slide 8's distinction), and route to tutor / HoC / Careers as fits. If the conversation surfaces anything beyond course fit — money, home, wellbeing — do not promise secrecy, do not investigate, report same-day via the ESCG safeguarding route. FOLLOW-UP: cards return in tutorial within two weeks — 'you wrote this; what happened?' The follow-up is what separates a commitment device from a worksheet. SAY SOMETHING LIKE: 'Eleven sessions of induction come down to one card. Make it one you would be glad to be asked about in a fortnight.'</a:t>
            </a:r>
            <a:endParaRPr/>
          </a:p>
        </p:txBody>
      </p:sp>
      <p:sp>
        <p:nvSpPr>
          <p:cNvPr id="259" name="Google Shape;2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Land it and let them go — do not add content after this slide. PURPOSE: close the whole programme, not just the session. The PROUD anchor is Seek Opportunity — named once, deliberately the same value that opened the programme in the attendance module. The bookend is the point: induction opened with seeking opportunity as a habit, and closes with it pointed at a destination. Do not sloganise it; the slide names it and the content has already carried it. HOW TO RUN IT: read the slide, more or less. The three things they leave with (map, evidence, goal) are literally true as of ten minutes ago — that is what gives the close its weight. SAY SOMETHING LIKE: 'Three weeks ago you were given a timetable. Today you gave yourself a goal. That is the direction of travel for the next two years — things stop being given and start being taken. Go take them.'</a:t>
            </a:r>
            <a:endParaRPr/>
          </a:p>
        </p:txBody>
      </p:sp>
      <p:sp>
        <p:nvSpPr>
          <p:cNvPr id="285" name="Google Shape;28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 not for student display. Full procedure detail lives in Module F; this module signposts only.</a:t>
            </a:r>
            <a:endParaRPr/>
          </a:p>
        </p:txBody>
      </p:sp>
      <p:sp>
        <p:nvSpPr>
          <p:cNvPr id="295" name="Google Shape;2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4.png"/><Relationship Id="rId7"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mt="75000"/>
          </a:blip>
          <a:srcRect b="0" l="0" r="0" t="0"/>
          <a:stretch/>
        </p:blipFill>
        <p:spPr>
          <a:xfrm>
            <a:off x="9646920" y="777240"/>
            <a:ext cx="1417320" cy="1417320"/>
          </a:xfrm>
          <a:prstGeom prst="rect">
            <a:avLst/>
          </a:prstGeom>
          <a:noFill/>
          <a:ln>
            <a:noFill/>
          </a:ln>
        </p:spPr>
      </p:pic>
      <p:sp>
        <p:nvSpPr>
          <p:cNvPr id="17" name="Google Shape;17;p3"/>
          <p:cNvSpPr/>
          <p:nvPr/>
        </p:nvSpPr>
        <p:spPr>
          <a:xfrm>
            <a:off x="777240" y="18745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300"/>
              <a:buFont typeface="Poppins SemiBold"/>
              <a:buNone/>
            </a:pPr>
            <a:r>
              <a:rPr b="0" i="0" lang="en-US" sz="1300" u="none" cap="none" strike="noStrike">
                <a:solidFill>
                  <a:srgbClr val="FFCF01"/>
                </a:solidFill>
                <a:latin typeface="Poppins SemiBold"/>
                <a:ea typeface="Poppins SemiBold"/>
                <a:cs typeface="Poppins SemiBold"/>
                <a:sym typeface="Poppins SemiBold"/>
              </a:rPr>
              <a:t>STUDENT INDUCTION 2026–27  ·  MODULE K</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777240" y="2286000"/>
            <a:ext cx="1060704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4000"/>
              <a:buFont typeface="Poppins SemiBold"/>
              <a:buNone/>
            </a:pPr>
            <a:r>
              <a:rPr b="0" i="0" lang="en-US" sz="4000" u="none" cap="none" strike="noStrike">
                <a:solidFill>
                  <a:srgbClr val="FFFFFF"/>
                </a:solidFill>
                <a:latin typeface="Poppins SemiBold"/>
                <a:ea typeface="Poppins SemiBold"/>
                <a:cs typeface="Poppins SemiBold"/>
                <a:sym typeface="Poppins SemiBold"/>
              </a:rPr>
              <a:t>Progression Opportunities</a:t>
            </a:r>
            <a:endParaRPr b="0" i="0" sz="4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000"/>
              <a:buFont typeface="Poppins SemiBold"/>
              <a:buNone/>
            </a:pPr>
            <a:r>
              <a:rPr b="0" i="0" lang="en-US" sz="4000" u="none" cap="none" strike="noStrike">
                <a:solidFill>
                  <a:srgbClr val="FFFFFF"/>
                </a:solidFill>
                <a:latin typeface="Poppins SemiBold"/>
                <a:ea typeface="Poppins SemiBold"/>
                <a:cs typeface="Poppins SemiBold"/>
                <a:sym typeface="Poppins SemiBold"/>
              </a:rPr>
              <a:t>&amp; Setting Goals</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777240" y="42062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Medium"/>
              <a:buNone/>
            </a:pPr>
            <a:r>
              <a:rPr b="0" i="0" lang="en-US" sz="1500" u="none" cap="none" strike="noStrike">
                <a:solidFill>
                  <a:srgbClr val="F6891E"/>
                </a:solidFill>
                <a:latin typeface="Poppins Medium"/>
                <a:ea typeface="Poppins Medium"/>
                <a:cs typeface="Poppins Medium"/>
                <a:sym typeface="Poppins Medium"/>
              </a:rPr>
              <a:t>Group 3 · Employability, Careers &amp; Progression</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777240" y="470916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4C9"/>
              </a:buClr>
              <a:buSzPts val="1250"/>
              <a:buFont typeface="Poppins"/>
              <a:buNone/>
            </a:pPr>
            <a:r>
              <a:rPr b="0" i="1" lang="en-US" sz="1250" u="none" cap="none" strike="noStrike">
                <a:solidFill>
                  <a:srgbClr val="B9C4C9"/>
                </a:solidFill>
                <a:latin typeface="Poppins"/>
                <a:ea typeface="Poppins"/>
                <a:cs typeface="Poppins"/>
                <a:sym typeface="Poppins"/>
              </a:rPr>
              <a:t>The final session of the induction programme. The session where you find out where Level 3 Digital and Media actually takes you — and what you are going to do about it from this term.</a:t>
            </a:r>
            <a:endParaRPr b="0" i="0" sz="1250" u="none" cap="none" strike="noStrike">
              <a:solidFill>
                <a:schemeClr val="dk1"/>
              </a:solidFill>
              <a:latin typeface="Calibri"/>
              <a:ea typeface="Calibri"/>
              <a:cs typeface="Calibri"/>
              <a:sym typeface="Calibri"/>
            </a:endParaRPr>
          </a:p>
        </p:txBody>
      </p:sp>
      <p:sp>
        <p:nvSpPr>
          <p:cNvPr id="21" name="Google Shape;21;p3"/>
          <p:cNvSpPr/>
          <p:nvPr/>
        </p:nvSpPr>
        <p:spPr>
          <a:xfrm>
            <a:off x="777240" y="62636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A0"/>
              </a:buClr>
              <a:buSzPts val="1000"/>
              <a:buFont typeface="Poppins"/>
              <a:buNone/>
            </a:pPr>
            <a:r>
              <a:rPr b="0" i="0" lang="en-US" sz="1000" u="none" cap="none" strike="noStrike">
                <a:solidFill>
                  <a:srgbClr val="8A9AA0"/>
                </a:solidFill>
                <a:latin typeface="Poppins"/>
                <a:ea typeface="Poppins"/>
                <a:cs typeface="Poppins"/>
                <a:sym typeface="Poppins"/>
              </a:rPr>
              <a:t>East Sussex College  ·  Level 3 Year 1 Eastbourne  ·  Lewes  ·  Hastings  ·  Digital, Media, Film and Computing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 name="Shape 26"/>
        <p:cNvGrpSpPr/>
        <p:nvPr/>
      </p:nvGrpSpPr>
      <p:grpSpPr>
        <a:xfrm>
          <a:off x="0" y="0"/>
          <a:ext cx="0" cy="0"/>
          <a:chOff x="0" y="0"/>
          <a:chExt cx="0" cy="0"/>
        </a:xfrm>
      </p:grpSpPr>
      <p:sp>
        <p:nvSpPr>
          <p:cNvPr id="27" name="Google Shape;27;p4"/>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b="0" i="0" lang="en-US" sz="2500" u="none" cap="none" strike="noStrike">
                <a:solidFill>
                  <a:srgbClr val="0D2434"/>
                </a:solidFill>
                <a:latin typeface="Poppins SemiBold"/>
                <a:ea typeface="Poppins SemiBold"/>
                <a:cs typeface="Poppins SemiBold"/>
                <a:sym typeface="Poppins SemiBold"/>
              </a:rPr>
              <a:t>This session</a:t>
            </a:r>
            <a:endParaRPr b="0" i="0" sz="2500" u="none" cap="none" strike="noStrike">
              <a:solidFill>
                <a:schemeClr val="dk1"/>
              </a:solidFill>
              <a:latin typeface="Calibri"/>
              <a:ea typeface="Calibri"/>
              <a:cs typeface="Calibri"/>
              <a:sym typeface="Calibri"/>
            </a:endParaRPr>
          </a:p>
        </p:txBody>
      </p:sp>
      <p:sp>
        <p:nvSpPr>
          <p:cNvPr id="28" name="Google Shape;28;p4"/>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4"/>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SESSION MAP</a:t>
            </a:r>
            <a:endParaRPr sz="1050">
              <a:solidFill>
                <a:schemeClr val="dk1"/>
              </a:solidFill>
              <a:latin typeface="Calibri"/>
              <a:ea typeface="Calibri"/>
              <a:cs typeface="Calibri"/>
              <a:sym typeface="Calibri"/>
            </a:endParaRPr>
          </a:p>
        </p:txBody>
      </p:sp>
      <p:sp>
        <p:nvSpPr>
          <p:cNvPr id="30" name="Google Shape;30;p4"/>
          <p:cNvSpPr/>
          <p:nvPr/>
        </p:nvSpPr>
        <p:spPr>
          <a:xfrm>
            <a:off x="731520" y="1216152"/>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4"/>
          <p:cNvSpPr/>
          <p:nvPr/>
        </p:nvSpPr>
        <p:spPr>
          <a:xfrm>
            <a:off x="731520" y="121615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1</a:t>
            </a:r>
            <a:endParaRPr sz="1400">
              <a:solidFill>
                <a:schemeClr val="dk1"/>
              </a:solidFill>
              <a:latin typeface="Calibri"/>
              <a:ea typeface="Calibri"/>
              <a:cs typeface="Calibri"/>
              <a:sym typeface="Calibri"/>
            </a:endParaRPr>
          </a:p>
        </p:txBody>
      </p:sp>
      <p:sp>
        <p:nvSpPr>
          <p:cNvPr id="32" name="Google Shape;32;p4"/>
          <p:cNvSpPr/>
          <p:nvPr/>
        </p:nvSpPr>
        <p:spPr>
          <a:xfrm>
            <a:off x="1371600" y="117043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Three weeks in — how has it actually gone?</a:t>
            </a:r>
            <a:endParaRPr sz="1450">
              <a:solidFill>
                <a:schemeClr val="dk1"/>
              </a:solidFill>
              <a:latin typeface="Calibri"/>
              <a:ea typeface="Calibri"/>
              <a:cs typeface="Calibri"/>
              <a:sym typeface="Calibri"/>
            </a:endParaRPr>
          </a:p>
        </p:txBody>
      </p:sp>
      <p:sp>
        <p:nvSpPr>
          <p:cNvPr id="33" name="Google Shape;33;p4"/>
          <p:cNvSpPr/>
          <p:nvPr/>
        </p:nvSpPr>
        <p:spPr>
          <a:xfrm>
            <a:off x="9966960" y="1170432"/>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34" name="Google Shape;34;p4"/>
          <p:cNvCxnSpPr/>
          <p:nvPr/>
        </p:nvCxnSpPr>
        <p:spPr>
          <a:xfrm>
            <a:off x="1371600" y="1737360"/>
            <a:ext cx="10241280" cy="0"/>
          </a:xfrm>
          <a:prstGeom prst="straightConnector1">
            <a:avLst/>
          </a:prstGeom>
          <a:noFill/>
          <a:ln cap="flat" cmpd="sng" w="9525">
            <a:solidFill>
              <a:srgbClr val="D2DBDA"/>
            </a:solidFill>
            <a:prstDash val="solid"/>
            <a:round/>
            <a:headEnd len="sm" w="sm" type="none"/>
            <a:tailEnd len="sm" w="sm" type="none"/>
          </a:ln>
        </p:spPr>
      </p:cxnSp>
      <p:sp>
        <p:nvSpPr>
          <p:cNvPr id="35" name="Google Shape;35;p4"/>
          <p:cNvSpPr/>
          <p:nvPr/>
        </p:nvSpPr>
        <p:spPr>
          <a:xfrm>
            <a:off x="731520" y="1865376"/>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4"/>
          <p:cNvSpPr/>
          <p:nvPr/>
        </p:nvSpPr>
        <p:spPr>
          <a:xfrm>
            <a:off x="731520" y="186537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2</a:t>
            </a:r>
            <a:endParaRPr sz="1400">
              <a:solidFill>
                <a:schemeClr val="dk1"/>
              </a:solidFill>
              <a:latin typeface="Calibri"/>
              <a:ea typeface="Calibri"/>
              <a:cs typeface="Calibri"/>
              <a:sym typeface="Calibri"/>
            </a:endParaRPr>
          </a:p>
        </p:txBody>
      </p:sp>
      <p:sp>
        <p:nvSpPr>
          <p:cNvPr id="37" name="Google Shape;37;p4"/>
          <p:cNvSpPr/>
          <p:nvPr/>
        </p:nvSpPr>
        <p:spPr>
          <a:xfrm>
            <a:off x="1371600" y="1819656"/>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The map — where this course leads</a:t>
            </a:r>
            <a:endParaRPr sz="1450">
              <a:solidFill>
                <a:schemeClr val="dk1"/>
              </a:solidFill>
              <a:latin typeface="Calibri"/>
              <a:ea typeface="Calibri"/>
              <a:cs typeface="Calibri"/>
              <a:sym typeface="Calibri"/>
            </a:endParaRPr>
          </a:p>
        </p:txBody>
      </p:sp>
      <p:sp>
        <p:nvSpPr>
          <p:cNvPr id="38" name="Google Shape;38;p4"/>
          <p:cNvSpPr/>
          <p:nvPr/>
        </p:nvSpPr>
        <p:spPr>
          <a:xfrm>
            <a:off x="9966960" y="1819656"/>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15 mins</a:t>
            </a:r>
            <a:endParaRPr sz="1100">
              <a:solidFill>
                <a:schemeClr val="dk1"/>
              </a:solidFill>
              <a:latin typeface="Calibri"/>
              <a:ea typeface="Calibri"/>
              <a:cs typeface="Calibri"/>
              <a:sym typeface="Calibri"/>
            </a:endParaRPr>
          </a:p>
        </p:txBody>
      </p:sp>
      <p:cxnSp>
        <p:nvCxnSpPr>
          <p:cNvPr id="39" name="Google Shape;39;p4"/>
          <p:cNvCxnSpPr/>
          <p:nvPr/>
        </p:nvCxnSpPr>
        <p:spPr>
          <a:xfrm>
            <a:off x="1371600" y="2386584"/>
            <a:ext cx="10241280" cy="0"/>
          </a:xfrm>
          <a:prstGeom prst="straightConnector1">
            <a:avLst/>
          </a:prstGeom>
          <a:noFill/>
          <a:ln cap="flat" cmpd="sng" w="9525">
            <a:solidFill>
              <a:srgbClr val="D2DBDA"/>
            </a:solidFill>
            <a:prstDash val="solid"/>
            <a:round/>
            <a:headEnd len="sm" w="sm" type="none"/>
            <a:tailEnd len="sm" w="sm" type="none"/>
          </a:ln>
        </p:spPr>
      </p:cxnSp>
      <p:sp>
        <p:nvSpPr>
          <p:cNvPr id="40" name="Google Shape;40;p4"/>
          <p:cNvSpPr/>
          <p:nvPr/>
        </p:nvSpPr>
        <p:spPr>
          <a:xfrm>
            <a:off x="731520" y="2514600"/>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4"/>
          <p:cNvSpPr/>
          <p:nvPr/>
        </p:nvSpPr>
        <p:spPr>
          <a:xfrm>
            <a:off x="731520" y="25146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3</a:t>
            </a:r>
            <a:endParaRPr sz="1400">
              <a:solidFill>
                <a:schemeClr val="dk1"/>
              </a:solidFill>
              <a:latin typeface="Calibri"/>
              <a:ea typeface="Calibri"/>
              <a:cs typeface="Calibri"/>
              <a:sym typeface="Calibri"/>
            </a:endParaRPr>
          </a:p>
        </p:txBody>
      </p:sp>
      <p:sp>
        <p:nvSpPr>
          <p:cNvPr id="42" name="Google Shape;42;p4"/>
          <p:cNvSpPr/>
          <p:nvPr/>
        </p:nvSpPr>
        <p:spPr>
          <a:xfrm>
            <a:off x="1371600" y="2468880"/>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Navigate — your evidence, already building</a:t>
            </a:r>
            <a:endParaRPr sz="1450">
              <a:solidFill>
                <a:schemeClr val="dk1"/>
              </a:solidFill>
              <a:latin typeface="Calibri"/>
              <a:ea typeface="Calibri"/>
              <a:cs typeface="Calibri"/>
              <a:sym typeface="Calibri"/>
            </a:endParaRPr>
          </a:p>
        </p:txBody>
      </p:sp>
      <p:sp>
        <p:nvSpPr>
          <p:cNvPr id="43" name="Google Shape;43;p4"/>
          <p:cNvSpPr/>
          <p:nvPr/>
        </p:nvSpPr>
        <p:spPr>
          <a:xfrm>
            <a:off x="9966960" y="2468880"/>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44" name="Google Shape;44;p4"/>
          <p:cNvCxnSpPr/>
          <p:nvPr/>
        </p:nvCxnSpPr>
        <p:spPr>
          <a:xfrm>
            <a:off x="1371600" y="3035808"/>
            <a:ext cx="10241280" cy="0"/>
          </a:xfrm>
          <a:prstGeom prst="straightConnector1">
            <a:avLst/>
          </a:prstGeom>
          <a:noFill/>
          <a:ln cap="flat" cmpd="sng" w="9525">
            <a:solidFill>
              <a:srgbClr val="D2DBDA"/>
            </a:solidFill>
            <a:prstDash val="solid"/>
            <a:round/>
            <a:headEnd len="sm" w="sm" type="none"/>
            <a:tailEnd len="sm" w="sm" type="none"/>
          </a:ln>
        </p:spPr>
      </p:cxnSp>
      <p:sp>
        <p:nvSpPr>
          <p:cNvPr id="45" name="Google Shape;45;p4"/>
          <p:cNvSpPr/>
          <p:nvPr/>
        </p:nvSpPr>
        <p:spPr>
          <a:xfrm>
            <a:off x="731520" y="3163824"/>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731520" y="31638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4</a:t>
            </a:r>
            <a:endParaRPr sz="1400">
              <a:solidFill>
                <a:schemeClr val="dk1"/>
              </a:solidFill>
              <a:latin typeface="Calibri"/>
              <a:ea typeface="Calibri"/>
              <a:cs typeface="Calibri"/>
              <a:sym typeface="Calibri"/>
            </a:endParaRPr>
          </a:p>
        </p:txBody>
      </p:sp>
      <p:sp>
        <p:nvSpPr>
          <p:cNvPr id="47" name="Google Shape;47;p4"/>
          <p:cNvSpPr/>
          <p:nvPr/>
        </p:nvSpPr>
        <p:spPr>
          <a:xfrm>
            <a:off x="1371600" y="3118104"/>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An aspiration is not a goal</a:t>
            </a:r>
            <a:endParaRPr sz="1450">
              <a:solidFill>
                <a:schemeClr val="dk1"/>
              </a:solidFill>
              <a:latin typeface="Calibri"/>
              <a:ea typeface="Calibri"/>
              <a:cs typeface="Calibri"/>
              <a:sym typeface="Calibri"/>
            </a:endParaRPr>
          </a:p>
        </p:txBody>
      </p:sp>
      <p:sp>
        <p:nvSpPr>
          <p:cNvPr id="48" name="Google Shape;48;p4"/>
          <p:cNvSpPr/>
          <p:nvPr/>
        </p:nvSpPr>
        <p:spPr>
          <a:xfrm>
            <a:off x="9966960" y="3118104"/>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49" name="Google Shape;49;p4"/>
          <p:cNvCxnSpPr/>
          <p:nvPr/>
        </p:nvCxnSpPr>
        <p:spPr>
          <a:xfrm>
            <a:off x="1371600" y="3685032"/>
            <a:ext cx="10241280" cy="0"/>
          </a:xfrm>
          <a:prstGeom prst="straightConnector1">
            <a:avLst/>
          </a:prstGeom>
          <a:noFill/>
          <a:ln cap="flat" cmpd="sng" w="9525">
            <a:solidFill>
              <a:srgbClr val="D2DBDA"/>
            </a:solidFill>
            <a:prstDash val="solid"/>
            <a:round/>
            <a:headEnd len="sm" w="sm" type="none"/>
            <a:tailEnd len="sm" w="sm" type="none"/>
          </a:ln>
        </p:spPr>
      </p:cxnSp>
      <p:sp>
        <p:nvSpPr>
          <p:cNvPr id="50" name="Google Shape;50;p4"/>
          <p:cNvSpPr/>
          <p:nvPr/>
        </p:nvSpPr>
        <p:spPr>
          <a:xfrm>
            <a:off x="731520" y="3813048"/>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731520" y="381304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5</a:t>
            </a:r>
            <a:endParaRPr sz="1400">
              <a:solidFill>
                <a:schemeClr val="dk1"/>
              </a:solidFill>
              <a:latin typeface="Calibri"/>
              <a:ea typeface="Calibri"/>
              <a:cs typeface="Calibri"/>
              <a:sym typeface="Calibri"/>
            </a:endParaRPr>
          </a:p>
        </p:txBody>
      </p:sp>
      <p:sp>
        <p:nvSpPr>
          <p:cNvPr id="52" name="Google Shape;52;p4"/>
          <p:cNvSpPr/>
          <p:nvPr/>
        </p:nvSpPr>
        <p:spPr>
          <a:xfrm>
            <a:off x="1371600" y="3767328"/>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Three horizons — drafting goals that work</a:t>
            </a:r>
            <a:endParaRPr sz="1450">
              <a:solidFill>
                <a:schemeClr val="dk1"/>
              </a:solidFill>
              <a:latin typeface="Calibri"/>
              <a:ea typeface="Calibri"/>
              <a:cs typeface="Calibri"/>
              <a:sym typeface="Calibri"/>
            </a:endParaRPr>
          </a:p>
        </p:txBody>
      </p:sp>
      <p:sp>
        <p:nvSpPr>
          <p:cNvPr id="53" name="Google Shape;53;p4"/>
          <p:cNvSpPr/>
          <p:nvPr/>
        </p:nvSpPr>
        <p:spPr>
          <a:xfrm>
            <a:off x="9966960" y="3767328"/>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15 mins</a:t>
            </a:r>
            <a:endParaRPr sz="1100">
              <a:solidFill>
                <a:schemeClr val="dk1"/>
              </a:solidFill>
              <a:latin typeface="Calibri"/>
              <a:ea typeface="Calibri"/>
              <a:cs typeface="Calibri"/>
              <a:sym typeface="Calibri"/>
            </a:endParaRPr>
          </a:p>
        </p:txBody>
      </p:sp>
      <p:cxnSp>
        <p:nvCxnSpPr>
          <p:cNvPr id="54" name="Google Shape;54;p4"/>
          <p:cNvCxnSpPr/>
          <p:nvPr/>
        </p:nvCxnSpPr>
        <p:spPr>
          <a:xfrm>
            <a:off x="1371600" y="4334256"/>
            <a:ext cx="10241280" cy="0"/>
          </a:xfrm>
          <a:prstGeom prst="straightConnector1">
            <a:avLst/>
          </a:prstGeom>
          <a:noFill/>
          <a:ln cap="flat" cmpd="sng" w="9525">
            <a:solidFill>
              <a:srgbClr val="D2DBDA"/>
            </a:solidFill>
            <a:prstDash val="solid"/>
            <a:round/>
            <a:headEnd len="sm" w="sm" type="none"/>
            <a:tailEnd len="sm" w="sm" type="none"/>
          </a:ln>
        </p:spPr>
      </p:cxnSp>
      <p:sp>
        <p:nvSpPr>
          <p:cNvPr id="55" name="Google Shape;55;p4"/>
          <p:cNvSpPr/>
          <p:nvPr/>
        </p:nvSpPr>
        <p:spPr>
          <a:xfrm>
            <a:off x="731520" y="4462272"/>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4"/>
          <p:cNvSpPr/>
          <p:nvPr/>
        </p:nvSpPr>
        <p:spPr>
          <a:xfrm>
            <a:off x="731520" y="446227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6</a:t>
            </a:r>
            <a:endParaRPr sz="1400">
              <a:solidFill>
                <a:schemeClr val="dk1"/>
              </a:solidFill>
              <a:latin typeface="Calibri"/>
              <a:ea typeface="Calibri"/>
              <a:cs typeface="Calibri"/>
              <a:sym typeface="Calibri"/>
            </a:endParaRPr>
          </a:p>
        </p:txBody>
      </p:sp>
      <p:sp>
        <p:nvSpPr>
          <p:cNvPr id="57" name="Google Shape;57;p4"/>
          <p:cNvSpPr/>
          <p:nvPr/>
        </p:nvSpPr>
        <p:spPr>
          <a:xfrm>
            <a:off x="1371600" y="441655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Is this the right course?</a:t>
            </a:r>
            <a:endParaRPr sz="1450">
              <a:solidFill>
                <a:schemeClr val="dk1"/>
              </a:solidFill>
              <a:latin typeface="Calibri"/>
              <a:ea typeface="Calibri"/>
              <a:cs typeface="Calibri"/>
              <a:sym typeface="Calibri"/>
            </a:endParaRPr>
          </a:p>
        </p:txBody>
      </p:sp>
      <p:sp>
        <p:nvSpPr>
          <p:cNvPr id="58" name="Google Shape;58;p4"/>
          <p:cNvSpPr/>
          <p:nvPr/>
        </p:nvSpPr>
        <p:spPr>
          <a:xfrm>
            <a:off x="9966960" y="4416552"/>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59" name="Google Shape;59;p4"/>
          <p:cNvCxnSpPr/>
          <p:nvPr/>
        </p:nvCxnSpPr>
        <p:spPr>
          <a:xfrm>
            <a:off x="1371600" y="4983480"/>
            <a:ext cx="10241280" cy="0"/>
          </a:xfrm>
          <a:prstGeom prst="straightConnector1">
            <a:avLst/>
          </a:prstGeom>
          <a:noFill/>
          <a:ln cap="flat" cmpd="sng" w="9525">
            <a:solidFill>
              <a:srgbClr val="D2DBDA"/>
            </a:solidFill>
            <a:prstDash val="solid"/>
            <a:round/>
            <a:headEnd len="sm" w="sm" type="none"/>
            <a:tailEnd len="sm" w="sm" type="none"/>
          </a:ln>
        </p:spPr>
      </p:cxnSp>
      <p:sp>
        <p:nvSpPr>
          <p:cNvPr id="60" name="Google Shape;60;p4"/>
          <p:cNvSpPr/>
          <p:nvPr/>
        </p:nvSpPr>
        <p:spPr>
          <a:xfrm>
            <a:off x="731520" y="5111496"/>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4"/>
          <p:cNvSpPr/>
          <p:nvPr/>
        </p:nvSpPr>
        <p:spPr>
          <a:xfrm>
            <a:off x="731520" y="511149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7</a:t>
            </a:r>
            <a:endParaRPr sz="1400">
              <a:solidFill>
                <a:schemeClr val="dk1"/>
              </a:solidFill>
              <a:latin typeface="Calibri"/>
              <a:ea typeface="Calibri"/>
              <a:cs typeface="Calibri"/>
              <a:sym typeface="Calibri"/>
            </a:endParaRPr>
          </a:p>
        </p:txBody>
      </p:sp>
      <p:sp>
        <p:nvSpPr>
          <p:cNvPr id="62" name="Google Shape;62;p4"/>
          <p:cNvSpPr/>
          <p:nvPr/>
        </p:nvSpPr>
        <p:spPr>
          <a:xfrm>
            <a:off x="1371600" y="5065776"/>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Closing the loop — your questions, your contacts</a:t>
            </a:r>
            <a:endParaRPr sz="1450">
              <a:solidFill>
                <a:schemeClr val="dk1"/>
              </a:solidFill>
              <a:latin typeface="Calibri"/>
              <a:ea typeface="Calibri"/>
              <a:cs typeface="Calibri"/>
              <a:sym typeface="Calibri"/>
            </a:endParaRPr>
          </a:p>
        </p:txBody>
      </p:sp>
      <p:sp>
        <p:nvSpPr>
          <p:cNvPr id="63" name="Google Shape;63;p4"/>
          <p:cNvSpPr/>
          <p:nvPr/>
        </p:nvSpPr>
        <p:spPr>
          <a:xfrm>
            <a:off x="9966960" y="5065776"/>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64" name="Google Shape;64;p4"/>
          <p:cNvCxnSpPr/>
          <p:nvPr/>
        </p:nvCxnSpPr>
        <p:spPr>
          <a:xfrm>
            <a:off x="1371600" y="5632704"/>
            <a:ext cx="10241280" cy="0"/>
          </a:xfrm>
          <a:prstGeom prst="straightConnector1">
            <a:avLst/>
          </a:prstGeom>
          <a:noFill/>
          <a:ln cap="flat" cmpd="sng" w="9525">
            <a:solidFill>
              <a:srgbClr val="D2DBDA"/>
            </a:solidFill>
            <a:prstDash val="solid"/>
            <a:round/>
            <a:headEnd len="sm" w="sm" type="none"/>
            <a:tailEnd len="sm" w="sm" type="none"/>
          </a:ln>
        </p:spPr>
      </p:cxnSp>
      <p:sp>
        <p:nvSpPr>
          <p:cNvPr id="65" name="Google Shape;65;p4"/>
          <p:cNvSpPr/>
          <p:nvPr/>
        </p:nvSpPr>
        <p:spPr>
          <a:xfrm>
            <a:off x="731520" y="5760720"/>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731520" y="576072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8</a:t>
            </a:r>
            <a:endParaRPr sz="1400">
              <a:solidFill>
                <a:schemeClr val="dk1"/>
              </a:solidFill>
              <a:latin typeface="Calibri"/>
              <a:ea typeface="Calibri"/>
              <a:cs typeface="Calibri"/>
              <a:sym typeface="Calibri"/>
            </a:endParaRPr>
          </a:p>
        </p:txBody>
      </p:sp>
      <p:sp>
        <p:nvSpPr>
          <p:cNvPr id="67" name="Google Shape;67;p4"/>
          <p:cNvSpPr/>
          <p:nvPr/>
        </p:nvSpPr>
        <p:spPr>
          <a:xfrm>
            <a:off x="1371600" y="5715000"/>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One goal, on paper</a:t>
            </a:r>
            <a:endParaRPr sz="1450">
              <a:solidFill>
                <a:schemeClr val="dk1"/>
              </a:solidFill>
              <a:latin typeface="Calibri"/>
              <a:ea typeface="Calibri"/>
              <a:cs typeface="Calibri"/>
              <a:sym typeface="Calibri"/>
            </a:endParaRPr>
          </a:p>
        </p:txBody>
      </p:sp>
      <p:sp>
        <p:nvSpPr>
          <p:cNvPr id="68" name="Google Shape;68;p4"/>
          <p:cNvSpPr/>
          <p:nvPr/>
        </p:nvSpPr>
        <p:spPr>
          <a:xfrm>
            <a:off x="9966960" y="5715000"/>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sp>
        <p:nvSpPr>
          <p:cNvPr id="69" name="Google Shape;69;p4"/>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DIGITAL, MEDIA, FILM AND COMPUTING</a:t>
            </a:r>
            <a:endParaRPr sz="850">
              <a:solidFill>
                <a:schemeClr val="dk1"/>
              </a:solidFill>
              <a:latin typeface="Calibri"/>
              <a:ea typeface="Calibri"/>
              <a:cs typeface="Calibri"/>
              <a:sym typeface="Calibri"/>
            </a:endParaRPr>
          </a:p>
        </p:txBody>
      </p:sp>
      <p:sp>
        <p:nvSpPr>
          <p:cNvPr id="70" name="Google Shape;70;p4"/>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2</a:t>
            </a:r>
            <a:endParaRPr sz="8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75" name="Shape 75"/>
        <p:cNvGrpSpPr/>
        <p:nvPr/>
      </p:nvGrpSpPr>
      <p:grpSpPr>
        <a:xfrm>
          <a:off x="0" y="0"/>
          <a:ext cx="0" cy="0"/>
          <a:chOff x="0" y="0"/>
          <a:chExt cx="0" cy="0"/>
        </a:xfrm>
      </p:grpSpPr>
      <p:sp>
        <p:nvSpPr>
          <p:cNvPr id="76" name="Google Shape;76;p5"/>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Three weeks in</a:t>
            </a:r>
            <a:endParaRPr sz="2500">
              <a:solidFill>
                <a:schemeClr val="dk1"/>
              </a:solidFill>
              <a:latin typeface="Calibri"/>
              <a:ea typeface="Calibri"/>
              <a:cs typeface="Calibri"/>
              <a:sym typeface="Calibri"/>
            </a:endParaRPr>
          </a:p>
        </p:txBody>
      </p:sp>
      <p:sp>
        <p:nvSpPr>
          <p:cNvPr id="77" name="Google Shape;77;p5"/>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DISCUSSION</a:t>
            </a:r>
            <a:endParaRPr sz="1050">
              <a:solidFill>
                <a:schemeClr val="dk1"/>
              </a:solidFill>
              <a:latin typeface="Calibri"/>
              <a:ea typeface="Calibri"/>
              <a:cs typeface="Calibri"/>
              <a:sym typeface="Calibri"/>
            </a:endParaRPr>
          </a:p>
        </p:txBody>
      </p:sp>
      <p:sp>
        <p:nvSpPr>
          <p:cNvPr id="79" name="Google Shape;79;p5"/>
          <p:cNvSpPr/>
          <p:nvPr/>
        </p:nvSpPr>
        <p:spPr>
          <a:xfrm>
            <a:off x="502920" y="859515"/>
            <a:ext cx="740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In pairs, then fours. Ten minutes. Honest answers — this is the last time induction asks.</a:t>
            </a:r>
            <a:endParaRPr sz="1300">
              <a:solidFill>
                <a:schemeClr val="dk1"/>
              </a:solidFill>
              <a:latin typeface="Calibri"/>
              <a:ea typeface="Calibri"/>
              <a:cs typeface="Calibri"/>
              <a:sym typeface="Calibri"/>
            </a:endParaRPr>
          </a:p>
        </p:txBody>
      </p:sp>
      <p:sp>
        <p:nvSpPr>
          <p:cNvPr id="80" name="Google Shape;80;p5"/>
          <p:cNvSpPr/>
          <p:nvPr/>
        </p:nvSpPr>
        <p:spPr>
          <a:xfrm>
            <a:off x="205025" y="1450875"/>
            <a:ext cx="8142900" cy="14409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p:nvPr/>
        </p:nvSpPr>
        <p:spPr>
          <a:xfrm>
            <a:off x="556879" y="1585997"/>
            <a:ext cx="7539600" cy="117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What has been different from what you expected at enrolment? Has the pace of the project brief, the professional software learning curve, or the gap between watching media and making it matched what you expected — or has that surprised you?</a:t>
            </a:r>
            <a:endParaRPr sz="1550">
              <a:solidFill>
                <a:schemeClr val="dk1"/>
              </a:solidFill>
              <a:latin typeface="Calibri"/>
              <a:ea typeface="Calibri"/>
              <a:cs typeface="Calibri"/>
              <a:sym typeface="Calibri"/>
            </a:endParaRPr>
          </a:p>
        </p:txBody>
      </p:sp>
      <p:sp>
        <p:nvSpPr>
          <p:cNvPr id="82" name="Google Shape;82;p5"/>
          <p:cNvSpPr/>
          <p:nvPr/>
        </p:nvSpPr>
        <p:spPr>
          <a:xfrm>
            <a:off x="205025" y="3162426"/>
            <a:ext cx="8142900" cy="14409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5"/>
          <p:cNvSpPr/>
          <p:nvPr/>
        </p:nvSpPr>
        <p:spPr>
          <a:xfrm>
            <a:off x="556879" y="3297549"/>
            <a:ext cx="7539600" cy="117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What do you know now that you didn’t three weeks ago? What do you now understand about what professional digital and media work actually involves — compared to what you pictured at enrolment? Has the gap between being a consumer and becoming a creator been wider or narrower than you expected?</a:t>
            </a:r>
            <a:endParaRPr sz="1550">
              <a:solidFill>
                <a:schemeClr val="dk1"/>
              </a:solidFill>
              <a:latin typeface="Calibri"/>
              <a:ea typeface="Calibri"/>
              <a:cs typeface="Calibri"/>
              <a:sym typeface="Calibri"/>
            </a:endParaRPr>
          </a:p>
        </p:txBody>
      </p:sp>
      <p:sp>
        <p:nvSpPr>
          <p:cNvPr id="84" name="Google Shape;84;p5"/>
          <p:cNvSpPr/>
          <p:nvPr/>
        </p:nvSpPr>
        <p:spPr>
          <a:xfrm>
            <a:off x="205025" y="4873978"/>
            <a:ext cx="8142900" cy="14409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556879" y="5009100"/>
            <a:ext cx="7539600" cy="117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What question do you still have that nobody has answered? For T Level students: questions about what the industry placement involves and when it happens. For UAL diploma students: what Distinction-level work looks like in marked assignments and Final Major Projects. For A Level students: how the NEA or coursework component is structured and what the written examinations cover.</a:t>
            </a:r>
            <a:endParaRPr sz="1550">
              <a:solidFill>
                <a:schemeClr val="dk1"/>
              </a:solidFill>
              <a:latin typeface="Calibri"/>
              <a:ea typeface="Calibri"/>
              <a:cs typeface="Calibri"/>
              <a:sym typeface="Calibri"/>
            </a:endParaRPr>
          </a:p>
        </p:txBody>
      </p:sp>
      <p:sp>
        <p:nvSpPr>
          <p:cNvPr id="86" name="Google Shape;86;p5"/>
          <p:cNvSpPr/>
          <p:nvPr/>
        </p:nvSpPr>
        <p:spPr>
          <a:xfrm>
            <a:off x="8595345" y="1600213"/>
            <a:ext cx="3383400" cy="3950100"/>
          </a:xfrm>
          <a:prstGeom prst="rect">
            <a:avLst/>
          </a:prstGeom>
          <a:solidFill>
            <a:srgbClr val="FDEFDD"/>
          </a:solidFill>
          <a:ln cap="flat" cmpd="sng" w="12700">
            <a:solidFill>
              <a:srgbClr val="F689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7" name="Google Shape;87;p5"/>
          <p:cNvPicPr preferRelativeResize="0"/>
          <p:nvPr/>
        </p:nvPicPr>
        <p:blipFill rotWithShape="1">
          <a:blip r:embed="rId3">
            <a:alphaModFix/>
          </a:blip>
          <a:srcRect b="0" l="0" r="0" t="0"/>
          <a:stretch/>
        </p:blipFill>
        <p:spPr>
          <a:xfrm>
            <a:off x="8595360" y="1920240"/>
            <a:ext cx="502920" cy="502920"/>
          </a:xfrm>
          <a:prstGeom prst="rect">
            <a:avLst/>
          </a:prstGeom>
          <a:noFill/>
          <a:ln>
            <a:noFill/>
          </a:ln>
        </p:spPr>
      </p:pic>
      <p:sp>
        <p:nvSpPr>
          <p:cNvPr id="88" name="Google Shape;88;p5"/>
          <p:cNvSpPr/>
          <p:nvPr/>
        </p:nvSpPr>
        <p:spPr>
          <a:xfrm>
            <a:off x="8915385" y="2606053"/>
            <a:ext cx="2743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50"/>
              <a:buFont typeface="Poppins SemiBold"/>
              <a:buNone/>
            </a:pPr>
            <a:r>
              <a:rPr lang="en-US" sz="1450">
                <a:solidFill>
                  <a:srgbClr val="0D2434"/>
                </a:solidFill>
                <a:latin typeface="Poppins SemiBold"/>
                <a:ea typeface="Poppins SemiBold"/>
                <a:cs typeface="Poppins SemiBold"/>
                <a:sym typeface="Poppins SemiBold"/>
              </a:rPr>
              <a:t>Park the third one</a:t>
            </a:r>
            <a:endParaRPr sz="1450">
              <a:solidFill>
                <a:schemeClr val="dk1"/>
              </a:solidFill>
              <a:latin typeface="Calibri"/>
              <a:ea typeface="Calibri"/>
              <a:cs typeface="Calibri"/>
              <a:sym typeface="Calibri"/>
            </a:endParaRPr>
          </a:p>
        </p:txBody>
      </p:sp>
      <p:sp>
        <p:nvSpPr>
          <p:cNvPr id="89" name="Google Shape;89;p5"/>
          <p:cNvSpPr/>
          <p:nvPr/>
        </p:nvSpPr>
        <p:spPr>
          <a:xfrm>
            <a:off x="8915385" y="3017532"/>
            <a:ext cx="2743200" cy="2286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Unanswered questions go on the board. We come back to every one of them before the end of this session — answered, or given an owner.</a:t>
            </a:r>
            <a:endParaRPr sz="1200">
              <a:solidFill>
                <a:schemeClr val="dk1"/>
              </a:solidFill>
              <a:latin typeface="Calibri"/>
              <a:ea typeface="Calibri"/>
              <a:cs typeface="Calibri"/>
              <a:sym typeface="Calibri"/>
            </a:endParaRPr>
          </a:p>
        </p:txBody>
      </p:sp>
      <p:sp>
        <p:nvSpPr>
          <p:cNvPr id="90" name="Google Shape;90;p5"/>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91" name="Google Shape;91;p5"/>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3</a:t>
            </a:r>
            <a:endParaRPr sz="8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96" name="Shape 96"/>
        <p:cNvGrpSpPr/>
        <p:nvPr/>
      </p:nvGrpSpPr>
      <p:grpSpPr>
        <a:xfrm>
          <a:off x="0" y="0"/>
          <a:ext cx="0" cy="0"/>
          <a:chOff x="0" y="0"/>
          <a:chExt cx="0" cy="0"/>
        </a:xfrm>
      </p:grpSpPr>
      <p:sp>
        <p:nvSpPr>
          <p:cNvPr id="97" name="Google Shape;97;p6"/>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Where a Level 3 course actually leads</a:t>
            </a:r>
            <a:endParaRPr sz="2500">
              <a:solidFill>
                <a:schemeClr val="dk1"/>
              </a:solidFill>
              <a:latin typeface="Calibri"/>
              <a:ea typeface="Calibri"/>
              <a:cs typeface="Calibri"/>
              <a:sym typeface="Calibri"/>
            </a:endParaRPr>
          </a:p>
        </p:txBody>
      </p:sp>
      <p:sp>
        <p:nvSpPr>
          <p:cNvPr id="98" name="Google Shape;98;p6"/>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100" name="Google Shape;100;p6"/>
          <p:cNvSpPr/>
          <p:nvPr/>
        </p:nvSpPr>
        <p:spPr>
          <a:xfrm>
            <a:off x="233900" y="850400"/>
            <a:ext cx="3826200" cy="2161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503075" y="1110560"/>
            <a:ext cx="596100" cy="62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2" name="Google Shape;102;p6"/>
          <p:cNvPicPr preferRelativeResize="0"/>
          <p:nvPr/>
        </p:nvPicPr>
        <p:blipFill rotWithShape="1">
          <a:blip r:embed="rId3">
            <a:alphaModFix/>
          </a:blip>
          <a:srcRect b="0" l="0" r="0" t="0"/>
          <a:stretch/>
        </p:blipFill>
        <p:spPr>
          <a:xfrm>
            <a:off x="647275" y="1260653"/>
            <a:ext cx="307629" cy="320198"/>
          </a:xfrm>
          <a:prstGeom prst="rect">
            <a:avLst/>
          </a:prstGeom>
          <a:noFill/>
          <a:ln>
            <a:noFill/>
          </a:ln>
        </p:spPr>
      </p:pic>
      <p:sp>
        <p:nvSpPr>
          <p:cNvPr id="103" name="Google Shape;103;p6"/>
          <p:cNvSpPr/>
          <p:nvPr/>
        </p:nvSpPr>
        <p:spPr>
          <a:xfrm>
            <a:off x="1243305" y="1070536"/>
            <a:ext cx="2576400" cy="7206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University &amp; higher education</a:t>
            </a:r>
            <a:endParaRPr sz="1400">
              <a:solidFill>
                <a:schemeClr val="dk1"/>
              </a:solidFill>
              <a:latin typeface="Calibri"/>
              <a:ea typeface="Calibri"/>
              <a:cs typeface="Calibri"/>
              <a:sym typeface="Calibri"/>
            </a:endParaRPr>
          </a:p>
        </p:txBody>
      </p:sp>
      <p:sp>
        <p:nvSpPr>
          <p:cNvPr id="104" name="Google Shape;104;p6"/>
          <p:cNvSpPr/>
          <p:nvPr/>
        </p:nvSpPr>
        <p:spPr>
          <a:xfrm>
            <a:off x="503075" y="1871028"/>
            <a:ext cx="3288000" cy="1000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Degree and higher national study — full-time, local or away. Level 3 is the standard entry route. BA Media Production, BSc Computing, BA Animation, BA Graphic Design, BA Photography, BSc Cybersecurity — at UCH Hastings, UAL, Falmouth, or universities elsewhere. </a:t>
            </a:r>
            <a:endParaRPr sz="1150">
              <a:solidFill>
                <a:schemeClr val="dk1"/>
              </a:solidFill>
              <a:latin typeface="Calibri"/>
              <a:ea typeface="Calibri"/>
              <a:cs typeface="Calibri"/>
              <a:sym typeface="Calibri"/>
            </a:endParaRPr>
          </a:p>
        </p:txBody>
      </p:sp>
      <p:sp>
        <p:nvSpPr>
          <p:cNvPr id="105" name="Google Shape;105;p6"/>
          <p:cNvSpPr/>
          <p:nvPr/>
        </p:nvSpPr>
        <p:spPr>
          <a:xfrm>
            <a:off x="4204225" y="850400"/>
            <a:ext cx="3826200" cy="2161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4473400" y="1110560"/>
            <a:ext cx="596100" cy="62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7" name="Google Shape;107;p6"/>
          <p:cNvPicPr preferRelativeResize="0"/>
          <p:nvPr/>
        </p:nvPicPr>
        <p:blipFill rotWithShape="1">
          <a:blip r:embed="rId4">
            <a:alphaModFix/>
          </a:blip>
          <a:srcRect b="0" l="0" r="0" t="0"/>
          <a:stretch/>
        </p:blipFill>
        <p:spPr>
          <a:xfrm>
            <a:off x="4617601" y="1260653"/>
            <a:ext cx="307629" cy="320198"/>
          </a:xfrm>
          <a:prstGeom prst="rect">
            <a:avLst/>
          </a:prstGeom>
          <a:noFill/>
          <a:ln>
            <a:noFill/>
          </a:ln>
        </p:spPr>
      </p:pic>
      <p:sp>
        <p:nvSpPr>
          <p:cNvPr id="108" name="Google Shape;108;p6"/>
          <p:cNvSpPr/>
          <p:nvPr/>
        </p:nvSpPr>
        <p:spPr>
          <a:xfrm>
            <a:off x="5213630" y="1070536"/>
            <a:ext cx="2576400" cy="7206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Degree apprenticeships</a:t>
            </a:r>
            <a:endParaRPr sz="1400">
              <a:solidFill>
                <a:schemeClr val="dk1"/>
              </a:solidFill>
              <a:latin typeface="Calibri"/>
              <a:ea typeface="Calibri"/>
              <a:cs typeface="Calibri"/>
              <a:sym typeface="Calibri"/>
            </a:endParaRPr>
          </a:p>
        </p:txBody>
      </p:sp>
      <p:sp>
        <p:nvSpPr>
          <p:cNvPr id="109" name="Google Shape;109;p6"/>
          <p:cNvSpPr/>
          <p:nvPr/>
        </p:nvSpPr>
        <p:spPr>
          <a:xfrm>
            <a:off x="4473400" y="1871028"/>
            <a:ext cx="3288000" cy="1000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A full degree, no fees, a salary while you study. Highly competitive — preparation starts early. Level 5 and Level 6 Higher Apprenticeships in Digital and Technology Solutions, Software Development or Cybersecurity.</a:t>
            </a:r>
            <a:endParaRPr sz="1150">
              <a:solidFill>
                <a:schemeClr val="dk1"/>
              </a:solidFill>
              <a:latin typeface="Calibri"/>
              <a:ea typeface="Calibri"/>
              <a:cs typeface="Calibri"/>
              <a:sym typeface="Calibri"/>
            </a:endParaRPr>
          </a:p>
        </p:txBody>
      </p:sp>
      <p:sp>
        <p:nvSpPr>
          <p:cNvPr id="110" name="Google Shape;110;p6"/>
          <p:cNvSpPr/>
          <p:nvPr/>
        </p:nvSpPr>
        <p:spPr>
          <a:xfrm>
            <a:off x="8174551" y="850400"/>
            <a:ext cx="3826200" cy="2161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6"/>
          <p:cNvSpPr/>
          <p:nvPr/>
        </p:nvSpPr>
        <p:spPr>
          <a:xfrm>
            <a:off x="8443726" y="1110560"/>
            <a:ext cx="596100" cy="62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2" name="Google Shape;112;p6"/>
          <p:cNvPicPr preferRelativeResize="0"/>
          <p:nvPr/>
        </p:nvPicPr>
        <p:blipFill rotWithShape="1">
          <a:blip r:embed="rId5">
            <a:alphaModFix/>
          </a:blip>
          <a:srcRect b="0" l="0" r="0" t="0"/>
          <a:stretch/>
        </p:blipFill>
        <p:spPr>
          <a:xfrm>
            <a:off x="8587926" y="1260653"/>
            <a:ext cx="307629" cy="320198"/>
          </a:xfrm>
          <a:prstGeom prst="rect">
            <a:avLst/>
          </a:prstGeom>
          <a:noFill/>
          <a:ln>
            <a:noFill/>
          </a:ln>
        </p:spPr>
      </p:pic>
      <p:sp>
        <p:nvSpPr>
          <p:cNvPr id="113" name="Google Shape;113;p6"/>
          <p:cNvSpPr/>
          <p:nvPr/>
        </p:nvSpPr>
        <p:spPr>
          <a:xfrm>
            <a:off x="9183956" y="1070536"/>
            <a:ext cx="2576400" cy="7206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Apprenticeships</a:t>
            </a:r>
            <a:endParaRPr sz="1400">
              <a:solidFill>
                <a:schemeClr val="dk1"/>
              </a:solidFill>
              <a:latin typeface="Calibri"/>
              <a:ea typeface="Calibri"/>
              <a:cs typeface="Calibri"/>
              <a:sym typeface="Calibri"/>
            </a:endParaRPr>
          </a:p>
        </p:txBody>
      </p:sp>
      <p:sp>
        <p:nvSpPr>
          <p:cNvPr id="114" name="Google Shape;114;p6"/>
          <p:cNvSpPr/>
          <p:nvPr/>
        </p:nvSpPr>
        <p:spPr>
          <a:xfrm>
            <a:off x="8443726" y="1871028"/>
            <a:ext cx="3288000" cy="1000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Advanced and higher apprenticeships: employed, trained and qualified inside an industry. Digital Content Creator Apprenticeship  ·  SOC Analyst  ·  Digital Support Technician  ·  Film and TV Production Technician  ·  Junior Software Developer</a:t>
            </a:r>
            <a:endParaRPr sz="1150">
              <a:solidFill>
                <a:schemeClr val="dk1"/>
              </a:solidFill>
              <a:latin typeface="Calibri"/>
              <a:ea typeface="Calibri"/>
              <a:cs typeface="Calibri"/>
              <a:sym typeface="Calibri"/>
            </a:endParaRPr>
          </a:p>
        </p:txBody>
      </p:sp>
      <p:sp>
        <p:nvSpPr>
          <p:cNvPr id="115" name="Google Shape;115;p6"/>
          <p:cNvSpPr/>
          <p:nvPr/>
        </p:nvSpPr>
        <p:spPr>
          <a:xfrm>
            <a:off x="2204643" y="3211854"/>
            <a:ext cx="3826200" cy="2161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6"/>
          <p:cNvSpPr/>
          <p:nvPr/>
        </p:nvSpPr>
        <p:spPr>
          <a:xfrm>
            <a:off x="2473817" y="3472014"/>
            <a:ext cx="596100" cy="62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7" name="Google Shape;117;p6"/>
          <p:cNvPicPr preferRelativeResize="0"/>
          <p:nvPr/>
        </p:nvPicPr>
        <p:blipFill rotWithShape="1">
          <a:blip r:embed="rId6">
            <a:alphaModFix/>
          </a:blip>
          <a:srcRect b="0" l="0" r="0" t="0"/>
          <a:stretch/>
        </p:blipFill>
        <p:spPr>
          <a:xfrm>
            <a:off x="2618018" y="3622107"/>
            <a:ext cx="307629" cy="320198"/>
          </a:xfrm>
          <a:prstGeom prst="rect">
            <a:avLst/>
          </a:prstGeom>
          <a:noFill/>
          <a:ln>
            <a:noFill/>
          </a:ln>
        </p:spPr>
      </p:pic>
      <p:sp>
        <p:nvSpPr>
          <p:cNvPr id="118" name="Google Shape;118;p6"/>
          <p:cNvSpPr/>
          <p:nvPr/>
        </p:nvSpPr>
        <p:spPr>
          <a:xfrm>
            <a:off x="3214047" y="3431990"/>
            <a:ext cx="2576400" cy="7206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Skilled employment</a:t>
            </a:r>
            <a:endParaRPr sz="1400">
              <a:solidFill>
                <a:schemeClr val="dk1"/>
              </a:solidFill>
              <a:latin typeface="Calibri"/>
              <a:ea typeface="Calibri"/>
              <a:cs typeface="Calibri"/>
              <a:sym typeface="Calibri"/>
            </a:endParaRPr>
          </a:p>
        </p:txBody>
      </p:sp>
      <p:sp>
        <p:nvSpPr>
          <p:cNvPr id="119" name="Google Shape;119;p6"/>
          <p:cNvSpPr/>
          <p:nvPr/>
        </p:nvSpPr>
        <p:spPr>
          <a:xfrm>
            <a:off x="2473817" y="4232482"/>
            <a:ext cx="3288000" cy="1000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Straight into work, with a recognised qualification and a body of evidence behind you. Junior content producer, social media coordinator, digital video editor, graphic designer, IT support analyst, cybersecurity junior technician, games QA tester.</a:t>
            </a:r>
            <a:endParaRPr sz="1150">
              <a:solidFill>
                <a:schemeClr val="dk1"/>
              </a:solidFill>
              <a:latin typeface="Calibri"/>
              <a:ea typeface="Calibri"/>
              <a:cs typeface="Calibri"/>
              <a:sym typeface="Calibri"/>
            </a:endParaRPr>
          </a:p>
        </p:txBody>
      </p:sp>
      <p:sp>
        <p:nvSpPr>
          <p:cNvPr id="120" name="Google Shape;120;p6"/>
          <p:cNvSpPr/>
          <p:nvPr/>
        </p:nvSpPr>
        <p:spPr>
          <a:xfrm>
            <a:off x="6174968" y="3211854"/>
            <a:ext cx="3826200" cy="2161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6444143" y="3472014"/>
            <a:ext cx="596100" cy="62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2" name="Google Shape;122;p6"/>
          <p:cNvPicPr preferRelativeResize="0"/>
          <p:nvPr/>
        </p:nvPicPr>
        <p:blipFill rotWithShape="1">
          <a:blip r:embed="rId7">
            <a:alphaModFix/>
          </a:blip>
          <a:srcRect b="0" l="0" r="0" t="0"/>
          <a:stretch/>
        </p:blipFill>
        <p:spPr>
          <a:xfrm>
            <a:off x="6588343" y="3622107"/>
            <a:ext cx="307629" cy="320198"/>
          </a:xfrm>
          <a:prstGeom prst="rect">
            <a:avLst/>
          </a:prstGeom>
          <a:noFill/>
          <a:ln>
            <a:noFill/>
          </a:ln>
        </p:spPr>
      </p:pic>
      <p:sp>
        <p:nvSpPr>
          <p:cNvPr id="123" name="Google Shape;123;p6"/>
          <p:cNvSpPr/>
          <p:nvPr/>
        </p:nvSpPr>
        <p:spPr>
          <a:xfrm>
            <a:off x="7184373" y="3431990"/>
            <a:ext cx="2576400" cy="7206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Further study</a:t>
            </a:r>
            <a:endParaRPr sz="1400">
              <a:solidFill>
                <a:schemeClr val="dk1"/>
              </a:solidFill>
              <a:latin typeface="Calibri"/>
              <a:ea typeface="Calibri"/>
              <a:cs typeface="Calibri"/>
              <a:sym typeface="Calibri"/>
            </a:endParaRPr>
          </a:p>
        </p:txBody>
      </p:sp>
      <p:sp>
        <p:nvSpPr>
          <p:cNvPr id="124" name="Google Shape;124;p6"/>
          <p:cNvSpPr/>
          <p:nvPr/>
        </p:nvSpPr>
        <p:spPr>
          <a:xfrm>
            <a:off x="6444143" y="4232482"/>
            <a:ext cx="3288000" cy="1000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Higher education at ESCG, specialist courses and professional qualifications — here or elsewhere. HNC/HND Digital Media at ESCG  ·  Foundation Art and Design  ·  Digital Media Design Foundation Degree  ·  Access to Computing or Creative Arts programmes</a:t>
            </a:r>
            <a:endParaRPr sz="1150">
              <a:solidFill>
                <a:schemeClr val="dk1"/>
              </a:solidFill>
              <a:latin typeface="Calibri"/>
              <a:ea typeface="Calibri"/>
              <a:cs typeface="Calibri"/>
              <a:sym typeface="Calibri"/>
            </a:endParaRPr>
          </a:p>
        </p:txBody>
      </p:sp>
      <p:sp>
        <p:nvSpPr>
          <p:cNvPr id="125" name="Google Shape;125;p6"/>
          <p:cNvSpPr/>
          <p:nvPr/>
        </p:nvSpPr>
        <p:spPr>
          <a:xfrm>
            <a:off x="75075" y="5532125"/>
            <a:ext cx="11766900" cy="91440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6"/>
          <p:cNvSpPr/>
          <p:nvPr/>
        </p:nvSpPr>
        <p:spPr>
          <a:xfrm>
            <a:off x="363476" y="5532125"/>
            <a:ext cx="1124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All five are real routes from this course. The most common route is not automatically your route. the assumption that university is the only serious destination from Level 3 Digital and Media — degree apprenticeships, direct employment in creative and digital industries, and Higher Apprenticeships are equally competitive routes that this qualification opens</a:t>
            </a:r>
            <a:endParaRPr sz="1400">
              <a:solidFill>
                <a:schemeClr val="dk1"/>
              </a:solidFill>
              <a:latin typeface="Calibri"/>
              <a:ea typeface="Calibri"/>
              <a:cs typeface="Calibri"/>
              <a:sym typeface="Calibri"/>
            </a:endParaRPr>
          </a:p>
        </p:txBody>
      </p:sp>
      <p:sp>
        <p:nvSpPr>
          <p:cNvPr id="127" name="Google Shape;127;p6"/>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128" name="Google Shape;128;p6"/>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4</a:t>
            </a:r>
            <a:endParaRPr sz="8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3" name="Shape 133"/>
        <p:cNvGrpSpPr/>
        <p:nvPr/>
      </p:nvGrpSpPr>
      <p:grpSpPr>
        <a:xfrm>
          <a:off x="0" y="0"/>
          <a:ext cx="0" cy="0"/>
          <a:chOff x="0" y="0"/>
          <a:chExt cx="0" cy="0"/>
        </a:xfrm>
      </p:grpSpPr>
      <p:sp>
        <p:nvSpPr>
          <p:cNvPr id="134" name="Google Shape;134;p7"/>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Your evidence is already building</a:t>
            </a:r>
            <a:endParaRPr sz="2500">
              <a:solidFill>
                <a:schemeClr val="dk1"/>
              </a:solidFill>
              <a:latin typeface="Calibri"/>
              <a:ea typeface="Calibri"/>
              <a:cs typeface="Calibri"/>
              <a:sym typeface="Calibri"/>
            </a:endParaRPr>
          </a:p>
        </p:txBody>
      </p:sp>
      <p:sp>
        <p:nvSpPr>
          <p:cNvPr id="135" name="Google Shape;135;p7"/>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7"/>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137" name="Google Shape;137;p7"/>
          <p:cNvSpPr/>
          <p:nvPr/>
        </p:nvSpPr>
        <p:spPr>
          <a:xfrm>
            <a:off x="502920" y="987552"/>
            <a:ext cx="10515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You set Navigate up in the Careers session. This is why it matters for every route on the map.</a:t>
            </a:r>
            <a:endParaRPr sz="1300">
              <a:solidFill>
                <a:schemeClr val="dk1"/>
              </a:solidFill>
              <a:latin typeface="Calibri"/>
              <a:ea typeface="Calibri"/>
              <a:cs typeface="Calibri"/>
              <a:sym typeface="Calibri"/>
            </a:endParaRPr>
          </a:p>
        </p:txBody>
      </p:sp>
      <p:sp>
        <p:nvSpPr>
          <p:cNvPr id="138" name="Google Shape;138;p7"/>
          <p:cNvSpPr/>
          <p:nvPr/>
        </p:nvSpPr>
        <p:spPr>
          <a:xfrm>
            <a:off x="502925" y="1536202"/>
            <a:ext cx="3639300" cy="33420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9" name="Google Shape;139;p7"/>
          <p:cNvPicPr preferRelativeResize="0"/>
          <p:nvPr/>
        </p:nvPicPr>
        <p:blipFill rotWithShape="1">
          <a:blip r:embed="rId3">
            <a:alphaModFix/>
          </a:blip>
          <a:srcRect b="0" l="0" r="0" t="0"/>
          <a:stretch/>
        </p:blipFill>
        <p:spPr>
          <a:xfrm>
            <a:off x="777245" y="1870413"/>
            <a:ext cx="502920" cy="612721"/>
          </a:xfrm>
          <a:prstGeom prst="rect">
            <a:avLst/>
          </a:prstGeom>
          <a:noFill/>
          <a:ln>
            <a:noFill/>
          </a:ln>
        </p:spPr>
      </p:pic>
      <p:sp>
        <p:nvSpPr>
          <p:cNvPr id="140" name="Google Shape;140;p7"/>
          <p:cNvSpPr/>
          <p:nvPr/>
        </p:nvSpPr>
        <p:spPr>
          <a:xfrm>
            <a:off x="777245" y="2650239"/>
            <a:ext cx="3090600" cy="46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My Digital CV</a:t>
            </a:r>
            <a:endParaRPr sz="1500">
              <a:solidFill>
                <a:schemeClr val="dk1"/>
              </a:solidFill>
              <a:latin typeface="Calibri"/>
              <a:ea typeface="Calibri"/>
              <a:cs typeface="Calibri"/>
              <a:sym typeface="Calibri"/>
            </a:endParaRPr>
          </a:p>
        </p:txBody>
      </p:sp>
      <p:sp>
        <p:nvSpPr>
          <p:cNvPr id="141" name="Google Shape;141;p7"/>
          <p:cNvSpPr/>
          <p:nvPr/>
        </p:nvSpPr>
        <p:spPr>
          <a:xfrm>
            <a:off x="777245" y="3151556"/>
            <a:ext cx="3090600" cy="1615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Update it every time you gain a skill, finish a project or complete experience. A CV built over two years beats one written in a panic the night before an application.</a:t>
            </a:r>
            <a:endParaRPr sz="1150">
              <a:solidFill>
                <a:schemeClr val="dk1"/>
              </a:solidFill>
              <a:latin typeface="Calibri"/>
              <a:ea typeface="Calibri"/>
              <a:cs typeface="Calibri"/>
              <a:sym typeface="Calibri"/>
            </a:endParaRPr>
          </a:p>
        </p:txBody>
      </p:sp>
      <p:sp>
        <p:nvSpPr>
          <p:cNvPr id="142" name="Google Shape;142;p7"/>
          <p:cNvSpPr/>
          <p:nvPr/>
        </p:nvSpPr>
        <p:spPr>
          <a:xfrm>
            <a:off x="4279395" y="1536202"/>
            <a:ext cx="3639300" cy="33420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3" name="Google Shape;143;p7"/>
          <p:cNvPicPr preferRelativeResize="0"/>
          <p:nvPr/>
        </p:nvPicPr>
        <p:blipFill rotWithShape="1">
          <a:blip r:embed="rId4">
            <a:alphaModFix/>
          </a:blip>
          <a:srcRect b="0" l="0" r="0" t="0"/>
          <a:stretch/>
        </p:blipFill>
        <p:spPr>
          <a:xfrm>
            <a:off x="4553715" y="1870413"/>
            <a:ext cx="502920" cy="612721"/>
          </a:xfrm>
          <a:prstGeom prst="rect">
            <a:avLst/>
          </a:prstGeom>
          <a:noFill/>
          <a:ln>
            <a:noFill/>
          </a:ln>
        </p:spPr>
      </p:pic>
      <p:sp>
        <p:nvSpPr>
          <p:cNvPr id="144" name="Google Shape;144;p7"/>
          <p:cNvSpPr/>
          <p:nvPr/>
        </p:nvSpPr>
        <p:spPr>
          <a:xfrm>
            <a:off x="5056615" y="2027564"/>
            <a:ext cx="3090600" cy="46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Skills Assessment</a:t>
            </a:r>
            <a:endParaRPr sz="1500">
              <a:solidFill>
                <a:schemeClr val="dk1"/>
              </a:solidFill>
              <a:latin typeface="Calibri"/>
              <a:ea typeface="Calibri"/>
              <a:cs typeface="Calibri"/>
              <a:sym typeface="Calibri"/>
            </a:endParaRPr>
          </a:p>
        </p:txBody>
      </p:sp>
      <p:sp>
        <p:nvSpPr>
          <p:cNvPr id="145" name="Google Shape;145;p7"/>
          <p:cNvSpPr/>
          <p:nvPr/>
        </p:nvSpPr>
        <p:spPr>
          <a:xfrm>
            <a:off x="4553725" y="2807999"/>
            <a:ext cx="3090600" cy="1959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Your results point at what to develop next. They feed your tutorial targets — and the goals you’ll write in about twenty minutes. software proficiency, portfolio quality, research and critical thinking skills for your Final Major Project or personal statement, and the professional conduct record that placement and apprenticeship providers look for</a:t>
            </a:r>
            <a:endParaRPr sz="1150">
              <a:solidFill>
                <a:schemeClr val="dk1"/>
              </a:solidFill>
              <a:latin typeface="Calibri"/>
              <a:ea typeface="Calibri"/>
              <a:cs typeface="Calibri"/>
              <a:sym typeface="Calibri"/>
            </a:endParaRPr>
          </a:p>
        </p:txBody>
      </p:sp>
      <p:sp>
        <p:nvSpPr>
          <p:cNvPr id="146" name="Google Shape;146;p7"/>
          <p:cNvSpPr/>
          <p:nvPr/>
        </p:nvSpPr>
        <p:spPr>
          <a:xfrm>
            <a:off x="8055865" y="1536202"/>
            <a:ext cx="3639300" cy="33420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7" name="Google Shape;147;p7"/>
          <p:cNvPicPr preferRelativeResize="0"/>
          <p:nvPr/>
        </p:nvPicPr>
        <p:blipFill rotWithShape="1">
          <a:blip r:embed="rId5">
            <a:alphaModFix/>
          </a:blip>
          <a:srcRect b="0" l="0" r="0" t="0"/>
          <a:stretch/>
        </p:blipFill>
        <p:spPr>
          <a:xfrm>
            <a:off x="8330185" y="1870413"/>
            <a:ext cx="502920" cy="612721"/>
          </a:xfrm>
          <a:prstGeom prst="rect">
            <a:avLst/>
          </a:prstGeom>
          <a:noFill/>
          <a:ln>
            <a:noFill/>
          </a:ln>
        </p:spPr>
      </p:pic>
      <p:sp>
        <p:nvSpPr>
          <p:cNvPr id="148" name="Google Shape;148;p7"/>
          <p:cNvSpPr/>
          <p:nvPr/>
        </p:nvSpPr>
        <p:spPr>
          <a:xfrm>
            <a:off x="8924785" y="1870414"/>
            <a:ext cx="3090600" cy="46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Opportunities record</a:t>
            </a:r>
            <a:endParaRPr sz="1500">
              <a:solidFill>
                <a:schemeClr val="dk1"/>
              </a:solidFill>
              <a:latin typeface="Calibri"/>
              <a:ea typeface="Calibri"/>
              <a:cs typeface="Calibri"/>
              <a:sym typeface="Calibri"/>
            </a:endParaRPr>
          </a:p>
        </p:txBody>
      </p:sp>
      <p:sp>
        <p:nvSpPr>
          <p:cNvPr id="149" name="Google Shape;149;p7"/>
          <p:cNvSpPr/>
          <p:nvPr/>
        </p:nvSpPr>
        <p:spPr>
          <a:xfrm>
            <a:off x="8330175" y="2650248"/>
            <a:ext cx="3090600" cy="2116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Placements, volunteering, part-time work — logged as dated evidence, not half-remembered anecdotes. This is what references are written from. industry placement hours (T Level students: mandatory), digital projects completed outside timetable, freelance or voluntary media or tech work, competitions entered, exhibitions or industry events attended — all dated, all logged as professional evidence</a:t>
            </a:r>
            <a:endParaRPr sz="1150">
              <a:solidFill>
                <a:schemeClr val="dk1"/>
              </a:solidFill>
              <a:latin typeface="Calibri"/>
              <a:ea typeface="Calibri"/>
              <a:cs typeface="Calibri"/>
              <a:sym typeface="Calibri"/>
            </a:endParaRPr>
          </a:p>
        </p:txBody>
      </p:sp>
      <p:sp>
        <p:nvSpPr>
          <p:cNvPr id="150" name="Google Shape;150;p7"/>
          <p:cNvSpPr/>
          <p:nvPr/>
        </p:nvSpPr>
        <p:spPr>
          <a:xfrm>
            <a:off x="190575" y="5093200"/>
            <a:ext cx="11824800" cy="141720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7"/>
          <p:cNvSpPr/>
          <p:nvPr/>
        </p:nvSpPr>
        <p:spPr>
          <a:xfrm>
            <a:off x="576998" y="5303512"/>
            <a:ext cx="1110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Where it all goes:  </a:t>
            </a:r>
            <a:r>
              <a:rPr lang="en-US" sz="1500">
                <a:solidFill>
                  <a:srgbClr val="FFFFFF"/>
                </a:solidFill>
                <a:latin typeface="Poppins SemiBold"/>
                <a:ea typeface="Poppins SemiBold"/>
                <a:cs typeface="Poppins SemiBold"/>
                <a:sym typeface="Poppins SemiBold"/>
              </a:rPr>
              <a:t>UCAS applications  ·  apprenticeship applications  ·  references</a:t>
            </a:r>
            <a:endParaRPr sz="1500">
              <a:solidFill>
                <a:schemeClr val="dk1"/>
              </a:solidFill>
              <a:latin typeface="Calibri"/>
              <a:ea typeface="Calibri"/>
              <a:cs typeface="Calibri"/>
              <a:sym typeface="Calibri"/>
            </a:endParaRPr>
          </a:p>
        </p:txBody>
      </p:sp>
      <p:sp>
        <p:nvSpPr>
          <p:cNvPr id="152" name="Google Shape;152;p7"/>
          <p:cNvSpPr/>
          <p:nvPr/>
        </p:nvSpPr>
        <p:spPr>
          <a:xfrm>
            <a:off x="576998" y="5779000"/>
            <a:ext cx="1110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D6"/>
              </a:buClr>
              <a:buSzPts val="1250"/>
              <a:buFont typeface="Poppins"/>
              <a:buNone/>
            </a:pPr>
            <a:r>
              <a:rPr i="1" lang="en-US" sz="1250">
                <a:solidFill>
                  <a:srgbClr val="C7D2D6"/>
                </a:solidFill>
                <a:latin typeface="Poppins"/>
                <a:ea typeface="Poppins"/>
                <a:cs typeface="Poppins"/>
                <a:sym typeface="Poppins"/>
              </a:rPr>
              <a:t>By the time you apply for anything, the evidence already exists — if you have kept it live. a UCAS personal statement for a media, computing or creative degree needs real project evidence and experience logged before you write it — you cannot reconstruct it from memory in October. A degree apprenticeship application needs a professional evidence record that starts in Year 1, not the night before submission.</a:t>
            </a:r>
            <a:endParaRPr sz="1250">
              <a:solidFill>
                <a:schemeClr val="dk1"/>
              </a:solidFill>
              <a:latin typeface="Calibri"/>
              <a:ea typeface="Calibri"/>
              <a:cs typeface="Calibri"/>
              <a:sym typeface="Calibri"/>
            </a:endParaRPr>
          </a:p>
        </p:txBody>
      </p:sp>
      <p:sp>
        <p:nvSpPr>
          <p:cNvPr id="153" name="Google Shape;153;p7"/>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154" name="Google Shape;154;p7"/>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5</a:t>
            </a:r>
            <a:endParaRPr sz="8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59" name="Shape 159"/>
        <p:cNvGrpSpPr/>
        <p:nvPr/>
      </p:nvGrpSpPr>
      <p:grpSpPr>
        <a:xfrm>
          <a:off x="0" y="0"/>
          <a:ext cx="0" cy="0"/>
          <a:chOff x="0" y="0"/>
          <a:chExt cx="0" cy="0"/>
        </a:xfrm>
      </p:grpSpPr>
      <p:sp>
        <p:nvSpPr>
          <p:cNvPr id="160" name="Google Shape;160;p8"/>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An aspiration is not a goal</a:t>
            </a:r>
            <a:endParaRPr sz="2500">
              <a:solidFill>
                <a:schemeClr val="dk1"/>
              </a:solidFill>
              <a:latin typeface="Calibri"/>
              <a:ea typeface="Calibri"/>
              <a:cs typeface="Calibri"/>
              <a:sym typeface="Calibri"/>
            </a:endParaRPr>
          </a:p>
        </p:txBody>
      </p:sp>
      <p:sp>
        <p:nvSpPr>
          <p:cNvPr id="161" name="Google Shape;161;p8"/>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8"/>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163" name="Google Shape;163;p8"/>
          <p:cNvSpPr/>
          <p:nvPr/>
        </p:nvSpPr>
        <p:spPr>
          <a:xfrm>
            <a:off x="502920" y="1143000"/>
            <a:ext cx="5486400" cy="397764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8"/>
          <p:cNvSpPr/>
          <p:nvPr/>
        </p:nvSpPr>
        <p:spPr>
          <a:xfrm>
            <a:off x="868680" y="141732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SemiBold"/>
              <a:buNone/>
            </a:pPr>
            <a:r>
              <a:rPr lang="en-US" sz="1300">
                <a:solidFill>
                  <a:srgbClr val="5A6A6F"/>
                </a:solidFill>
                <a:latin typeface="Poppins SemiBold"/>
                <a:ea typeface="Poppins SemiBold"/>
                <a:cs typeface="Poppins SemiBold"/>
                <a:sym typeface="Poppins SemiBold"/>
              </a:rPr>
              <a:t>ASPIRATION</a:t>
            </a:r>
            <a:endParaRPr sz="1300">
              <a:solidFill>
                <a:schemeClr val="dk1"/>
              </a:solidFill>
              <a:latin typeface="Calibri"/>
              <a:ea typeface="Calibri"/>
              <a:cs typeface="Calibri"/>
              <a:sym typeface="Calibri"/>
            </a:endParaRPr>
          </a:p>
        </p:txBody>
      </p:sp>
      <p:sp>
        <p:nvSpPr>
          <p:cNvPr id="165" name="Google Shape;165;p8"/>
          <p:cNvSpPr/>
          <p:nvPr/>
        </p:nvSpPr>
        <p:spPr>
          <a:xfrm>
            <a:off x="868680" y="1965960"/>
            <a:ext cx="475488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D2434"/>
              </a:buClr>
              <a:buSzPts val="1900"/>
              <a:buFont typeface="Poppins SemiBold"/>
              <a:buNone/>
            </a:pPr>
            <a:r>
              <a:rPr lang="en-US" sz="1900">
                <a:solidFill>
                  <a:srgbClr val="0D2434"/>
                </a:solidFill>
                <a:latin typeface="Poppins SemiBold"/>
                <a:ea typeface="Poppins SemiBold"/>
                <a:cs typeface="Poppins SemiBold"/>
                <a:sym typeface="Poppins SemiBold"/>
              </a:rPr>
              <a:t>"I want to work in games." or "I want to be a film director." or "I want to work in cybersecurity." or "I want to design content for a living."</a:t>
            </a:r>
            <a:endParaRPr sz="1900">
              <a:solidFill>
                <a:schemeClr val="dk1"/>
              </a:solidFill>
              <a:latin typeface="Calibri"/>
              <a:ea typeface="Calibri"/>
              <a:cs typeface="Calibri"/>
              <a:sym typeface="Calibri"/>
            </a:endParaRPr>
          </a:p>
        </p:txBody>
      </p:sp>
      <p:sp>
        <p:nvSpPr>
          <p:cNvPr id="166" name="Google Shape;166;p8"/>
          <p:cNvSpPr/>
          <p:nvPr/>
        </p:nvSpPr>
        <p:spPr>
          <a:xfrm>
            <a:off x="868680" y="3063240"/>
            <a:ext cx="4754880" cy="17373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B2A30"/>
              </a:buClr>
              <a:buSzPts val="1300"/>
              <a:buFont typeface="Poppins"/>
              <a:buNone/>
            </a:pPr>
            <a:r>
              <a:rPr lang="en-US" sz="1300">
                <a:solidFill>
                  <a:srgbClr val="1B2A30"/>
                </a:solidFill>
                <a:latin typeface="Poppins"/>
                <a:ea typeface="Poppins"/>
                <a:cs typeface="Poppins"/>
                <a:sym typeface="Poppins"/>
              </a:rPr>
              <a:t>A direction. Worth having — you cannot aim without one. But it has no date, no first step, and it gives you nothing to do on Monday morning. "I want to work in games" gives you nothing to open in Blender on Monday. "I want to be a film director" does not tell you which shot to practise this week. An aspiration without a first step and a date is still just a wish.</a:t>
            </a:r>
            <a:endParaRPr sz="1300">
              <a:solidFill>
                <a:schemeClr val="dk1"/>
              </a:solidFill>
              <a:latin typeface="Calibri"/>
              <a:ea typeface="Calibri"/>
              <a:cs typeface="Calibri"/>
              <a:sym typeface="Calibri"/>
            </a:endParaRPr>
          </a:p>
        </p:txBody>
      </p:sp>
      <p:sp>
        <p:nvSpPr>
          <p:cNvPr id="167" name="Google Shape;167;p8"/>
          <p:cNvSpPr/>
          <p:nvPr/>
        </p:nvSpPr>
        <p:spPr>
          <a:xfrm>
            <a:off x="6172195" y="1097275"/>
            <a:ext cx="5486400" cy="3977700"/>
          </a:xfrm>
          <a:prstGeom prst="rect">
            <a:avLst/>
          </a:prstGeom>
          <a:solidFill>
            <a:srgbClr val="FDEFDD"/>
          </a:solidFill>
          <a:ln cap="flat" cmpd="sng" w="15875">
            <a:solidFill>
              <a:srgbClr val="F6891E"/>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8"/>
          <p:cNvSpPr/>
          <p:nvPr/>
        </p:nvSpPr>
        <p:spPr>
          <a:xfrm>
            <a:off x="6583680" y="141732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300"/>
              <a:buFont typeface="Poppins SemiBold"/>
              <a:buNone/>
            </a:pPr>
            <a:r>
              <a:rPr lang="en-US" sz="1300">
                <a:solidFill>
                  <a:srgbClr val="F6891E"/>
                </a:solidFill>
                <a:latin typeface="Poppins SemiBold"/>
                <a:ea typeface="Poppins SemiBold"/>
                <a:cs typeface="Poppins SemiBold"/>
                <a:sym typeface="Poppins SemiBold"/>
              </a:rPr>
              <a:t>GOAL</a:t>
            </a:r>
            <a:endParaRPr sz="1300">
              <a:solidFill>
                <a:schemeClr val="dk1"/>
              </a:solidFill>
              <a:latin typeface="Calibri"/>
              <a:ea typeface="Calibri"/>
              <a:cs typeface="Calibri"/>
              <a:sym typeface="Calibri"/>
            </a:endParaRPr>
          </a:p>
        </p:txBody>
      </p:sp>
      <p:sp>
        <p:nvSpPr>
          <p:cNvPr id="169" name="Google Shape;169;p8"/>
          <p:cNvSpPr/>
          <p:nvPr/>
        </p:nvSpPr>
        <p:spPr>
          <a:xfrm>
            <a:off x="6583675" y="1920260"/>
            <a:ext cx="4800600" cy="27780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For Games Art or Content Creation: "By October half-term I will have one piece of work I would include in a real portfolio — with teacher feedback acted on. First step: book a critique session this week." For T Level or Cybersecurity: "By October half-term I have researched three potential placement employers and drafted my first contact. First step: check placement requirements with my teacher today."</a:t>
            </a:r>
            <a:endParaRPr sz="1550">
              <a:solidFill>
                <a:schemeClr val="dk1"/>
              </a:solidFill>
              <a:latin typeface="Calibri"/>
              <a:ea typeface="Calibri"/>
              <a:cs typeface="Calibri"/>
              <a:sym typeface="Calibri"/>
            </a:endParaRPr>
          </a:p>
        </p:txBody>
      </p:sp>
      <p:sp>
        <p:nvSpPr>
          <p:cNvPr id="170" name="Google Shape;170;p8"/>
          <p:cNvSpPr/>
          <p:nvPr/>
        </p:nvSpPr>
        <p:spPr>
          <a:xfrm>
            <a:off x="502920" y="544068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a:buNone/>
            </a:pPr>
            <a:r>
              <a:rPr i="1" lang="en-US" sz="1400">
                <a:solidFill>
                  <a:srgbClr val="0D2434"/>
                </a:solidFill>
                <a:latin typeface="Poppins"/>
                <a:ea typeface="Poppins"/>
                <a:cs typeface="Poppins"/>
                <a:sym typeface="Poppins"/>
              </a:rPr>
              <a:t>The test: does it tell you what to do next week? If not, it is still an aspiration.</a:t>
            </a:r>
            <a:endParaRPr sz="1400">
              <a:solidFill>
                <a:schemeClr val="dk1"/>
              </a:solidFill>
              <a:latin typeface="Calibri"/>
              <a:ea typeface="Calibri"/>
              <a:cs typeface="Calibri"/>
              <a:sym typeface="Calibri"/>
            </a:endParaRPr>
          </a:p>
        </p:txBody>
      </p:sp>
      <p:sp>
        <p:nvSpPr>
          <p:cNvPr id="171" name="Google Shape;171;p8"/>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172" name="Google Shape;172;p8"/>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6</a:t>
            </a:r>
            <a:endParaRPr sz="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7" name="Shape 177"/>
        <p:cNvGrpSpPr/>
        <p:nvPr/>
      </p:nvGrpSpPr>
      <p:grpSpPr>
        <a:xfrm>
          <a:off x="0" y="0"/>
          <a:ext cx="0" cy="0"/>
          <a:chOff x="0" y="0"/>
          <a:chExt cx="0" cy="0"/>
        </a:xfrm>
      </p:grpSpPr>
      <p:sp>
        <p:nvSpPr>
          <p:cNvPr id="178" name="Google Shape;178;p9"/>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Three horizons</a:t>
            </a:r>
            <a:endParaRPr sz="2500">
              <a:solidFill>
                <a:schemeClr val="dk1"/>
              </a:solidFill>
              <a:latin typeface="Calibri"/>
              <a:ea typeface="Calibri"/>
              <a:cs typeface="Calibri"/>
              <a:sym typeface="Calibri"/>
            </a:endParaRPr>
          </a:p>
        </p:txBody>
      </p:sp>
      <p:sp>
        <p:nvSpPr>
          <p:cNvPr id="179" name="Google Shape;179;p9"/>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9"/>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ACTIVITY</a:t>
            </a:r>
            <a:endParaRPr sz="1050">
              <a:solidFill>
                <a:schemeClr val="dk1"/>
              </a:solidFill>
              <a:latin typeface="Calibri"/>
              <a:ea typeface="Calibri"/>
              <a:cs typeface="Calibri"/>
              <a:sym typeface="Calibri"/>
            </a:endParaRPr>
          </a:p>
        </p:txBody>
      </p:sp>
      <p:sp>
        <p:nvSpPr>
          <p:cNvPr id="181" name="Google Shape;181;p9"/>
          <p:cNvSpPr/>
          <p:nvPr/>
        </p:nvSpPr>
        <p:spPr>
          <a:xfrm>
            <a:off x="502925" y="1143000"/>
            <a:ext cx="3639300" cy="35661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p:nvPr/>
        </p:nvSpPr>
        <p:spPr>
          <a:xfrm>
            <a:off x="777245" y="1441066"/>
            <a:ext cx="3090600" cy="42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THIS TERM</a:t>
            </a:r>
            <a:endParaRPr sz="1500">
              <a:solidFill>
                <a:schemeClr val="dk1"/>
              </a:solidFill>
              <a:latin typeface="Calibri"/>
              <a:ea typeface="Calibri"/>
              <a:cs typeface="Calibri"/>
              <a:sym typeface="Calibri"/>
            </a:endParaRPr>
          </a:p>
        </p:txBody>
      </p:sp>
      <p:sp>
        <p:nvSpPr>
          <p:cNvPr id="183" name="Google Shape;183;p9"/>
          <p:cNvSpPr/>
          <p:nvPr/>
        </p:nvSpPr>
        <p:spPr>
          <a:xfrm>
            <a:off x="777245" y="1888166"/>
            <a:ext cx="3090600" cy="34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Short-term</a:t>
            </a:r>
            <a:endParaRPr sz="1100">
              <a:solidFill>
                <a:schemeClr val="dk1"/>
              </a:solidFill>
              <a:latin typeface="Calibri"/>
              <a:ea typeface="Calibri"/>
              <a:cs typeface="Calibri"/>
              <a:sym typeface="Calibri"/>
            </a:endParaRPr>
          </a:p>
        </p:txBody>
      </p:sp>
      <p:sp>
        <p:nvSpPr>
          <p:cNvPr id="184" name="Google Shape;184;p9"/>
          <p:cNvSpPr/>
          <p:nvPr/>
        </p:nvSpPr>
        <p:spPr>
          <a:xfrm>
            <a:off x="777245" y="2335265"/>
            <a:ext cx="3090600" cy="1011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One goal you can finish by the end of term — and start this week.</a:t>
            </a:r>
            <a:endParaRPr sz="1200">
              <a:solidFill>
                <a:schemeClr val="dk1"/>
              </a:solidFill>
              <a:latin typeface="Calibri"/>
              <a:ea typeface="Calibri"/>
              <a:cs typeface="Calibri"/>
              <a:sym typeface="Calibri"/>
            </a:endParaRPr>
          </a:p>
        </p:txBody>
      </p:sp>
      <p:sp>
        <p:nvSpPr>
          <p:cNvPr id="185" name="Google Shape;185;p9"/>
          <p:cNvSpPr/>
          <p:nvPr/>
        </p:nvSpPr>
        <p:spPr>
          <a:xfrm>
            <a:off x="777245" y="3431723"/>
            <a:ext cx="3090600" cy="1117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Complete your first major assignment, project or assessment to the standard your progression route requires — not the minimum pass, the standard that builds a credible portfolio and a strong reference. For T Level students: your first Employer Set Project skills are developing and placement research has begun.</a:t>
            </a:r>
            <a:endParaRPr sz="1100">
              <a:solidFill>
                <a:schemeClr val="dk1"/>
              </a:solidFill>
              <a:latin typeface="Calibri"/>
              <a:ea typeface="Calibri"/>
              <a:cs typeface="Calibri"/>
              <a:sym typeface="Calibri"/>
            </a:endParaRPr>
          </a:p>
        </p:txBody>
      </p:sp>
      <p:sp>
        <p:nvSpPr>
          <p:cNvPr id="186" name="Google Shape;186;p9"/>
          <p:cNvSpPr/>
          <p:nvPr/>
        </p:nvSpPr>
        <p:spPr>
          <a:xfrm>
            <a:off x="4279395" y="1143000"/>
            <a:ext cx="3639300" cy="35661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9"/>
          <p:cNvSpPr/>
          <p:nvPr/>
        </p:nvSpPr>
        <p:spPr>
          <a:xfrm>
            <a:off x="4553715" y="1441066"/>
            <a:ext cx="3090600" cy="42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THIS YEAR</a:t>
            </a:r>
            <a:endParaRPr sz="1500">
              <a:solidFill>
                <a:schemeClr val="dk1"/>
              </a:solidFill>
              <a:latin typeface="Calibri"/>
              <a:ea typeface="Calibri"/>
              <a:cs typeface="Calibri"/>
              <a:sym typeface="Calibri"/>
            </a:endParaRPr>
          </a:p>
        </p:txBody>
      </p:sp>
      <p:sp>
        <p:nvSpPr>
          <p:cNvPr id="188" name="Google Shape;188;p9"/>
          <p:cNvSpPr/>
          <p:nvPr/>
        </p:nvSpPr>
        <p:spPr>
          <a:xfrm>
            <a:off x="4553715" y="1888166"/>
            <a:ext cx="3090600" cy="34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Medium-term</a:t>
            </a:r>
            <a:endParaRPr sz="1100">
              <a:solidFill>
                <a:schemeClr val="dk1"/>
              </a:solidFill>
              <a:latin typeface="Calibri"/>
              <a:ea typeface="Calibri"/>
              <a:cs typeface="Calibri"/>
              <a:sym typeface="Calibri"/>
            </a:endParaRPr>
          </a:p>
        </p:txBody>
      </p:sp>
      <p:sp>
        <p:nvSpPr>
          <p:cNvPr id="189" name="Google Shape;189;p9"/>
          <p:cNvSpPr/>
          <p:nvPr/>
        </p:nvSpPr>
        <p:spPr>
          <a:xfrm>
            <a:off x="4553715" y="2335265"/>
            <a:ext cx="3090600" cy="1011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Where the term goals should be pointing by summer.</a:t>
            </a:r>
            <a:endParaRPr sz="1200">
              <a:solidFill>
                <a:schemeClr val="dk1"/>
              </a:solidFill>
              <a:latin typeface="Calibri"/>
              <a:ea typeface="Calibri"/>
              <a:cs typeface="Calibri"/>
              <a:sym typeface="Calibri"/>
            </a:endParaRPr>
          </a:p>
        </p:txBody>
      </p:sp>
      <p:sp>
        <p:nvSpPr>
          <p:cNvPr id="190" name="Google Shape;190;p9"/>
          <p:cNvSpPr/>
          <p:nvPr/>
        </p:nvSpPr>
        <p:spPr>
          <a:xfrm>
            <a:off x="4553715" y="3431723"/>
            <a:ext cx="3090600" cy="1117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Finish Year 1 with a Navigate record showing real software skills, genuine project evidence and — for T Level students — placement hours logged. Strong enough that Year 2 applications, portfolio submissions or placement searches start from a position of evidence, not catch-up.</a:t>
            </a:r>
            <a:endParaRPr sz="1100">
              <a:solidFill>
                <a:schemeClr val="dk1"/>
              </a:solidFill>
              <a:latin typeface="Calibri"/>
              <a:ea typeface="Calibri"/>
              <a:cs typeface="Calibri"/>
              <a:sym typeface="Calibri"/>
            </a:endParaRPr>
          </a:p>
        </p:txBody>
      </p:sp>
      <p:sp>
        <p:nvSpPr>
          <p:cNvPr id="191" name="Google Shape;191;p9"/>
          <p:cNvSpPr/>
          <p:nvPr/>
        </p:nvSpPr>
        <p:spPr>
          <a:xfrm>
            <a:off x="8055865" y="1143000"/>
            <a:ext cx="3639300" cy="35661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9"/>
          <p:cNvSpPr/>
          <p:nvPr/>
        </p:nvSpPr>
        <p:spPr>
          <a:xfrm>
            <a:off x="8330185" y="1441066"/>
            <a:ext cx="3090600" cy="42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ON COMPLETION</a:t>
            </a:r>
            <a:endParaRPr sz="1500">
              <a:solidFill>
                <a:schemeClr val="dk1"/>
              </a:solidFill>
              <a:latin typeface="Calibri"/>
              <a:ea typeface="Calibri"/>
              <a:cs typeface="Calibri"/>
              <a:sym typeface="Calibri"/>
            </a:endParaRPr>
          </a:p>
        </p:txBody>
      </p:sp>
      <p:sp>
        <p:nvSpPr>
          <p:cNvPr id="193" name="Google Shape;193;p9"/>
          <p:cNvSpPr/>
          <p:nvPr/>
        </p:nvSpPr>
        <p:spPr>
          <a:xfrm>
            <a:off x="8330185" y="1888166"/>
            <a:ext cx="3090600" cy="34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Long-term</a:t>
            </a:r>
            <a:endParaRPr sz="1100">
              <a:solidFill>
                <a:schemeClr val="dk1"/>
              </a:solidFill>
              <a:latin typeface="Calibri"/>
              <a:ea typeface="Calibri"/>
              <a:cs typeface="Calibri"/>
              <a:sym typeface="Calibri"/>
            </a:endParaRPr>
          </a:p>
        </p:txBody>
      </p:sp>
      <p:sp>
        <p:nvSpPr>
          <p:cNvPr id="194" name="Google Shape;194;p9"/>
          <p:cNvSpPr/>
          <p:nvPr/>
        </p:nvSpPr>
        <p:spPr>
          <a:xfrm>
            <a:off x="8330185" y="2335265"/>
            <a:ext cx="3090600" cy="1011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The route off the map you are working towards — held loosely, aimed at firmly.</a:t>
            </a:r>
            <a:endParaRPr sz="1200">
              <a:solidFill>
                <a:schemeClr val="dk1"/>
              </a:solidFill>
              <a:latin typeface="Calibri"/>
              <a:ea typeface="Calibri"/>
              <a:cs typeface="Calibri"/>
              <a:sym typeface="Calibri"/>
            </a:endParaRPr>
          </a:p>
        </p:txBody>
      </p:sp>
      <p:sp>
        <p:nvSpPr>
          <p:cNvPr id="195" name="Google Shape;195;p9"/>
          <p:cNvSpPr/>
          <p:nvPr/>
        </p:nvSpPr>
        <p:spPr>
          <a:xfrm>
            <a:off x="8330185" y="3431723"/>
            <a:ext cx="3090600" cy="1117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A BA at UCH Hastings, UAL or a university of your choice — or a Level 5 degree apprenticeship in digital — or a named entry-level role in the creative or tech industry. Whatever your route, the portfolio and professional evidence that earns it starts this term.</a:t>
            </a:r>
            <a:endParaRPr sz="1100">
              <a:solidFill>
                <a:schemeClr val="dk1"/>
              </a:solidFill>
              <a:latin typeface="Calibri"/>
              <a:ea typeface="Calibri"/>
              <a:cs typeface="Calibri"/>
              <a:sym typeface="Calibri"/>
            </a:endParaRPr>
          </a:p>
        </p:txBody>
      </p:sp>
      <p:sp>
        <p:nvSpPr>
          <p:cNvPr id="196" name="Google Shape;196;p9"/>
          <p:cNvSpPr/>
          <p:nvPr/>
        </p:nvSpPr>
        <p:spPr>
          <a:xfrm>
            <a:off x="219450" y="4810225"/>
            <a:ext cx="11665800" cy="1600200"/>
          </a:xfrm>
          <a:prstGeom prst="rect">
            <a:avLst/>
          </a:prstGeom>
          <a:solidFill>
            <a:srgbClr val="FDEFDD"/>
          </a:solidFill>
          <a:ln cap="flat" cmpd="sng" w="12700">
            <a:solidFill>
              <a:srgbClr val="F689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9"/>
          <p:cNvPicPr preferRelativeResize="0"/>
          <p:nvPr/>
        </p:nvPicPr>
        <p:blipFill rotWithShape="1">
          <a:blip r:embed="rId3">
            <a:alphaModFix/>
          </a:blip>
          <a:srcRect b="0" l="0" r="0" t="0"/>
          <a:stretch/>
        </p:blipFill>
        <p:spPr>
          <a:xfrm>
            <a:off x="418685" y="4965685"/>
            <a:ext cx="457200" cy="457200"/>
          </a:xfrm>
          <a:prstGeom prst="rect">
            <a:avLst/>
          </a:prstGeom>
          <a:noFill/>
          <a:ln>
            <a:noFill/>
          </a:ln>
        </p:spPr>
      </p:pic>
      <p:sp>
        <p:nvSpPr>
          <p:cNvPr id="198" name="Google Shape;198;p9"/>
          <p:cNvSpPr/>
          <p:nvPr/>
        </p:nvSpPr>
        <p:spPr>
          <a:xfrm>
            <a:off x="1220175" y="4965673"/>
            <a:ext cx="10483800" cy="1326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Draft one goal for each horizon.  </a:t>
            </a:r>
            <a:r>
              <a:rPr lang="en-US" sz="1250">
                <a:solidFill>
                  <a:srgbClr val="1B2A30"/>
                </a:solidFill>
                <a:latin typeface="Poppins"/>
                <a:ea typeface="Poppins"/>
                <a:cs typeface="Poppins"/>
                <a:sym typeface="Poppins"/>
              </a:rPr>
              <a:t>Start with the long one, then work backwards — does your term goal actually lead there? Ten minutes alone, then test each goal on a partner using the four checks. Keep the drafts: you will need the strongest one at the end of the session, and all three feed your ILP.</a:t>
            </a:r>
            <a:endParaRPr sz="1250">
              <a:solidFill>
                <a:schemeClr val="dk1"/>
              </a:solidFill>
              <a:latin typeface="Calibri"/>
              <a:ea typeface="Calibri"/>
              <a:cs typeface="Calibri"/>
              <a:sym typeface="Calibri"/>
            </a:endParaRPr>
          </a:p>
        </p:txBody>
      </p:sp>
      <p:sp>
        <p:nvSpPr>
          <p:cNvPr id="199" name="Google Shape;199;p9"/>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200" name="Google Shape;200;p9"/>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7</a:t>
            </a:r>
            <a:endParaRPr sz="8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5" name="Shape 205"/>
        <p:cNvGrpSpPr/>
        <p:nvPr/>
      </p:nvGrpSpPr>
      <p:grpSpPr>
        <a:xfrm>
          <a:off x="0" y="0"/>
          <a:ext cx="0" cy="0"/>
          <a:chOff x="0" y="0"/>
          <a:chExt cx="0" cy="0"/>
        </a:xfrm>
      </p:grpSpPr>
      <p:sp>
        <p:nvSpPr>
          <p:cNvPr id="206" name="Google Shape;206;p10"/>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Is this the right course?</a:t>
            </a:r>
            <a:endParaRPr sz="2500">
              <a:solidFill>
                <a:schemeClr val="dk1"/>
              </a:solidFill>
              <a:latin typeface="Calibri"/>
              <a:ea typeface="Calibri"/>
              <a:cs typeface="Calibri"/>
              <a:sym typeface="Calibri"/>
            </a:endParaRPr>
          </a:p>
        </p:txBody>
      </p:sp>
      <p:sp>
        <p:nvSpPr>
          <p:cNvPr id="207" name="Google Shape;207;p10"/>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0"/>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209" name="Google Shape;209;p10"/>
          <p:cNvSpPr/>
          <p:nvPr/>
        </p:nvSpPr>
        <p:spPr>
          <a:xfrm>
            <a:off x="502920" y="1024128"/>
            <a:ext cx="11155680" cy="6858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Three weeks in is exactly when doubt surfaces. It is normal, it is expected — and it is worth saying out loud, because there are two very different kinds.</a:t>
            </a:r>
            <a:endParaRPr sz="1350">
              <a:solidFill>
                <a:schemeClr val="dk1"/>
              </a:solidFill>
              <a:latin typeface="Calibri"/>
              <a:ea typeface="Calibri"/>
              <a:cs typeface="Calibri"/>
              <a:sym typeface="Calibri"/>
            </a:endParaRPr>
          </a:p>
        </p:txBody>
      </p:sp>
      <p:sp>
        <p:nvSpPr>
          <p:cNvPr id="210" name="Google Shape;210;p10"/>
          <p:cNvSpPr/>
          <p:nvPr/>
        </p:nvSpPr>
        <p:spPr>
          <a:xfrm>
            <a:off x="502925" y="1874526"/>
            <a:ext cx="5486400" cy="26553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0"/>
          <p:cNvSpPr/>
          <p:nvPr/>
        </p:nvSpPr>
        <p:spPr>
          <a:xfrm>
            <a:off x="868685" y="2157012"/>
            <a:ext cx="4755000" cy="50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“The course is hard.”</a:t>
            </a:r>
            <a:endParaRPr sz="1600">
              <a:solidFill>
                <a:schemeClr val="dk1"/>
              </a:solidFill>
              <a:latin typeface="Calibri"/>
              <a:ea typeface="Calibri"/>
              <a:cs typeface="Calibri"/>
              <a:sym typeface="Calibri"/>
            </a:endParaRPr>
          </a:p>
        </p:txBody>
      </p:sp>
      <p:sp>
        <p:nvSpPr>
          <p:cNvPr id="212" name="Google Shape;212;p10"/>
          <p:cNvSpPr/>
          <p:nvPr/>
        </p:nvSpPr>
        <p:spPr>
          <a:xfrm>
            <a:off x="868685" y="2744581"/>
            <a:ext cx="4755000" cy="1638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Normal — that is what Level 3 feels like from inside, especially at the start. This kind of doubt is answered with support, not a course change: tutor, subject staff, the goals you have just written. your subject teacher, open studio or lab access sessions, and a tutorial conversation about which specific part of the brief, software or specification is the actual block</a:t>
            </a:r>
            <a:endParaRPr sz="1200">
              <a:solidFill>
                <a:schemeClr val="dk1"/>
              </a:solidFill>
              <a:latin typeface="Calibri"/>
              <a:ea typeface="Calibri"/>
              <a:cs typeface="Calibri"/>
              <a:sym typeface="Calibri"/>
            </a:endParaRPr>
          </a:p>
        </p:txBody>
      </p:sp>
      <p:sp>
        <p:nvSpPr>
          <p:cNvPr id="213" name="Google Shape;213;p10"/>
          <p:cNvSpPr/>
          <p:nvPr/>
        </p:nvSpPr>
        <p:spPr>
          <a:xfrm>
            <a:off x="6217925" y="1874526"/>
            <a:ext cx="5486400" cy="26553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0"/>
          <p:cNvSpPr/>
          <p:nvPr/>
        </p:nvSpPr>
        <p:spPr>
          <a:xfrm>
            <a:off x="6583685" y="2157012"/>
            <a:ext cx="4755000" cy="50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“The course is wrong.”</a:t>
            </a:r>
            <a:endParaRPr sz="1600">
              <a:solidFill>
                <a:schemeClr val="dk1"/>
              </a:solidFill>
              <a:latin typeface="Calibri"/>
              <a:ea typeface="Calibri"/>
              <a:cs typeface="Calibri"/>
              <a:sym typeface="Calibri"/>
            </a:endParaRPr>
          </a:p>
        </p:txBody>
      </p:sp>
      <p:sp>
        <p:nvSpPr>
          <p:cNvPr id="215" name="Google Shape;215;p10"/>
          <p:cNvSpPr/>
          <p:nvPr/>
        </p:nvSpPr>
        <p:spPr>
          <a:xfrm>
            <a:off x="6583685" y="2744581"/>
            <a:ext cx="4755000" cy="16383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Different subject, different level, or a different route entirely. Also fixable — but only inside a window that is already open and already closing. This one needs a conversation, this week. a different pathway within Digital and Media — switching from the Digital T Level to the Cyber Security T Level, from Media A Level to Film Studies, or from a UAL diploma to a different creative specialism. Or a different level — if Level 3 has genuinely landed wrong, Level 2 options are available within the Right Choice window.</a:t>
            </a:r>
            <a:endParaRPr sz="1200">
              <a:solidFill>
                <a:schemeClr val="dk1"/>
              </a:solidFill>
              <a:latin typeface="Calibri"/>
              <a:ea typeface="Calibri"/>
              <a:cs typeface="Calibri"/>
              <a:sym typeface="Calibri"/>
            </a:endParaRPr>
          </a:p>
        </p:txBody>
      </p:sp>
      <p:sp>
        <p:nvSpPr>
          <p:cNvPr id="216" name="Google Shape;216;p10"/>
          <p:cNvSpPr/>
          <p:nvPr/>
        </p:nvSpPr>
        <p:spPr>
          <a:xfrm>
            <a:off x="499870" y="4685110"/>
            <a:ext cx="11192400" cy="68580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0"/>
          <p:cNvSpPr/>
          <p:nvPr/>
        </p:nvSpPr>
        <p:spPr>
          <a:xfrm>
            <a:off x="819910" y="4685110"/>
            <a:ext cx="106071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50"/>
              <a:buFont typeface="Poppins SemiBold"/>
              <a:buNone/>
            </a:pPr>
            <a:r>
              <a:rPr lang="en-US" sz="1450">
                <a:solidFill>
                  <a:srgbClr val="0D2434"/>
                </a:solidFill>
                <a:latin typeface="Poppins SemiBold"/>
                <a:ea typeface="Poppins SemiBold"/>
                <a:cs typeface="Poppins SemiBold"/>
                <a:sym typeface="Poppins SemiBold"/>
              </a:rPr>
              <a:t>If you are unsure, say so now. Waiting does not keep your options open — it closes them.</a:t>
            </a:r>
            <a:endParaRPr sz="1450">
              <a:solidFill>
                <a:schemeClr val="dk1"/>
              </a:solidFill>
              <a:latin typeface="Calibri"/>
              <a:ea typeface="Calibri"/>
              <a:cs typeface="Calibri"/>
              <a:sym typeface="Calibri"/>
            </a:endParaRPr>
          </a:p>
        </p:txBody>
      </p:sp>
      <p:sp>
        <p:nvSpPr>
          <p:cNvPr id="218" name="Google Shape;218;p10"/>
          <p:cNvSpPr/>
          <p:nvPr/>
        </p:nvSpPr>
        <p:spPr>
          <a:xfrm>
            <a:off x="484632" y="5596135"/>
            <a:ext cx="11192400" cy="914400"/>
          </a:xfrm>
          <a:prstGeom prst="rect">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0"/>
          <p:cNvSpPr/>
          <p:nvPr/>
        </p:nvSpPr>
        <p:spPr>
          <a:xfrm>
            <a:off x="649225" y="5687575"/>
            <a:ext cx="10863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Before delivery — insert: (1) the exact Right Choice deadline. (2) the named first contact — personal tutor or Head of Curriculum. (3) Confirm aloud that fees transfer automatically. Do not deliver without a real date and a named person.</a:t>
            </a:r>
            <a:endParaRPr sz="1050">
              <a:solidFill>
                <a:schemeClr val="dk1"/>
              </a:solidFill>
              <a:latin typeface="Calibri"/>
              <a:ea typeface="Calibri"/>
              <a:cs typeface="Calibri"/>
              <a:sym typeface="Calibri"/>
            </a:endParaRPr>
          </a:p>
        </p:txBody>
      </p:sp>
      <p:sp>
        <p:nvSpPr>
          <p:cNvPr id="220" name="Google Shape;220;p10"/>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221" name="Google Shape;221;p10"/>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8</a:t>
            </a:r>
            <a:endParaRPr sz="8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26" name="Shape 226"/>
        <p:cNvGrpSpPr/>
        <p:nvPr/>
      </p:nvGrpSpPr>
      <p:grpSpPr>
        <a:xfrm>
          <a:off x="0" y="0"/>
          <a:ext cx="0" cy="0"/>
          <a:chOff x="0" y="0"/>
          <a:chExt cx="0" cy="0"/>
        </a:xfrm>
      </p:grpSpPr>
      <p:sp>
        <p:nvSpPr>
          <p:cNvPr id="227" name="Google Shape;227;p11"/>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Eleven sessions later</a:t>
            </a:r>
            <a:endParaRPr sz="2500">
              <a:solidFill>
                <a:schemeClr val="dk1"/>
              </a:solidFill>
              <a:latin typeface="Calibri"/>
              <a:ea typeface="Calibri"/>
              <a:cs typeface="Calibri"/>
              <a:sym typeface="Calibri"/>
            </a:endParaRPr>
          </a:p>
        </p:txBody>
      </p:sp>
      <p:sp>
        <p:nvSpPr>
          <p:cNvPr id="228" name="Google Shape;228;p11"/>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1"/>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DISCUSSION</a:t>
            </a:r>
            <a:endParaRPr sz="1050">
              <a:solidFill>
                <a:schemeClr val="dk1"/>
              </a:solidFill>
              <a:latin typeface="Calibri"/>
              <a:ea typeface="Calibri"/>
              <a:cs typeface="Calibri"/>
              <a:sym typeface="Calibri"/>
            </a:endParaRPr>
          </a:p>
        </p:txBody>
      </p:sp>
      <p:sp>
        <p:nvSpPr>
          <p:cNvPr id="230" name="Google Shape;230;p11"/>
          <p:cNvSpPr/>
          <p:nvPr/>
        </p:nvSpPr>
        <p:spPr>
          <a:xfrm>
            <a:off x="161700" y="1188725"/>
            <a:ext cx="7062000" cy="11940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1"/>
          <p:cNvSpPr/>
          <p:nvPr/>
        </p:nvSpPr>
        <p:spPr>
          <a:xfrm>
            <a:off x="449947" y="1619370"/>
            <a:ext cx="326700" cy="3327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1"/>
          <p:cNvSpPr/>
          <p:nvPr/>
        </p:nvSpPr>
        <p:spPr>
          <a:xfrm>
            <a:off x="978399" y="1325748"/>
            <a:ext cx="6053100" cy="41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Settling in &amp; belonging</a:t>
            </a:r>
            <a:endParaRPr sz="1350">
              <a:solidFill>
                <a:schemeClr val="dk1"/>
              </a:solidFill>
              <a:latin typeface="Calibri"/>
              <a:ea typeface="Calibri"/>
              <a:cs typeface="Calibri"/>
              <a:sym typeface="Calibri"/>
            </a:endParaRPr>
          </a:p>
        </p:txBody>
      </p:sp>
      <p:sp>
        <p:nvSpPr>
          <p:cNvPr id="233" name="Google Shape;233;p11"/>
          <p:cNvSpPr/>
          <p:nvPr/>
        </p:nvSpPr>
        <p:spPr>
          <a:xfrm>
            <a:off x="978399" y="1736818"/>
            <a:ext cx="6053100" cy="567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Your programme, your systems, your people — and how attendance carries all of it.</a:t>
            </a:r>
            <a:endParaRPr sz="1100">
              <a:solidFill>
                <a:schemeClr val="dk1"/>
              </a:solidFill>
              <a:latin typeface="Calibri"/>
              <a:ea typeface="Calibri"/>
              <a:cs typeface="Calibri"/>
              <a:sym typeface="Calibri"/>
            </a:endParaRPr>
          </a:p>
        </p:txBody>
      </p:sp>
      <p:sp>
        <p:nvSpPr>
          <p:cNvPr id="234" name="Google Shape;234;p11"/>
          <p:cNvSpPr/>
          <p:nvPr/>
        </p:nvSpPr>
        <p:spPr>
          <a:xfrm>
            <a:off x="161700" y="2578533"/>
            <a:ext cx="7062000" cy="11940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1"/>
          <p:cNvSpPr/>
          <p:nvPr/>
        </p:nvSpPr>
        <p:spPr>
          <a:xfrm>
            <a:off x="449947" y="3009178"/>
            <a:ext cx="326700" cy="332700"/>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1"/>
          <p:cNvSpPr/>
          <p:nvPr/>
        </p:nvSpPr>
        <p:spPr>
          <a:xfrm>
            <a:off x="978399" y="2715557"/>
            <a:ext cx="6053100" cy="41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Safeguarding, wellbeing &amp; respect</a:t>
            </a:r>
            <a:endParaRPr sz="1350">
              <a:solidFill>
                <a:schemeClr val="dk1"/>
              </a:solidFill>
              <a:latin typeface="Calibri"/>
              <a:ea typeface="Calibri"/>
              <a:cs typeface="Calibri"/>
              <a:sym typeface="Calibri"/>
            </a:endParaRPr>
          </a:p>
        </p:txBody>
      </p:sp>
      <p:sp>
        <p:nvSpPr>
          <p:cNvPr id="237" name="Google Shape;237;p11"/>
          <p:cNvSpPr/>
          <p:nvPr/>
        </p:nvSpPr>
        <p:spPr>
          <a:xfrm>
            <a:off x="978399" y="3126627"/>
            <a:ext cx="6053100" cy="567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How this college keeps you safe, and who to tell when something is not right.</a:t>
            </a:r>
            <a:endParaRPr sz="1100">
              <a:solidFill>
                <a:schemeClr val="dk1"/>
              </a:solidFill>
              <a:latin typeface="Calibri"/>
              <a:ea typeface="Calibri"/>
              <a:cs typeface="Calibri"/>
              <a:sym typeface="Calibri"/>
            </a:endParaRPr>
          </a:p>
        </p:txBody>
      </p:sp>
      <p:sp>
        <p:nvSpPr>
          <p:cNvPr id="238" name="Google Shape;238;p11"/>
          <p:cNvSpPr/>
          <p:nvPr/>
        </p:nvSpPr>
        <p:spPr>
          <a:xfrm>
            <a:off x="161700" y="3968342"/>
            <a:ext cx="7062000" cy="11940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1"/>
          <p:cNvSpPr/>
          <p:nvPr/>
        </p:nvSpPr>
        <p:spPr>
          <a:xfrm>
            <a:off x="449947" y="4398987"/>
            <a:ext cx="326700" cy="332700"/>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1"/>
          <p:cNvSpPr/>
          <p:nvPr/>
        </p:nvSpPr>
        <p:spPr>
          <a:xfrm>
            <a:off x="978399" y="4105365"/>
            <a:ext cx="6053100" cy="41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Employability, careers &amp; progression</a:t>
            </a:r>
            <a:endParaRPr sz="1350">
              <a:solidFill>
                <a:schemeClr val="dk1"/>
              </a:solidFill>
              <a:latin typeface="Calibri"/>
              <a:ea typeface="Calibri"/>
              <a:cs typeface="Calibri"/>
              <a:sym typeface="Calibri"/>
            </a:endParaRPr>
          </a:p>
        </p:txBody>
      </p:sp>
      <p:sp>
        <p:nvSpPr>
          <p:cNvPr id="241" name="Google Shape;241;p11"/>
          <p:cNvSpPr/>
          <p:nvPr/>
        </p:nvSpPr>
        <p:spPr>
          <a:xfrm>
            <a:off x="978399" y="4516435"/>
            <a:ext cx="6053100" cy="567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Navigate record, professional software skills and portfolio evidence, placement research for T Level students — and today, the full progression map from Level 3 Digital, Media and Film and your first written goals</a:t>
            </a:r>
            <a:endParaRPr sz="1100">
              <a:solidFill>
                <a:schemeClr val="dk1"/>
              </a:solidFill>
              <a:latin typeface="Calibri"/>
              <a:ea typeface="Calibri"/>
              <a:cs typeface="Calibri"/>
              <a:sym typeface="Calibri"/>
            </a:endParaRPr>
          </a:p>
        </p:txBody>
      </p:sp>
      <p:sp>
        <p:nvSpPr>
          <p:cNvPr id="242" name="Google Shape;242;p11"/>
          <p:cNvSpPr/>
          <p:nvPr/>
        </p:nvSpPr>
        <p:spPr>
          <a:xfrm>
            <a:off x="161700" y="5397300"/>
            <a:ext cx="7062000" cy="8319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D2434"/>
              </a:buClr>
              <a:buSzPts val="1250"/>
              <a:buFont typeface="Poppins"/>
              <a:buNone/>
            </a:pPr>
            <a:r>
              <a:rPr i="1" lang="en-US" sz="1250">
                <a:solidFill>
                  <a:srgbClr val="0D2434"/>
                </a:solidFill>
                <a:latin typeface="Poppins"/>
                <a:ea typeface="Poppins"/>
                <a:cs typeface="Poppins"/>
                <a:sym typeface="Poppins"/>
              </a:rPr>
              <a:t>Now the parked questions from the start of the session — every one gets answered, or gets an owner.</a:t>
            </a:r>
            <a:endParaRPr sz="1250">
              <a:solidFill>
                <a:schemeClr val="dk1"/>
              </a:solidFill>
              <a:latin typeface="Calibri"/>
              <a:ea typeface="Calibri"/>
              <a:cs typeface="Calibri"/>
              <a:sym typeface="Calibri"/>
            </a:endParaRPr>
          </a:p>
        </p:txBody>
      </p:sp>
      <p:sp>
        <p:nvSpPr>
          <p:cNvPr id="243" name="Google Shape;243;p11"/>
          <p:cNvSpPr/>
          <p:nvPr/>
        </p:nvSpPr>
        <p:spPr>
          <a:xfrm>
            <a:off x="7452360" y="1188720"/>
            <a:ext cx="4224528" cy="3364992"/>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4" name="Google Shape;244;p11"/>
          <p:cNvPicPr preferRelativeResize="0"/>
          <p:nvPr/>
        </p:nvPicPr>
        <p:blipFill rotWithShape="1">
          <a:blip r:embed="rId3">
            <a:alphaModFix/>
          </a:blip>
          <a:srcRect b="0" l="0" r="0" t="0"/>
          <a:stretch/>
        </p:blipFill>
        <p:spPr>
          <a:xfrm>
            <a:off x="7772400" y="1463040"/>
            <a:ext cx="457200" cy="457200"/>
          </a:xfrm>
          <a:prstGeom prst="rect">
            <a:avLst/>
          </a:prstGeom>
          <a:noFill/>
          <a:ln>
            <a:noFill/>
          </a:ln>
        </p:spPr>
      </p:pic>
      <p:sp>
        <p:nvSpPr>
          <p:cNvPr id="245" name="Google Shape;245;p11"/>
          <p:cNvSpPr/>
          <p:nvPr/>
        </p:nvSpPr>
        <p:spPr>
          <a:xfrm>
            <a:off x="8366760" y="1481328"/>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Poppins SemiBold"/>
              <a:buNone/>
            </a:pPr>
            <a:r>
              <a:rPr lang="en-US" sz="1500">
                <a:solidFill>
                  <a:srgbClr val="FFFFFF"/>
                </a:solidFill>
                <a:latin typeface="Poppins SemiBold"/>
                <a:ea typeface="Poppins SemiBold"/>
                <a:cs typeface="Poppins SemiBold"/>
                <a:sym typeface="Poppins SemiBold"/>
              </a:rPr>
              <a:t>Who to ask now</a:t>
            </a:r>
            <a:endParaRPr sz="1500">
              <a:solidFill>
                <a:schemeClr val="dk1"/>
              </a:solidFill>
              <a:latin typeface="Calibri"/>
              <a:ea typeface="Calibri"/>
              <a:cs typeface="Calibri"/>
              <a:sym typeface="Calibri"/>
            </a:endParaRPr>
          </a:p>
        </p:txBody>
      </p:sp>
      <p:sp>
        <p:nvSpPr>
          <p:cNvPr id="246" name="Google Shape;246;p11"/>
          <p:cNvSpPr/>
          <p:nvPr/>
        </p:nvSpPr>
        <p:spPr>
          <a:xfrm>
            <a:off x="7772400" y="2103120"/>
            <a:ext cx="3611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50"/>
              <a:buFont typeface="Poppins SemiBold"/>
              <a:buNone/>
            </a:pPr>
            <a:r>
              <a:rPr lang="en-US" sz="1250">
                <a:solidFill>
                  <a:srgbClr val="F6891E"/>
                </a:solidFill>
                <a:latin typeface="Poppins SemiBold"/>
                <a:ea typeface="Poppins SemiBold"/>
                <a:cs typeface="Poppins SemiBold"/>
                <a:sym typeface="Poppins SemiBold"/>
              </a:rPr>
              <a:t>Careers Team</a:t>
            </a:r>
            <a:endParaRPr sz="1250">
              <a:solidFill>
                <a:schemeClr val="dk1"/>
              </a:solidFill>
              <a:latin typeface="Calibri"/>
              <a:ea typeface="Calibri"/>
              <a:cs typeface="Calibri"/>
              <a:sym typeface="Calibri"/>
            </a:endParaRPr>
          </a:p>
        </p:txBody>
      </p:sp>
      <p:sp>
        <p:nvSpPr>
          <p:cNvPr id="247" name="Google Shape;247;p11"/>
          <p:cNvSpPr/>
          <p:nvPr/>
        </p:nvSpPr>
        <p:spPr>
          <a:xfrm>
            <a:off x="7772400" y="2404872"/>
            <a:ext cx="361188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7D2D6"/>
              </a:buClr>
              <a:buSzPts val="1050"/>
              <a:buFont typeface="Poppins"/>
              <a:buNone/>
            </a:pPr>
            <a:r>
              <a:rPr lang="en-US" sz="1050">
                <a:solidFill>
                  <a:srgbClr val="C7D2D6"/>
                </a:solidFill>
                <a:latin typeface="Poppins"/>
                <a:ea typeface="Poppins"/>
                <a:cs typeface="Poppins"/>
                <a:sym typeface="Poppins"/>
              </a:rPr>
              <a:t>Routes, applications, guidance appointments — the map, in detail.</a:t>
            </a:r>
            <a:endParaRPr sz="1050">
              <a:solidFill>
                <a:schemeClr val="dk1"/>
              </a:solidFill>
              <a:latin typeface="Calibri"/>
              <a:ea typeface="Calibri"/>
              <a:cs typeface="Calibri"/>
              <a:sym typeface="Calibri"/>
            </a:endParaRPr>
          </a:p>
        </p:txBody>
      </p:sp>
      <p:sp>
        <p:nvSpPr>
          <p:cNvPr id="248" name="Google Shape;248;p11"/>
          <p:cNvSpPr/>
          <p:nvPr/>
        </p:nvSpPr>
        <p:spPr>
          <a:xfrm>
            <a:off x="7772400" y="2944368"/>
            <a:ext cx="3611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50"/>
              <a:buFont typeface="Poppins SemiBold"/>
              <a:buNone/>
            </a:pPr>
            <a:r>
              <a:rPr lang="en-US" sz="1250">
                <a:solidFill>
                  <a:srgbClr val="F6891E"/>
                </a:solidFill>
                <a:latin typeface="Poppins SemiBold"/>
                <a:ea typeface="Poppins SemiBold"/>
                <a:cs typeface="Poppins SemiBold"/>
                <a:sym typeface="Poppins SemiBold"/>
              </a:rPr>
              <a:t>Personal tutor</a:t>
            </a:r>
            <a:endParaRPr sz="1250">
              <a:solidFill>
                <a:schemeClr val="dk1"/>
              </a:solidFill>
              <a:latin typeface="Calibri"/>
              <a:ea typeface="Calibri"/>
              <a:cs typeface="Calibri"/>
              <a:sym typeface="Calibri"/>
            </a:endParaRPr>
          </a:p>
        </p:txBody>
      </p:sp>
      <p:sp>
        <p:nvSpPr>
          <p:cNvPr id="249" name="Google Shape;249;p11"/>
          <p:cNvSpPr/>
          <p:nvPr/>
        </p:nvSpPr>
        <p:spPr>
          <a:xfrm>
            <a:off x="7772400" y="3246120"/>
            <a:ext cx="361188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7D2D6"/>
              </a:buClr>
              <a:buSzPts val="1050"/>
              <a:buFont typeface="Poppins"/>
              <a:buNone/>
            </a:pPr>
            <a:r>
              <a:rPr lang="en-US" sz="1050">
                <a:solidFill>
                  <a:srgbClr val="C7D2D6"/>
                </a:solidFill>
                <a:latin typeface="Poppins"/>
                <a:ea typeface="Poppins"/>
                <a:cs typeface="Poppins"/>
                <a:sym typeface="Poppins"/>
              </a:rPr>
              <a:t>Your goals, your ILP, anything induction left unresolved.</a:t>
            </a:r>
            <a:endParaRPr sz="1050">
              <a:solidFill>
                <a:schemeClr val="dk1"/>
              </a:solidFill>
              <a:latin typeface="Calibri"/>
              <a:ea typeface="Calibri"/>
              <a:cs typeface="Calibri"/>
              <a:sym typeface="Calibri"/>
            </a:endParaRPr>
          </a:p>
        </p:txBody>
      </p:sp>
      <p:sp>
        <p:nvSpPr>
          <p:cNvPr id="250" name="Google Shape;250;p11"/>
          <p:cNvSpPr/>
          <p:nvPr/>
        </p:nvSpPr>
        <p:spPr>
          <a:xfrm>
            <a:off x="7772400" y="3785616"/>
            <a:ext cx="3611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50"/>
              <a:buFont typeface="Poppins SemiBold"/>
              <a:buNone/>
            </a:pPr>
            <a:r>
              <a:rPr lang="en-US" sz="1250">
                <a:solidFill>
                  <a:srgbClr val="F6891E"/>
                </a:solidFill>
                <a:latin typeface="Poppins SemiBold"/>
                <a:ea typeface="Poppins SemiBold"/>
                <a:cs typeface="Poppins SemiBold"/>
                <a:sym typeface="Poppins SemiBold"/>
              </a:rPr>
              <a:t>Head of Curriculum</a:t>
            </a:r>
            <a:endParaRPr sz="1250">
              <a:solidFill>
                <a:schemeClr val="dk1"/>
              </a:solidFill>
              <a:latin typeface="Calibri"/>
              <a:ea typeface="Calibri"/>
              <a:cs typeface="Calibri"/>
              <a:sym typeface="Calibri"/>
            </a:endParaRPr>
          </a:p>
        </p:txBody>
      </p:sp>
      <p:sp>
        <p:nvSpPr>
          <p:cNvPr id="251" name="Google Shape;251;p11"/>
          <p:cNvSpPr/>
          <p:nvPr/>
        </p:nvSpPr>
        <p:spPr>
          <a:xfrm>
            <a:off x="7772400" y="4087368"/>
            <a:ext cx="361188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7D2D6"/>
              </a:buClr>
              <a:buSzPts val="1050"/>
              <a:buFont typeface="Poppins"/>
              <a:buNone/>
            </a:pPr>
            <a:r>
              <a:rPr lang="en-US" sz="1050">
                <a:solidFill>
                  <a:srgbClr val="C7D2D6"/>
                </a:solidFill>
                <a:latin typeface="Poppins"/>
                <a:ea typeface="Poppins"/>
                <a:cs typeface="Poppins"/>
                <a:sym typeface="Poppins"/>
              </a:rPr>
              <a:t>Course-level concerns, including course fit.</a:t>
            </a:r>
            <a:endParaRPr sz="1050">
              <a:solidFill>
                <a:schemeClr val="dk1"/>
              </a:solidFill>
              <a:latin typeface="Calibri"/>
              <a:ea typeface="Calibri"/>
              <a:cs typeface="Calibri"/>
              <a:sym typeface="Calibri"/>
            </a:endParaRPr>
          </a:p>
        </p:txBody>
      </p:sp>
      <p:sp>
        <p:nvSpPr>
          <p:cNvPr id="252" name="Google Shape;252;p11"/>
          <p:cNvSpPr/>
          <p:nvPr/>
        </p:nvSpPr>
        <p:spPr>
          <a:xfrm>
            <a:off x="7452360" y="4709160"/>
            <a:ext cx="4224528" cy="1188720"/>
          </a:xfrm>
          <a:prstGeom prst="rect">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1"/>
          <p:cNvSpPr/>
          <p:nvPr/>
        </p:nvSpPr>
        <p:spPr>
          <a:xfrm>
            <a:off x="7616952" y="4800600"/>
            <a:ext cx="3895344"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Before delivery — insert: (1) Careers Team location and room. (2) Drop-in times this term. (3) Booking route. (4) Any digital or media-specific careers advice available on this campus — name it so students know to ask.</a:t>
            </a:r>
            <a:endParaRPr sz="1050">
              <a:solidFill>
                <a:schemeClr val="dk1"/>
              </a:solidFill>
              <a:latin typeface="Calibri"/>
              <a:ea typeface="Calibri"/>
              <a:cs typeface="Calibri"/>
              <a:sym typeface="Calibri"/>
            </a:endParaRPr>
          </a:p>
        </p:txBody>
      </p:sp>
      <p:sp>
        <p:nvSpPr>
          <p:cNvPr id="254" name="Google Shape;254;p11"/>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255" name="Google Shape;255;p11"/>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9</a:t>
            </a:r>
            <a:endParaRPr sz="8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0" name="Shape 260"/>
        <p:cNvGrpSpPr/>
        <p:nvPr/>
      </p:nvGrpSpPr>
      <p:grpSpPr>
        <a:xfrm>
          <a:off x="0" y="0"/>
          <a:ext cx="0" cy="0"/>
          <a:chOff x="0" y="0"/>
          <a:chExt cx="0" cy="0"/>
        </a:xfrm>
      </p:grpSpPr>
      <p:sp>
        <p:nvSpPr>
          <p:cNvPr id="261" name="Google Shape;261;p12"/>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One goal, on paper</a:t>
            </a:r>
            <a:endParaRPr sz="2500">
              <a:solidFill>
                <a:schemeClr val="dk1"/>
              </a:solidFill>
              <a:latin typeface="Calibri"/>
              <a:ea typeface="Calibri"/>
              <a:cs typeface="Calibri"/>
              <a:sym typeface="Calibri"/>
            </a:endParaRPr>
          </a:p>
        </p:txBody>
      </p:sp>
      <p:sp>
        <p:nvSpPr>
          <p:cNvPr id="262" name="Google Shape;262;p12"/>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2"/>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ACTIVITY</a:t>
            </a:r>
            <a:endParaRPr sz="1050">
              <a:solidFill>
                <a:schemeClr val="dk1"/>
              </a:solidFill>
              <a:latin typeface="Calibri"/>
              <a:ea typeface="Calibri"/>
              <a:cs typeface="Calibri"/>
              <a:sym typeface="Calibri"/>
            </a:endParaRPr>
          </a:p>
        </p:txBody>
      </p:sp>
      <p:sp>
        <p:nvSpPr>
          <p:cNvPr id="264" name="Google Shape;264;p12"/>
          <p:cNvSpPr/>
          <p:nvPr/>
        </p:nvSpPr>
        <p:spPr>
          <a:xfrm>
            <a:off x="502920" y="1005840"/>
            <a:ext cx="111556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Take the strongest goal from your three horizons — or choose one of these. Write it. Specific, first step, date.</a:t>
            </a:r>
            <a:endParaRPr sz="1300">
              <a:solidFill>
                <a:schemeClr val="dk1"/>
              </a:solidFill>
              <a:latin typeface="Calibri"/>
              <a:ea typeface="Calibri"/>
              <a:cs typeface="Calibri"/>
              <a:sym typeface="Calibri"/>
            </a:endParaRPr>
          </a:p>
        </p:txBody>
      </p:sp>
      <p:sp>
        <p:nvSpPr>
          <p:cNvPr id="265" name="Google Shape;265;p12"/>
          <p:cNvSpPr/>
          <p:nvPr/>
        </p:nvSpPr>
        <p:spPr>
          <a:xfrm>
            <a:off x="1188720" y="1572768"/>
            <a:ext cx="9811512" cy="4434840"/>
          </a:xfrm>
          <a:prstGeom prst="rect">
            <a:avLst/>
          </a:prstGeom>
          <a:solidFill>
            <a:srgbClr val="FFFFFF"/>
          </a:solidFill>
          <a:ln cap="flat" cmpd="sng" w="15875">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2"/>
          <p:cNvSpPr/>
          <p:nvPr/>
        </p:nvSpPr>
        <p:spPr>
          <a:xfrm>
            <a:off x="1508760" y="1892808"/>
            <a:ext cx="402336" cy="40233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2"/>
          <p:cNvSpPr/>
          <p:nvPr/>
        </p:nvSpPr>
        <p:spPr>
          <a:xfrm>
            <a:off x="1508760" y="18928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1</a:t>
            </a:r>
            <a:endParaRPr sz="1300">
              <a:solidFill>
                <a:schemeClr val="dk1"/>
              </a:solidFill>
              <a:latin typeface="Calibri"/>
              <a:ea typeface="Calibri"/>
              <a:cs typeface="Calibri"/>
              <a:sym typeface="Calibri"/>
            </a:endParaRPr>
          </a:p>
        </p:txBody>
      </p:sp>
      <p:sp>
        <p:nvSpPr>
          <p:cNvPr id="268" name="Google Shape;268;p12"/>
          <p:cNvSpPr/>
          <p:nvPr/>
        </p:nvSpPr>
        <p:spPr>
          <a:xfrm>
            <a:off x="2148840" y="1865376"/>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50"/>
              <a:buFont typeface="Poppins Medium"/>
              <a:buNone/>
            </a:pPr>
            <a:r>
              <a:rPr lang="en-US" sz="1350">
                <a:solidFill>
                  <a:srgbClr val="1B2A30"/>
                </a:solidFill>
                <a:latin typeface="Poppins Medium"/>
                <a:ea typeface="Poppins Medium"/>
                <a:cs typeface="Poppins Medium"/>
                <a:sym typeface="Poppins Medium"/>
              </a:rPr>
              <a:t>My goal for this term is … and my first step this week is … My digital and media goal for this term is … and my first step this week is …</a:t>
            </a:r>
            <a:endParaRPr sz="1350">
              <a:solidFill>
                <a:schemeClr val="dk1"/>
              </a:solidFill>
              <a:latin typeface="Calibri"/>
              <a:ea typeface="Calibri"/>
              <a:cs typeface="Calibri"/>
              <a:sym typeface="Calibri"/>
            </a:endParaRPr>
          </a:p>
        </p:txBody>
      </p:sp>
      <p:sp>
        <p:nvSpPr>
          <p:cNvPr id="269" name="Google Shape;269;p12"/>
          <p:cNvSpPr/>
          <p:nvPr/>
        </p:nvSpPr>
        <p:spPr>
          <a:xfrm>
            <a:off x="1508760" y="2642616"/>
            <a:ext cx="402336" cy="40233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2"/>
          <p:cNvSpPr/>
          <p:nvPr/>
        </p:nvSpPr>
        <p:spPr>
          <a:xfrm>
            <a:off x="1508760" y="264261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2</a:t>
            </a:r>
            <a:endParaRPr sz="1300">
              <a:solidFill>
                <a:schemeClr val="dk1"/>
              </a:solidFill>
              <a:latin typeface="Calibri"/>
              <a:ea typeface="Calibri"/>
              <a:cs typeface="Calibri"/>
              <a:sym typeface="Calibri"/>
            </a:endParaRPr>
          </a:p>
        </p:txBody>
      </p:sp>
      <p:sp>
        <p:nvSpPr>
          <p:cNvPr id="271" name="Google Shape;271;p12"/>
          <p:cNvSpPr/>
          <p:nvPr/>
        </p:nvSpPr>
        <p:spPr>
          <a:xfrm>
            <a:off x="2148840" y="2615184"/>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50"/>
              <a:buFont typeface="Poppins Medium"/>
              <a:buNone/>
            </a:pPr>
            <a:r>
              <a:rPr lang="en-US" sz="1350">
                <a:solidFill>
                  <a:srgbClr val="1B2A30"/>
                </a:solidFill>
                <a:latin typeface="Poppins Medium"/>
                <a:ea typeface="Poppins Medium"/>
                <a:cs typeface="Poppins Medium"/>
                <a:sym typeface="Poppins Medium"/>
              </a:rPr>
              <a:t>I will bring Navigate up to date this week — CV, Skills Assessment, Opportunities.</a:t>
            </a:r>
            <a:endParaRPr sz="1350">
              <a:solidFill>
                <a:schemeClr val="dk1"/>
              </a:solidFill>
              <a:latin typeface="Calibri"/>
              <a:ea typeface="Calibri"/>
              <a:cs typeface="Calibri"/>
              <a:sym typeface="Calibri"/>
            </a:endParaRPr>
          </a:p>
        </p:txBody>
      </p:sp>
      <p:sp>
        <p:nvSpPr>
          <p:cNvPr id="272" name="Google Shape;272;p12"/>
          <p:cNvSpPr/>
          <p:nvPr/>
        </p:nvSpPr>
        <p:spPr>
          <a:xfrm>
            <a:off x="1508760" y="3392424"/>
            <a:ext cx="402336" cy="40233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2"/>
          <p:cNvSpPr/>
          <p:nvPr/>
        </p:nvSpPr>
        <p:spPr>
          <a:xfrm>
            <a:off x="1508760" y="339242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3</a:t>
            </a:r>
            <a:endParaRPr sz="1300">
              <a:solidFill>
                <a:schemeClr val="dk1"/>
              </a:solidFill>
              <a:latin typeface="Calibri"/>
              <a:ea typeface="Calibri"/>
              <a:cs typeface="Calibri"/>
              <a:sym typeface="Calibri"/>
            </a:endParaRPr>
          </a:p>
        </p:txBody>
      </p:sp>
      <p:sp>
        <p:nvSpPr>
          <p:cNvPr id="274" name="Google Shape;274;p12"/>
          <p:cNvSpPr/>
          <p:nvPr/>
        </p:nvSpPr>
        <p:spPr>
          <a:xfrm>
            <a:off x="2148840" y="3364992"/>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50"/>
              <a:buFont typeface="Poppins Medium"/>
              <a:buNone/>
            </a:pPr>
            <a:r>
              <a:rPr lang="en-US" sz="1350">
                <a:solidFill>
                  <a:srgbClr val="1B2A30"/>
                </a:solidFill>
                <a:latin typeface="Poppins Medium"/>
                <a:ea typeface="Poppins Medium"/>
                <a:cs typeface="Poppins Medium"/>
                <a:sym typeface="Poppins Medium"/>
              </a:rPr>
              <a:t>I will book a Careers conversation about what my next step — university, degree apprenticeship, or a creative or digital industry role — actually requires from Year 1, and what I should be building this term.</a:t>
            </a:r>
            <a:endParaRPr sz="1350">
              <a:solidFill>
                <a:schemeClr val="dk1"/>
              </a:solidFill>
              <a:latin typeface="Calibri"/>
              <a:ea typeface="Calibri"/>
              <a:cs typeface="Calibri"/>
              <a:sym typeface="Calibri"/>
            </a:endParaRPr>
          </a:p>
        </p:txBody>
      </p:sp>
      <p:sp>
        <p:nvSpPr>
          <p:cNvPr id="275" name="Google Shape;275;p12"/>
          <p:cNvSpPr/>
          <p:nvPr/>
        </p:nvSpPr>
        <p:spPr>
          <a:xfrm>
            <a:off x="1508760" y="4142232"/>
            <a:ext cx="402336" cy="402336"/>
          </a:xfrm>
          <a:prstGeom prst="ellipse">
            <a:avLst/>
          </a:prstGeom>
          <a:solidFill>
            <a:srgbClr val="F68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1508760" y="414223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4</a:t>
            </a:r>
            <a:endParaRPr sz="1300">
              <a:solidFill>
                <a:schemeClr val="dk1"/>
              </a:solidFill>
              <a:latin typeface="Calibri"/>
              <a:ea typeface="Calibri"/>
              <a:cs typeface="Calibri"/>
              <a:sym typeface="Calibri"/>
            </a:endParaRPr>
          </a:p>
        </p:txBody>
      </p:sp>
      <p:sp>
        <p:nvSpPr>
          <p:cNvPr id="277" name="Google Shape;277;p12"/>
          <p:cNvSpPr/>
          <p:nvPr/>
        </p:nvSpPr>
        <p:spPr>
          <a:xfrm>
            <a:off x="2148840" y="4114800"/>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50"/>
              <a:buFont typeface="Poppins Medium"/>
              <a:buNone/>
            </a:pPr>
            <a:r>
              <a:rPr lang="en-US" sz="1350">
                <a:solidFill>
                  <a:srgbClr val="1B2A30"/>
                </a:solidFill>
                <a:latin typeface="Poppins Medium"/>
                <a:ea typeface="Poppins Medium"/>
                <a:cs typeface="Poppins Medium"/>
                <a:sym typeface="Poppins Medium"/>
              </a:rPr>
              <a:t>I am not sure this is the right course — I will talk to my tutor this week.</a:t>
            </a:r>
            <a:endParaRPr sz="1350">
              <a:solidFill>
                <a:schemeClr val="dk1"/>
              </a:solidFill>
              <a:latin typeface="Calibri"/>
              <a:ea typeface="Calibri"/>
              <a:cs typeface="Calibri"/>
              <a:sym typeface="Calibri"/>
            </a:endParaRPr>
          </a:p>
        </p:txBody>
      </p:sp>
      <p:cxnSp>
        <p:nvCxnSpPr>
          <p:cNvPr id="278" name="Google Shape;278;p12"/>
          <p:cNvCxnSpPr/>
          <p:nvPr/>
        </p:nvCxnSpPr>
        <p:spPr>
          <a:xfrm>
            <a:off x="1508760" y="4956048"/>
            <a:ext cx="9171432" cy="0"/>
          </a:xfrm>
          <a:prstGeom prst="straightConnector1">
            <a:avLst/>
          </a:prstGeom>
          <a:noFill/>
          <a:ln cap="flat" cmpd="sng" w="9525">
            <a:solidFill>
              <a:srgbClr val="D2DBDA"/>
            </a:solidFill>
            <a:prstDash val="solid"/>
            <a:round/>
            <a:headEnd len="sm" w="sm" type="none"/>
            <a:tailEnd len="sm" w="sm" type="none"/>
          </a:ln>
        </p:spPr>
      </p:cxnSp>
      <p:sp>
        <p:nvSpPr>
          <p:cNvPr id="279" name="Google Shape;279;p12"/>
          <p:cNvSpPr/>
          <p:nvPr/>
        </p:nvSpPr>
        <p:spPr>
          <a:xfrm>
            <a:off x="1508760" y="5120640"/>
            <a:ext cx="9171432"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1200"/>
              <a:buFont typeface="Poppins"/>
              <a:buNone/>
            </a:pPr>
            <a:r>
              <a:rPr i="1" lang="en-US" sz="1200">
                <a:solidFill>
                  <a:srgbClr val="5A6A6F"/>
                </a:solidFill>
                <a:latin typeface="Poppins"/>
                <a:ea typeface="Poppins"/>
                <a:cs typeface="Poppins"/>
                <a:sym typeface="Poppins"/>
              </a:rPr>
              <a:t>Your tutor keeps these. This one follows you into your ILP — you will see it again.</a:t>
            </a:r>
            <a:endParaRPr sz="1200">
              <a:solidFill>
                <a:schemeClr val="dk1"/>
              </a:solidFill>
              <a:latin typeface="Calibri"/>
              <a:ea typeface="Calibri"/>
              <a:cs typeface="Calibri"/>
              <a:sym typeface="Calibri"/>
            </a:endParaRPr>
          </a:p>
        </p:txBody>
      </p:sp>
      <p:sp>
        <p:nvSpPr>
          <p:cNvPr id="280" name="Google Shape;280;p12"/>
          <p:cNvSpPr/>
          <p:nvPr/>
        </p:nvSpPr>
        <p:spPr>
          <a:xfrm>
            <a:off x="502920" y="6510528"/>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a:t>
            </a:r>
            <a:endParaRPr sz="850">
              <a:solidFill>
                <a:schemeClr val="dk1"/>
              </a:solidFill>
              <a:latin typeface="Calibri"/>
              <a:ea typeface="Calibri"/>
              <a:cs typeface="Calibri"/>
              <a:sym typeface="Calibri"/>
            </a:endParaRPr>
          </a:p>
        </p:txBody>
      </p:sp>
      <p:sp>
        <p:nvSpPr>
          <p:cNvPr id="281" name="Google Shape;281;p12"/>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10</a:t>
            </a:r>
            <a:endParaRPr sz="8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86" name="Shape 286"/>
        <p:cNvGrpSpPr/>
        <p:nvPr/>
      </p:nvGrpSpPr>
      <p:grpSpPr>
        <a:xfrm>
          <a:off x="0" y="0"/>
          <a:ext cx="0" cy="0"/>
          <a:chOff x="0" y="0"/>
          <a:chExt cx="0" cy="0"/>
        </a:xfrm>
      </p:grpSpPr>
      <p:sp>
        <p:nvSpPr>
          <p:cNvPr id="287" name="Google Shape;287;p13"/>
          <p:cNvSpPr/>
          <p:nvPr/>
        </p:nvSpPr>
        <p:spPr>
          <a:xfrm>
            <a:off x="777240" y="169164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300"/>
              <a:buFont typeface="Poppins SemiBold"/>
              <a:buNone/>
            </a:pPr>
            <a:r>
              <a:rPr lang="en-US" sz="1300">
                <a:solidFill>
                  <a:srgbClr val="F6891E"/>
                </a:solidFill>
                <a:latin typeface="Poppins SemiBold"/>
                <a:ea typeface="Poppins SemiBold"/>
                <a:cs typeface="Poppins SemiBold"/>
                <a:sym typeface="Poppins SemiBold"/>
              </a:rPr>
              <a:t>PROUD  ·  SEEK OPPORTUNITY</a:t>
            </a:r>
            <a:endParaRPr sz="1300">
              <a:solidFill>
                <a:schemeClr val="dk1"/>
              </a:solidFill>
              <a:latin typeface="Calibri"/>
              <a:ea typeface="Calibri"/>
              <a:cs typeface="Calibri"/>
              <a:sym typeface="Calibri"/>
            </a:endParaRPr>
          </a:p>
        </p:txBody>
      </p:sp>
      <p:sp>
        <p:nvSpPr>
          <p:cNvPr id="288" name="Google Shape;288;p13"/>
          <p:cNvSpPr/>
          <p:nvPr/>
        </p:nvSpPr>
        <p:spPr>
          <a:xfrm>
            <a:off x="777240" y="2194560"/>
            <a:ext cx="10698480" cy="20116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You started induction with a timetable.</a:t>
            </a:r>
            <a:endParaRPr sz="26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You leave it with a map, evidence already building,</a:t>
            </a:r>
            <a:endParaRPr sz="26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and one goal in your own handwriting.</a:t>
            </a:r>
            <a:endParaRPr sz="2600">
              <a:solidFill>
                <a:schemeClr val="dk1"/>
              </a:solidFill>
              <a:latin typeface="Calibri"/>
              <a:ea typeface="Calibri"/>
              <a:cs typeface="Calibri"/>
              <a:sym typeface="Calibri"/>
            </a:endParaRPr>
          </a:p>
        </p:txBody>
      </p:sp>
      <p:sp>
        <p:nvSpPr>
          <p:cNvPr id="289" name="Google Shape;289;p13"/>
          <p:cNvSpPr/>
          <p:nvPr/>
        </p:nvSpPr>
        <p:spPr>
          <a:xfrm>
            <a:off x="777240" y="4434840"/>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600"/>
              <a:buFont typeface="Poppins Medium"/>
              <a:buNone/>
            </a:pPr>
            <a:r>
              <a:rPr lang="en-US" sz="1600">
                <a:solidFill>
                  <a:srgbClr val="FFCF01"/>
                </a:solidFill>
                <a:latin typeface="Poppins Medium"/>
                <a:ea typeface="Poppins Medium"/>
                <a:cs typeface="Poppins Medium"/>
                <a:sym typeface="Poppins Medium"/>
              </a:rPr>
              <a:t>Whether the route is a BA at UCH Hastings, a digital degree apprenticeship, a creative industry role or a university place elsewhere — every one of them answers the same question: what did you build this term?</a:t>
            </a:r>
            <a:endParaRPr sz="1600">
              <a:solidFill>
                <a:schemeClr val="dk1"/>
              </a:solidFill>
              <a:latin typeface="Calibri"/>
              <a:ea typeface="Calibri"/>
              <a:cs typeface="Calibri"/>
              <a:sym typeface="Calibri"/>
            </a:endParaRPr>
          </a:p>
        </p:txBody>
      </p:sp>
      <p:sp>
        <p:nvSpPr>
          <p:cNvPr id="290" name="Google Shape;290;p13"/>
          <p:cNvSpPr/>
          <p:nvPr/>
        </p:nvSpPr>
        <p:spPr>
          <a:xfrm>
            <a:off x="777240" y="52120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4C9"/>
              </a:buClr>
              <a:buSzPts val="1250"/>
              <a:buFont typeface="Poppins"/>
              <a:buNone/>
            </a:pPr>
            <a:r>
              <a:rPr i="1" lang="en-US" sz="1250">
                <a:solidFill>
                  <a:srgbClr val="B9C4C9"/>
                </a:solidFill>
                <a:latin typeface="Poppins"/>
                <a:ea typeface="Poppins"/>
                <a:cs typeface="Poppins"/>
                <a:sym typeface="Poppins"/>
              </a:rPr>
              <a:t>End of the induction programme. The year starts properly now. End of induction. The Digital and Media year starts now. Go build something portfolio-worthy this week.</a:t>
            </a:r>
            <a:endParaRPr sz="1250">
              <a:solidFill>
                <a:schemeClr val="dk1"/>
              </a:solidFill>
              <a:latin typeface="Calibri"/>
              <a:ea typeface="Calibri"/>
              <a:cs typeface="Calibri"/>
              <a:sym typeface="Calibri"/>
            </a:endParaRPr>
          </a:p>
        </p:txBody>
      </p:sp>
      <p:sp>
        <p:nvSpPr>
          <p:cNvPr id="291" name="Google Shape;291;p13"/>
          <p:cNvSpPr/>
          <p:nvPr/>
        </p:nvSpPr>
        <p:spPr>
          <a:xfrm>
            <a:off x="777240" y="62636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A0"/>
              </a:buClr>
              <a:buSzPts val="1000"/>
              <a:buFont typeface="Poppins"/>
              <a:buNone/>
            </a:pPr>
            <a:r>
              <a:rPr lang="en-US" sz="1000">
                <a:solidFill>
                  <a:srgbClr val="8A9AA0"/>
                </a:solidFill>
                <a:latin typeface="Poppins"/>
                <a:ea typeface="Poppins"/>
                <a:cs typeface="Poppins"/>
                <a:sym typeface="Poppins"/>
              </a:rPr>
              <a:t>East Sussex College  ·  Student Induction 2026–27</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96" name="Shape 296"/>
        <p:cNvGrpSpPr/>
        <p:nvPr/>
      </p:nvGrpSpPr>
      <p:grpSpPr>
        <a:xfrm>
          <a:off x="0" y="0"/>
          <a:ext cx="0" cy="0"/>
          <a:chOff x="0" y="0"/>
          <a:chExt cx="0" cy="0"/>
        </a:xfrm>
      </p:grpSpPr>
      <p:sp>
        <p:nvSpPr>
          <p:cNvPr id="297" name="Google Shape;297;p14"/>
          <p:cNvSpPr/>
          <p:nvPr/>
        </p:nvSpPr>
        <p:spPr>
          <a:xfrm>
            <a:off x="0" y="0"/>
            <a:ext cx="12188952" cy="566928"/>
          </a:xfrm>
          <a:prstGeom prst="rect">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4"/>
          <p:cNvSpPr/>
          <p:nvPr/>
        </p:nvSpPr>
        <p:spPr>
          <a:xfrm>
            <a:off x="502920" y="0"/>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Poppins SemiBold"/>
              <a:buNone/>
            </a:pPr>
            <a:r>
              <a:rPr lang="en-US" sz="1400">
                <a:solidFill>
                  <a:srgbClr val="FFFFFF"/>
                </a:solidFill>
                <a:latin typeface="Poppins SemiBold"/>
                <a:ea typeface="Poppins SemiBold"/>
                <a:cs typeface="Poppins SemiBold"/>
                <a:sym typeface="Poppins SemiBold"/>
              </a:rPr>
              <a:t>TEACHER APPENDIX — DO NOT DISPLAY TO STUDENTS</a:t>
            </a:r>
            <a:endParaRPr sz="1400">
              <a:solidFill>
                <a:schemeClr val="dk1"/>
              </a:solidFill>
              <a:latin typeface="Calibri"/>
              <a:ea typeface="Calibri"/>
              <a:cs typeface="Calibri"/>
              <a:sym typeface="Calibri"/>
            </a:endParaRPr>
          </a:p>
        </p:txBody>
      </p:sp>
      <p:sp>
        <p:nvSpPr>
          <p:cNvPr id="299" name="Google Shape;299;p14"/>
          <p:cNvSpPr/>
          <p:nvPr/>
        </p:nvSpPr>
        <p:spPr>
          <a:xfrm>
            <a:off x="176150" y="665351"/>
            <a:ext cx="11509800" cy="207780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4"/>
          <p:cNvSpPr/>
          <p:nvPr/>
        </p:nvSpPr>
        <p:spPr>
          <a:xfrm>
            <a:off x="603153" y="740722"/>
            <a:ext cx="1065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TEACHING THIS GROUP</a:t>
            </a:r>
            <a:endParaRPr sz="1100">
              <a:solidFill>
                <a:schemeClr val="dk1"/>
              </a:solidFill>
              <a:latin typeface="Calibri"/>
              <a:ea typeface="Calibri"/>
              <a:cs typeface="Calibri"/>
              <a:sym typeface="Calibri"/>
            </a:endParaRPr>
          </a:p>
        </p:txBody>
      </p:sp>
      <p:sp>
        <p:nvSpPr>
          <p:cNvPr id="301" name="Google Shape;301;p14"/>
          <p:cNvSpPr/>
          <p:nvPr/>
        </p:nvSpPr>
        <p:spPr>
          <a:xfrm>
            <a:off x="262775" y="1188725"/>
            <a:ext cx="11319300" cy="1353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L3 Year 1 — adult register, critical-friend honesty. This closes induction, so it should feel like a beginning, not a ceremony. Two jobs: de-default the progression map (five routes, no hierarchy — challenge both ‘uni is the default’ and ‘people like me don’t’) and turn aspiration into one written, dated goal. Hold the IAG boundary: this session maps terrain; personal guidance belongs with Careers. Goal work feeds the ILP — say so out loud. Level 3 Digital and Media students typically arrive with strong consumer familiarity with the tools and platforms they are about to study professionally — they have watched, streamed and scrolled for years, but making to a professional standard is a qualitatively different discipline. The gap between confident consumer and competent creator surfaces most sharply in the first assessed project; handle the transition with honesty, not reassurance. T Level students face an additional transition: the Employer Set Project and mandatory industry placement introduce professional accountability unlike school coursework — frame both as professional work from Week 1, not optional extras. Games Art students in Year 1 face 9 projects: the goals activity is where this becomes a structured plan rather than a source of background anxiety. The ILP target should name a specific portfolio quality standard, a named unit and grade threshold, or a placement milestone — not "improve" or "do my best". the ILP target for UAL creative and content creation students should name a specific portfolio piece and the grade standard it must reach. For T Level students, the ILP target should include a named placement research milestone and an Employer Set Project skills checkpoint, both dated. For A Level students, the target should reference the grade threshold required for the intended university or degree apprenticeship route, with subject-specific skills named.</a:t>
            </a:r>
            <a:endParaRPr sz="950">
              <a:solidFill>
                <a:schemeClr val="dk1"/>
              </a:solidFill>
              <a:latin typeface="Calibri"/>
              <a:ea typeface="Calibri"/>
              <a:cs typeface="Calibri"/>
              <a:sym typeface="Calibri"/>
            </a:endParaRPr>
          </a:p>
        </p:txBody>
      </p:sp>
      <p:sp>
        <p:nvSpPr>
          <p:cNvPr id="302" name="Google Shape;302;p14"/>
          <p:cNvSpPr/>
          <p:nvPr/>
        </p:nvSpPr>
        <p:spPr>
          <a:xfrm>
            <a:off x="176150" y="2834700"/>
            <a:ext cx="11509800" cy="169170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4"/>
          <p:cNvSpPr/>
          <p:nvPr/>
        </p:nvSpPr>
        <p:spPr>
          <a:xfrm>
            <a:off x="603153" y="2862076"/>
            <a:ext cx="1065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PRE-FLIGHT CHECKLIST</a:t>
            </a:r>
            <a:endParaRPr sz="1100">
              <a:solidFill>
                <a:schemeClr val="dk1"/>
              </a:solidFill>
              <a:latin typeface="Calibri"/>
              <a:ea typeface="Calibri"/>
              <a:cs typeface="Calibri"/>
              <a:sym typeface="Calibri"/>
            </a:endParaRPr>
          </a:p>
        </p:txBody>
      </p:sp>
      <p:sp>
        <p:nvSpPr>
          <p:cNvPr id="304" name="Google Shape;304;p14"/>
          <p:cNvSpPr/>
          <p:nvPr/>
        </p:nvSpPr>
        <p:spPr>
          <a:xfrm>
            <a:off x="603153" y="3154684"/>
            <a:ext cx="10656000" cy="12984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Course-change deadline + named contact confirmed and on slide 8</a:t>
            </a:r>
            <a:endParaRPr sz="950">
              <a:solidFill>
                <a:schemeClr val="dk1"/>
              </a:solidFill>
              <a:latin typeface="Calibri"/>
              <a:ea typeface="Calibri"/>
              <a:cs typeface="Calibri"/>
              <a:sym typeface="Calibri"/>
            </a:endParaRPr>
          </a:p>
          <a:p>
            <a:pPr indent="-342900" lvl="0" marL="342900" marR="0" rtl="0" algn="l">
              <a:spcBef>
                <a:spcPts val="40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Careers Team location / booking route confirmed on slide 9</a:t>
            </a:r>
            <a:endParaRPr sz="950">
              <a:solidFill>
                <a:schemeClr val="dk1"/>
              </a:solidFill>
              <a:latin typeface="Calibri"/>
              <a:ea typeface="Calibri"/>
              <a:cs typeface="Calibri"/>
              <a:sym typeface="Calibri"/>
            </a:endParaRPr>
          </a:p>
          <a:p>
            <a:pPr indent="-342900" lvl="0" marL="342900" marR="0" rtl="0" algn="l">
              <a:spcBef>
                <a:spcPts val="40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Navigate status checked with the Module H deliverer — slide 5 degrades without active profiles</a:t>
            </a:r>
            <a:endParaRPr sz="950">
              <a:solidFill>
                <a:schemeClr val="dk1"/>
              </a:solidFill>
              <a:latin typeface="Calibri"/>
              <a:ea typeface="Calibri"/>
              <a:cs typeface="Calibri"/>
              <a:sym typeface="Calibri"/>
            </a:endParaRPr>
          </a:p>
          <a:p>
            <a:pPr indent="-342900" lvl="0" marL="342900" marR="0" rtl="0" algn="l">
              <a:spcBef>
                <a:spcPts val="40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Commitment cards printed; board or post-its ready for parked questions (slide 3)</a:t>
            </a:r>
            <a:endParaRPr sz="950">
              <a:solidFill>
                <a:schemeClr val="dk1"/>
              </a:solidFill>
              <a:latin typeface="Calibri"/>
              <a:ea typeface="Calibri"/>
              <a:cs typeface="Calibri"/>
              <a:sym typeface="Calibri"/>
            </a:endParaRPr>
          </a:p>
        </p:txBody>
      </p:sp>
      <p:sp>
        <p:nvSpPr>
          <p:cNvPr id="305" name="Google Shape;305;p14"/>
          <p:cNvSpPr/>
          <p:nvPr/>
        </p:nvSpPr>
        <p:spPr>
          <a:xfrm>
            <a:off x="176142" y="4663440"/>
            <a:ext cx="11509800" cy="1691700"/>
          </a:xfrm>
          <a:prstGeom prst="rect">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6" name="Google Shape;306;p14"/>
          <p:cNvPicPr preferRelativeResize="0"/>
          <p:nvPr/>
        </p:nvPicPr>
        <p:blipFill rotWithShape="1">
          <a:blip r:embed="rId3">
            <a:alphaModFix/>
          </a:blip>
          <a:srcRect b="0" l="0" r="0" t="0"/>
          <a:stretch/>
        </p:blipFill>
        <p:spPr>
          <a:xfrm>
            <a:off x="603153" y="4791455"/>
            <a:ext cx="659925" cy="310895"/>
          </a:xfrm>
          <a:prstGeom prst="rect">
            <a:avLst/>
          </a:prstGeom>
          <a:noFill/>
          <a:ln>
            <a:noFill/>
          </a:ln>
        </p:spPr>
      </p:pic>
      <p:sp>
        <p:nvSpPr>
          <p:cNvPr id="307" name="Google Shape;307;p14"/>
          <p:cNvSpPr/>
          <p:nvPr/>
        </p:nvSpPr>
        <p:spPr>
          <a:xfrm>
            <a:off x="1495993" y="4791455"/>
            <a:ext cx="97629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00"/>
              <a:buFont typeface="Poppins SemiBold"/>
              <a:buNone/>
            </a:pPr>
            <a:r>
              <a:rPr lang="en-US" sz="1100">
                <a:solidFill>
                  <a:srgbClr val="B23A2E"/>
                </a:solidFill>
                <a:latin typeface="Poppins SemiBold"/>
                <a:ea typeface="Poppins SemiBold"/>
                <a:cs typeface="Poppins SemiBold"/>
                <a:sym typeface="Poppins SemiBold"/>
              </a:rPr>
              <a:t>SAFEGUARDING</a:t>
            </a:r>
            <a:endParaRPr sz="1100">
              <a:solidFill>
                <a:schemeClr val="dk1"/>
              </a:solidFill>
              <a:latin typeface="Calibri"/>
              <a:ea typeface="Calibri"/>
              <a:cs typeface="Calibri"/>
              <a:sym typeface="Calibri"/>
            </a:endParaRPr>
          </a:p>
        </p:txBody>
      </p:sp>
      <p:sp>
        <p:nvSpPr>
          <p:cNvPr id="308" name="Google Shape;308;p14"/>
          <p:cNvSpPr/>
          <p:nvPr/>
        </p:nvSpPr>
        <p:spPr>
          <a:xfrm>
            <a:off x="603153" y="5175502"/>
            <a:ext cx="10656000" cy="1097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Future-facing and course-fit talk can surface money worries, home circumstances, caring responsibilities or hopelessness about what comes next. Listen calmly. Do not promise secrecy. Do not investigate. Report the same day via the ESCG safeguarding route. Any commitment card carrying option 4 gets a same-day conversation — before the student goes home where possible. For creative students — Games Art, Photography, Content Creation, Film — self-worth attached to creative output is a consistent risk; the first critical feedback session is the highest-vulnerability moment after induction. Frame critique as a professional skill from Week 1. For Media and Film A Level students, content on representation can act as a disclosure surface for students with personal experience of those issues — establish a psychologically safe classroom culture before this content appears. For Cybersecurity and IT students, course content on online harms and surveillance may surface disclosures about digital abuse or exploitation — introduce the ethical and legal framework in Week 1 and know the referral route before teaching this material.</a:t>
            </a:r>
            <a:endParaRPr sz="9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