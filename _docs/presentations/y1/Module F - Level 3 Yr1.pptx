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 — TITLE</a:t>
            </a:r>
            <a:br>
              <a:rPr lang="en-US"/>
            </a:br>
            <a:r>
              <a:rPr lang="en-US"/>
              <a:t>Duration: ~1 min</a:t>
            </a:r>
            <a:br>
              <a:rPr lang="en-US"/>
            </a:br>
            <a:r>
              <a:rPr lang="en-US"/>
              <a:t>Mode: N/A</a:t>
            </a:r>
            <a:br>
              <a:rPr lang="en-US"/>
            </a:br>
            <a:br>
              <a:rPr lang="en-US"/>
            </a:br>
            <a:r>
              <a:rPr lang="en-US"/>
              <a:t>This is Module F of the induction programme — Staying Safe at College. It sits in Group 2 alongside Modules E and G.</a:t>
            </a:r>
            <a:br>
              <a:rPr lang="en-US"/>
            </a:br>
            <a:br>
              <a:rPr lang="en-US"/>
            </a:br>
            <a:r>
              <a:rPr lang="en-US"/>
              <a:t>The session runs 1.5 hours and covers: what safeguarding means at college level; Prevent and radicalisation (brief introduction — tutorials go deeper); online safety (brief introduction — tutorials go deeper); the ESCG AI Policy; how the college keeps students safe; the Safeguarding Team contacts; and how to report a concern.</a:t>
            </a:r>
            <a:br>
              <a:rPr lang="en-US"/>
            </a:br>
            <a:br>
              <a:rPr lang="en-US"/>
            </a:br>
            <a:r>
              <a:rPr lang="en-US"/>
              <a:t>Safeguarding note: This session is a primary disclosure surface. Students may disclose during the settled discussion or the barriers slides. Listen calmly, do not promise secrecy, do not investigate yourself. Report same-day to your Safeguarding Manager. Full procedure in Module F speaker notes slide 9.</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 SESSION MAP</a:t>
            </a:r>
            <a:br>
              <a:rPr lang="en-US"/>
            </a:br>
            <a:r>
              <a:rPr lang="en-US"/>
              <a:t>Duration: ~2 mins</a:t>
            </a:r>
            <a:br>
              <a:rPr lang="en-US"/>
            </a:br>
            <a:r>
              <a:rPr lang="en-US"/>
              <a:t>Mode: SESSION MAP</a:t>
            </a:r>
            <a:br>
              <a:rPr lang="en-US"/>
            </a:br>
            <a:br>
              <a:rPr lang="en-US"/>
            </a:br>
            <a:r>
              <a:rPr lang="en-US"/>
              <a:t>Walk students through the seven areas briefly. Be explicit about scope: Prevent and online safety get a proper introduction here but tutorials are where the depth happens. This manages expectations — students don't need to feel like they're getting the whole picture in this session.</a:t>
            </a:r>
            <a:br>
              <a:rPr lang="en-US"/>
            </a:br>
            <a:br>
              <a:rPr lang="en-US"/>
            </a:br>
            <a:r>
              <a:rPr lang="en-US"/>
              <a:t>Say something like: 'This session is about knowing what's there and knowing who to talk to. You don't have to remember every detail — the details live on your lanyard, in the handout, and on the ESCG safeguarding page. What matters today is that you know the shape of it.'</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3 — SETTLED DISCUSSION</a:t>
            </a:r>
            <a:br>
              <a:rPr lang="en-US"/>
            </a:br>
            <a:r>
              <a:rPr lang="en-US"/>
              <a:t>Duration: 8–10 mins (2 mins paired, 3–4 mins pairs share back, brief teacher close)</a:t>
            </a:r>
            <a:br>
              <a:rPr lang="en-US"/>
            </a:br>
            <a:r>
              <a:rPr lang="en-US"/>
              <a:t>Mode: DISCUSSION</a:t>
            </a:r>
            <a:br>
              <a:rPr lang="en-US"/>
            </a:br>
            <a:br>
              <a:rPr lang="en-US"/>
            </a:br>
            <a:r>
              <a:rPr lang="en-US"/>
              <a:t>Purpose: To settle the group and prime the safeguarding frame without alarming anyone. 'Feeling safe' is accessible and personal — it opens the conversation on students' own terms rather than leading with institutional policy.</a:t>
            </a:r>
            <a:br>
              <a:rPr lang="en-US"/>
            </a:br>
            <a:br>
              <a:rPr lang="en-US"/>
            </a:br>
            <a:r>
              <a:rPr lang="en-US"/>
              <a:t>Pairs first (2 mins), then brief open share. Do not call on individuals — invite volunteers only. You're listening for the delta between in-person and online safety — most students will feel less safe online, which sets up the online safety slide naturally.</a:t>
            </a:r>
            <a:br>
              <a:rPr lang="en-US"/>
            </a:br>
            <a:br>
              <a:rPr lang="en-US"/>
            </a:br>
            <a:r>
              <a:rPr lang="en-US"/>
              <a:t>What to watch for: Any student who becomes quiet, withdrawn, or visibly uncomfortable during this discussion may be holding something. Do not push. Note it — follow up privately after the session or flag to wellbeing.</a:t>
            </a:r>
            <a:br>
              <a:rPr lang="en-US"/>
            </a:br>
            <a:br>
              <a:rPr lang="en-US"/>
            </a:br>
            <a:r>
              <a:rPr lang="en-US"/>
              <a:t>Say something like: 'I'm not going to ask you to share anything you don't want to share. Just have a genuine chat with the person next to you — two minutes — then we'll hear a few thoughts.'</a:t>
            </a:r>
            <a:br>
              <a:rPr lang="en-US"/>
            </a:br>
            <a:br>
              <a:rPr lang="en-US"/>
            </a:br>
            <a:r>
              <a:rPr lang="en-US"/>
              <a:t>Safeguarding: If a student discloses something during this activity — listen calmly, thank them, tell them you'll make sure the right person knows. Do not promise secrecy. Do not investigate. Report same-day.</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4 — SAFEGUARDING AT COLLEGE</a:t>
            </a:r>
            <a:br>
              <a:rPr lang="en-US"/>
            </a:br>
            <a:r>
              <a:rPr lang="en-US"/>
              <a:t>Duration: 6–7 mins</a:t>
            </a:r>
            <a:br>
              <a:rPr lang="en-US"/>
            </a:br>
            <a:r>
              <a:rPr lang="en-US"/>
              <a:t>Mode: TEACHER INPUT</a:t>
            </a:r>
            <a:br>
              <a:rPr lang="en-US"/>
            </a:br>
            <a:br>
              <a:rPr lang="en-US"/>
            </a:br>
            <a:r>
              <a:rPr lang="en-US"/>
              <a:t>Purpose: Reframe safeguarding from something that happens to students to something students participate in. The autonomy framing is deliberate — FE students often resist anything that feels infantilising.</a:t>
            </a:r>
            <a:br>
              <a:rPr lang="en-US"/>
            </a:br>
            <a:br>
              <a:rPr lang="en-US"/>
            </a:br>
            <a:r>
              <a:rPr lang="en-US"/>
              <a:t>Key message: 'Safeguarding at college isn't about keeping you under surveillance. It's about making sure that if something is wrong — for you or for someone you know — there is a clear path to support. You are part of that system.'</a:t>
            </a:r>
            <a:br>
              <a:rPr lang="en-US"/>
            </a:br>
            <a:br>
              <a:rPr lang="en-US"/>
            </a:br>
            <a:r>
              <a:rPr lang="en-US"/>
              <a:t>The self-referral point is important: many students don't know they can contact the Safeguarding Team directly, without going through a teacher first. Name this explicitly.</a:t>
            </a:r>
            <a:br>
              <a:rPr lang="en-US"/>
            </a:br>
            <a:br>
              <a:rPr lang="en-US"/>
            </a:br>
            <a:r>
              <a:rPr lang="en-US"/>
              <a:t>Don't read the slide — use it as a reference point. The right move is two or three well-chosen sentences per point, then move on. This slide is orientation, not lecture.</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5 — PREVENT</a:t>
            </a:r>
            <a:br>
              <a:rPr lang="en-US"/>
            </a:br>
            <a:r>
              <a:rPr lang="en-US"/>
              <a:t>Duration: 8–10 mins</a:t>
            </a:r>
            <a:br>
              <a:rPr lang="en-US"/>
            </a:br>
            <a:r>
              <a:rPr lang="en-US"/>
              <a:t>Mode: TEACHER INPUT</a:t>
            </a:r>
            <a:br>
              <a:rPr lang="en-US"/>
            </a:br>
            <a:br>
              <a:rPr lang="en-US"/>
            </a:br>
            <a:r>
              <a:rPr lang="en-US"/>
              <a:t>Purpose: Introduce the statutory Prevent duty and the concepts of radicalisation and extremism without sensationalising or alarming. Name the legal duty ('ESCG has a legal duty under the Prevent Duty to help protect students from being drawn into radicalisation') but do not make this feel like a police briefing.</a:t>
            </a:r>
            <a:br>
              <a:rPr lang="en-US"/>
            </a:br>
            <a:br>
              <a:rPr lang="en-US"/>
            </a:br>
            <a:r>
              <a:rPr lang="en-US"/>
              <a:t>Local intelligence to use: The Safeguarding Quick Guide identifies the main risks as extreme right-wing and misogynistic ideology (particularly online pipelines), county lines (covered in online safety), and knife crime. The radicalisation risk is highest from online content and lone-actor narratives — not from organised groups or places of worship. Use this to ground the abstract.</a:t>
            </a:r>
            <a:br>
              <a:rPr lang="en-US"/>
            </a:br>
            <a:br>
              <a:rPr lang="en-US"/>
            </a:br>
            <a:r>
              <a:rPr lang="en-US"/>
              <a:t>The vulnerability factors: approach these with care. Some students in the room may recognise themselves in this list — isolation, excluded, searching for purpose. That recognition is valuable, not shameful. Frame: 'These aren't signs of weakness — they're human needs. The problem is when people exploit those needs.'</a:t>
            </a:r>
            <a:br>
              <a:rPr lang="en-US"/>
            </a:br>
            <a:br>
              <a:rPr lang="en-US"/>
            </a:br>
            <a:r>
              <a:rPr lang="en-US"/>
              <a:t>The mustard panel nuance is critical: exploring ideas, questioning authority, having strong political views — none of these is Prevent. Challenge the common misunderstanding that Prevent is about policing thought. 'If you're in a heated debate in the common room about immigration policy — that's healthy. If someone is telling you that a particular group of people deserves to be harmed — that's different.'</a:t>
            </a:r>
            <a:br>
              <a:rPr lang="en-US"/>
            </a:br>
            <a:br>
              <a:rPr lang="en-US"/>
            </a:br>
            <a:r>
              <a:rPr lang="en-US"/>
              <a:t>JULIA PROVEN at Lewes/Newhaven is the college's single point of contact for Prevent referrals. Hastings: Lydia Leonard — 07848 442081. If a student shares a Prevent concern, do not investigate yourself. Refer to your campus safeguarding manager same-day.</a:t>
            </a:r>
            <a:br>
              <a:rPr lang="en-US"/>
            </a:br>
            <a:br>
              <a:rPr lang="en-US"/>
            </a:br>
            <a:r>
              <a:rPr lang="en-US"/>
              <a:t>Say something like: 'The word Prevent gets people nervous. It shouldn't. It's about recognising when someone — maybe you, maybe a friend — is being manipulated toward something harmful, and knowing where to go. That's it.'</a:t>
            </a:r>
            <a:endParaRPr/>
          </a:p>
        </p:txBody>
      </p:sp>
      <p:sp>
        <p:nvSpPr>
          <p:cNvPr id="111" name="Google Shape;11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6 — ONLINE SAFETY</a:t>
            </a:r>
            <a:br>
              <a:rPr lang="en-US"/>
            </a:br>
            <a:r>
              <a:rPr lang="en-US"/>
              <a:t>Duration: 7–8 mins</a:t>
            </a:r>
            <a:br>
              <a:rPr lang="en-US"/>
            </a:br>
            <a:r>
              <a:rPr lang="en-US"/>
              <a:t>Mode: TEACHER INPUT</a:t>
            </a:r>
            <a:br>
              <a:rPr lang="en-US"/>
            </a:br>
            <a:br>
              <a:rPr lang="en-US"/>
            </a:br>
            <a:r>
              <a:rPr lang="en-US"/>
              <a:t>Purpose: Name the real risks that students face online without being preachy. The framing is 'here's how people try to harm young people online — you deserve to know.' Not 'here are the rules for using the internet.'</a:t>
            </a:r>
            <a:br>
              <a:rPr lang="en-US"/>
            </a:br>
            <a:br>
              <a:rPr lang="en-US"/>
            </a:br>
            <a:r>
              <a:rPr lang="en-US"/>
              <a:t>On county lines: the connection between online grooming and county lines recruitment is direct and locally significant. Young people are recruited via gaming platforms, social media DMs, and WhatsApp groups. The 'relationship' is built slowly. Name this — many students won't have connected the two.</a:t>
            </a:r>
            <a:br>
              <a:rPr lang="en-US"/>
            </a:br>
            <a:br>
              <a:rPr lang="en-US"/>
            </a:br>
            <a:r>
              <a:rPr lang="en-US"/>
              <a:t>On non-consensual images: be clear that both receiving and forwarding such images carries legal consequences. AI-generated images of real people without consent are also covered under the law. Do not dwell — signal clearly and move on.</a:t>
            </a:r>
            <a:br>
              <a:rPr lang="en-US"/>
            </a:br>
            <a:br>
              <a:rPr lang="en-US"/>
            </a:br>
            <a:r>
              <a:rPr lang="en-US"/>
              <a:t>On financial scams: job offers on Instagram and TikTok, 'drop' arrangements (parcel delivery for cash), cryptocurrency promises — these are the specific forms students encounter. 'If it sounds too good' is the practical rule.</a:t>
            </a:r>
            <a:br>
              <a:rPr lang="en-US"/>
            </a:br>
            <a:br>
              <a:rPr lang="en-US"/>
            </a:br>
            <a:r>
              <a:rPr lang="en-US"/>
              <a:t>The surface/deep/dark web note: keep this brief. The key message is that the dark web exists, carries serious legal risk, and is not something to experiment with. Tutorials deal with this properly.</a:t>
            </a:r>
            <a:br>
              <a:rPr lang="en-US"/>
            </a:br>
            <a:br>
              <a:rPr lang="en-US"/>
            </a:br>
            <a:r>
              <a:rPr lang="en-US"/>
              <a:t>ESCG policy: the Online Safety Policy (October 2024) governs use of college systems. The college uses Smoothwall for filtering and monitoring. Students' use of college systems is monitored.</a:t>
            </a:r>
            <a:br>
              <a:rPr lang="en-US"/>
            </a:br>
            <a:br>
              <a:rPr lang="en-US"/>
            </a:br>
            <a:r>
              <a:rPr lang="en-US"/>
              <a:t>Say something like: 'I'm not going to tell you not to use the internet — that would be ridiculous. What I want you to have is a clear sense of what people use the internet to do to young people, so you can recognise it if it comes near you or someone you know.'</a:t>
            </a:r>
            <a:endParaRPr/>
          </a:p>
        </p:txBody>
      </p:sp>
      <p:sp>
        <p:nvSpPr>
          <p:cNvPr id="140" name="Google Shape;1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7 — AI AND YOUR DATA</a:t>
            </a:r>
            <a:br>
              <a:rPr lang="en-US"/>
            </a:br>
            <a:r>
              <a:rPr lang="en-US"/>
              <a:t>Duration: 6–7 mins</a:t>
            </a:r>
            <a:br>
              <a:rPr lang="en-US"/>
            </a:br>
            <a:r>
              <a:rPr lang="en-US"/>
              <a:t>Mode: TEACHER INPUT</a:t>
            </a:r>
            <a:br>
              <a:rPr lang="en-US"/>
            </a:br>
            <a:br>
              <a:rPr lang="en-US"/>
            </a:br>
            <a:r>
              <a:rPr lang="en-US"/>
              <a:t>Source documents: JCQ AI Use in Assessments (April 2025) governs the academic integrity dimension. ESCG Safeguarding &amp; Prevent Policy (December 2025) section 25.6 governs the data safety dimension. These are two distinct concerns — do not conflate them.</a:t>
            </a:r>
            <a:br>
              <a:rPr lang="en-US"/>
            </a:br>
            <a:br>
              <a:rPr lang="en-US"/>
            </a:br>
            <a:r>
              <a:rPr lang="en-US"/>
              <a:t>ACADEMIC INTEGRITY (JCQ):</a:t>
            </a:r>
            <a:br>
              <a:rPr lang="en-US"/>
            </a:br>
            <a:r>
              <a:rPr lang="en-US"/>
              <a:t>The JCQ document is unambiguous: submitted work must be demonstrably the student's own. AI misuse — submitting AI-generated content without acknowledgement — constitutes malpractice. Sanctions include disqualification and debarment from qualifications for multiple years. Real cases: a GCSE RS student received zero marks across multiple components after AI use was detected post-results; an EPQ student was disqualified from the qualification.</a:t>
            </a:r>
            <a:br>
              <a:rPr lang="en-US"/>
            </a:br>
            <a:br>
              <a:rPr lang="en-US"/>
            </a:br>
            <a:r>
              <a:rPr lang="en-US"/>
              <a:t>The declaration requirement is specific: if AI is used as a source and this is permitted, students must name the tool (e.g. ChatGPT 3.5), give the date the content was generated, retain a non-editable copy (screenshot), and submit it alongside the work. Incomplete or misleading references are themselves malpractice.</a:t>
            </a:r>
            <a:br>
              <a:rPr lang="en-US"/>
            </a:br>
            <a:br>
              <a:rPr lang="en-US"/>
            </a:br>
            <a:r>
              <a:rPr lang="en-US"/>
              <a:t>DATA SAFETY (ESCG Safeguarding Policy):</a:t>
            </a:r>
            <a:br>
              <a:rPr lang="en-US"/>
            </a:br>
            <a:r>
              <a:rPr lang="en-US"/>
              <a:t>Public AI tools (ChatGPT, Gemini, Claude, etc.) are trained on user inputs in many configurations. Students must not enter: their full name, address, or college login; details about other students or staff; assessment questions or answers; confidential college data. Say: 'If you would not put it on a public notice board, do not put it into a public AI tool.'</a:t>
            </a:r>
            <a:br>
              <a:rPr lang="en-US"/>
            </a:br>
            <a:br>
              <a:rPr lang="en-US"/>
            </a:br>
            <a:r>
              <a:rPr lang="en-US"/>
              <a:t>CONFIRM BLOCK: Before delivery, insert the specific ESCG AI declaration process — the AI top sheet document title, where students find it (SharePoint, printed handout, etc.), and whether it applies to all assessed work or specific submissions. Ask your Head of Curriculum.</a:t>
            </a:r>
            <a:br>
              <a:rPr lang="en-US"/>
            </a:br>
            <a:br>
              <a:rPr lang="en-US"/>
            </a:br>
            <a:r>
              <a:rPr lang="en-US"/>
              <a:t>Say something like: 'AI tools are genuinely useful — I use them myself. The question is how you use them. Using AI to help you think through an argument, check your spelling, or research a topic is different from having AI write your assignment. The second one can end your qualification. And entering your personal details into public AI tools creates a data risk that has nothing to do with assessment. These are two separate things, and you need to know both.'</a:t>
            </a:r>
            <a:endParaRPr/>
          </a:p>
        </p:txBody>
      </p:sp>
      <p:sp>
        <p:nvSpPr>
          <p:cNvPr id="172" name="Google Shape;17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8 — HOW ESCG KEEPS YOU SAFE</a:t>
            </a:r>
            <a:br>
              <a:rPr lang="en-US"/>
            </a:br>
            <a:r>
              <a:rPr lang="en-US"/>
              <a:t>Duration: 5–6 mins</a:t>
            </a:r>
            <a:br>
              <a:rPr lang="en-US"/>
            </a:br>
            <a:r>
              <a:rPr lang="en-US"/>
              <a:t>Mode: TEACHER INPUT</a:t>
            </a:r>
            <a:br>
              <a:rPr lang="en-US"/>
            </a:br>
            <a:br>
              <a:rPr lang="en-US"/>
            </a:br>
            <a:r>
              <a:rPr lang="en-US"/>
              <a:t>Purpose: Demystify what actually happens when a safeguarding concern is raised. Many students have heard 'you'll be taken seriously' and experienced the opposite. Concrete process language — same-day, logged, assessed — builds trust.</a:t>
            </a:r>
            <a:br>
              <a:rPr lang="en-US"/>
            </a:br>
            <a:br>
              <a:rPr lang="en-US"/>
            </a:br>
            <a:r>
              <a:rPr lang="en-US"/>
              <a:t>The confidentiality point is the most important: be honest. 'I can't promise you that nothing will be shared — because if I think you or someone else is at risk, I have a duty to tell the right person. What I can promise is that information only goes to people who need it, and I will always tell you what I'm doing and why.'</a:t>
            </a:r>
            <a:br>
              <a:rPr lang="en-US"/>
            </a:br>
            <a:br>
              <a:rPr lang="en-US"/>
            </a:br>
            <a:r>
              <a:rPr lang="en-US"/>
              <a:t>The Safeguarding &amp; Prevent Policy (December 2025) is the source document for this process. All concerns are logged on ProMonitor. Referrals are made to Children's Social Care, police, or other agencies where appropriate.</a:t>
            </a:r>
            <a:br>
              <a:rPr lang="en-US"/>
            </a:br>
            <a:br>
              <a:rPr lang="en-US"/>
            </a:br>
            <a:r>
              <a:rPr lang="en-US"/>
              <a:t>Safeguarding note: This is the slide most likely to prompt a private follow-up from a student after the session. Make yourself available briefly at the end. Do not wait for students to come to you — if you've noticed something during the session, approach quietly.</a:t>
            </a:r>
            <a:endParaRPr/>
          </a:p>
        </p:txBody>
      </p:sp>
      <p:sp>
        <p:nvSpPr>
          <p:cNvPr id="206" name="Google Shape;20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9 — THE SAFEGUARDING TEAM</a:t>
            </a:r>
            <a:br>
              <a:rPr lang="en-US"/>
            </a:br>
            <a:r>
              <a:rPr lang="en-US"/>
              <a:t>Duration: 4–5 mins</a:t>
            </a:r>
            <a:br>
              <a:rPr lang="en-US"/>
            </a:br>
            <a:r>
              <a:rPr lang="en-US"/>
              <a:t>Mode: SESSION MAP (information slide)</a:t>
            </a:r>
            <a:br>
              <a:rPr lang="en-US"/>
            </a:br>
            <a:br>
              <a:rPr lang="en-US"/>
            </a:br>
            <a:r>
              <a:rPr lang="en-US"/>
              <a:t>Purpose: Ensure every student leaves this session knowing exactly who to contact. The Hastings contact is confirmed: Lydia Leonard, 07848 442081. This number is also on the back of students' lanyards.</a:t>
            </a:r>
            <a:br>
              <a:rPr lang="en-US"/>
            </a:br>
            <a:br>
              <a:rPr lang="en-US"/>
            </a:br>
            <a:r>
              <a:rPr lang="en-US"/>
              <a:t>IMPORTANT: Confirm the confirm blocks before delivery for your campus. Do not rely on this slide's information alone if you are delivering at Eastbourne or Lewes/Newhaven.</a:t>
            </a:r>
            <a:br>
              <a:rPr lang="en-US"/>
            </a:br>
            <a:br>
              <a:rPr lang="en-US"/>
            </a:br>
            <a:r>
              <a:rPr lang="en-US"/>
              <a:t>The Wellbeing Team context: Personal Development and Wellbeing Tutors are part of the Safeguarding Team. Students can self-refer to them without going through a teacher. They support a caseload of students in each curriculum area. This is not a last resort — it is a normal, expected route.</a:t>
            </a:r>
            <a:br>
              <a:rPr lang="en-US"/>
            </a:br>
            <a:br>
              <a:rPr lang="en-US"/>
            </a:br>
            <a:r>
              <a:rPr lang="en-US"/>
              <a:t>MANDATORY: This information must be provided in a format students can keep after the session. Print the Safeguarding Team contact card, share the QR code to escg.ac.uk/support/safeguarding, or ensure students have saved the Lydia Leonard contact in their phone before leaving.</a:t>
            </a:r>
            <a:br>
              <a:rPr lang="en-US"/>
            </a:br>
            <a:br>
              <a:rPr lang="en-US"/>
            </a:br>
            <a:r>
              <a:rPr lang="en-US"/>
              <a:t>Safeguarding triage: If a student approaches you during or after this slide to disclose something, this is the most likely moment. The information is fresh; the named person makes it real. Listen, don't promise secrecy, report same-day.</a:t>
            </a:r>
            <a:endParaRPr/>
          </a:p>
        </p:txBody>
      </p:sp>
      <p:sp>
        <p:nvSpPr>
          <p:cNvPr id="235" name="Google Shape;23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10 — REPORTING A CONCERN</a:t>
            </a:r>
            <a:br>
              <a:rPr lang="en-US"/>
            </a:br>
            <a:r>
              <a:rPr lang="en-US"/>
              <a:t>Duration: 5 mins</a:t>
            </a:r>
            <a:br>
              <a:rPr lang="en-US"/>
            </a:br>
            <a:r>
              <a:rPr lang="en-US"/>
              <a:t>Mode: TEACHER INPUT</a:t>
            </a:r>
            <a:br>
              <a:rPr lang="en-US"/>
            </a:br>
            <a:br>
              <a:rPr lang="en-US"/>
            </a:br>
            <a:r>
              <a:rPr lang="en-US"/>
              <a:t>Purpose: Make the reporting routes completely unambiguous. Students who are unsure whether something 'counts' as a concern need to hear clearly: a concern is enough. You do not need evidence. You do not need certainty.</a:t>
            </a:r>
            <a:br>
              <a:rPr lang="en-US"/>
            </a:br>
            <a:br>
              <a:rPr lang="en-US"/>
            </a:br>
            <a:r>
              <a:rPr lang="en-US"/>
              <a:t>The 'acting on concern for a friend is not a betrayal' line is important for this age group. Peer loyalty is powerful. Reframing disclosure as care rather than betrayal removes one of the primary barriers.</a:t>
            </a:r>
            <a:br>
              <a:rPr lang="en-US"/>
            </a:br>
            <a:br>
              <a:rPr lang="en-US"/>
            </a:br>
            <a:r>
              <a:rPr lang="en-US"/>
              <a:t>Anonymous reporting: ESCG accepts anonymous concerns. Staff will still investigate and act. Students who are afraid of consequences for the person they're worried about — or afraid of social consequences for themselves — need to know this.</a:t>
            </a:r>
            <a:br>
              <a:rPr lang="en-US"/>
            </a:br>
            <a:br>
              <a:rPr lang="en-US"/>
            </a:br>
            <a:r>
              <a:rPr lang="en-US"/>
              <a:t>Say something like: 'If something feels wrong — about yourself or about someone you know — that feeling matters. You don't have to have proof. You don't have to be sure. Just tell someone. It doesn't have to be me. It can be any member of staff. It can be Lydia. It can be anonymous. The important thing is that the information reaches someone who can act on it.'</a:t>
            </a:r>
            <a:br>
              <a:rPr lang="en-US"/>
            </a:br>
            <a:br>
              <a:rPr lang="en-US"/>
            </a:br>
            <a:r>
              <a:rPr lang="en-US"/>
              <a:t>Safeguarding note: Students who have been building toward a disclosure across the session may act on this slide. Be observant. If a student lingers, or looks like they want to say something — make space. Don't rush the close.</a:t>
            </a:r>
            <a:endParaRPr/>
          </a:p>
        </p:txBody>
      </p:sp>
      <p:sp>
        <p:nvSpPr>
          <p:cNvPr id="262" name="Google Shape;26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11 — COMMITMENT CARD</a:t>
            </a:r>
            <a:br>
              <a:rPr lang="en-US"/>
            </a:br>
            <a:r>
              <a:rPr lang="en-US"/>
              <a:t>Duration: 5–7 mins</a:t>
            </a:r>
            <a:br>
              <a:rPr lang="en-US"/>
            </a:br>
            <a:r>
              <a:rPr lang="en-US"/>
              <a:t>Mode: ACTIVITY</a:t>
            </a:r>
            <a:br>
              <a:rPr lang="en-US"/>
            </a:br>
            <a:br>
              <a:rPr lang="en-US"/>
            </a:br>
            <a:r>
              <a:rPr lang="en-US"/>
              <a:t>Purpose: Close the session with a personal commitment that students have chosen, not one that has been assigned. The act of writing it anchors the session and gives tutors a follow-up handle.</a:t>
            </a:r>
            <a:br>
              <a:rPr lang="en-US"/>
            </a:br>
            <a:br>
              <a:rPr lang="en-US"/>
            </a:br>
            <a:r>
              <a:rPr lang="en-US"/>
              <a:t>Option 4 is always the safeguarding disclosure route — the flag-red border signals its importance without requiring explanation. Do not draw special attention to it in a way that creates pressure. Simply name it as an option.</a:t>
            </a:r>
            <a:br>
              <a:rPr lang="en-US"/>
            </a:br>
            <a:br>
              <a:rPr lang="en-US"/>
            </a:br>
            <a:r>
              <a:rPr lang="en-US"/>
              <a:t>Process: Give students 2–3 minutes to choose and write. Collect the cards — do not read them aloud. If a student writes something in option 4 that is a disclosure or a concern, treat it as you would any verbal disclosure: report same-day to Lydia Leonard (Hastings) or your campus safeguarding manager.</a:t>
            </a:r>
            <a:br>
              <a:rPr lang="en-US"/>
            </a:br>
            <a:br>
              <a:rPr lang="en-US"/>
            </a:br>
            <a:r>
              <a:rPr lang="en-US"/>
              <a:t>Say something like: 'These aren't going in a file. They're a reminder for you and a way for your tutor to check in. There's no wrong answer — just choose the one that feels most real to you today.'</a:t>
            </a:r>
            <a:br>
              <a:rPr lang="en-US"/>
            </a:br>
            <a:br>
              <a:rPr lang="en-US"/>
            </a:br>
            <a:r>
              <a:rPr lang="en-US"/>
              <a:t>After collecting: Scan option 4 cards privately. Any that contain a genuine concern should be reported today.</a:t>
            </a:r>
            <a:endParaRPr/>
          </a:p>
        </p:txBody>
      </p:sp>
      <p:sp>
        <p:nvSpPr>
          <p:cNvPr id="295" name="Google Shape;2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APPENDIX — do not display to students.</a:t>
            </a:r>
            <a:br>
              <a:rPr lang="en-US"/>
            </a:br>
            <a:br>
              <a:rPr lang="en-US"/>
            </a:br>
            <a:r>
              <a:rPr lang="en-US"/>
              <a:t>This slide contains: running order with timings; teaching notes for L3 YR1 cohort; pre-flight checklist; safeguarding alert.</a:t>
            </a:r>
            <a:br>
              <a:rPr lang="en-US"/>
            </a:br>
            <a:br>
              <a:rPr lang="en-US"/>
            </a:br>
            <a:r>
              <a:rPr lang="en-US"/>
              <a:t>Key actions before delivery: confirm campus safeguarding contacts; insert AI policy detail; prepare commitment cards; ensure students leave with the Safeguarding Team contact in a form they can keep.</a:t>
            </a:r>
            <a:endParaRPr/>
          </a:p>
        </p:txBody>
      </p:sp>
      <p:sp>
        <p:nvSpPr>
          <p:cNvPr id="323" name="Google Shape;32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92C82"/>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6583680" y="457200"/>
            <a:ext cx="2103120" cy="2103120"/>
          </a:xfrm>
          <a:prstGeom prst="rect">
            <a:avLst/>
          </a:prstGeom>
          <a:noFill/>
          <a:ln>
            <a:noFill/>
          </a:ln>
        </p:spPr>
      </p:pic>
      <p:sp>
        <p:nvSpPr>
          <p:cNvPr id="17" name="Google Shape;17;p3"/>
          <p:cNvSpPr/>
          <p:nvPr/>
        </p:nvSpPr>
        <p:spPr>
          <a:xfrm>
            <a:off x="502920" y="64008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100"/>
              <a:buFont typeface="Arial"/>
              <a:buNone/>
            </a:pPr>
            <a:r>
              <a:rPr b="1" i="0" lang="en-US" sz="1100" u="none" cap="none" strike="noStrike">
                <a:solidFill>
                  <a:srgbClr val="FFCF01"/>
                </a:solidFill>
                <a:latin typeface="Arial"/>
                <a:ea typeface="Arial"/>
                <a:cs typeface="Arial"/>
                <a:sym typeface="Arial"/>
              </a:rPr>
              <a:t>MODULE F</a:t>
            </a:r>
            <a:endParaRPr b="0" i="0" sz="1100" u="none" cap="none" strike="noStrike">
              <a:solidFill>
                <a:schemeClr val="dk1"/>
              </a:solidFill>
              <a:latin typeface="Calibri"/>
              <a:ea typeface="Calibri"/>
              <a:cs typeface="Calibri"/>
              <a:sym typeface="Calibri"/>
            </a:endParaRPr>
          </a:p>
        </p:txBody>
      </p:sp>
      <p:sp>
        <p:nvSpPr>
          <p:cNvPr id="18" name="Google Shape;18;p3"/>
          <p:cNvSpPr/>
          <p:nvPr/>
        </p:nvSpPr>
        <p:spPr>
          <a:xfrm>
            <a:off x="502920" y="1005840"/>
            <a:ext cx="5943600" cy="1645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Staying Safe</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at College</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502920" y="2606040"/>
            <a:ext cx="6400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Arial"/>
              <a:buNone/>
            </a:pPr>
            <a:r>
              <a:rPr b="0" i="1" lang="en-US" sz="1100" u="none" cap="none" strike="noStrike">
                <a:solidFill>
                  <a:srgbClr val="FFFFFF"/>
                </a:solidFill>
                <a:latin typeface="Arial"/>
                <a:ea typeface="Arial"/>
                <a:cs typeface="Arial"/>
                <a:sym typeface="Arial"/>
              </a:rPr>
              <a:t>Group 2 — Safeguarding, Wellbeing &amp; Respect — in the studio, in the lab, online, and on placement.</a:t>
            </a:r>
            <a:endParaRPr b="0" i="0" sz="1100" u="none" cap="none" strike="noStrike">
              <a:solidFill>
                <a:schemeClr val="dk1"/>
              </a:solidFill>
              <a:latin typeface="Calibri"/>
              <a:ea typeface="Calibri"/>
              <a:cs typeface="Calibri"/>
              <a:sym typeface="Calibri"/>
            </a:endParaRPr>
          </a:p>
        </p:txBody>
      </p:sp>
      <p:sp>
        <p:nvSpPr>
          <p:cNvPr id="20" name="Google Shape;20;p3"/>
          <p:cNvSpPr/>
          <p:nvPr/>
        </p:nvSpPr>
        <p:spPr>
          <a:xfrm>
            <a:off x="0" y="4206240"/>
            <a:ext cx="9144000" cy="937260"/>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320040" y="4206240"/>
            <a:ext cx="8503920" cy="9372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East Sussex College  |  Student Induction 2026–27  |  1.5 hours  |  Digital, Media, Film &amp; Computing — Level 3 Year 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 name="Shape 26"/>
        <p:cNvGrpSpPr/>
        <p:nvPr/>
      </p:nvGrpSpPr>
      <p:grpSpPr>
        <a:xfrm>
          <a:off x="0" y="0"/>
          <a:ext cx="0" cy="0"/>
          <a:chOff x="0" y="0"/>
          <a:chExt cx="0" cy="0"/>
        </a:xfrm>
      </p:grpSpPr>
      <p:sp>
        <p:nvSpPr>
          <p:cNvPr id="27" name="Google Shape;27;p4"/>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Today's Session</a:t>
            </a:r>
            <a:endParaRPr b="0" i="0" sz="1800" u="none" cap="none" strike="noStrike">
              <a:solidFill>
                <a:schemeClr val="dk1"/>
              </a:solidFill>
              <a:latin typeface="Calibri"/>
              <a:ea typeface="Calibri"/>
              <a:cs typeface="Calibri"/>
              <a:sym typeface="Calibri"/>
            </a:endParaRPr>
          </a:p>
        </p:txBody>
      </p:sp>
      <p:sp>
        <p:nvSpPr>
          <p:cNvPr id="29" name="Google Shape;29;p4"/>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What we cover — and what continues in tutorial, and before your placement or live brief</a:t>
            </a:r>
            <a:endParaRPr b="0" i="0" sz="900" u="none" cap="none" strike="noStrike">
              <a:solidFill>
                <a:schemeClr val="dk1"/>
              </a:solidFill>
              <a:latin typeface="Calibri"/>
              <a:ea typeface="Calibri"/>
              <a:cs typeface="Calibri"/>
              <a:sym typeface="Calibri"/>
            </a:endParaRPr>
          </a:p>
        </p:txBody>
      </p:sp>
      <p:sp>
        <p:nvSpPr>
          <p:cNvPr id="30" name="Google Shape;30;p4"/>
          <p:cNvSpPr/>
          <p:nvPr/>
        </p:nvSpPr>
        <p:spPr>
          <a:xfrm>
            <a:off x="7406640" y="164592"/>
            <a:ext cx="1554480" cy="256032"/>
          </a:xfrm>
          <a:prstGeom prst="rect">
            <a:avLst/>
          </a:prstGeom>
          <a:solidFill>
            <a:srgbClr val="5A6A6F"/>
          </a:solidFill>
          <a:ln cap="flat" cmpd="sng" w="12700">
            <a:solidFill>
              <a:srgbClr val="5A6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SESSION MAP</a:t>
            </a:r>
            <a:endParaRPr b="0" i="0" sz="700" u="none" cap="none" strike="noStrike">
              <a:solidFill>
                <a:schemeClr val="dk1"/>
              </a:solidFill>
              <a:latin typeface="Calibri"/>
              <a:ea typeface="Calibri"/>
              <a:cs typeface="Calibri"/>
              <a:sym typeface="Calibri"/>
            </a:endParaRPr>
          </a:p>
        </p:txBody>
      </p:sp>
      <p:sp>
        <p:nvSpPr>
          <p:cNvPr id="32" name="Google Shape;32;p4"/>
          <p:cNvSpPr/>
          <p:nvPr/>
        </p:nvSpPr>
        <p:spPr>
          <a:xfrm>
            <a:off x="320040" y="107899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4"/>
          <p:cNvPicPr preferRelativeResize="0"/>
          <p:nvPr/>
        </p:nvPicPr>
        <p:blipFill rotWithShape="1">
          <a:blip r:embed="rId3">
            <a:alphaModFix/>
          </a:blip>
          <a:srcRect b="0" l="0" r="0" t="0"/>
          <a:stretch/>
        </p:blipFill>
        <p:spPr>
          <a:xfrm>
            <a:off x="384048" y="1097280"/>
            <a:ext cx="347472" cy="347472"/>
          </a:xfrm>
          <a:prstGeom prst="rect">
            <a:avLst/>
          </a:prstGeom>
          <a:noFill/>
          <a:ln>
            <a:noFill/>
          </a:ln>
        </p:spPr>
      </p:pic>
      <p:sp>
        <p:nvSpPr>
          <p:cNvPr id="34" name="Google Shape;34;p4"/>
          <p:cNvSpPr/>
          <p:nvPr/>
        </p:nvSpPr>
        <p:spPr>
          <a:xfrm>
            <a:off x="886968" y="1005840"/>
            <a:ext cx="36576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Safeguarding at college</a:t>
            </a:r>
            <a:endParaRPr b="0" i="0" sz="1100" u="none" cap="none" strike="noStrike">
              <a:solidFill>
                <a:schemeClr val="dk1"/>
              </a:solidFill>
              <a:latin typeface="Calibri"/>
              <a:ea typeface="Calibri"/>
              <a:cs typeface="Calibri"/>
              <a:sym typeface="Calibri"/>
            </a:endParaRPr>
          </a:p>
        </p:txBody>
      </p:sp>
      <p:sp>
        <p:nvSpPr>
          <p:cNvPr id="35" name="Google Shape;35;p4"/>
          <p:cNvSpPr/>
          <p:nvPr/>
        </p:nvSpPr>
        <p:spPr>
          <a:xfrm>
            <a:off x="886968" y="1316736"/>
            <a:ext cx="36576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950"/>
              <a:buFont typeface="Arial"/>
              <a:buNone/>
            </a:pPr>
            <a:r>
              <a:rPr b="0" i="1" lang="en-US" sz="950" u="none" cap="none" strike="noStrike">
                <a:solidFill>
                  <a:srgbClr val="5A6A6F"/>
                </a:solidFill>
                <a:latin typeface="Arial"/>
                <a:ea typeface="Arial"/>
                <a:cs typeface="Arial"/>
                <a:sym typeface="Arial"/>
              </a:rPr>
              <a:t>What it means here vs school</a:t>
            </a:r>
            <a:endParaRPr b="0" i="0" sz="950" u="none" cap="none" strike="noStrike">
              <a:solidFill>
                <a:schemeClr val="dk1"/>
              </a:solidFill>
              <a:latin typeface="Calibri"/>
              <a:ea typeface="Calibri"/>
              <a:cs typeface="Calibri"/>
              <a:sym typeface="Calibri"/>
            </a:endParaRPr>
          </a:p>
        </p:txBody>
      </p:sp>
      <p:sp>
        <p:nvSpPr>
          <p:cNvPr id="36" name="Google Shape;36;p4"/>
          <p:cNvSpPr/>
          <p:nvPr/>
        </p:nvSpPr>
        <p:spPr>
          <a:xfrm>
            <a:off x="320040" y="199339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4"/>
          <p:cNvPicPr preferRelativeResize="0"/>
          <p:nvPr/>
        </p:nvPicPr>
        <p:blipFill rotWithShape="1">
          <a:blip r:embed="rId4">
            <a:alphaModFix/>
          </a:blip>
          <a:srcRect b="0" l="0" r="0" t="0"/>
          <a:stretch/>
        </p:blipFill>
        <p:spPr>
          <a:xfrm>
            <a:off x="384048" y="2011680"/>
            <a:ext cx="347472" cy="347472"/>
          </a:xfrm>
          <a:prstGeom prst="rect">
            <a:avLst/>
          </a:prstGeom>
          <a:noFill/>
          <a:ln>
            <a:noFill/>
          </a:ln>
        </p:spPr>
      </p:pic>
      <p:sp>
        <p:nvSpPr>
          <p:cNvPr id="38" name="Google Shape;38;p4"/>
          <p:cNvSpPr/>
          <p:nvPr/>
        </p:nvSpPr>
        <p:spPr>
          <a:xfrm>
            <a:off x="886968" y="1920240"/>
            <a:ext cx="36576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Prevent</a:t>
            </a:r>
            <a:endParaRPr b="0" i="0" sz="1100" u="none" cap="none" strike="noStrike">
              <a:solidFill>
                <a:schemeClr val="dk1"/>
              </a:solidFill>
              <a:latin typeface="Calibri"/>
              <a:ea typeface="Calibri"/>
              <a:cs typeface="Calibri"/>
              <a:sym typeface="Calibri"/>
            </a:endParaRPr>
          </a:p>
        </p:txBody>
      </p:sp>
      <p:sp>
        <p:nvSpPr>
          <p:cNvPr id="39" name="Google Shape;39;p4"/>
          <p:cNvSpPr/>
          <p:nvPr/>
        </p:nvSpPr>
        <p:spPr>
          <a:xfrm>
            <a:off x="886968" y="2231136"/>
            <a:ext cx="36576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950"/>
              <a:buFont typeface="Arial"/>
              <a:buNone/>
            </a:pPr>
            <a:r>
              <a:rPr b="0" i="1" lang="en-US" sz="950" u="none" cap="none" strike="noStrike">
                <a:solidFill>
                  <a:srgbClr val="5A6A6F"/>
                </a:solidFill>
                <a:latin typeface="Arial"/>
                <a:ea typeface="Arial"/>
                <a:cs typeface="Arial"/>
                <a:sym typeface="Arial"/>
              </a:rPr>
              <a:t>Brief intro — tutorials go deeper</a:t>
            </a:r>
            <a:endParaRPr b="0" i="0" sz="950" u="none" cap="none" strike="noStrike">
              <a:solidFill>
                <a:schemeClr val="dk1"/>
              </a:solidFill>
              <a:latin typeface="Calibri"/>
              <a:ea typeface="Calibri"/>
              <a:cs typeface="Calibri"/>
              <a:sym typeface="Calibri"/>
            </a:endParaRPr>
          </a:p>
        </p:txBody>
      </p:sp>
      <p:sp>
        <p:nvSpPr>
          <p:cNvPr id="40" name="Google Shape;40;p4"/>
          <p:cNvSpPr/>
          <p:nvPr/>
        </p:nvSpPr>
        <p:spPr>
          <a:xfrm>
            <a:off x="320040" y="290779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4"/>
          <p:cNvPicPr preferRelativeResize="0"/>
          <p:nvPr/>
        </p:nvPicPr>
        <p:blipFill rotWithShape="1">
          <a:blip r:embed="rId5">
            <a:alphaModFix/>
          </a:blip>
          <a:srcRect b="0" l="0" r="0" t="0"/>
          <a:stretch/>
        </p:blipFill>
        <p:spPr>
          <a:xfrm>
            <a:off x="384048" y="2926080"/>
            <a:ext cx="347472" cy="347472"/>
          </a:xfrm>
          <a:prstGeom prst="rect">
            <a:avLst/>
          </a:prstGeom>
          <a:noFill/>
          <a:ln>
            <a:noFill/>
          </a:ln>
        </p:spPr>
      </p:pic>
      <p:sp>
        <p:nvSpPr>
          <p:cNvPr id="42" name="Google Shape;42;p4"/>
          <p:cNvSpPr/>
          <p:nvPr/>
        </p:nvSpPr>
        <p:spPr>
          <a:xfrm>
            <a:off x="886968" y="2834640"/>
            <a:ext cx="36576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Online safety</a:t>
            </a:r>
            <a:endParaRPr b="0" i="0" sz="1100" u="none" cap="none" strike="noStrike">
              <a:solidFill>
                <a:schemeClr val="dk1"/>
              </a:solidFill>
              <a:latin typeface="Calibri"/>
              <a:ea typeface="Calibri"/>
              <a:cs typeface="Calibri"/>
              <a:sym typeface="Calibri"/>
            </a:endParaRPr>
          </a:p>
        </p:txBody>
      </p:sp>
      <p:sp>
        <p:nvSpPr>
          <p:cNvPr id="43" name="Google Shape;43;p4"/>
          <p:cNvSpPr/>
          <p:nvPr/>
        </p:nvSpPr>
        <p:spPr>
          <a:xfrm>
            <a:off x="886968" y="3145536"/>
            <a:ext cx="36576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950"/>
              <a:buFont typeface="Arial"/>
              <a:buNone/>
            </a:pPr>
            <a:r>
              <a:rPr b="0" i="1" lang="en-US" sz="950" u="none" cap="none" strike="noStrike">
                <a:solidFill>
                  <a:srgbClr val="5A6A6F"/>
                </a:solidFill>
                <a:latin typeface="Arial"/>
                <a:ea typeface="Arial"/>
                <a:cs typeface="Arial"/>
                <a:sym typeface="Arial"/>
              </a:rPr>
              <a:t>Brief intro — tutorials go deeper</a:t>
            </a:r>
            <a:endParaRPr b="0" i="0" sz="950" u="none" cap="none" strike="noStrike">
              <a:solidFill>
                <a:schemeClr val="dk1"/>
              </a:solidFill>
              <a:latin typeface="Calibri"/>
              <a:ea typeface="Calibri"/>
              <a:cs typeface="Calibri"/>
              <a:sym typeface="Calibri"/>
            </a:endParaRPr>
          </a:p>
        </p:txBody>
      </p:sp>
      <p:sp>
        <p:nvSpPr>
          <p:cNvPr id="44" name="Google Shape;44;p4"/>
          <p:cNvSpPr/>
          <p:nvPr/>
        </p:nvSpPr>
        <p:spPr>
          <a:xfrm>
            <a:off x="320040" y="382219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4"/>
          <p:cNvPicPr preferRelativeResize="0"/>
          <p:nvPr/>
        </p:nvPicPr>
        <p:blipFill rotWithShape="1">
          <a:blip r:embed="rId6">
            <a:alphaModFix/>
          </a:blip>
          <a:srcRect b="0" l="0" r="0" t="0"/>
          <a:stretch/>
        </p:blipFill>
        <p:spPr>
          <a:xfrm>
            <a:off x="384048" y="3840480"/>
            <a:ext cx="347472" cy="347472"/>
          </a:xfrm>
          <a:prstGeom prst="rect">
            <a:avLst/>
          </a:prstGeom>
          <a:noFill/>
          <a:ln>
            <a:noFill/>
          </a:ln>
        </p:spPr>
      </p:pic>
      <p:sp>
        <p:nvSpPr>
          <p:cNvPr id="46" name="Google Shape;46;p4"/>
          <p:cNvSpPr/>
          <p:nvPr/>
        </p:nvSpPr>
        <p:spPr>
          <a:xfrm>
            <a:off x="886968" y="3749040"/>
            <a:ext cx="36576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AI and your data</a:t>
            </a:r>
            <a:endParaRPr b="0" i="0" sz="1100" u="none" cap="none" strike="noStrike">
              <a:solidFill>
                <a:schemeClr val="dk1"/>
              </a:solidFill>
              <a:latin typeface="Calibri"/>
              <a:ea typeface="Calibri"/>
              <a:cs typeface="Calibri"/>
              <a:sym typeface="Calibri"/>
            </a:endParaRPr>
          </a:p>
        </p:txBody>
      </p:sp>
      <p:sp>
        <p:nvSpPr>
          <p:cNvPr id="47" name="Google Shape;47;p4"/>
          <p:cNvSpPr/>
          <p:nvPr/>
        </p:nvSpPr>
        <p:spPr>
          <a:xfrm>
            <a:off x="886968" y="4059936"/>
            <a:ext cx="36576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950"/>
              <a:buFont typeface="Arial"/>
              <a:buNone/>
            </a:pPr>
            <a:r>
              <a:rPr b="0" i="1" lang="en-US" sz="950" u="none" cap="none" strike="noStrike">
                <a:solidFill>
                  <a:srgbClr val="5A6A6F"/>
                </a:solidFill>
                <a:latin typeface="Arial"/>
                <a:ea typeface="Arial"/>
                <a:cs typeface="Arial"/>
                <a:sym typeface="Arial"/>
              </a:rPr>
              <a:t>ESCG AI Policy</a:t>
            </a:r>
            <a:endParaRPr b="0" i="0" sz="950" u="none" cap="none" strike="noStrike">
              <a:solidFill>
                <a:schemeClr val="dk1"/>
              </a:solidFill>
              <a:latin typeface="Calibri"/>
              <a:ea typeface="Calibri"/>
              <a:cs typeface="Calibri"/>
              <a:sym typeface="Calibri"/>
            </a:endParaRPr>
          </a:p>
        </p:txBody>
      </p:sp>
      <p:sp>
        <p:nvSpPr>
          <p:cNvPr id="48" name="Google Shape;48;p4"/>
          <p:cNvSpPr/>
          <p:nvPr/>
        </p:nvSpPr>
        <p:spPr>
          <a:xfrm>
            <a:off x="4754880" y="107899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4"/>
          <p:cNvPicPr preferRelativeResize="0"/>
          <p:nvPr/>
        </p:nvPicPr>
        <p:blipFill rotWithShape="1">
          <a:blip r:embed="rId7">
            <a:alphaModFix/>
          </a:blip>
          <a:srcRect b="0" l="0" r="0" t="0"/>
          <a:stretch/>
        </p:blipFill>
        <p:spPr>
          <a:xfrm>
            <a:off x="4818888" y="1097280"/>
            <a:ext cx="347472" cy="347472"/>
          </a:xfrm>
          <a:prstGeom prst="rect">
            <a:avLst/>
          </a:prstGeom>
          <a:noFill/>
          <a:ln>
            <a:noFill/>
          </a:ln>
        </p:spPr>
      </p:pic>
      <p:sp>
        <p:nvSpPr>
          <p:cNvPr id="50" name="Google Shape;50;p4"/>
          <p:cNvSpPr/>
          <p:nvPr/>
        </p:nvSpPr>
        <p:spPr>
          <a:xfrm>
            <a:off x="5321808" y="1005840"/>
            <a:ext cx="36576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How ESCG keeps you safe</a:t>
            </a:r>
            <a:endParaRPr b="0" i="0" sz="1100" u="none" cap="none" strike="noStrike">
              <a:solidFill>
                <a:schemeClr val="dk1"/>
              </a:solidFill>
              <a:latin typeface="Calibri"/>
              <a:ea typeface="Calibri"/>
              <a:cs typeface="Calibri"/>
              <a:sym typeface="Calibri"/>
            </a:endParaRPr>
          </a:p>
        </p:txBody>
      </p:sp>
      <p:sp>
        <p:nvSpPr>
          <p:cNvPr id="51" name="Google Shape;51;p4"/>
          <p:cNvSpPr/>
          <p:nvPr/>
        </p:nvSpPr>
        <p:spPr>
          <a:xfrm>
            <a:off x="5321808" y="1316736"/>
            <a:ext cx="36576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950"/>
              <a:buFont typeface="Arial"/>
              <a:buNone/>
            </a:pPr>
            <a:r>
              <a:rPr b="0" i="1" lang="en-US" sz="950" u="none" cap="none" strike="noStrike">
                <a:solidFill>
                  <a:srgbClr val="5A6A6F"/>
                </a:solidFill>
                <a:latin typeface="Arial"/>
                <a:ea typeface="Arial"/>
                <a:cs typeface="Arial"/>
                <a:sym typeface="Arial"/>
              </a:rPr>
              <a:t>Referral process and confidentiality</a:t>
            </a:r>
            <a:endParaRPr b="0" i="0" sz="950" u="none" cap="none" strike="noStrike">
              <a:solidFill>
                <a:schemeClr val="dk1"/>
              </a:solidFill>
              <a:latin typeface="Calibri"/>
              <a:ea typeface="Calibri"/>
              <a:cs typeface="Calibri"/>
              <a:sym typeface="Calibri"/>
            </a:endParaRPr>
          </a:p>
        </p:txBody>
      </p:sp>
      <p:sp>
        <p:nvSpPr>
          <p:cNvPr id="52" name="Google Shape;52;p4"/>
          <p:cNvSpPr/>
          <p:nvPr/>
        </p:nvSpPr>
        <p:spPr>
          <a:xfrm>
            <a:off x="4754880" y="199339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4"/>
          <p:cNvPicPr preferRelativeResize="0"/>
          <p:nvPr/>
        </p:nvPicPr>
        <p:blipFill rotWithShape="1">
          <a:blip r:embed="rId8">
            <a:alphaModFix/>
          </a:blip>
          <a:srcRect b="0" l="0" r="0" t="0"/>
          <a:stretch/>
        </p:blipFill>
        <p:spPr>
          <a:xfrm>
            <a:off x="4818888" y="2011680"/>
            <a:ext cx="347472" cy="347472"/>
          </a:xfrm>
          <a:prstGeom prst="rect">
            <a:avLst/>
          </a:prstGeom>
          <a:noFill/>
          <a:ln>
            <a:noFill/>
          </a:ln>
        </p:spPr>
      </p:pic>
      <p:sp>
        <p:nvSpPr>
          <p:cNvPr id="54" name="Google Shape;54;p4"/>
          <p:cNvSpPr/>
          <p:nvPr/>
        </p:nvSpPr>
        <p:spPr>
          <a:xfrm>
            <a:off x="5321808" y="1920240"/>
            <a:ext cx="36576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The Safeguarding Team</a:t>
            </a:r>
            <a:endParaRPr b="0" i="0" sz="1100" u="none" cap="none" strike="noStrike">
              <a:solidFill>
                <a:schemeClr val="dk1"/>
              </a:solidFill>
              <a:latin typeface="Calibri"/>
              <a:ea typeface="Calibri"/>
              <a:cs typeface="Calibri"/>
              <a:sym typeface="Calibri"/>
            </a:endParaRPr>
          </a:p>
        </p:txBody>
      </p:sp>
      <p:sp>
        <p:nvSpPr>
          <p:cNvPr id="55" name="Google Shape;55;p4"/>
          <p:cNvSpPr/>
          <p:nvPr/>
        </p:nvSpPr>
        <p:spPr>
          <a:xfrm>
            <a:off x="5321808" y="2231136"/>
            <a:ext cx="36576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950"/>
              <a:buFont typeface="Arial"/>
              <a:buNone/>
            </a:pPr>
            <a:r>
              <a:rPr b="0" i="1" lang="en-US" sz="950" u="none" cap="none" strike="noStrike">
                <a:solidFill>
                  <a:srgbClr val="5A6A6F"/>
                </a:solidFill>
                <a:latin typeface="Arial"/>
                <a:ea typeface="Arial"/>
                <a:cs typeface="Arial"/>
                <a:sym typeface="Arial"/>
              </a:rPr>
              <a:t>Names, numbers, campus contacts</a:t>
            </a:r>
            <a:endParaRPr b="0" i="0" sz="950" u="none" cap="none" strike="noStrike">
              <a:solidFill>
                <a:schemeClr val="dk1"/>
              </a:solidFill>
              <a:latin typeface="Calibri"/>
              <a:ea typeface="Calibri"/>
              <a:cs typeface="Calibri"/>
              <a:sym typeface="Calibri"/>
            </a:endParaRPr>
          </a:p>
        </p:txBody>
      </p:sp>
      <p:sp>
        <p:nvSpPr>
          <p:cNvPr id="56" name="Google Shape;56;p4"/>
          <p:cNvSpPr/>
          <p:nvPr/>
        </p:nvSpPr>
        <p:spPr>
          <a:xfrm>
            <a:off x="4754880" y="290779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4"/>
          <p:cNvPicPr preferRelativeResize="0"/>
          <p:nvPr/>
        </p:nvPicPr>
        <p:blipFill rotWithShape="1">
          <a:blip r:embed="rId9">
            <a:alphaModFix/>
          </a:blip>
          <a:srcRect b="0" l="0" r="0" t="0"/>
          <a:stretch/>
        </p:blipFill>
        <p:spPr>
          <a:xfrm>
            <a:off x="4818888" y="2926080"/>
            <a:ext cx="347472" cy="347472"/>
          </a:xfrm>
          <a:prstGeom prst="rect">
            <a:avLst/>
          </a:prstGeom>
          <a:noFill/>
          <a:ln>
            <a:noFill/>
          </a:ln>
        </p:spPr>
      </p:pic>
      <p:sp>
        <p:nvSpPr>
          <p:cNvPr id="58" name="Google Shape;58;p4"/>
          <p:cNvSpPr/>
          <p:nvPr/>
        </p:nvSpPr>
        <p:spPr>
          <a:xfrm>
            <a:off x="5321808" y="2834640"/>
            <a:ext cx="36576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Reporting a concern</a:t>
            </a:r>
            <a:endParaRPr b="0" i="0" sz="1100" u="none" cap="none" strike="noStrike">
              <a:solidFill>
                <a:schemeClr val="dk1"/>
              </a:solidFill>
              <a:latin typeface="Calibri"/>
              <a:ea typeface="Calibri"/>
              <a:cs typeface="Calibri"/>
              <a:sym typeface="Calibri"/>
            </a:endParaRPr>
          </a:p>
        </p:txBody>
      </p:sp>
      <p:sp>
        <p:nvSpPr>
          <p:cNvPr id="59" name="Google Shape;59;p4"/>
          <p:cNvSpPr/>
          <p:nvPr/>
        </p:nvSpPr>
        <p:spPr>
          <a:xfrm>
            <a:off x="5321808" y="3145536"/>
            <a:ext cx="36576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950"/>
              <a:buFont typeface="Arial"/>
              <a:buNone/>
            </a:pPr>
            <a:r>
              <a:rPr b="0" i="1" lang="en-US" sz="950" u="none" cap="none" strike="noStrike">
                <a:solidFill>
                  <a:srgbClr val="5A6A6F"/>
                </a:solidFill>
                <a:latin typeface="Arial"/>
                <a:ea typeface="Arial"/>
                <a:cs typeface="Arial"/>
                <a:sym typeface="Arial"/>
              </a:rPr>
              <a:t>About yourself or someone else</a:t>
            </a:r>
            <a:endParaRPr b="0" i="0" sz="950" u="none" cap="none" strike="noStrike">
              <a:solidFill>
                <a:schemeClr val="dk1"/>
              </a:solidFill>
              <a:latin typeface="Calibri"/>
              <a:ea typeface="Calibri"/>
              <a:cs typeface="Calibri"/>
              <a:sym typeface="Calibri"/>
            </a:endParaRPr>
          </a:p>
        </p:txBody>
      </p:sp>
      <p:sp>
        <p:nvSpPr>
          <p:cNvPr id="60" name="Google Shape;60;p4"/>
          <p:cNvSpPr/>
          <p:nvPr/>
        </p:nvSpPr>
        <p:spPr>
          <a:xfrm>
            <a:off x="320040" y="4617720"/>
            <a:ext cx="8503920" cy="292608"/>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57200" y="4617720"/>
            <a:ext cx="8321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Arial"/>
              <a:buNone/>
            </a:pPr>
            <a:r>
              <a:rPr b="0" i="1" lang="en-US" sz="850" u="none" cap="none" strike="noStrike">
                <a:solidFill>
                  <a:srgbClr val="5A6A6F"/>
                </a:solidFill>
                <a:latin typeface="Arial"/>
                <a:ea typeface="Arial"/>
                <a:cs typeface="Arial"/>
                <a:sym typeface="Arial"/>
              </a:rPr>
              <a:t>Prevent and online safety are introduced here. Tutorials provide the full treatment. This session is your orientation and route-map. By the end of today you will be able to name who to contact here, and say what you would do if someone online offered you paid creative work.</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6" name="Shape 66"/>
        <p:cNvGrpSpPr/>
        <p:nvPr/>
      </p:nvGrpSpPr>
      <p:grpSpPr>
        <a:xfrm>
          <a:off x="0" y="0"/>
          <a:ext cx="0" cy="0"/>
          <a:chOff x="0" y="0"/>
          <a:chExt cx="0" cy="0"/>
        </a:xfrm>
      </p:grpSpPr>
      <p:sp>
        <p:nvSpPr>
          <p:cNvPr id="67" name="Google Shape;67;p5"/>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 Start With</a:t>
            </a:r>
            <a:endParaRPr b="0" i="0" sz="1800" u="none" cap="none" strike="noStrike">
              <a:solidFill>
                <a:schemeClr val="dk1"/>
              </a:solidFill>
              <a:latin typeface="Calibri"/>
              <a:ea typeface="Calibri"/>
              <a:cs typeface="Calibri"/>
              <a:sym typeface="Calibri"/>
            </a:endParaRPr>
          </a:p>
        </p:txBody>
      </p:sp>
      <p:sp>
        <p:nvSpPr>
          <p:cNvPr id="69" name="Google Shape;69;p5"/>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A few minutes — paired discussion</a:t>
            </a:r>
            <a:endParaRPr b="0" i="0" sz="900" u="none" cap="none" strike="noStrike">
              <a:solidFill>
                <a:schemeClr val="dk1"/>
              </a:solidFill>
              <a:latin typeface="Calibri"/>
              <a:ea typeface="Calibri"/>
              <a:cs typeface="Calibri"/>
              <a:sym typeface="Calibri"/>
            </a:endParaRPr>
          </a:p>
        </p:txBody>
      </p:sp>
      <p:sp>
        <p:nvSpPr>
          <p:cNvPr id="70" name="Google Shape;70;p5"/>
          <p:cNvSpPr/>
          <p:nvPr/>
        </p:nvSpPr>
        <p:spPr>
          <a:xfrm>
            <a:off x="7406640" y="164592"/>
            <a:ext cx="1554480" cy="256032"/>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DISCUSSION</a:t>
            </a:r>
            <a:endParaRPr b="0" i="0" sz="700" u="none" cap="none" strike="noStrike">
              <a:solidFill>
                <a:schemeClr val="dk1"/>
              </a:solidFill>
              <a:latin typeface="Calibri"/>
              <a:ea typeface="Calibri"/>
              <a:cs typeface="Calibri"/>
              <a:sym typeface="Calibri"/>
            </a:endParaRPr>
          </a:p>
        </p:txBody>
      </p:sp>
      <p:sp>
        <p:nvSpPr>
          <p:cNvPr id="72" name="Google Shape;72;p5"/>
          <p:cNvSpPr/>
          <p:nvPr/>
        </p:nvSpPr>
        <p:spPr>
          <a:xfrm>
            <a:off x="502920" y="91440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2000"/>
              <a:buFont typeface="Arial"/>
              <a:buNone/>
            </a:pPr>
            <a:r>
              <a:rPr b="1" i="0" lang="en-US" sz="2000" u="none" cap="none" strike="noStrike">
                <a:solidFill>
                  <a:srgbClr val="592C82"/>
                </a:solidFill>
                <a:latin typeface="Arial"/>
                <a:ea typeface="Arial"/>
                <a:cs typeface="Arial"/>
                <a:sym typeface="Arial"/>
              </a:rPr>
              <a:t>What does feeling safe actually mean — here, online, and on location?</a:t>
            </a:r>
            <a:endParaRPr b="0" i="0" sz="2000" u="none" cap="none" strike="noStrike">
              <a:solidFill>
                <a:schemeClr val="dk1"/>
              </a:solidFill>
              <a:latin typeface="Calibri"/>
              <a:ea typeface="Calibri"/>
              <a:cs typeface="Calibri"/>
              <a:sym typeface="Calibri"/>
            </a:endParaRPr>
          </a:p>
        </p:txBody>
      </p:sp>
      <p:sp>
        <p:nvSpPr>
          <p:cNvPr id="73" name="Google Shape;73;p5"/>
          <p:cNvSpPr/>
          <p:nvPr/>
        </p:nvSpPr>
        <p:spPr>
          <a:xfrm>
            <a:off x="502920" y="1572768"/>
            <a:ext cx="8138160" cy="658368"/>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685800" y="1572768"/>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Arial"/>
              <a:buNone/>
            </a:pPr>
            <a:r>
              <a:rPr b="0" i="0" lang="en-US" sz="1150" u="none" cap="none" strike="noStrike">
                <a:solidFill>
                  <a:srgbClr val="1B2A30"/>
                </a:solidFill>
                <a:latin typeface="Arial"/>
                <a:ea typeface="Arial"/>
                <a:cs typeface="Arial"/>
                <a:sym typeface="Arial"/>
              </a:rPr>
              <a:t>1.  Think about a place or situation where you feel genuinely safe. What makes it feel that way?</a:t>
            </a:r>
            <a:endParaRPr b="0" i="0" sz="1150" u="none" cap="none" strike="noStrike">
              <a:solidFill>
                <a:schemeClr val="dk1"/>
              </a:solidFill>
              <a:latin typeface="Calibri"/>
              <a:ea typeface="Calibri"/>
              <a:cs typeface="Calibri"/>
              <a:sym typeface="Calibri"/>
            </a:endParaRPr>
          </a:p>
        </p:txBody>
      </p:sp>
      <p:sp>
        <p:nvSpPr>
          <p:cNvPr id="75" name="Google Shape;75;p5"/>
          <p:cNvSpPr/>
          <p:nvPr/>
        </p:nvSpPr>
        <p:spPr>
          <a:xfrm>
            <a:off x="502920" y="2395728"/>
            <a:ext cx="8138160" cy="658368"/>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685800" y="2395728"/>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Arial"/>
              <a:buNone/>
            </a:pPr>
            <a:r>
              <a:rPr b="0" i="0" lang="en-US" sz="1150" u="none" cap="none" strike="noStrike">
                <a:solidFill>
                  <a:srgbClr val="1B2A30"/>
                </a:solidFill>
                <a:latin typeface="Arial"/>
                <a:ea typeface="Arial"/>
                <a:cs typeface="Arial"/>
                <a:sym typeface="Arial"/>
              </a:rPr>
              <a:t>2.  Does 'safe' feel different online compared to in person? In what ways?</a:t>
            </a:r>
            <a:endParaRPr b="0" i="0" sz="1150" u="none" cap="none" strike="noStrike">
              <a:solidFill>
                <a:schemeClr val="dk1"/>
              </a:solidFill>
              <a:latin typeface="Calibri"/>
              <a:ea typeface="Calibri"/>
              <a:cs typeface="Calibri"/>
              <a:sym typeface="Calibri"/>
            </a:endParaRPr>
          </a:p>
        </p:txBody>
      </p:sp>
      <p:sp>
        <p:nvSpPr>
          <p:cNvPr id="77" name="Google Shape;77;p5"/>
          <p:cNvSpPr/>
          <p:nvPr/>
        </p:nvSpPr>
        <p:spPr>
          <a:xfrm>
            <a:off x="502920" y="3218688"/>
            <a:ext cx="8138160" cy="658368"/>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685800" y="3218688"/>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Arial"/>
              <a:buNone/>
            </a:pPr>
            <a:r>
              <a:rPr b="0" i="0" lang="en-US" sz="1150" u="none" cap="none" strike="noStrike">
                <a:solidFill>
                  <a:srgbClr val="1B2A30"/>
                </a:solidFill>
                <a:latin typeface="Arial"/>
                <a:ea typeface="Arial"/>
                <a:cs typeface="Arial"/>
                <a:sym typeface="Arial"/>
              </a:rPr>
              <a:t>3.  Has college felt safe so far — and if there's anything that's felt uncertain, what is it? Think about the edit suites, the studios and labs, and the online spaces you work in.</a:t>
            </a:r>
            <a:endParaRPr b="0" i="0" sz="1150" u="none" cap="none" strike="noStrike">
              <a:solidFill>
                <a:schemeClr val="dk1"/>
              </a:solidFill>
              <a:latin typeface="Calibri"/>
              <a:ea typeface="Calibri"/>
              <a:cs typeface="Calibri"/>
              <a:sym typeface="Calibri"/>
            </a:endParaRPr>
          </a:p>
        </p:txBody>
      </p:sp>
      <p:sp>
        <p:nvSpPr>
          <p:cNvPr id="79" name="Google Shape;79;p5"/>
          <p:cNvSpPr/>
          <p:nvPr/>
        </p:nvSpPr>
        <p:spPr>
          <a:xfrm>
            <a:off x="502920" y="4160520"/>
            <a:ext cx="8138160" cy="658368"/>
          </a:xfrm>
          <a:prstGeom prst="rect">
            <a:avLst/>
          </a:prstGeom>
          <a:solidFill>
            <a:srgbClr val="FFCF01"/>
          </a:solidFill>
          <a:ln cap="flat" cmpd="sng" w="12700">
            <a:solidFill>
              <a:srgbClr val="FFC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640080" y="4160520"/>
            <a:ext cx="786384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No pressure to share anything personal. This is just to get thinking — not a test. Finished early? Ask each other: what would make you feel safe posting your own work in public?</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5" name="Shape 85"/>
        <p:cNvGrpSpPr/>
        <p:nvPr/>
      </p:nvGrpSpPr>
      <p:grpSpPr>
        <a:xfrm>
          <a:off x="0" y="0"/>
          <a:ext cx="0" cy="0"/>
          <a:chOff x="0" y="0"/>
          <a:chExt cx="0" cy="0"/>
        </a:xfrm>
      </p:grpSpPr>
      <p:sp>
        <p:nvSpPr>
          <p:cNvPr id="86" name="Google Shape;86;p6"/>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Safeguarding at College</a:t>
            </a:r>
            <a:endParaRPr b="0" i="0" sz="1800" u="none" cap="none" strike="noStrike">
              <a:solidFill>
                <a:schemeClr val="dk1"/>
              </a:solidFill>
              <a:latin typeface="Calibri"/>
              <a:ea typeface="Calibri"/>
              <a:cs typeface="Calibri"/>
              <a:sym typeface="Calibri"/>
            </a:endParaRPr>
          </a:p>
        </p:txBody>
      </p:sp>
      <p:sp>
        <p:nvSpPr>
          <p:cNvPr id="88" name="Google Shape;88;p6"/>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What it means here — and how it differs from school, including a school IT suite or art room.</a:t>
            </a:r>
            <a:endParaRPr b="0" i="0" sz="900" u="none" cap="none" strike="noStrike">
              <a:solidFill>
                <a:schemeClr val="dk1"/>
              </a:solidFill>
              <a:latin typeface="Calibri"/>
              <a:ea typeface="Calibri"/>
              <a:cs typeface="Calibri"/>
              <a:sym typeface="Calibri"/>
            </a:endParaRPr>
          </a:p>
        </p:txBody>
      </p:sp>
      <p:sp>
        <p:nvSpPr>
          <p:cNvPr id="89" name="Google Shape;89;p6"/>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91" name="Google Shape;91;p6"/>
          <p:cNvSpPr/>
          <p:nvPr/>
        </p:nvSpPr>
        <p:spPr>
          <a:xfrm>
            <a:off x="320040" y="868680"/>
            <a:ext cx="40233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What safeguarding means</a:t>
            </a:r>
            <a:endParaRPr b="0" i="0" sz="1200" u="none" cap="none" strike="noStrike">
              <a:solidFill>
                <a:schemeClr val="dk1"/>
              </a:solidFill>
              <a:latin typeface="Calibri"/>
              <a:ea typeface="Calibri"/>
              <a:cs typeface="Calibri"/>
              <a:sym typeface="Calibri"/>
            </a:endParaRPr>
          </a:p>
        </p:txBody>
      </p:sp>
      <p:sp>
        <p:nvSpPr>
          <p:cNvPr id="92" name="Google Shape;92;p6"/>
          <p:cNvSpPr/>
          <p:nvPr/>
        </p:nvSpPr>
        <p:spPr>
          <a:xfrm>
            <a:off x="320040" y="1298448"/>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21792" y="1243584"/>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Protecting students from harm, abuse, exploitation and neglect. On placement and on a shoot you hold part of this duty yourself — consent, conduct, and what you record.</a:t>
            </a:r>
            <a:endParaRPr b="0" i="0" sz="1050" u="none" cap="none" strike="noStrike">
              <a:solidFill>
                <a:schemeClr val="dk1"/>
              </a:solidFill>
              <a:latin typeface="Calibri"/>
              <a:ea typeface="Calibri"/>
              <a:cs typeface="Calibri"/>
              <a:sym typeface="Calibri"/>
            </a:endParaRPr>
          </a:p>
        </p:txBody>
      </p:sp>
      <p:sp>
        <p:nvSpPr>
          <p:cNvPr id="94" name="Google Shape;94;p6"/>
          <p:cNvSpPr/>
          <p:nvPr/>
        </p:nvSpPr>
        <p:spPr>
          <a:xfrm>
            <a:off x="320040" y="2048256"/>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621792" y="1993392"/>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Supporting mental health, wellbeing and safe development.</a:t>
            </a:r>
            <a:endParaRPr b="0" i="0" sz="1050" u="none" cap="none" strike="noStrike">
              <a:solidFill>
                <a:schemeClr val="dk1"/>
              </a:solidFill>
              <a:latin typeface="Calibri"/>
              <a:ea typeface="Calibri"/>
              <a:cs typeface="Calibri"/>
              <a:sym typeface="Calibri"/>
            </a:endParaRPr>
          </a:p>
        </p:txBody>
      </p:sp>
      <p:sp>
        <p:nvSpPr>
          <p:cNvPr id="96" name="Google Shape;96;p6"/>
          <p:cNvSpPr/>
          <p:nvPr/>
        </p:nvSpPr>
        <p:spPr>
          <a:xfrm>
            <a:off x="320040" y="2798064"/>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621792" y="274320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Ensuring students can raise concerns and be taken seriously.</a:t>
            </a:r>
            <a:endParaRPr b="0" i="0" sz="1050" u="none" cap="none" strike="noStrike">
              <a:solidFill>
                <a:schemeClr val="dk1"/>
              </a:solidFill>
              <a:latin typeface="Calibri"/>
              <a:ea typeface="Calibri"/>
              <a:cs typeface="Calibri"/>
              <a:sym typeface="Calibri"/>
            </a:endParaRPr>
          </a:p>
        </p:txBody>
      </p:sp>
      <p:sp>
        <p:nvSpPr>
          <p:cNvPr id="98" name="Google Shape;98;p6"/>
          <p:cNvSpPr/>
          <p:nvPr/>
        </p:nvSpPr>
        <p:spPr>
          <a:xfrm>
            <a:off x="320040" y="3547872"/>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621792" y="3493008"/>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Safeguarding is everyone's responsibility — staff and students alike.</a:t>
            </a:r>
            <a:endParaRPr b="0" i="0" sz="1050" u="none" cap="none" strike="noStrike">
              <a:solidFill>
                <a:schemeClr val="dk1"/>
              </a:solidFill>
              <a:latin typeface="Calibri"/>
              <a:ea typeface="Calibri"/>
              <a:cs typeface="Calibri"/>
              <a:sym typeface="Calibri"/>
            </a:endParaRPr>
          </a:p>
        </p:txBody>
      </p:sp>
      <p:cxnSp>
        <p:nvCxnSpPr>
          <p:cNvPr id="100" name="Google Shape;100;p6"/>
          <p:cNvCxnSpPr/>
          <p:nvPr/>
        </p:nvCxnSpPr>
        <p:spPr>
          <a:xfrm>
            <a:off x="4480560" y="822960"/>
            <a:ext cx="0" cy="4114800"/>
          </a:xfrm>
          <a:prstGeom prst="straightConnector1">
            <a:avLst/>
          </a:prstGeom>
          <a:noFill/>
          <a:ln cap="flat" cmpd="sng" w="12700">
            <a:solidFill>
              <a:srgbClr val="D2DBDA"/>
            </a:solidFill>
            <a:prstDash val="solid"/>
            <a:round/>
            <a:headEnd len="sm" w="sm" type="none"/>
            <a:tailEnd len="sm" w="sm" type="none"/>
          </a:ln>
        </p:spPr>
      </p:cxnSp>
      <p:sp>
        <p:nvSpPr>
          <p:cNvPr id="101" name="Google Shape;101;p6"/>
          <p:cNvSpPr/>
          <p:nvPr/>
        </p:nvSpPr>
        <p:spPr>
          <a:xfrm>
            <a:off x="4663440" y="868680"/>
            <a:ext cx="41605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College is different from school</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4663440" y="1261872"/>
            <a:ext cx="4160520" cy="804672"/>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4800600" y="1261872"/>
            <a:ext cx="3886200"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More autonomy  </a:t>
            </a:r>
            <a:r>
              <a:rPr b="0" i="0" lang="en-US" sz="1000" u="none" cap="none" strike="noStrike">
                <a:solidFill>
                  <a:srgbClr val="1B2A30"/>
                </a:solidFill>
                <a:latin typeface="Arial"/>
                <a:ea typeface="Arial"/>
                <a:cs typeface="Arial"/>
                <a:sym typeface="Arial"/>
              </a:rPr>
              <a:t>You make more of your own choices. Safeguarding here supports that autonomy — it doesn't remove it. Here that means booking kit, running your own edit, and hitting deadlines nobody chases you for.</a:t>
            </a:r>
            <a:endParaRPr b="0" i="0" sz="1000" u="none" cap="none" strike="noStrike">
              <a:solidFill>
                <a:schemeClr val="dk1"/>
              </a:solidFill>
              <a:latin typeface="Calibri"/>
              <a:ea typeface="Calibri"/>
              <a:cs typeface="Calibri"/>
              <a:sym typeface="Calibri"/>
            </a:endParaRPr>
          </a:p>
        </p:txBody>
      </p:sp>
      <p:sp>
        <p:nvSpPr>
          <p:cNvPr id="104" name="Google Shape;104;p6"/>
          <p:cNvSpPr/>
          <p:nvPr/>
        </p:nvSpPr>
        <p:spPr>
          <a:xfrm>
            <a:off x="4663440" y="2221992"/>
            <a:ext cx="4160520" cy="804672"/>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4800600" y="2221992"/>
            <a:ext cx="3886200"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Less monitoring  </a:t>
            </a:r>
            <a:r>
              <a:rPr b="0" i="0" lang="en-US" sz="1000" u="none" cap="none" strike="noStrike">
                <a:solidFill>
                  <a:srgbClr val="1B2A30"/>
                </a:solidFill>
                <a:latin typeface="Arial"/>
                <a:ea typeface="Arial"/>
                <a:cs typeface="Arial"/>
                <a:sym typeface="Arial"/>
              </a:rPr>
              <a:t>College staff aren't tracking your every move. But they are paying attention — and they act when something's wrong. Your tutor and the technician who signs kit in and out both notice when someone stops turning up.</a:t>
            </a:r>
            <a:endParaRPr b="0" i="0" sz="1000" u="none" cap="none" strike="noStrike">
              <a:solidFill>
                <a:schemeClr val="dk1"/>
              </a:solidFill>
              <a:latin typeface="Calibri"/>
              <a:ea typeface="Calibri"/>
              <a:cs typeface="Calibri"/>
              <a:sym typeface="Calibri"/>
            </a:endParaRPr>
          </a:p>
        </p:txBody>
      </p:sp>
      <p:sp>
        <p:nvSpPr>
          <p:cNvPr id="106" name="Google Shape;106;p6"/>
          <p:cNvSpPr/>
          <p:nvPr/>
        </p:nvSpPr>
        <p:spPr>
          <a:xfrm>
            <a:off x="4663440" y="3182112"/>
            <a:ext cx="4160520" cy="804672"/>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4800600" y="3182112"/>
            <a:ext cx="3886200"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You can self-refer  </a:t>
            </a:r>
            <a:r>
              <a:rPr b="0" i="0" lang="en-US" sz="1000" u="none" cap="none" strike="noStrike">
                <a:solidFill>
                  <a:srgbClr val="1B2A30"/>
                </a:solidFill>
                <a:latin typeface="Arial"/>
                <a:ea typeface="Arial"/>
                <a:cs typeface="Arial"/>
                <a:sym typeface="Arial"/>
              </a:rPr>
              <a:t>You don't need a teacher to spot something. You can go directly to the Safeguarding Team yourself. Your course tutor, a technician, or the Wellbeing Team — you choose.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2" name="Shape 112"/>
        <p:cNvGrpSpPr/>
        <p:nvPr/>
      </p:nvGrpSpPr>
      <p:grpSpPr>
        <a:xfrm>
          <a:off x="0" y="0"/>
          <a:ext cx="0" cy="0"/>
          <a:chOff x="0" y="0"/>
          <a:chExt cx="0" cy="0"/>
        </a:xfrm>
      </p:grpSpPr>
      <p:sp>
        <p:nvSpPr>
          <p:cNvPr id="113" name="Google Shape;113;p7"/>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Prevent — What It Is and Why It Matters</a:t>
            </a:r>
            <a:endParaRPr b="0" i="0" sz="1800" u="none" cap="none" strike="noStrike">
              <a:solidFill>
                <a:schemeClr val="dk1"/>
              </a:solidFill>
              <a:latin typeface="Calibri"/>
              <a:ea typeface="Calibri"/>
              <a:cs typeface="Calibri"/>
              <a:sym typeface="Calibri"/>
            </a:endParaRPr>
          </a:p>
        </p:txBody>
      </p:sp>
      <p:sp>
        <p:nvSpPr>
          <p:cNvPr id="115" name="Google Shape;115;p7"/>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A statutory duty — tutorials go deeper, and it connects to media law, ethics and security in your course.</a:t>
            </a:r>
            <a:endParaRPr b="0" i="0" sz="900" u="none" cap="none" strike="noStrike">
              <a:solidFill>
                <a:schemeClr val="dk1"/>
              </a:solidFill>
              <a:latin typeface="Calibri"/>
              <a:ea typeface="Calibri"/>
              <a:cs typeface="Calibri"/>
              <a:sym typeface="Calibri"/>
            </a:endParaRPr>
          </a:p>
        </p:txBody>
      </p:sp>
      <p:sp>
        <p:nvSpPr>
          <p:cNvPr id="116" name="Google Shape;116;p7"/>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118" name="Google Shape;118;p7"/>
          <p:cNvSpPr/>
          <p:nvPr/>
        </p:nvSpPr>
        <p:spPr>
          <a:xfrm>
            <a:off x="320040" y="822960"/>
            <a:ext cx="4160520" cy="1371600"/>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457200" y="822960"/>
            <a:ext cx="38862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Radicalisation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The process by which someone comes to support terrorism or forms of extremism that lead to terrorism.</a:t>
            </a:r>
            <a:endParaRPr b="0" i="0" sz="1000" u="none" cap="none" strike="noStrike">
              <a:solidFill>
                <a:schemeClr val="dk1"/>
              </a:solidFill>
              <a:latin typeface="Calibri"/>
              <a:ea typeface="Calibri"/>
              <a:cs typeface="Calibri"/>
              <a:sym typeface="Calibri"/>
            </a:endParaRPr>
          </a:p>
        </p:txBody>
      </p:sp>
      <p:sp>
        <p:nvSpPr>
          <p:cNvPr id="120" name="Google Shape;120;p7"/>
          <p:cNvSpPr/>
          <p:nvPr/>
        </p:nvSpPr>
        <p:spPr>
          <a:xfrm>
            <a:off x="320040" y="2331720"/>
            <a:ext cx="4160520" cy="1234440"/>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457200" y="2331720"/>
            <a:ext cx="388620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Extremism</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Vocal or active opposition to fundamental British values — or calls for violence against others.</a:t>
            </a:r>
            <a:endParaRPr b="0" i="0" sz="1000" u="none" cap="none" strike="noStrike">
              <a:solidFill>
                <a:schemeClr val="dk1"/>
              </a:solidFill>
              <a:latin typeface="Calibri"/>
              <a:ea typeface="Calibri"/>
              <a:cs typeface="Calibri"/>
              <a:sym typeface="Calibri"/>
            </a:endParaRPr>
          </a:p>
        </p:txBody>
      </p:sp>
      <p:sp>
        <p:nvSpPr>
          <p:cNvPr id="122" name="Google Shape;122;p7"/>
          <p:cNvSpPr/>
          <p:nvPr/>
        </p:nvSpPr>
        <p:spPr>
          <a:xfrm>
            <a:off x="320040" y="3657600"/>
            <a:ext cx="4160520" cy="749808"/>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457200" y="3657600"/>
            <a:ext cx="3886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Arial"/>
              <a:buNone/>
            </a:pPr>
            <a:r>
              <a:rPr b="0" i="0" lang="en-US" sz="950" u="none" cap="none" strike="noStrike">
                <a:solidFill>
                  <a:srgbClr val="FFFFFF"/>
                </a:solidFill>
                <a:latin typeface="Arial"/>
                <a:ea typeface="Arial"/>
                <a:cs typeface="Arial"/>
                <a:sym typeface="Arial"/>
              </a:rPr>
              <a:t>Locally, the greatest risk of radicalisation comes from the online space — particularly misogynistic and extreme right-wing content and lone-actor narratives.</a:t>
            </a:r>
            <a:endParaRPr b="0" i="0" sz="950" u="none" cap="none" strike="noStrike">
              <a:solidFill>
                <a:schemeClr val="dk1"/>
              </a:solidFill>
              <a:latin typeface="Calibri"/>
              <a:ea typeface="Calibri"/>
              <a:cs typeface="Calibri"/>
              <a:sym typeface="Calibri"/>
            </a:endParaRPr>
          </a:p>
        </p:txBody>
      </p:sp>
      <p:sp>
        <p:nvSpPr>
          <p:cNvPr id="124" name="Google Shape;124;p7"/>
          <p:cNvSpPr/>
          <p:nvPr/>
        </p:nvSpPr>
        <p:spPr>
          <a:xfrm>
            <a:off x="4663440" y="822960"/>
            <a:ext cx="41605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What makes someone vulnerable?</a:t>
            </a:r>
            <a:endParaRPr b="0" i="0" sz="1100" u="none" cap="none" strike="noStrike">
              <a:solidFill>
                <a:schemeClr val="dk1"/>
              </a:solidFill>
              <a:latin typeface="Calibri"/>
              <a:ea typeface="Calibri"/>
              <a:cs typeface="Calibri"/>
              <a:sym typeface="Calibri"/>
            </a:endParaRPr>
          </a:p>
        </p:txBody>
      </p:sp>
      <p:sp>
        <p:nvSpPr>
          <p:cNvPr id="125" name="Google Shape;125;p7"/>
          <p:cNvSpPr/>
          <p:nvPr/>
        </p:nvSpPr>
        <p:spPr>
          <a:xfrm>
            <a:off x="4663440" y="1261872"/>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4956048" y="1207008"/>
            <a:ext cx="38404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Feeling isolated, excluded, or like you don't belong — long solo hours in an edit suite, or being one of very few girls in a games or cyber lab</a:t>
            </a:r>
            <a:endParaRPr b="0" i="0" sz="1000" u="none" cap="none" strike="noStrike">
              <a:solidFill>
                <a:schemeClr val="dk1"/>
              </a:solidFill>
              <a:latin typeface="Calibri"/>
              <a:ea typeface="Calibri"/>
              <a:cs typeface="Calibri"/>
              <a:sym typeface="Calibri"/>
            </a:endParaRPr>
          </a:p>
        </p:txBody>
      </p:sp>
      <p:sp>
        <p:nvSpPr>
          <p:cNvPr id="127" name="Google Shape;127;p7"/>
          <p:cNvSpPr/>
          <p:nvPr/>
        </p:nvSpPr>
        <p:spPr>
          <a:xfrm>
            <a:off x="4663440" y="1737360"/>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4956048" y="1682496"/>
            <a:ext cx="38404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Searching for identity or a sense of purpose — working out whether you are a filmmaker, a designer, a journalist or a developer</a:t>
            </a:r>
            <a:endParaRPr b="0" i="0" sz="1000" u="none" cap="none" strike="noStrike">
              <a:solidFill>
                <a:schemeClr val="dk1"/>
              </a:solidFill>
              <a:latin typeface="Calibri"/>
              <a:ea typeface="Calibri"/>
              <a:cs typeface="Calibri"/>
              <a:sym typeface="Calibri"/>
            </a:endParaRPr>
          </a:p>
        </p:txBody>
      </p:sp>
      <p:sp>
        <p:nvSpPr>
          <p:cNvPr id="129" name="Google Shape;129;p7"/>
          <p:cNvSpPr/>
          <p:nvPr/>
        </p:nvSpPr>
        <p:spPr>
          <a:xfrm>
            <a:off x="4663440" y="2212848"/>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4956048" y="2157984"/>
            <a:ext cx="38404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Grievances — real or perceived — that feel unaddressed</a:t>
            </a:r>
            <a:endParaRPr b="0" i="0" sz="1000" u="none" cap="none" strike="noStrike">
              <a:solidFill>
                <a:schemeClr val="dk1"/>
              </a:solidFill>
              <a:latin typeface="Calibri"/>
              <a:ea typeface="Calibri"/>
              <a:cs typeface="Calibri"/>
              <a:sym typeface="Calibri"/>
            </a:endParaRPr>
          </a:p>
        </p:txBody>
      </p:sp>
      <p:sp>
        <p:nvSpPr>
          <p:cNvPr id="131" name="Google Shape;131;p7"/>
          <p:cNvSpPr/>
          <p:nvPr/>
        </p:nvSpPr>
        <p:spPr>
          <a:xfrm>
            <a:off x="4663440" y="2688336"/>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4956048" y="2633472"/>
            <a:ext cx="38404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Exposure to manipulative online content that validates anger — Discord servers, modding and streaming communities, and whatever the algorithm serves next</a:t>
            </a:r>
            <a:endParaRPr b="0" i="0" sz="1000" u="none" cap="none" strike="noStrike">
              <a:solidFill>
                <a:schemeClr val="dk1"/>
              </a:solidFill>
              <a:latin typeface="Calibri"/>
              <a:ea typeface="Calibri"/>
              <a:cs typeface="Calibri"/>
              <a:sym typeface="Calibri"/>
            </a:endParaRPr>
          </a:p>
        </p:txBody>
      </p:sp>
      <p:sp>
        <p:nvSpPr>
          <p:cNvPr id="133" name="Google Shape;133;p7"/>
          <p:cNvSpPr/>
          <p:nvPr/>
        </p:nvSpPr>
        <p:spPr>
          <a:xfrm>
            <a:off x="4663440" y="3163824"/>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4956048" y="3108960"/>
            <a:ext cx="38404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A trusted person who gradually normalises harmful views</a:t>
            </a:r>
            <a:endParaRPr b="0" i="0" sz="1000" u="none" cap="none" strike="noStrike">
              <a:solidFill>
                <a:schemeClr val="dk1"/>
              </a:solidFill>
              <a:latin typeface="Calibri"/>
              <a:ea typeface="Calibri"/>
              <a:cs typeface="Calibri"/>
              <a:sym typeface="Calibri"/>
            </a:endParaRPr>
          </a:p>
        </p:txBody>
      </p:sp>
      <p:sp>
        <p:nvSpPr>
          <p:cNvPr id="135" name="Google Shape;135;p7"/>
          <p:cNvSpPr/>
          <p:nvPr/>
        </p:nvSpPr>
        <p:spPr>
          <a:xfrm>
            <a:off x="4663440" y="3657600"/>
            <a:ext cx="4160520" cy="749808"/>
          </a:xfrm>
          <a:prstGeom prst="rect">
            <a:avLst/>
          </a:prstGeom>
          <a:solidFill>
            <a:srgbClr val="FFCF01"/>
          </a:solidFill>
          <a:ln cap="flat" cmpd="sng" w="12700">
            <a:solidFill>
              <a:srgbClr val="FFC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4800600" y="3657600"/>
            <a:ext cx="3886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50"/>
              <a:buFont typeface="Arial"/>
              <a:buNone/>
            </a:pPr>
            <a:r>
              <a:rPr b="1" i="0" lang="en-US" sz="950" u="none" cap="none" strike="noStrike">
                <a:solidFill>
                  <a:srgbClr val="0D2434"/>
                </a:solidFill>
                <a:latin typeface="Arial"/>
                <a:ea typeface="Arial"/>
                <a:cs typeface="Arial"/>
                <a:sym typeface="Arial"/>
              </a:rPr>
              <a:t>Exploring ideas and debating politics is fine — and encouraged. Being pushed toward hatred of a group of people is not the same thing. You already take media apart to see how it persuades an audience. Turn that on your own feed.</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41" name="Shape 141"/>
        <p:cNvGrpSpPr/>
        <p:nvPr/>
      </p:nvGrpSpPr>
      <p:grpSpPr>
        <a:xfrm>
          <a:off x="0" y="0"/>
          <a:ext cx="0" cy="0"/>
          <a:chOff x="0" y="0"/>
          <a:chExt cx="0" cy="0"/>
        </a:xfrm>
      </p:grpSpPr>
      <p:sp>
        <p:nvSpPr>
          <p:cNvPr id="142" name="Google Shape;142;p8"/>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Online Safety — The Real Risks</a:t>
            </a:r>
            <a:endParaRPr b="0" i="0" sz="1800" u="none" cap="none" strike="noStrike">
              <a:solidFill>
                <a:schemeClr val="dk1"/>
              </a:solidFill>
              <a:latin typeface="Calibri"/>
              <a:ea typeface="Calibri"/>
              <a:cs typeface="Calibri"/>
              <a:sym typeface="Calibri"/>
            </a:endParaRPr>
          </a:p>
        </p:txBody>
      </p:sp>
      <p:sp>
        <p:nvSpPr>
          <p:cNvPr id="144" name="Google Shape;144;p8"/>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Brief introduction — tutorials provide the full treatment — the security and data content in your own course takes it further.</a:t>
            </a:r>
            <a:endParaRPr b="0" i="0" sz="900" u="none" cap="none" strike="noStrike">
              <a:solidFill>
                <a:schemeClr val="dk1"/>
              </a:solidFill>
              <a:latin typeface="Calibri"/>
              <a:ea typeface="Calibri"/>
              <a:cs typeface="Calibri"/>
              <a:sym typeface="Calibri"/>
            </a:endParaRPr>
          </a:p>
        </p:txBody>
      </p:sp>
      <p:sp>
        <p:nvSpPr>
          <p:cNvPr id="145" name="Google Shape;145;p8"/>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147" name="Google Shape;147;p8"/>
          <p:cNvSpPr/>
          <p:nvPr/>
        </p:nvSpPr>
        <p:spPr>
          <a:xfrm>
            <a:off x="320040" y="868680"/>
            <a:ext cx="4160520" cy="1508760"/>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484632" y="1033272"/>
            <a:ext cx="438912" cy="43891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8"/>
          <p:cNvPicPr preferRelativeResize="0"/>
          <p:nvPr/>
        </p:nvPicPr>
        <p:blipFill rotWithShape="1">
          <a:blip r:embed="rId3">
            <a:alphaModFix/>
          </a:blip>
          <a:srcRect b="0" l="0" r="0" t="0"/>
          <a:stretch/>
        </p:blipFill>
        <p:spPr>
          <a:xfrm>
            <a:off x="539496" y="1069848"/>
            <a:ext cx="329184" cy="329184"/>
          </a:xfrm>
          <a:prstGeom prst="rect">
            <a:avLst/>
          </a:prstGeom>
          <a:noFill/>
          <a:ln>
            <a:noFill/>
          </a:ln>
        </p:spPr>
      </p:pic>
      <p:sp>
        <p:nvSpPr>
          <p:cNvPr id="150" name="Google Shape;150;p8"/>
          <p:cNvSpPr/>
          <p:nvPr/>
        </p:nvSpPr>
        <p:spPr>
          <a:xfrm>
            <a:off x="1051560" y="978408"/>
            <a:ext cx="3246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Personal information</a:t>
            </a:r>
            <a:endParaRPr b="0" i="0" sz="1100" u="none" cap="none" strike="noStrike">
              <a:solidFill>
                <a:schemeClr val="dk1"/>
              </a:solidFill>
              <a:latin typeface="Calibri"/>
              <a:ea typeface="Calibri"/>
              <a:cs typeface="Calibri"/>
              <a:sym typeface="Calibri"/>
            </a:endParaRPr>
          </a:p>
        </p:txBody>
      </p:sp>
      <p:sp>
        <p:nvSpPr>
          <p:cNvPr id="151" name="Google Shape;151;p8"/>
          <p:cNvSpPr/>
          <p:nvPr/>
        </p:nvSpPr>
        <p:spPr>
          <a:xfrm>
            <a:off x="484632" y="1463040"/>
            <a:ext cx="3822192"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950"/>
              <a:buFont typeface="Arial"/>
              <a:buNone/>
            </a:pPr>
            <a:r>
              <a:rPr b="0" i="0" lang="en-US" sz="950" u="none" cap="none" strike="noStrike">
                <a:solidFill>
                  <a:srgbClr val="1B2A30"/>
                </a:solidFill>
                <a:latin typeface="Arial"/>
                <a:ea typeface="Arial"/>
                <a:cs typeface="Arial"/>
                <a:sym typeface="Arial"/>
              </a:rPr>
              <a:t>What you share online can be used against you. Name, address, college, relationship status — each one is a lever. Add location tags and shoot times to that list — they tell a stranger where you will be.</a:t>
            </a:r>
            <a:endParaRPr b="0" i="0" sz="950" u="none" cap="none" strike="noStrike">
              <a:solidFill>
                <a:schemeClr val="dk1"/>
              </a:solidFill>
              <a:latin typeface="Calibri"/>
              <a:ea typeface="Calibri"/>
              <a:cs typeface="Calibri"/>
              <a:sym typeface="Calibri"/>
            </a:endParaRPr>
          </a:p>
        </p:txBody>
      </p:sp>
      <p:sp>
        <p:nvSpPr>
          <p:cNvPr id="152" name="Google Shape;152;p8"/>
          <p:cNvSpPr/>
          <p:nvPr/>
        </p:nvSpPr>
        <p:spPr>
          <a:xfrm>
            <a:off x="4754880" y="868680"/>
            <a:ext cx="4160520" cy="1508760"/>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4919472" y="1033272"/>
            <a:ext cx="438912" cy="43891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 name="Google Shape;154;p8"/>
          <p:cNvPicPr preferRelativeResize="0"/>
          <p:nvPr/>
        </p:nvPicPr>
        <p:blipFill rotWithShape="1">
          <a:blip r:embed="rId4">
            <a:alphaModFix/>
          </a:blip>
          <a:srcRect b="0" l="0" r="0" t="0"/>
          <a:stretch/>
        </p:blipFill>
        <p:spPr>
          <a:xfrm>
            <a:off x="4974336" y="1069848"/>
            <a:ext cx="329184" cy="329184"/>
          </a:xfrm>
          <a:prstGeom prst="rect">
            <a:avLst/>
          </a:prstGeom>
          <a:noFill/>
          <a:ln>
            <a:noFill/>
          </a:ln>
        </p:spPr>
      </p:pic>
      <p:sp>
        <p:nvSpPr>
          <p:cNvPr id="155" name="Google Shape;155;p8"/>
          <p:cNvSpPr/>
          <p:nvPr/>
        </p:nvSpPr>
        <p:spPr>
          <a:xfrm>
            <a:off x="5486400" y="978408"/>
            <a:ext cx="3246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Grooming and exploitation</a:t>
            </a:r>
            <a:endParaRPr b="0" i="0" sz="1100" u="none" cap="none" strike="noStrike">
              <a:solidFill>
                <a:schemeClr val="dk1"/>
              </a:solidFill>
              <a:latin typeface="Calibri"/>
              <a:ea typeface="Calibri"/>
              <a:cs typeface="Calibri"/>
              <a:sym typeface="Calibri"/>
            </a:endParaRPr>
          </a:p>
        </p:txBody>
      </p:sp>
      <p:sp>
        <p:nvSpPr>
          <p:cNvPr id="156" name="Google Shape;156;p8"/>
          <p:cNvSpPr/>
          <p:nvPr/>
        </p:nvSpPr>
        <p:spPr>
          <a:xfrm>
            <a:off x="4919472" y="1463040"/>
            <a:ext cx="3822192"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950"/>
              <a:buFont typeface="Arial"/>
              <a:buNone/>
            </a:pPr>
            <a:r>
              <a:rPr b="0" i="0" lang="en-US" sz="950" u="none" cap="none" strike="noStrike">
                <a:solidFill>
                  <a:srgbClr val="1B2A30"/>
                </a:solidFill>
                <a:latin typeface="Arial"/>
                <a:ea typeface="Arial"/>
                <a:cs typeface="Arial"/>
                <a:sym typeface="Arial"/>
              </a:rPr>
              <a:t>Adults who build 'relationships' online with young people for harmful purposes. County lines recruitment works the same way. Here it usually arrives as a DM offering paid portfolio, modelling or editing work.</a:t>
            </a:r>
            <a:endParaRPr b="0" i="0" sz="950" u="none" cap="none" strike="noStrike">
              <a:solidFill>
                <a:schemeClr val="dk1"/>
              </a:solidFill>
              <a:latin typeface="Calibri"/>
              <a:ea typeface="Calibri"/>
              <a:cs typeface="Calibri"/>
              <a:sym typeface="Calibri"/>
            </a:endParaRPr>
          </a:p>
        </p:txBody>
      </p:sp>
      <p:sp>
        <p:nvSpPr>
          <p:cNvPr id="157" name="Google Shape;157;p8"/>
          <p:cNvSpPr/>
          <p:nvPr/>
        </p:nvSpPr>
        <p:spPr>
          <a:xfrm>
            <a:off x="320040" y="2560320"/>
            <a:ext cx="4160520" cy="1508760"/>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484632" y="2724912"/>
            <a:ext cx="438912" cy="43891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8"/>
          <p:cNvPicPr preferRelativeResize="0"/>
          <p:nvPr/>
        </p:nvPicPr>
        <p:blipFill rotWithShape="1">
          <a:blip r:embed="rId5">
            <a:alphaModFix/>
          </a:blip>
          <a:srcRect b="0" l="0" r="0" t="0"/>
          <a:stretch/>
        </p:blipFill>
        <p:spPr>
          <a:xfrm>
            <a:off x="539496" y="2761488"/>
            <a:ext cx="329184" cy="329184"/>
          </a:xfrm>
          <a:prstGeom prst="rect">
            <a:avLst/>
          </a:prstGeom>
          <a:noFill/>
          <a:ln>
            <a:noFill/>
          </a:ln>
        </p:spPr>
      </p:pic>
      <p:sp>
        <p:nvSpPr>
          <p:cNvPr id="160" name="Google Shape;160;p8"/>
          <p:cNvSpPr/>
          <p:nvPr/>
        </p:nvSpPr>
        <p:spPr>
          <a:xfrm>
            <a:off x="1051560" y="2670048"/>
            <a:ext cx="3246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Financial scams</a:t>
            </a:r>
            <a:endParaRPr b="0" i="0" sz="1100" u="none" cap="none" strike="noStrike">
              <a:solidFill>
                <a:schemeClr val="dk1"/>
              </a:solidFill>
              <a:latin typeface="Calibri"/>
              <a:ea typeface="Calibri"/>
              <a:cs typeface="Calibri"/>
              <a:sym typeface="Calibri"/>
            </a:endParaRPr>
          </a:p>
        </p:txBody>
      </p:sp>
      <p:sp>
        <p:nvSpPr>
          <p:cNvPr id="161" name="Google Shape;161;p8"/>
          <p:cNvSpPr/>
          <p:nvPr/>
        </p:nvSpPr>
        <p:spPr>
          <a:xfrm>
            <a:off x="484632" y="3154680"/>
            <a:ext cx="3822192"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950"/>
              <a:buFont typeface="Arial"/>
              <a:buNone/>
            </a:pPr>
            <a:r>
              <a:rPr b="0" i="0" lang="en-US" sz="950" u="none" cap="none" strike="noStrike">
                <a:solidFill>
                  <a:srgbClr val="1B2A30"/>
                </a:solidFill>
                <a:latin typeface="Arial"/>
                <a:ea typeface="Arial"/>
                <a:cs typeface="Arial"/>
                <a:sym typeface="Arial"/>
              </a:rPr>
              <a:t>Fake job offers, romance scams, 'easy money' schemes — students are a primary target. If it sounds too good, check it. Watch for paid edit or thumbnail gigs that ask for your bank details up front.</a:t>
            </a:r>
            <a:endParaRPr b="0" i="0" sz="950" u="none" cap="none" strike="noStrike">
              <a:solidFill>
                <a:schemeClr val="dk1"/>
              </a:solidFill>
              <a:latin typeface="Calibri"/>
              <a:ea typeface="Calibri"/>
              <a:cs typeface="Calibri"/>
              <a:sym typeface="Calibri"/>
            </a:endParaRPr>
          </a:p>
        </p:txBody>
      </p:sp>
      <p:sp>
        <p:nvSpPr>
          <p:cNvPr id="162" name="Google Shape;162;p8"/>
          <p:cNvSpPr/>
          <p:nvPr/>
        </p:nvSpPr>
        <p:spPr>
          <a:xfrm>
            <a:off x="4754880" y="2560320"/>
            <a:ext cx="4160520" cy="1508760"/>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4919472" y="2724912"/>
            <a:ext cx="438912" cy="43891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8"/>
          <p:cNvPicPr preferRelativeResize="0"/>
          <p:nvPr/>
        </p:nvPicPr>
        <p:blipFill rotWithShape="1">
          <a:blip r:embed="rId6">
            <a:alphaModFix/>
          </a:blip>
          <a:srcRect b="0" l="0" r="0" t="0"/>
          <a:stretch/>
        </p:blipFill>
        <p:spPr>
          <a:xfrm>
            <a:off x="4974336" y="2761488"/>
            <a:ext cx="329184" cy="329184"/>
          </a:xfrm>
          <a:prstGeom prst="rect">
            <a:avLst/>
          </a:prstGeom>
          <a:noFill/>
          <a:ln>
            <a:noFill/>
          </a:ln>
        </p:spPr>
      </p:pic>
      <p:sp>
        <p:nvSpPr>
          <p:cNvPr id="165" name="Google Shape;165;p8"/>
          <p:cNvSpPr/>
          <p:nvPr/>
        </p:nvSpPr>
        <p:spPr>
          <a:xfrm>
            <a:off x="5486400" y="2670048"/>
            <a:ext cx="3246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Non-consensual images</a:t>
            </a:r>
            <a:endParaRPr b="0" i="0" sz="1100" u="none" cap="none" strike="noStrike">
              <a:solidFill>
                <a:schemeClr val="dk1"/>
              </a:solidFill>
              <a:latin typeface="Calibri"/>
              <a:ea typeface="Calibri"/>
              <a:cs typeface="Calibri"/>
              <a:sym typeface="Calibri"/>
            </a:endParaRPr>
          </a:p>
        </p:txBody>
      </p:sp>
      <p:sp>
        <p:nvSpPr>
          <p:cNvPr id="166" name="Google Shape;166;p8"/>
          <p:cNvSpPr/>
          <p:nvPr/>
        </p:nvSpPr>
        <p:spPr>
          <a:xfrm>
            <a:off x="4919472" y="3154680"/>
            <a:ext cx="3822192"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950"/>
              <a:buFont typeface="Arial"/>
              <a:buNone/>
            </a:pPr>
            <a:r>
              <a:rPr b="0" i="0" lang="en-US" sz="950" u="none" cap="none" strike="noStrike">
                <a:solidFill>
                  <a:srgbClr val="1B2A30"/>
                </a:solidFill>
                <a:latin typeface="Arial"/>
                <a:ea typeface="Arial"/>
                <a:cs typeface="Arial"/>
                <a:sym typeface="Arial"/>
              </a:rPr>
              <a:t>Sharing intimate images without consent is a criminal offence. Receiving or sharing counts. This includes AI-generated images. Consent covers everyone you film or photograph — including classmates in your own footage.</a:t>
            </a:r>
            <a:endParaRPr b="0" i="0" sz="950" u="none" cap="none" strike="noStrike">
              <a:solidFill>
                <a:schemeClr val="dk1"/>
              </a:solidFill>
              <a:latin typeface="Calibri"/>
              <a:ea typeface="Calibri"/>
              <a:cs typeface="Calibri"/>
              <a:sym typeface="Calibri"/>
            </a:endParaRPr>
          </a:p>
        </p:txBody>
      </p:sp>
      <p:sp>
        <p:nvSpPr>
          <p:cNvPr id="167" name="Google Shape;167;p8"/>
          <p:cNvSpPr/>
          <p:nvPr/>
        </p:nvSpPr>
        <p:spPr>
          <a:xfrm>
            <a:off x="320040" y="4315968"/>
            <a:ext cx="8503920" cy="548640"/>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457200" y="4315968"/>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Arial"/>
              <a:buNone/>
            </a:pPr>
            <a:r>
              <a:rPr b="0" i="0" lang="en-US" sz="950" u="none" cap="none" strike="noStrike">
                <a:solidFill>
                  <a:srgbClr val="FFFFFF"/>
                </a:solidFill>
                <a:latin typeface="Arial"/>
                <a:ea typeface="Arial"/>
                <a:cs typeface="Arial"/>
                <a:sym typeface="Arial"/>
              </a:rPr>
              <a:t>The internet has layers: the surface web you use every day; the deep web (password-protected, legitimate); the dark web (deliberately hidden, significant legal and personal risk). Tutorials go into detail. Your networking, security and IT fundamentals units cover this properly.</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3" name="Shape 173"/>
        <p:cNvGrpSpPr/>
        <p:nvPr/>
      </p:nvGrpSpPr>
      <p:grpSpPr>
        <a:xfrm>
          <a:off x="0" y="0"/>
          <a:ext cx="0" cy="0"/>
          <a:chOff x="0" y="0"/>
          <a:chExt cx="0" cy="0"/>
        </a:xfrm>
      </p:grpSpPr>
      <p:sp>
        <p:nvSpPr>
          <p:cNvPr id="174" name="Google Shape;174;p9"/>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AI and Your Data — What You Need to Know</a:t>
            </a:r>
            <a:endParaRPr b="0" i="0" sz="1800" u="none" cap="none" strike="noStrike">
              <a:solidFill>
                <a:schemeClr val="dk1"/>
              </a:solidFill>
              <a:latin typeface="Calibri"/>
              <a:ea typeface="Calibri"/>
              <a:cs typeface="Calibri"/>
              <a:sym typeface="Calibri"/>
            </a:endParaRPr>
          </a:p>
        </p:txBody>
      </p:sp>
      <p:sp>
        <p:nvSpPr>
          <p:cNvPr id="176" name="Google Shape;176;p9"/>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178" name="Google Shape;178;p9"/>
          <p:cNvSpPr/>
          <p:nvPr/>
        </p:nvSpPr>
        <p:spPr>
          <a:xfrm>
            <a:off x="320040" y="658368"/>
            <a:ext cx="6949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Arial"/>
              <a:buNone/>
            </a:pPr>
            <a:r>
              <a:rPr b="0" i="1" lang="en-US" sz="850" u="none" cap="none" strike="noStrike">
                <a:solidFill>
                  <a:srgbClr val="5A6A6F"/>
                </a:solidFill>
                <a:latin typeface="Arial"/>
                <a:ea typeface="Arial"/>
                <a:cs typeface="Arial"/>
                <a:sym typeface="Arial"/>
              </a:rPr>
              <a:t>JCQ regulations + ESCG data safety policy</a:t>
            </a:r>
            <a:endParaRPr b="0" i="0" sz="850" u="none" cap="none" strike="noStrike">
              <a:solidFill>
                <a:schemeClr val="dk1"/>
              </a:solidFill>
              <a:latin typeface="Calibri"/>
              <a:ea typeface="Calibri"/>
              <a:cs typeface="Calibri"/>
              <a:sym typeface="Calibri"/>
            </a:endParaRPr>
          </a:p>
        </p:txBody>
      </p:sp>
      <p:sp>
        <p:nvSpPr>
          <p:cNvPr id="179" name="Google Shape;179;p9"/>
          <p:cNvSpPr/>
          <p:nvPr/>
        </p:nvSpPr>
        <p:spPr>
          <a:xfrm>
            <a:off x="320040" y="960120"/>
            <a:ext cx="4160520" cy="274320"/>
          </a:xfrm>
          <a:prstGeom prst="rect">
            <a:avLst/>
          </a:prstGeom>
          <a:solidFill>
            <a:srgbClr val="B23A2E"/>
          </a:solidFill>
          <a:ln cap="flat" cmpd="sng" w="1270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320040" y="960120"/>
            <a:ext cx="4160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Do not</a:t>
            </a:r>
            <a:endParaRPr b="0" i="0" sz="950" u="none" cap="none" strike="noStrike">
              <a:solidFill>
                <a:schemeClr val="dk1"/>
              </a:solidFill>
              <a:latin typeface="Calibri"/>
              <a:ea typeface="Calibri"/>
              <a:cs typeface="Calibri"/>
              <a:sym typeface="Calibri"/>
            </a:endParaRPr>
          </a:p>
        </p:txBody>
      </p:sp>
      <p:sp>
        <p:nvSpPr>
          <p:cNvPr id="181" name="Google Shape;181;p9"/>
          <p:cNvSpPr/>
          <p:nvPr/>
        </p:nvSpPr>
        <p:spPr>
          <a:xfrm>
            <a:off x="320040" y="1298448"/>
            <a:ext cx="4160520" cy="603504"/>
          </a:xfrm>
          <a:prstGeom prst="rect">
            <a:avLst/>
          </a:prstGeom>
          <a:solidFill>
            <a:srgbClr val="F8E7E3"/>
          </a:solidFill>
          <a:ln cap="flat" cmpd="sng" w="9525">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457200" y="1298448"/>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  </a:t>
            </a:r>
            <a:r>
              <a:rPr b="0" i="0" lang="en-US" sz="950" u="none" cap="none" strike="noStrike">
                <a:solidFill>
                  <a:srgbClr val="1B2A30"/>
                </a:solidFill>
                <a:latin typeface="Arial"/>
                <a:ea typeface="Arial"/>
                <a:cs typeface="Arial"/>
                <a:sym typeface="Arial"/>
              </a:rPr>
              <a:t>Submit work for assessment that is not demonstrably your own — even if AI only wrote part of it.</a:t>
            </a:r>
            <a:endParaRPr b="0" i="0" sz="950" u="none" cap="none" strike="noStrike">
              <a:solidFill>
                <a:schemeClr val="dk1"/>
              </a:solidFill>
              <a:latin typeface="Calibri"/>
              <a:ea typeface="Calibri"/>
              <a:cs typeface="Calibri"/>
              <a:sym typeface="Calibri"/>
            </a:endParaRPr>
          </a:p>
        </p:txBody>
      </p:sp>
      <p:sp>
        <p:nvSpPr>
          <p:cNvPr id="183" name="Google Shape;183;p9"/>
          <p:cNvSpPr/>
          <p:nvPr/>
        </p:nvSpPr>
        <p:spPr>
          <a:xfrm>
            <a:off x="320040" y="1993392"/>
            <a:ext cx="4160520" cy="603504"/>
          </a:xfrm>
          <a:prstGeom prst="rect">
            <a:avLst/>
          </a:prstGeom>
          <a:solidFill>
            <a:srgbClr val="F8E7E3"/>
          </a:solidFill>
          <a:ln cap="flat" cmpd="sng" w="9525">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457200" y="1993392"/>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  </a:t>
            </a:r>
            <a:r>
              <a:rPr b="0" i="0" lang="en-US" sz="950" u="none" cap="none" strike="noStrike">
                <a:solidFill>
                  <a:srgbClr val="1B2A30"/>
                </a:solidFill>
                <a:latin typeface="Arial"/>
                <a:ea typeface="Arial"/>
                <a:cs typeface="Arial"/>
                <a:sym typeface="Arial"/>
              </a:rPr>
              <a:t>Copy, paraphrase, or reproduce AI-generated content without acknowledgement. This is malpractice under JCQ regulations.</a:t>
            </a:r>
            <a:endParaRPr b="0" i="0" sz="950" u="none" cap="none" strike="noStrike">
              <a:solidFill>
                <a:schemeClr val="dk1"/>
              </a:solidFill>
              <a:latin typeface="Calibri"/>
              <a:ea typeface="Calibri"/>
              <a:cs typeface="Calibri"/>
              <a:sym typeface="Calibri"/>
            </a:endParaRPr>
          </a:p>
        </p:txBody>
      </p:sp>
      <p:sp>
        <p:nvSpPr>
          <p:cNvPr id="185" name="Google Shape;185;p9"/>
          <p:cNvSpPr/>
          <p:nvPr/>
        </p:nvSpPr>
        <p:spPr>
          <a:xfrm>
            <a:off x="320040" y="2688336"/>
            <a:ext cx="4160520" cy="603504"/>
          </a:xfrm>
          <a:prstGeom prst="rect">
            <a:avLst/>
          </a:prstGeom>
          <a:solidFill>
            <a:srgbClr val="F8E7E3"/>
          </a:solidFill>
          <a:ln cap="flat" cmpd="sng" w="9525">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457200" y="2688336"/>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  </a:t>
            </a:r>
            <a:r>
              <a:rPr b="0" i="0" lang="en-US" sz="950" u="none" cap="none" strike="noStrike">
                <a:solidFill>
                  <a:srgbClr val="1B2A30"/>
                </a:solidFill>
                <a:latin typeface="Arial"/>
                <a:ea typeface="Arial"/>
                <a:cs typeface="Arial"/>
                <a:sym typeface="Arial"/>
              </a:rPr>
              <a:t>Enter personal data into public AI tools — your name, address, college login, or details about other students or staff.</a:t>
            </a:r>
            <a:endParaRPr b="0" i="0" sz="950" u="none" cap="none" strike="noStrike">
              <a:solidFill>
                <a:schemeClr val="dk1"/>
              </a:solidFill>
              <a:latin typeface="Calibri"/>
              <a:ea typeface="Calibri"/>
              <a:cs typeface="Calibri"/>
              <a:sym typeface="Calibri"/>
            </a:endParaRPr>
          </a:p>
        </p:txBody>
      </p:sp>
      <p:sp>
        <p:nvSpPr>
          <p:cNvPr id="187" name="Google Shape;187;p9"/>
          <p:cNvSpPr/>
          <p:nvPr/>
        </p:nvSpPr>
        <p:spPr>
          <a:xfrm>
            <a:off x="320040" y="3383280"/>
            <a:ext cx="4160520" cy="603504"/>
          </a:xfrm>
          <a:prstGeom prst="rect">
            <a:avLst/>
          </a:prstGeom>
          <a:solidFill>
            <a:srgbClr val="F8E7E3"/>
          </a:solidFill>
          <a:ln cap="flat" cmpd="sng" w="9525">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457200" y="3383280"/>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  </a:t>
            </a:r>
            <a:r>
              <a:rPr b="0" i="0" lang="en-US" sz="950" u="none" cap="none" strike="noStrike">
                <a:solidFill>
                  <a:srgbClr val="1B2A30"/>
                </a:solidFill>
                <a:latin typeface="Arial"/>
                <a:ea typeface="Arial"/>
                <a:cs typeface="Arial"/>
                <a:sym typeface="Arial"/>
              </a:rPr>
              <a:t>Share confidential college information with any AI platform.</a:t>
            </a:r>
            <a:endParaRPr b="0" i="0" sz="950" u="none" cap="none" strike="noStrike">
              <a:solidFill>
                <a:schemeClr val="dk1"/>
              </a:solidFill>
              <a:latin typeface="Calibri"/>
              <a:ea typeface="Calibri"/>
              <a:cs typeface="Calibri"/>
              <a:sym typeface="Calibri"/>
            </a:endParaRPr>
          </a:p>
        </p:txBody>
      </p:sp>
      <p:sp>
        <p:nvSpPr>
          <p:cNvPr id="189" name="Google Shape;189;p9"/>
          <p:cNvSpPr/>
          <p:nvPr/>
        </p:nvSpPr>
        <p:spPr>
          <a:xfrm>
            <a:off x="4663440" y="960120"/>
            <a:ext cx="4160520" cy="274320"/>
          </a:xfrm>
          <a:prstGeom prst="rect">
            <a:avLst/>
          </a:prstGeom>
          <a:solidFill>
            <a:srgbClr val="0F7A54"/>
          </a:solidFill>
          <a:ln cap="flat" cmpd="sng" w="12700">
            <a:solidFill>
              <a:srgbClr val="0F7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4663440" y="960120"/>
            <a:ext cx="4160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Do</a:t>
            </a:r>
            <a:endParaRPr b="0" i="0" sz="950" u="none" cap="none" strike="noStrike">
              <a:solidFill>
                <a:schemeClr val="dk1"/>
              </a:solidFill>
              <a:latin typeface="Calibri"/>
              <a:ea typeface="Calibri"/>
              <a:cs typeface="Calibri"/>
              <a:sym typeface="Calibri"/>
            </a:endParaRPr>
          </a:p>
        </p:txBody>
      </p:sp>
      <p:sp>
        <p:nvSpPr>
          <p:cNvPr id="191" name="Google Shape;191;p9"/>
          <p:cNvSpPr/>
          <p:nvPr/>
        </p:nvSpPr>
        <p:spPr>
          <a:xfrm>
            <a:off x="4663440" y="1298448"/>
            <a:ext cx="4160520" cy="603504"/>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4800600" y="1298448"/>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Declare AI use — </a:t>
            </a:r>
            <a:r>
              <a:rPr b="0" i="0" lang="en-US" sz="950" u="none" cap="none" strike="noStrike">
                <a:solidFill>
                  <a:srgbClr val="1B2A30"/>
                </a:solidFill>
                <a:latin typeface="Arial"/>
                <a:ea typeface="Arial"/>
                <a:cs typeface="Arial"/>
                <a:sym typeface="Arial"/>
              </a:rPr>
              <a:t>If AI is permitted and you use it as a source, name the tool, give the date, keep a screenshot, and include it with your submission. UAL, Pearson and the Institute for Apprenticeships each word this differently — check yours.</a:t>
            </a:r>
            <a:endParaRPr b="0" i="0" sz="950" u="none" cap="none" strike="noStrike">
              <a:solidFill>
                <a:schemeClr val="dk1"/>
              </a:solidFill>
              <a:latin typeface="Calibri"/>
              <a:ea typeface="Calibri"/>
              <a:cs typeface="Calibri"/>
              <a:sym typeface="Calibri"/>
            </a:endParaRPr>
          </a:p>
        </p:txBody>
      </p:sp>
      <p:sp>
        <p:nvSpPr>
          <p:cNvPr id="193" name="Google Shape;193;p9"/>
          <p:cNvSpPr/>
          <p:nvPr/>
        </p:nvSpPr>
        <p:spPr>
          <a:xfrm>
            <a:off x="4663440" y="1993392"/>
            <a:ext cx="4160520" cy="603504"/>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4800600" y="1993392"/>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Use AI to support, not replace — </a:t>
            </a:r>
            <a:r>
              <a:rPr b="0" i="0" lang="en-US" sz="950" u="none" cap="none" strike="noStrike">
                <a:solidFill>
                  <a:srgbClr val="1B2A30"/>
                </a:solidFill>
                <a:latin typeface="Arial"/>
                <a:ea typeface="Arial"/>
                <a:cs typeface="Arial"/>
                <a:sym typeface="Arial"/>
              </a:rPr>
              <a:t>AI can help you think, plan, and check your work. The final submission must reflect your own knowledge and understanding. AI-generated imagery is not your development work.</a:t>
            </a:r>
            <a:endParaRPr b="0" i="0" sz="950" u="none" cap="none" strike="noStrike">
              <a:solidFill>
                <a:schemeClr val="dk1"/>
              </a:solidFill>
              <a:latin typeface="Calibri"/>
              <a:ea typeface="Calibri"/>
              <a:cs typeface="Calibri"/>
              <a:sym typeface="Calibri"/>
            </a:endParaRPr>
          </a:p>
        </p:txBody>
      </p:sp>
      <p:sp>
        <p:nvSpPr>
          <p:cNvPr id="195" name="Google Shape;195;p9"/>
          <p:cNvSpPr/>
          <p:nvPr/>
        </p:nvSpPr>
        <p:spPr>
          <a:xfrm>
            <a:off x="4663440" y="2688336"/>
            <a:ext cx="4160520" cy="603504"/>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4800600" y="2688336"/>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Verify what AI tells you — </a:t>
            </a:r>
            <a:r>
              <a:rPr b="0" i="0" lang="en-US" sz="950" u="none" cap="none" strike="noStrike">
                <a:solidFill>
                  <a:srgbClr val="1B2A30"/>
                </a:solidFill>
                <a:latin typeface="Arial"/>
                <a:ea typeface="Arial"/>
                <a:cs typeface="Arial"/>
                <a:sym typeface="Arial"/>
              </a:rPr>
              <a:t>AI tools fabricate facts, invent sources, and present errors confidently. Always check independently.</a:t>
            </a:r>
            <a:endParaRPr b="0" i="0" sz="950" u="none" cap="none" strike="noStrike">
              <a:solidFill>
                <a:schemeClr val="dk1"/>
              </a:solidFill>
              <a:latin typeface="Calibri"/>
              <a:ea typeface="Calibri"/>
              <a:cs typeface="Calibri"/>
              <a:sym typeface="Calibri"/>
            </a:endParaRPr>
          </a:p>
        </p:txBody>
      </p:sp>
      <p:sp>
        <p:nvSpPr>
          <p:cNvPr id="197" name="Google Shape;197;p9"/>
          <p:cNvSpPr/>
          <p:nvPr/>
        </p:nvSpPr>
        <p:spPr>
          <a:xfrm>
            <a:off x="4663440" y="3383280"/>
            <a:ext cx="4160520" cy="603504"/>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4800600" y="3383280"/>
            <a:ext cx="38862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Ask if unsure — </a:t>
            </a:r>
            <a:r>
              <a:rPr b="0" i="0" lang="en-US" sz="950" u="none" cap="none" strike="noStrike">
                <a:solidFill>
                  <a:srgbClr val="1B2A30"/>
                </a:solidFill>
                <a:latin typeface="Arial"/>
                <a:ea typeface="Arial"/>
                <a:cs typeface="Arial"/>
                <a:sym typeface="Arial"/>
              </a:rPr>
              <a:t>Your teacher will tell you what is and is not permitted for each specific assessment. Ask before you use, not after. The rules differ between a portfolio unit, an Employer Set Project and a written exam — ask for each one.</a:t>
            </a:r>
            <a:endParaRPr b="0" i="0" sz="950" u="none" cap="none" strike="noStrike">
              <a:solidFill>
                <a:schemeClr val="dk1"/>
              </a:solidFill>
              <a:latin typeface="Calibri"/>
              <a:ea typeface="Calibri"/>
              <a:cs typeface="Calibri"/>
              <a:sym typeface="Calibri"/>
            </a:endParaRPr>
          </a:p>
        </p:txBody>
      </p:sp>
      <p:sp>
        <p:nvSpPr>
          <p:cNvPr id="199" name="Google Shape;199;p9"/>
          <p:cNvSpPr/>
          <p:nvPr/>
        </p:nvSpPr>
        <p:spPr>
          <a:xfrm>
            <a:off x="320040" y="4105656"/>
            <a:ext cx="8503920" cy="34747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457200" y="4105656"/>
            <a:ext cx="82296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JCQ malpractice sanctions include disqualification and debarment from qualifications. This is not a college rule — it is a national regulatory requirement.</a:t>
            </a:r>
            <a:endParaRPr b="0" i="0" sz="900" u="none" cap="none" strike="noStrike">
              <a:solidFill>
                <a:schemeClr val="dk1"/>
              </a:solidFill>
              <a:latin typeface="Calibri"/>
              <a:ea typeface="Calibri"/>
              <a:cs typeface="Calibri"/>
              <a:sym typeface="Calibri"/>
            </a:endParaRPr>
          </a:p>
        </p:txBody>
      </p:sp>
      <p:sp>
        <p:nvSpPr>
          <p:cNvPr id="201" name="Google Shape;201;p9"/>
          <p:cNvSpPr/>
          <p:nvPr/>
        </p:nvSpPr>
        <p:spPr>
          <a:xfrm>
            <a:off x="320050" y="4526271"/>
            <a:ext cx="8503800" cy="6036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411480" y="4599432"/>
            <a:ext cx="8321040" cy="2011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23A2E"/>
              </a:buClr>
              <a:buSzPts val="900"/>
              <a:buFont typeface="Arial"/>
              <a:buNone/>
            </a:pPr>
            <a:r>
              <a:rPr b="1" i="0" lang="en-US" sz="900" u="none" cap="none" strike="noStrike">
                <a:solidFill>
                  <a:srgbClr val="B23A2E"/>
                </a:solidFill>
                <a:latin typeface="Arial"/>
                <a:ea typeface="Arial"/>
                <a:cs typeface="Arial"/>
                <a:sym typeface="Arial"/>
              </a:rPr>
              <a:t>⚑  ESCG TO CONFIRM: Local AI declaration process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0020"/>
              </a:buClr>
              <a:buSzPts val="500"/>
              <a:buFont typeface="Arial"/>
              <a:buNone/>
            </a:pPr>
            <a:r>
              <a:rPr b="0" i="1" lang="en-US" sz="500" u="none" cap="none" strike="noStrike">
                <a:solidFill>
                  <a:srgbClr val="B00020"/>
                </a:solidFill>
                <a:latin typeface="Arial"/>
                <a:ea typeface="Arial"/>
                <a:cs typeface="Arial"/>
                <a:sym typeface="Arial"/>
              </a:rPr>
              <a:t>Confirm with your Head of Curriculum before delivery. UAL, Pearson and the Institute for Apprenticeships each word AI declaration differently.</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1. Declaration document — name the AI cover sheet for this group and where students get it (assignment or portfolio front sheet).</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2. Scope — which assessments it covers: UAL portfolio units, the Employer Set Project, the T Level core exam, the Final Major Project.</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3. Permitted use — one line, e.g. research and reference gathering, declared as a source. AI-generated imagery is not development work.</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4. Responsibility — who checks declarations, and what happens if one is missing. Confirm the awarding body first.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7" name="Shape 207"/>
        <p:cNvGrpSpPr/>
        <p:nvPr/>
      </p:nvGrpSpPr>
      <p:grpSpPr>
        <a:xfrm>
          <a:off x="0" y="0"/>
          <a:ext cx="0" cy="0"/>
          <a:chOff x="0" y="0"/>
          <a:chExt cx="0" cy="0"/>
        </a:xfrm>
      </p:grpSpPr>
      <p:sp>
        <p:nvSpPr>
          <p:cNvPr id="208" name="Google Shape;208;p10"/>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How ESCG Keeps You Safe</a:t>
            </a:r>
            <a:endParaRPr b="0" i="0" sz="1800" u="none" cap="none" strike="noStrike">
              <a:solidFill>
                <a:schemeClr val="dk1"/>
              </a:solidFill>
              <a:latin typeface="Calibri"/>
              <a:ea typeface="Calibri"/>
              <a:cs typeface="Calibri"/>
              <a:sym typeface="Calibri"/>
            </a:endParaRPr>
          </a:p>
        </p:txBody>
      </p:sp>
      <p:sp>
        <p:nvSpPr>
          <p:cNvPr id="210" name="Google Shape;210;p10"/>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The referral process, confidentiality, and who acts — including on industry placement and on location.</a:t>
            </a:r>
            <a:endParaRPr b="0" i="0" sz="900" u="none" cap="none" strike="noStrike">
              <a:solidFill>
                <a:schemeClr val="dk1"/>
              </a:solidFill>
              <a:latin typeface="Calibri"/>
              <a:ea typeface="Calibri"/>
              <a:cs typeface="Calibri"/>
              <a:sym typeface="Calibri"/>
            </a:endParaRPr>
          </a:p>
        </p:txBody>
      </p:sp>
      <p:sp>
        <p:nvSpPr>
          <p:cNvPr id="211" name="Google Shape;211;p10"/>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213" name="Google Shape;213;p10"/>
          <p:cNvSpPr/>
          <p:nvPr/>
        </p:nvSpPr>
        <p:spPr>
          <a:xfrm>
            <a:off x="320040" y="923544"/>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320040" y="923544"/>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215" name="Google Shape;215;p10"/>
          <p:cNvSpPr/>
          <p:nvPr/>
        </p:nvSpPr>
        <p:spPr>
          <a:xfrm>
            <a:off x="1024128" y="868680"/>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Something is raised</a:t>
            </a:r>
            <a:endParaRPr b="0" i="0" sz="1150" u="none" cap="none" strike="noStrike">
              <a:solidFill>
                <a:schemeClr val="dk1"/>
              </a:solidFill>
              <a:latin typeface="Calibri"/>
              <a:ea typeface="Calibri"/>
              <a:cs typeface="Calibri"/>
              <a:sym typeface="Calibri"/>
            </a:endParaRPr>
          </a:p>
        </p:txBody>
      </p:sp>
      <p:sp>
        <p:nvSpPr>
          <p:cNvPr id="216" name="Google Shape;216;p10"/>
          <p:cNvSpPr/>
          <p:nvPr/>
        </p:nvSpPr>
        <p:spPr>
          <a:xfrm>
            <a:off x="1024128" y="1179576"/>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A student discloses, a teacher spots something, a concern is reported via any route — including anonymously. Often it is the technician who sees the group every session, or a placement supervisor.</a:t>
            </a:r>
            <a:endParaRPr b="0" i="0" sz="1000" u="none" cap="none" strike="noStrike">
              <a:solidFill>
                <a:schemeClr val="dk1"/>
              </a:solidFill>
              <a:latin typeface="Calibri"/>
              <a:ea typeface="Calibri"/>
              <a:cs typeface="Calibri"/>
              <a:sym typeface="Calibri"/>
            </a:endParaRPr>
          </a:p>
        </p:txBody>
      </p:sp>
      <p:cxnSp>
        <p:nvCxnSpPr>
          <p:cNvPr id="217" name="Google Shape;217;p10"/>
          <p:cNvCxnSpPr/>
          <p:nvPr/>
        </p:nvCxnSpPr>
        <p:spPr>
          <a:xfrm>
            <a:off x="603504" y="1490472"/>
            <a:ext cx="0" cy="365760"/>
          </a:xfrm>
          <a:prstGeom prst="straightConnector1">
            <a:avLst/>
          </a:prstGeom>
          <a:noFill/>
          <a:ln cap="flat" cmpd="sng" w="12700">
            <a:solidFill>
              <a:srgbClr val="D2DBDA"/>
            </a:solidFill>
            <a:prstDash val="dash"/>
            <a:round/>
            <a:headEnd len="sm" w="sm" type="none"/>
            <a:tailEnd len="sm" w="sm" type="none"/>
          </a:ln>
        </p:spPr>
      </p:cxnSp>
      <p:sp>
        <p:nvSpPr>
          <p:cNvPr id="218" name="Google Shape;218;p10"/>
          <p:cNvSpPr/>
          <p:nvPr/>
        </p:nvSpPr>
        <p:spPr>
          <a:xfrm>
            <a:off x="320040" y="1901952"/>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320040" y="190195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220" name="Google Shape;220;p10"/>
          <p:cNvSpPr/>
          <p:nvPr/>
        </p:nvSpPr>
        <p:spPr>
          <a:xfrm>
            <a:off x="1024128" y="1847088"/>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The right person is told same-day</a:t>
            </a:r>
            <a:endParaRPr b="0" i="0" sz="1150" u="none" cap="none" strike="noStrike">
              <a:solidFill>
                <a:schemeClr val="dk1"/>
              </a:solidFill>
              <a:latin typeface="Calibri"/>
              <a:ea typeface="Calibri"/>
              <a:cs typeface="Calibri"/>
              <a:sym typeface="Calibri"/>
            </a:endParaRPr>
          </a:p>
        </p:txBody>
      </p:sp>
      <p:sp>
        <p:nvSpPr>
          <p:cNvPr id="221" name="Google Shape;221;p10"/>
          <p:cNvSpPr/>
          <p:nvPr/>
        </p:nvSpPr>
        <p:spPr>
          <a:xfrm>
            <a:off x="1024128" y="2157984"/>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Staff do not investigate themselves. The Safeguarding Manager is informed same-day. All concerns are logged on ProMonitor.</a:t>
            </a:r>
            <a:endParaRPr b="0" i="0" sz="1000" u="none" cap="none" strike="noStrike">
              <a:solidFill>
                <a:schemeClr val="dk1"/>
              </a:solidFill>
              <a:latin typeface="Calibri"/>
              <a:ea typeface="Calibri"/>
              <a:cs typeface="Calibri"/>
              <a:sym typeface="Calibri"/>
            </a:endParaRPr>
          </a:p>
        </p:txBody>
      </p:sp>
      <p:cxnSp>
        <p:nvCxnSpPr>
          <p:cNvPr id="222" name="Google Shape;222;p10"/>
          <p:cNvCxnSpPr/>
          <p:nvPr/>
        </p:nvCxnSpPr>
        <p:spPr>
          <a:xfrm>
            <a:off x="603504" y="2468880"/>
            <a:ext cx="0" cy="365760"/>
          </a:xfrm>
          <a:prstGeom prst="straightConnector1">
            <a:avLst/>
          </a:prstGeom>
          <a:noFill/>
          <a:ln cap="flat" cmpd="sng" w="12700">
            <a:solidFill>
              <a:srgbClr val="D2DBDA"/>
            </a:solidFill>
            <a:prstDash val="dash"/>
            <a:round/>
            <a:headEnd len="sm" w="sm" type="none"/>
            <a:tailEnd len="sm" w="sm" type="none"/>
          </a:ln>
        </p:spPr>
      </p:cxnSp>
      <p:sp>
        <p:nvSpPr>
          <p:cNvPr id="223" name="Google Shape;223;p10"/>
          <p:cNvSpPr/>
          <p:nvPr/>
        </p:nvSpPr>
        <p:spPr>
          <a:xfrm>
            <a:off x="320040" y="2880360"/>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320040" y="288036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225" name="Google Shape;225;p10"/>
          <p:cNvSpPr/>
          <p:nvPr/>
        </p:nvSpPr>
        <p:spPr>
          <a:xfrm>
            <a:off x="1024128" y="2825496"/>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The concern is assessed</a:t>
            </a:r>
            <a:endParaRPr b="0" i="0" sz="1150" u="none" cap="none" strike="noStrike">
              <a:solidFill>
                <a:schemeClr val="dk1"/>
              </a:solidFill>
              <a:latin typeface="Calibri"/>
              <a:ea typeface="Calibri"/>
              <a:cs typeface="Calibri"/>
              <a:sym typeface="Calibri"/>
            </a:endParaRPr>
          </a:p>
        </p:txBody>
      </p:sp>
      <p:sp>
        <p:nvSpPr>
          <p:cNvPr id="226" name="Google Shape;226;p10"/>
          <p:cNvSpPr/>
          <p:nvPr/>
        </p:nvSpPr>
        <p:spPr>
          <a:xfrm>
            <a:off x="1024128" y="3136392"/>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The Safeguarding Team assesses the level of risk and decides the right response — from wellbeing support to referral to external agencies.</a:t>
            </a:r>
            <a:endParaRPr b="0" i="0" sz="1000" u="none" cap="none" strike="noStrike">
              <a:solidFill>
                <a:schemeClr val="dk1"/>
              </a:solidFill>
              <a:latin typeface="Calibri"/>
              <a:ea typeface="Calibri"/>
              <a:cs typeface="Calibri"/>
              <a:sym typeface="Calibri"/>
            </a:endParaRPr>
          </a:p>
        </p:txBody>
      </p:sp>
      <p:cxnSp>
        <p:nvCxnSpPr>
          <p:cNvPr id="227" name="Google Shape;227;p10"/>
          <p:cNvCxnSpPr/>
          <p:nvPr/>
        </p:nvCxnSpPr>
        <p:spPr>
          <a:xfrm>
            <a:off x="603504" y="3447288"/>
            <a:ext cx="0" cy="365760"/>
          </a:xfrm>
          <a:prstGeom prst="straightConnector1">
            <a:avLst/>
          </a:prstGeom>
          <a:noFill/>
          <a:ln cap="flat" cmpd="sng" w="12700">
            <a:solidFill>
              <a:srgbClr val="D2DBDA"/>
            </a:solidFill>
            <a:prstDash val="dash"/>
            <a:round/>
            <a:headEnd len="sm" w="sm" type="none"/>
            <a:tailEnd len="sm" w="sm" type="none"/>
          </a:ln>
        </p:spPr>
      </p:cxnSp>
      <p:sp>
        <p:nvSpPr>
          <p:cNvPr id="228" name="Google Shape;228;p10"/>
          <p:cNvSpPr/>
          <p:nvPr/>
        </p:nvSpPr>
        <p:spPr>
          <a:xfrm>
            <a:off x="320040" y="3858768"/>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320040" y="3858768"/>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230" name="Google Shape;230;p10"/>
          <p:cNvSpPr/>
          <p:nvPr/>
        </p:nvSpPr>
        <p:spPr>
          <a:xfrm>
            <a:off x="1024128" y="3803904"/>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Confidentiality — honest about limits</a:t>
            </a:r>
            <a:endParaRPr b="0" i="0" sz="1150" u="none" cap="none" strike="noStrike">
              <a:solidFill>
                <a:schemeClr val="dk1"/>
              </a:solidFill>
              <a:latin typeface="Calibri"/>
              <a:ea typeface="Calibri"/>
              <a:cs typeface="Calibri"/>
              <a:sym typeface="Calibri"/>
            </a:endParaRPr>
          </a:p>
        </p:txBody>
      </p:sp>
      <p:sp>
        <p:nvSpPr>
          <p:cNvPr id="231" name="Google Shape;231;p10"/>
          <p:cNvSpPr/>
          <p:nvPr/>
        </p:nvSpPr>
        <p:spPr>
          <a:xfrm>
            <a:off x="1024128" y="4114800"/>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Staff will not gossip or share unnecessarily. But they cannot promise secrecy. If there is a risk of harm, they have a duty to act. They will always tell you what they're going to do and why. The same limit applies on placement — and to the GDPR and editorial ethics rules in your own work.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36" name="Shape 236"/>
        <p:cNvGrpSpPr/>
        <p:nvPr/>
      </p:nvGrpSpPr>
      <p:grpSpPr>
        <a:xfrm>
          <a:off x="0" y="0"/>
          <a:ext cx="0" cy="0"/>
          <a:chOff x="0" y="0"/>
          <a:chExt cx="0" cy="0"/>
        </a:xfrm>
      </p:grpSpPr>
      <p:sp>
        <p:nvSpPr>
          <p:cNvPr id="237" name="Google Shape;237;p11"/>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The Safeguarding Team</a:t>
            </a:r>
            <a:endParaRPr b="0" i="0" sz="1800" u="none" cap="none" strike="noStrike">
              <a:solidFill>
                <a:schemeClr val="dk1"/>
              </a:solidFill>
              <a:latin typeface="Calibri"/>
              <a:ea typeface="Calibri"/>
              <a:cs typeface="Calibri"/>
              <a:sym typeface="Calibri"/>
            </a:endParaRPr>
          </a:p>
        </p:txBody>
      </p:sp>
      <p:sp>
        <p:nvSpPr>
          <p:cNvPr id="239" name="Google Shape;239;p11"/>
          <p:cNvSpPr/>
          <p:nvPr/>
        </p:nvSpPr>
        <p:spPr>
          <a:xfrm>
            <a:off x="7406640" y="164592"/>
            <a:ext cx="1554480" cy="256032"/>
          </a:xfrm>
          <a:prstGeom prst="rect">
            <a:avLst/>
          </a:prstGeom>
          <a:solidFill>
            <a:srgbClr val="5A6A6F"/>
          </a:solidFill>
          <a:ln cap="flat" cmpd="sng" w="12700">
            <a:solidFill>
              <a:srgbClr val="5A6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SESSION MAP</a:t>
            </a:r>
            <a:endParaRPr b="0" i="0" sz="700" u="none" cap="none" strike="noStrike">
              <a:solidFill>
                <a:schemeClr val="dk1"/>
              </a:solidFill>
              <a:latin typeface="Calibri"/>
              <a:ea typeface="Calibri"/>
              <a:cs typeface="Calibri"/>
              <a:sym typeface="Calibri"/>
            </a:endParaRPr>
          </a:p>
        </p:txBody>
      </p:sp>
      <p:sp>
        <p:nvSpPr>
          <p:cNvPr id="241" name="Google Shape;241;p11"/>
          <p:cNvSpPr/>
          <p:nvPr/>
        </p:nvSpPr>
        <p:spPr>
          <a:xfrm>
            <a:off x="320040" y="804672"/>
            <a:ext cx="8503920" cy="384048"/>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457200" y="777240"/>
            <a:ext cx="8229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DSL: Rebecca Conroy (Principal &amp; CEO)   |   Deputy DSL: Fenella Potterton (Assistant Principal Student Experience)</a:t>
            </a:r>
            <a:endParaRPr b="0" i="0" sz="950" u="none" cap="none" strike="noStrike">
              <a:solidFill>
                <a:schemeClr val="dk1"/>
              </a:solidFill>
              <a:latin typeface="Calibri"/>
              <a:ea typeface="Calibri"/>
              <a:cs typeface="Calibri"/>
              <a:sym typeface="Calibri"/>
            </a:endParaRPr>
          </a:p>
        </p:txBody>
      </p:sp>
      <p:sp>
        <p:nvSpPr>
          <p:cNvPr id="243" name="Google Shape;243;p11"/>
          <p:cNvSpPr/>
          <p:nvPr/>
        </p:nvSpPr>
        <p:spPr>
          <a:xfrm>
            <a:off x="320040" y="1325880"/>
            <a:ext cx="3931920" cy="1645920"/>
          </a:xfrm>
          <a:prstGeom prst="rect">
            <a:avLst/>
          </a:prstGeom>
          <a:solidFill>
            <a:srgbClr val="F3EEF9"/>
          </a:solidFill>
          <a:ln cap="flat" cmpd="sng" w="19050">
            <a:solidFill>
              <a:srgbClr val="592C82"/>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475488" y="144475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5" name="Google Shape;245;p11"/>
          <p:cNvPicPr preferRelativeResize="0"/>
          <p:nvPr/>
        </p:nvPicPr>
        <p:blipFill rotWithShape="1">
          <a:blip r:embed="rId3">
            <a:alphaModFix/>
          </a:blip>
          <a:srcRect b="0" l="0" r="0" t="0"/>
          <a:stretch/>
        </p:blipFill>
        <p:spPr>
          <a:xfrm>
            <a:off x="530352" y="1481328"/>
            <a:ext cx="365760" cy="365760"/>
          </a:xfrm>
          <a:prstGeom prst="rect">
            <a:avLst/>
          </a:prstGeom>
          <a:noFill/>
          <a:ln>
            <a:noFill/>
          </a:ln>
        </p:spPr>
      </p:pic>
      <p:sp>
        <p:nvSpPr>
          <p:cNvPr id="246" name="Google Shape;246;p11"/>
          <p:cNvSpPr/>
          <p:nvPr/>
        </p:nvSpPr>
        <p:spPr>
          <a:xfrm>
            <a:off x="1051560" y="1325880"/>
            <a:ext cx="3063240" cy="4572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Safeguarding Manager — Hastings</a:t>
            </a:r>
            <a:endParaRPr b="0" i="0" sz="950" u="none" cap="none" strike="noStrike">
              <a:solidFill>
                <a:schemeClr val="dk1"/>
              </a:solidFill>
              <a:latin typeface="Calibri"/>
              <a:ea typeface="Calibri"/>
              <a:cs typeface="Calibri"/>
              <a:sym typeface="Calibri"/>
            </a:endParaRPr>
          </a:p>
        </p:txBody>
      </p:sp>
      <p:sp>
        <p:nvSpPr>
          <p:cNvPr id="247" name="Google Shape;247;p11"/>
          <p:cNvSpPr/>
          <p:nvPr/>
        </p:nvSpPr>
        <p:spPr>
          <a:xfrm>
            <a:off x="475488" y="1792224"/>
            <a:ext cx="363931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Arial"/>
              <a:buNone/>
            </a:pPr>
            <a:r>
              <a:rPr b="1" i="0" lang="en-US" sz="1500" u="none" cap="none" strike="noStrike">
                <a:solidFill>
                  <a:srgbClr val="0D2434"/>
                </a:solidFill>
                <a:latin typeface="Arial"/>
                <a:ea typeface="Arial"/>
                <a:cs typeface="Arial"/>
                <a:sym typeface="Arial"/>
              </a:rPr>
              <a:t>Lydia Leonard</a:t>
            </a:r>
            <a:endParaRPr b="0" i="0" sz="1500" u="none" cap="none" strike="noStrike">
              <a:solidFill>
                <a:schemeClr val="dk1"/>
              </a:solidFill>
              <a:latin typeface="Calibri"/>
              <a:ea typeface="Calibri"/>
              <a:cs typeface="Calibri"/>
              <a:sym typeface="Calibri"/>
            </a:endParaRPr>
          </a:p>
        </p:txBody>
      </p:sp>
      <p:sp>
        <p:nvSpPr>
          <p:cNvPr id="248" name="Google Shape;248;p11"/>
          <p:cNvSpPr/>
          <p:nvPr/>
        </p:nvSpPr>
        <p:spPr>
          <a:xfrm>
            <a:off x="475488" y="2121408"/>
            <a:ext cx="3639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  07848 442081</a:t>
            </a:r>
            <a:endParaRPr b="0" i="0" sz="1050" u="none" cap="none" strike="noStrike">
              <a:solidFill>
                <a:schemeClr val="dk1"/>
              </a:solidFill>
              <a:latin typeface="Calibri"/>
              <a:ea typeface="Calibri"/>
              <a:cs typeface="Calibri"/>
              <a:sym typeface="Calibri"/>
            </a:endParaRPr>
          </a:p>
        </p:txBody>
      </p:sp>
      <p:sp>
        <p:nvSpPr>
          <p:cNvPr id="249" name="Google Shape;249;p11"/>
          <p:cNvSpPr/>
          <p:nvPr/>
        </p:nvSpPr>
        <p:spPr>
          <a:xfrm>
            <a:off x="475488" y="2395728"/>
            <a:ext cx="3639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  lydia.leonard@escg.ac.uk</a:t>
            </a:r>
            <a:endParaRPr b="0" i="0" sz="1000" u="none" cap="none" strike="noStrike">
              <a:solidFill>
                <a:schemeClr val="dk1"/>
              </a:solidFill>
              <a:latin typeface="Calibri"/>
              <a:ea typeface="Calibri"/>
              <a:cs typeface="Calibri"/>
              <a:sym typeface="Calibri"/>
            </a:endParaRPr>
          </a:p>
        </p:txBody>
      </p:sp>
      <p:sp>
        <p:nvSpPr>
          <p:cNvPr id="250" name="Google Shape;250;p11"/>
          <p:cNvSpPr/>
          <p:nvPr/>
        </p:nvSpPr>
        <p:spPr>
          <a:xfrm>
            <a:off x="475488" y="2670048"/>
            <a:ext cx="3639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Arial"/>
              <a:buNone/>
            </a:pPr>
            <a:r>
              <a:rPr b="0" i="1" lang="en-US" sz="850" u="none" cap="none" strike="noStrike">
                <a:solidFill>
                  <a:srgbClr val="5A6A6F"/>
                </a:solidFill>
                <a:latin typeface="Arial"/>
                <a:ea typeface="Arial"/>
                <a:cs typeface="Arial"/>
                <a:sym typeface="Arial"/>
              </a:rPr>
              <a:t>Emergency number also on the back of your lanyard</a:t>
            </a:r>
            <a:endParaRPr b="0" i="0" sz="850" u="none" cap="none" strike="noStrike">
              <a:solidFill>
                <a:schemeClr val="dk1"/>
              </a:solidFill>
              <a:latin typeface="Calibri"/>
              <a:ea typeface="Calibri"/>
              <a:cs typeface="Calibri"/>
              <a:sym typeface="Calibri"/>
            </a:endParaRPr>
          </a:p>
        </p:txBody>
      </p:sp>
      <p:sp>
        <p:nvSpPr>
          <p:cNvPr id="251" name="Google Shape;251;p11"/>
          <p:cNvSpPr/>
          <p:nvPr/>
        </p:nvSpPr>
        <p:spPr>
          <a:xfrm>
            <a:off x="4389120" y="1325880"/>
            <a:ext cx="4434840" cy="164592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4480560" y="1399032"/>
            <a:ext cx="4251960" cy="14996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23A2E"/>
              </a:buClr>
              <a:buSzPts val="900"/>
              <a:buFont typeface="Arial"/>
              <a:buNone/>
            </a:pPr>
            <a:r>
              <a:rPr b="1" i="0" lang="en-US" sz="900" u="none" cap="none" strike="noStrike">
                <a:solidFill>
                  <a:srgbClr val="B23A2E"/>
                </a:solidFill>
                <a:latin typeface="Arial"/>
                <a:ea typeface="Arial"/>
                <a:cs typeface="Arial"/>
                <a:sym typeface="Arial"/>
              </a:rPr>
              <a:t>⚑  ESCG TO CONFIRM: Other campus contacts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0020"/>
              </a:buClr>
              <a:buSzPts val="600"/>
              <a:buFont typeface="Arial"/>
              <a:buNone/>
            </a:pPr>
            <a:r>
              <a:rPr b="0" i="1" lang="en-US" sz="600" u="none" cap="none" strike="noStrike">
                <a:solidFill>
                  <a:srgbClr val="B00020"/>
                </a:solidFill>
                <a:latin typeface="Arial"/>
                <a:ea typeface="Arial"/>
                <a:cs typeface="Arial"/>
                <a:sym typeface="Arial"/>
              </a:rPr>
              <a:t>Keep only the campus row you are delivering on — delete the other two so students see one number, not three. In this department: Eastbourne (Content Creation, Cybersecurity &amp; Digital Systems), Hastings Station Plaza (Games Art and Animation), Hastings Ore (Film Production, Digital and Cyber Security T Levels), Lewes (Creative and Design T Level).</a:t>
            </a:r>
            <a:br>
              <a:rPr b="0" i="0" lang="en-US" sz="850" u="none" cap="none" strike="noStrike">
                <a:solidFill>
                  <a:srgbClr val="B23A2E"/>
                </a:solidFill>
                <a:latin typeface="Arial"/>
                <a:ea typeface="Arial"/>
                <a:cs typeface="Arial"/>
                <a:sym typeface="Arial"/>
              </a:rPr>
            </a:br>
            <a:r>
              <a:rPr b="0" i="0" lang="en-US" sz="850" u="none" cap="none" strike="noStrike">
                <a:solidFill>
                  <a:srgbClr val="B23A2E"/>
                </a:solidFill>
                <a:latin typeface="Arial"/>
                <a:ea typeface="Arial"/>
                <a:cs typeface="Arial"/>
                <a:sym typeface="Arial"/>
              </a:rPr>
              <a:t>Eastbourne: Helen Ding 07980 049312   |   Lewes/Newhaven: Julia Proven 07823 668772</a:t>
            </a:r>
            <a:br>
              <a:rPr b="0" i="1" lang="en-US" sz="600" u="none" cap="none" strike="noStrike">
                <a:solidFill>
                  <a:srgbClr val="B00020"/>
                </a:solidFill>
                <a:latin typeface="Arial"/>
                <a:ea typeface="Arial"/>
                <a:cs typeface="Arial"/>
                <a:sym typeface="Arial"/>
              </a:rPr>
            </a:br>
            <a:r>
              <a:rPr b="0" i="1" lang="en-US" sz="600" u="none" cap="none" strike="noStrike">
                <a:solidFill>
                  <a:srgbClr val="B00020"/>
                </a:solidFill>
                <a:latin typeface="Arial"/>
                <a:ea typeface="Arial"/>
                <a:cs typeface="Arial"/>
                <a:sym typeface="Arial"/>
              </a:rPr>
              <a:t>Confirm these numbers with your Safeguarding Manager before delivery — personnel change between academic years, and this is the one slide that must be right.</a:t>
            </a:r>
            <a:endParaRPr b="0" i="0" sz="900" u="none" cap="none" strike="noStrike">
              <a:solidFill>
                <a:schemeClr val="dk1"/>
              </a:solidFill>
              <a:latin typeface="Calibri"/>
              <a:ea typeface="Calibri"/>
              <a:cs typeface="Calibri"/>
              <a:sym typeface="Calibri"/>
            </a:endParaRPr>
          </a:p>
        </p:txBody>
      </p:sp>
      <p:sp>
        <p:nvSpPr>
          <p:cNvPr id="253" name="Google Shape;253;p11"/>
          <p:cNvSpPr/>
          <p:nvPr/>
        </p:nvSpPr>
        <p:spPr>
          <a:xfrm>
            <a:off x="320040" y="3090672"/>
            <a:ext cx="8503920" cy="658368"/>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457200" y="3090672"/>
            <a:ext cx="8229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Personal Development &amp; Wellbeing Team  </a:t>
            </a:r>
            <a:r>
              <a:rPr b="0" i="0" lang="en-US" sz="1000" u="none" cap="none" strike="noStrike">
                <a:solidFill>
                  <a:srgbClr val="1B2A30"/>
                </a:solidFill>
                <a:latin typeface="Arial"/>
                <a:ea typeface="Arial"/>
                <a:cs typeface="Arial"/>
                <a:sym typeface="Arial"/>
              </a:rPr>
              <a:t>— support students with relationship and friendship issues, sexual health, financial or housing concerns, substance misuse, physical or mental health needs, and any other worries. They are part of the Safeguarding Team and work alongside your curriculum.</a:t>
            </a:r>
            <a:r>
              <a:rPr b="0" i="1" lang="en-US" sz="650" u="none" cap="none" strike="noStrike">
                <a:solidFill>
                  <a:srgbClr val="B00020"/>
                </a:solidFill>
                <a:latin typeface="Arial"/>
                <a:ea typeface="Arial"/>
                <a:cs typeface="Arial"/>
                <a:sym typeface="Arial"/>
              </a:rPr>
              <a:t>BEFORE DELIVERY: name the Wellbeing tutor attached to this curriculum area, their base and their drop-in day. Students use this route far more when it has a face and a place.</a:t>
            </a:r>
            <a:endParaRPr b="0" i="0" sz="1000" u="none" cap="none" strike="noStrike">
              <a:solidFill>
                <a:schemeClr val="dk1"/>
              </a:solidFill>
              <a:latin typeface="Calibri"/>
              <a:ea typeface="Calibri"/>
              <a:cs typeface="Calibri"/>
              <a:sym typeface="Calibri"/>
            </a:endParaRPr>
          </a:p>
        </p:txBody>
      </p:sp>
      <p:sp>
        <p:nvSpPr>
          <p:cNvPr id="255" name="Google Shape;255;p11"/>
          <p:cNvSpPr/>
          <p:nvPr/>
        </p:nvSpPr>
        <p:spPr>
          <a:xfrm>
            <a:off x="320040" y="3840480"/>
            <a:ext cx="8503920" cy="384048"/>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457200" y="3840480"/>
            <a:ext cx="8229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01"/>
              </a:buClr>
              <a:buSzPts val="1000"/>
              <a:buFont typeface="Arial"/>
              <a:buNone/>
            </a:pPr>
            <a:r>
              <a:rPr b="1" i="0" lang="en-US" sz="1000" u="none" cap="none" strike="noStrike">
                <a:solidFill>
                  <a:srgbClr val="FFCF01"/>
                </a:solidFill>
                <a:latin typeface="Arial"/>
                <a:ea typeface="Arial"/>
                <a:cs typeface="Arial"/>
                <a:sym typeface="Arial"/>
              </a:rPr>
              <a:t>24-hour support: escg.ac.uk/support/safeguarding</a:t>
            </a:r>
            <a:endParaRPr b="0" i="0" sz="1000" u="none" cap="none" strike="noStrike">
              <a:solidFill>
                <a:schemeClr val="dk1"/>
              </a:solidFill>
              <a:latin typeface="Calibri"/>
              <a:ea typeface="Calibri"/>
              <a:cs typeface="Calibri"/>
              <a:sym typeface="Calibri"/>
            </a:endParaRPr>
          </a:p>
        </p:txBody>
      </p:sp>
      <p:sp>
        <p:nvSpPr>
          <p:cNvPr id="257" name="Google Shape;257;p11"/>
          <p:cNvSpPr/>
          <p:nvPr/>
        </p:nvSpPr>
        <p:spPr>
          <a:xfrm>
            <a:off x="320040" y="4315968"/>
            <a:ext cx="8503920" cy="50292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411480" y="4389120"/>
            <a:ext cx="8321040" cy="3566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23A2E"/>
              </a:buClr>
              <a:buSzPts val="900"/>
              <a:buFont typeface="Arial"/>
              <a:buNone/>
            </a:pPr>
            <a:r>
              <a:rPr b="1" i="0" lang="en-US" sz="900" u="none" cap="none" strike="noStrike">
                <a:solidFill>
                  <a:srgbClr val="B23A2E"/>
                </a:solidFill>
                <a:latin typeface="Arial"/>
                <a:ea typeface="Arial"/>
                <a:cs typeface="Arial"/>
                <a:sym typeface="Arial"/>
              </a:rPr>
              <a:t>⚑  ESCG TO CONFIRM: Campus Support Officers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0020"/>
              </a:buClr>
              <a:buSzPts val="600"/>
              <a:buFont typeface="Arial"/>
              <a:buNone/>
            </a:pPr>
            <a:r>
              <a:rPr b="0" i="1" lang="en-US" sz="600" u="none" cap="none" strike="noStrike">
                <a:solidFill>
                  <a:srgbClr val="B00020"/>
                </a:solidFill>
                <a:latin typeface="Arial"/>
                <a:ea typeface="Arial"/>
                <a:cs typeface="Arial"/>
                <a:sym typeface="Arial"/>
              </a:rPr>
              <a:t>Add the Campus Support Officer names for your campus and say where this group actually sees them — Station Plaza reception and the atrium, the Ore campus entrance, or the Eastbourne and Lewes receptions. Delete this panel if you are not sharing CSO names with this group.</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3" name="Shape 263"/>
        <p:cNvGrpSpPr/>
        <p:nvPr/>
      </p:nvGrpSpPr>
      <p:grpSpPr>
        <a:xfrm>
          <a:off x="0" y="0"/>
          <a:ext cx="0" cy="0"/>
          <a:chOff x="0" y="0"/>
          <a:chExt cx="0" cy="0"/>
        </a:xfrm>
      </p:grpSpPr>
      <p:sp>
        <p:nvSpPr>
          <p:cNvPr id="264" name="Google Shape;264;p12"/>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2"/>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Reporting a Concern</a:t>
            </a:r>
            <a:endParaRPr b="0" i="0" sz="1800" u="none" cap="none" strike="noStrike">
              <a:solidFill>
                <a:schemeClr val="dk1"/>
              </a:solidFill>
              <a:latin typeface="Calibri"/>
              <a:ea typeface="Calibri"/>
              <a:cs typeface="Calibri"/>
              <a:sym typeface="Calibri"/>
            </a:endParaRPr>
          </a:p>
        </p:txBody>
      </p:sp>
      <p:sp>
        <p:nvSpPr>
          <p:cNvPr id="266" name="Google Shape;266;p12"/>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About yourself — or about someone else — at college, on location, or on placement.</a:t>
            </a:r>
            <a:endParaRPr b="0" i="0" sz="900" u="none" cap="none" strike="noStrike">
              <a:solidFill>
                <a:schemeClr val="dk1"/>
              </a:solidFill>
              <a:latin typeface="Calibri"/>
              <a:ea typeface="Calibri"/>
              <a:cs typeface="Calibri"/>
              <a:sym typeface="Calibri"/>
            </a:endParaRPr>
          </a:p>
        </p:txBody>
      </p:sp>
      <p:sp>
        <p:nvSpPr>
          <p:cNvPr id="267" name="Google Shape;267;p12"/>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269" name="Google Shape;269;p12"/>
          <p:cNvSpPr/>
          <p:nvPr/>
        </p:nvSpPr>
        <p:spPr>
          <a:xfrm>
            <a:off x="320040" y="822960"/>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If you are worried about yourself</a:t>
            </a:r>
            <a:endParaRPr b="0" i="0" sz="1200" u="none" cap="none" strike="noStrike">
              <a:solidFill>
                <a:schemeClr val="dk1"/>
              </a:solidFill>
              <a:latin typeface="Calibri"/>
              <a:ea typeface="Calibri"/>
              <a:cs typeface="Calibri"/>
              <a:sym typeface="Calibri"/>
            </a:endParaRPr>
          </a:p>
        </p:txBody>
      </p:sp>
      <p:sp>
        <p:nvSpPr>
          <p:cNvPr id="270" name="Google Shape;270;p12"/>
          <p:cNvSpPr/>
          <p:nvPr/>
        </p:nvSpPr>
        <p:spPr>
          <a:xfrm>
            <a:off x="320040" y="1261872"/>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603504" y="1207008"/>
            <a:ext cx="3749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Talk to any member of staff you trust — teacher, tutor, support staff. Your course tutor, a technician, or a learning support assistant.</a:t>
            </a:r>
            <a:endParaRPr b="0" i="0" sz="1000" u="none" cap="none" strike="noStrike">
              <a:solidFill>
                <a:schemeClr val="dk1"/>
              </a:solidFill>
              <a:latin typeface="Calibri"/>
              <a:ea typeface="Calibri"/>
              <a:cs typeface="Calibri"/>
              <a:sym typeface="Calibri"/>
            </a:endParaRPr>
          </a:p>
        </p:txBody>
      </p:sp>
      <p:sp>
        <p:nvSpPr>
          <p:cNvPr id="272" name="Google Shape;272;p12"/>
          <p:cNvSpPr/>
          <p:nvPr/>
        </p:nvSpPr>
        <p:spPr>
          <a:xfrm>
            <a:off x="320040" y="1828800"/>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603504" y="1773936"/>
            <a:ext cx="3749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Go directly to the Safeguarding Manager (Hastings: Lydia Leonard).</a:t>
            </a:r>
            <a:endParaRPr b="0" i="0" sz="1000" u="none" cap="none" strike="noStrike">
              <a:solidFill>
                <a:schemeClr val="dk1"/>
              </a:solidFill>
              <a:latin typeface="Calibri"/>
              <a:ea typeface="Calibri"/>
              <a:cs typeface="Calibri"/>
              <a:sym typeface="Calibri"/>
            </a:endParaRPr>
          </a:p>
        </p:txBody>
      </p:sp>
      <p:sp>
        <p:nvSpPr>
          <p:cNvPr id="274" name="Google Shape;274;p12"/>
          <p:cNvSpPr/>
          <p:nvPr/>
        </p:nvSpPr>
        <p:spPr>
          <a:xfrm>
            <a:off x="320040" y="2395728"/>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603504" y="2340864"/>
            <a:ext cx="3749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Contact the Wellbeing Team — no referral needed.</a:t>
            </a:r>
            <a:endParaRPr b="0" i="0" sz="1000" u="none" cap="none" strike="noStrike">
              <a:solidFill>
                <a:schemeClr val="dk1"/>
              </a:solidFill>
              <a:latin typeface="Calibri"/>
              <a:ea typeface="Calibri"/>
              <a:cs typeface="Calibri"/>
              <a:sym typeface="Calibri"/>
            </a:endParaRPr>
          </a:p>
        </p:txBody>
      </p:sp>
      <p:sp>
        <p:nvSpPr>
          <p:cNvPr id="276" name="Google Shape;276;p12"/>
          <p:cNvSpPr/>
          <p:nvPr/>
        </p:nvSpPr>
        <p:spPr>
          <a:xfrm>
            <a:off x="320040" y="296265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603504" y="2907792"/>
            <a:ext cx="3749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Email safeguarding@escg.ac.uk or visit escg.ac.uk/support/safeguarding.</a:t>
            </a:r>
            <a:endParaRPr b="0" i="0" sz="1000" u="none" cap="none" strike="noStrike">
              <a:solidFill>
                <a:schemeClr val="dk1"/>
              </a:solidFill>
              <a:latin typeface="Calibri"/>
              <a:ea typeface="Calibri"/>
              <a:cs typeface="Calibri"/>
              <a:sym typeface="Calibri"/>
            </a:endParaRPr>
          </a:p>
        </p:txBody>
      </p:sp>
      <p:sp>
        <p:nvSpPr>
          <p:cNvPr id="278" name="Google Shape;278;p12"/>
          <p:cNvSpPr/>
          <p:nvPr/>
        </p:nvSpPr>
        <p:spPr>
          <a:xfrm>
            <a:off x="320040" y="3529584"/>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603504" y="3474720"/>
            <a:ext cx="3749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Report anonymously if you prefer — staff will still act.</a:t>
            </a:r>
            <a:endParaRPr b="0" i="0" sz="1000" u="none" cap="none" strike="noStrike">
              <a:solidFill>
                <a:schemeClr val="dk1"/>
              </a:solidFill>
              <a:latin typeface="Calibri"/>
              <a:ea typeface="Calibri"/>
              <a:cs typeface="Calibri"/>
              <a:sym typeface="Calibri"/>
            </a:endParaRPr>
          </a:p>
        </p:txBody>
      </p:sp>
      <p:cxnSp>
        <p:nvCxnSpPr>
          <p:cNvPr id="280" name="Google Shape;280;p12"/>
          <p:cNvCxnSpPr/>
          <p:nvPr/>
        </p:nvCxnSpPr>
        <p:spPr>
          <a:xfrm>
            <a:off x="4526280" y="822960"/>
            <a:ext cx="0" cy="3931920"/>
          </a:xfrm>
          <a:prstGeom prst="straightConnector1">
            <a:avLst/>
          </a:prstGeom>
          <a:noFill/>
          <a:ln cap="flat" cmpd="sng" w="12700">
            <a:solidFill>
              <a:srgbClr val="D2DBDA"/>
            </a:solidFill>
            <a:prstDash val="solid"/>
            <a:round/>
            <a:headEnd len="sm" w="sm" type="none"/>
            <a:tailEnd len="sm" w="sm" type="none"/>
          </a:ln>
        </p:spPr>
      </p:cxnSp>
      <p:sp>
        <p:nvSpPr>
          <p:cNvPr id="281" name="Google Shape;281;p12"/>
          <p:cNvSpPr/>
          <p:nvPr/>
        </p:nvSpPr>
        <p:spPr>
          <a:xfrm>
            <a:off x="4663440" y="822960"/>
            <a:ext cx="41605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If you are worried about someone else</a:t>
            </a:r>
            <a:endParaRPr b="0" i="0" sz="1200" u="none" cap="none" strike="noStrike">
              <a:solidFill>
                <a:schemeClr val="dk1"/>
              </a:solidFill>
              <a:latin typeface="Calibri"/>
              <a:ea typeface="Calibri"/>
              <a:cs typeface="Calibri"/>
              <a:sym typeface="Calibri"/>
            </a:endParaRPr>
          </a:p>
        </p:txBody>
      </p:sp>
      <p:sp>
        <p:nvSpPr>
          <p:cNvPr id="282" name="Google Shape;282;p12"/>
          <p:cNvSpPr/>
          <p:nvPr/>
        </p:nvSpPr>
        <p:spPr>
          <a:xfrm>
            <a:off x="4663440" y="1261872"/>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a:off x="4956048" y="1207008"/>
            <a:ext cx="386791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You do not have to be certain something is wrong — a concern is enough.</a:t>
            </a:r>
            <a:endParaRPr b="0" i="0" sz="1000" u="none" cap="none" strike="noStrike">
              <a:solidFill>
                <a:schemeClr val="dk1"/>
              </a:solidFill>
              <a:latin typeface="Calibri"/>
              <a:ea typeface="Calibri"/>
              <a:cs typeface="Calibri"/>
              <a:sym typeface="Calibri"/>
            </a:endParaRPr>
          </a:p>
        </p:txBody>
      </p:sp>
      <p:sp>
        <p:nvSpPr>
          <p:cNvPr id="284" name="Google Shape;284;p12"/>
          <p:cNvSpPr/>
          <p:nvPr/>
        </p:nvSpPr>
        <p:spPr>
          <a:xfrm>
            <a:off x="4663440" y="1920240"/>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956048" y="1865376"/>
            <a:ext cx="386791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Tell a teacher, tutor, or the Safeguarding Manager what you have noticed. Someone whose work changes tone sharply, or who stops booking kit and turning up to edit.</a:t>
            </a:r>
            <a:endParaRPr b="0" i="0" sz="1000" u="none" cap="none" strike="noStrike">
              <a:solidFill>
                <a:schemeClr val="dk1"/>
              </a:solidFill>
              <a:latin typeface="Calibri"/>
              <a:ea typeface="Calibri"/>
              <a:cs typeface="Calibri"/>
              <a:sym typeface="Calibri"/>
            </a:endParaRPr>
          </a:p>
        </p:txBody>
      </p:sp>
      <p:sp>
        <p:nvSpPr>
          <p:cNvPr id="286" name="Google Shape;286;p12"/>
          <p:cNvSpPr/>
          <p:nvPr/>
        </p:nvSpPr>
        <p:spPr>
          <a:xfrm>
            <a:off x="4663440" y="2578608"/>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p:nvPr/>
        </p:nvSpPr>
        <p:spPr>
          <a:xfrm>
            <a:off x="4956048" y="2523744"/>
            <a:ext cx="386791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You can report anonymously — the person you're worried about does not need to know you said something.</a:t>
            </a:r>
            <a:endParaRPr b="0" i="0" sz="1000" u="none" cap="none" strike="noStrike">
              <a:solidFill>
                <a:schemeClr val="dk1"/>
              </a:solidFill>
              <a:latin typeface="Calibri"/>
              <a:ea typeface="Calibri"/>
              <a:cs typeface="Calibri"/>
              <a:sym typeface="Calibri"/>
            </a:endParaRPr>
          </a:p>
        </p:txBody>
      </p:sp>
      <p:sp>
        <p:nvSpPr>
          <p:cNvPr id="288" name="Google Shape;288;p12"/>
          <p:cNvSpPr/>
          <p:nvPr/>
        </p:nvSpPr>
        <p:spPr>
          <a:xfrm>
            <a:off x="4663440" y="323697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4956048" y="3182112"/>
            <a:ext cx="386791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Acting on concern for a friend is the right thing. It is not a betrayal. On a shoot you stop the take if something is unsafe. This is the same instinct.</a:t>
            </a:r>
            <a:endParaRPr b="0" i="0" sz="1000" u="none" cap="none" strike="noStrike">
              <a:solidFill>
                <a:schemeClr val="dk1"/>
              </a:solidFill>
              <a:latin typeface="Calibri"/>
              <a:ea typeface="Calibri"/>
              <a:cs typeface="Calibri"/>
              <a:sym typeface="Calibri"/>
            </a:endParaRPr>
          </a:p>
        </p:txBody>
      </p:sp>
      <p:sp>
        <p:nvSpPr>
          <p:cNvPr id="290" name="Google Shape;290;p12"/>
          <p:cNvSpPr/>
          <p:nvPr/>
        </p:nvSpPr>
        <p:spPr>
          <a:xfrm>
            <a:off x="320040" y="4251960"/>
            <a:ext cx="8503920" cy="566928"/>
          </a:xfrm>
          <a:prstGeom prst="rect">
            <a:avLst/>
          </a:prstGeom>
          <a:solidFill>
            <a:srgbClr val="FFCF01"/>
          </a:solidFill>
          <a:ln cap="flat" cmpd="sng" w="12700">
            <a:solidFill>
              <a:srgbClr val="FFC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
          <p:cNvSpPr/>
          <p:nvPr/>
        </p:nvSpPr>
        <p:spPr>
          <a:xfrm>
            <a:off x="457200" y="4251960"/>
            <a:ext cx="82296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You will always be taken seriously. Every concern is logged, assessed, and followed up. There is no wrong way to raise 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96" name="Shape 296"/>
        <p:cNvGrpSpPr/>
        <p:nvPr/>
      </p:nvGrpSpPr>
      <p:grpSpPr>
        <a:xfrm>
          <a:off x="0" y="0"/>
          <a:ext cx="0" cy="0"/>
          <a:chOff x="0" y="0"/>
          <a:chExt cx="0" cy="0"/>
        </a:xfrm>
      </p:grpSpPr>
      <p:sp>
        <p:nvSpPr>
          <p:cNvPr id="297" name="Google Shape;297;p13"/>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One Thing — Before You Leave</a:t>
            </a:r>
            <a:endParaRPr b="0" i="0" sz="1800" u="none" cap="none" strike="noStrike">
              <a:solidFill>
                <a:schemeClr val="dk1"/>
              </a:solidFill>
              <a:latin typeface="Calibri"/>
              <a:ea typeface="Calibri"/>
              <a:cs typeface="Calibri"/>
              <a:sym typeface="Calibri"/>
            </a:endParaRPr>
          </a:p>
        </p:txBody>
      </p:sp>
      <p:sp>
        <p:nvSpPr>
          <p:cNvPr id="299" name="Google Shape;299;p13"/>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Choose one. Write it down. Your teacher keeps the card. Treat it as your first professional commitment of the course.</a:t>
            </a:r>
            <a:endParaRPr b="0" i="0" sz="900" u="none" cap="none" strike="noStrike">
              <a:solidFill>
                <a:schemeClr val="dk1"/>
              </a:solidFill>
              <a:latin typeface="Calibri"/>
              <a:ea typeface="Calibri"/>
              <a:cs typeface="Calibri"/>
              <a:sym typeface="Calibri"/>
            </a:endParaRPr>
          </a:p>
        </p:txBody>
      </p:sp>
      <p:sp>
        <p:nvSpPr>
          <p:cNvPr id="300" name="Google Shape;300;p13"/>
          <p:cNvSpPr/>
          <p:nvPr/>
        </p:nvSpPr>
        <p:spPr>
          <a:xfrm>
            <a:off x="7406640" y="164592"/>
            <a:ext cx="1554480" cy="256032"/>
          </a:xfrm>
          <a:prstGeom prst="rect">
            <a:avLst/>
          </a:prstGeom>
          <a:solidFill>
            <a:srgbClr val="C9A200"/>
          </a:solidFill>
          <a:ln cap="flat" cmpd="sng" w="12700">
            <a:solidFill>
              <a:srgbClr val="C9A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700"/>
              <a:buFont typeface="Arial"/>
              <a:buNone/>
            </a:pPr>
            <a:r>
              <a:rPr b="1" i="0" lang="en-US" sz="700" u="none" cap="none" strike="noStrike">
                <a:solidFill>
                  <a:srgbClr val="0D2434"/>
                </a:solidFill>
                <a:latin typeface="Arial"/>
                <a:ea typeface="Arial"/>
                <a:cs typeface="Arial"/>
                <a:sym typeface="Arial"/>
              </a:rPr>
              <a:t>ACTIVITY</a:t>
            </a:r>
            <a:endParaRPr b="0" i="0" sz="700" u="none" cap="none" strike="noStrike">
              <a:solidFill>
                <a:schemeClr val="dk1"/>
              </a:solidFill>
              <a:latin typeface="Calibri"/>
              <a:ea typeface="Calibri"/>
              <a:cs typeface="Calibri"/>
              <a:sym typeface="Calibri"/>
            </a:endParaRPr>
          </a:p>
        </p:txBody>
      </p:sp>
      <p:sp>
        <p:nvSpPr>
          <p:cNvPr id="302" name="Google Shape;302;p13"/>
          <p:cNvSpPr/>
          <p:nvPr/>
        </p:nvSpPr>
        <p:spPr>
          <a:xfrm>
            <a:off x="320040" y="822960"/>
            <a:ext cx="8503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400"/>
              <a:buFont typeface="Arial"/>
              <a:buNone/>
            </a:pPr>
            <a:r>
              <a:rPr b="1" i="0" lang="en-US" sz="1400" u="none" cap="none" strike="noStrike">
                <a:solidFill>
                  <a:srgbClr val="592C82"/>
                </a:solidFill>
                <a:latin typeface="Arial"/>
                <a:ea typeface="Arial"/>
                <a:cs typeface="Arial"/>
                <a:sym typeface="Arial"/>
              </a:rPr>
              <a:t>This week, I will...</a:t>
            </a:r>
            <a:endParaRPr b="0" i="0" sz="1400" u="none" cap="none" strike="noStrike">
              <a:solidFill>
                <a:schemeClr val="dk1"/>
              </a:solidFill>
              <a:latin typeface="Calibri"/>
              <a:ea typeface="Calibri"/>
              <a:cs typeface="Calibri"/>
              <a:sym typeface="Calibri"/>
            </a:endParaRPr>
          </a:p>
        </p:txBody>
      </p:sp>
      <p:sp>
        <p:nvSpPr>
          <p:cNvPr id="303" name="Google Shape;303;p13"/>
          <p:cNvSpPr/>
          <p:nvPr/>
        </p:nvSpPr>
        <p:spPr>
          <a:xfrm>
            <a:off x="320040" y="1298448"/>
            <a:ext cx="8503920" cy="685800"/>
          </a:xfrm>
          <a:prstGeom prst="rect">
            <a:avLst/>
          </a:prstGeom>
          <a:solidFill>
            <a:srgbClr val="F3EEF9"/>
          </a:solidFill>
          <a:ln cap="flat" cmpd="sng" w="12700">
            <a:solidFill>
              <a:srgbClr val="592C82"/>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p:nvPr/>
        </p:nvSpPr>
        <p:spPr>
          <a:xfrm>
            <a:off x="457200" y="1463040"/>
            <a:ext cx="347472" cy="34747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457200" y="14630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sp>
        <p:nvSpPr>
          <p:cNvPr id="306" name="Google Shape;306;p13"/>
          <p:cNvSpPr/>
          <p:nvPr/>
        </p:nvSpPr>
        <p:spPr>
          <a:xfrm>
            <a:off x="960120" y="1298448"/>
            <a:ext cx="7726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Arial"/>
              <a:buNone/>
            </a:pPr>
            <a:r>
              <a:rPr b="0" i="0" lang="en-US" sz="1100" u="none" cap="none" strike="noStrike">
                <a:solidFill>
                  <a:srgbClr val="1B2A30"/>
                </a:solidFill>
                <a:latin typeface="Arial"/>
                <a:ea typeface="Arial"/>
                <a:cs typeface="Arial"/>
                <a:sym typeface="Arial"/>
              </a:rPr>
              <a:t>Save the Safeguarding Team contact to my phone — so I know where to go if I need it. Hastings: Lydia Leonard 07848 442081 — or your campus contact from slide 9.</a:t>
            </a:r>
            <a:endParaRPr b="0" i="0" sz="1100" u="none" cap="none" strike="noStrike">
              <a:solidFill>
                <a:schemeClr val="dk1"/>
              </a:solidFill>
              <a:latin typeface="Calibri"/>
              <a:ea typeface="Calibri"/>
              <a:cs typeface="Calibri"/>
              <a:sym typeface="Calibri"/>
            </a:endParaRPr>
          </a:p>
        </p:txBody>
      </p:sp>
      <p:sp>
        <p:nvSpPr>
          <p:cNvPr id="307" name="Google Shape;307;p13"/>
          <p:cNvSpPr/>
          <p:nvPr/>
        </p:nvSpPr>
        <p:spPr>
          <a:xfrm>
            <a:off x="320040" y="2103120"/>
            <a:ext cx="8503920" cy="685800"/>
          </a:xfrm>
          <a:prstGeom prst="rect">
            <a:avLst/>
          </a:prstGeom>
          <a:solidFill>
            <a:srgbClr val="F3EEF9"/>
          </a:solidFill>
          <a:ln cap="flat" cmpd="sng" w="12700">
            <a:solidFill>
              <a:srgbClr val="592C82"/>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457200" y="2267712"/>
            <a:ext cx="347472" cy="34747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457200" y="226771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sp>
        <p:nvSpPr>
          <p:cNvPr id="310" name="Google Shape;310;p13"/>
          <p:cNvSpPr/>
          <p:nvPr/>
        </p:nvSpPr>
        <p:spPr>
          <a:xfrm>
            <a:off x="960120" y="2103120"/>
            <a:ext cx="7726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Arial"/>
              <a:buNone/>
            </a:pPr>
            <a:r>
              <a:rPr b="0" i="0" lang="en-US" sz="1100" u="none" cap="none" strike="noStrike">
                <a:solidFill>
                  <a:srgbClr val="1B2A30"/>
                </a:solidFill>
                <a:latin typeface="Arial"/>
                <a:ea typeface="Arial"/>
                <a:cs typeface="Arial"/>
                <a:sym typeface="Arial"/>
              </a:rPr>
              <a:t>Change one thing about how I share information online — think before I post. Start with what my public portfolio shows about where I film and who is in shot.</a:t>
            </a:r>
            <a:endParaRPr b="0" i="0" sz="1100" u="none" cap="none" strike="noStrike">
              <a:solidFill>
                <a:schemeClr val="dk1"/>
              </a:solidFill>
              <a:latin typeface="Calibri"/>
              <a:ea typeface="Calibri"/>
              <a:cs typeface="Calibri"/>
              <a:sym typeface="Calibri"/>
            </a:endParaRPr>
          </a:p>
        </p:txBody>
      </p:sp>
      <p:sp>
        <p:nvSpPr>
          <p:cNvPr id="311" name="Google Shape;311;p13"/>
          <p:cNvSpPr/>
          <p:nvPr/>
        </p:nvSpPr>
        <p:spPr>
          <a:xfrm>
            <a:off x="320040" y="2907792"/>
            <a:ext cx="8503920" cy="685800"/>
          </a:xfrm>
          <a:prstGeom prst="rect">
            <a:avLst/>
          </a:prstGeom>
          <a:solidFill>
            <a:srgbClr val="F3EEF9"/>
          </a:solidFill>
          <a:ln cap="flat" cmpd="sng" w="12700">
            <a:solidFill>
              <a:srgbClr val="592C82"/>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p:nvPr/>
        </p:nvSpPr>
        <p:spPr>
          <a:xfrm>
            <a:off x="457200" y="3072384"/>
            <a:ext cx="347472" cy="34747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457200" y="307238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sp>
        <p:nvSpPr>
          <p:cNvPr id="314" name="Google Shape;314;p13"/>
          <p:cNvSpPr/>
          <p:nvPr/>
        </p:nvSpPr>
        <p:spPr>
          <a:xfrm>
            <a:off x="960120" y="2907792"/>
            <a:ext cx="7726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Arial"/>
              <a:buNone/>
            </a:pPr>
            <a:r>
              <a:rPr b="0" i="0" lang="en-US" sz="1100" u="none" cap="none" strike="noStrike">
                <a:solidFill>
                  <a:srgbClr val="1B2A30"/>
                </a:solidFill>
                <a:latin typeface="Arial"/>
                <a:ea typeface="Arial"/>
                <a:cs typeface="Arial"/>
                <a:sym typeface="Arial"/>
              </a:rPr>
              <a:t>Check the ESCG AI Policy and note one thing I didn't know before today. — starting with the AI rules for my first assignment brief.</a:t>
            </a:r>
            <a:endParaRPr b="0" i="0" sz="1100" u="none" cap="none" strike="noStrike">
              <a:solidFill>
                <a:schemeClr val="dk1"/>
              </a:solidFill>
              <a:latin typeface="Calibri"/>
              <a:ea typeface="Calibri"/>
              <a:cs typeface="Calibri"/>
              <a:sym typeface="Calibri"/>
            </a:endParaRPr>
          </a:p>
        </p:txBody>
      </p:sp>
      <p:sp>
        <p:nvSpPr>
          <p:cNvPr id="315" name="Google Shape;315;p13"/>
          <p:cNvSpPr/>
          <p:nvPr/>
        </p:nvSpPr>
        <p:spPr>
          <a:xfrm>
            <a:off x="320040" y="3712464"/>
            <a:ext cx="8503920" cy="685800"/>
          </a:xfrm>
          <a:prstGeom prst="rect">
            <a:avLst/>
          </a:prstGeom>
          <a:solidFill>
            <a:srgbClr val="F8E7E3"/>
          </a:solidFill>
          <a:ln cap="flat" cmpd="sng" w="25400">
            <a:solidFill>
              <a:srgbClr val="B23A2E"/>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p:nvPr/>
        </p:nvSpPr>
        <p:spPr>
          <a:xfrm>
            <a:off x="457200" y="3877056"/>
            <a:ext cx="347472" cy="347472"/>
          </a:xfrm>
          <a:prstGeom prst="ellipse">
            <a:avLst/>
          </a:prstGeom>
          <a:solidFill>
            <a:srgbClr val="B23A2E"/>
          </a:solidFill>
          <a:ln cap="flat" cmpd="sng" w="1270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p:nvPr/>
        </p:nvSpPr>
        <p:spPr>
          <a:xfrm>
            <a:off x="457200" y="387705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4</a:t>
            </a:r>
            <a:endParaRPr b="0" i="0" sz="1100" u="none" cap="none" strike="noStrike">
              <a:solidFill>
                <a:schemeClr val="dk1"/>
              </a:solidFill>
              <a:latin typeface="Calibri"/>
              <a:ea typeface="Calibri"/>
              <a:cs typeface="Calibri"/>
              <a:sym typeface="Calibri"/>
            </a:endParaRPr>
          </a:p>
        </p:txBody>
      </p:sp>
      <p:sp>
        <p:nvSpPr>
          <p:cNvPr id="318" name="Google Shape;318;p13"/>
          <p:cNvSpPr/>
          <p:nvPr/>
        </p:nvSpPr>
        <p:spPr>
          <a:xfrm>
            <a:off x="960120" y="3712464"/>
            <a:ext cx="7726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00"/>
              <a:buFont typeface="Arial"/>
              <a:buNone/>
            </a:pPr>
            <a:r>
              <a:rPr b="1" i="0" lang="en-US" sz="1100" u="none" cap="none" strike="noStrike">
                <a:solidFill>
                  <a:srgbClr val="B23A2E"/>
                </a:solidFill>
                <a:latin typeface="Arial"/>
                <a:ea typeface="Arial"/>
                <a:cs typeface="Arial"/>
                <a:sym typeface="Arial"/>
              </a:rPr>
              <a:t>Tell someone about something that has been worrying me — about myself or a friend.</a:t>
            </a:r>
            <a:endParaRPr b="0" i="0" sz="1100" u="none" cap="none" strike="noStrike">
              <a:solidFill>
                <a:schemeClr val="dk1"/>
              </a:solidFill>
              <a:latin typeface="Calibri"/>
              <a:ea typeface="Calibri"/>
              <a:cs typeface="Calibri"/>
              <a:sym typeface="Calibri"/>
            </a:endParaRPr>
          </a:p>
        </p:txBody>
      </p:sp>
      <p:sp>
        <p:nvSpPr>
          <p:cNvPr id="319" name="Google Shape;319;p13"/>
          <p:cNvSpPr/>
          <p:nvPr/>
        </p:nvSpPr>
        <p:spPr>
          <a:xfrm>
            <a:off x="320040" y="4572000"/>
            <a:ext cx="8503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Cards are collected by your teacher and used for follow-up in tutorial. Revisited in tutorial in week 4, and again before your first placement or live brief.</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0F0"/>
        </a:solidFill>
      </p:bgPr>
    </p:bg>
    <p:spTree>
      <p:nvGrpSpPr>
        <p:cNvPr id="324" name="Shape 324"/>
        <p:cNvGrpSpPr/>
        <p:nvPr/>
      </p:nvGrpSpPr>
      <p:grpSpPr>
        <a:xfrm>
          <a:off x="0" y="0"/>
          <a:ext cx="0" cy="0"/>
          <a:chOff x="0" y="0"/>
          <a:chExt cx="0" cy="0"/>
        </a:xfrm>
      </p:grpSpPr>
      <p:sp>
        <p:nvSpPr>
          <p:cNvPr id="325" name="Google Shape;325;p14"/>
          <p:cNvSpPr/>
          <p:nvPr/>
        </p:nvSpPr>
        <p:spPr>
          <a:xfrm>
            <a:off x="0" y="0"/>
            <a:ext cx="9144000" cy="347472"/>
          </a:xfrm>
          <a:prstGeom prst="rect">
            <a:avLst/>
          </a:prstGeom>
          <a:solidFill>
            <a:srgbClr val="B23A2E"/>
          </a:solidFill>
          <a:ln cap="flat" cmpd="sng" w="1270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
          <p:cNvSpPr/>
          <p:nvPr/>
        </p:nvSpPr>
        <p:spPr>
          <a:xfrm>
            <a:off x="0" y="0"/>
            <a:ext cx="91440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DO NOT DISPLAY TO STUDENTS — TEACHER APPENDIX</a:t>
            </a:r>
            <a:endParaRPr b="0" i="0" sz="1000" u="none" cap="none" strike="noStrike">
              <a:solidFill>
                <a:schemeClr val="dk1"/>
              </a:solidFill>
              <a:latin typeface="Calibri"/>
              <a:ea typeface="Calibri"/>
              <a:cs typeface="Calibri"/>
              <a:sym typeface="Calibri"/>
            </a:endParaRPr>
          </a:p>
        </p:txBody>
      </p:sp>
      <p:sp>
        <p:nvSpPr>
          <p:cNvPr id="327" name="Google Shape;327;p14"/>
          <p:cNvSpPr/>
          <p:nvPr/>
        </p:nvSpPr>
        <p:spPr>
          <a:xfrm>
            <a:off x="137160" y="411480"/>
            <a:ext cx="4297680" cy="219456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4"/>
          <p:cNvSpPr/>
          <p:nvPr/>
        </p:nvSpPr>
        <p:spPr>
          <a:xfrm>
            <a:off x="228600" y="48463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Running Order &amp; Timings</a:t>
            </a:r>
            <a:endParaRPr b="0" i="0" sz="950" u="none" cap="none" strike="noStrike">
              <a:solidFill>
                <a:schemeClr val="dk1"/>
              </a:solidFill>
              <a:latin typeface="Calibri"/>
              <a:ea typeface="Calibri"/>
              <a:cs typeface="Calibri"/>
              <a:sym typeface="Calibri"/>
            </a:endParaRPr>
          </a:p>
        </p:txBody>
      </p:sp>
      <p:sp>
        <p:nvSpPr>
          <p:cNvPr id="329" name="Google Shape;329;p14"/>
          <p:cNvSpPr/>
          <p:nvPr/>
        </p:nvSpPr>
        <p:spPr>
          <a:xfrm>
            <a:off x="228600" y="795528"/>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0:00  </a:t>
            </a:r>
            <a:r>
              <a:rPr b="0" i="0" lang="en-US" sz="800" u="none" cap="none" strike="noStrike">
                <a:solidFill>
                  <a:srgbClr val="1B2A30"/>
                </a:solidFill>
                <a:latin typeface="Arial"/>
                <a:ea typeface="Arial"/>
                <a:cs typeface="Arial"/>
                <a:sym typeface="Arial"/>
              </a:rPr>
              <a:t>Title + welcome (1 min)</a:t>
            </a:r>
            <a:endParaRPr b="0" i="0" sz="800" u="none" cap="none" strike="noStrike">
              <a:solidFill>
                <a:schemeClr val="dk1"/>
              </a:solidFill>
              <a:latin typeface="Calibri"/>
              <a:ea typeface="Calibri"/>
              <a:cs typeface="Calibri"/>
              <a:sym typeface="Calibri"/>
            </a:endParaRPr>
          </a:p>
        </p:txBody>
      </p:sp>
      <p:sp>
        <p:nvSpPr>
          <p:cNvPr id="330" name="Google Shape;330;p14"/>
          <p:cNvSpPr/>
          <p:nvPr/>
        </p:nvSpPr>
        <p:spPr>
          <a:xfrm>
            <a:off x="228600" y="928116"/>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0:01  </a:t>
            </a:r>
            <a:r>
              <a:rPr b="0" i="0" lang="en-US" sz="800" u="none" cap="none" strike="noStrike">
                <a:solidFill>
                  <a:srgbClr val="1B2A30"/>
                </a:solidFill>
                <a:latin typeface="Arial"/>
                <a:ea typeface="Arial"/>
                <a:cs typeface="Arial"/>
                <a:sym typeface="Arial"/>
              </a:rPr>
              <a:t>Session map — scope honesty (2 mins)</a:t>
            </a:r>
            <a:endParaRPr b="0" i="0" sz="800" u="none" cap="none" strike="noStrike">
              <a:solidFill>
                <a:schemeClr val="dk1"/>
              </a:solidFill>
              <a:latin typeface="Calibri"/>
              <a:ea typeface="Calibri"/>
              <a:cs typeface="Calibri"/>
              <a:sym typeface="Calibri"/>
            </a:endParaRPr>
          </a:p>
        </p:txBody>
      </p:sp>
      <p:sp>
        <p:nvSpPr>
          <p:cNvPr id="331" name="Google Shape;331;p14"/>
          <p:cNvSpPr/>
          <p:nvPr/>
        </p:nvSpPr>
        <p:spPr>
          <a:xfrm>
            <a:off x="228600" y="1060704"/>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0:03  </a:t>
            </a:r>
            <a:r>
              <a:rPr b="0" i="0" lang="en-US" sz="800" u="none" cap="none" strike="noStrike">
                <a:solidFill>
                  <a:srgbClr val="1B2A30"/>
                </a:solidFill>
                <a:latin typeface="Arial"/>
                <a:ea typeface="Arial"/>
                <a:cs typeface="Arial"/>
                <a:sym typeface="Arial"/>
              </a:rPr>
              <a:t>Settled discussion — pairs (10 mins)</a:t>
            </a:r>
            <a:endParaRPr b="0" i="0" sz="800" u="none" cap="none" strike="noStrike">
              <a:solidFill>
                <a:schemeClr val="dk1"/>
              </a:solidFill>
              <a:latin typeface="Calibri"/>
              <a:ea typeface="Calibri"/>
              <a:cs typeface="Calibri"/>
              <a:sym typeface="Calibri"/>
            </a:endParaRPr>
          </a:p>
        </p:txBody>
      </p:sp>
      <p:sp>
        <p:nvSpPr>
          <p:cNvPr id="332" name="Google Shape;332;p14"/>
          <p:cNvSpPr/>
          <p:nvPr/>
        </p:nvSpPr>
        <p:spPr>
          <a:xfrm>
            <a:off x="228600" y="1193292"/>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0:13  </a:t>
            </a:r>
            <a:r>
              <a:rPr b="0" i="0" lang="en-US" sz="800" u="none" cap="none" strike="noStrike">
                <a:solidFill>
                  <a:srgbClr val="1B2A30"/>
                </a:solidFill>
                <a:latin typeface="Arial"/>
                <a:ea typeface="Arial"/>
                <a:cs typeface="Arial"/>
                <a:sym typeface="Arial"/>
              </a:rPr>
              <a:t>Safeguarding at college (7 mins)</a:t>
            </a:r>
            <a:endParaRPr b="0" i="0" sz="800" u="none" cap="none" strike="noStrike">
              <a:solidFill>
                <a:schemeClr val="dk1"/>
              </a:solidFill>
              <a:latin typeface="Calibri"/>
              <a:ea typeface="Calibri"/>
              <a:cs typeface="Calibri"/>
              <a:sym typeface="Calibri"/>
            </a:endParaRPr>
          </a:p>
        </p:txBody>
      </p:sp>
      <p:sp>
        <p:nvSpPr>
          <p:cNvPr id="333" name="Google Shape;333;p14"/>
          <p:cNvSpPr/>
          <p:nvPr/>
        </p:nvSpPr>
        <p:spPr>
          <a:xfrm>
            <a:off x="228600" y="1325880"/>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0:20  </a:t>
            </a:r>
            <a:r>
              <a:rPr b="0" i="0" lang="en-US" sz="800" u="none" cap="none" strike="noStrike">
                <a:solidFill>
                  <a:srgbClr val="1B2A30"/>
                </a:solidFill>
                <a:latin typeface="Arial"/>
                <a:ea typeface="Arial"/>
                <a:cs typeface="Arial"/>
                <a:sym typeface="Arial"/>
              </a:rPr>
              <a:t>Prevent — light touch (10 mins)</a:t>
            </a:r>
            <a:endParaRPr b="0" i="0" sz="800" u="none" cap="none" strike="noStrike">
              <a:solidFill>
                <a:schemeClr val="dk1"/>
              </a:solidFill>
              <a:latin typeface="Calibri"/>
              <a:ea typeface="Calibri"/>
              <a:cs typeface="Calibri"/>
              <a:sym typeface="Calibri"/>
            </a:endParaRPr>
          </a:p>
        </p:txBody>
      </p:sp>
      <p:sp>
        <p:nvSpPr>
          <p:cNvPr id="334" name="Google Shape;334;p14"/>
          <p:cNvSpPr/>
          <p:nvPr/>
        </p:nvSpPr>
        <p:spPr>
          <a:xfrm>
            <a:off x="228600" y="1458468"/>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0:30  </a:t>
            </a:r>
            <a:r>
              <a:rPr b="0" i="0" lang="en-US" sz="800" u="none" cap="none" strike="noStrike">
                <a:solidFill>
                  <a:srgbClr val="1B2A30"/>
                </a:solidFill>
                <a:latin typeface="Arial"/>
                <a:ea typeface="Arial"/>
                <a:cs typeface="Arial"/>
                <a:sym typeface="Arial"/>
              </a:rPr>
              <a:t>Online safety — brief intro (8 mins)</a:t>
            </a:r>
            <a:endParaRPr b="0" i="0" sz="800" u="none" cap="none" strike="noStrike">
              <a:solidFill>
                <a:schemeClr val="dk1"/>
              </a:solidFill>
              <a:latin typeface="Calibri"/>
              <a:ea typeface="Calibri"/>
              <a:cs typeface="Calibri"/>
              <a:sym typeface="Calibri"/>
            </a:endParaRPr>
          </a:p>
        </p:txBody>
      </p:sp>
      <p:sp>
        <p:nvSpPr>
          <p:cNvPr id="335" name="Google Shape;335;p14"/>
          <p:cNvSpPr/>
          <p:nvPr/>
        </p:nvSpPr>
        <p:spPr>
          <a:xfrm>
            <a:off x="228600" y="1591056"/>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0:38  </a:t>
            </a:r>
            <a:r>
              <a:rPr b="0" i="0" lang="en-US" sz="800" u="none" cap="none" strike="noStrike">
                <a:solidFill>
                  <a:srgbClr val="1B2A30"/>
                </a:solidFill>
                <a:latin typeface="Arial"/>
                <a:ea typeface="Arial"/>
                <a:cs typeface="Arial"/>
                <a:sym typeface="Arial"/>
              </a:rPr>
              <a:t>AI and your data (7 mins)</a:t>
            </a:r>
            <a:endParaRPr b="0" i="0" sz="800" u="none" cap="none" strike="noStrike">
              <a:solidFill>
                <a:schemeClr val="dk1"/>
              </a:solidFill>
              <a:latin typeface="Calibri"/>
              <a:ea typeface="Calibri"/>
              <a:cs typeface="Calibri"/>
              <a:sym typeface="Calibri"/>
            </a:endParaRPr>
          </a:p>
        </p:txBody>
      </p:sp>
      <p:sp>
        <p:nvSpPr>
          <p:cNvPr id="336" name="Google Shape;336;p14"/>
          <p:cNvSpPr/>
          <p:nvPr/>
        </p:nvSpPr>
        <p:spPr>
          <a:xfrm>
            <a:off x="228600" y="1723644"/>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0:45  </a:t>
            </a:r>
            <a:r>
              <a:rPr b="0" i="0" lang="en-US" sz="800" u="none" cap="none" strike="noStrike">
                <a:solidFill>
                  <a:srgbClr val="1B2A30"/>
                </a:solidFill>
                <a:latin typeface="Arial"/>
                <a:ea typeface="Arial"/>
                <a:cs typeface="Arial"/>
                <a:sym typeface="Arial"/>
              </a:rPr>
              <a:t>How ESCG keeps you safe (6 mins)</a:t>
            </a:r>
            <a:endParaRPr b="0" i="0" sz="800" u="none" cap="none" strike="noStrike">
              <a:solidFill>
                <a:schemeClr val="dk1"/>
              </a:solidFill>
              <a:latin typeface="Calibri"/>
              <a:ea typeface="Calibri"/>
              <a:cs typeface="Calibri"/>
              <a:sym typeface="Calibri"/>
            </a:endParaRPr>
          </a:p>
        </p:txBody>
      </p:sp>
      <p:sp>
        <p:nvSpPr>
          <p:cNvPr id="337" name="Google Shape;337;p14"/>
          <p:cNvSpPr/>
          <p:nvPr/>
        </p:nvSpPr>
        <p:spPr>
          <a:xfrm>
            <a:off x="228600" y="1856232"/>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0:51  </a:t>
            </a:r>
            <a:r>
              <a:rPr b="0" i="0" lang="en-US" sz="800" u="none" cap="none" strike="noStrike">
                <a:solidFill>
                  <a:srgbClr val="1B2A30"/>
                </a:solidFill>
                <a:latin typeface="Arial"/>
                <a:ea typeface="Arial"/>
                <a:cs typeface="Arial"/>
                <a:sym typeface="Arial"/>
              </a:rPr>
              <a:t>The Safeguarding Team (5 mins)</a:t>
            </a:r>
            <a:endParaRPr b="0" i="0" sz="800" u="none" cap="none" strike="noStrike">
              <a:solidFill>
                <a:schemeClr val="dk1"/>
              </a:solidFill>
              <a:latin typeface="Calibri"/>
              <a:ea typeface="Calibri"/>
              <a:cs typeface="Calibri"/>
              <a:sym typeface="Calibri"/>
            </a:endParaRPr>
          </a:p>
        </p:txBody>
      </p:sp>
      <p:sp>
        <p:nvSpPr>
          <p:cNvPr id="338" name="Google Shape;338;p14"/>
          <p:cNvSpPr/>
          <p:nvPr/>
        </p:nvSpPr>
        <p:spPr>
          <a:xfrm>
            <a:off x="228600" y="1988820"/>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0:56  </a:t>
            </a:r>
            <a:r>
              <a:rPr b="0" i="0" lang="en-US" sz="800" u="none" cap="none" strike="noStrike">
                <a:solidFill>
                  <a:srgbClr val="1B2A30"/>
                </a:solidFill>
                <a:latin typeface="Arial"/>
                <a:ea typeface="Arial"/>
                <a:cs typeface="Arial"/>
                <a:sym typeface="Arial"/>
              </a:rPr>
              <a:t>Reporting a concern (5 mins)</a:t>
            </a:r>
            <a:endParaRPr b="0" i="0" sz="800" u="none" cap="none" strike="noStrike">
              <a:solidFill>
                <a:schemeClr val="dk1"/>
              </a:solidFill>
              <a:latin typeface="Calibri"/>
              <a:ea typeface="Calibri"/>
              <a:cs typeface="Calibri"/>
              <a:sym typeface="Calibri"/>
            </a:endParaRPr>
          </a:p>
        </p:txBody>
      </p:sp>
      <p:sp>
        <p:nvSpPr>
          <p:cNvPr id="339" name="Google Shape;339;p14"/>
          <p:cNvSpPr/>
          <p:nvPr/>
        </p:nvSpPr>
        <p:spPr>
          <a:xfrm>
            <a:off x="228600" y="2121408"/>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1:01  </a:t>
            </a:r>
            <a:r>
              <a:rPr b="0" i="0" lang="en-US" sz="800" u="none" cap="none" strike="noStrike">
                <a:solidFill>
                  <a:srgbClr val="1B2A30"/>
                </a:solidFill>
                <a:latin typeface="Arial"/>
                <a:ea typeface="Arial"/>
                <a:cs typeface="Arial"/>
                <a:sym typeface="Arial"/>
              </a:rPr>
              <a:t>Commitment card — collect (7 mins)</a:t>
            </a:r>
            <a:endParaRPr b="0" i="0" sz="800" u="none" cap="none" strike="noStrike">
              <a:solidFill>
                <a:schemeClr val="dk1"/>
              </a:solidFill>
              <a:latin typeface="Calibri"/>
              <a:ea typeface="Calibri"/>
              <a:cs typeface="Calibri"/>
              <a:sym typeface="Calibri"/>
            </a:endParaRPr>
          </a:p>
        </p:txBody>
      </p:sp>
      <p:sp>
        <p:nvSpPr>
          <p:cNvPr id="340" name="Google Shape;340;p14"/>
          <p:cNvSpPr/>
          <p:nvPr/>
        </p:nvSpPr>
        <p:spPr>
          <a:xfrm>
            <a:off x="228600" y="2253996"/>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1:08  </a:t>
            </a:r>
            <a:r>
              <a:rPr b="0" i="0" lang="en-US" sz="800" u="none" cap="none" strike="noStrike">
                <a:solidFill>
                  <a:srgbClr val="1B2A30"/>
                </a:solidFill>
                <a:latin typeface="Arial"/>
                <a:ea typeface="Arial"/>
                <a:cs typeface="Arial"/>
                <a:sym typeface="Arial"/>
              </a:rPr>
              <a:t>Close + any questions (2 mins)</a:t>
            </a:r>
            <a:endParaRPr b="0" i="0" sz="800" u="none" cap="none" strike="noStrike">
              <a:solidFill>
                <a:schemeClr val="dk1"/>
              </a:solidFill>
              <a:latin typeface="Calibri"/>
              <a:ea typeface="Calibri"/>
              <a:cs typeface="Calibri"/>
              <a:sym typeface="Calibri"/>
            </a:endParaRPr>
          </a:p>
        </p:txBody>
      </p:sp>
      <p:sp>
        <p:nvSpPr>
          <p:cNvPr id="341" name="Google Shape;341;p14"/>
          <p:cNvSpPr/>
          <p:nvPr/>
        </p:nvSpPr>
        <p:spPr>
          <a:xfrm>
            <a:off x="228600" y="2386584"/>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1:10  </a:t>
            </a:r>
            <a:r>
              <a:rPr b="0" i="0" lang="en-US" sz="800" u="none" cap="none" strike="noStrike">
                <a:solidFill>
                  <a:srgbClr val="1B2A30"/>
                </a:solidFill>
                <a:latin typeface="Arial"/>
                <a:ea typeface="Arial"/>
                <a:cs typeface="Arial"/>
                <a:sym typeface="Arial"/>
              </a:rPr>
              <a:t>END</a:t>
            </a:r>
            <a:endParaRPr b="0" i="0" sz="800" u="none" cap="none" strike="noStrike">
              <a:solidFill>
                <a:schemeClr val="dk1"/>
              </a:solidFill>
              <a:latin typeface="Calibri"/>
              <a:ea typeface="Calibri"/>
              <a:cs typeface="Calibri"/>
              <a:sym typeface="Calibri"/>
            </a:endParaRPr>
          </a:p>
        </p:txBody>
      </p:sp>
      <p:sp>
        <p:nvSpPr>
          <p:cNvPr id="342" name="Google Shape;342;p14"/>
          <p:cNvSpPr/>
          <p:nvPr/>
        </p:nvSpPr>
        <p:spPr>
          <a:xfrm>
            <a:off x="4709160" y="411480"/>
            <a:ext cx="4297680" cy="219456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4"/>
          <p:cNvSpPr/>
          <p:nvPr/>
        </p:nvSpPr>
        <p:spPr>
          <a:xfrm>
            <a:off x="4800600" y="554300"/>
            <a:ext cx="4114800" cy="196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This session is one of the most significant disclosure surfaces in the induction programme. Students are processing new environments, new relationships, and — for some — circumstances that have been unaddressed for years. Treat every slide as a potential trigger for private disclosure.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The PROUD value anchoring for this module is Encourage Unity — creating an environment where it is normal to look out for peers and report concern. Name this if it fits naturally.</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Prevent: be alert to students who react with unusual intensity — either dismissiveness ('this doesn't apply to me') or over-engagement. Both can signal something worth following up privately.</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Online safety: many students will be more digitally literate than their teachers. Do not underestimate their knowledge; focus on the specific risks they may not have considered.</a:t>
            </a:r>
            <a:endParaRPr b="0" i="0" sz="800" u="none" cap="none" strike="noStrike">
              <a:solidFill>
                <a:schemeClr val="dk1"/>
              </a:solidFill>
              <a:latin typeface="Calibri"/>
              <a:ea typeface="Calibri"/>
              <a:cs typeface="Calibri"/>
              <a:sym typeface="Calibri"/>
            </a:endParaRPr>
          </a:p>
        </p:txBody>
      </p:sp>
      <p:sp>
        <p:nvSpPr>
          <p:cNvPr id="344" name="Google Shape;344;p14"/>
          <p:cNvSpPr/>
          <p:nvPr/>
        </p:nvSpPr>
        <p:spPr>
          <a:xfrm>
            <a:off x="137160" y="2697480"/>
            <a:ext cx="4297680" cy="219456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228600" y="277063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Pre-Flight Checklist</a:t>
            </a:r>
            <a:endParaRPr b="0" i="0" sz="950" u="none" cap="none" strike="noStrike">
              <a:solidFill>
                <a:schemeClr val="dk1"/>
              </a:solidFill>
              <a:latin typeface="Calibri"/>
              <a:ea typeface="Calibri"/>
              <a:cs typeface="Calibri"/>
              <a:sym typeface="Calibri"/>
            </a:endParaRPr>
          </a:p>
        </p:txBody>
      </p:sp>
      <p:sp>
        <p:nvSpPr>
          <p:cNvPr id="346" name="Google Shape;346;p14"/>
          <p:cNvSpPr/>
          <p:nvPr/>
        </p:nvSpPr>
        <p:spPr>
          <a:xfrm>
            <a:off x="228600" y="3081528"/>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Confirm Safeguarding Team contacts for YOUR campus — do not rely on defaults</a:t>
            </a:r>
            <a:endParaRPr b="0" i="0" sz="900" u="none" cap="none" strike="noStrike">
              <a:solidFill>
                <a:schemeClr val="dk1"/>
              </a:solidFill>
              <a:latin typeface="Calibri"/>
              <a:ea typeface="Calibri"/>
              <a:cs typeface="Calibri"/>
              <a:sym typeface="Calibri"/>
            </a:endParaRPr>
          </a:p>
        </p:txBody>
      </p:sp>
      <p:sp>
        <p:nvSpPr>
          <p:cNvPr id="347" name="Google Shape;347;p14"/>
          <p:cNvSpPr/>
          <p:nvPr/>
        </p:nvSpPr>
        <p:spPr>
          <a:xfrm>
            <a:off x="228600" y="3300984"/>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Insert the ESCG AI Policy top sheet reference (slide 7 confirm block)</a:t>
            </a:r>
            <a:endParaRPr b="0" i="0" sz="900" u="none" cap="none" strike="noStrike">
              <a:solidFill>
                <a:schemeClr val="dk1"/>
              </a:solidFill>
              <a:latin typeface="Calibri"/>
              <a:ea typeface="Calibri"/>
              <a:cs typeface="Calibri"/>
              <a:sym typeface="Calibri"/>
            </a:endParaRPr>
          </a:p>
        </p:txBody>
      </p:sp>
      <p:sp>
        <p:nvSpPr>
          <p:cNvPr id="348" name="Google Shape;348;p14"/>
          <p:cNvSpPr/>
          <p:nvPr/>
        </p:nvSpPr>
        <p:spPr>
          <a:xfrm>
            <a:off x="228600" y="3520440"/>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Print or QR-code the Safeguarding Team contact card for students to keep</a:t>
            </a:r>
            <a:endParaRPr b="0" i="0" sz="900" u="none" cap="none" strike="noStrike">
              <a:solidFill>
                <a:schemeClr val="dk1"/>
              </a:solidFill>
              <a:latin typeface="Calibri"/>
              <a:ea typeface="Calibri"/>
              <a:cs typeface="Calibri"/>
              <a:sym typeface="Calibri"/>
            </a:endParaRPr>
          </a:p>
        </p:txBody>
      </p:sp>
      <p:sp>
        <p:nvSpPr>
          <p:cNvPr id="349" name="Google Shape;349;p14"/>
          <p:cNvSpPr/>
          <p:nvPr/>
        </p:nvSpPr>
        <p:spPr>
          <a:xfrm>
            <a:off x="228600" y="3739896"/>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Check the ESCG safeguarding page is current: escg.ac.uk/support/safeguarding</a:t>
            </a:r>
            <a:endParaRPr b="0" i="0" sz="900" u="none" cap="none" strike="noStrike">
              <a:solidFill>
                <a:schemeClr val="dk1"/>
              </a:solidFill>
              <a:latin typeface="Calibri"/>
              <a:ea typeface="Calibri"/>
              <a:cs typeface="Calibri"/>
              <a:sym typeface="Calibri"/>
            </a:endParaRPr>
          </a:p>
        </p:txBody>
      </p:sp>
      <p:sp>
        <p:nvSpPr>
          <p:cNvPr id="350" name="Google Shape;350;p14"/>
          <p:cNvSpPr/>
          <p:nvPr/>
        </p:nvSpPr>
        <p:spPr>
          <a:xfrm>
            <a:off x="228600" y="3959352"/>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Prepare commitment cards for collection (index cards or printed slips)</a:t>
            </a:r>
            <a:endParaRPr b="0" i="0" sz="900" u="none" cap="none" strike="noStrike">
              <a:solidFill>
                <a:schemeClr val="dk1"/>
              </a:solidFill>
              <a:latin typeface="Calibri"/>
              <a:ea typeface="Calibri"/>
              <a:cs typeface="Calibri"/>
              <a:sym typeface="Calibri"/>
            </a:endParaRPr>
          </a:p>
        </p:txBody>
      </p:sp>
      <p:sp>
        <p:nvSpPr>
          <p:cNvPr id="351" name="Google Shape;351;p14"/>
          <p:cNvSpPr/>
          <p:nvPr/>
        </p:nvSpPr>
        <p:spPr>
          <a:xfrm>
            <a:off x="228600" y="4178808"/>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Know the campus emergency number — on the back of your lanyard</a:t>
            </a:r>
            <a:endParaRPr b="0" i="0" sz="900" u="none" cap="none" strike="noStrike">
              <a:solidFill>
                <a:schemeClr val="dk1"/>
              </a:solidFill>
              <a:latin typeface="Calibri"/>
              <a:ea typeface="Calibri"/>
              <a:cs typeface="Calibri"/>
              <a:sym typeface="Calibri"/>
            </a:endParaRPr>
          </a:p>
        </p:txBody>
      </p:sp>
      <p:sp>
        <p:nvSpPr>
          <p:cNvPr id="352" name="Google Shape;352;p14"/>
          <p:cNvSpPr/>
          <p:nvPr/>
        </p:nvSpPr>
        <p:spPr>
          <a:xfrm>
            <a:off x="228600" y="4398264"/>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Confirm who the Prevent Single Point of Contact is for your campus</a:t>
            </a:r>
            <a:endParaRPr b="0" i="0" sz="900" u="none" cap="none" strike="noStrike">
              <a:solidFill>
                <a:schemeClr val="dk1"/>
              </a:solidFill>
              <a:latin typeface="Calibri"/>
              <a:ea typeface="Calibri"/>
              <a:cs typeface="Calibri"/>
              <a:sym typeface="Calibri"/>
            </a:endParaRPr>
          </a:p>
        </p:txBody>
      </p:sp>
      <p:sp>
        <p:nvSpPr>
          <p:cNvPr id="353" name="Google Shape;353;p14"/>
          <p:cNvSpPr/>
          <p:nvPr/>
        </p:nvSpPr>
        <p:spPr>
          <a:xfrm>
            <a:off x="228600" y="4617720"/>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If delivering at Hastings: Lydia Leonard 07848 442081 is your safeguarding contact</a:t>
            </a:r>
            <a:endParaRPr b="0" i="0" sz="900" u="none" cap="none" strike="noStrike">
              <a:solidFill>
                <a:schemeClr val="dk1"/>
              </a:solidFill>
              <a:latin typeface="Calibri"/>
              <a:ea typeface="Calibri"/>
              <a:cs typeface="Calibri"/>
              <a:sym typeface="Calibri"/>
            </a:endParaRPr>
          </a:p>
        </p:txBody>
      </p:sp>
      <p:sp>
        <p:nvSpPr>
          <p:cNvPr id="354" name="Google Shape;354;p14"/>
          <p:cNvSpPr/>
          <p:nvPr/>
        </p:nvSpPr>
        <p:spPr>
          <a:xfrm>
            <a:off x="4709160" y="2697480"/>
            <a:ext cx="4297680" cy="2194560"/>
          </a:xfrm>
          <a:prstGeom prst="rect">
            <a:avLst/>
          </a:prstGeom>
          <a:solidFill>
            <a:srgbClr val="F8E7E3"/>
          </a:solidFill>
          <a:ln cap="flat" cmpd="sng" w="1905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4"/>
          <p:cNvSpPr/>
          <p:nvPr/>
        </p:nvSpPr>
        <p:spPr>
          <a:xfrm>
            <a:off x="4800600" y="277063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Safeguarding Alert — Module F</a:t>
            </a:r>
            <a:endParaRPr b="0" i="0" sz="950" u="none" cap="none" strike="noStrike">
              <a:solidFill>
                <a:schemeClr val="dk1"/>
              </a:solidFill>
              <a:latin typeface="Calibri"/>
              <a:ea typeface="Calibri"/>
              <a:cs typeface="Calibri"/>
              <a:sym typeface="Calibri"/>
            </a:endParaRPr>
          </a:p>
        </p:txBody>
      </p:sp>
      <p:sp>
        <p:nvSpPr>
          <p:cNvPr id="356" name="Google Shape;356;p14"/>
          <p:cNvSpPr/>
          <p:nvPr/>
        </p:nvSpPr>
        <p:spPr>
          <a:xfrm>
            <a:off x="4800600" y="3081528"/>
            <a:ext cx="4114800" cy="17190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Module F is a primary disclosure surface. Treat every slide — particularly slides 3, 9, 10, and the commitment card — as a point where a student may disclose. Disclosure triggers here include one-to-one feedback on personal creative work, representation content, and long self-directed studio or edit time. Placement model: 315-hour placement on the T Levels; live briefs and work experience on the diplomas.</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If a student discloses during the session:</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Listen calmly. Do not show alarm.</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Do not promise secrecy ('I can't promise to keep this between us, but I will make sure the right person knows').</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Do not investigate or ask detailed questions.</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After the session, report same-day to your Safeguarding Manager.</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Hastings: Lydia Leonard 07848 442081. </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