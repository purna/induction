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SemiBold"/>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11" Type="http://schemas.openxmlformats.org/officeDocument/2006/relationships/slide" Target="slides/slide7.xml"/><Relationship Id="rId22" Type="http://schemas.openxmlformats.org/officeDocument/2006/relationships/font" Target="fonts/PoppinsSemiBold-bold.fntdata"/><Relationship Id="rId10" Type="http://schemas.openxmlformats.org/officeDocument/2006/relationships/slide" Target="slides/slide6.xml"/><Relationship Id="rId21" Type="http://schemas.openxmlformats.org/officeDocument/2006/relationships/font" Target="fonts/PoppinsSemiBold-regular.fntdata"/><Relationship Id="rId13" Type="http://schemas.openxmlformats.org/officeDocument/2006/relationships/slide" Target="slides/slide9.xml"/><Relationship Id="rId24" Type="http://schemas.openxmlformats.org/officeDocument/2006/relationships/font" Target="fonts/PoppinsSemiBold-boldItalic.fntdata"/><Relationship Id="rId12" Type="http://schemas.openxmlformats.org/officeDocument/2006/relationships/slide" Target="slides/slide8.xml"/><Relationship Id="rId23" Type="http://schemas.openxmlformats.org/officeDocument/2006/relationships/font" Target="fonts/PoppinsSemi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Poppins-italic.fntdata"/><Relationship Id="rId6" Type="http://schemas.openxmlformats.org/officeDocument/2006/relationships/slide" Target="slides/slide2.xml"/><Relationship Id="rId18" Type="http://schemas.openxmlformats.org/officeDocument/2006/relationships/font" Target="fonts/Poppins-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2 minutes. Mode: session map (orientation only, no discussion yet).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give students the shape of the hour before you start, so the "why now" of work experience doesn't land as a surprise topic change from whatever came before.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talk through the six cards briefly — you don't need to explain each one in depth, just name them. Point out that today is about understanding the process, not doing the process; they'll actually use Navigate in Module H.</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"By the end of this session you'll know why work experience matters for your course, what your options are, the two dates you need to know, and exactly who to go to if you get stuck."</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some students will already have opinions about work experience (positive or negative, from school or a job). Don't open the discussion yet — this is just the map. The discussion slide is next.</a:t>
            </a:r>
            <a:endParaRPr/>
          </a:p>
        </p:txBody>
      </p:sp>
      <p:sp>
        <p:nvSpPr>
          <p:cNvPr id="24" name="Google Shape;24;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 name="Google Shape;6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8-10 minutes. Mode: paired/small group discussion.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surface where students already are before you give any input — some will already have relevant experience, some will be enthusiastic, some anxious, some totally unaware this is coming. Naming that spread openly makes the rest of the session land better.</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pair students up (or threes if numbers are odd). Put the four questions up and let them talk without you circulating too closely at first — this works best as a genuinely settled, low-pressure chat rather than something that feels monitored. The first question is a useful icebreaker — many students will have done something already (a school placement, a part-time job) without thinking of it as relevant experience.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 don't need to have an answer for any of this yet — I just want you talking to each other about it before I talk at you."</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a student who goes quiet or seems anxious about the idea of contacting an employer is worth a gentle, private check-in later in the session, not in front of the room. If a student discloses a barrier (confidence, past bad experience, family circumstances), don't solve it here — note it and follow up individually; the commitment card at the end gives them a formal route to flag it too.</a:t>
            </a:r>
            <a:endParaRPr/>
          </a:p>
        </p:txBody>
      </p:sp>
      <p:sp>
        <p:nvSpPr>
          <p:cNvPr id="66" name="Google Shape;66;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 name="Google Shape;85;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reframe work experience before any logistics — students who think of it as optional admin will disengage from everything that follows. This slide is the "why" that everything else hangs off.</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lead with the headline line — it's deliberately blunt. Then talk through the three points briefly; you don't need to labour them, just make the connection concrete (e.g. "an apprenticeship application that says you've actually been in a workplace beats one that doesn't, every time").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"This isn't something bolted on to your course to keep you busy — it's one of the things that actually moves the needle on what happens after you leave here."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PROUD anchor: name Seek Opportunity once, briefly, and move on — don't turn it into a slogan or dwell on it. Let the content carry the value rather than the value carrying the content.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who've had a bad experience with work (part-time job, previous placement) may push back here. Acknowledge without arguing — "fair, and we'll talk about what to do if a placement isn't going well" (that's covered later).</a:t>
            </a:r>
            <a:endParaRPr/>
          </a:p>
        </p:txBody>
      </p:sp>
      <p:sp>
        <p:nvSpPr>
          <p:cNvPr id="86" name="Google Shape;86;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2" name="Google Shape;11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7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give students a concrete picture of what "work experience" can actually mean — many arrive assuming it only means a week in a shop or office, and narrowing the definition too early puts people off before they've explored options.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run through the five types briefly, then be explicit that not all of them apply to every course — this is where you localise for your group (name which ones are realistic for this cohort).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"If you're picturing one specific thing when I say work experience, hold that thought — there's more than one way this can work, and we'll help you find the version that fits."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no-placement fallback is important to land clearly and without judgement — some students will not have secured a placement by Skills Week despite genuine effort, and this slide is what stops that feeling like failure. Say it plainly: employer-set projects and employer talks in college, still counted, still worthwhile.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anxiety spikes here for students who already suspect they won't find a placement easily (confidence, circumstances, disability). Reassure using this slide's fallback rather than empty reassurance — it's a real, planned alternative, not a consolation prize.</a:t>
            </a:r>
            <a:endParaRPr/>
          </a:p>
        </p:txBody>
      </p:sp>
      <p:sp>
        <p:nvSpPr>
          <p:cNvPr id="113" name="Google Shape;113;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land the two dates that actually matter as hard, memorable facts — this slide is what students should be able to recall afterwards even if nothing else sticks.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say both dates out loud slowly and get students to write them down or add them to their phone calendar there and then — don't just leave them on the slide.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"If you remember nothing else from today, remember these two dates. Miss the 5th of February and you risk not having an approved placement in time."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Explain the 4-week gap honestly rather than as arbitrary bureaucracy — it exists because employers get properly checked, which is what makes the placement safe.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this is a good moment to check who's already anxious about the timeline versus who hasn't engaged with it at all. Both groups benefit from writing the date down now rather than trusting themselves to remember it later.</a:t>
            </a:r>
            <a:endParaRPr/>
          </a:p>
        </p:txBody>
      </p:sp>
      <p:sp>
        <p:nvSpPr>
          <p:cNvPr id="148" name="Google Shape;14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0" name="Google Shape;17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8 minutes. Mode: activity — if time and access allow, get students to log into Navigate and locate the placement request screen live, rather than just describing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make the practical mechanics concrete without turning this into the full Navigate training — that's Module H's job. This slide should leave students knowing what they'll need and where the full walkthrough lives, not fully trained on the platform.</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point explicitly to Module H rather than re-teaching Navigate here — say when Module H is scheduled for this group if you know it. Then run through the information checklist so students start thinking about what they'll need to gather (employer details, dates, etc.) even before that session.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"You don't need to know how to use Navigate inside-out today — that's Module H. What I want you walking away with is knowing what information to have ready, and where to find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Access route: Navigate sits inside My Student Life, the College's student intranet hub — show students the icon/tile if you have it on screen. The direct login is login.navigate.uk.com, for students who prefer to bookmark it.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who've never self-sourced anything before (no part-time job, no informal networks) may need reassurance that "self-source" doesn't mean "figure it out completely alone" — the Careers &amp; Employability team (next slide) exists precisely for this.</a:t>
            </a:r>
            <a:endParaRPr/>
          </a:p>
        </p:txBody>
      </p:sp>
      <p:sp>
        <p:nvSpPr>
          <p:cNvPr id="171" name="Google Shape;17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5 minutes. Mode: teacher input.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make sure every student leaves knowing exactly who to contact and how, at their own campus — this is a named, concrete route, not a vague "speak to someone."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point to the row for your own campus specifically rather than reading the whole table — students only need their own. Emphasise the email addresses are shared team inboxes, not one individual, so there's always someone able to help even if a named contact is away.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"This isn't one person you have to track down — it's a team, and they cover for each other. If you're at [this campus], this is your door and this is your email."</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The escalation line matters as much as the contact details: repeat that "not progressing" or "doesn't feel right" are both valid reasons to go to this team, not just logistical problems.</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this is a natural point for a safeguarding disclosure to surface, given the framing around "doesn't feel right." If a student discloses something here or shortly after, follow standard safeguarding practice: listen calmly, don't promise confidentiality, don't investigate yourself, and report the same day via the ESCG safeguarding route. Full safeguarding procedure is covered in Module F — this slide only signposts.</a:t>
            </a:r>
            <a:endParaRPr/>
          </a:p>
        </p:txBody>
      </p:sp>
      <p:sp>
        <p:nvSpPr>
          <p:cNvPr id="204" name="Google Shape;20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8 minutes. Mode: discussion — talk through the five standards briefly, then use the paired prompt at the bottom to make it active rather than passive listening.</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set clear, practical expectations for placement conduct without it reading as a rules lecture — students are about to represent the college in a real workplace, and most conduct issues on placement come from students genuinely not knowing what's expected, not from bad intent.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run through the five rows at a reasonable pace — none of this should be new information if the rest of the session has landed, it's a practical checklist more than new content. Then give 2-3 minutes for the paired discussion prompt.</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"None of this is complicated, but employers judge the college by how you show up — so let's be clear on what good looks like."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the discussion prompt is a soft second opportunity for a concern or anxiety to surface (following on from the placement coordinator slide). Listen for students who seem unsure who their "first call" actually is — that's worth a direct follow-up before Skills Week, not just at the point something goes wrong.</a:t>
            </a:r>
            <a:endParaRPr/>
          </a:p>
        </p:txBody>
      </p:sp>
      <p:sp>
        <p:nvSpPr>
          <p:cNvPr id="243" name="Google Shape;243;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6 minutes. Mode: activity.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close on something concrete and personal rather than ending on logistics — every ESCG session ends with a specific, low-stakes commitment students write or draw, which tutors keep for follow-up.</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give students 2-3 minutes of quiet time to choose and write/draw their option. Collect the cards at the end of the session — don't skip this, the follow-up is the point, not the card itself.</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"Pick whichever of these feels most true for you right now — there's no right answer, and no one else will see what you write unless you want them to."</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Option 4 is a structural safeguarding-disclosure route, consistent across every module's commitment card — flag any option-4 cards for individual follow-up rather than treating them as routine. A student choosing option 4 is not necessarily in crisis, but it is always worth a private, low-key check-in.</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students who rush through without genuinely engaging (writing something generic just to be done) — a light personal prompt ("go on, be specific — which organisation?") often gets a more honest answer than leaving it open.</a:t>
            </a:r>
            <a:endParaRPr/>
          </a:p>
        </p:txBody>
      </p:sp>
      <p:sp>
        <p:nvSpPr>
          <p:cNvPr id="271" name="Google Shape;27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Timing: 2 minutes. Mode: close.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Purpose: send students out with the two dates and the help route freshly repeated, plus a short, non-cheesy final line that ties back to the Seek Opportunity anchor from earlier — don't introduce anything new here.</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How to run it: read the three recap lines aloud once more, slowly. Collect commitment cards if you haven't already.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Say something like: "Two dates, one team to go to if you need them. That's genuinely all you need to hold onto from today."</a:t>
            </a: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What to watch for: nothing new should surface here — if a student raises a concern or question at this point, note it and follow up individually rather than reopening the session for the whole room.</a:t>
            </a:r>
            <a:endParaRPr/>
          </a:p>
        </p:txBody>
      </p:sp>
      <p:sp>
        <p:nvSpPr>
          <p:cNvPr id="304" name="Google Shape;30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9" name="Google Shape;31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20" name="Google Shape;32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2.png"/><Relationship Id="rId7"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hyperlink" Target="https://login.navigate.uk.com/" TargetMode="External"/><Relationship Id="rId6" Type="http://schemas.openxmlformats.org/officeDocument/2006/relationships/hyperlink" Target="https://login.navigate.uk.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11" name="Shape 11"/>
        <p:cNvGrpSpPr/>
        <p:nvPr/>
      </p:nvGrpSpPr>
      <p:grpSpPr>
        <a:xfrm>
          <a:off x="0" y="0"/>
          <a:ext cx="0" cy="0"/>
          <a:chOff x="0" y="0"/>
          <a:chExt cx="0" cy="0"/>
        </a:xfrm>
      </p:grpSpPr>
      <p:sp>
        <p:nvSpPr>
          <p:cNvPr id="12" name="Google Shape;12;p3"/>
          <p:cNvSpPr/>
          <p:nvPr/>
        </p:nvSpPr>
        <p:spPr>
          <a:xfrm>
            <a:off x="0" y="0"/>
            <a:ext cx="12191695" cy="6858000"/>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3"/>
          <p:cNvSpPr/>
          <p:nvPr/>
        </p:nvSpPr>
        <p:spPr>
          <a:xfrm>
            <a:off x="731520" y="137160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50"/>
              <a:buFont typeface="Poppins SemiBold"/>
              <a:buNone/>
            </a:pPr>
            <a:r>
              <a:rPr lang="en-US" sz="1550">
                <a:solidFill>
                  <a:srgbClr val="FFCF01"/>
                </a:solidFill>
                <a:latin typeface="Poppins SemiBold"/>
                <a:ea typeface="Poppins SemiBold"/>
                <a:cs typeface="Poppins SemiBold"/>
                <a:sym typeface="Poppins SemiBold"/>
              </a:rPr>
              <a:t>GROUP 2  ·  EMPLOYABILITY</a:t>
            </a:r>
            <a:endParaRPr sz="1550">
              <a:solidFill>
                <a:schemeClr val="dk1"/>
              </a:solidFill>
              <a:latin typeface="Calibri"/>
              <a:ea typeface="Calibri"/>
              <a:cs typeface="Calibri"/>
              <a:sym typeface="Calibri"/>
            </a:endParaRPr>
          </a:p>
        </p:txBody>
      </p:sp>
      <p:sp>
        <p:nvSpPr>
          <p:cNvPr id="14" name="Google Shape;14;p3"/>
          <p:cNvSpPr/>
          <p:nvPr/>
        </p:nvSpPr>
        <p:spPr>
          <a:xfrm>
            <a:off x="731520" y="1828800"/>
            <a:ext cx="9144000" cy="8229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4700"/>
              <a:buFont typeface="Poppins SemiBold"/>
              <a:buNone/>
            </a:pPr>
            <a:r>
              <a:rPr lang="en-US" sz="4700">
                <a:solidFill>
                  <a:srgbClr val="FFFFFF"/>
                </a:solidFill>
                <a:latin typeface="Poppins SemiBold"/>
                <a:ea typeface="Poppins SemiBold"/>
                <a:cs typeface="Poppins SemiBold"/>
                <a:sym typeface="Poppins SemiBold"/>
              </a:rPr>
              <a:t>Module J</a:t>
            </a:r>
            <a:endParaRPr sz="4700">
              <a:solidFill>
                <a:schemeClr val="dk1"/>
              </a:solidFill>
              <a:latin typeface="Calibri"/>
              <a:ea typeface="Calibri"/>
              <a:cs typeface="Calibri"/>
              <a:sym typeface="Calibri"/>
            </a:endParaRPr>
          </a:p>
        </p:txBody>
      </p:sp>
      <p:sp>
        <p:nvSpPr>
          <p:cNvPr id="15" name="Google Shape;15;p3"/>
          <p:cNvSpPr/>
          <p:nvPr/>
        </p:nvSpPr>
        <p:spPr>
          <a:xfrm>
            <a:off x="731520" y="2514600"/>
            <a:ext cx="9144000" cy="6858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550"/>
              <a:buFont typeface="Poppins SemiBold"/>
              <a:buNone/>
            </a:pPr>
            <a:r>
              <a:rPr lang="en-US" sz="3550">
                <a:solidFill>
                  <a:srgbClr val="FFFFFF"/>
                </a:solidFill>
                <a:latin typeface="Poppins SemiBold"/>
                <a:ea typeface="Poppins SemiBold"/>
                <a:cs typeface="Poppins SemiBold"/>
                <a:sym typeface="Poppins SemiBold"/>
              </a:rPr>
              <a:t>Work Experience</a:t>
            </a:r>
            <a:endParaRPr sz="3550">
              <a:solidFill>
                <a:schemeClr val="dk1"/>
              </a:solidFill>
              <a:latin typeface="Calibri"/>
              <a:ea typeface="Calibri"/>
              <a:cs typeface="Calibri"/>
              <a:sym typeface="Calibri"/>
            </a:endParaRPr>
          </a:p>
        </p:txBody>
      </p:sp>
      <p:sp>
        <p:nvSpPr>
          <p:cNvPr id="16" name="Google Shape;16;p3"/>
          <p:cNvSpPr/>
          <p:nvPr/>
        </p:nvSpPr>
        <p:spPr>
          <a:xfrm>
            <a:off x="731520" y="3337560"/>
            <a:ext cx="9286875" cy="723900"/>
          </a:xfrm>
          <a:prstGeom prst="roundRect">
            <a:avLst>
              <a:gd fmla="val 18182" name="adj"/>
            </a:avLst>
          </a:prstGeom>
          <a:solidFill>
            <a:srgbClr val="4624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 name="Google Shape;17;p3"/>
          <p:cNvSpPr/>
          <p:nvPr/>
        </p:nvSpPr>
        <p:spPr>
          <a:xfrm>
            <a:off x="822960" y="3337560"/>
            <a:ext cx="9096375" cy="723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750"/>
              <a:buFont typeface="Poppins"/>
              <a:buNone/>
            </a:pPr>
            <a:r>
              <a:rPr i="1" lang="en-US" sz="1750">
                <a:solidFill>
                  <a:srgbClr val="FFCF01"/>
                </a:solidFill>
                <a:latin typeface="Poppins"/>
                <a:ea typeface="Poppins"/>
                <a:cs typeface="Poppins"/>
                <a:sym typeface="Poppins"/>
              </a:rPr>
              <a:t>Skills Week — your first placement in the industry you’re training for</a:t>
            </a:r>
            <a:endParaRPr sz="1750">
              <a:solidFill>
                <a:schemeClr val="dk1"/>
              </a:solidFill>
              <a:latin typeface="Calibri"/>
              <a:ea typeface="Calibri"/>
              <a:cs typeface="Calibri"/>
              <a:sym typeface="Calibri"/>
            </a:endParaRPr>
          </a:p>
        </p:txBody>
      </p:sp>
      <p:sp>
        <p:nvSpPr>
          <p:cNvPr id="18" name="Google Shape;18;p3"/>
          <p:cNvSpPr/>
          <p:nvPr/>
        </p:nvSpPr>
        <p:spPr>
          <a:xfrm>
            <a:off x="731520" y="4114800"/>
            <a:ext cx="108585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50"/>
              <a:buFont typeface="Poppins SemiBold"/>
              <a:buNone/>
            </a:pPr>
            <a:r>
              <a:rPr lang="en-US" sz="1650">
                <a:solidFill>
                  <a:srgbClr val="FFFFFF"/>
                </a:solidFill>
                <a:latin typeface="Poppins SemiBold"/>
                <a:ea typeface="Poppins SemiBold"/>
                <a:cs typeface="Poppins SemiBold"/>
                <a:sym typeface="Poppins SemiBold"/>
              </a:rPr>
              <a:t>Level 3, Year 1 — Digital, Media, Film and Computing</a:t>
            </a:r>
            <a:endParaRPr sz="1650">
              <a:solidFill>
                <a:schemeClr val="dk1"/>
              </a:solidFill>
              <a:latin typeface="Calibri"/>
              <a:ea typeface="Calibri"/>
              <a:cs typeface="Calibri"/>
              <a:sym typeface="Calibri"/>
            </a:endParaRPr>
          </a:p>
        </p:txBody>
      </p:sp>
      <p:sp>
        <p:nvSpPr>
          <p:cNvPr id="19" name="Google Shape;19;p3"/>
          <p:cNvSpPr/>
          <p:nvPr/>
        </p:nvSpPr>
        <p:spPr>
          <a:xfrm>
            <a:off x="731520" y="4480560"/>
            <a:ext cx="457200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D9CBE8"/>
              </a:buClr>
              <a:buSzPts val="1550"/>
              <a:buFont typeface="Poppins"/>
              <a:buNone/>
            </a:pPr>
            <a:r>
              <a:rPr lang="en-US" sz="1550">
                <a:solidFill>
                  <a:srgbClr val="D9CBE8"/>
                </a:solidFill>
                <a:latin typeface="Poppins"/>
                <a:ea typeface="Poppins"/>
                <a:cs typeface="Poppins"/>
                <a:sym typeface="Poppins"/>
              </a:rPr>
              <a:t>Duration: 1 hour</a:t>
            </a:r>
            <a:endParaRPr sz="1550">
              <a:solidFill>
                <a:schemeClr val="dk1"/>
              </a:solidFill>
              <a:latin typeface="Calibri"/>
              <a:ea typeface="Calibri"/>
              <a:cs typeface="Calibri"/>
              <a:sym typeface="Calibri"/>
            </a:endParaRPr>
          </a:p>
        </p:txBody>
      </p:sp>
      <p:pic>
        <p:nvPicPr>
          <p:cNvPr descr="/home/claude/moduleJ/icons/seek_opportunity.png" id="20" name="Google Shape;20;p3"/>
          <p:cNvPicPr preferRelativeResize="0"/>
          <p:nvPr/>
        </p:nvPicPr>
        <p:blipFill rotWithShape="1">
          <a:blip r:embed="rId3">
            <a:alphaModFix/>
          </a:blip>
          <a:srcRect b="0" l="0" r="0" t="0"/>
          <a:stretch/>
        </p:blipFill>
        <p:spPr>
          <a:xfrm>
            <a:off x="9692640" y="2103120"/>
            <a:ext cx="1554480" cy="15544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 name="Shape 25"/>
        <p:cNvGrpSpPr/>
        <p:nvPr/>
      </p:nvGrpSpPr>
      <p:grpSpPr>
        <a:xfrm>
          <a:off x="0" y="0"/>
          <a:ext cx="0" cy="0"/>
          <a:chOff x="0" y="0"/>
          <a:chExt cx="0" cy="0"/>
        </a:xfrm>
      </p:grpSpPr>
      <p:sp>
        <p:nvSpPr>
          <p:cNvPr id="26" name="Google Shape;26;p4"/>
          <p:cNvSpPr/>
          <p:nvPr/>
        </p:nvSpPr>
        <p:spPr>
          <a:xfrm>
            <a:off x="548640" y="29260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Poppins SemiBold"/>
              <a:buNone/>
            </a:pPr>
            <a:r>
              <a:rPr lang="en-US" sz="1400">
                <a:solidFill>
                  <a:srgbClr val="592C82"/>
                </a:solidFill>
                <a:latin typeface="Poppins SemiBold"/>
                <a:ea typeface="Poppins SemiBold"/>
                <a:cs typeface="Poppins SemiBold"/>
                <a:sym typeface="Poppins SemiBold"/>
              </a:rPr>
              <a:t>MODULE J — WORK EXPERIENCE</a:t>
            </a:r>
            <a:endParaRPr sz="1400">
              <a:solidFill>
                <a:schemeClr val="dk1"/>
              </a:solidFill>
              <a:latin typeface="Calibri"/>
              <a:ea typeface="Calibri"/>
              <a:cs typeface="Calibri"/>
              <a:sym typeface="Calibri"/>
            </a:endParaRPr>
          </a:p>
        </p:txBody>
      </p:sp>
      <p:sp>
        <p:nvSpPr>
          <p:cNvPr id="27" name="Google Shape;27;p4"/>
          <p:cNvSpPr/>
          <p:nvPr/>
        </p:nvSpPr>
        <p:spPr>
          <a:xfrm>
            <a:off x="548640" y="548640"/>
            <a:ext cx="8961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Today’s session</a:t>
            </a:r>
            <a:endParaRPr sz="3050">
              <a:solidFill>
                <a:schemeClr val="dk1"/>
              </a:solidFill>
              <a:latin typeface="Calibri"/>
              <a:ea typeface="Calibri"/>
              <a:cs typeface="Calibri"/>
              <a:sym typeface="Calibri"/>
            </a:endParaRPr>
          </a:p>
        </p:txBody>
      </p:sp>
      <p:sp>
        <p:nvSpPr>
          <p:cNvPr id="28" name="Google Shape;28;p4"/>
          <p:cNvSpPr/>
          <p:nvPr/>
        </p:nvSpPr>
        <p:spPr>
          <a:xfrm>
            <a:off x="10166299" y="292608"/>
            <a:ext cx="1659636"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4"/>
          <p:cNvSpPr/>
          <p:nvPr/>
        </p:nvSpPr>
        <p:spPr>
          <a:xfrm>
            <a:off x="10166299" y="292608"/>
            <a:ext cx="1659636"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SESSION MAP</a:t>
            </a:r>
            <a:endParaRPr sz="1200">
              <a:solidFill>
                <a:schemeClr val="dk1"/>
              </a:solidFill>
              <a:latin typeface="Calibri"/>
              <a:ea typeface="Calibri"/>
              <a:cs typeface="Calibri"/>
              <a:sym typeface="Calibri"/>
            </a:endParaRPr>
          </a:p>
        </p:txBody>
      </p:sp>
      <p:cxnSp>
        <p:nvCxnSpPr>
          <p:cNvPr id="30" name="Google Shape;30;p4"/>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31" name="Google Shape;31;p4"/>
          <p:cNvSpPr/>
          <p:nvPr/>
        </p:nvSpPr>
        <p:spPr>
          <a:xfrm>
            <a:off x="548640"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 name="Google Shape;32;p4"/>
          <p:cNvSpPr/>
          <p:nvPr/>
        </p:nvSpPr>
        <p:spPr>
          <a:xfrm>
            <a:off x="768096"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4"/>
          <p:cNvSpPr/>
          <p:nvPr/>
        </p:nvSpPr>
        <p:spPr>
          <a:xfrm>
            <a:off x="768096"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1</a:t>
            </a:r>
            <a:endParaRPr sz="2000">
              <a:solidFill>
                <a:schemeClr val="dk1"/>
              </a:solidFill>
              <a:latin typeface="Calibri"/>
              <a:ea typeface="Calibri"/>
              <a:cs typeface="Calibri"/>
              <a:sym typeface="Calibri"/>
            </a:endParaRPr>
          </a:p>
        </p:txBody>
      </p:sp>
      <p:sp>
        <p:nvSpPr>
          <p:cNvPr id="34" name="Google Shape;34;p4"/>
          <p:cNvSpPr/>
          <p:nvPr/>
        </p:nvSpPr>
        <p:spPr>
          <a:xfrm>
            <a:off x="768096"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Why it matters</a:t>
            </a:r>
            <a:endParaRPr sz="1800">
              <a:solidFill>
                <a:schemeClr val="dk1"/>
              </a:solidFill>
              <a:latin typeface="Calibri"/>
              <a:ea typeface="Calibri"/>
              <a:cs typeface="Calibri"/>
              <a:sym typeface="Calibri"/>
            </a:endParaRPr>
          </a:p>
        </p:txBody>
      </p:sp>
      <p:sp>
        <p:nvSpPr>
          <p:cNvPr id="35" name="Google Shape;35;p4"/>
          <p:cNvSpPr/>
          <p:nvPr/>
        </p:nvSpPr>
        <p:spPr>
          <a:xfrm>
            <a:off x="768096"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What a placement adds to your portfolio and applications</a:t>
            </a:r>
            <a:endParaRPr sz="1400">
              <a:solidFill>
                <a:schemeClr val="dk1"/>
              </a:solidFill>
              <a:latin typeface="Calibri"/>
              <a:ea typeface="Calibri"/>
              <a:cs typeface="Calibri"/>
              <a:sym typeface="Calibri"/>
            </a:endParaRPr>
          </a:p>
        </p:txBody>
      </p:sp>
      <p:sp>
        <p:nvSpPr>
          <p:cNvPr id="36" name="Google Shape;36;p4"/>
          <p:cNvSpPr/>
          <p:nvPr/>
        </p:nvSpPr>
        <p:spPr>
          <a:xfrm>
            <a:off x="4353458"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4"/>
          <p:cNvSpPr/>
          <p:nvPr/>
        </p:nvSpPr>
        <p:spPr>
          <a:xfrm>
            <a:off x="4572914"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 name="Google Shape;38;p4"/>
          <p:cNvSpPr/>
          <p:nvPr/>
        </p:nvSpPr>
        <p:spPr>
          <a:xfrm>
            <a:off x="4572914"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2</a:t>
            </a:r>
            <a:endParaRPr sz="2000">
              <a:solidFill>
                <a:schemeClr val="dk1"/>
              </a:solidFill>
              <a:latin typeface="Calibri"/>
              <a:ea typeface="Calibri"/>
              <a:cs typeface="Calibri"/>
              <a:sym typeface="Calibri"/>
            </a:endParaRPr>
          </a:p>
        </p:txBody>
      </p:sp>
      <p:sp>
        <p:nvSpPr>
          <p:cNvPr id="39" name="Google Shape;39;p4"/>
          <p:cNvSpPr/>
          <p:nvPr/>
        </p:nvSpPr>
        <p:spPr>
          <a:xfrm>
            <a:off x="4572914"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What’s available</a:t>
            </a:r>
            <a:endParaRPr sz="1800">
              <a:solidFill>
                <a:schemeClr val="dk1"/>
              </a:solidFill>
              <a:latin typeface="Calibri"/>
              <a:ea typeface="Calibri"/>
              <a:cs typeface="Calibri"/>
              <a:sym typeface="Calibri"/>
            </a:endParaRPr>
          </a:p>
        </p:txBody>
      </p:sp>
      <p:sp>
        <p:nvSpPr>
          <p:cNvPr id="40" name="Google Shape;40;p4"/>
          <p:cNvSpPr/>
          <p:nvPr/>
        </p:nvSpPr>
        <p:spPr>
          <a:xfrm>
            <a:off x="4572914"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Placement types, your 30 hours, and T Level placements</a:t>
            </a:r>
            <a:endParaRPr sz="1400">
              <a:solidFill>
                <a:schemeClr val="dk1"/>
              </a:solidFill>
              <a:latin typeface="Calibri"/>
              <a:ea typeface="Calibri"/>
              <a:cs typeface="Calibri"/>
              <a:sym typeface="Calibri"/>
            </a:endParaRPr>
          </a:p>
        </p:txBody>
      </p:sp>
      <p:sp>
        <p:nvSpPr>
          <p:cNvPr id="41" name="Google Shape;41;p4"/>
          <p:cNvSpPr/>
          <p:nvPr/>
        </p:nvSpPr>
        <p:spPr>
          <a:xfrm>
            <a:off x="8158277" y="160020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4"/>
          <p:cNvSpPr/>
          <p:nvPr/>
        </p:nvSpPr>
        <p:spPr>
          <a:xfrm>
            <a:off x="8377733" y="181965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4"/>
          <p:cNvSpPr/>
          <p:nvPr/>
        </p:nvSpPr>
        <p:spPr>
          <a:xfrm>
            <a:off x="8377733" y="181965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3</a:t>
            </a:r>
            <a:endParaRPr sz="2000">
              <a:solidFill>
                <a:schemeClr val="dk1"/>
              </a:solidFill>
              <a:latin typeface="Calibri"/>
              <a:ea typeface="Calibri"/>
              <a:cs typeface="Calibri"/>
              <a:sym typeface="Calibri"/>
            </a:endParaRPr>
          </a:p>
        </p:txBody>
      </p:sp>
      <p:sp>
        <p:nvSpPr>
          <p:cNvPr id="44" name="Google Shape;44;p4"/>
          <p:cNvSpPr/>
          <p:nvPr/>
        </p:nvSpPr>
        <p:spPr>
          <a:xfrm>
            <a:off x="8377733" y="246888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Key dates</a:t>
            </a:r>
            <a:endParaRPr sz="1800">
              <a:solidFill>
                <a:schemeClr val="dk1"/>
              </a:solidFill>
              <a:latin typeface="Calibri"/>
              <a:ea typeface="Calibri"/>
              <a:cs typeface="Calibri"/>
              <a:sym typeface="Calibri"/>
            </a:endParaRPr>
          </a:p>
        </p:txBody>
      </p:sp>
      <p:sp>
        <p:nvSpPr>
          <p:cNvPr id="45" name="Google Shape;45;p4"/>
          <p:cNvSpPr/>
          <p:nvPr/>
        </p:nvSpPr>
        <p:spPr>
          <a:xfrm>
            <a:off x="8377733" y="288036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Skills Week and your deadline</a:t>
            </a:r>
            <a:endParaRPr sz="1400">
              <a:solidFill>
                <a:schemeClr val="dk1"/>
              </a:solidFill>
              <a:latin typeface="Calibri"/>
              <a:ea typeface="Calibri"/>
              <a:cs typeface="Calibri"/>
              <a:sym typeface="Calibri"/>
            </a:endParaRPr>
          </a:p>
        </p:txBody>
      </p:sp>
      <p:sp>
        <p:nvSpPr>
          <p:cNvPr id="46" name="Google Shape;46;p4"/>
          <p:cNvSpPr/>
          <p:nvPr/>
        </p:nvSpPr>
        <p:spPr>
          <a:xfrm>
            <a:off x="548640"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 name="Google Shape;47;p4"/>
          <p:cNvSpPr/>
          <p:nvPr/>
        </p:nvSpPr>
        <p:spPr>
          <a:xfrm>
            <a:off x="768096"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4"/>
          <p:cNvSpPr/>
          <p:nvPr/>
        </p:nvSpPr>
        <p:spPr>
          <a:xfrm>
            <a:off x="768096"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4</a:t>
            </a:r>
            <a:endParaRPr sz="2000">
              <a:solidFill>
                <a:schemeClr val="dk1"/>
              </a:solidFill>
              <a:latin typeface="Calibri"/>
              <a:ea typeface="Calibri"/>
              <a:cs typeface="Calibri"/>
              <a:sym typeface="Calibri"/>
            </a:endParaRPr>
          </a:p>
        </p:txBody>
      </p:sp>
      <p:sp>
        <p:nvSpPr>
          <p:cNvPr id="49" name="Google Shape;49;p4"/>
          <p:cNvSpPr/>
          <p:nvPr/>
        </p:nvSpPr>
        <p:spPr>
          <a:xfrm>
            <a:off x="768096"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Finding a placement</a:t>
            </a:r>
            <a:endParaRPr sz="1800">
              <a:solidFill>
                <a:schemeClr val="dk1"/>
              </a:solidFill>
              <a:latin typeface="Calibri"/>
              <a:ea typeface="Calibri"/>
              <a:cs typeface="Calibri"/>
              <a:sym typeface="Calibri"/>
            </a:endParaRPr>
          </a:p>
        </p:txBody>
      </p:sp>
      <p:sp>
        <p:nvSpPr>
          <p:cNvPr id="50" name="Google Shape;50;p4"/>
          <p:cNvSpPr/>
          <p:nvPr/>
        </p:nvSpPr>
        <p:spPr>
          <a:xfrm>
            <a:off x="768096"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Navigate &amp; Module H</a:t>
            </a:r>
            <a:endParaRPr sz="1400">
              <a:solidFill>
                <a:schemeClr val="dk1"/>
              </a:solidFill>
              <a:latin typeface="Calibri"/>
              <a:ea typeface="Calibri"/>
              <a:cs typeface="Calibri"/>
              <a:sym typeface="Calibri"/>
            </a:endParaRPr>
          </a:p>
        </p:txBody>
      </p:sp>
      <p:sp>
        <p:nvSpPr>
          <p:cNvPr id="51" name="Google Shape;51;p4"/>
          <p:cNvSpPr/>
          <p:nvPr/>
        </p:nvSpPr>
        <p:spPr>
          <a:xfrm>
            <a:off x="4353458"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4"/>
          <p:cNvSpPr/>
          <p:nvPr/>
        </p:nvSpPr>
        <p:spPr>
          <a:xfrm>
            <a:off x="4572914"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4"/>
          <p:cNvSpPr/>
          <p:nvPr/>
        </p:nvSpPr>
        <p:spPr>
          <a:xfrm>
            <a:off x="4572914"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5</a:t>
            </a:r>
            <a:endParaRPr sz="2000">
              <a:solidFill>
                <a:schemeClr val="dk1"/>
              </a:solidFill>
              <a:latin typeface="Calibri"/>
              <a:ea typeface="Calibri"/>
              <a:cs typeface="Calibri"/>
              <a:sym typeface="Calibri"/>
            </a:endParaRPr>
          </a:p>
        </p:txBody>
      </p:sp>
      <p:sp>
        <p:nvSpPr>
          <p:cNvPr id="54" name="Google Shape;54;p4"/>
          <p:cNvSpPr/>
          <p:nvPr/>
        </p:nvSpPr>
        <p:spPr>
          <a:xfrm>
            <a:off x="4572914"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Who to ask</a:t>
            </a:r>
            <a:endParaRPr sz="1800">
              <a:solidFill>
                <a:schemeClr val="dk1"/>
              </a:solidFill>
              <a:latin typeface="Calibri"/>
              <a:ea typeface="Calibri"/>
              <a:cs typeface="Calibri"/>
              <a:sym typeface="Calibri"/>
            </a:endParaRPr>
          </a:p>
        </p:txBody>
      </p:sp>
      <p:sp>
        <p:nvSpPr>
          <p:cNvPr id="55" name="Google Shape;55;p4"/>
          <p:cNvSpPr/>
          <p:nvPr/>
        </p:nvSpPr>
        <p:spPr>
          <a:xfrm>
            <a:off x="4572914"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Your Careers &amp; Employability team</a:t>
            </a:r>
            <a:endParaRPr sz="1400">
              <a:solidFill>
                <a:schemeClr val="dk1"/>
              </a:solidFill>
              <a:latin typeface="Calibri"/>
              <a:ea typeface="Calibri"/>
              <a:cs typeface="Calibri"/>
              <a:sym typeface="Calibri"/>
            </a:endParaRPr>
          </a:p>
        </p:txBody>
      </p:sp>
      <p:sp>
        <p:nvSpPr>
          <p:cNvPr id="56" name="Google Shape;56;p4"/>
          <p:cNvSpPr/>
          <p:nvPr/>
        </p:nvSpPr>
        <p:spPr>
          <a:xfrm>
            <a:off x="8158277" y="3931920"/>
            <a:ext cx="3484778" cy="2011680"/>
          </a:xfrm>
          <a:prstGeom prst="roundRect">
            <a:avLst>
              <a:gd fmla="val 4545" name="adj"/>
            </a:avLst>
          </a:prstGeom>
          <a:solidFill>
            <a:srgbClr val="FFFFFF"/>
          </a:solidFill>
          <a:ln cap="flat" cmpd="sng" w="12700">
            <a:solidFill>
              <a:srgbClr val="D2DBDA"/>
            </a:solidFill>
            <a:prstDash val="solid"/>
            <a:round/>
            <a:headEnd len="sm" w="sm" type="none"/>
            <a:tailEnd len="sm" w="sm" type="none"/>
          </a:ln>
          <a:effectLst>
            <a:outerShdw blurRad="76200" rotWithShape="0" algn="bl" dir="5400000" dist="25400">
              <a:srgbClr val="000000">
                <a:alpha val="1215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4"/>
          <p:cNvSpPr/>
          <p:nvPr/>
        </p:nvSpPr>
        <p:spPr>
          <a:xfrm>
            <a:off x="8377733" y="4151376"/>
            <a:ext cx="475488" cy="475488"/>
          </a:xfrm>
          <a:prstGeom prst="roundRect">
            <a:avLst>
              <a:gd fmla="val 50000"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 name="Google Shape;58;p4"/>
          <p:cNvSpPr/>
          <p:nvPr/>
        </p:nvSpPr>
        <p:spPr>
          <a:xfrm>
            <a:off x="8377733" y="4151376"/>
            <a:ext cx="475488" cy="47548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6</a:t>
            </a:r>
            <a:endParaRPr sz="2000">
              <a:solidFill>
                <a:schemeClr val="dk1"/>
              </a:solidFill>
              <a:latin typeface="Calibri"/>
              <a:ea typeface="Calibri"/>
              <a:cs typeface="Calibri"/>
              <a:sym typeface="Calibri"/>
            </a:endParaRPr>
          </a:p>
        </p:txBody>
      </p:sp>
      <p:sp>
        <p:nvSpPr>
          <p:cNvPr id="59" name="Google Shape;59;p4"/>
          <p:cNvSpPr/>
          <p:nvPr/>
        </p:nvSpPr>
        <p:spPr>
          <a:xfrm>
            <a:off x="8377733" y="4800600"/>
            <a:ext cx="3045866"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00"/>
              <a:buFont typeface="Poppins SemiBold"/>
              <a:buNone/>
            </a:pPr>
            <a:r>
              <a:rPr lang="en-US" sz="1800">
                <a:solidFill>
                  <a:srgbClr val="1B2A30"/>
                </a:solidFill>
                <a:latin typeface="Poppins SemiBold"/>
                <a:ea typeface="Poppins SemiBold"/>
                <a:cs typeface="Poppins SemiBold"/>
                <a:sym typeface="Poppins SemiBold"/>
              </a:rPr>
              <a:t>On placement</a:t>
            </a:r>
            <a:endParaRPr sz="1800">
              <a:solidFill>
                <a:schemeClr val="dk1"/>
              </a:solidFill>
              <a:latin typeface="Calibri"/>
              <a:ea typeface="Calibri"/>
              <a:cs typeface="Calibri"/>
              <a:sym typeface="Calibri"/>
            </a:endParaRPr>
          </a:p>
        </p:txBody>
      </p:sp>
      <p:sp>
        <p:nvSpPr>
          <p:cNvPr id="60" name="Google Shape;60;p4"/>
          <p:cNvSpPr/>
          <p:nvPr/>
        </p:nvSpPr>
        <p:spPr>
          <a:xfrm>
            <a:off x="8377733" y="5212080"/>
            <a:ext cx="3045866" cy="64008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400"/>
              <a:buFont typeface="Poppins"/>
              <a:buNone/>
            </a:pPr>
            <a:r>
              <a:rPr lang="en-US" sz="1400">
                <a:solidFill>
                  <a:srgbClr val="5A6A6F"/>
                </a:solidFill>
                <a:latin typeface="Poppins"/>
                <a:ea typeface="Poppins"/>
                <a:cs typeface="Poppins"/>
                <a:sym typeface="Poppins"/>
              </a:rPr>
              <a:t>Conduct, consent and logging your hours</a:t>
            </a:r>
            <a:endParaRPr sz="1400">
              <a:solidFill>
                <a:schemeClr val="dk1"/>
              </a:solidFill>
              <a:latin typeface="Calibri"/>
              <a:ea typeface="Calibri"/>
              <a:cs typeface="Calibri"/>
              <a:sym typeface="Calibri"/>
            </a:endParaRPr>
          </a:p>
        </p:txBody>
      </p:sp>
      <p:sp>
        <p:nvSpPr>
          <p:cNvPr id="61" name="Google Shape;61;p4"/>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62" name="Google Shape;62;p4"/>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2</a:t>
            </a:r>
            <a:endParaRPr sz="10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67" name="Shape 67"/>
        <p:cNvGrpSpPr/>
        <p:nvPr/>
      </p:nvGrpSpPr>
      <p:grpSpPr>
        <a:xfrm>
          <a:off x="0" y="0"/>
          <a:ext cx="0" cy="0"/>
          <a:chOff x="0" y="0"/>
          <a:chExt cx="0" cy="0"/>
        </a:xfrm>
      </p:grpSpPr>
      <p:sp>
        <p:nvSpPr>
          <p:cNvPr id="68" name="Google Shape;68;p5"/>
          <p:cNvSpPr/>
          <p:nvPr/>
        </p:nvSpPr>
        <p:spPr>
          <a:xfrm>
            <a:off x="548640" y="292608"/>
            <a:ext cx="82296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400"/>
              <a:buFont typeface="Poppins SemiBold"/>
              <a:buNone/>
            </a:pPr>
            <a:r>
              <a:rPr lang="en-US" sz="1400">
                <a:solidFill>
                  <a:srgbClr val="592C82"/>
                </a:solidFill>
                <a:latin typeface="Poppins SemiBold"/>
                <a:ea typeface="Poppins SemiBold"/>
                <a:cs typeface="Poppins SemiBold"/>
                <a:sym typeface="Poppins SemiBold"/>
              </a:rPr>
              <a:t>SETTLING IN</a:t>
            </a:r>
            <a:endParaRPr sz="1400">
              <a:solidFill>
                <a:schemeClr val="dk1"/>
              </a:solidFill>
              <a:latin typeface="Calibri"/>
              <a:ea typeface="Calibri"/>
              <a:cs typeface="Calibri"/>
              <a:sym typeface="Calibri"/>
            </a:endParaRPr>
          </a:p>
        </p:txBody>
      </p:sp>
      <p:sp>
        <p:nvSpPr>
          <p:cNvPr id="69" name="Google Shape;69;p5"/>
          <p:cNvSpPr/>
          <p:nvPr/>
        </p:nvSpPr>
        <p:spPr>
          <a:xfrm>
            <a:off x="548640" y="548640"/>
            <a:ext cx="8961120"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Before we start</a:t>
            </a:r>
            <a:endParaRPr sz="3050">
              <a:solidFill>
                <a:schemeClr val="dk1"/>
              </a:solidFill>
              <a:latin typeface="Calibri"/>
              <a:ea typeface="Calibri"/>
              <a:cs typeface="Calibri"/>
              <a:sym typeface="Calibri"/>
            </a:endParaRPr>
          </a:p>
        </p:txBody>
      </p:sp>
      <p:sp>
        <p:nvSpPr>
          <p:cNvPr id="70" name="Google Shape;70;p5"/>
          <p:cNvSpPr/>
          <p:nvPr/>
        </p:nvSpPr>
        <p:spPr>
          <a:xfrm>
            <a:off x="10271455" y="292608"/>
            <a:ext cx="1554480"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 name="Google Shape;71;p5"/>
          <p:cNvSpPr/>
          <p:nvPr/>
        </p:nvSpPr>
        <p:spPr>
          <a:xfrm>
            <a:off x="10271455" y="292608"/>
            <a:ext cx="1554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DISCUSSION</a:t>
            </a:r>
            <a:endParaRPr sz="1200">
              <a:solidFill>
                <a:schemeClr val="dk1"/>
              </a:solidFill>
              <a:latin typeface="Calibri"/>
              <a:ea typeface="Calibri"/>
              <a:cs typeface="Calibri"/>
              <a:sym typeface="Calibri"/>
            </a:endParaRPr>
          </a:p>
        </p:txBody>
      </p:sp>
      <p:cxnSp>
        <p:nvCxnSpPr>
          <p:cNvPr id="72" name="Google Shape;72;p5"/>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73" name="Google Shape;73;p5"/>
          <p:cNvSpPr/>
          <p:nvPr/>
        </p:nvSpPr>
        <p:spPr>
          <a:xfrm>
            <a:off x="548640" y="1600200"/>
            <a:ext cx="11094415" cy="3566160"/>
          </a:xfrm>
          <a:prstGeom prst="roundRect">
            <a:avLst>
              <a:gd fmla="val 2564"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omments.png" id="74" name="Google Shape;74;p5"/>
          <p:cNvPicPr preferRelativeResize="0"/>
          <p:nvPr/>
        </p:nvPicPr>
        <p:blipFill rotWithShape="1">
          <a:blip r:embed="rId3">
            <a:alphaModFix/>
          </a:blip>
          <a:srcRect b="0" l="0" r="0" t="0"/>
          <a:stretch/>
        </p:blipFill>
        <p:spPr>
          <a:xfrm>
            <a:off x="868680" y="1920240"/>
            <a:ext cx="640080" cy="640080"/>
          </a:xfrm>
          <a:prstGeom prst="rect">
            <a:avLst/>
          </a:prstGeom>
          <a:noFill/>
          <a:ln>
            <a:noFill/>
          </a:ln>
        </p:spPr>
      </p:pic>
      <p:sp>
        <p:nvSpPr>
          <p:cNvPr id="75" name="Google Shape;75;p5"/>
          <p:cNvSpPr/>
          <p:nvPr/>
        </p:nvSpPr>
        <p:spPr>
          <a:xfrm>
            <a:off x="1691640" y="1874520"/>
            <a:ext cx="990569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900"/>
              <a:buFont typeface="Poppins SemiBold"/>
              <a:buNone/>
            </a:pPr>
            <a:r>
              <a:rPr lang="en-US" sz="1900">
                <a:solidFill>
                  <a:srgbClr val="1B2A30"/>
                </a:solidFill>
                <a:latin typeface="Poppins SemiBold"/>
                <a:ea typeface="Poppins SemiBold"/>
                <a:cs typeface="Poppins SemiBold"/>
                <a:sym typeface="Poppins SemiBold"/>
              </a:rPr>
              <a:t>Turn to the person next to you. Talk about what work looks like in your part of this industry.</a:t>
            </a:r>
            <a:endParaRPr sz="1900">
              <a:solidFill>
                <a:schemeClr val="dk1"/>
              </a:solidFill>
              <a:latin typeface="Calibri"/>
              <a:ea typeface="Calibri"/>
              <a:cs typeface="Calibri"/>
              <a:sym typeface="Calibri"/>
            </a:endParaRPr>
          </a:p>
        </p:txBody>
      </p:sp>
      <p:sp>
        <p:nvSpPr>
          <p:cNvPr id="76" name="Google Shape;76;p5"/>
          <p:cNvSpPr/>
          <p:nvPr/>
        </p:nvSpPr>
        <p:spPr>
          <a:xfrm>
            <a:off x="914400" y="25603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What work experience (if any) have you already had — through school, college, or a part-time job?</a:t>
            </a:r>
            <a:endParaRPr sz="1500">
              <a:solidFill>
                <a:schemeClr val="dk1"/>
              </a:solidFill>
              <a:latin typeface="Calibri"/>
              <a:ea typeface="Calibri"/>
              <a:cs typeface="Calibri"/>
              <a:sym typeface="Calibri"/>
            </a:endParaRPr>
          </a:p>
        </p:txBody>
      </p:sp>
      <p:sp>
        <p:nvSpPr>
          <p:cNvPr id="77" name="Google Shape;77;p5"/>
          <p:cNvSpPr/>
          <p:nvPr/>
        </p:nvSpPr>
        <p:spPr>
          <a:xfrm>
            <a:off x="914400" y="30175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Have you thought about work experience yet — what’s your gut reaction?</a:t>
            </a:r>
            <a:endParaRPr sz="1500">
              <a:solidFill>
                <a:schemeClr val="dk1"/>
              </a:solidFill>
              <a:latin typeface="Calibri"/>
              <a:ea typeface="Calibri"/>
              <a:cs typeface="Calibri"/>
              <a:sym typeface="Calibri"/>
            </a:endParaRPr>
          </a:p>
        </p:txBody>
      </p:sp>
      <p:sp>
        <p:nvSpPr>
          <p:cNvPr id="78" name="Google Shape;78;p5"/>
          <p:cNvSpPr/>
          <p:nvPr/>
        </p:nvSpPr>
        <p:spPr>
          <a:xfrm>
            <a:off x="914400" y="34747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Do you already know somewhere you’d want to try — a production company, an agency, a studio, a newsroom, an IT or security team?</a:t>
            </a:r>
            <a:endParaRPr sz="1500">
              <a:solidFill>
                <a:schemeClr val="dk1"/>
              </a:solidFill>
              <a:latin typeface="Calibri"/>
              <a:ea typeface="Calibri"/>
              <a:cs typeface="Calibri"/>
              <a:sym typeface="Calibri"/>
            </a:endParaRPr>
          </a:p>
        </p:txBody>
      </p:sp>
      <p:sp>
        <p:nvSpPr>
          <p:cNvPr id="79" name="Google Shape;79;p5"/>
          <p:cNvSpPr/>
          <p:nvPr/>
        </p:nvSpPr>
        <p:spPr>
          <a:xfrm>
            <a:off x="914400" y="3931920"/>
            <a:ext cx="10088575" cy="438912"/>
          </a:xfrm>
          <a:prstGeom prst="rect">
            <a:avLst/>
          </a:prstGeom>
          <a:noFill/>
          <a:ln>
            <a:noFill/>
          </a:ln>
        </p:spPr>
        <p:txBody>
          <a:bodyPr anchorCtr="0" anchor="ctr" bIns="45700" lIns="91425" spcFirstLastPara="1" rIns="91425" wrap="square" tIns="45700">
            <a:noAutofit/>
          </a:bodyPr>
          <a:lstStyle/>
          <a:p>
            <a:pPr indent="0" lvl="0" marL="0" marR="0" rtl="0" algn="l">
              <a:lnSpc>
                <a:spcPct val="105000"/>
              </a:lnSpc>
              <a:spcBef>
                <a:spcPts val="0"/>
              </a:spcBef>
              <a:spcAft>
                <a:spcPts val="0"/>
              </a:spcAft>
              <a:buClr>
                <a:srgbClr val="1B2A30"/>
              </a:buClr>
              <a:buSzPts val="1500"/>
              <a:buFont typeface="Poppins"/>
              <a:buNone/>
            </a:pPr>
            <a:r>
              <a:rPr lang="en-US" sz="1500">
                <a:solidFill>
                  <a:srgbClr val="1B2A30"/>
                </a:solidFill>
                <a:latin typeface="Poppins"/>
                <a:ea typeface="Poppins"/>
                <a:cs typeface="Poppins"/>
                <a:sym typeface="Poppins"/>
              </a:rPr>
              <a:t>•  What’s the thing that would make this feel less daunting?</a:t>
            </a:r>
            <a:endParaRPr sz="1500">
              <a:solidFill>
                <a:schemeClr val="dk1"/>
              </a:solidFill>
              <a:latin typeface="Calibri"/>
              <a:ea typeface="Calibri"/>
              <a:cs typeface="Calibri"/>
              <a:sym typeface="Calibri"/>
            </a:endParaRPr>
          </a:p>
        </p:txBody>
      </p:sp>
      <p:sp>
        <p:nvSpPr>
          <p:cNvPr id="80" name="Google Shape;80;p5"/>
          <p:cNvSpPr/>
          <p:nvPr/>
        </p:nvSpPr>
        <p:spPr>
          <a:xfrm>
            <a:off x="914400" y="4526280"/>
            <a:ext cx="1008857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400"/>
              <a:buFont typeface="Poppins"/>
              <a:buNone/>
            </a:pPr>
            <a:r>
              <a:rPr i="1" lang="en-US" sz="1400">
                <a:solidFill>
                  <a:srgbClr val="5A6A6F"/>
                </a:solidFill>
                <a:latin typeface="Poppins"/>
                <a:ea typeface="Poppins"/>
                <a:cs typeface="Poppins"/>
                <a:sym typeface="Poppins"/>
              </a:rPr>
              <a:t>No wrong answers here — this is about starting to think, not deciding anything yet.</a:t>
            </a:r>
            <a:endParaRPr sz="1400">
              <a:solidFill>
                <a:schemeClr val="dk1"/>
              </a:solidFill>
              <a:latin typeface="Calibri"/>
              <a:ea typeface="Calibri"/>
              <a:cs typeface="Calibri"/>
              <a:sym typeface="Calibri"/>
            </a:endParaRPr>
          </a:p>
        </p:txBody>
      </p:sp>
      <p:sp>
        <p:nvSpPr>
          <p:cNvPr id="81" name="Google Shape;81;p5"/>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82" name="Google Shape;82;p5"/>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3</a:t>
            </a:r>
            <a:endParaRPr sz="10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87" name="Shape 87"/>
        <p:cNvGrpSpPr/>
        <p:nvPr/>
      </p:nvGrpSpPr>
      <p:grpSpPr>
        <a:xfrm>
          <a:off x="0" y="0"/>
          <a:ext cx="0" cy="0"/>
          <a:chOff x="0" y="0"/>
          <a:chExt cx="0" cy="0"/>
        </a:xfrm>
      </p:grpSpPr>
      <p:sp>
        <p:nvSpPr>
          <p:cNvPr id="88" name="Google Shape;88;p6"/>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Why work experience matters</a:t>
            </a:r>
            <a:endParaRPr sz="3050">
              <a:solidFill>
                <a:schemeClr val="dk1"/>
              </a:solidFill>
              <a:latin typeface="Calibri"/>
              <a:ea typeface="Calibri"/>
              <a:cs typeface="Calibri"/>
              <a:sym typeface="Calibri"/>
            </a:endParaRPr>
          </a:p>
        </p:txBody>
      </p:sp>
      <p:sp>
        <p:nvSpPr>
          <p:cNvPr id="89" name="Google Shape;89;p6"/>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0" name="Google Shape;90;p6"/>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91" name="Google Shape;91;p6"/>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92" name="Google Shape;92;p6"/>
          <p:cNvSpPr/>
          <p:nvPr/>
        </p:nvSpPr>
        <p:spPr>
          <a:xfrm>
            <a:off x="548640" y="1417320"/>
            <a:ext cx="110944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2000"/>
              <a:buFont typeface="Poppins SemiBold"/>
              <a:buNone/>
            </a:pPr>
            <a:r>
              <a:rPr lang="en-US" sz="2000">
                <a:solidFill>
                  <a:srgbClr val="592C82"/>
                </a:solidFill>
                <a:latin typeface="Poppins SemiBold"/>
                <a:ea typeface="Poppins SemiBold"/>
                <a:cs typeface="Poppins SemiBold"/>
                <a:sym typeface="Poppins SemiBold"/>
              </a:rPr>
              <a:t>It’s not an add-on to your course. It’s the part of your training that happens outside college.</a:t>
            </a:r>
            <a:endParaRPr sz="2000">
              <a:solidFill>
                <a:schemeClr val="dk1"/>
              </a:solidFill>
              <a:latin typeface="Calibri"/>
              <a:ea typeface="Calibri"/>
              <a:cs typeface="Calibri"/>
              <a:sym typeface="Calibri"/>
            </a:endParaRPr>
          </a:p>
        </p:txBody>
      </p:sp>
      <p:sp>
        <p:nvSpPr>
          <p:cNvPr id="93" name="Google Shape;93;p6"/>
          <p:cNvSpPr/>
          <p:nvPr/>
        </p:nvSpPr>
        <p:spPr>
          <a:xfrm>
            <a:off x="548640"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6"/>
          <p:cNvSpPr/>
          <p:nvPr/>
        </p:nvSpPr>
        <p:spPr>
          <a:xfrm>
            <a:off x="548640"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6"/>
          <p:cNvSpPr/>
          <p:nvPr/>
        </p:nvSpPr>
        <p:spPr>
          <a:xfrm>
            <a:off x="786384"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Employability</a:t>
            </a:r>
            <a:endParaRPr sz="1850">
              <a:solidFill>
                <a:schemeClr val="dk1"/>
              </a:solidFill>
              <a:latin typeface="Calibri"/>
              <a:ea typeface="Calibri"/>
              <a:cs typeface="Calibri"/>
              <a:sym typeface="Calibri"/>
            </a:endParaRPr>
          </a:p>
        </p:txBody>
      </p:sp>
      <p:sp>
        <p:nvSpPr>
          <p:cNvPr id="96" name="Google Shape;96;p6"/>
          <p:cNvSpPr/>
          <p:nvPr/>
        </p:nvSpPr>
        <p:spPr>
          <a:xfrm>
            <a:off x="786384"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This industry hires on evidence: a portfolio, a showreel, code you’ve written, a reference from someone who watched you work.</a:t>
            </a:r>
            <a:endParaRPr sz="1500">
              <a:solidFill>
                <a:schemeClr val="dk1"/>
              </a:solidFill>
              <a:latin typeface="Calibri"/>
              <a:ea typeface="Calibri"/>
              <a:cs typeface="Calibri"/>
              <a:sym typeface="Calibri"/>
            </a:endParaRPr>
          </a:p>
        </p:txBody>
      </p:sp>
      <p:sp>
        <p:nvSpPr>
          <p:cNvPr id="97" name="Google Shape;97;p6"/>
          <p:cNvSpPr/>
          <p:nvPr/>
        </p:nvSpPr>
        <p:spPr>
          <a:xfrm>
            <a:off x="4338218"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6"/>
          <p:cNvSpPr/>
          <p:nvPr/>
        </p:nvSpPr>
        <p:spPr>
          <a:xfrm>
            <a:off x="4338218"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4575962"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Progression</a:t>
            </a:r>
            <a:endParaRPr sz="1850">
              <a:solidFill>
                <a:schemeClr val="dk1"/>
              </a:solidFill>
              <a:latin typeface="Calibri"/>
              <a:ea typeface="Calibri"/>
              <a:cs typeface="Calibri"/>
              <a:sym typeface="Calibri"/>
            </a:endParaRPr>
          </a:p>
        </p:txBody>
      </p:sp>
      <p:sp>
        <p:nvSpPr>
          <p:cNvPr id="100" name="Google Shape;100;p6"/>
          <p:cNvSpPr/>
          <p:nvPr/>
        </p:nvSpPr>
        <p:spPr>
          <a:xfrm>
            <a:off x="4575962"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UCH Hastings, a degree elsewhere, a higher apprenticeship — all of them ask what you’ve done outside the classroom.</a:t>
            </a:r>
            <a:endParaRPr sz="1500">
              <a:solidFill>
                <a:schemeClr val="dk1"/>
              </a:solidFill>
              <a:latin typeface="Calibri"/>
              <a:ea typeface="Calibri"/>
              <a:cs typeface="Calibri"/>
              <a:sym typeface="Calibri"/>
            </a:endParaRPr>
          </a:p>
        </p:txBody>
      </p:sp>
      <p:sp>
        <p:nvSpPr>
          <p:cNvPr id="101" name="Google Shape;101;p6"/>
          <p:cNvSpPr/>
          <p:nvPr/>
        </p:nvSpPr>
        <p:spPr>
          <a:xfrm>
            <a:off x="8127797" y="2057400"/>
            <a:ext cx="3515258" cy="2423160"/>
          </a:xfrm>
          <a:prstGeom prst="roundRect">
            <a:avLst>
              <a:gd fmla="val 3019"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6"/>
          <p:cNvSpPr/>
          <p:nvPr/>
        </p:nvSpPr>
        <p:spPr>
          <a:xfrm>
            <a:off x="8127797" y="2057400"/>
            <a:ext cx="3515258" cy="82296"/>
          </a:xfrm>
          <a:prstGeom prst="rect">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6"/>
          <p:cNvSpPr/>
          <p:nvPr/>
        </p:nvSpPr>
        <p:spPr>
          <a:xfrm>
            <a:off x="8365541" y="2331720"/>
            <a:ext cx="3039770"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850"/>
              <a:buFont typeface="Poppins SemiBold"/>
              <a:buNone/>
            </a:pPr>
            <a:r>
              <a:rPr lang="en-US" sz="1850">
                <a:solidFill>
                  <a:srgbClr val="1B2A30"/>
                </a:solidFill>
                <a:latin typeface="Poppins SemiBold"/>
                <a:ea typeface="Poppins SemiBold"/>
                <a:cs typeface="Poppins SemiBold"/>
                <a:sym typeface="Poppins SemiBold"/>
              </a:rPr>
              <a:t>Professional identity</a:t>
            </a:r>
            <a:endParaRPr sz="1850">
              <a:solidFill>
                <a:schemeClr val="dk1"/>
              </a:solidFill>
              <a:latin typeface="Calibri"/>
              <a:ea typeface="Calibri"/>
              <a:cs typeface="Calibri"/>
              <a:sym typeface="Calibri"/>
            </a:endParaRPr>
          </a:p>
        </p:txBody>
      </p:sp>
      <p:sp>
        <p:nvSpPr>
          <p:cNvPr id="104" name="Google Shape;104;p6"/>
          <p:cNvSpPr/>
          <p:nvPr/>
        </p:nvSpPr>
        <p:spPr>
          <a:xfrm>
            <a:off x="8365541" y="2788920"/>
            <a:ext cx="3039770" cy="1857375"/>
          </a:xfrm>
          <a:prstGeom prst="rect">
            <a:avLst/>
          </a:prstGeom>
          <a:noFill/>
          <a:ln>
            <a:noFill/>
          </a:ln>
        </p:spPr>
        <p:txBody>
          <a:bodyPr anchorCtr="0" anchor="t" bIns="45700" lIns="91425" spcFirstLastPara="1" rIns="91425" wrap="square" tIns="45700">
            <a:noAutofit/>
          </a:bodyPr>
          <a:lstStyle/>
          <a:p>
            <a:pPr indent="0" lvl="0" marL="0" marR="0" rtl="0" algn="l">
              <a:lnSpc>
                <a:spcPct val="125000"/>
              </a:lnSpc>
              <a:spcBef>
                <a:spcPts val="0"/>
              </a:spcBef>
              <a:spcAft>
                <a:spcPts val="0"/>
              </a:spcAft>
              <a:buClr>
                <a:srgbClr val="5A6A6F"/>
              </a:buClr>
              <a:buSzPts val="1500"/>
              <a:buFont typeface="Poppins"/>
              <a:buNone/>
            </a:pPr>
            <a:r>
              <a:rPr lang="en-US" sz="1500">
                <a:solidFill>
                  <a:srgbClr val="5A6A6F"/>
                </a:solidFill>
                <a:latin typeface="Poppins"/>
                <a:ea typeface="Poppins"/>
                <a:cs typeface="Poppins"/>
                <a:sym typeface="Poppins"/>
              </a:rPr>
              <a:t>Editor, animator, developer, analyst, photographer — a placement is how you test which of these you actually want.</a:t>
            </a:r>
            <a:endParaRPr sz="1500">
              <a:solidFill>
                <a:schemeClr val="dk1"/>
              </a:solidFill>
              <a:latin typeface="Calibri"/>
              <a:ea typeface="Calibri"/>
              <a:cs typeface="Calibri"/>
              <a:sym typeface="Calibri"/>
            </a:endParaRPr>
          </a:p>
        </p:txBody>
      </p:sp>
      <p:sp>
        <p:nvSpPr>
          <p:cNvPr id="105" name="Google Shape;105;p6"/>
          <p:cNvSpPr/>
          <p:nvPr/>
        </p:nvSpPr>
        <p:spPr>
          <a:xfrm>
            <a:off x="548640" y="4709160"/>
            <a:ext cx="11094415" cy="1051560"/>
          </a:xfrm>
          <a:prstGeom prst="roundRect">
            <a:avLst>
              <a:gd fmla="val 6957"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seek_opportunity.png" id="106" name="Google Shape;106;p6"/>
          <p:cNvPicPr preferRelativeResize="0"/>
          <p:nvPr/>
        </p:nvPicPr>
        <p:blipFill rotWithShape="1">
          <a:blip r:embed="rId3">
            <a:alphaModFix/>
          </a:blip>
          <a:srcRect b="0" l="0" r="0" t="0"/>
          <a:stretch/>
        </p:blipFill>
        <p:spPr>
          <a:xfrm>
            <a:off x="822960" y="4937760"/>
            <a:ext cx="594360" cy="594360"/>
          </a:xfrm>
          <a:prstGeom prst="rect">
            <a:avLst/>
          </a:prstGeom>
          <a:noFill/>
          <a:ln>
            <a:noFill/>
          </a:ln>
        </p:spPr>
      </p:pic>
      <p:sp>
        <p:nvSpPr>
          <p:cNvPr id="107" name="Google Shape;107;p6"/>
          <p:cNvSpPr/>
          <p:nvPr/>
        </p:nvSpPr>
        <p:spPr>
          <a:xfrm>
            <a:off x="1600200" y="4709160"/>
            <a:ext cx="9905695" cy="10515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CF01"/>
              </a:buClr>
              <a:buSzPts val="1500"/>
              <a:buFont typeface="Poppins"/>
              <a:buNone/>
            </a:pPr>
            <a:r>
              <a:rPr b="1" lang="en-US" sz="1500">
                <a:solidFill>
                  <a:srgbClr val="FFCF01"/>
                </a:solidFill>
                <a:latin typeface="Poppins"/>
                <a:ea typeface="Poppins"/>
                <a:cs typeface="Poppins"/>
                <a:sym typeface="Poppins"/>
              </a:rPr>
              <a:t>Seek Opportunity: </a:t>
            </a:r>
            <a:r>
              <a:rPr lang="en-US" sz="1500">
                <a:solidFill>
                  <a:srgbClr val="FFFFFF"/>
                </a:solidFill>
                <a:latin typeface="Poppins"/>
                <a:ea typeface="Poppins"/>
                <a:cs typeface="Poppins"/>
                <a:sym typeface="Poppins"/>
              </a:rPr>
              <a:t>work experience is one of the most direct ways you’ll practise this value while you’re here — actively going after something rather than waiting for it to arrive.</a:t>
            </a:r>
            <a:endParaRPr sz="1500">
              <a:solidFill>
                <a:schemeClr val="dk1"/>
              </a:solidFill>
              <a:latin typeface="Calibri"/>
              <a:ea typeface="Calibri"/>
              <a:cs typeface="Calibri"/>
              <a:sym typeface="Calibri"/>
            </a:endParaRPr>
          </a:p>
        </p:txBody>
      </p:sp>
      <p:sp>
        <p:nvSpPr>
          <p:cNvPr id="108" name="Google Shape;108;p6"/>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109" name="Google Shape;109;p6"/>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4</a:t>
            </a:r>
            <a:endParaRPr sz="10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14" name="Shape 114"/>
        <p:cNvGrpSpPr/>
        <p:nvPr/>
      </p:nvGrpSpPr>
      <p:grpSpPr>
        <a:xfrm>
          <a:off x="0" y="0"/>
          <a:ext cx="0" cy="0"/>
          <a:chOff x="0" y="0"/>
          <a:chExt cx="0" cy="0"/>
        </a:xfrm>
      </p:grpSpPr>
      <p:sp>
        <p:nvSpPr>
          <p:cNvPr id="115" name="Google Shape;115;p7"/>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What work experience can look like</a:t>
            </a:r>
            <a:endParaRPr sz="3050">
              <a:solidFill>
                <a:schemeClr val="dk1"/>
              </a:solidFill>
              <a:latin typeface="Calibri"/>
              <a:ea typeface="Calibri"/>
              <a:cs typeface="Calibri"/>
              <a:sym typeface="Calibri"/>
            </a:endParaRPr>
          </a:p>
        </p:txBody>
      </p:sp>
      <p:sp>
        <p:nvSpPr>
          <p:cNvPr id="116" name="Google Shape;116;p7"/>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7" name="Google Shape;117;p7"/>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118" name="Google Shape;118;p7"/>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19" name="Google Shape;119;p7"/>
          <p:cNvSpPr/>
          <p:nvPr/>
        </p:nvSpPr>
        <p:spPr>
          <a:xfrm>
            <a:off x="548640"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building.png" id="120" name="Google Shape;120;p7"/>
          <p:cNvPicPr preferRelativeResize="0"/>
          <p:nvPr/>
        </p:nvPicPr>
        <p:blipFill rotWithShape="1">
          <a:blip r:embed="rId3">
            <a:alphaModFix/>
          </a:blip>
          <a:srcRect b="0" l="0" r="0" t="0"/>
          <a:stretch/>
        </p:blipFill>
        <p:spPr>
          <a:xfrm>
            <a:off x="1285006" y="1755648"/>
            <a:ext cx="585216" cy="585216"/>
          </a:xfrm>
          <a:prstGeom prst="rect">
            <a:avLst/>
          </a:prstGeom>
          <a:noFill/>
          <a:ln>
            <a:noFill/>
          </a:ln>
        </p:spPr>
      </p:pic>
      <p:sp>
        <p:nvSpPr>
          <p:cNvPr id="121" name="Google Shape;121;p7"/>
          <p:cNvSpPr/>
          <p:nvPr/>
        </p:nvSpPr>
        <p:spPr>
          <a:xfrm>
            <a:off x="640080"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Block placement</a:t>
            </a:r>
            <a:endParaRPr sz="1350">
              <a:solidFill>
                <a:schemeClr val="dk1"/>
              </a:solidFill>
              <a:latin typeface="Calibri"/>
              <a:ea typeface="Calibri"/>
              <a:cs typeface="Calibri"/>
              <a:sym typeface="Calibri"/>
            </a:endParaRPr>
          </a:p>
        </p:txBody>
      </p:sp>
      <p:sp>
        <p:nvSpPr>
          <p:cNvPr id="122" name="Google Shape;122;p7"/>
          <p:cNvSpPr/>
          <p:nvPr/>
        </p:nvSpPr>
        <p:spPr>
          <a:xfrm>
            <a:off x="640080"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A set period with one employer</a:t>
            </a:r>
            <a:endParaRPr sz="1050">
              <a:solidFill>
                <a:schemeClr val="dk1"/>
              </a:solidFill>
              <a:latin typeface="Calibri"/>
              <a:ea typeface="Calibri"/>
              <a:cs typeface="Calibri"/>
              <a:sym typeface="Calibri"/>
            </a:endParaRPr>
          </a:p>
        </p:txBody>
      </p:sp>
      <p:sp>
        <p:nvSpPr>
          <p:cNvPr id="123" name="Google Shape;123;p7"/>
          <p:cNvSpPr/>
          <p:nvPr/>
        </p:nvSpPr>
        <p:spPr>
          <a:xfrm>
            <a:off x="2807757"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handshake.png" id="124" name="Google Shape;124;p7"/>
          <p:cNvPicPr preferRelativeResize="0"/>
          <p:nvPr/>
        </p:nvPicPr>
        <p:blipFill rotWithShape="1">
          <a:blip r:embed="rId4">
            <a:alphaModFix/>
          </a:blip>
          <a:srcRect b="0" l="0" r="0" t="0"/>
          <a:stretch/>
        </p:blipFill>
        <p:spPr>
          <a:xfrm>
            <a:off x="3544123" y="1755648"/>
            <a:ext cx="585216" cy="585216"/>
          </a:xfrm>
          <a:prstGeom prst="rect">
            <a:avLst/>
          </a:prstGeom>
          <a:noFill/>
          <a:ln>
            <a:noFill/>
          </a:ln>
        </p:spPr>
      </p:pic>
      <p:sp>
        <p:nvSpPr>
          <p:cNvPr id="125" name="Google Shape;125;p7"/>
          <p:cNvSpPr/>
          <p:nvPr/>
        </p:nvSpPr>
        <p:spPr>
          <a:xfrm>
            <a:off x="2899197"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Employer visits</a:t>
            </a:r>
            <a:endParaRPr sz="1350">
              <a:solidFill>
                <a:schemeClr val="dk1"/>
              </a:solidFill>
              <a:latin typeface="Calibri"/>
              <a:ea typeface="Calibri"/>
              <a:cs typeface="Calibri"/>
              <a:sym typeface="Calibri"/>
            </a:endParaRPr>
          </a:p>
        </p:txBody>
      </p:sp>
      <p:sp>
        <p:nvSpPr>
          <p:cNvPr id="126" name="Google Shape;126;p7"/>
          <p:cNvSpPr/>
          <p:nvPr/>
        </p:nvSpPr>
        <p:spPr>
          <a:xfrm>
            <a:off x="2899197"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Shorter, structured visits to a workplace</a:t>
            </a:r>
            <a:endParaRPr sz="1050">
              <a:solidFill>
                <a:schemeClr val="dk1"/>
              </a:solidFill>
              <a:latin typeface="Calibri"/>
              <a:ea typeface="Calibri"/>
              <a:cs typeface="Calibri"/>
              <a:sym typeface="Calibri"/>
            </a:endParaRPr>
          </a:p>
        </p:txBody>
      </p:sp>
      <p:sp>
        <p:nvSpPr>
          <p:cNvPr id="127" name="Google Shape;127;p7"/>
          <p:cNvSpPr/>
          <p:nvPr/>
        </p:nvSpPr>
        <p:spPr>
          <a:xfrm>
            <a:off x="5066873"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heart.png" id="128" name="Google Shape;128;p7"/>
          <p:cNvPicPr preferRelativeResize="0"/>
          <p:nvPr/>
        </p:nvPicPr>
        <p:blipFill rotWithShape="1">
          <a:blip r:embed="rId5">
            <a:alphaModFix/>
          </a:blip>
          <a:srcRect b="0" l="0" r="0" t="0"/>
          <a:stretch/>
        </p:blipFill>
        <p:spPr>
          <a:xfrm>
            <a:off x="5803240" y="1755648"/>
            <a:ext cx="585216" cy="585216"/>
          </a:xfrm>
          <a:prstGeom prst="rect">
            <a:avLst/>
          </a:prstGeom>
          <a:noFill/>
          <a:ln>
            <a:noFill/>
          </a:ln>
        </p:spPr>
      </p:pic>
      <p:sp>
        <p:nvSpPr>
          <p:cNvPr id="129" name="Google Shape;129;p7"/>
          <p:cNvSpPr/>
          <p:nvPr/>
        </p:nvSpPr>
        <p:spPr>
          <a:xfrm>
            <a:off x="5158313"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Volunteering</a:t>
            </a:r>
            <a:endParaRPr sz="1350">
              <a:solidFill>
                <a:schemeClr val="dk1"/>
              </a:solidFill>
              <a:latin typeface="Calibri"/>
              <a:ea typeface="Calibri"/>
              <a:cs typeface="Calibri"/>
              <a:sym typeface="Calibri"/>
            </a:endParaRPr>
          </a:p>
        </p:txBody>
      </p:sp>
      <p:sp>
        <p:nvSpPr>
          <p:cNvPr id="130" name="Google Shape;130;p7"/>
          <p:cNvSpPr/>
          <p:nvPr/>
        </p:nvSpPr>
        <p:spPr>
          <a:xfrm>
            <a:off x="5158313"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Unpaid work with a genuine organisational need</a:t>
            </a:r>
            <a:endParaRPr sz="1050">
              <a:solidFill>
                <a:schemeClr val="dk1"/>
              </a:solidFill>
              <a:latin typeface="Calibri"/>
              <a:ea typeface="Calibri"/>
              <a:cs typeface="Calibri"/>
              <a:sym typeface="Calibri"/>
            </a:endParaRPr>
          </a:p>
        </p:txBody>
      </p:sp>
      <p:sp>
        <p:nvSpPr>
          <p:cNvPr id="131" name="Google Shape;131;p7"/>
          <p:cNvSpPr/>
          <p:nvPr/>
        </p:nvSpPr>
        <p:spPr>
          <a:xfrm>
            <a:off x="7325990"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project.png" id="132" name="Google Shape;132;p7"/>
          <p:cNvPicPr preferRelativeResize="0"/>
          <p:nvPr/>
        </p:nvPicPr>
        <p:blipFill rotWithShape="1">
          <a:blip r:embed="rId6">
            <a:alphaModFix/>
          </a:blip>
          <a:srcRect b="0" l="0" r="0" t="0"/>
          <a:stretch/>
        </p:blipFill>
        <p:spPr>
          <a:xfrm>
            <a:off x="8062356" y="1755648"/>
            <a:ext cx="585216" cy="585216"/>
          </a:xfrm>
          <a:prstGeom prst="rect">
            <a:avLst/>
          </a:prstGeom>
          <a:noFill/>
          <a:ln>
            <a:noFill/>
          </a:ln>
        </p:spPr>
      </p:pic>
      <p:sp>
        <p:nvSpPr>
          <p:cNvPr id="133" name="Google Shape;133;p7"/>
          <p:cNvSpPr/>
          <p:nvPr/>
        </p:nvSpPr>
        <p:spPr>
          <a:xfrm>
            <a:off x="7417430"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Live project briefs</a:t>
            </a:r>
            <a:endParaRPr sz="1350">
              <a:solidFill>
                <a:schemeClr val="dk1"/>
              </a:solidFill>
              <a:latin typeface="Calibri"/>
              <a:ea typeface="Calibri"/>
              <a:cs typeface="Calibri"/>
              <a:sym typeface="Calibri"/>
            </a:endParaRPr>
          </a:p>
        </p:txBody>
      </p:sp>
      <p:sp>
        <p:nvSpPr>
          <p:cNvPr id="134" name="Google Shape;134;p7"/>
          <p:cNvSpPr/>
          <p:nvPr/>
        </p:nvSpPr>
        <p:spPr>
          <a:xfrm>
            <a:off x="7417430"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Real employer problems, worked on in college</a:t>
            </a:r>
            <a:endParaRPr sz="1050">
              <a:solidFill>
                <a:schemeClr val="dk1"/>
              </a:solidFill>
              <a:latin typeface="Calibri"/>
              <a:ea typeface="Calibri"/>
              <a:cs typeface="Calibri"/>
              <a:sym typeface="Calibri"/>
            </a:endParaRPr>
          </a:p>
        </p:txBody>
      </p:sp>
      <p:sp>
        <p:nvSpPr>
          <p:cNvPr id="135" name="Google Shape;135;p7"/>
          <p:cNvSpPr/>
          <p:nvPr/>
        </p:nvSpPr>
        <p:spPr>
          <a:xfrm>
            <a:off x="9585107" y="1554480"/>
            <a:ext cx="2057949" cy="1965960"/>
          </a:xfrm>
          <a:prstGeom prst="roundRect">
            <a:avLst>
              <a:gd fmla="val 3721"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network.png" id="136" name="Google Shape;136;p7"/>
          <p:cNvPicPr preferRelativeResize="0"/>
          <p:nvPr/>
        </p:nvPicPr>
        <p:blipFill rotWithShape="1">
          <a:blip r:embed="rId7">
            <a:alphaModFix/>
          </a:blip>
          <a:srcRect b="0" l="0" r="0" t="0"/>
          <a:stretch/>
        </p:blipFill>
        <p:spPr>
          <a:xfrm>
            <a:off x="10321473" y="1755648"/>
            <a:ext cx="585216" cy="585216"/>
          </a:xfrm>
          <a:prstGeom prst="rect">
            <a:avLst/>
          </a:prstGeom>
          <a:noFill/>
          <a:ln>
            <a:noFill/>
          </a:ln>
        </p:spPr>
      </p:pic>
      <p:sp>
        <p:nvSpPr>
          <p:cNvPr id="137" name="Google Shape;137;p7"/>
          <p:cNvSpPr/>
          <p:nvPr/>
        </p:nvSpPr>
        <p:spPr>
          <a:xfrm>
            <a:off x="9676547" y="2423160"/>
            <a:ext cx="1875069" cy="50292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Industry partnerships</a:t>
            </a:r>
            <a:endParaRPr sz="1350">
              <a:solidFill>
                <a:schemeClr val="dk1"/>
              </a:solidFill>
              <a:latin typeface="Calibri"/>
              <a:ea typeface="Calibri"/>
              <a:cs typeface="Calibri"/>
              <a:sym typeface="Calibri"/>
            </a:endParaRPr>
          </a:p>
        </p:txBody>
      </p:sp>
      <p:sp>
        <p:nvSpPr>
          <p:cNvPr id="138" name="Google Shape;138;p7"/>
          <p:cNvSpPr/>
          <p:nvPr/>
        </p:nvSpPr>
        <p:spPr>
          <a:xfrm>
            <a:off x="9676547" y="2926080"/>
            <a:ext cx="1875069" cy="548640"/>
          </a:xfrm>
          <a:prstGeom prst="rect">
            <a:avLst/>
          </a:prstGeom>
          <a:noFill/>
          <a:ln>
            <a:noFill/>
          </a:ln>
        </p:spPr>
        <p:txBody>
          <a:bodyPr anchorCtr="0" anchor="ctr" bIns="45700" lIns="91425" spcFirstLastPara="1" rIns="91425" wrap="square" tIns="45700">
            <a:noAutofit/>
          </a:bodyPr>
          <a:lstStyle/>
          <a:p>
            <a:pPr indent="0" lvl="0" marL="0" marR="0" rtl="0" algn="ctr">
              <a:lnSpc>
                <a:spcPct val="110000"/>
              </a:lnSpc>
              <a:spcBef>
                <a:spcPts val="0"/>
              </a:spcBef>
              <a:spcAft>
                <a:spcPts val="0"/>
              </a:spcAft>
              <a:buClr>
                <a:srgbClr val="E4D6EE"/>
              </a:buClr>
              <a:buSzPts val="1050"/>
              <a:buFont typeface="Poppins"/>
              <a:buNone/>
            </a:pPr>
            <a:r>
              <a:rPr lang="en-US" sz="1050">
                <a:solidFill>
                  <a:srgbClr val="E4D6EE"/>
                </a:solidFill>
                <a:latin typeface="Poppins"/>
                <a:ea typeface="Poppins"/>
                <a:cs typeface="Poppins"/>
                <a:sym typeface="Poppins"/>
              </a:rPr>
              <a:t>Activity run through ESCG’s employer links</a:t>
            </a:r>
            <a:endParaRPr sz="1050">
              <a:solidFill>
                <a:schemeClr val="dk1"/>
              </a:solidFill>
              <a:latin typeface="Calibri"/>
              <a:ea typeface="Calibri"/>
              <a:cs typeface="Calibri"/>
              <a:sym typeface="Calibri"/>
            </a:endParaRPr>
          </a:p>
        </p:txBody>
      </p:sp>
      <p:sp>
        <p:nvSpPr>
          <p:cNvPr id="139" name="Google Shape;139;p7"/>
          <p:cNvSpPr/>
          <p:nvPr/>
        </p:nvSpPr>
        <p:spPr>
          <a:xfrm>
            <a:off x="548640" y="374904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350"/>
              <a:buFont typeface="Poppins"/>
              <a:buNone/>
            </a:pPr>
            <a:r>
              <a:rPr i="1" lang="en-US" sz="1350">
                <a:solidFill>
                  <a:srgbClr val="5A6A6F"/>
                </a:solidFill>
                <a:latin typeface="Poppins"/>
                <a:ea typeface="Poppins"/>
                <a:cs typeface="Poppins"/>
                <a:sym typeface="Poppins"/>
              </a:rPr>
              <a:t>Not every type suits every course — your tutor will confirm yours. On a T Level, your industry placement is separate and much bigger (around 315 hours); Skills Week is one part of it, not all of it.</a:t>
            </a:r>
            <a:endParaRPr sz="1350">
              <a:solidFill>
                <a:schemeClr val="dk1"/>
              </a:solidFill>
              <a:latin typeface="Calibri"/>
              <a:ea typeface="Calibri"/>
              <a:cs typeface="Calibri"/>
              <a:sym typeface="Calibri"/>
            </a:endParaRPr>
          </a:p>
        </p:txBody>
      </p:sp>
      <p:sp>
        <p:nvSpPr>
          <p:cNvPr id="140" name="Google Shape;140;p7"/>
          <p:cNvSpPr/>
          <p:nvPr/>
        </p:nvSpPr>
        <p:spPr>
          <a:xfrm>
            <a:off x="548640" y="4251960"/>
            <a:ext cx="11094415" cy="1432560"/>
          </a:xfrm>
          <a:prstGeom prst="roundRect">
            <a:avLst>
              <a:gd fmla="val 6957"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7"/>
          <p:cNvSpPr/>
          <p:nvPr/>
        </p:nvSpPr>
        <p:spPr>
          <a:xfrm>
            <a:off x="777240" y="4389120"/>
            <a:ext cx="106372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Haven’t got a placement yet?</a:t>
            </a:r>
            <a:endParaRPr sz="1600">
              <a:solidFill>
                <a:schemeClr val="dk1"/>
              </a:solidFill>
              <a:latin typeface="Calibri"/>
              <a:ea typeface="Calibri"/>
              <a:cs typeface="Calibri"/>
              <a:sym typeface="Calibri"/>
            </a:endParaRPr>
          </a:p>
        </p:txBody>
      </p:sp>
      <p:sp>
        <p:nvSpPr>
          <p:cNvPr id="142" name="Google Shape;142;p7"/>
          <p:cNvSpPr/>
          <p:nvPr/>
        </p:nvSpPr>
        <p:spPr>
          <a:xfrm>
            <a:off x="777240" y="4709160"/>
            <a:ext cx="10637215" cy="9296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That doesn’t mean Skills Week is wasted. You’ll come into college and work on an employer-set brief — a real task from a real employer — plus employer talks. Treat it exactly as you would a client job.</a:t>
            </a:r>
            <a:endParaRPr sz="1350">
              <a:solidFill>
                <a:schemeClr val="dk1"/>
              </a:solidFill>
              <a:latin typeface="Calibri"/>
              <a:ea typeface="Calibri"/>
              <a:cs typeface="Calibri"/>
              <a:sym typeface="Calibri"/>
            </a:endParaRPr>
          </a:p>
        </p:txBody>
      </p:sp>
      <p:sp>
        <p:nvSpPr>
          <p:cNvPr id="143" name="Google Shape;143;p7"/>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144" name="Google Shape;144;p7"/>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5</a:t>
            </a:r>
            <a:endParaRPr sz="10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49" name="Shape 149"/>
        <p:cNvGrpSpPr/>
        <p:nvPr/>
      </p:nvGrpSpPr>
      <p:grpSpPr>
        <a:xfrm>
          <a:off x="0" y="0"/>
          <a:ext cx="0" cy="0"/>
          <a:chOff x="0" y="0"/>
          <a:chExt cx="0" cy="0"/>
        </a:xfrm>
      </p:grpSpPr>
      <p:sp>
        <p:nvSpPr>
          <p:cNvPr id="150" name="Google Shape;150;p8"/>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The dates you need to know</a:t>
            </a:r>
            <a:endParaRPr sz="3050">
              <a:solidFill>
                <a:schemeClr val="dk1"/>
              </a:solidFill>
              <a:latin typeface="Calibri"/>
              <a:ea typeface="Calibri"/>
              <a:cs typeface="Calibri"/>
              <a:sym typeface="Calibri"/>
            </a:endParaRPr>
          </a:p>
        </p:txBody>
      </p:sp>
      <p:sp>
        <p:nvSpPr>
          <p:cNvPr id="151" name="Google Shape;151;p8"/>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8"/>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153" name="Google Shape;153;p8"/>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54" name="Google Shape;154;p8"/>
          <p:cNvSpPr/>
          <p:nvPr/>
        </p:nvSpPr>
        <p:spPr>
          <a:xfrm>
            <a:off x="548640" y="1600200"/>
            <a:ext cx="5364328" cy="2103120"/>
          </a:xfrm>
          <a:prstGeom prst="roundRect">
            <a:avLst>
              <a:gd fmla="val 4348"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alendar.png" id="155" name="Google Shape;155;p8"/>
          <p:cNvPicPr preferRelativeResize="0"/>
          <p:nvPr/>
        </p:nvPicPr>
        <p:blipFill rotWithShape="1">
          <a:blip r:embed="rId3">
            <a:alphaModFix/>
          </a:blip>
          <a:srcRect b="0" l="0" r="0" t="0"/>
          <a:stretch/>
        </p:blipFill>
        <p:spPr>
          <a:xfrm>
            <a:off x="822960" y="1828800"/>
            <a:ext cx="502920" cy="502920"/>
          </a:xfrm>
          <a:prstGeom prst="rect">
            <a:avLst/>
          </a:prstGeom>
          <a:noFill/>
          <a:ln>
            <a:noFill/>
          </a:ln>
        </p:spPr>
      </p:pic>
      <p:sp>
        <p:nvSpPr>
          <p:cNvPr id="156" name="Google Shape;156;p8"/>
          <p:cNvSpPr/>
          <p:nvPr/>
        </p:nvSpPr>
        <p:spPr>
          <a:xfrm>
            <a:off x="1463040" y="1847088"/>
            <a:ext cx="44499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00"/>
              <a:buFont typeface="Poppins SemiBold"/>
              <a:buNone/>
            </a:pPr>
            <a:r>
              <a:rPr lang="en-US" sz="1500">
                <a:solidFill>
                  <a:srgbClr val="FFCF01"/>
                </a:solidFill>
                <a:latin typeface="Poppins SemiBold"/>
                <a:ea typeface="Poppins SemiBold"/>
                <a:cs typeface="Poppins SemiBold"/>
                <a:sym typeface="Poppins SemiBold"/>
              </a:rPr>
              <a:t>SKILLS WEEK</a:t>
            </a:r>
            <a:endParaRPr sz="1500">
              <a:solidFill>
                <a:schemeClr val="dk1"/>
              </a:solidFill>
              <a:latin typeface="Calibri"/>
              <a:ea typeface="Calibri"/>
              <a:cs typeface="Calibri"/>
              <a:sym typeface="Calibri"/>
            </a:endParaRPr>
          </a:p>
        </p:txBody>
      </p:sp>
      <p:sp>
        <p:nvSpPr>
          <p:cNvPr id="157" name="Google Shape;157;p8"/>
          <p:cNvSpPr/>
          <p:nvPr/>
        </p:nvSpPr>
        <p:spPr>
          <a:xfrm>
            <a:off x="822960" y="2514600"/>
            <a:ext cx="481568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Monday 8 March 2027</a:t>
            </a:r>
            <a:endParaRPr sz="2600">
              <a:solidFill>
                <a:schemeClr val="dk1"/>
              </a:solidFill>
              <a:latin typeface="Calibri"/>
              <a:ea typeface="Calibri"/>
              <a:cs typeface="Calibri"/>
              <a:sym typeface="Calibri"/>
            </a:endParaRPr>
          </a:p>
        </p:txBody>
      </p:sp>
      <p:sp>
        <p:nvSpPr>
          <p:cNvPr id="158" name="Google Shape;158;p8"/>
          <p:cNvSpPr/>
          <p:nvPr/>
        </p:nvSpPr>
        <p:spPr>
          <a:xfrm>
            <a:off x="822960" y="3063240"/>
            <a:ext cx="481568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E4D6EE"/>
              </a:buClr>
              <a:buSzPts val="1350"/>
              <a:buFont typeface="Poppins"/>
              <a:buNone/>
            </a:pPr>
            <a:r>
              <a:rPr lang="en-US" sz="1350">
                <a:solidFill>
                  <a:srgbClr val="E4D6EE"/>
                </a:solidFill>
                <a:latin typeface="Poppins"/>
                <a:ea typeface="Poppins"/>
                <a:cs typeface="Poppins"/>
                <a:sym typeface="Poppins"/>
              </a:rPr>
              <a:t>This is your Work Experience week — the placement itself happens here.</a:t>
            </a:r>
            <a:endParaRPr sz="1350">
              <a:solidFill>
                <a:schemeClr val="dk1"/>
              </a:solidFill>
              <a:latin typeface="Calibri"/>
              <a:ea typeface="Calibri"/>
              <a:cs typeface="Calibri"/>
              <a:sym typeface="Calibri"/>
            </a:endParaRPr>
          </a:p>
        </p:txBody>
      </p:sp>
      <p:sp>
        <p:nvSpPr>
          <p:cNvPr id="159" name="Google Shape;159;p8"/>
          <p:cNvSpPr/>
          <p:nvPr/>
        </p:nvSpPr>
        <p:spPr>
          <a:xfrm>
            <a:off x="6278728" y="1600200"/>
            <a:ext cx="5364328" cy="2103120"/>
          </a:xfrm>
          <a:prstGeom prst="roundRect">
            <a:avLst>
              <a:gd fmla="val 4348"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clock.png" id="160" name="Google Shape;160;p8"/>
          <p:cNvPicPr preferRelativeResize="0"/>
          <p:nvPr/>
        </p:nvPicPr>
        <p:blipFill rotWithShape="1">
          <a:blip r:embed="rId4">
            <a:alphaModFix/>
          </a:blip>
          <a:srcRect b="0" l="0" r="0" t="0"/>
          <a:stretch/>
        </p:blipFill>
        <p:spPr>
          <a:xfrm>
            <a:off x="6553048" y="1828800"/>
            <a:ext cx="502920" cy="502920"/>
          </a:xfrm>
          <a:prstGeom prst="rect">
            <a:avLst/>
          </a:prstGeom>
          <a:noFill/>
          <a:ln>
            <a:noFill/>
          </a:ln>
        </p:spPr>
      </p:pic>
      <p:sp>
        <p:nvSpPr>
          <p:cNvPr id="161" name="Google Shape;161;p8"/>
          <p:cNvSpPr/>
          <p:nvPr/>
        </p:nvSpPr>
        <p:spPr>
          <a:xfrm>
            <a:off x="7193128" y="1847088"/>
            <a:ext cx="4449928"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500"/>
              <a:buFont typeface="Poppins SemiBold"/>
              <a:buNone/>
            </a:pPr>
            <a:r>
              <a:rPr lang="en-US" sz="1500">
                <a:solidFill>
                  <a:srgbClr val="FFCF01"/>
                </a:solidFill>
                <a:latin typeface="Poppins SemiBold"/>
                <a:ea typeface="Poppins SemiBold"/>
                <a:cs typeface="Poppins SemiBold"/>
                <a:sym typeface="Poppins SemiBold"/>
              </a:rPr>
              <a:t>REQUEST DEADLINE</a:t>
            </a:r>
            <a:endParaRPr sz="1500">
              <a:solidFill>
                <a:schemeClr val="dk1"/>
              </a:solidFill>
              <a:latin typeface="Calibri"/>
              <a:ea typeface="Calibri"/>
              <a:cs typeface="Calibri"/>
              <a:sym typeface="Calibri"/>
            </a:endParaRPr>
          </a:p>
        </p:txBody>
      </p:sp>
      <p:sp>
        <p:nvSpPr>
          <p:cNvPr id="162" name="Google Shape;162;p8"/>
          <p:cNvSpPr/>
          <p:nvPr/>
        </p:nvSpPr>
        <p:spPr>
          <a:xfrm>
            <a:off x="6553048" y="2514600"/>
            <a:ext cx="4815688"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Friday 5 February 2027</a:t>
            </a:r>
            <a:endParaRPr sz="2600">
              <a:solidFill>
                <a:schemeClr val="dk1"/>
              </a:solidFill>
              <a:latin typeface="Calibri"/>
              <a:ea typeface="Calibri"/>
              <a:cs typeface="Calibri"/>
              <a:sym typeface="Calibri"/>
            </a:endParaRPr>
          </a:p>
        </p:txBody>
      </p:sp>
      <p:sp>
        <p:nvSpPr>
          <p:cNvPr id="163" name="Google Shape;163;p8"/>
          <p:cNvSpPr/>
          <p:nvPr/>
        </p:nvSpPr>
        <p:spPr>
          <a:xfrm>
            <a:off x="6553048" y="3063240"/>
            <a:ext cx="4815688" cy="5486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D9E4E8"/>
              </a:buClr>
              <a:buSzPts val="1350"/>
              <a:buFont typeface="Poppins"/>
              <a:buNone/>
            </a:pPr>
            <a:r>
              <a:rPr lang="en-US" sz="1350">
                <a:solidFill>
                  <a:srgbClr val="D9E4E8"/>
                </a:solidFill>
                <a:latin typeface="Poppins"/>
                <a:ea typeface="Poppins"/>
                <a:cs typeface="Poppins"/>
                <a:sym typeface="Poppins"/>
              </a:rPr>
              <a:t>Your placement must be requested on Navigate by this date — at least 4 weeks before Skills Week.</a:t>
            </a:r>
            <a:endParaRPr sz="1350">
              <a:solidFill>
                <a:schemeClr val="dk1"/>
              </a:solidFill>
              <a:latin typeface="Calibri"/>
              <a:ea typeface="Calibri"/>
              <a:cs typeface="Calibri"/>
              <a:sym typeface="Calibri"/>
            </a:endParaRPr>
          </a:p>
        </p:txBody>
      </p:sp>
      <p:sp>
        <p:nvSpPr>
          <p:cNvPr id="164" name="Google Shape;164;p8"/>
          <p:cNvSpPr/>
          <p:nvPr/>
        </p:nvSpPr>
        <p:spPr>
          <a:xfrm>
            <a:off x="548640" y="393192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Why 4 weeks?</a:t>
            </a:r>
            <a:endParaRPr sz="1600">
              <a:solidFill>
                <a:schemeClr val="dk1"/>
              </a:solidFill>
              <a:latin typeface="Calibri"/>
              <a:ea typeface="Calibri"/>
              <a:cs typeface="Calibri"/>
              <a:sym typeface="Calibri"/>
            </a:endParaRPr>
          </a:p>
        </p:txBody>
      </p:sp>
      <p:sp>
        <p:nvSpPr>
          <p:cNvPr id="165" name="Google Shape;165;p8"/>
          <p:cNvSpPr/>
          <p:nvPr/>
        </p:nvSpPr>
        <p:spPr>
          <a:xfrm>
            <a:off x="548640" y="4297680"/>
            <a:ext cx="1109441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It gives the Careers &amp; Employability team time to check your employer — health &amp; safety, insurance and safeguarding checks — before you’re allowed to start. Miss the deadline and there may not be time to approve your placement before Skills Week. Some placements also need a DBS check, or the employer’s own IT and confidentiality rules.</a:t>
            </a:r>
            <a:endParaRPr sz="1350">
              <a:solidFill>
                <a:schemeClr val="dk1"/>
              </a:solidFill>
              <a:latin typeface="Calibri"/>
              <a:ea typeface="Calibri"/>
              <a:cs typeface="Calibri"/>
              <a:sym typeface="Calibri"/>
            </a:endParaRPr>
          </a:p>
        </p:txBody>
      </p:sp>
      <p:sp>
        <p:nvSpPr>
          <p:cNvPr id="166" name="Google Shape;166;p8"/>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167" name="Google Shape;167;p8"/>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6</a:t>
            </a:r>
            <a:endParaRPr sz="10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2" name="Shape 172"/>
        <p:cNvGrpSpPr/>
        <p:nvPr/>
      </p:nvGrpSpPr>
      <p:grpSpPr>
        <a:xfrm>
          <a:off x="0" y="0"/>
          <a:ext cx="0" cy="0"/>
          <a:chOff x="0" y="0"/>
          <a:chExt cx="0" cy="0"/>
        </a:xfrm>
      </p:grpSpPr>
      <p:sp>
        <p:nvSpPr>
          <p:cNvPr id="173" name="Google Shape;173;p9"/>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Finding and applying for a placement</a:t>
            </a:r>
            <a:endParaRPr sz="3050">
              <a:solidFill>
                <a:schemeClr val="dk1"/>
              </a:solidFill>
              <a:latin typeface="Calibri"/>
              <a:ea typeface="Calibri"/>
              <a:cs typeface="Calibri"/>
              <a:sym typeface="Calibri"/>
            </a:endParaRPr>
          </a:p>
        </p:txBody>
      </p:sp>
      <p:sp>
        <p:nvSpPr>
          <p:cNvPr id="174" name="Google Shape;174;p9"/>
          <p:cNvSpPr/>
          <p:nvPr/>
        </p:nvSpPr>
        <p:spPr>
          <a:xfrm>
            <a:off x="10481767" y="292608"/>
            <a:ext cx="134416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 name="Google Shape;175;p9"/>
          <p:cNvSpPr/>
          <p:nvPr/>
        </p:nvSpPr>
        <p:spPr>
          <a:xfrm>
            <a:off x="10481767" y="292608"/>
            <a:ext cx="134416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ACTIVITY</a:t>
            </a:r>
            <a:endParaRPr sz="1200">
              <a:solidFill>
                <a:schemeClr val="dk1"/>
              </a:solidFill>
              <a:latin typeface="Calibri"/>
              <a:ea typeface="Calibri"/>
              <a:cs typeface="Calibri"/>
              <a:sym typeface="Calibri"/>
            </a:endParaRPr>
          </a:p>
        </p:txBody>
      </p:sp>
      <p:cxnSp>
        <p:nvCxnSpPr>
          <p:cNvPr id="176" name="Google Shape;176;p9"/>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177" name="Google Shape;177;p9"/>
          <p:cNvSpPr/>
          <p:nvPr/>
        </p:nvSpPr>
        <p:spPr>
          <a:xfrm>
            <a:off x="548640" y="1508760"/>
            <a:ext cx="11094415" cy="822960"/>
          </a:xfrm>
          <a:prstGeom prst="roundRect">
            <a:avLst>
              <a:gd fmla="val 8889" name="adj"/>
            </a:avLst>
          </a:prstGeom>
          <a:solidFill>
            <a:srgbClr val="EDE6F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navigate.png" id="178" name="Google Shape;178;p9"/>
          <p:cNvPicPr preferRelativeResize="0"/>
          <p:nvPr/>
        </p:nvPicPr>
        <p:blipFill rotWithShape="1">
          <a:blip r:embed="rId3">
            <a:alphaModFix/>
          </a:blip>
          <a:srcRect b="0" l="0" r="0" t="0"/>
          <a:stretch/>
        </p:blipFill>
        <p:spPr>
          <a:xfrm>
            <a:off x="777240" y="1691640"/>
            <a:ext cx="457200" cy="457200"/>
          </a:xfrm>
          <a:prstGeom prst="rect">
            <a:avLst/>
          </a:prstGeom>
          <a:noFill/>
          <a:ln>
            <a:noFill/>
          </a:ln>
        </p:spPr>
      </p:pic>
      <p:sp>
        <p:nvSpPr>
          <p:cNvPr id="179" name="Google Shape;179;p9"/>
          <p:cNvSpPr/>
          <p:nvPr/>
        </p:nvSpPr>
        <p:spPr>
          <a:xfrm>
            <a:off x="1417320" y="1572768"/>
            <a:ext cx="9997135" cy="713232"/>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B2A30"/>
              </a:buClr>
              <a:buSzPts val="1550"/>
              <a:buFont typeface="Poppins"/>
              <a:buNone/>
            </a:pPr>
            <a:r>
              <a:rPr b="1" lang="en-US" sz="1550">
                <a:solidFill>
                  <a:srgbClr val="1B2A30"/>
                </a:solidFill>
                <a:latin typeface="Poppins"/>
                <a:ea typeface="Poppins"/>
                <a:cs typeface="Poppins"/>
                <a:sym typeface="Poppins"/>
              </a:rPr>
              <a:t>You’ll source and request your placement through Navigate. </a:t>
            </a:r>
            <a:r>
              <a:rPr lang="en-US" sz="1550">
                <a:solidFill>
                  <a:srgbClr val="1B2A30"/>
                </a:solidFill>
                <a:latin typeface="Poppins"/>
                <a:ea typeface="Poppins"/>
                <a:cs typeface="Poppins"/>
                <a:sym typeface="Poppins"/>
              </a:rPr>
              <a:t>For a full, hands-on walkthrough, see </a:t>
            </a:r>
            <a:r>
              <a:rPr b="1" lang="en-US" sz="1550">
                <a:solidFill>
                  <a:srgbClr val="592C82"/>
                </a:solidFill>
                <a:latin typeface="Poppins"/>
                <a:ea typeface="Poppins"/>
                <a:cs typeface="Poppins"/>
                <a:sym typeface="Poppins"/>
              </a:rPr>
              <a:t>Module H — How to Use Navigate.</a:t>
            </a:r>
            <a:endParaRPr sz="1550">
              <a:solidFill>
                <a:schemeClr val="dk1"/>
              </a:solidFill>
              <a:latin typeface="Calibri"/>
              <a:ea typeface="Calibri"/>
              <a:cs typeface="Calibri"/>
              <a:sym typeface="Calibri"/>
            </a:endParaRPr>
          </a:p>
        </p:txBody>
      </p:sp>
      <p:sp>
        <p:nvSpPr>
          <p:cNvPr id="180" name="Google Shape;180;p9"/>
          <p:cNvSpPr/>
          <p:nvPr/>
        </p:nvSpPr>
        <p:spPr>
          <a:xfrm>
            <a:off x="548640" y="251460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You’ll need this information ready before you request a placement:</a:t>
            </a:r>
            <a:endParaRPr sz="1600">
              <a:solidFill>
                <a:schemeClr val="dk1"/>
              </a:solidFill>
              <a:latin typeface="Calibri"/>
              <a:ea typeface="Calibri"/>
              <a:cs typeface="Calibri"/>
              <a:sym typeface="Calibri"/>
            </a:endParaRPr>
          </a:p>
        </p:txBody>
      </p:sp>
      <p:sp>
        <p:nvSpPr>
          <p:cNvPr id="181" name="Google Shape;181;p9"/>
          <p:cNvSpPr/>
          <p:nvPr/>
        </p:nvSpPr>
        <p:spPr>
          <a:xfrm>
            <a:off x="548640" y="29718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9"/>
          <p:cNvSpPr/>
          <p:nvPr/>
        </p:nvSpPr>
        <p:spPr>
          <a:xfrm>
            <a:off x="841248" y="29260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Company name &amp; full address</a:t>
            </a:r>
            <a:endParaRPr sz="1400">
              <a:solidFill>
                <a:schemeClr val="dk1"/>
              </a:solidFill>
              <a:latin typeface="Calibri"/>
              <a:ea typeface="Calibri"/>
              <a:cs typeface="Calibri"/>
              <a:sym typeface="Calibri"/>
            </a:endParaRPr>
          </a:p>
        </p:txBody>
      </p:sp>
      <p:sp>
        <p:nvSpPr>
          <p:cNvPr id="183" name="Google Shape;183;p9"/>
          <p:cNvSpPr/>
          <p:nvPr/>
        </p:nvSpPr>
        <p:spPr>
          <a:xfrm>
            <a:off x="6278728" y="29718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9"/>
          <p:cNvSpPr/>
          <p:nvPr/>
        </p:nvSpPr>
        <p:spPr>
          <a:xfrm>
            <a:off x="6571336" y="29260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Employer contact name, phone &amp; email</a:t>
            </a:r>
            <a:endParaRPr sz="1400">
              <a:solidFill>
                <a:schemeClr val="dk1"/>
              </a:solidFill>
              <a:latin typeface="Calibri"/>
              <a:ea typeface="Calibri"/>
              <a:cs typeface="Calibri"/>
              <a:sym typeface="Calibri"/>
            </a:endParaRPr>
          </a:p>
        </p:txBody>
      </p:sp>
      <p:sp>
        <p:nvSpPr>
          <p:cNvPr id="185" name="Google Shape;185;p9"/>
          <p:cNvSpPr/>
          <p:nvPr/>
        </p:nvSpPr>
        <p:spPr>
          <a:xfrm>
            <a:off x="548640" y="34290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841248" y="33832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Start and end dates</a:t>
            </a:r>
            <a:endParaRPr sz="1400">
              <a:solidFill>
                <a:schemeClr val="dk1"/>
              </a:solidFill>
              <a:latin typeface="Calibri"/>
              <a:ea typeface="Calibri"/>
              <a:cs typeface="Calibri"/>
              <a:sym typeface="Calibri"/>
            </a:endParaRPr>
          </a:p>
        </p:txBody>
      </p:sp>
      <p:sp>
        <p:nvSpPr>
          <p:cNvPr id="187" name="Google Shape;187;p9"/>
          <p:cNvSpPr/>
          <p:nvPr/>
        </p:nvSpPr>
        <p:spPr>
          <a:xfrm>
            <a:off x="6278728" y="34290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9"/>
          <p:cNvSpPr/>
          <p:nvPr/>
        </p:nvSpPr>
        <p:spPr>
          <a:xfrm>
            <a:off x="6571336" y="33832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The days and times you’ve agreed</a:t>
            </a:r>
            <a:endParaRPr sz="1400">
              <a:solidFill>
                <a:schemeClr val="dk1"/>
              </a:solidFill>
              <a:latin typeface="Calibri"/>
              <a:ea typeface="Calibri"/>
              <a:cs typeface="Calibri"/>
              <a:sym typeface="Calibri"/>
            </a:endParaRPr>
          </a:p>
        </p:txBody>
      </p:sp>
      <p:sp>
        <p:nvSpPr>
          <p:cNvPr id="189" name="Google Shape;189;p9"/>
          <p:cNvSpPr/>
          <p:nvPr/>
        </p:nvSpPr>
        <p:spPr>
          <a:xfrm>
            <a:off x="548640" y="38862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9"/>
          <p:cNvSpPr/>
          <p:nvPr/>
        </p:nvSpPr>
        <p:spPr>
          <a:xfrm>
            <a:off x="841248" y="38404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Your tutor’s name</a:t>
            </a:r>
            <a:endParaRPr sz="1400">
              <a:solidFill>
                <a:schemeClr val="dk1"/>
              </a:solidFill>
              <a:latin typeface="Calibri"/>
              <a:ea typeface="Calibri"/>
              <a:cs typeface="Calibri"/>
              <a:sym typeface="Calibri"/>
            </a:endParaRPr>
          </a:p>
        </p:txBody>
      </p:sp>
      <p:sp>
        <p:nvSpPr>
          <p:cNvPr id="191" name="Google Shape;191;p9"/>
          <p:cNvSpPr/>
          <p:nvPr/>
        </p:nvSpPr>
        <p:spPr>
          <a:xfrm>
            <a:off x="6278728" y="3886200"/>
            <a:ext cx="164592" cy="164592"/>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9"/>
          <p:cNvSpPr/>
          <p:nvPr/>
        </p:nvSpPr>
        <p:spPr>
          <a:xfrm>
            <a:off x="6571336" y="3840480"/>
            <a:ext cx="5071720"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What tasks/role you’ll be doing</a:t>
            </a:r>
            <a:endParaRPr sz="1400">
              <a:solidFill>
                <a:schemeClr val="dk1"/>
              </a:solidFill>
              <a:latin typeface="Calibri"/>
              <a:ea typeface="Calibri"/>
              <a:cs typeface="Calibri"/>
              <a:sym typeface="Calibri"/>
            </a:endParaRPr>
          </a:p>
        </p:txBody>
      </p:sp>
      <p:sp>
        <p:nvSpPr>
          <p:cNvPr id="193" name="Google Shape;193;p9"/>
          <p:cNvSpPr/>
          <p:nvPr/>
        </p:nvSpPr>
        <p:spPr>
          <a:xfrm>
            <a:off x="548640" y="4343400"/>
            <a:ext cx="1109441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300"/>
              <a:buFont typeface="Poppins"/>
              <a:buNone/>
            </a:pPr>
            <a:r>
              <a:rPr i="1" lang="en-US" sz="1300">
                <a:solidFill>
                  <a:srgbClr val="5A6A6F"/>
                </a:solidFill>
                <a:latin typeface="Poppins"/>
                <a:ea typeface="Poppins"/>
                <a:cs typeface="Poppins"/>
                <a:sym typeface="Poppins"/>
              </a:rPr>
              <a:t>Placements must fit within college hours (8.30am–5.30pm), max 8-hour day. Agency, studio and IT support hours fit easily; shoots, events and live broadcasts may not — agree your times in writing before you request.</a:t>
            </a:r>
            <a:endParaRPr sz="1300">
              <a:solidFill>
                <a:schemeClr val="dk1"/>
              </a:solidFill>
              <a:latin typeface="Calibri"/>
              <a:ea typeface="Calibri"/>
              <a:cs typeface="Calibri"/>
              <a:sym typeface="Calibri"/>
            </a:endParaRPr>
          </a:p>
        </p:txBody>
      </p:sp>
      <p:sp>
        <p:nvSpPr>
          <p:cNvPr id="194" name="Google Shape;194;p9"/>
          <p:cNvSpPr/>
          <p:nvPr/>
        </p:nvSpPr>
        <p:spPr>
          <a:xfrm>
            <a:off x="548640" y="4754880"/>
            <a:ext cx="11094415" cy="1554480"/>
          </a:xfrm>
          <a:prstGeom prst="roundRect">
            <a:avLst>
              <a:gd fmla="val 5882" name="adj"/>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mystudentlife.png" id="195" name="Google Shape;195;p9"/>
          <p:cNvPicPr preferRelativeResize="0"/>
          <p:nvPr/>
        </p:nvPicPr>
        <p:blipFill rotWithShape="1">
          <a:blip r:embed="rId4">
            <a:alphaModFix/>
          </a:blip>
          <a:srcRect b="0" l="0" r="0" t="0"/>
          <a:stretch/>
        </p:blipFill>
        <p:spPr>
          <a:xfrm>
            <a:off x="777240" y="4956048"/>
            <a:ext cx="2103120" cy="1207008"/>
          </a:xfrm>
          <a:prstGeom prst="rect">
            <a:avLst/>
          </a:prstGeom>
          <a:noFill/>
          <a:ln>
            <a:noFill/>
          </a:ln>
        </p:spPr>
      </p:pic>
      <p:sp>
        <p:nvSpPr>
          <p:cNvPr id="196" name="Google Shape;196;p9"/>
          <p:cNvSpPr/>
          <p:nvPr/>
        </p:nvSpPr>
        <p:spPr>
          <a:xfrm>
            <a:off x="3108960" y="4937760"/>
            <a:ext cx="844265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600"/>
              <a:buFont typeface="Poppins SemiBold"/>
              <a:buNone/>
            </a:pPr>
            <a:r>
              <a:rPr lang="en-US" sz="1600">
                <a:solidFill>
                  <a:srgbClr val="1B2A30"/>
                </a:solidFill>
                <a:latin typeface="Poppins SemiBold"/>
                <a:ea typeface="Poppins SemiBold"/>
                <a:cs typeface="Poppins SemiBold"/>
                <a:sym typeface="Poppins SemiBold"/>
              </a:rPr>
              <a:t>Navigate lives inside My Student Life</a:t>
            </a:r>
            <a:endParaRPr sz="1600">
              <a:solidFill>
                <a:schemeClr val="dk1"/>
              </a:solidFill>
              <a:latin typeface="Calibri"/>
              <a:ea typeface="Calibri"/>
              <a:cs typeface="Calibri"/>
              <a:sym typeface="Calibri"/>
            </a:endParaRPr>
          </a:p>
        </p:txBody>
      </p:sp>
      <p:sp>
        <p:nvSpPr>
          <p:cNvPr id="197" name="Google Shape;197;p9"/>
          <p:cNvSpPr/>
          <p:nvPr/>
        </p:nvSpPr>
        <p:spPr>
          <a:xfrm>
            <a:off x="3108960" y="5285232"/>
            <a:ext cx="8442655" cy="50292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Find it via My Student Life — the College’s student hub on the intranet. Or go straight to the login:</a:t>
            </a:r>
            <a:endParaRPr sz="1350">
              <a:solidFill>
                <a:schemeClr val="dk1"/>
              </a:solidFill>
              <a:latin typeface="Calibri"/>
              <a:ea typeface="Calibri"/>
              <a:cs typeface="Calibri"/>
              <a:sym typeface="Calibri"/>
            </a:endParaRPr>
          </a:p>
        </p:txBody>
      </p:sp>
      <p:sp>
        <p:nvSpPr>
          <p:cNvPr id="198" name="Google Shape;198;p9">
            <a:hlinkClick r:id="rId5"/>
          </p:cNvPr>
          <p:cNvSpPr/>
          <p:nvPr/>
        </p:nvSpPr>
        <p:spPr>
          <a:xfrm>
            <a:off x="3108960" y="5779008"/>
            <a:ext cx="844265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500"/>
              <a:buFont typeface="Poppins SemiBold"/>
              <a:buNone/>
            </a:pPr>
            <a:r>
              <a:rPr lang="en-US" sz="1500" u="sng">
                <a:solidFill>
                  <a:srgbClr val="592C82"/>
                </a:solidFill>
                <a:latin typeface="Poppins SemiBold"/>
                <a:ea typeface="Poppins SemiBold"/>
                <a:cs typeface="Poppins SemiBold"/>
                <a:sym typeface="Poppins SemiBold"/>
                <a:hlinkClick r:id="rId6">
                  <a:extLst>
                    <a:ext uri="{A12FA001-AC4F-418D-AE19-62706E023703}">
                      <ahyp:hlinkClr val="tx"/>
                    </a:ext>
                  </a:extLst>
                </a:hlinkClick>
              </a:rPr>
              <a:t>login.navigate.uk.com</a:t>
            </a:r>
            <a:endParaRPr sz="1500">
              <a:solidFill>
                <a:schemeClr val="dk1"/>
              </a:solidFill>
              <a:latin typeface="Calibri"/>
              <a:ea typeface="Calibri"/>
              <a:cs typeface="Calibri"/>
              <a:sym typeface="Calibri"/>
            </a:endParaRPr>
          </a:p>
        </p:txBody>
      </p:sp>
      <p:sp>
        <p:nvSpPr>
          <p:cNvPr id="199" name="Google Shape;199;p9"/>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200" name="Google Shape;200;p9"/>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7</a:t>
            </a:r>
            <a:endParaRPr sz="10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05" name="Shape 205"/>
        <p:cNvGrpSpPr/>
        <p:nvPr/>
      </p:nvGrpSpPr>
      <p:grpSpPr>
        <a:xfrm>
          <a:off x="0" y="0"/>
          <a:ext cx="0" cy="0"/>
          <a:chOff x="0" y="0"/>
          <a:chExt cx="0" cy="0"/>
        </a:xfrm>
      </p:grpSpPr>
      <p:sp>
        <p:nvSpPr>
          <p:cNvPr id="206" name="Google Shape;206;p10"/>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Who to go to for help</a:t>
            </a:r>
            <a:endParaRPr sz="3050">
              <a:solidFill>
                <a:schemeClr val="dk1"/>
              </a:solidFill>
              <a:latin typeface="Calibri"/>
              <a:ea typeface="Calibri"/>
              <a:cs typeface="Calibri"/>
              <a:sym typeface="Calibri"/>
            </a:endParaRPr>
          </a:p>
        </p:txBody>
      </p:sp>
      <p:sp>
        <p:nvSpPr>
          <p:cNvPr id="207" name="Google Shape;207;p10"/>
          <p:cNvSpPr/>
          <p:nvPr/>
        </p:nvSpPr>
        <p:spPr>
          <a:xfrm>
            <a:off x="9955987" y="292608"/>
            <a:ext cx="186994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0"/>
          <p:cNvSpPr/>
          <p:nvPr/>
        </p:nvSpPr>
        <p:spPr>
          <a:xfrm>
            <a:off x="9955987" y="292608"/>
            <a:ext cx="186994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TEACHER INPUT</a:t>
            </a:r>
            <a:endParaRPr sz="1200">
              <a:solidFill>
                <a:schemeClr val="dk1"/>
              </a:solidFill>
              <a:latin typeface="Calibri"/>
              <a:ea typeface="Calibri"/>
              <a:cs typeface="Calibri"/>
              <a:sym typeface="Calibri"/>
            </a:endParaRPr>
          </a:p>
        </p:txBody>
      </p:sp>
      <p:cxnSp>
        <p:nvCxnSpPr>
          <p:cNvPr id="209" name="Google Shape;209;p10"/>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210" name="Google Shape;210;p10"/>
          <p:cNvSpPr/>
          <p:nvPr/>
        </p:nvSpPr>
        <p:spPr>
          <a:xfrm>
            <a:off x="548640" y="1417320"/>
            <a:ext cx="11094415"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550"/>
              <a:buFont typeface="Poppins"/>
              <a:buNone/>
            </a:pPr>
            <a:r>
              <a:rPr lang="en-US" sz="1550">
                <a:solidFill>
                  <a:srgbClr val="5A6A6F"/>
                </a:solidFill>
                <a:latin typeface="Poppins"/>
                <a:ea typeface="Poppins"/>
                <a:cs typeface="Poppins"/>
                <a:sym typeface="Poppins"/>
              </a:rPr>
              <a:t>Every campus has a Careers &amp; Employability team — pop in, or email. This department runs at Eastbourne, Hastings (Station Plaza), Hastings (Ore) and Lewes.</a:t>
            </a:r>
            <a:endParaRPr sz="1550">
              <a:solidFill>
                <a:schemeClr val="dk1"/>
              </a:solidFill>
              <a:latin typeface="Calibri"/>
              <a:ea typeface="Calibri"/>
              <a:cs typeface="Calibri"/>
              <a:sym typeface="Calibri"/>
            </a:endParaRPr>
          </a:p>
        </p:txBody>
      </p:sp>
      <p:sp>
        <p:nvSpPr>
          <p:cNvPr id="211" name="Google Shape;211;p10"/>
          <p:cNvSpPr/>
          <p:nvPr/>
        </p:nvSpPr>
        <p:spPr>
          <a:xfrm>
            <a:off x="548640" y="1965960"/>
            <a:ext cx="11094415" cy="384048"/>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10"/>
          <p:cNvSpPr/>
          <p:nvPr/>
        </p:nvSpPr>
        <p:spPr>
          <a:xfrm>
            <a:off x="777240" y="1965960"/>
            <a:ext cx="23774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Campus</a:t>
            </a:r>
            <a:endParaRPr sz="1350">
              <a:solidFill>
                <a:schemeClr val="dk1"/>
              </a:solidFill>
              <a:latin typeface="Calibri"/>
              <a:ea typeface="Calibri"/>
              <a:cs typeface="Calibri"/>
              <a:sym typeface="Calibri"/>
            </a:endParaRPr>
          </a:p>
        </p:txBody>
      </p:sp>
      <p:sp>
        <p:nvSpPr>
          <p:cNvPr id="213" name="Google Shape;213;p10"/>
          <p:cNvSpPr/>
          <p:nvPr/>
        </p:nvSpPr>
        <p:spPr>
          <a:xfrm>
            <a:off x="3291840" y="1965960"/>
            <a:ext cx="329184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Base room</a:t>
            </a:r>
            <a:endParaRPr sz="1350">
              <a:solidFill>
                <a:schemeClr val="dk1"/>
              </a:solidFill>
              <a:latin typeface="Calibri"/>
              <a:ea typeface="Calibri"/>
              <a:cs typeface="Calibri"/>
              <a:sym typeface="Calibri"/>
            </a:endParaRPr>
          </a:p>
        </p:txBody>
      </p:sp>
      <p:sp>
        <p:nvSpPr>
          <p:cNvPr id="214" name="Google Shape;214;p10"/>
          <p:cNvSpPr/>
          <p:nvPr/>
        </p:nvSpPr>
        <p:spPr>
          <a:xfrm>
            <a:off x="6766560" y="1965960"/>
            <a:ext cx="4572000" cy="38404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SemiBold"/>
              <a:buNone/>
            </a:pPr>
            <a:r>
              <a:rPr lang="en-US" sz="1350">
                <a:solidFill>
                  <a:srgbClr val="FFFFFF"/>
                </a:solidFill>
                <a:latin typeface="Poppins SemiBold"/>
                <a:ea typeface="Poppins SemiBold"/>
                <a:cs typeface="Poppins SemiBold"/>
                <a:sym typeface="Poppins SemiBold"/>
              </a:rPr>
              <a:t>Email</a:t>
            </a:r>
            <a:endParaRPr sz="1350">
              <a:solidFill>
                <a:schemeClr val="dk1"/>
              </a:solidFill>
              <a:latin typeface="Calibri"/>
              <a:ea typeface="Calibri"/>
              <a:cs typeface="Calibri"/>
              <a:sym typeface="Calibri"/>
            </a:endParaRPr>
          </a:p>
        </p:txBody>
      </p:sp>
      <p:sp>
        <p:nvSpPr>
          <p:cNvPr id="215" name="Google Shape;215;p10"/>
          <p:cNvSpPr/>
          <p:nvPr/>
        </p:nvSpPr>
        <p:spPr>
          <a:xfrm>
            <a:off x="548640" y="23500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10"/>
          <p:cNvSpPr/>
          <p:nvPr/>
        </p:nvSpPr>
        <p:spPr>
          <a:xfrm>
            <a:off x="777240" y="23500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Eastbourne</a:t>
            </a:r>
            <a:endParaRPr sz="1400">
              <a:solidFill>
                <a:schemeClr val="dk1"/>
              </a:solidFill>
              <a:latin typeface="Calibri"/>
              <a:ea typeface="Calibri"/>
              <a:cs typeface="Calibri"/>
              <a:sym typeface="Calibri"/>
            </a:endParaRPr>
          </a:p>
        </p:txBody>
      </p:sp>
      <p:sp>
        <p:nvSpPr>
          <p:cNvPr id="217" name="Google Shape;217;p10"/>
          <p:cNvSpPr/>
          <p:nvPr/>
        </p:nvSpPr>
        <p:spPr>
          <a:xfrm>
            <a:off x="3291840" y="23500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ECAT House, room 101</a:t>
            </a:r>
            <a:endParaRPr sz="1350">
              <a:solidFill>
                <a:schemeClr val="dk1"/>
              </a:solidFill>
              <a:latin typeface="Calibri"/>
              <a:ea typeface="Calibri"/>
              <a:cs typeface="Calibri"/>
              <a:sym typeface="Calibri"/>
            </a:endParaRPr>
          </a:p>
        </p:txBody>
      </p:sp>
      <p:sp>
        <p:nvSpPr>
          <p:cNvPr id="218" name="Google Shape;218;p10"/>
          <p:cNvSpPr/>
          <p:nvPr/>
        </p:nvSpPr>
        <p:spPr>
          <a:xfrm>
            <a:off x="6766560" y="23500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Eastbourne.Careers@escg.ac.uk</a:t>
            </a:r>
            <a:endParaRPr sz="1300">
              <a:solidFill>
                <a:schemeClr val="dk1"/>
              </a:solidFill>
              <a:latin typeface="Calibri"/>
              <a:ea typeface="Calibri"/>
              <a:cs typeface="Calibri"/>
              <a:sym typeface="Calibri"/>
            </a:endParaRPr>
          </a:p>
        </p:txBody>
      </p:sp>
      <p:sp>
        <p:nvSpPr>
          <p:cNvPr id="219" name="Google Shape;219;p10"/>
          <p:cNvSpPr/>
          <p:nvPr/>
        </p:nvSpPr>
        <p:spPr>
          <a:xfrm>
            <a:off x="548640" y="2807208"/>
            <a:ext cx="11094415" cy="457200"/>
          </a:xfrm>
          <a:prstGeom prst="rect">
            <a:avLst/>
          </a:prstGeom>
          <a:solidFill>
            <a:srgbClr val="EDE6F3"/>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10"/>
          <p:cNvSpPr/>
          <p:nvPr/>
        </p:nvSpPr>
        <p:spPr>
          <a:xfrm>
            <a:off x="777240" y="28072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Hastings</a:t>
            </a:r>
            <a:endParaRPr sz="1400">
              <a:solidFill>
                <a:schemeClr val="dk1"/>
              </a:solidFill>
              <a:latin typeface="Calibri"/>
              <a:ea typeface="Calibri"/>
              <a:cs typeface="Calibri"/>
              <a:sym typeface="Calibri"/>
            </a:endParaRPr>
          </a:p>
        </p:txBody>
      </p:sp>
      <p:sp>
        <p:nvSpPr>
          <p:cNvPr id="221" name="Google Shape;221;p10"/>
          <p:cNvSpPr/>
          <p:nvPr/>
        </p:nvSpPr>
        <p:spPr>
          <a:xfrm>
            <a:off x="3291840" y="28072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Careers Hub, Ground Floor</a:t>
            </a:r>
            <a:endParaRPr sz="1350">
              <a:solidFill>
                <a:schemeClr val="dk1"/>
              </a:solidFill>
              <a:latin typeface="Calibri"/>
              <a:ea typeface="Calibri"/>
              <a:cs typeface="Calibri"/>
              <a:sym typeface="Calibri"/>
            </a:endParaRPr>
          </a:p>
        </p:txBody>
      </p:sp>
      <p:sp>
        <p:nvSpPr>
          <p:cNvPr id="222" name="Google Shape;222;p10"/>
          <p:cNvSpPr/>
          <p:nvPr/>
        </p:nvSpPr>
        <p:spPr>
          <a:xfrm>
            <a:off x="6766560" y="28072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Hastings.Careers@escg.ac.uk</a:t>
            </a:r>
            <a:endParaRPr sz="1300">
              <a:solidFill>
                <a:schemeClr val="dk1"/>
              </a:solidFill>
              <a:latin typeface="Calibri"/>
              <a:ea typeface="Calibri"/>
              <a:cs typeface="Calibri"/>
              <a:sym typeface="Calibri"/>
            </a:endParaRPr>
          </a:p>
        </p:txBody>
      </p:sp>
      <p:sp>
        <p:nvSpPr>
          <p:cNvPr id="223" name="Google Shape;223;p10"/>
          <p:cNvSpPr/>
          <p:nvPr/>
        </p:nvSpPr>
        <p:spPr>
          <a:xfrm>
            <a:off x="548640" y="32644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10"/>
          <p:cNvSpPr/>
          <p:nvPr/>
        </p:nvSpPr>
        <p:spPr>
          <a:xfrm>
            <a:off x="777240" y="32644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Ore</a:t>
            </a:r>
            <a:endParaRPr sz="1400">
              <a:solidFill>
                <a:schemeClr val="dk1"/>
              </a:solidFill>
              <a:latin typeface="Calibri"/>
              <a:ea typeface="Calibri"/>
              <a:cs typeface="Calibri"/>
              <a:sym typeface="Calibri"/>
            </a:endParaRPr>
          </a:p>
        </p:txBody>
      </p:sp>
      <p:sp>
        <p:nvSpPr>
          <p:cNvPr id="225" name="Google Shape;225;p10"/>
          <p:cNvSpPr/>
          <p:nvPr/>
        </p:nvSpPr>
        <p:spPr>
          <a:xfrm>
            <a:off x="3291840" y="32644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Ask at reception</a:t>
            </a:r>
            <a:endParaRPr sz="1350">
              <a:solidFill>
                <a:schemeClr val="dk1"/>
              </a:solidFill>
              <a:latin typeface="Calibri"/>
              <a:ea typeface="Calibri"/>
              <a:cs typeface="Calibri"/>
              <a:sym typeface="Calibri"/>
            </a:endParaRPr>
          </a:p>
        </p:txBody>
      </p:sp>
      <p:sp>
        <p:nvSpPr>
          <p:cNvPr id="226" name="Google Shape;226;p10"/>
          <p:cNvSpPr/>
          <p:nvPr/>
        </p:nvSpPr>
        <p:spPr>
          <a:xfrm>
            <a:off x="6766560" y="32644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Hastings.Careers@escg.ac.uk</a:t>
            </a:r>
            <a:endParaRPr sz="1300">
              <a:solidFill>
                <a:schemeClr val="dk1"/>
              </a:solidFill>
              <a:latin typeface="Calibri"/>
              <a:ea typeface="Calibri"/>
              <a:cs typeface="Calibri"/>
              <a:sym typeface="Calibri"/>
            </a:endParaRPr>
          </a:p>
        </p:txBody>
      </p:sp>
      <p:sp>
        <p:nvSpPr>
          <p:cNvPr id="227" name="Google Shape;227;p10"/>
          <p:cNvSpPr/>
          <p:nvPr/>
        </p:nvSpPr>
        <p:spPr>
          <a:xfrm>
            <a:off x="548640" y="3721608"/>
            <a:ext cx="11094415" cy="457200"/>
          </a:xfrm>
          <a:prstGeom prst="rect">
            <a:avLst/>
          </a:prstGeom>
          <a:solidFill>
            <a:srgbClr val="EDE6F3"/>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0"/>
          <p:cNvSpPr/>
          <p:nvPr/>
        </p:nvSpPr>
        <p:spPr>
          <a:xfrm>
            <a:off x="777240" y="37216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Lewes</a:t>
            </a:r>
            <a:endParaRPr sz="1400">
              <a:solidFill>
                <a:schemeClr val="dk1"/>
              </a:solidFill>
              <a:latin typeface="Calibri"/>
              <a:ea typeface="Calibri"/>
              <a:cs typeface="Calibri"/>
              <a:sym typeface="Calibri"/>
            </a:endParaRPr>
          </a:p>
        </p:txBody>
      </p:sp>
      <p:sp>
        <p:nvSpPr>
          <p:cNvPr id="229" name="Google Shape;229;p10"/>
          <p:cNvSpPr/>
          <p:nvPr/>
        </p:nvSpPr>
        <p:spPr>
          <a:xfrm>
            <a:off x="3291840" y="37216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Cliffe Building, room 134</a:t>
            </a:r>
            <a:endParaRPr sz="1350">
              <a:solidFill>
                <a:schemeClr val="dk1"/>
              </a:solidFill>
              <a:latin typeface="Calibri"/>
              <a:ea typeface="Calibri"/>
              <a:cs typeface="Calibri"/>
              <a:sym typeface="Calibri"/>
            </a:endParaRPr>
          </a:p>
        </p:txBody>
      </p:sp>
      <p:sp>
        <p:nvSpPr>
          <p:cNvPr id="230" name="Google Shape;230;p10"/>
          <p:cNvSpPr/>
          <p:nvPr/>
        </p:nvSpPr>
        <p:spPr>
          <a:xfrm>
            <a:off x="6766560" y="37216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Lewes.Careers@escg.ac.uk</a:t>
            </a:r>
            <a:endParaRPr sz="1300">
              <a:solidFill>
                <a:schemeClr val="dk1"/>
              </a:solidFill>
              <a:latin typeface="Calibri"/>
              <a:ea typeface="Calibri"/>
              <a:cs typeface="Calibri"/>
              <a:sym typeface="Calibri"/>
            </a:endParaRPr>
          </a:p>
        </p:txBody>
      </p:sp>
      <p:sp>
        <p:nvSpPr>
          <p:cNvPr id="231" name="Google Shape;231;p10"/>
          <p:cNvSpPr/>
          <p:nvPr/>
        </p:nvSpPr>
        <p:spPr>
          <a:xfrm>
            <a:off x="548640" y="4178808"/>
            <a:ext cx="11094415" cy="457200"/>
          </a:xfrm>
          <a:prstGeom prst="rect">
            <a:avLst/>
          </a:prstGeom>
          <a:solidFill>
            <a:srgbClr val="FFFFFF"/>
          </a:solidFill>
          <a:ln cap="flat" cmpd="sng" w="9525">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2" name="Google Shape;232;p10"/>
          <p:cNvSpPr/>
          <p:nvPr/>
        </p:nvSpPr>
        <p:spPr>
          <a:xfrm>
            <a:off x="777240" y="4178808"/>
            <a:ext cx="23774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400"/>
              <a:buFont typeface="Poppins SemiBold"/>
              <a:buNone/>
            </a:pPr>
            <a:r>
              <a:rPr lang="en-US" sz="1400">
                <a:solidFill>
                  <a:srgbClr val="1B2A30"/>
                </a:solidFill>
                <a:latin typeface="Poppins SemiBold"/>
                <a:ea typeface="Poppins SemiBold"/>
                <a:cs typeface="Poppins SemiBold"/>
                <a:sym typeface="Poppins SemiBold"/>
              </a:rPr>
              <a:t>Newhaven</a:t>
            </a:r>
            <a:endParaRPr sz="1400">
              <a:solidFill>
                <a:schemeClr val="dk1"/>
              </a:solidFill>
              <a:latin typeface="Calibri"/>
              <a:ea typeface="Calibri"/>
              <a:cs typeface="Calibri"/>
              <a:sym typeface="Calibri"/>
            </a:endParaRPr>
          </a:p>
        </p:txBody>
      </p:sp>
      <p:sp>
        <p:nvSpPr>
          <p:cNvPr id="233" name="Google Shape;233;p10"/>
          <p:cNvSpPr/>
          <p:nvPr/>
        </p:nvSpPr>
        <p:spPr>
          <a:xfrm>
            <a:off x="3291840" y="4178808"/>
            <a:ext cx="329184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Ask at reception</a:t>
            </a:r>
            <a:endParaRPr sz="1350">
              <a:solidFill>
                <a:schemeClr val="dk1"/>
              </a:solidFill>
              <a:latin typeface="Calibri"/>
              <a:ea typeface="Calibri"/>
              <a:cs typeface="Calibri"/>
              <a:sym typeface="Calibri"/>
            </a:endParaRPr>
          </a:p>
        </p:txBody>
      </p:sp>
      <p:sp>
        <p:nvSpPr>
          <p:cNvPr id="234" name="Google Shape;234;p10"/>
          <p:cNvSpPr/>
          <p:nvPr/>
        </p:nvSpPr>
        <p:spPr>
          <a:xfrm>
            <a:off x="6766560" y="4178808"/>
            <a:ext cx="45720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92C82"/>
              </a:buClr>
              <a:buSzPts val="1300"/>
              <a:buFont typeface="Poppins"/>
              <a:buNone/>
            </a:pPr>
            <a:r>
              <a:rPr lang="en-US" sz="1300">
                <a:solidFill>
                  <a:srgbClr val="592C82"/>
                </a:solidFill>
                <a:latin typeface="Poppins"/>
                <a:ea typeface="Poppins"/>
                <a:cs typeface="Poppins"/>
                <a:sym typeface="Poppins"/>
              </a:rPr>
              <a:t>Lewes.Careers@escg.ac.uk</a:t>
            </a:r>
            <a:endParaRPr sz="1300">
              <a:solidFill>
                <a:schemeClr val="dk1"/>
              </a:solidFill>
              <a:latin typeface="Calibri"/>
              <a:ea typeface="Calibri"/>
              <a:cs typeface="Calibri"/>
              <a:sym typeface="Calibri"/>
            </a:endParaRPr>
          </a:p>
        </p:txBody>
      </p:sp>
      <p:sp>
        <p:nvSpPr>
          <p:cNvPr id="235" name="Google Shape;235;p10"/>
          <p:cNvSpPr/>
          <p:nvPr/>
        </p:nvSpPr>
        <p:spPr>
          <a:xfrm>
            <a:off x="548640" y="4864608"/>
            <a:ext cx="11094415" cy="777240"/>
          </a:xfrm>
          <a:prstGeom prst="roundRect">
            <a:avLst>
              <a:gd fmla="val 9412"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home/claude/moduleJ/icons/warning.png" id="236" name="Google Shape;236;p10"/>
          <p:cNvPicPr preferRelativeResize="0"/>
          <p:nvPr/>
        </p:nvPicPr>
        <p:blipFill rotWithShape="1">
          <a:blip r:embed="rId3">
            <a:alphaModFix/>
          </a:blip>
          <a:srcRect b="0" l="0" r="0" t="0"/>
          <a:stretch/>
        </p:blipFill>
        <p:spPr>
          <a:xfrm>
            <a:off x="777240" y="5020056"/>
            <a:ext cx="457200" cy="457200"/>
          </a:xfrm>
          <a:prstGeom prst="rect">
            <a:avLst/>
          </a:prstGeom>
          <a:noFill/>
          <a:ln>
            <a:noFill/>
          </a:ln>
        </p:spPr>
      </p:pic>
      <p:sp>
        <p:nvSpPr>
          <p:cNvPr id="237" name="Google Shape;237;p10"/>
          <p:cNvSpPr/>
          <p:nvPr/>
        </p:nvSpPr>
        <p:spPr>
          <a:xfrm>
            <a:off x="1417320" y="4864608"/>
            <a:ext cx="10088575" cy="77724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1B2A30"/>
              </a:buClr>
              <a:buSzPts val="1400"/>
              <a:buFont typeface="Poppins"/>
              <a:buNone/>
            </a:pPr>
            <a:r>
              <a:rPr lang="en-US" sz="1400">
                <a:solidFill>
                  <a:srgbClr val="1B2A30"/>
                </a:solidFill>
                <a:latin typeface="Poppins"/>
                <a:ea typeface="Poppins"/>
                <a:cs typeface="Poppins"/>
                <a:sym typeface="Poppins"/>
              </a:rPr>
              <a:t>If a placement isn’t progressing, or something doesn’t feel right, don’t wait — go to your campus Careers &amp; Employability team, or tell your tutor.</a:t>
            </a:r>
            <a:endParaRPr sz="1400">
              <a:solidFill>
                <a:schemeClr val="dk1"/>
              </a:solidFill>
              <a:latin typeface="Calibri"/>
              <a:ea typeface="Calibri"/>
              <a:cs typeface="Calibri"/>
              <a:sym typeface="Calibri"/>
            </a:endParaRPr>
          </a:p>
        </p:txBody>
      </p:sp>
      <p:sp>
        <p:nvSpPr>
          <p:cNvPr id="238" name="Google Shape;238;p10"/>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239" name="Google Shape;239;p10"/>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8</a:t>
            </a:r>
            <a:endParaRPr sz="10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44" name="Shape 244"/>
        <p:cNvGrpSpPr/>
        <p:nvPr/>
      </p:nvGrpSpPr>
      <p:grpSpPr>
        <a:xfrm>
          <a:off x="0" y="0"/>
          <a:ext cx="0" cy="0"/>
          <a:chOff x="0" y="0"/>
          <a:chExt cx="0" cy="0"/>
        </a:xfrm>
      </p:grpSpPr>
      <p:sp>
        <p:nvSpPr>
          <p:cNvPr id="245" name="Google Shape;245;p11"/>
          <p:cNvSpPr/>
          <p:nvPr/>
        </p:nvSpPr>
        <p:spPr>
          <a:xfrm>
            <a:off x="548640" y="384048"/>
            <a:ext cx="8961120" cy="7315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3050"/>
              <a:buFont typeface="Poppins SemiBold"/>
              <a:buNone/>
            </a:pPr>
            <a:r>
              <a:rPr lang="en-US" sz="3050">
                <a:solidFill>
                  <a:srgbClr val="1B2A30"/>
                </a:solidFill>
                <a:latin typeface="Poppins SemiBold"/>
                <a:ea typeface="Poppins SemiBold"/>
                <a:cs typeface="Poppins SemiBold"/>
                <a:sym typeface="Poppins SemiBold"/>
              </a:rPr>
              <a:t>While you’re on placement</a:t>
            </a:r>
            <a:endParaRPr sz="3050">
              <a:solidFill>
                <a:schemeClr val="dk1"/>
              </a:solidFill>
              <a:latin typeface="Calibri"/>
              <a:ea typeface="Calibri"/>
              <a:cs typeface="Calibri"/>
              <a:sym typeface="Calibri"/>
            </a:endParaRPr>
          </a:p>
        </p:txBody>
      </p:sp>
      <p:sp>
        <p:nvSpPr>
          <p:cNvPr id="246" name="Google Shape;246;p11"/>
          <p:cNvSpPr/>
          <p:nvPr/>
        </p:nvSpPr>
        <p:spPr>
          <a:xfrm>
            <a:off x="10271455" y="292608"/>
            <a:ext cx="1554480"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p:nvPr/>
        </p:nvSpPr>
        <p:spPr>
          <a:xfrm>
            <a:off x="10271455" y="292608"/>
            <a:ext cx="155448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DISCUSSION</a:t>
            </a:r>
            <a:endParaRPr sz="1200">
              <a:solidFill>
                <a:schemeClr val="dk1"/>
              </a:solidFill>
              <a:latin typeface="Calibri"/>
              <a:ea typeface="Calibri"/>
              <a:cs typeface="Calibri"/>
              <a:sym typeface="Calibri"/>
            </a:endParaRPr>
          </a:p>
        </p:txBody>
      </p:sp>
      <p:cxnSp>
        <p:nvCxnSpPr>
          <p:cNvPr id="248" name="Google Shape;248;p11"/>
          <p:cNvCxnSpPr/>
          <p:nvPr/>
        </p:nvCxnSpPr>
        <p:spPr>
          <a:xfrm>
            <a:off x="548640" y="1234440"/>
            <a:ext cx="11094415" cy="0"/>
          </a:xfrm>
          <a:prstGeom prst="straightConnector1">
            <a:avLst/>
          </a:prstGeom>
          <a:noFill/>
          <a:ln cap="flat" cmpd="sng" w="12700">
            <a:solidFill>
              <a:srgbClr val="D2DBDA"/>
            </a:solidFill>
            <a:prstDash val="solid"/>
            <a:round/>
            <a:headEnd len="sm" w="sm" type="none"/>
            <a:tailEnd len="sm" w="sm" type="none"/>
          </a:ln>
        </p:spPr>
      </p:cxnSp>
      <p:sp>
        <p:nvSpPr>
          <p:cNvPr id="249" name="Google Shape;249;p11"/>
          <p:cNvSpPr/>
          <p:nvPr/>
        </p:nvSpPr>
        <p:spPr>
          <a:xfrm>
            <a:off x="548640" y="1554480"/>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11"/>
          <p:cNvSpPr/>
          <p:nvPr/>
        </p:nvSpPr>
        <p:spPr>
          <a:xfrm>
            <a:off x="777240" y="1536192"/>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Timekeeping</a:t>
            </a:r>
            <a:endParaRPr sz="1500">
              <a:solidFill>
                <a:schemeClr val="dk1"/>
              </a:solidFill>
              <a:latin typeface="Calibri"/>
              <a:ea typeface="Calibri"/>
              <a:cs typeface="Calibri"/>
              <a:sym typeface="Calibri"/>
            </a:endParaRPr>
          </a:p>
        </p:txBody>
      </p:sp>
      <p:sp>
        <p:nvSpPr>
          <p:cNvPr id="251" name="Google Shape;251;p11"/>
          <p:cNvSpPr/>
          <p:nvPr/>
        </p:nvSpPr>
        <p:spPr>
          <a:xfrm>
            <a:off x="3611880" y="1536192"/>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Be on time, every day. Running late or unwell? Contact the employer AND the college.</a:t>
            </a:r>
            <a:endParaRPr sz="1350">
              <a:solidFill>
                <a:schemeClr val="dk1"/>
              </a:solidFill>
              <a:latin typeface="Calibri"/>
              <a:ea typeface="Calibri"/>
              <a:cs typeface="Calibri"/>
              <a:sym typeface="Calibri"/>
            </a:endParaRPr>
          </a:p>
        </p:txBody>
      </p:sp>
      <p:sp>
        <p:nvSpPr>
          <p:cNvPr id="252" name="Google Shape;252;p11"/>
          <p:cNvSpPr/>
          <p:nvPr/>
        </p:nvSpPr>
        <p:spPr>
          <a:xfrm>
            <a:off x="548640" y="2157984"/>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11"/>
          <p:cNvSpPr/>
          <p:nvPr/>
        </p:nvSpPr>
        <p:spPr>
          <a:xfrm>
            <a:off x="777240" y="2139696"/>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Dress &amp; conduct</a:t>
            </a:r>
            <a:endParaRPr sz="1500">
              <a:solidFill>
                <a:schemeClr val="dk1"/>
              </a:solidFill>
              <a:latin typeface="Calibri"/>
              <a:ea typeface="Calibri"/>
              <a:cs typeface="Calibri"/>
              <a:sym typeface="Calibri"/>
            </a:endParaRPr>
          </a:p>
        </p:txBody>
      </p:sp>
      <p:sp>
        <p:nvSpPr>
          <p:cNvPr id="254" name="Google Shape;254;p11"/>
          <p:cNvSpPr/>
          <p:nvPr/>
        </p:nvSpPr>
        <p:spPr>
          <a:xfrm>
            <a:off x="3611880" y="2139696"/>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Check the dress code before you start. Most studios, agencies and IT teams are smart casual — on a shoot or an install, wear something you can actually work in.</a:t>
            </a:r>
            <a:endParaRPr sz="1350">
              <a:solidFill>
                <a:schemeClr val="dk1"/>
              </a:solidFill>
              <a:latin typeface="Calibri"/>
              <a:ea typeface="Calibri"/>
              <a:cs typeface="Calibri"/>
              <a:sym typeface="Calibri"/>
            </a:endParaRPr>
          </a:p>
        </p:txBody>
      </p:sp>
      <p:sp>
        <p:nvSpPr>
          <p:cNvPr id="255" name="Google Shape;255;p11"/>
          <p:cNvSpPr/>
          <p:nvPr/>
        </p:nvSpPr>
        <p:spPr>
          <a:xfrm>
            <a:off x="548640" y="2761488"/>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11"/>
          <p:cNvSpPr/>
          <p:nvPr/>
        </p:nvSpPr>
        <p:spPr>
          <a:xfrm>
            <a:off x="777240" y="2743200"/>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Communication</a:t>
            </a:r>
            <a:endParaRPr sz="1500">
              <a:solidFill>
                <a:schemeClr val="dk1"/>
              </a:solidFill>
              <a:latin typeface="Calibri"/>
              <a:ea typeface="Calibri"/>
              <a:cs typeface="Calibri"/>
              <a:sym typeface="Calibri"/>
            </a:endParaRPr>
          </a:p>
        </p:txBody>
      </p:sp>
      <p:sp>
        <p:nvSpPr>
          <p:cNvPr id="257" name="Google Shape;257;p11"/>
          <p:cNvSpPr/>
          <p:nvPr/>
        </p:nvSpPr>
        <p:spPr>
          <a:xfrm>
            <a:off x="3611880" y="2743200"/>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Keep in touch with your placement provider — don’t go quiet if plans change.</a:t>
            </a:r>
            <a:endParaRPr sz="1350">
              <a:solidFill>
                <a:schemeClr val="dk1"/>
              </a:solidFill>
              <a:latin typeface="Calibri"/>
              <a:ea typeface="Calibri"/>
              <a:cs typeface="Calibri"/>
              <a:sym typeface="Calibri"/>
            </a:endParaRPr>
          </a:p>
        </p:txBody>
      </p:sp>
      <p:sp>
        <p:nvSpPr>
          <p:cNvPr id="258" name="Google Shape;258;p11"/>
          <p:cNvSpPr/>
          <p:nvPr/>
        </p:nvSpPr>
        <p:spPr>
          <a:xfrm>
            <a:off x="548640" y="3364992"/>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1"/>
          <p:cNvSpPr/>
          <p:nvPr/>
        </p:nvSpPr>
        <p:spPr>
          <a:xfrm>
            <a:off x="777240" y="3346704"/>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Logging hours</a:t>
            </a:r>
            <a:endParaRPr sz="1500">
              <a:solidFill>
                <a:schemeClr val="dk1"/>
              </a:solidFill>
              <a:latin typeface="Calibri"/>
              <a:ea typeface="Calibri"/>
              <a:cs typeface="Calibri"/>
              <a:sym typeface="Calibri"/>
            </a:endParaRPr>
          </a:p>
        </p:txBody>
      </p:sp>
      <p:sp>
        <p:nvSpPr>
          <p:cNvPr id="260" name="Google Shape;260;p11"/>
          <p:cNvSpPr/>
          <p:nvPr/>
        </p:nvSpPr>
        <p:spPr>
          <a:xfrm>
            <a:off x="3611880" y="3346704"/>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Complete your Navigate journal and timesheet every day you attend. Record what you actually did — that becomes portfolio and reference evidence.</a:t>
            </a:r>
            <a:endParaRPr sz="1350">
              <a:solidFill>
                <a:schemeClr val="dk1"/>
              </a:solidFill>
              <a:latin typeface="Calibri"/>
              <a:ea typeface="Calibri"/>
              <a:cs typeface="Calibri"/>
              <a:sym typeface="Calibri"/>
            </a:endParaRPr>
          </a:p>
        </p:txBody>
      </p:sp>
      <p:sp>
        <p:nvSpPr>
          <p:cNvPr id="261" name="Google Shape;261;p11"/>
          <p:cNvSpPr/>
          <p:nvPr/>
        </p:nvSpPr>
        <p:spPr>
          <a:xfrm>
            <a:off x="548640" y="3968496"/>
            <a:ext cx="82296" cy="566928"/>
          </a:xfrm>
          <a:prstGeom prst="roundRect">
            <a:avLst>
              <a:gd fmla="val 16667"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2" name="Google Shape;262;p11"/>
          <p:cNvSpPr/>
          <p:nvPr/>
        </p:nvSpPr>
        <p:spPr>
          <a:xfrm>
            <a:off x="777240" y="3950208"/>
            <a:ext cx="2743200" cy="5943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00"/>
              <a:buFont typeface="Poppins SemiBold"/>
              <a:buNone/>
            </a:pPr>
            <a:r>
              <a:rPr lang="en-US" sz="1500">
                <a:solidFill>
                  <a:srgbClr val="1B2A30"/>
                </a:solidFill>
                <a:latin typeface="Poppins SemiBold"/>
                <a:ea typeface="Poppins SemiBold"/>
                <a:cs typeface="Poppins SemiBold"/>
                <a:sym typeface="Poppins SemiBold"/>
              </a:rPr>
              <a:t>Raising concerns</a:t>
            </a:r>
            <a:endParaRPr sz="1500">
              <a:solidFill>
                <a:schemeClr val="dk1"/>
              </a:solidFill>
              <a:latin typeface="Calibri"/>
              <a:ea typeface="Calibri"/>
              <a:cs typeface="Calibri"/>
              <a:sym typeface="Calibri"/>
            </a:endParaRPr>
          </a:p>
        </p:txBody>
      </p:sp>
      <p:sp>
        <p:nvSpPr>
          <p:cNvPr id="263" name="Google Shape;263;p11"/>
          <p:cNvSpPr/>
          <p:nvPr/>
        </p:nvSpPr>
        <p:spPr>
          <a:xfrm>
            <a:off x="3611880" y="3950208"/>
            <a:ext cx="8031175" cy="594360"/>
          </a:xfrm>
          <a:prstGeom prst="rect">
            <a:avLst/>
          </a:prstGeom>
          <a:noFill/>
          <a:ln>
            <a:noFill/>
          </a:ln>
        </p:spPr>
        <p:txBody>
          <a:bodyPr anchorCtr="0" anchor="ctr" bIns="45700" lIns="91425" spcFirstLastPara="1" rIns="91425" wrap="square" tIns="45700">
            <a:noAutofit/>
          </a:bodyPr>
          <a:lstStyle/>
          <a:p>
            <a:pPr indent="0" lvl="0" marL="0" marR="0" rtl="0" algn="l">
              <a:lnSpc>
                <a:spcPct val="110000"/>
              </a:lnSpc>
              <a:spcBef>
                <a:spcPts val="0"/>
              </a:spcBef>
              <a:spcAft>
                <a:spcPts val="0"/>
              </a:spcAft>
              <a:buClr>
                <a:srgbClr val="5A6A6F"/>
              </a:buClr>
              <a:buSzPts val="1350"/>
              <a:buFont typeface="Poppins"/>
              <a:buNone/>
            </a:pPr>
            <a:r>
              <a:rPr lang="en-US" sz="1350">
                <a:solidFill>
                  <a:srgbClr val="5A6A6F"/>
                </a:solidFill>
                <a:latin typeface="Poppins"/>
                <a:ea typeface="Poppins"/>
                <a:cs typeface="Poppins"/>
                <a:sym typeface="Poppins"/>
              </a:rPr>
              <a:t>Something wrong? Speak to your employer contact first if it’s minor — or your tutor / Careers &amp; Employability team if it isn’t.</a:t>
            </a:r>
            <a:endParaRPr sz="1350">
              <a:solidFill>
                <a:schemeClr val="dk1"/>
              </a:solidFill>
              <a:latin typeface="Calibri"/>
              <a:ea typeface="Calibri"/>
              <a:cs typeface="Calibri"/>
              <a:sym typeface="Calibri"/>
            </a:endParaRPr>
          </a:p>
        </p:txBody>
      </p:sp>
      <p:sp>
        <p:nvSpPr>
          <p:cNvPr id="264" name="Google Shape;264;p11"/>
          <p:cNvSpPr/>
          <p:nvPr/>
        </p:nvSpPr>
        <p:spPr>
          <a:xfrm>
            <a:off x="548640" y="4617720"/>
            <a:ext cx="11094415" cy="912495"/>
          </a:xfrm>
          <a:prstGeom prst="roundRect">
            <a:avLst>
              <a:gd fmla="val 14545" name="adj"/>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5" name="Google Shape;265;p11"/>
          <p:cNvSpPr/>
          <p:nvPr/>
        </p:nvSpPr>
        <p:spPr>
          <a:xfrm>
            <a:off x="777240" y="4617720"/>
            <a:ext cx="10637215" cy="91249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400"/>
              <a:buFont typeface="Poppins"/>
              <a:buNone/>
            </a:pPr>
            <a:r>
              <a:rPr i="1" lang="en-US" sz="1400">
                <a:solidFill>
                  <a:srgbClr val="FFFFFF"/>
                </a:solidFill>
                <a:latin typeface="Poppins"/>
                <a:ea typeface="Poppins"/>
                <a:cs typeface="Poppins"/>
                <a:sym typeface="Poppins"/>
              </a:rPr>
              <a:t>Discuss in pairs: you’re asked to film someone who hasn’t consented, or to use a colleague’s login. What do you do, and who’s your first call?</a:t>
            </a:r>
            <a:endParaRPr sz="1400">
              <a:solidFill>
                <a:schemeClr val="dk1"/>
              </a:solidFill>
              <a:latin typeface="Calibri"/>
              <a:ea typeface="Calibri"/>
              <a:cs typeface="Calibri"/>
              <a:sym typeface="Calibri"/>
            </a:endParaRPr>
          </a:p>
        </p:txBody>
      </p:sp>
      <p:sp>
        <p:nvSpPr>
          <p:cNvPr id="266" name="Google Shape;266;p11"/>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267" name="Google Shape;267;p11"/>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9</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72" name="Shape 272"/>
        <p:cNvGrpSpPr/>
        <p:nvPr/>
      </p:nvGrpSpPr>
      <p:grpSpPr>
        <a:xfrm>
          <a:off x="0" y="0"/>
          <a:ext cx="0" cy="0"/>
          <a:chOff x="0" y="0"/>
          <a:chExt cx="0" cy="0"/>
        </a:xfrm>
      </p:grpSpPr>
      <p:sp>
        <p:nvSpPr>
          <p:cNvPr id="273" name="Google Shape;273;p12"/>
          <p:cNvSpPr/>
          <p:nvPr/>
        </p:nvSpPr>
        <p:spPr>
          <a:xfrm>
            <a:off x="548640" y="411480"/>
            <a:ext cx="731520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400"/>
              <a:buFont typeface="Poppins SemiBold"/>
              <a:buNone/>
            </a:pPr>
            <a:r>
              <a:rPr lang="en-US" sz="1400">
                <a:solidFill>
                  <a:srgbClr val="FFCF01"/>
                </a:solidFill>
                <a:latin typeface="Poppins SemiBold"/>
                <a:ea typeface="Poppins SemiBold"/>
                <a:cs typeface="Poppins SemiBold"/>
                <a:sym typeface="Poppins SemiBold"/>
              </a:rPr>
              <a:t>BEFORE WE FINISH</a:t>
            </a:r>
            <a:endParaRPr sz="1400">
              <a:solidFill>
                <a:schemeClr val="dk1"/>
              </a:solidFill>
              <a:latin typeface="Calibri"/>
              <a:ea typeface="Calibri"/>
              <a:cs typeface="Calibri"/>
              <a:sym typeface="Calibri"/>
            </a:endParaRPr>
          </a:p>
        </p:txBody>
      </p:sp>
      <p:sp>
        <p:nvSpPr>
          <p:cNvPr id="274" name="Google Shape;274;p12"/>
          <p:cNvSpPr/>
          <p:nvPr/>
        </p:nvSpPr>
        <p:spPr>
          <a:xfrm>
            <a:off x="548640" y="713232"/>
            <a:ext cx="91440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2850"/>
              <a:buFont typeface="Poppins SemiBold"/>
              <a:buNone/>
            </a:pPr>
            <a:r>
              <a:rPr lang="en-US" sz="2850">
                <a:solidFill>
                  <a:srgbClr val="FFFFFF"/>
                </a:solidFill>
                <a:latin typeface="Poppins SemiBold"/>
                <a:ea typeface="Poppins SemiBold"/>
                <a:cs typeface="Poppins SemiBold"/>
                <a:sym typeface="Poppins SemiBold"/>
              </a:rPr>
              <a:t>One thing I’ll do this week</a:t>
            </a:r>
            <a:endParaRPr sz="2850">
              <a:solidFill>
                <a:schemeClr val="dk1"/>
              </a:solidFill>
              <a:latin typeface="Calibri"/>
              <a:ea typeface="Calibri"/>
              <a:cs typeface="Calibri"/>
              <a:sym typeface="Calibri"/>
            </a:endParaRPr>
          </a:p>
        </p:txBody>
      </p:sp>
      <p:sp>
        <p:nvSpPr>
          <p:cNvPr id="275" name="Google Shape;275;p12"/>
          <p:cNvSpPr/>
          <p:nvPr/>
        </p:nvSpPr>
        <p:spPr>
          <a:xfrm>
            <a:off x="10481767" y="292608"/>
            <a:ext cx="1344168" cy="365760"/>
          </a:xfrm>
          <a:prstGeom prst="roundRect">
            <a:avLst>
              <a:gd fmla="val 50000" name="adj"/>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12"/>
          <p:cNvSpPr/>
          <p:nvPr/>
        </p:nvSpPr>
        <p:spPr>
          <a:xfrm>
            <a:off x="10481767" y="292608"/>
            <a:ext cx="1344168"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200"/>
              <a:buFont typeface="Poppins SemiBold"/>
              <a:buNone/>
            </a:pPr>
            <a:r>
              <a:rPr lang="en-US" sz="1200">
                <a:solidFill>
                  <a:srgbClr val="FFFFFF"/>
                </a:solidFill>
                <a:latin typeface="Poppins SemiBold"/>
                <a:ea typeface="Poppins SemiBold"/>
                <a:cs typeface="Poppins SemiBold"/>
                <a:sym typeface="Poppins SemiBold"/>
              </a:rPr>
              <a:t>ACTIVITY</a:t>
            </a:r>
            <a:endParaRPr sz="1200">
              <a:solidFill>
                <a:schemeClr val="dk1"/>
              </a:solidFill>
              <a:latin typeface="Calibri"/>
              <a:ea typeface="Calibri"/>
              <a:cs typeface="Calibri"/>
              <a:sym typeface="Calibri"/>
            </a:endParaRPr>
          </a:p>
        </p:txBody>
      </p:sp>
      <p:sp>
        <p:nvSpPr>
          <p:cNvPr id="277" name="Google Shape;277;p12"/>
          <p:cNvSpPr/>
          <p:nvPr/>
        </p:nvSpPr>
        <p:spPr>
          <a:xfrm>
            <a:off x="548640" y="1417320"/>
            <a:ext cx="11094415" cy="4709160"/>
          </a:xfrm>
          <a:prstGeom prst="roundRect">
            <a:avLst>
              <a:gd fmla="val 2330" name="adj"/>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12"/>
          <p:cNvSpPr/>
          <p:nvPr/>
        </p:nvSpPr>
        <p:spPr>
          <a:xfrm>
            <a:off x="868680" y="1645920"/>
            <a:ext cx="10454335" cy="4114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400"/>
              <a:buFont typeface="Poppins"/>
              <a:buNone/>
            </a:pPr>
            <a:r>
              <a:rPr i="1" lang="en-US" sz="1400">
                <a:solidFill>
                  <a:srgbClr val="5A6A6F"/>
                </a:solidFill>
                <a:latin typeface="Poppins"/>
                <a:ea typeface="Poppins"/>
                <a:cs typeface="Poppins"/>
                <a:sym typeface="Poppins"/>
              </a:rPr>
              <a:t>Pick one option below. Write or draw it on your card. Your tutor keeps it and will check in with you.</a:t>
            </a:r>
            <a:endParaRPr sz="1400">
              <a:solidFill>
                <a:schemeClr val="dk1"/>
              </a:solidFill>
              <a:latin typeface="Calibri"/>
              <a:ea typeface="Calibri"/>
              <a:cs typeface="Calibri"/>
              <a:sym typeface="Calibri"/>
            </a:endParaRPr>
          </a:p>
        </p:txBody>
      </p:sp>
      <p:sp>
        <p:nvSpPr>
          <p:cNvPr id="279" name="Google Shape;279;p12"/>
          <p:cNvSpPr/>
          <p:nvPr/>
        </p:nvSpPr>
        <p:spPr>
          <a:xfrm>
            <a:off x="868680" y="22402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12"/>
          <p:cNvSpPr/>
          <p:nvPr/>
        </p:nvSpPr>
        <p:spPr>
          <a:xfrm>
            <a:off x="1051560" y="24231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12"/>
          <p:cNvSpPr/>
          <p:nvPr/>
        </p:nvSpPr>
        <p:spPr>
          <a:xfrm>
            <a:off x="1051560" y="24231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1</a:t>
            </a:r>
            <a:endParaRPr sz="1750">
              <a:solidFill>
                <a:schemeClr val="dk1"/>
              </a:solidFill>
              <a:latin typeface="Calibri"/>
              <a:ea typeface="Calibri"/>
              <a:cs typeface="Calibri"/>
              <a:sym typeface="Calibri"/>
            </a:endParaRPr>
          </a:p>
        </p:txBody>
      </p:sp>
      <p:sp>
        <p:nvSpPr>
          <p:cNvPr id="282" name="Google Shape;282;p12"/>
          <p:cNvSpPr/>
          <p:nvPr/>
        </p:nvSpPr>
        <p:spPr>
          <a:xfrm>
            <a:off x="1554480" y="24414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Start looking</a:t>
            </a:r>
            <a:endParaRPr sz="1550">
              <a:solidFill>
                <a:schemeClr val="dk1"/>
              </a:solidFill>
              <a:latin typeface="Calibri"/>
              <a:ea typeface="Calibri"/>
              <a:cs typeface="Calibri"/>
              <a:sym typeface="Calibri"/>
            </a:endParaRPr>
          </a:p>
        </p:txBody>
      </p:sp>
      <p:sp>
        <p:nvSpPr>
          <p:cNvPr id="283" name="Google Shape;283;p12"/>
          <p:cNvSpPr/>
          <p:nvPr/>
        </p:nvSpPr>
        <p:spPr>
          <a:xfrm>
            <a:off x="1051560" y="28620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name one place I could approach this week — a production company, an agency, a newsroom, or an IT or security team.</a:t>
            </a:r>
            <a:endParaRPr sz="1250">
              <a:solidFill>
                <a:schemeClr val="dk1"/>
              </a:solidFill>
              <a:latin typeface="Calibri"/>
              <a:ea typeface="Calibri"/>
              <a:cs typeface="Calibri"/>
              <a:sym typeface="Calibri"/>
            </a:endParaRPr>
          </a:p>
        </p:txBody>
      </p:sp>
      <p:sp>
        <p:nvSpPr>
          <p:cNvPr id="284" name="Google Shape;284;p12"/>
          <p:cNvSpPr/>
          <p:nvPr/>
        </p:nvSpPr>
        <p:spPr>
          <a:xfrm>
            <a:off x="6255868" y="22402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12"/>
          <p:cNvSpPr/>
          <p:nvPr/>
        </p:nvSpPr>
        <p:spPr>
          <a:xfrm>
            <a:off x="6438748" y="24231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12"/>
          <p:cNvSpPr/>
          <p:nvPr/>
        </p:nvSpPr>
        <p:spPr>
          <a:xfrm>
            <a:off x="6438748" y="24231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2</a:t>
            </a:r>
            <a:endParaRPr sz="1750">
              <a:solidFill>
                <a:schemeClr val="dk1"/>
              </a:solidFill>
              <a:latin typeface="Calibri"/>
              <a:ea typeface="Calibri"/>
              <a:cs typeface="Calibri"/>
              <a:sym typeface="Calibri"/>
            </a:endParaRPr>
          </a:p>
        </p:txBody>
      </p:sp>
      <p:sp>
        <p:nvSpPr>
          <p:cNvPr id="287" name="Google Shape;287;p12"/>
          <p:cNvSpPr/>
          <p:nvPr/>
        </p:nvSpPr>
        <p:spPr>
          <a:xfrm>
            <a:off x="6941668" y="24414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Note the dates</a:t>
            </a:r>
            <a:endParaRPr sz="1550">
              <a:solidFill>
                <a:schemeClr val="dk1"/>
              </a:solidFill>
              <a:latin typeface="Calibri"/>
              <a:ea typeface="Calibri"/>
              <a:cs typeface="Calibri"/>
              <a:sym typeface="Calibri"/>
            </a:endParaRPr>
          </a:p>
        </p:txBody>
      </p:sp>
      <p:sp>
        <p:nvSpPr>
          <p:cNvPr id="288" name="Google Shape;288;p12"/>
          <p:cNvSpPr/>
          <p:nvPr/>
        </p:nvSpPr>
        <p:spPr>
          <a:xfrm>
            <a:off x="6438748" y="28620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write 5 Feb and 8 March somewhere I’ll actually see them.</a:t>
            </a:r>
            <a:endParaRPr sz="1250">
              <a:solidFill>
                <a:schemeClr val="dk1"/>
              </a:solidFill>
              <a:latin typeface="Calibri"/>
              <a:ea typeface="Calibri"/>
              <a:cs typeface="Calibri"/>
              <a:sym typeface="Calibri"/>
            </a:endParaRPr>
          </a:p>
        </p:txBody>
      </p:sp>
      <p:sp>
        <p:nvSpPr>
          <p:cNvPr id="289" name="Google Shape;289;p12"/>
          <p:cNvSpPr/>
          <p:nvPr/>
        </p:nvSpPr>
        <p:spPr>
          <a:xfrm>
            <a:off x="868680" y="4069080"/>
            <a:ext cx="5067148" cy="1645920"/>
          </a:xfrm>
          <a:prstGeom prst="roundRect">
            <a:avLst>
              <a:gd fmla="val 4444" name="adj"/>
            </a:avLst>
          </a:prstGeom>
          <a:solidFill>
            <a:srgbClr val="EDE6F3"/>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0" name="Google Shape;290;p12"/>
          <p:cNvSpPr/>
          <p:nvPr/>
        </p:nvSpPr>
        <p:spPr>
          <a:xfrm>
            <a:off x="1051560" y="4251960"/>
            <a:ext cx="384048" cy="384048"/>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12"/>
          <p:cNvSpPr/>
          <p:nvPr/>
        </p:nvSpPr>
        <p:spPr>
          <a:xfrm>
            <a:off x="1051560" y="42519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3</a:t>
            </a:r>
            <a:endParaRPr sz="1750">
              <a:solidFill>
                <a:schemeClr val="dk1"/>
              </a:solidFill>
              <a:latin typeface="Calibri"/>
              <a:ea typeface="Calibri"/>
              <a:cs typeface="Calibri"/>
              <a:sym typeface="Calibri"/>
            </a:endParaRPr>
          </a:p>
        </p:txBody>
      </p:sp>
      <p:sp>
        <p:nvSpPr>
          <p:cNvPr id="292" name="Google Shape;292;p12"/>
          <p:cNvSpPr/>
          <p:nvPr/>
        </p:nvSpPr>
        <p:spPr>
          <a:xfrm>
            <a:off x="1554480" y="42702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Get ready for Navigate</a:t>
            </a:r>
            <a:endParaRPr sz="1550">
              <a:solidFill>
                <a:schemeClr val="dk1"/>
              </a:solidFill>
              <a:latin typeface="Calibri"/>
              <a:ea typeface="Calibri"/>
              <a:cs typeface="Calibri"/>
              <a:sym typeface="Calibri"/>
            </a:endParaRPr>
          </a:p>
        </p:txBody>
      </p:sp>
      <p:sp>
        <p:nvSpPr>
          <p:cNvPr id="293" name="Google Shape;293;p12"/>
          <p:cNvSpPr/>
          <p:nvPr/>
        </p:nvSpPr>
        <p:spPr>
          <a:xfrm>
            <a:off x="1051560" y="46908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check I know what information I’ll need before I request a placement.</a:t>
            </a:r>
            <a:endParaRPr sz="1250">
              <a:solidFill>
                <a:schemeClr val="dk1"/>
              </a:solidFill>
              <a:latin typeface="Calibri"/>
              <a:ea typeface="Calibri"/>
              <a:cs typeface="Calibri"/>
              <a:sym typeface="Calibri"/>
            </a:endParaRPr>
          </a:p>
        </p:txBody>
      </p:sp>
      <p:sp>
        <p:nvSpPr>
          <p:cNvPr id="294" name="Google Shape;294;p12"/>
          <p:cNvSpPr/>
          <p:nvPr/>
        </p:nvSpPr>
        <p:spPr>
          <a:xfrm>
            <a:off x="6255868" y="4069080"/>
            <a:ext cx="5067148" cy="1645920"/>
          </a:xfrm>
          <a:prstGeom prst="roundRect">
            <a:avLst>
              <a:gd fmla="val 4444" name="adj"/>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12"/>
          <p:cNvSpPr/>
          <p:nvPr/>
        </p:nvSpPr>
        <p:spPr>
          <a:xfrm>
            <a:off x="6438748" y="4251960"/>
            <a:ext cx="384048" cy="384048"/>
          </a:xfrm>
          <a:prstGeom prst="ellipse">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12"/>
          <p:cNvSpPr/>
          <p:nvPr/>
        </p:nvSpPr>
        <p:spPr>
          <a:xfrm>
            <a:off x="6438748" y="4251960"/>
            <a:ext cx="384048" cy="38404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1750"/>
              <a:buFont typeface="Poppins SemiBold"/>
              <a:buNone/>
            </a:pPr>
            <a:r>
              <a:rPr lang="en-US" sz="1750">
                <a:solidFill>
                  <a:srgbClr val="FFFFFF"/>
                </a:solidFill>
                <a:latin typeface="Poppins SemiBold"/>
                <a:ea typeface="Poppins SemiBold"/>
                <a:cs typeface="Poppins SemiBold"/>
                <a:sym typeface="Poppins SemiBold"/>
              </a:rPr>
              <a:t>4</a:t>
            </a:r>
            <a:endParaRPr sz="1750">
              <a:solidFill>
                <a:schemeClr val="dk1"/>
              </a:solidFill>
              <a:latin typeface="Calibri"/>
              <a:ea typeface="Calibri"/>
              <a:cs typeface="Calibri"/>
              <a:sym typeface="Calibri"/>
            </a:endParaRPr>
          </a:p>
        </p:txBody>
      </p:sp>
      <p:sp>
        <p:nvSpPr>
          <p:cNvPr id="297" name="Google Shape;297;p12"/>
          <p:cNvSpPr/>
          <p:nvPr/>
        </p:nvSpPr>
        <p:spPr>
          <a:xfrm>
            <a:off x="6941668" y="4270248"/>
            <a:ext cx="4198468" cy="36576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B2A30"/>
              </a:buClr>
              <a:buSzPts val="1550"/>
              <a:buFont typeface="Poppins SemiBold"/>
              <a:buNone/>
            </a:pPr>
            <a:r>
              <a:rPr lang="en-US" sz="1550">
                <a:solidFill>
                  <a:srgbClr val="1B2A30"/>
                </a:solidFill>
                <a:latin typeface="Poppins SemiBold"/>
                <a:ea typeface="Poppins SemiBold"/>
                <a:cs typeface="Poppins SemiBold"/>
                <a:sym typeface="Poppins SemiBold"/>
              </a:rPr>
              <a:t>Tell someone</a:t>
            </a:r>
            <a:endParaRPr sz="1550">
              <a:solidFill>
                <a:schemeClr val="dk1"/>
              </a:solidFill>
              <a:latin typeface="Calibri"/>
              <a:ea typeface="Calibri"/>
              <a:cs typeface="Calibri"/>
              <a:sym typeface="Calibri"/>
            </a:endParaRPr>
          </a:p>
        </p:txBody>
      </p:sp>
      <p:sp>
        <p:nvSpPr>
          <p:cNvPr id="298" name="Google Shape;298;p12"/>
          <p:cNvSpPr/>
          <p:nvPr/>
        </p:nvSpPr>
        <p:spPr>
          <a:xfrm>
            <a:off x="6438748" y="4690872"/>
            <a:ext cx="4701388" cy="914400"/>
          </a:xfrm>
          <a:prstGeom prst="rect">
            <a:avLst/>
          </a:prstGeom>
          <a:noFill/>
          <a:ln>
            <a:noFill/>
          </a:ln>
        </p:spPr>
        <p:txBody>
          <a:bodyPr anchorCtr="0" anchor="ctr" bIns="45700" lIns="91425" spcFirstLastPara="1" rIns="91425" wrap="square" tIns="45700">
            <a:noAutofit/>
          </a:bodyPr>
          <a:lstStyle/>
          <a:p>
            <a:pPr indent="0" lvl="0" marL="0" marR="0" rtl="0" algn="l">
              <a:lnSpc>
                <a:spcPct val="115000"/>
              </a:lnSpc>
              <a:spcBef>
                <a:spcPts val="0"/>
              </a:spcBef>
              <a:spcAft>
                <a:spcPts val="0"/>
              </a:spcAft>
              <a:buClr>
                <a:srgbClr val="5A6A6F"/>
              </a:buClr>
              <a:buSzPts val="1250"/>
              <a:buFont typeface="Poppins"/>
              <a:buNone/>
            </a:pPr>
            <a:r>
              <a:rPr lang="en-US" sz="1250">
                <a:solidFill>
                  <a:srgbClr val="5A6A6F"/>
                </a:solidFill>
                <a:latin typeface="Poppins"/>
                <a:ea typeface="Poppins"/>
                <a:cs typeface="Poppins"/>
                <a:sym typeface="Poppins"/>
              </a:rPr>
              <a:t>I’ll tell my tutor or the Careers &amp; Employability team if I’m unsure about something, or a placement concern comes up.</a:t>
            </a:r>
            <a:endParaRPr sz="1250">
              <a:solidFill>
                <a:schemeClr val="dk1"/>
              </a:solidFill>
              <a:latin typeface="Calibri"/>
              <a:ea typeface="Calibri"/>
              <a:cs typeface="Calibri"/>
              <a:sym typeface="Calibri"/>
            </a:endParaRPr>
          </a:p>
        </p:txBody>
      </p:sp>
      <p:sp>
        <p:nvSpPr>
          <p:cNvPr id="299" name="Google Shape;299;p12"/>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300" name="Google Shape;300;p12"/>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10</a:t>
            </a:r>
            <a:endParaRPr sz="10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92C82"/>
        </a:solidFill>
      </p:bgPr>
    </p:bg>
    <p:spTree>
      <p:nvGrpSpPr>
        <p:cNvPr id="305" name="Shape 305"/>
        <p:cNvGrpSpPr/>
        <p:nvPr/>
      </p:nvGrpSpPr>
      <p:grpSpPr>
        <a:xfrm>
          <a:off x="0" y="0"/>
          <a:ext cx="0" cy="0"/>
          <a:chOff x="0" y="0"/>
          <a:chExt cx="0" cy="0"/>
        </a:xfrm>
      </p:grpSpPr>
      <p:sp>
        <p:nvSpPr>
          <p:cNvPr id="306" name="Google Shape;306;p13"/>
          <p:cNvSpPr/>
          <p:nvPr/>
        </p:nvSpPr>
        <p:spPr>
          <a:xfrm>
            <a:off x="731520" y="640080"/>
            <a:ext cx="7315200" cy="5486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050"/>
              <a:buFont typeface="Poppins SemiBold"/>
              <a:buNone/>
            </a:pPr>
            <a:r>
              <a:rPr lang="en-US" sz="3050">
                <a:solidFill>
                  <a:srgbClr val="FFFFFF"/>
                </a:solidFill>
                <a:latin typeface="Poppins SemiBold"/>
                <a:ea typeface="Poppins SemiBold"/>
                <a:cs typeface="Poppins SemiBold"/>
                <a:sym typeface="Poppins SemiBold"/>
              </a:rPr>
              <a:t>Before you go</a:t>
            </a:r>
            <a:endParaRPr sz="3050">
              <a:solidFill>
                <a:schemeClr val="dk1"/>
              </a:solidFill>
              <a:latin typeface="Calibri"/>
              <a:ea typeface="Calibri"/>
              <a:cs typeface="Calibri"/>
              <a:sym typeface="Calibri"/>
            </a:endParaRPr>
          </a:p>
        </p:txBody>
      </p:sp>
      <p:pic>
        <p:nvPicPr>
          <p:cNvPr descr="/home/claude/moduleJ/icons/check.png" id="307" name="Google Shape;307;p13"/>
          <p:cNvPicPr preferRelativeResize="0"/>
          <p:nvPr/>
        </p:nvPicPr>
        <p:blipFill rotWithShape="1">
          <a:blip r:embed="rId3">
            <a:alphaModFix/>
          </a:blip>
          <a:srcRect b="0" l="0" r="0" t="0"/>
          <a:stretch/>
        </p:blipFill>
        <p:spPr>
          <a:xfrm>
            <a:off x="731520" y="1627632"/>
            <a:ext cx="365760" cy="365760"/>
          </a:xfrm>
          <a:prstGeom prst="rect">
            <a:avLst/>
          </a:prstGeom>
          <a:noFill/>
          <a:ln>
            <a:noFill/>
          </a:ln>
        </p:spPr>
      </p:pic>
      <p:sp>
        <p:nvSpPr>
          <p:cNvPr id="308" name="Google Shape;308;p13"/>
          <p:cNvSpPr/>
          <p:nvPr/>
        </p:nvSpPr>
        <p:spPr>
          <a:xfrm>
            <a:off x="1234440" y="160020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Skills Week:  </a:t>
            </a:r>
            <a:r>
              <a:rPr lang="en-US" sz="1900">
                <a:solidFill>
                  <a:srgbClr val="FFFFFF"/>
                </a:solidFill>
                <a:latin typeface="Poppins"/>
                <a:ea typeface="Poppins"/>
                <a:cs typeface="Poppins"/>
                <a:sym typeface="Poppins"/>
              </a:rPr>
              <a:t>Monday 8 March 2027</a:t>
            </a:r>
            <a:endParaRPr sz="1900">
              <a:solidFill>
                <a:schemeClr val="dk1"/>
              </a:solidFill>
              <a:latin typeface="Calibri"/>
              <a:ea typeface="Calibri"/>
              <a:cs typeface="Calibri"/>
              <a:sym typeface="Calibri"/>
            </a:endParaRPr>
          </a:p>
        </p:txBody>
      </p:sp>
      <p:pic>
        <p:nvPicPr>
          <p:cNvPr descr="/home/claude/moduleJ/icons/check.png" id="309" name="Google Shape;309;p13"/>
          <p:cNvPicPr preferRelativeResize="0"/>
          <p:nvPr/>
        </p:nvPicPr>
        <p:blipFill rotWithShape="1">
          <a:blip r:embed="rId3">
            <a:alphaModFix/>
          </a:blip>
          <a:srcRect b="0" l="0" r="0" t="0"/>
          <a:stretch/>
        </p:blipFill>
        <p:spPr>
          <a:xfrm>
            <a:off x="731520" y="2221992"/>
            <a:ext cx="365760" cy="365760"/>
          </a:xfrm>
          <a:prstGeom prst="rect">
            <a:avLst/>
          </a:prstGeom>
          <a:noFill/>
          <a:ln>
            <a:noFill/>
          </a:ln>
        </p:spPr>
      </p:pic>
      <p:sp>
        <p:nvSpPr>
          <p:cNvPr id="310" name="Google Shape;310;p13"/>
          <p:cNvSpPr/>
          <p:nvPr/>
        </p:nvSpPr>
        <p:spPr>
          <a:xfrm>
            <a:off x="1234440" y="219456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Your deadline:  </a:t>
            </a:r>
            <a:r>
              <a:rPr lang="en-US" sz="1900">
                <a:solidFill>
                  <a:srgbClr val="FFFFFF"/>
                </a:solidFill>
                <a:latin typeface="Poppins"/>
                <a:ea typeface="Poppins"/>
                <a:cs typeface="Poppins"/>
                <a:sym typeface="Poppins"/>
              </a:rPr>
              <a:t>Friday 5 February 2027, on Navigate</a:t>
            </a:r>
            <a:endParaRPr sz="1900">
              <a:solidFill>
                <a:schemeClr val="dk1"/>
              </a:solidFill>
              <a:latin typeface="Calibri"/>
              <a:ea typeface="Calibri"/>
              <a:cs typeface="Calibri"/>
              <a:sym typeface="Calibri"/>
            </a:endParaRPr>
          </a:p>
        </p:txBody>
      </p:sp>
      <p:pic>
        <p:nvPicPr>
          <p:cNvPr descr="/home/claude/moduleJ/icons/check.png" id="311" name="Google Shape;311;p13"/>
          <p:cNvPicPr preferRelativeResize="0"/>
          <p:nvPr/>
        </p:nvPicPr>
        <p:blipFill rotWithShape="1">
          <a:blip r:embed="rId3">
            <a:alphaModFix/>
          </a:blip>
          <a:srcRect b="0" l="0" r="0" t="0"/>
          <a:stretch/>
        </p:blipFill>
        <p:spPr>
          <a:xfrm>
            <a:off x="731520" y="2816352"/>
            <a:ext cx="365760" cy="365760"/>
          </a:xfrm>
          <a:prstGeom prst="rect">
            <a:avLst/>
          </a:prstGeom>
          <a:noFill/>
          <a:ln>
            <a:noFill/>
          </a:ln>
        </p:spPr>
      </p:pic>
      <p:sp>
        <p:nvSpPr>
          <p:cNvPr id="312" name="Google Shape;312;p13"/>
          <p:cNvSpPr/>
          <p:nvPr/>
        </p:nvSpPr>
        <p:spPr>
          <a:xfrm>
            <a:off x="1234440" y="2788920"/>
            <a:ext cx="10180015"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900"/>
              <a:buFont typeface="Poppins"/>
              <a:buNone/>
            </a:pPr>
            <a:r>
              <a:rPr b="1" lang="en-US" sz="1900">
                <a:solidFill>
                  <a:srgbClr val="FFCF01"/>
                </a:solidFill>
                <a:latin typeface="Poppins"/>
                <a:ea typeface="Poppins"/>
                <a:cs typeface="Poppins"/>
                <a:sym typeface="Poppins"/>
              </a:rPr>
              <a:t>Stuck, or need help?:  </a:t>
            </a:r>
            <a:r>
              <a:rPr lang="en-US" sz="1900">
                <a:solidFill>
                  <a:srgbClr val="FFFFFF"/>
                </a:solidFill>
                <a:latin typeface="Poppins"/>
                <a:ea typeface="Poppins"/>
                <a:cs typeface="Poppins"/>
                <a:sym typeface="Poppins"/>
              </a:rPr>
              <a:t>Your campus Careers &amp; Employability team</a:t>
            </a:r>
            <a:endParaRPr sz="1900">
              <a:solidFill>
                <a:schemeClr val="dk1"/>
              </a:solidFill>
              <a:latin typeface="Calibri"/>
              <a:ea typeface="Calibri"/>
              <a:cs typeface="Calibri"/>
              <a:sym typeface="Calibri"/>
            </a:endParaRPr>
          </a:p>
        </p:txBody>
      </p:sp>
      <p:sp>
        <p:nvSpPr>
          <p:cNvPr id="313" name="Google Shape;313;p13"/>
          <p:cNvSpPr/>
          <p:nvPr/>
        </p:nvSpPr>
        <p:spPr>
          <a:xfrm>
            <a:off x="731520" y="3749040"/>
            <a:ext cx="10728655" cy="1188720"/>
          </a:xfrm>
          <a:prstGeom prst="roundRect">
            <a:avLst>
              <a:gd fmla="val 7692" name="adj"/>
            </a:avLst>
          </a:prstGeom>
          <a:solidFill>
            <a:srgbClr val="46246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13"/>
          <p:cNvSpPr/>
          <p:nvPr/>
        </p:nvSpPr>
        <p:spPr>
          <a:xfrm>
            <a:off x="1005840" y="3749040"/>
            <a:ext cx="10180015" cy="1188720"/>
          </a:xfrm>
          <a:prstGeom prst="rect">
            <a:avLst/>
          </a:prstGeom>
          <a:noFill/>
          <a:ln>
            <a:noFill/>
          </a:ln>
        </p:spPr>
        <p:txBody>
          <a:bodyPr anchorCtr="0" anchor="ctr" bIns="45700" lIns="91425" spcFirstLastPara="1" rIns="91425" wrap="square" tIns="45700">
            <a:noAutofit/>
          </a:bodyPr>
          <a:lstStyle/>
          <a:p>
            <a:pPr indent="0" lvl="0" marL="0" marR="0" rtl="0" algn="l">
              <a:lnSpc>
                <a:spcPct val="120000"/>
              </a:lnSpc>
              <a:spcBef>
                <a:spcPts val="0"/>
              </a:spcBef>
              <a:spcAft>
                <a:spcPts val="0"/>
              </a:spcAft>
              <a:buClr>
                <a:srgbClr val="FFFFFF"/>
              </a:buClr>
              <a:buSzPts val="1650"/>
              <a:buFont typeface="Poppins"/>
              <a:buNone/>
            </a:pPr>
            <a:r>
              <a:rPr i="1" lang="en-US" sz="1650">
                <a:solidFill>
                  <a:srgbClr val="FFFFFF"/>
                </a:solidFill>
                <a:latin typeface="Poppins"/>
                <a:ea typeface="Poppins"/>
                <a:cs typeface="Poppins"/>
                <a:sym typeface="Poppins"/>
              </a:rPr>
              <a:t>This is real employer contact, on your record, working toward your qualification. In this industry you are hired on what you can show and who will vouch for you — a placement builds both. Seek the opportunity.</a:t>
            </a:r>
            <a:endParaRPr sz="1650">
              <a:solidFill>
                <a:schemeClr val="dk1"/>
              </a:solidFill>
              <a:latin typeface="Calibri"/>
              <a:ea typeface="Calibri"/>
              <a:cs typeface="Calibri"/>
              <a:sym typeface="Calibri"/>
            </a:endParaRPr>
          </a:p>
        </p:txBody>
      </p:sp>
      <p:sp>
        <p:nvSpPr>
          <p:cNvPr id="315" name="Google Shape;315;p13"/>
          <p:cNvSpPr/>
          <p:nvPr/>
        </p:nvSpPr>
        <p:spPr>
          <a:xfrm>
            <a:off x="548640" y="6473952"/>
            <a:ext cx="731520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Module J — Work Experience  ·  Level 3, Year 1</a:t>
            </a:r>
            <a:endParaRPr sz="1050">
              <a:solidFill>
                <a:schemeClr val="dk1"/>
              </a:solidFill>
              <a:latin typeface="Calibri"/>
              <a:ea typeface="Calibri"/>
              <a:cs typeface="Calibri"/>
              <a:sym typeface="Calibri"/>
            </a:endParaRPr>
          </a:p>
        </p:txBody>
      </p:sp>
      <p:sp>
        <p:nvSpPr>
          <p:cNvPr id="316" name="Google Shape;316;p13"/>
          <p:cNvSpPr/>
          <p:nvPr/>
        </p:nvSpPr>
        <p:spPr>
          <a:xfrm>
            <a:off x="11368735" y="6473952"/>
            <a:ext cx="365760" cy="27432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5A6A6F"/>
              </a:buClr>
              <a:buSzPts val="1050"/>
              <a:buFont typeface="Poppins"/>
              <a:buNone/>
            </a:pPr>
            <a:r>
              <a:rPr lang="en-US" sz="1050">
                <a:solidFill>
                  <a:srgbClr val="5A6A6F"/>
                </a:solidFill>
                <a:latin typeface="Poppins"/>
                <a:ea typeface="Poppins"/>
                <a:cs typeface="Poppins"/>
                <a:sym typeface="Poppins"/>
              </a:rPr>
              <a:t>11</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A2A2A"/>
        </a:solidFill>
      </p:bgPr>
    </p:bg>
    <p:spTree>
      <p:nvGrpSpPr>
        <p:cNvPr id="321" name="Shape 321"/>
        <p:cNvGrpSpPr/>
        <p:nvPr/>
      </p:nvGrpSpPr>
      <p:grpSpPr>
        <a:xfrm>
          <a:off x="0" y="0"/>
          <a:ext cx="0" cy="0"/>
          <a:chOff x="0" y="0"/>
          <a:chExt cx="0" cy="0"/>
        </a:xfrm>
      </p:grpSpPr>
      <p:sp>
        <p:nvSpPr>
          <p:cNvPr id="322" name="Google Shape;322;p14"/>
          <p:cNvSpPr/>
          <p:nvPr/>
        </p:nvSpPr>
        <p:spPr>
          <a:xfrm>
            <a:off x="0" y="0"/>
            <a:ext cx="12191695" cy="502920"/>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4"/>
          <p:cNvSpPr/>
          <p:nvPr/>
        </p:nvSpPr>
        <p:spPr>
          <a:xfrm>
            <a:off x="365760" y="0"/>
            <a:ext cx="11460175" cy="5029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650"/>
              <a:buFont typeface="Poppins SemiBold"/>
              <a:buNone/>
            </a:pPr>
            <a:r>
              <a:rPr lang="en-US" sz="1650">
                <a:solidFill>
                  <a:srgbClr val="FFFFFF"/>
                </a:solidFill>
                <a:latin typeface="Poppins SemiBold"/>
                <a:ea typeface="Poppins SemiBold"/>
                <a:cs typeface="Poppins SemiBold"/>
                <a:sym typeface="Poppins SemiBold"/>
              </a:rPr>
              <a:t>DO NOT DISPLAY TO STUDENTS  ·  TEACHER APPENDIX</a:t>
            </a:r>
            <a:endParaRPr sz="1650">
              <a:solidFill>
                <a:schemeClr val="dk1"/>
              </a:solidFill>
              <a:latin typeface="Calibri"/>
              <a:ea typeface="Calibri"/>
              <a:cs typeface="Calibri"/>
              <a:sym typeface="Calibri"/>
            </a:endParaRPr>
          </a:p>
        </p:txBody>
      </p:sp>
      <p:sp>
        <p:nvSpPr>
          <p:cNvPr id="324" name="Google Shape;324;p14"/>
          <p:cNvSpPr/>
          <p:nvPr/>
        </p:nvSpPr>
        <p:spPr>
          <a:xfrm>
            <a:off x="365760" y="594360"/>
            <a:ext cx="11460175"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550"/>
              <a:buFont typeface="Poppins SemiBold"/>
              <a:buNone/>
            </a:pPr>
            <a:r>
              <a:rPr lang="en-US" sz="1550">
                <a:solidFill>
                  <a:srgbClr val="FFFFFF"/>
                </a:solidFill>
                <a:latin typeface="Poppins SemiBold"/>
                <a:ea typeface="Poppins SemiBold"/>
                <a:cs typeface="Poppins SemiBold"/>
                <a:sym typeface="Poppins SemiBold"/>
              </a:rPr>
              <a:t>Module J — Work Experience  ·  Level 3, Year 1</a:t>
            </a:r>
            <a:endParaRPr sz="1550">
              <a:solidFill>
                <a:schemeClr val="dk1"/>
              </a:solidFill>
              <a:latin typeface="Calibri"/>
              <a:ea typeface="Calibri"/>
              <a:cs typeface="Calibri"/>
              <a:sym typeface="Calibri"/>
            </a:endParaRPr>
          </a:p>
        </p:txBody>
      </p:sp>
      <p:sp>
        <p:nvSpPr>
          <p:cNvPr id="325" name="Google Shape;325;p14"/>
          <p:cNvSpPr/>
          <p:nvPr/>
        </p:nvSpPr>
        <p:spPr>
          <a:xfrm>
            <a:off x="365760" y="1051560"/>
            <a:ext cx="5120640" cy="5715000"/>
          </a:xfrm>
          <a:prstGeom prst="roundRect">
            <a:avLst>
              <a:gd fmla="val 1429"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14"/>
          <p:cNvSpPr/>
          <p:nvPr/>
        </p:nvSpPr>
        <p:spPr>
          <a:xfrm>
            <a:off x="594360" y="1216152"/>
            <a:ext cx="4663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400"/>
              <a:buFont typeface="Poppins SemiBold"/>
              <a:buNone/>
            </a:pPr>
            <a:r>
              <a:rPr lang="en-US" sz="1400">
                <a:solidFill>
                  <a:srgbClr val="FFCF01"/>
                </a:solidFill>
                <a:latin typeface="Poppins SemiBold"/>
                <a:ea typeface="Poppins SemiBold"/>
                <a:cs typeface="Poppins SemiBold"/>
                <a:sym typeface="Poppins SemiBold"/>
              </a:rPr>
              <a:t>RUNNING ORDER</a:t>
            </a:r>
            <a:endParaRPr sz="1400">
              <a:solidFill>
                <a:schemeClr val="dk1"/>
              </a:solidFill>
              <a:latin typeface="Calibri"/>
              <a:ea typeface="Calibri"/>
              <a:cs typeface="Calibri"/>
              <a:sym typeface="Calibri"/>
            </a:endParaRPr>
          </a:p>
        </p:txBody>
      </p:sp>
      <p:sp>
        <p:nvSpPr>
          <p:cNvPr id="327" name="Google Shape;327;p14"/>
          <p:cNvSpPr/>
          <p:nvPr/>
        </p:nvSpPr>
        <p:spPr>
          <a:xfrm>
            <a:off x="594360" y="160020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Session map</a:t>
            </a:r>
            <a:endParaRPr sz="1350">
              <a:solidFill>
                <a:schemeClr val="dk1"/>
              </a:solidFill>
              <a:latin typeface="Calibri"/>
              <a:ea typeface="Calibri"/>
              <a:cs typeface="Calibri"/>
              <a:sym typeface="Calibri"/>
            </a:endParaRPr>
          </a:p>
        </p:txBody>
      </p:sp>
      <p:sp>
        <p:nvSpPr>
          <p:cNvPr id="328" name="Google Shape;328;p14"/>
          <p:cNvSpPr/>
          <p:nvPr/>
        </p:nvSpPr>
        <p:spPr>
          <a:xfrm>
            <a:off x="4251960" y="160020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2 min</a:t>
            </a:r>
            <a:endParaRPr sz="1300">
              <a:solidFill>
                <a:schemeClr val="dk1"/>
              </a:solidFill>
              <a:latin typeface="Calibri"/>
              <a:ea typeface="Calibri"/>
              <a:cs typeface="Calibri"/>
              <a:sym typeface="Calibri"/>
            </a:endParaRPr>
          </a:p>
        </p:txBody>
      </p:sp>
      <p:sp>
        <p:nvSpPr>
          <p:cNvPr id="329" name="Google Shape;329;p14"/>
          <p:cNvSpPr/>
          <p:nvPr/>
        </p:nvSpPr>
        <p:spPr>
          <a:xfrm>
            <a:off x="594360" y="196596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Settled discussion</a:t>
            </a:r>
            <a:endParaRPr sz="1350">
              <a:solidFill>
                <a:schemeClr val="dk1"/>
              </a:solidFill>
              <a:latin typeface="Calibri"/>
              <a:ea typeface="Calibri"/>
              <a:cs typeface="Calibri"/>
              <a:sym typeface="Calibri"/>
            </a:endParaRPr>
          </a:p>
        </p:txBody>
      </p:sp>
      <p:sp>
        <p:nvSpPr>
          <p:cNvPr id="330" name="Google Shape;330;p14"/>
          <p:cNvSpPr/>
          <p:nvPr/>
        </p:nvSpPr>
        <p:spPr>
          <a:xfrm>
            <a:off x="4251960" y="196596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8-10 min</a:t>
            </a:r>
            <a:endParaRPr sz="1300">
              <a:solidFill>
                <a:schemeClr val="dk1"/>
              </a:solidFill>
              <a:latin typeface="Calibri"/>
              <a:ea typeface="Calibri"/>
              <a:cs typeface="Calibri"/>
              <a:sym typeface="Calibri"/>
            </a:endParaRPr>
          </a:p>
        </p:txBody>
      </p:sp>
      <p:sp>
        <p:nvSpPr>
          <p:cNvPr id="331" name="Google Shape;331;p14"/>
          <p:cNvSpPr/>
          <p:nvPr/>
        </p:nvSpPr>
        <p:spPr>
          <a:xfrm>
            <a:off x="594360" y="233172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Why it matters</a:t>
            </a:r>
            <a:endParaRPr sz="1350">
              <a:solidFill>
                <a:schemeClr val="dk1"/>
              </a:solidFill>
              <a:latin typeface="Calibri"/>
              <a:ea typeface="Calibri"/>
              <a:cs typeface="Calibri"/>
              <a:sym typeface="Calibri"/>
            </a:endParaRPr>
          </a:p>
        </p:txBody>
      </p:sp>
      <p:sp>
        <p:nvSpPr>
          <p:cNvPr id="332" name="Google Shape;332;p14"/>
          <p:cNvSpPr/>
          <p:nvPr/>
        </p:nvSpPr>
        <p:spPr>
          <a:xfrm>
            <a:off x="4251960" y="233172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33" name="Google Shape;333;p14"/>
          <p:cNvSpPr/>
          <p:nvPr/>
        </p:nvSpPr>
        <p:spPr>
          <a:xfrm>
            <a:off x="594360" y="269748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What it can look like</a:t>
            </a:r>
            <a:endParaRPr sz="1350">
              <a:solidFill>
                <a:schemeClr val="dk1"/>
              </a:solidFill>
              <a:latin typeface="Calibri"/>
              <a:ea typeface="Calibri"/>
              <a:cs typeface="Calibri"/>
              <a:sym typeface="Calibri"/>
            </a:endParaRPr>
          </a:p>
        </p:txBody>
      </p:sp>
      <p:sp>
        <p:nvSpPr>
          <p:cNvPr id="334" name="Google Shape;334;p14"/>
          <p:cNvSpPr/>
          <p:nvPr/>
        </p:nvSpPr>
        <p:spPr>
          <a:xfrm>
            <a:off x="4251960" y="269748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7 min</a:t>
            </a:r>
            <a:endParaRPr sz="1300">
              <a:solidFill>
                <a:schemeClr val="dk1"/>
              </a:solidFill>
              <a:latin typeface="Calibri"/>
              <a:ea typeface="Calibri"/>
              <a:cs typeface="Calibri"/>
              <a:sym typeface="Calibri"/>
            </a:endParaRPr>
          </a:p>
        </p:txBody>
      </p:sp>
      <p:sp>
        <p:nvSpPr>
          <p:cNvPr id="335" name="Google Shape;335;p14"/>
          <p:cNvSpPr/>
          <p:nvPr/>
        </p:nvSpPr>
        <p:spPr>
          <a:xfrm>
            <a:off x="594360" y="306324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Key dates</a:t>
            </a:r>
            <a:endParaRPr sz="1350">
              <a:solidFill>
                <a:schemeClr val="dk1"/>
              </a:solidFill>
              <a:latin typeface="Calibri"/>
              <a:ea typeface="Calibri"/>
              <a:cs typeface="Calibri"/>
              <a:sym typeface="Calibri"/>
            </a:endParaRPr>
          </a:p>
        </p:txBody>
      </p:sp>
      <p:sp>
        <p:nvSpPr>
          <p:cNvPr id="336" name="Google Shape;336;p14"/>
          <p:cNvSpPr/>
          <p:nvPr/>
        </p:nvSpPr>
        <p:spPr>
          <a:xfrm>
            <a:off x="4251960" y="306324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37" name="Google Shape;337;p14"/>
          <p:cNvSpPr/>
          <p:nvPr/>
        </p:nvSpPr>
        <p:spPr>
          <a:xfrm>
            <a:off x="594360" y="342900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Navigate &amp; Module H</a:t>
            </a:r>
            <a:endParaRPr sz="1350">
              <a:solidFill>
                <a:schemeClr val="dk1"/>
              </a:solidFill>
              <a:latin typeface="Calibri"/>
              <a:ea typeface="Calibri"/>
              <a:cs typeface="Calibri"/>
              <a:sym typeface="Calibri"/>
            </a:endParaRPr>
          </a:p>
        </p:txBody>
      </p:sp>
      <p:sp>
        <p:nvSpPr>
          <p:cNvPr id="338" name="Google Shape;338;p14"/>
          <p:cNvSpPr/>
          <p:nvPr/>
        </p:nvSpPr>
        <p:spPr>
          <a:xfrm>
            <a:off x="4251960" y="342900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8 min</a:t>
            </a:r>
            <a:endParaRPr sz="1300">
              <a:solidFill>
                <a:schemeClr val="dk1"/>
              </a:solidFill>
              <a:latin typeface="Calibri"/>
              <a:ea typeface="Calibri"/>
              <a:cs typeface="Calibri"/>
              <a:sym typeface="Calibri"/>
            </a:endParaRPr>
          </a:p>
        </p:txBody>
      </p:sp>
      <p:sp>
        <p:nvSpPr>
          <p:cNvPr id="339" name="Google Shape;339;p14"/>
          <p:cNvSpPr/>
          <p:nvPr/>
        </p:nvSpPr>
        <p:spPr>
          <a:xfrm>
            <a:off x="594360" y="379476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Who to go to</a:t>
            </a:r>
            <a:endParaRPr sz="1350">
              <a:solidFill>
                <a:schemeClr val="dk1"/>
              </a:solidFill>
              <a:latin typeface="Calibri"/>
              <a:ea typeface="Calibri"/>
              <a:cs typeface="Calibri"/>
              <a:sym typeface="Calibri"/>
            </a:endParaRPr>
          </a:p>
        </p:txBody>
      </p:sp>
      <p:sp>
        <p:nvSpPr>
          <p:cNvPr id="340" name="Google Shape;340;p14"/>
          <p:cNvSpPr/>
          <p:nvPr/>
        </p:nvSpPr>
        <p:spPr>
          <a:xfrm>
            <a:off x="4251960" y="379476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5 min</a:t>
            </a:r>
            <a:endParaRPr sz="1300">
              <a:solidFill>
                <a:schemeClr val="dk1"/>
              </a:solidFill>
              <a:latin typeface="Calibri"/>
              <a:ea typeface="Calibri"/>
              <a:cs typeface="Calibri"/>
              <a:sym typeface="Calibri"/>
            </a:endParaRPr>
          </a:p>
        </p:txBody>
      </p:sp>
      <p:sp>
        <p:nvSpPr>
          <p:cNvPr id="341" name="Google Shape;341;p14"/>
          <p:cNvSpPr/>
          <p:nvPr/>
        </p:nvSpPr>
        <p:spPr>
          <a:xfrm>
            <a:off x="594360" y="416052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On placement</a:t>
            </a:r>
            <a:endParaRPr sz="1350">
              <a:solidFill>
                <a:schemeClr val="dk1"/>
              </a:solidFill>
              <a:latin typeface="Calibri"/>
              <a:ea typeface="Calibri"/>
              <a:cs typeface="Calibri"/>
              <a:sym typeface="Calibri"/>
            </a:endParaRPr>
          </a:p>
        </p:txBody>
      </p:sp>
      <p:sp>
        <p:nvSpPr>
          <p:cNvPr id="342" name="Google Shape;342;p14"/>
          <p:cNvSpPr/>
          <p:nvPr/>
        </p:nvSpPr>
        <p:spPr>
          <a:xfrm>
            <a:off x="4251960" y="416052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8 min</a:t>
            </a:r>
            <a:endParaRPr sz="1300">
              <a:solidFill>
                <a:schemeClr val="dk1"/>
              </a:solidFill>
              <a:latin typeface="Calibri"/>
              <a:ea typeface="Calibri"/>
              <a:cs typeface="Calibri"/>
              <a:sym typeface="Calibri"/>
            </a:endParaRPr>
          </a:p>
        </p:txBody>
      </p:sp>
      <p:sp>
        <p:nvSpPr>
          <p:cNvPr id="343" name="Google Shape;343;p14"/>
          <p:cNvSpPr/>
          <p:nvPr/>
        </p:nvSpPr>
        <p:spPr>
          <a:xfrm>
            <a:off x="594360" y="452628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Commitment activity</a:t>
            </a:r>
            <a:endParaRPr sz="1350">
              <a:solidFill>
                <a:schemeClr val="dk1"/>
              </a:solidFill>
              <a:latin typeface="Calibri"/>
              <a:ea typeface="Calibri"/>
              <a:cs typeface="Calibri"/>
              <a:sym typeface="Calibri"/>
            </a:endParaRPr>
          </a:p>
        </p:txBody>
      </p:sp>
      <p:sp>
        <p:nvSpPr>
          <p:cNvPr id="344" name="Google Shape;344;p14"/>
          <p:cNvSpPr/>
          <p:nvPr/>
        </p:nvSpPr>
        <p:spPr>
          <a:xfrm>
            <a:off x="4251960" y="452628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6 min</a:t>
            </a:r>
            <a:endParaRPr sz="1300">
              <a:solidFill>
                <a:schemeClr val="dk1"/>
              </a:solidFill>
              <a:latin typeface="Calibri"/>
              <a:ea typeface="Calibri"/>
              <a:cs typeface="Calibri"/>
              <a:sym typeface="Calibri"/>
            </a:endParaRPr>
          </a:p>
        </p:txBody>
      </p:sp>
      <p:sp>
        <p:nvSpPr>
          <p:cNvPr id="345" name="Google Shape;345;p14"/>
          <p:cNvSpPr/>
          <p:nvPr/>
        </p:nvSpPr>
        <p:spPr>
          <a:xfrm>
            <a:off x="594360" y="4892040"/>
            <a:ext cx="3840480" cy="32918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1350"/>
              <a:buFont typeface="Poppins"/>
              <a:buNone/>
            </a:pPr>
            <a:r>
              <a:rPr lang="en-US" sz="1350">
                <a:solidFill>
                  <a:srgbClr val="FFFFFF"/>
                </a:solidFill>
                <a:latin typeface="Poppins"/>
                <a:ea typeface="Poppins"/>
                <a:cs typeface="Poppins"/>
                <a:sym typeface="Poppins"/>
              </a:rPr>
              <a:t>Close</a:t>
            </a:r>
            <a:endParaRPr sz="1350">
              <a:solidFill>
                <a:schemeClr val="dk1"/>
              </a:solidFill>
              <a:latin typeface="Calibri"/>
              <a:ea typeface="Calibri"/>
              <a:cs typeface="Calibri"/>
              <a:sym typeface="Calibri"/>
            </a:endParaRPr>
          </a:p>
        </p:txBody>
      </p:sp>
      <p:sp>
        <p:nvSpPr>
          <p:cNvPr id="346" name="Google Shape;346;p14"/>
          <p:cNvSpPr/>
          <p:nvPr/>
        </p:nvSpPr>
        <p:spPr>
          <a:xfrm>
            <a:off x="4251960" y="4892040"/>
            <a:ext cx="1005840" cy="329184"/>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BFBFBF"/>
              </a:buClr>
              <a:buSzPts val="1300"/>
              <a:buFont typeface="Poppins"/>
              <a:buNone/>
            </a:pPr>
            <a:r>
              <a:rPr lang="en-US" sz="1300">
                <a:solidFill>
                  <a:srgbClr val="BFBFBF"/>
                </a:solidFill>
                <a:latin typeface="Poppins"/>
                <a:ea typeface="Poppins"/>
                <a:cs typeface="Poppins"/>
                <a:sym typeface="Poppins"/>
              </a:rPr>
              <a:t>2 min</a:t>
            </a:r>
            <a:endParaRPr sz="1300">
              <a:solidFill>
                <a:schemeClr val="dk1"/>
              </a:solidFill>
              <a:latin typeface="Calibri"/>
              <a:ea typeface="Calibri"/>
              <a:cs typeface="Calibri"/>
              <a:sym typeface="Calibri"/>
            </a:endParaRPr>
          </a:p>
        </p:txBody>
      </p:sp>
      <p:sp>
        <p:nvSpPr>
          <p:cNvPr id="347" name="Google Shape;347;p14"/>
          <p:cNvSpPr/>
          <p:nvPr/>
        </p:nvSpPr>
        <p:spPr>
          <a:xfrm>
            <a:off x="594360" y="5349240"/>
            <a:ext cx="466344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00"/>
              <a:buFont typeface="Poppins SemiBold"/>
              <a:buNone/>
            </a:pPr>
            <a:r>
              <a:rPr lang="en-US" sz="1300">
                <a:solidFill>
                  <a:srgbClr val="FFCF01"/>
                </a:solidFill>
                <a:latin typeface="Poppins SemiBold"/>
                <a:ea typeface="Poppins SemiBold"/>
                <a:cs typeface="Poppins SemiBold"/>
                <a:sym typeface="Poppins SemiBold"/>
              </a:rPr>
              <a:t>Total: approx. 58-60 minutes</a:t>
            </a:r>
            <a:endParaRPr sz="1300">
              <a:solidFill>
                <a:schemeClr val="dk1"/>
              </a:solidFill>
              <a:latin typeface="Calibri"/>
              <a:ea typeface="Calibri"/>
              <a:cs typeface="Calibri"/>
              <a:sym typeface="Calibri"/>
            </a:endParaRPr>
          </a:p>
        </p:txBody>
      </p:sp>
      <p:sp>
        <p:nvSpPr>
          <p:cNvPr id="348" name="Google Shape;348;p14"/>
          <p:cNvSpPr/>
          <p:nvPr/>
        </p:nvSpPr>
        <p:spPr>
          <a:xfrm>
            <a:off x="5715000" y="1051560"/>
            <a:ext cx="6110935" cy="1828800"/>
          </a:xfrm>
          <a:prstGeom prst="roundRect">
            <a:avLst>
              <a:gd fmla="val 4000"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9" name="Google Shape;349;p14"/>
          <p:cNvSpPr/>
          <p:nvPr/>
        </p:nvSpPr>
        <p:spPr>
          <a:xfrm>
            <a:off x="5916168" y="118872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50"/>
              <a:buFont typeface="Poppins SemiBold"/>
              <a:buNone/>
            </a:pPr>
            <a:r>
              <a:rPr lang="en-US" sz="1350">
                <a:solidFill>
                  <a:srgbClr val="FFCF01"/>
                </a:solidFill>
                <a:latin typeface="Poppins SemiBold"/>
                <a:ea typeface="Poppins SemiBold"/>
                <a:cs typeface="Poppins SemiBold"/>
                <a:sym typeface="Poppins SemiBold"/>
              </a:rPr>
              <a:t>TEACHING THIS GROUP</a:t>
            </a:r>
            <a:endParaRPr sz="1350">
              <a:solidFill>
                <a:schemeClr val="dk1"/>
              </a:solidFill>
              <a:latin typeface="Calibri"/>
              <a:ea typeface="Calibri"/>
              <a:cs typeface="Calibri"/>
              <a:sym typeface="Calibri"/>
            </a:endParaRPr>
          </a:p>
        </p:txBody>
      </p:sp>
      <p:sp>
        <p:nvSpPr>
          <p:cNvPr id="350" name="Google Shape;350;p14"/>
          <p:cNvSpPr/>
          <p:nvPr/>
        </p:nvSpPr>
        <p:spPr>
          <a:xfrm>
            <a:off x="5916168" y="1490472"/>
            <a:ext cx="5708599" cy="1468755"/>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Level 3, Year 1 students expect a min. 30hr external placement (except A2 equivalents). Keep the tone practical and demystifying; full Navigate training is Module H. T Level students also carry a separate industry placement of around 315 hours — confirm the figure and make sure they do not conflate the two. Many assume a placement must be a named studio; widen it early. The "no placement yet" fallback should reassure.</a:t>
            </a:r>
            <a:endParaRPr sz="1150">
              <a:solidFill>
                <a:schemeClr val="dk1"/>
              </a:solidFill>
              <a:latin typeface="Calibri"/>
              <a:ea typeface="Calibri"/>
              <a:cs typeface="Calibri"/>
              <a:sym typeface="Calibri"/>
            </a:endParaRPr>
          </a:p>
        </p:txBody>
      </p:sp>
      <p:sp>
        <p:nvSpPr>
          <p:cNvPr id="351" name="Google Shape;351;p14"/>
          <p:cNvSpPr/>
          <p:nvPr/>
        </p:nvSpPr>
        <p:spPr>
          <a:xfrm>
            <a:off x="5715000" y="3017520"/>
            <a:ext cx="6110935" cy="1828800"/>
          </a:xfrm>
          <a:prstGeom prst="roundRect">
            <a:avLst>
              <a:gd fmla="val 4000" name="adj"/>
            </a:avLst>
          </a:prstGeom>
          <a:solidFill>
            <a:srgbClr val="3A3A3A"/>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14"/>
          <p:cNvSpPr/>
          <p:nvPr/>
        </p:nvSpPr>
        <p:spPr>
          <a:xfrm>
            <a:off x="5916168" y="315468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CF01"/>
              </a:buClr>
              <a:buSzPts val="1350"/>
              <a:buFont typeface="Poppins SemiBold"/>
              <a:buNone/>
            </a:pPr>
            <a:r>
              <a:rPr lang="en-US" sz="1350">
                <a:solidFill>
                  <a:srgbClr val="FFCF01"/>
                </a:solidFill>
                <a:latin typeface="Poppins SemiBold"/>
                <a:ea typeface="Poppins SemiBold"/>
                <a:cs typeface="Poppins SemiBold"/>
                <a:sym typeface="Poppins SemiBold"/>
              </a:rPr>
              <a:t>PRE-FLIGHT CHECKLIST</a:t>
            </a:r>
            <a:endParaRPr sz="1350">
              <a:solidFill>
                <a:schemeClr val="dk1"/>
              </a:solidFill>
              <a:latin typeface="Calibri"/>
              <a:ea typeface="Calibri"/>
              <a:cs typeface="Calibri"/>
              <a:sym typeface="Calibri"/>
            </a:endParaRPr>
          </a:p>
        </p:txBody>
      </p:sp>
      <p:sp>
        <p:nvSpPr>
          <p:cNvPr id="353" name="Google Shape;353;p14"/>
          <p:cNvSpPr/>
          <p:nvPr/>
        </p:nvSpPr>
        <p:spPr>
          <a:xfrm>
            <a:off x="5916168" y="3493008"/>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Confirm Module H is scheduled for this group before/around this session</a:t>
            </a:r>
            <a:endParaRPr sz="1150">
              <a:solidFill>
                <a:schemeClr val="dk1"/>
              </a:solidFill>
              <a:latin typeface="Calibri"/>
              <a:ea typeface="Calibri"/>
              <a:cs typeface="Calibri"/>
              <a:sym typeface="Calibri"/>
            </a:endParaRPr>
          </a:p>
        </p:txBody>
      </p:sp>
      <p:sp>
        <p:nvSpPr>
          <p:cNvPr id="354" name="Google Shape;354;p14"/>
          <p:cNvSpPr/>
          <p:nvPr/>
        </p:nvSpPr>
        <p:spPr>
          <a:xfrm>
            <a:off x="5916168" y="3822192"/>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Print or prepare commitment cards</a:t>
            </a:r>
            <a:endParaRPr sz="1150">
              <a:solidFill>
                <a:schemeClr val="dk1"/>
              </a:solidFill>
              <a:latin typeface="Calibri"/>
              <a:ea typeface="Calibri"/>
              <a:cs typeface="Calibri"/>
              <a:sym typeface="Calibri"/>
            </a:endParaRPr>
          </a:p>
        </p:txBody>
      </p:sp>
      <p:sp>
        <p:nvSpPr>
          <p:cNvPr id="355" name="Google Shape;355;p14"/>
          <p:cNvSpPr/>
          <p:nvPr/>
        </p:nvSpPr>
        <p:spPr>
          <a:xfrm>
            <a:off x="5916168" y="4151376"/>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Have the My Student Life hub on screen if possible when covering slide 7</a:t>
            </a:r>
            <a:endParaRPr sz="1150">
              <a:solidFill>
                <a:schemeClr val="dk1"/>
              </a:solidFill>
              <a:latin typeface="Calibri"/>
              <a:ea typeface="Calibri"/>
              <a:cs typeface="Calibri"/>
              <a:sym typeface="Calibri"/>
            </a:endParaRPr>
          </a:p>
        </p:txBody>
      </p:sp>
      <p:sp>
        <p:nvSpPr>
          <p:cNvPr id="356" name="Google Shape;356;p14"/>
          <p:cNvSpPr/>
          <p:nvPr/>
        </p:nvSpPr>
        <p:spPr>
          <a:xfrm>
            <a:off x="5916168" y="4480560"/>
            <a:ext cx="5708599" cy="347472"/>
          </a:xfrm>
          <a:prstGeom prst="rect">
            <a:avLst/>
          </a:prstGeom>
          <a:noFill/>
          <a:ln>
            <a:noFill/>
          </a:ln>
        </p:spPr>
        <p:txBody>
          <a:bodyPr anchorCtr="0" anchor="ctr" bIns="45700" lIns="91425" spcFirstLastPara="1" rIns="91425" wrap="square" tIns="45700">
            <a:noAutofit/>
          </a:bodyPr>
          <a:lstStyle/>
          <a:p>
            <a:pPr indent="0" lvl="0" marL="0" marR="0" rtl="0" algn="l">
              <a:lnSpc>
                <a:spcPct val="108000"/>
              </a:lnSpc>
              <a:spcBef>
                <a:spcPts val="0"/>
              </a:spcBef>
              <a:spcAft>
                <a:spcPts val="0"/>
              </a:spcAft>
              <a:buClr>
                <a:srgbClr val="E0E0E0"/>
              </a:buClr>
              <a:buSzPts val="1150"/>
              <a:buFont typeface="Poppins"/>
              <a:buNone/>
            </a:pPr>
            <a:r>
              <a:rPr lang="en-US" sz="1150">
                <a:solidFill>
                  <a:srgbClr val="E0E0E0"/>
                </a:solidFill>
                <a:latin typeface="Poppins"/>
                <a:ea typeface="Poppins"/>
                <a:cs typeface="Poppins"/>
                <a:sym typeface="Poppins"/>
              </a:rPr>
              <a:t>• Know your campus Careers team; delete unused campus rows on slide 8</a:t>
            </a:r>
            <a:endParaRPr sz="1150">
              <a:solidFill>
                <a:schemeClr val="dk1"/>
              </a:solidFill>
              <a:latin typeface="Calibri"/>
              <a:ea typeface="Calibri"/>
              <a:cs typeface="Calibri"/>
              <a:sym typeface="Calibri"/>
            </a:endParaRPr>
          </a:p>
        </p:txBody>
      </p:sp>
      <p:sp>
        <p:nvSpPr>
          <p:cNvPr id="357" name="Google Shape;357;p14"/>
          <p:cNvSpPr/>
          <p:nvPr/>
        </p:nvSpPr>
        <p:spPr>
          <a:xfrm>
            <a:off x="5715000" y="4983480"/>
            <a:ext cx="6110935" cy="1783080"/>
          </a:xfrm>
          <a:prstGeom prst="roundRect">
            <a:avLst>
              <a:gd fmla="val 4103" name="adj"/>
            </a:avLst>
          </a:prstGeom>
          <a:solidFill>
            <a:srgbClr val="F8E7E3"/>
          </a:solidFill>
          <a:ln cap="flat" cmpd="sng" w="1905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8" name="Google Shape;358;p14"/>
          <p:cNvSpPr/>
          <p:nvPr/>
        </p:nvSpPr>
        <p:spPr>
          <a:xfrm>
            <a:off x="5916168" y="5120640"/>
            <a:ext cx="5708599"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B23A2E"/>
              </a:buClr>
              <a:buSzPts val="1350"/>
              <a:buFont typeface="Poppins SemiBold"/>
              <a:buNone/>
            </a:pPr>
            <a:r>
              <a:rPr lang="en-US" sz="1350">
                <a:solidFill>
                  <a:srgbClr val="B23A2E"/>
                </a:solidFill>
                <a:latin typeface="Poppins SemiBold"/>
                <a:ea typeface="Poppins SemiBold"/>
                <a:cs typeface="Poppins SemiBold"/>
                <a:sym typeface="Poppins SemiBold"/>
              </a:rPr>
              <a:t>SAFEGUARDING ALERT</a:t>
            </a:r>
            <a:endParaRPr sz="1350">
              <a:solidFill>
                <a:schemeClr val="dk1"/>
              </a:solidFill>
              <a:latin typeface="Calibri"/>
              <a:ea typeface="Calibri"/>
              <a:cs typeface="Calibri"/>
              <a:sym typeface="Calibri"/>
            </a:endParaRPr>
          </a:p>
        </p:txBody>
      </p:sp>
      <p:sp>
        <p:nvSpPr>
          <p:cNvPr id="359" name="Google Shape;359;p14"/>
          <p:cNvSpPr/>
          <p:nvPr/>
        </p:nvSpPr>
        <p:spPr>
          <a:xfrm>
            <a:off x="5916168" y="5422392"/>
            <a:ext cx="5708599" cy="1440180"/>
          </a:xfrm>
          <a:prstGeom prst="rect">
            <a:avLst/>
          </a:prstGeom>
          <a:noFill/>
          <a:ln>
            <a:noFill/>
          </a:ln>
        </p:spPr>
        <p:txBody>
          <a:bodyPr anchorCtr="0" anchor="ctr" bIns="45700" lIns="91425" spcFirstLastPara="1" rIns="91425" wrap="square" tIns="45700">
            <a:noAutofit/>
          </a:bodyPr>
          <a:lstStyle/>
          <a:p>
            <a:pPr indent="0" lvl="0" marL="0" marR="0" rtl="0" algn="l">
              <a:lnSpc>
                <a:spcPct val="112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The "who to go to" and "on placement" slides are likely disclosure points (unsafe placement, confidence, personal circumstance). Here, watch also for image-based harm: students asked to film, photograph or post content involving themselves or others. If a student discloses: listen calmly, don’t promise confidentiality, don’t investigate yourself, report the same day via the ESCG safeguarding route. Module F holds the full procedure.</a:t>
            </a:r>
            <a:endParaRPr sz="11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