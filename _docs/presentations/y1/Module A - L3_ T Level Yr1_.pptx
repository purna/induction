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Poppins"/>
      <p:regular r:id="rId17"/>
      <p:bold r:id="rId18"/>
      <p:italic r:id="rId19"/>
      <p:boldItalic r:id="rId20"/>
    </p:embeddedFont>
    <p:embeddedFont>
      <p:font typeface="Poppins Light"/>
      <p:regular r:id="rId21"/>
      <p:bold r:id="rId22"/>
      <p:italic r:id="rId23"/>
      <p:boldItalic r:id="rId24"/>
    </p:embeddedFont>
    <p:embeddedFont>
      <p:font typeface="Poppins SemiBold"/>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PoppinsLight-bold.fntdata"/><Relationship Id="rId21" Type="http://schemas.openxmlformats.org/officeDocument/2006/relationships/font" Target="fonts/PoppinsLight-regular.fntdata"/><Relationship Id="rId24" Type="http://schemas.openxmlformats.org/officeDocument/2006/relationships/font" Target="fonts/PoppinsLight-boldItalic.fntdata"/><Relationship Id="rId23" Type="http://schemas.openxmlformats.org/officeDocument/2006/relationships/font" Target="fonts/PoppinsLigh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SemiBold-bold.fntdata"/><Relationship Id="rId25" Type="http://schemas.openxmlformats.org/officeDocument/2006/relationships/font" Target="fonts/PoppinsSemiBold-regular.fntdata"/><Relationship Id="rId28" Type="http://schemas.openxmlformats.org/officeDocument/2006/relationships/font" Target="fonts/PoppinsSemiBold-boldItalic.fntdata"/><Relationship Id="rId27" Type="http://schemas.openxmlformats.org/officeDocument/2006/relationships/font" Target="fonts/PoppinsSemi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MODULE A — WELCOME, BELONGING &amp; SUPPORT  |  Core variant (L2 / L3 Yr1)</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BEFORE YOU START: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This is most students' very first taught session at ESCG. Your single most important job today is that every student leaves feeling they are in the right place and that they belong here. Content is secondary to that.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Be in the room early. Greet students at the door if you can. Have the title slide showing as they arrive.</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You do NOT need to be an expert in any of this content — the slides and these notes will carry you. Speak naturally, in your own words.</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TIMING: ~55–60 mins total. Rough guide is on each slide in the top-right chip and in these notes.</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TEACHING RHYTHM — every slide is tagged:</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TEACHER INPUT (navy) = you explain / tell.</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DISCUSSION (green) = students talk; you facilitate.</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ACTIVITY (mustard) = students do a task.</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Keep moving between the three. No single 'TELL' stretch should run more than ~6 minutes.</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IF A STUDENT DISCLOSES SOMETHING (here or in any module): listen, do not promise confidentiality, and pass it to the Safeguarding team straight away via the normal ESCG reporting route. There is a reminder of this in Module F. If unsure, speak to your Safeguarding lead today.</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SAY SOMETHING LIKE: 'Welcome to East Sussex College. I'm [name]. Over the next hour we're going to get to know each other a bit, and I'll show you how your time here works. You don't need to have anything ready — just settle in.'</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2 — SESSION MAP  |  ~2 mins  |  Mode: SET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New students are often anxious because they don't know what's about to happen. This slide removes that anxiety. Walk through the six steps quickly and lightly.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'Here's our plan for the next hour. We'll start by getting to know each other, then I'll show you how college actually works day to day, and we'll finish with the fun stuff — clubs and trips. If anything isn't clear as we go, just ask.'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TIP: Reassure them explicitly — 'there's nothing to revise, nothing to get wrong'. For many students this is the most nervous they'll feel all year. Lowering the stakes out loud helps.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DO NOT read all six descriptions word for word — point at the cards, summarise, move on. Aim for under 2 minutes.</a:t>
            </a:r>
            <a:endParaRPr/>
          </a:p>
        </p:txBody>
      </p:sp>
      <p:sp>
        <p:nvSpPr>
          <p:cNvPr id="27" name="Google Shape;2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3 — MEET YOUR GROUP (icebreaker)  |  ~10 mins  |  Mode: ACTIVITY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RUNNING THE ACTIVITY: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Set it up in 30 seconds, then get them moving. The longer you explain, the more awkward it gets.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Expect it to feel a bit chaotic — that's fine and normal. Energy is good.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Circulate. Talk to the students who look least comfortable. Help groups form if someone is left out — no student should be standing alone.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After ~6 minutes, bring them back. Take 3–4 quick introductions only (not the whole room) — 'tell me one person's name and the thing you had in common'. Keep it warm and fast.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IF YOUR GROUP IS VERY QUIET / RELUCTANT: make it a seated version — 'turn to the person next to you' — and lower the target to one thing in common. Do not force students to stand if it raises anxiety.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IF YOU HAVE A SMALL GROUP (under 8): do it as one circle rather than sub-groups.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WHY IT MATTERS (you can share this or keep it for yourself): sense of belonging is strongly linked to retention and attendance. This eight-minute activity is doing real work.</a:t>
            </a:r>
            <a:endParaRPr/>
          </a:p>
        </p:txBody>
      </p:sp>
      <p:sp>
        <p:nvSpPr>
          <p:cNvPr id="78" name="Google Shape;7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4 — MEET YOUR TEACHERS  |  ~3–4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[ESCG TO CONFIRM] PANEL: this is yours to replace with your own introduction before you teach. Don't deliver it as a blank — students should never see a TO CONFIRM box.</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WHY THE HUMAN DETAIL MATTERS: students decide very quickly whether a teacher is approachable. One genuine, slightly personal detail (not over-shared) does more for that than any policy statement. It signals you're a real person they can talk to.</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TWO CARDS on the right are a light, two-way 'deal'. Read them naturally. The point is mutual respect — what they get, and what we ask in return. Don't labour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'You'll see a few different teachers and staff. We all want the same thing — for this to go well for you. If something isn't working, the worst thing you can do is stay quiet. Tell us early and we can sort it.'</a:t>
            </a:r>
            <a:endParaRPr/>
          </a:p>
        </p:txBody>
      </p:sp>
      <p:sp>
        <p:nvSpPr>
          <p:cNvPr id="114" name="Google Shape;11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5 — YOUR STUDY PROGRAMME  |  ~5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KEY MESSAGE: a study programme is MORE than lessons. Many students (and parents) think 'course = lessons only'. The four pillars show the fuller picture — especially work-related learning and tutorial time, which students often undervalue.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ENGLISH &amp; MATHS: handle this sensitively. For students who didn't get their grades at school, this can be a sore point. Frame it positively and matter-of-factly — 'it's a normal part of lots of students' programmes, and the support here is good'. Do not single anyone out.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[ESCG TO CONFIRM] STRIP: replace with this group's actual qualification title, level, and key dates before teaching. If you're unsure of any detail, check with your HoC rather than guessing.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KEEP IT HIGH-LEVEL. Students do not need the full assessment plan today — they need the shape of the year. Detail will come in subject lessons.</a:t>
            </a:r>
            <a:endParaRPr/>
          </a:p>
        </p:txBody>
      </p:sp>
      <p:sp>
        <p:nvSpPr>
          <p:cNvPr id="140" name="Google Shape;14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6 — TIMETABLE &amp; PRO PORTAL  |  ~7 mins  |  Mode: TEACHER INPUT (with hands-on if devices allow)</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A PRACTICAL SLIDE. The goal is simple: every student can log in and find their timetable. Don't lecture — get them doing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DEVICE NOTE: device access varies. If this group HAS devices today, do it live and check everyone is in before moving on. If NOT, demonstrate on the projector and arrange a follow-up moment in the first week — students must not go long without portal access.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[ESCG TO CONFIRM] PANEL needs the current login screenshot and step-by-step instructions. Get these from your HoC or the central induction site. Login details and screenshots go stale — use the current version.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COMMON ISSUES: locked accounts, forgotten passwords, username confusion. Know in advance who students contact for IT help, and tell them.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REINFORCE THE 'GOLDEN RULE': checking the portal each morning prevents most 'I didn't know' problems with room or timetable changes.</a:t>
            </a:r>
            <a:endParaRPr/>
          </a:p>
        </p:txBody>
      </p:sp>
      <p:sp>
        <p:nvSpPr>
          <p:cNvPr id="179" name="Google Shape;17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7 — DISCUSSION: HOPES &amp; WORRIES  |  ~8 mins  |  Mode: DISCUSSION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surface anxieties early, and show students their worries are normal and shared. This is one of the most valuable few minutes of the session.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Pairs first (2 mins) — much safer than whole-class for nervous students.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Then invite a FEW voluntary shares. Never put a specific student on the spot today.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When a worry is shared, normalise it: 'that's really common — anyone else?' Hands often go up. That visible 'I'm not the only one' moment is the point.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Where you can, briefly link a worry to help that exists ('finding your way around — we'll fix that, and there are maps / staff on hand'). Don't solve everything; just show worries are takeable-seriously.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WATCH FOR: a worry that signals a safeguarding or wellbeing concern (home, money, mental health, safety). Don't probe in front of the group — note it, and follow up privately and via the proper route afterwards. Module F covers reporting; if unsure, speak to your Safeguarding lead today.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IF THE ROOM IS SILENT: share a (light, appropriate) worry of your own from when you started something new. Modelling openness usually unlocks the room.</a:t>
            </a:r>
            <a:endParaRPr/>
          </a:p>
        </p:txBody>
      </p:sp>
      <p:sp>
        <p:nvSpPr>
          <p:cNvPr id="214" name="Google Shape;21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8 — SUPPORT AT COLLEGE  |  ~6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IMPORTANT — TONE: this slide is safeguarding-adjacent. Some students in the room will already be carrying a lot. Deliver it warmly and without drama: help is normal, available, and easy to reach.</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FOUR CARDS are the generic shape of support. The [ESCG TO CONFIRM] strip is where the real, current detail goes — names, locations, how to access. This MUST be accurate: a student who tries to find help and fails may not try again.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VERIFY before teaching: service names and staff change. Check the current central source — do not rely on memory or last year's deck.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DO NOT improvise safeguarding reporting detail here — Module F covers that properly. Today's message is simply: 'support exists, here's where it is, using it is normal.'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'You will not need all of these — but it's worth knowing they're here. Asking for help early is one of the smartest things you can do at college.'</a:t>
            </a:r>
            <a:endParaRPr/>
          </a:p>
        </p:txBody>
      </p:sp>
      <p:sp>
        <p:nvSpPr>
          <p:cNvPr id="237" name="Google Shape;23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9 — ENRICHMENT &amp; FRESHERS  |  ~5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end the main content on a high. After the practical and the slightly heavier support content, this is the 'college is going to be good' beat. Bring energy to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WHY IT MATTERS: students who get involved in enrichment build belonging and tend to attend and stay better. Genuinely encourage it — especially for quieter students, for whom a club can be a lifeline.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BOTH [ESCG TO CONFIRM] PANELS need current local detail — the enrichment offer and the Freshers Fair date/time/place. If a guide exists, physically show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NICE TOUCH: link back to slide 3 — 'go to Freshers with someone you met today'. It threads the session together and makes attending feel less daunting.</a:t>
            </a:r>
            <a:endParaRPr/>
          </a:p>
        </p:txBody>
      </p:sp>
      <p:sp>
        <p:nvSpPr>
          <p:cNvPr id="276" name="Google Shape;27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10 — BELONGING ACTIVITY: 'ONE THING'  |  ~7 mins  |  Mode: ACTIVITY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YOU NEED: index cards or sticky notes, one per student, plus pens. Hand these out at the start of the activity.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RUNNING IT: keep it calm and quiet — this is the gentle wind-down after a busy hour. Give them ~4 minutes to write. Circulate.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EVIDENCING (important — light touch): these cards ARE the evidence for Module A. You do not mark them. You collect them. They give you (a) a feel for the group's mood, and (b) an early signal of any student naming something they'd like help with — follow those up privately afterwards.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ANYTHING CONCERNING on a card (mentions of safety, home, mental health) → follow up privately and via the proper safeguarding route. Module F covers this; if unsure, speak to your Safeguarding lead today.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OPTIONAL: keep the cards and revisit them at the end of the first term — a small, powerful 'look how far you've come' moment.</a:t>
            </a:r>
            <a:endParaRPr/>
          </a:p>
        </p:txBody>
      </p:sp>
      <p:sp>
        <p:nvSpPr>
          <p:cNvPr id="307" name="Google Shape;30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11 — RECAP &amp; WHAT'S NEXT  |  ~3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Keep this short and warm. Run through the recap ticks quickly — it gives a satisfying sense of 'we did a lot today'.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'WHAT'S NEXT' reassures rather than warns. The other induction modules can sound heavy (safeguarding, wellbeing). Frame them as supportive, normal, and not tests — because they are.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END ON THE MUSTARD LINE. Say it, and mean it. The last thing a student hears today should be that they're welcome and wanted here. That sentence is the whole purpose of Module A in nine words.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ADMIN REMINDER: collect the 'One Thing' cards if you haven't. Note any follow-ups. Log completion as your centre requires.</a:t>
            </a:r>
            <a:endParaRPr/>
          </a:p>
        </p:txBody>
      </p:sp>
      <p:sp>
        <p:nvSpPr>
          <p:cNvPr id="337" name="Google Shape;33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12 — TEACHER APPENDIX  |  NOT FOR DISPLAY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slide is a teacher reference. Delete it or skip it in presentation mode — do not show it to students.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It exists so an inexperienced teacher has the whole session on one page: running order, timings, prep checklist, and the safeguarding reminder.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safeguarding wording here is deliberately general. The DEFINITIVE reporting procedure, named leads and AI policy detail are covered in Module F and in ESCG's Safeguarding &amp; Prevent Policy. [ESCG TO CONFIRM: confirm this wording aligns with the current ESCG safeguarding reporting procedure before publishing.]</a:t>
            </a:r>
            <a:endParaRPr/>
          </a:p>
        </p:txBody>
      </p:sp>
      <p:sp>
        <p:nvSpPr>
          <p:cNvPr id="368" name="Google Shape;368;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7.png"/><Relationship Id="rId8"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7.png"/><Relationship Id="rId7"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4.png"/><Relationship Id="rId6" Type="http://schemas.openxmlformats.org/officeDocument/2006/relationships/image" Target="../media/image8.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1" name="Shape 11"/>
        <p:cNvGrpSpPr/>
        <p:nvPr/>
      </p:nvGrpSpPr>
      <p:grpSpPr>
        <a:xfrm>
          <a:off x="0" y="0"/>
          <a:ext cx="0" cy="0"/>
          <a:chOff x="0" y="0"/>
          <a:chExt cx="0" cy="0"/>
        </a:xfrm>
      </p:grpSpPr>
      <p:sp>
        <p:nvSpPr>
          <p:cNvPr id="12" name="Google Shape;12;p3"/>
          <p:cNvSpPr/>
          <p:nvPr/>
        </p:nvSpPr>
        <p:spPr>
          <a:xfrm>
            <a:off x="8869680" y="-1554480"/>
            <a:ext cx="4754880" cy="4754880"/>
          </a:xfrm>
          <a:prstGeom prst="ellipse">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9646920" y="-777240"/>
            <a:ext cx="3200400" cy="32004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3"/>
          <p:cNvSpPr/>
          <p:nvPr/>
        </p:nvSpPr>
        <p:spPr>
          <a:xfrm>
            <a:off x="10104120" y="2788920"/>
            <a:ext cx="310896" cy="310896"/>
          </a:xfrm>
          <a:prstGeom prst="ellipse">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3"/>
          <p:cNvSpPr/>
          <p:nvPr/>
        </p:nvSpPr>
        <p:spPr>
          <a:xfrm>
            <a:off x="777240" y="12344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250"/>
              <a:buFont typeface="Poppins SemiBold"/>
              <a:buNone/>
            </a:pPr>
            <a:r>
              <a:rPr lang="en-US" sz="1250">
                <a:solidFill>
                  <a:srgbClr val="FFCF01"/>
                </a:solidFill>
                <a:latin typeface="Poppins SemiBold"/>
                <a:ea typeface="Poppins SemiBold"/>
                <a:cs typeface="Poppins SemiBold"/>
                <a:sym typeface="Poppins SemiBold"/>
              </a:rPr>
              <a:t>ESCG STUDENT INDUCTION  ·  2026–27</a:t>
            </a:r>
            <a:endParaRPr sz="1250">
              <a:solidFill>
                <a:schemeClr val="dk1"/>
              </a:solidFill>
              <a:latin typeface="Calibri"/>
              <a:ea typeface="Calibri"/>
              <a:cs typeface="Calibri"/>
              <a:sym typeface="Calibri"/>
            </a:endParaRPr>
          </a:p>
        </p:txBody>
      </p:sp>
      <p:sp>
        <p:nvSpPr>
          <p:cNvPr id="16" name="Google Shape;16;p3"/>
          <p:cNvSpPr/>
          <p:nvPr/>
        </p:nvSpPr>
        <p:spPr>
          <a:xfrm>
            <a:off x="731520" y="1783080"/>
            <a:ext cx="5486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1700"/>
              <a:buFont typeface="Poppins SemiBold"/>
              <a:buNone/>
            </a:pPr>
            <a:r>
              <a:rPr lang="en-US" sz="1700">
                <a:solidFill>
                  <a:srgbClr val="94A1A4"/>
                </a:solidFill>
                <a:latin typeface="Poppins SemiBold"/>
                <a:ea typeface="Poppins SemiBold"/>
                <a:cs typeface="Poppins SemiBold"/>
                <a:sym typeface="Poppins SemiBold"/>
              </a:rPr>
              <a:t>MODULE A</a:t>
            </a:r>
            <a:endParaRPr sz="1700">
              <a:solidFill>
                <a:schemeClr val="dk1"/>
              </a:solidFill>
              <a:latin typeface="Calibri"/>
              <a:ea typeface="Calibri"/>
              <a:cs typeface="Calibri"/>
              <a:sym typeface="Calibri"/>
            </a:endParaRPr>
          </a:p>
        </p:txBody>
      </p:sp>
      <p:sp>
        <p:nvSpPr>
          <p:cNvPr id="17" name="Google Shape;17;p3"/>
          <p:cNvSpPr/>
          <p:nvPr/>
        </p:nvSpPr>
        <p:spPr>
          <a:xfrm>
            <a:off x="731520" y="2286000"/>
            <a:ext cx="8412480" cy="1920240"/>
          </a:xfrm>
          <a:prstGeom prst="rect">
            <a:avLst/>
          </a:prstGeom>
          <a:noFill/>
          <a:ln>
            <a:noFill/>
          </a:ln>
        </p:spPr>
        <p:txBody>
          <a:bodyPr anchorCtr="0" anchor="ctr" bIns="0" lIns="0" spcFirstLastPara="1" rIns="0" wrap="square" tIns="0">
            <a:noAutofit/>
          </a:bodyPr>
          <a:lstStyle/>
          <a:p>
            <a:pPr indent="0" lvl="0" marL="0" marR="0" rtl="0" algn="l">
              <a:lnSpc>
                <a:spcPct val="104166"/>
              </a:lnSpc>
              <a:spcBef>
                <a:spcPts val="0"/>
              </a:spcBef>
              <a:spcAft>
                <a:spcPts val="0"/>
              </a:spcAft>
              <a:buClr>
                <a:srgbClr val="FFFFFF"/>
              </a:buClr>
              <a:buSzPts val="4800"/>
              <a:buFont typeface="Poppins SemiBold"/>
              <a:buNone/>
            </a:pPr>
            <a:r>
              <a:rPr lang="en-US" sz="4800">
                <a:solidFill>
                  <a:srgbClr val="FFFFFF"/>
                </a:solidFill>
                <a:latin typeface="Poppins SemiBold"/>
                <a:ea typeface="Poppins SemiBold"/>
                <a:cs typeface="Poppins SemiBold"/>
                <a:sym typeface="Poppins SemiBold"/>
              </a:rPr>
              <a:t>Welcome, Belonging</a:t>
            </a:r>
            <a:endParaRPr sz="4800">
              <a:solidFill>
                <a:schemeClr val="dk1"/>
              </a:solidFill>
              <a:latin typeface="Calibri"/>
              <a:ea typeface="Calibri"/>
              <a:cs typeface="Calibri"/>
              <a:sym typeface="Calibri"/>
            </a:endParaRPr>
          </a:p>
          <a:p>
            <a:pPr indent="0" lvl="0" marL="0" marR="0" rtl="0" algn="l">
              <a:lnSpc>
                <a:spcPct val="104166"/>
              </a:lnSpc>
              <a:spcBef>
                <a:spcPts val="0"/>
              </a:spcBef>
              <a:spcAft>
                <a:spcPts val="0"/>
              </a:spcAft>
              <a:buClr>
                <a:srgbClr val="FFFFFF"/>
              </a:buClr>
              <a:buSzPts val="4800"/>
              <a:buFont typeface="Poppins SemiBold"/>
              <a:buNone/>
            </a:pPr>
            <a:r>
              <a:rPr lang="en-US" sz="4800">
                <a:solidFill>
                  <a:srgbClr val="FFFFFF"/>
                </a:solidFill>
                <a:latin typeface="Poppins SemiBold"/>
                <a:ea typeface="Poppins SemiBold"/>
                <a:cs typeface="Poppins SemiBold"/>
                <a:sym typeface="Poppins SemiBold"/>
              </a:rPr>
              <a:t>&amp; Support</a:t>
            </a:r>
            <a:endParaRPr sz="4800">
              <a:solidFill>
                <a:schemeClr val="dk1"/>
              </a:solidFill>
              <a:latin typeface="Calibri"/>
              <a:ea typeface="Calibri"/>
              <a:cs typeface="Calibri"/>
              <a:sym typeface="Calibri"/>
            </a:endParaRPr>
          </a:p>
        </p:txBody>
      </p:sp>
      <p:sp>
        <p:nvSpPr>
          <p:cNvPr id="18" name="Google Shape;18;p3"/>
          <p:cNvSpPr/>
          <p:nvPr/>
        </p:nvSpPr>
        <p:spPr>
          <a:xfrm>
            <a:off x="758952" y="4297680"/>
            <a:ext cx="7680960" cy="73152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C7D0D3"/>
              </a:buClr>
              <a:buSzPts val="1400"/>
              <a:buFont typeface="Poppins Light"/>
              <a:buNone/>
            </a:pPr>
            <a:r>
              <a:rPr lang="en-US" sz="1400">
                <a:solidFill>
                  <a:srgbClr val="C7D0D3"/>
                </a:solidFill>
                <a:latin typeface="Poppins Light"/>
                <a:ea typeface="Poppins Light"/>
                <a:cs typeface="Poppins Light"/>
                <a:sym typeface="Poppins Light"/>
              </a:rPr>
              <a:t>Your first session on your Digital or Media course — settling in, meeting the people you will work with, and understanding what this year asks of you.</a:t>
            </a:r>
            <a:endParaRPr sz="1400">
              <a:solidFill>
                <a:schemeClr val="dk1"/>
              </a:solidFill>
              <a:latin typeface="Calibri"/>
              <a:ea typeface="Calibri"/>
              <a:cs typeface="Calibri"/>
              <a:sym typeface="Calibri"/>
            </a:endParaRPr>
          </a:p>
        </p:txBody>
      </p:sp>
      <p:cxnSp>
        <p:nvCxnSpPr>
          <p:cNvPr id="19" name="Google Shape;19;p3"/>
          <p:cNvCxnSpPr/>
          <p:nvPr/>
        </p:nvCxnSpPr>
        <p:spPr>
          <a:xfrm>
            <a:off x="777240" y="5257800"/>
            <a:ext cx="6858000" cy="0"/>
          </a:xfrm>
          <a:prstGeom prst="straightConnector1">
            <a:avLst/>
          </a:prstGeom>
          <a:noFill/>
          <a:ln cap="flat" cmpd="sng" w="12700">
            <a:solidFill>
              <a:srgbClr val="1C3A4D"/>
            </a:solidFill>
            <a:prstDash val="solid"/>
            <a:round/>
            <a:headEnd len="sm" w="sm" type="none"/>
            <a:tailEnd len="sm" w="sm" type="none"/>
          </a:ln>
        </p:spPr>
      </p:cxnSp>
      <p:sp>
        <p:nvSpPr>
          <p:cNvPr id="20" name="Google Shape;20;p3"/>
          <p:cNvSpPr/>
          <p:nvPr/>
        </p:nvSpPr>
        <p:spPr>
          <a:xfrm>
            <a:off x="777240" y="5440680"/>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1050"/>
              <a:buFont typeface="Poppins"/>
              <a:buNone/>
            </a:pPr>
            <a:r>
              <a:rPr b="1" lang="en-US" sz="1050">
                <a:solidFill>
                  <a:srgbClr val="94A1A4"/>
                </a:solidFill>
                <a:latin typeface="Poppins"/>
                <a:ea typeface="Poppins"/>
                <a:cs typeface="Poppins"/>
                <a:sym typeface="Poppins"/>
              </a:rPr>
              <a:t>VARIANT   </a:t>
            </a:r>
            <a:r>
              <a:rPr lang="en-US" sz="1050">
                <a:solidFill>
                  <a:srgbClr val="FFFFFF"/>
                </a:solidFill>
                <a:latin typeface="Poppins"/>
                <a:ea typeface="Poppins"/>
                <a:cs typeface="Poppins"/>
                <a:sym typeface="Poppins"/>
              </a:rPr>
              <a:t>Core  ·  Level 3 Year 1</a:t>
            </a:r>
            <a:endParaRPr sz="1050">
              <a:solidFill>
                <a:schemeClr val="dk1"/>
              </a:solidFill>
              <a:latin typeface="Calibri"/>
              <a:ea typeface="Calibri"/>
              <a:cs typeface="Calibri"/>
              <a:sym typeface="Calibri"/>
            </a:endParaRPr>
          </a:p>
        </p:txBody>
      </p:sp>
      <p:sp>
        <p:nvSpPr>
          <p:cNvPr id="21" name="Google Shape;21;p3"/>
          <p:cNvSpPr/>
          <p:nvPr/>
        </p:nvSpPr>
        <p:spPr>
          <a:xfrm>
            <a:off x="777240" y="5742432"/>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1050"/>
              <a:buFont typeface="Poppins"/>
              <a:buNone/>
            </a:pPr>
            <a:r>
              <a:rPr b="1" lang="en-US" sz="1050">
                <a:solidFill>
                  <a:srgbClr val="94A1A4"/>
                </a:solidFill>
                <a:latin typeface="Poppins"/>
                <a:ea typeface="Poppins"/>
                <a:cs typeface="Poppins"/>
                <a:sym typeface="Poppins"/>
              </a:rPr>
              <a:t>SESSION   </a:t>
            </a:r>
            <a:r>
              <a:rPr lang="en-US" sz="1050">
                <a:solidFill>
                  <a:srgbClr val="FFFFFF"/>
                </a:solidFill>
                <a:latin typeface="Poppins"/>
                <a:ea typeface="Poppins"/>
                <a:cs typeface="Poppins"/>
                <a:sym typeface="Poppins"/>
              </a:rPr>
              <a:t>approx. 55–60 minutes  ·  teacher-led</a:t>
            </a:r>
            <a:endParaRPr sz="1050">
              <a:solidFill>
                <a:schemeClr val="dk1"/>
              </a:solidFill>
              <a:latin typeface="Calibri"/>
              <a:ea typeface="Calibri"/>
              <a:cs typeface="Calibri"/>
              <a:sym typeface="Calibri"/>
            </a:endParaRPr>
          </a:p>
        </p:txBody>
      </p:sp>
      <p:sp>
        <p:nvSpPr>
          <p:cNvPr id="22" name="Google Shape;22;p3"/>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23" name="Google Shape;23;p3"/>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1</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9"/>
        </a:solidFill>
      </p:bgPr>
    </p:bg>
    <p:spTree>
      <p:nvGrpSpPr>
        <p:cNvPr id="28" name="Shape 28"/>
        <p:cNvGrpSpPr/>
        <p:nvPr/>
      </p:nvGrpSpPr>
      <p:grpSpPr>
        <a:xfrm>
          <a:off x="0" y="0"/>
          <a:ext cx="0" cy="0"/>
          <a:chOff x="0" y="0"/>
          <a:chExt cx="0" cy="0"/>
        </a:xfrm>
      </p:grpSpPr>
      <p:sp>
        <p:nvSpPr>
          <p:cNvPr id="29" name="Google Shape;29;p4"/>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4"/>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SETTLING IN</a:t>
            </a:r>
            <a:endParaRPr sz="1100">
              <a:solidFill>
                <a:schemeClr val="dk1"/>
              </a:solidFill>
              <a:latin typeface="Calibri"/>
              <a:ea typeface="Calibri"/>
              <a:cs typeface="Calibri"/>
              <a:sym typeface="Calibri"/>
            </a:endParaRPr>
          </a:p>
        </p:txBody>
      </p:sp>
      <p:sp>
        <p:nvSpPr>
          <p:cNvPr id="31" name="Google Shape;31;p4"/>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What we'll do in this session</a:t>
            </a:r>
            <a:endParaRPr sz="3000">
              <a:solidFill>
                <a:schemeClr val="dk1"/>
              </a:solidFill>
              <a:latin typeface="Calibri"/>
              <a:ea typeface="Calibri"/>
              <a:cs typeface="Calibri"/>
              <a:sym typeface="Calibri"/>
            </a:endParaRPr>
          </a:p>
        </p:txBody>
      </p:sp>
      <p:sp>
        <p:nvSpPr>
          <p:cNvPr id="32" name="Google Shape;32;p4"/>
          <p:cNvSpPr/>
          <p:nvPr/>
        </p:nvSpPr>
        <p:spPr>
          <a:xfrm>
            <a:off x="9494215" y="502920"/>
            <a:ext cx="2194560" cy="384048"/>
          </a:xfrm>
          <a:prstGeom prst="roundRect">
            <a:avLst>
              <a:gd fmla="val 50000" name="adj"/>
            </a:avLst>
          </a:prstGeom>
          <a:solidFill>
            <a:srgbClr val="E2F0EA"/>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4"/>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950"/>
              <a:buFont typeface="Poppins SemiBold"/>
              <a:buNone/>
            </a:pPr>
            <a:r>
              <a:rPr lang="en-US" sz="950">
                <a:solidFill>
                  <a:srgbClr val="0F7A54"/>
                </a:solidFill>
                <a:latin typeface="Poppins SemiBold"/>
                <a:ea typeface="Poppins SemiBold"/>
                <a:cs typeface="Poppins SemiBold"/>
                <a:sym typeface="Poppins SemiBold"/>
              </a:rPr>
              <a:t>SESSION MAP</a:t>
            </a:r>
            <a:endParaRPr sz="950">
              <a:solidFill>
                <a:schemeClr val="dk1"/>
              </a:solidFill>
              <a:latin typeface="Calibri"/>
              <a:ea typeface="Calibri"/>
              <a:cs typeface="Calibri"/>
              <a:sym typeface="Calibri"/>
            </a:endParaRPr>
          </a:p>
        </p:txBody>
      </p:sp>
      <p:sp>
        <p:nvSpPr>
          <p:cNvPr id="34" name="Google Shape;34;p4"/>
          <p:cNvSpPr/>
          <p:nvPr/>
        </p:nvSpPr>
        <p:spPr>
          <a:xfrm>
            <a:off x="502920" y="1728216"/>
            <a:ext cx="10607040" cy="4572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There's nothing to revise and nothing to get wrong today. Here's the plan so you know what's coming.</a:t>
            </a:r>
            <a:endParaRPr sz="1300">
              <a:solidFill>
                <a:schemeClr val="dk1"/>
              </a:solidFill>
              <a:latin typeface="Calibri"/>
              <a:ea typeface="Calibri"/>
              <a:cs typeface="Calibri"/>
              <a:sym typeface="Calibri"/>
            </a:endParaRPr>
          </a:p>
        </p:txBody>
      </p:sp>
      <p:sp>
        <p:nvSpPr>
          <p:cNvPr id="35" name="Google Shape;35;p4"/>
          <p:cNvSpPr/>
          <p:nvPr/>
        </p:nvSpPr>
        <p:spPr>
          <a:xfrm>
            <a:off x="502920" y="2368296"/>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4"/>
          <p:cNvSpPr/>
          <p:nvPr/>
        </p:nvSpPr>
        <p:spPr>
          <a:xfrm>
            <a:off x="704088" y="2569464"/>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4"/>
          <p:cNvSpPr/>
          <p:nvPr/>
        </p:nvSpPr>
        <p:spPr>
          <a:xfrm>
            <a:off x="704088" y="25694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1</a:t>
            </a:r>
            <a:endParaRPr sz="1300">
              <a:solidFill>
                <a:schemeClr val="dk1"/>
              </a:solidFill>
              <a:latin typeface="Calibri"/>
              <a:ea typeface="Calibri"/>
              <a:cs typeface="Calibri"/>
              <a:sym typeface="Calibri"/>
            </a:endParaRPr>
          </a:p>
        </p:txBody>
      </p:sp>
      <p:pic>
        <p:nvPicPr>
          <p:cNvPr descr="preencoded.png" id="38" name="Google Shape;38;p4"/>
          <p:cNvPicPr preferRelativeResize="0"/>
          <p:nvPr/>
        </p:nvPicPr>
        <p:blipFill rotWithShape="1">
          <a:blip r:embed="rId3">
            <a:alphaModFix/>
          </a:blip>
          <a:srcRect b="0" l="0" r="0" t="0"/>
          <a:stretch/>
        </p:blipFill>
        <p:spPr>
          <a:xfrm>
            <a:off x="3374136" y="2569464"/>
            <a:ext cx="420624" cy="420624"/>
          </a:xfrm>
          <a:prstGeom prst="rect">
            <a:avLst/>
          </a:prstGeom>
          <a:noFill/>
          <a:ln>
            <a:noFill/>
          </a:ln>
        </p:spPr>
      </p:pic>
      <p:sp>
        <p:nvSpPr>
          <p:cNvPr id="39" name="Google Shape;39;p4"/>
          <p:cNvSpPr/>
          <p:nvPr/>
        </p:nvSpPr>
        <p:spPr>
          <a:xfrm>
            <a:off x="722376" y="3044952"/>
            <a:ext cx="31455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Meet your group</a:t>
            </a:r>
            <a:endParaRPr sz="1350">
              <a:solidFill>
                <a:schemeClr val="dk1"/>
              </a:solidFill>
              <a:latin typeface="Calibri"/>
              <a:ea typeface="Calibri"/>
              <a:cs typeface="Calibri"/>
              <a:sym typeface="Calibri"/>
            </a:endParaRPr>
          </a:p>
        </p:txBody>
      </p:sp>
      <p:sp>
        <p:nvSpPr>
          <p:cNvPr id="40" name="Google Shape;40;p4"/>
          <p:cNvSpPr/>
          <p:nvPr/>
        </p:nvSpPr>
        <p:spPr>
          <a:xfrm>
            <a:off x="722376" y="3337560"/>
            <a:ext cx="3182112" cy="457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Get to know the people you'll learn alongside.</a:t>
            </a:r>
            <a:endParaRPr sz="1000">
              <a:solidFill>
                <a:schemeClr val="dk1"/>
              </a:solidFill>
              <a:latin typeface="Calibri"/>
              <a:ea typeface="Calibri"/>
              <a:cs typeface="Calibri"/>
              <a:sym typeface="Calibri"/>
            </a:endParaRPr>
          </a:p>
        </p:txBody>
      </p:sp>
      <p:sp>
        <p:nvSpPr>
          <p:cNvPr id="41" name="Google Shape;41;p4"/>
          <p:cNvSpPr/>
          <p:nvPr/>
        </p:nvSpPr>
        <p:spPr>
          <a:xfrm>
            <a:off x="4343400" y="2368296"/>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4"/>
          <p:cNvSpPr/>
          <p:nvPr/>
        </p:nvSpPr>
        <p:spPr>
          <a:xfrm>
            <a:off x="4544568" y="2569464"/>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4"/>
          <p:cNvSpPr/>
          <p:nvPr/>
        </p:nvSpPr>
        <p:spPr>
          <a:xfrm>
            <a:off x="4544568" y="25694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2</a:t>
            </a:r>
            <a:endParaRPr sz="1300">
              <a:solidFill>
                <a:schemeClr val="dk1"/>
              </a:solidFill>
              <a:latin typeface="Calibri"/>
              <a:ea typeface="Calibri"/>
              <a:cs typeface="Calibri"/>
              <a:sym typeface="Calibri"/>
            </a:endParaRPr>
          </a:p>
        </p:txBody>
      </p:sp>
      <p:pic>
        <p:nvPicPr>
          <p:cNvPr descr="preencoded.png" id="44" name="Google Shape;44;p4"/>
          <p:cNvPicPr preferRelativeResize="0"/>
          <p:nvPr/>
        </p:nvPicPr>
        <p:blipFill rotWithShape="1">
          <a:blip r:embed="rId4">
            <a:alphaModFix/>
          </a:blip>
          <a:srcRect b="0" l="0" r="0" t="0"/>
          <a:stretch/>
        </p:blipFill>
        <p:spPr>
          <a:xfrm>
            <a:off x="7214616" y="2569464"/>
            <a:ext cx="420624" cy="420624"/>
          </a:xfrm>
          <a:prstGeom prst="rect">
            <a:avLst/>
          </a:prstGeom>
          <a:noFill/>
          <a:ln>
            <a:noFill/>
          </a:ln>
        </p:spPr>
      </p:pic>
      <p:sp>
        <p:nvSpPr>
          <p:cNvPr id="45" name="Google Shape;45;p4"/>
          <p:cNvSpPr/>
          <p:nvPr/>
        </p:nvSpPr>
        <p:spPr>
          <a:xfrm>
            <a:off x="4562856" y="3044952"/>
            <a:ext cx="31455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Meet your teachers</a:t>
            </a:r>
            <a:endParaRPr sz="1350">
              <a:solidFill>
                <a:schemeClr val="dk1"/>
              </a:solidFill>
              <a:latin typeface="Calibri"/>
              <a:ea typeface="Calibri"/>
              <a:cs typeface="Calibri"/>
              <a:sym typeface="Calibri"/>
            </a:endParaRPr>
          </a:p>
        </p:txBody>
      </p:sp>
      <p:sp>
        <p:nvSpPr>
          <p:cNvPr id="46" name="Google Shape;46;p4"/>
          <p:cNvSpPr/>
          <p:nvPr/>
        </p:nvSpPr>
        <p:spPr>
          <a:xfrm>
            <a:off x="4562856" y="3337560"/>
            <a:ext cx="3182112" cy="457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Who's who, and how we'll work together.</a:t>
            </a:r>
            <a:endParaRPr sz="1000">
              <a:solidFill>
                <a:schemeClr val="dk1"/>
              </a:solidFill>
              <a:latin typeface="Calibri"/>
              <a:ea typeface="Calibri"/>
              <a:cs typeface="Calibri"/>
              <a:sym typeface="Calibri"/>
            </a:endParaRPr>
          </a:p>
        </p:txBody>
      </p:sp>
      <p:sp>
        <p:nvSpPr>
          <p:cNvPr id="47" name="Google Shape;47;p4"/>
          <p:cNvSpPr/>
          <p:nvPr/>
        </p:nvSpPr>
        <p:spPr>
          <a:xfrm>
            <a:off x="8183880" y="2368296"/>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4"/>
          <p:cNvSpPr/>
          <p:nvPr/>
        </p:nvSpPr>
        <p:spPr>
          <a:xfrm>
            <a:off x="8385048" y="2569464"/>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4"/>
          <p:cNvSpPr/>
          <p:nvPr/>
        </p:nvSpPr>
        <p:spPr>
          <a:xfrm>
            <a:off x="8385048" y="25694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3</a:t>
            </a:r>
            <a:endParaRPr sz="1300">
              <a:solidFill>
                <a:schemeClr val="dk1"/>
              </a:solidFill>
              <a:latin typeface="Calibri"/>
              <a:ea typeface="Calibri"/>
              <a:cs typeface="Calibri"/>
              <a:sym typeface="Calibri"/>
            </a:endParaRPr>
          </a:p>
        </p:txBody>
      </p:sp>
      <p:pic>
        <p:nvPicPr>
          <p:cNvPr descr="preencoded.png" id="50" name="Google Shape;50;p4"/>
          <p:cNvPicPr preferRelativeResize="0"/>
          <p:nvPr/>
        </p:nvPicPr>
        <p:blipFill rotWithShape="1">
          <a:blip r:embed="rId5">
            <a:alphaModFix/>
          </a:blip>
          <a:srcRect b="0" l="0" r="0" t="0"/>
          <a:stretch/>
        </p:blipFill>
        <p:spPr>
          <a:xfrm>
            <a:off x="11055096" y="2569464"/>
            <a:ext cx="420624" cy="420624"/>
          </a:xfrm>
          <a:prstGeom prst="rect">
            <a:avLst/>
          </a:prstGeom>
          <a:noFill/>
          <a:ln>
            <a:noFill/>
          </a:ln>
        </p:spPr>
      </p:pic>
      <p:sp>
        <p:nvSpPr>
          <p:cNvPr id="51" name="Google Shape;51;p4"/>
          <p:cNvSpPr/>
          <p:nvPr/>
        </p:nvSpPr>
        <p:spPr>
          <a:xfrm>
            <a:off x="8403336" y="3044952"/>
            <a:ext cx="31455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Your study programme</a:t>
            </a:r>
            <a:endParaRPr sz="1350">
              <a:solidFill>
                <a:schemeClr val="dk1"/>
              </a:solidFill>
              <a:latin typeface="Calibri"/>
              <a:ea typeface="Calibri"/>
              <a:cs typeface="Calibri"/>
              <a:sym typeface="Calibri"/>
            </a:endParaRPr>
          </a:p>
        </p:txBody>
      </p:sp>
      <p:sp>
        <p:nvSpPr>
          <p:cNvPr id="52" name="Google Shape;52;p4"/>
          <p:cNvSpPr/>
          <p:nvPr/>
        </p:nvSpPr>
        <p:spPr>
          <a:xfrm>
            <a:off x="8403336" y="3337560"/>
            <a:ext cx="3182112" cy="457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What you're here to do, and what a week looks like.</a:t>
            </a:r>
            <a:endParaRPr sz="1000">
              <a:solidFill>
                <a:schemeClr val="dk1"/>
              </a:solidFill>
              <a:latin typeface="Calibri"/>
              <a:ea typeface="Calibri"/>
              <a:cs typeface="Calibri"/>
              <a:sym typeface="Calibri"/>
            </a:endParaRPr>
          </a:p>
        </p:txBody>
      </p:sp>
      <p:sp>
        <p:nvSpPr>
          <p:cNvPr id="53" name="Google Shape;53;p4"/>
          <p:cNvSpPr/>
          <p:nvPr/>
        </p:nvSpPr>
        <p:spPr>
          <a:xfrm>
            <a:off x="502920" y="4087368"/>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4"/>
          <p:cNvSpPr/>
          <p:nvPr/>
        </p:nvSpPr>
        <p:spPr>
          <a:xfrm>
            <a:off x="704088" y="4288536"/>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4"/>
          <p:cNvSpPr/>
          <p:nvPr/>
        </p:nvSpPr>
        <p:spPr>
          <a:xfrm>
            <a:off x="704088" y="42885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4</a:t>
            </a:r>
            <a:endParaRPr sz="1300">
              <a:solidFill>
                <a:schemeClr val="dk1"/>
              </a:solidFill>
              <a:latin typeface="Calibri"/>
              <a:ea typeface="Calibri"/>
              <a:cs typeface="Calibri"/>
              <a:sym typeface="Calibri"/>
            </a:endParaRPr>
          </a:p>
        </p:txBody>
      </p:sp>
      <p:pic>
        <p:nvPicPr>
          <p:cNvPr descr="preencoded.png" id="56" name="Google Shape;56;p4"/>
          <p:cNvPicPr preferRelativeResize="0"/>
          <p:nvPr/>
        </p:nvPicPr>
        <p:blipFill rotWithShape="1">
          <a:blip r:embed="rId6">
            <a:alphaModFix/>
          </a:blip>
          <a:srcRect b="0" l="0" r="0" t="0"/>
          <a:stretch/>
        </p:blipFill>
        <p:spPr>
          <a:xfrm>
            <a:off x="3374136" y="4288536"/>
            <a:ext cx="420624" cy="420624"/>
          </a:xfrm>
          <a:prstGeom prst="rect">
            <a:avLst/>
          </a:prstGeom>
          <a:noFill/>
          <a:ln>
            <a:noFill/>
          </a:ln>
        </p:spPr>
      </p:pic>
      <p:sp>
        <p:nvSpPr>
          <p:cNvPr id="57" name="Google Shape;57;p4"/>
          <p:cNvSpPr/>
          <p:nvPr/>
        </p:nvSpPr>
        <p:spPr>
          <a:xfrm>
            <a:off x="722376" y="4764024"/>
            <a:ext cx="31455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Timetable &amp; Pro Portal</a:t>
            </a:r>
            <a:endParaRPr sz="1350">
              <a:solidFill>
                <a:schemeClr val="dk1"/>
              </a:solidFill>
              <a:latin typeface="Calibri"/>
              <a:ea typeface="Calibri"/>
              <a:cs typeface="Calibri"/>
              <a:sym typeface="Calibri"/>
            </a:endParaRPr>
          </a:p>
        </p:txBody>
      </p:sp>
      <p:sp>
        <p:nvSpPr>
          <p:cNvPr id="58" name="Google Shape;58;p4"/>
          <p:cNvSpPr/>
          <p:nvPr/>
        </p:nvSpPr>
        <p:spPr>
          <a:xfrm>
            <a:off x="722376" y="5056632"/>
            <a:ext cx="3182112" cy="457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The tools that keep you organised.</a:t>
            </a:r>
            <a:endParaRPr sz="1000">
              <a:solidFill>
                <a:schemeClr val="dk1"/>
              </a:solidFill>
              <a:latin typeface="Calibri"/>
              <a:ea typeface="Calibri"/>
              <a:cs typeface="Calibri"/>
              <a:sym typeface="Calibri"/>
            </a:endParaRPr>
          </a:p>
        </p:txBody>
      </p:sp>
      <p:sp>
        <p:nvSpPr>
          <p:cNvPr id="59" name="Google Shape;59;p4"/>
          <p:cNvSpPr/>
          <p:nvPr/>
        </p:nvSpPr>
        <p:spPr>
          <a:xfrm>
            <a:off x="4343400" y="4087368"/>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4"/>
          <p:cNvSpPr/>
          <p:nvPr/>
        </p:nvSpPr>
        <p:spPr>
          <a:xfrm>
            <a:off x="4544568" y="4288536"/>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4"/>
          <p:cNvSpPr/>
          <p:nvPr/>
        </p:nvSpPr>
        <p:spPr>
          <a:xfrm>
            <a:off x="4544568" y="42885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5</a:t>
            </a:r>
            <a:endParaRPr sz="1300">
              <a:solidFill>
                <a:schemeClr val="dk1"/>
              </a:solidFill>
              <a:latin typeface="Calibri"/>
              <a:ea typeface="Calibri"/>
              <a:cs typeface="Calibri"/>
              <a:sym typeface="Calibri"/>
            </a:endParaRPr>
          </a:p>
        </p:txBody>
      </p:sp>
      <p:pic>
        <p:nvPicPr>
          <p:cNvPr descr="preencoded.png" id="62" name="Google Shape;62;p4"/>
          <p:cNvPicPr preferRelativeResize="0"/>
          <p:nvPr/>
        </p:nvPicPr>
        <p:blipFill rotWithShape="1">
          <a:blip r:embed="rId7">
            <a:alphaModFix/>
          </a:blip>
          <a:srcRect b="0" l="0" r="0" t="0"/>
          <a:stretch/>
        </p:blipFill>
        <p:spPr>
          <a:xfrm>
            <a:off x="7214616" y="4288536"/>
            <a:ext cx="420624" cy="420624"/>
          </a:xfrm>
          <a:prstGeom prst="rect">
            <a:avLst/>
          </a:prstGeom>
          <a:noFill/>
          <a:ln>
            <a:noFill/>
          </a:ln>
        </p:spPr>
      </p:pic>
      <p:sp>
        <p:nvSpPr>
          <p:cNvPr id="63" name="Google Shape;63;p4"/>
          <p:cNvSpPr/>
          <p:nvPr/>
        </p:nvSpPr>
        <p:spPr>
          <a:xfrm>
            <a:off x="4562856" y="4764024"/>
            <a:ext cx="31455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Support at college</a:t>
            </a:r>
            <a:endParaRPr sz="1350">
              <a:solidFill>
                <a:schemeClr val="dk1"/>
              </a:solidFill>
              <a:latin typeface="Calibri"/>
              <a:ea typeface="Calibri"/>
              <a:cs typeface="Calibri"/>
              <a:sym typeface="Calibri"/>
            </a:endParaRPr>
          </a:p>
        </p:txBody>
      </p:sp>
      <p:sp>
        <p:nvSpPr>
          <p:cNvPr id="64" name="Google Shape;64;p4"/>
          <p:cNvSpPr/>
          <p:nvPr/>
        </p:nvSpPr>
        <p:spPr>
          <a:xfrm>
            <a:off x="4562856" y="5056632"/>
            <a:ext cx="3182112" cy="457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Who can help you, with what — and how to reach them.</a:t>
            </a:r>
            <a:endParaRPr sz="1000">
              <a:solidFill>
                <a:schemeClr val="dk1"/>
              </a:solidFill>
              <a:latin typeface="Calibri"/>
              <a:ea typeface="Calibri"/>
              <a:cs typeface="Calibri"/>
              <a:sym typeface="Calibri"/>
            </a:endParaRPr>
          </a:p>
        </p:txBody>
      </p:sp>
      <p:sp>
        <p:nvSpPr>
          <p:cNvPr id="65" name="Google Shape;65;p4"/>
          <p:cNvSpPr/>
          <p:nvPr/>
        </p:nvSpPr>
        <p:spPr>
          <a:xfrm>
            <a:off x="8183880" y="4087368"/>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4"/>
          <p:cNvSpPr/>
          <p:nvPr/>
        </p:nvSpPr>
        <p:spPr>
          <a:xfrm>
            <a:off x="8385048" y="4288536"/>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4"/>
          <p:cNvSpPr/>
          <p:nvPr/>
        </p:nvSpPr>
        <p:spPr>
          <a:xfrm>
            <a:off x="8385048" y="42885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6</a:t>
            </a:r>
            <a:endParaRPr sz="1300">
              <a:solidFill>
                <a:schemeClr val="dk1"/>
              </a:solidFill>
              <a:latin typeface="Calibri"/>
              <a:ea typeface="Calibri"/>
              <a:cs typeface="Calibri"/>
              <a:sym typeface="Calibri"/>
            </a:endParaRPr>
          </a:p>
        </p:txBody>
      </p:sp>
      <p:pic>
        <p:nvPicPr>
          <p:cNvPr descr="preencoded.png" id="68" name="Google Shape;68;p4"/>
          <p:cNvPicPr preferRelativeResize="0"/>
          <p:nvPr/>
        </p:nvPicPr>
        <p:blipFill rotWithShape="1">
          <a:blip r:embed="rId8">
            <a:alphaModFix/>
          </a:blip>
          <a:srcRect b="0" l="0" r="0" t="0"/>
          <a:stretch/>
        </p:blipFill>
        <p:spPr>
          <a:xfrm>
            <a:off x="11055096" y="4288536"/>
            <a:ext cx="420624" cy="420624"/>
          </a:xfrm>
          <a:prstGeom prst="rect">
            <a:avLst/>
          </a:prstGeom>
          <a:noFill/>
          <a:ln>
            <a:noFill/>
          </a:ln>
        </p:spPr>
      </p:pic>
      <p:sp>
        <p:nvSpPr>
          <p:cNvPr id="69" name="Google Shape;69;p4"/>
          <p:cNvSpPr/>
          <p:nvPr/>
        </p:nvSpPr>
        <p:spPr>
          <a:xfrm>
            <a:off x="8403336" y="4764024"/>
            <a:ext cx="31455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Enrichment &amp; Freshers</a:t>
            </a:r>
            <a:endParaRPr sz="1350">
              <a:solidFill>
                <a:schemeClr val="dk1"/>
              </a:solidFill>
              <a:latin typeface="Calibri"/>
              <a:ea typeface="Calibri"/>
              <a:cs typeface="Calibri"/>
              <a:sym typeface="Calibri"/>
            </a:endParaRPr>
          </a:p>
        </p:txBody>
      </p:sp>
      <p:sp>
        <p:nvSpPr>
          <p:cNvPr id="70" name="Google Shape;70;p4"/>
          <p:cNvSpPr/>
          <p:nvPr/>
        </p:nvSpPr>
        <p:spPr>
          <a:xfrm>
            <a:off x="8403336" y="5056632"/>
            <a:ext cx="3182112" cy="457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The fun part — clubs, trips and what's on.</a:t>
            </a:r>
            <a:endParaRPr sz="1000">
              <a:solidFill>
                <a:schemeClr val="dk1"/>
              </a:solidFill>
              <a:latin typeface="Calibri"/>
              <a:ea typeface="Calibri"/>
              <a:cs typeface="Calibri"/>
              <a:sym typeface="Calibri"/>
            </a:endParaRPr>
          </a:p>
        </p:txBody>
      </p:sp>
      <p:sp>
        <p:nvSpPr>
          <p:cNvPr id="71" name="Google Shape;71;p4"/>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72" name="Google Shape;72;p4"/>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4"/>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Level 3/ T - Level  YR1</a:t>
            </a:r>
            <a:r>
              <a:rPr lang="en-US" sz="700">
                <a:solidFill>
                  <a:srgbClr val="0F7A54"/>
                </a:solidFill>
                <a:latin typeface="Poppins SemiBold"/>
                <a:ea typeface="Poppins SemiBold"/>
                <a:cs typeface="Poppins SemiBold"/>
                <a:sym typeface="Poppins SemiBold"/>
              </a:rPr>
              <a:t>  ·  SETTLING IN</a:t>
            </a:r>
            <a:endParaRPr sz="700">
              <a:solidFill>
                <a:schemeClr val="dk1"/>
              </a:solidFill>
              <a:latin typeface="Calibri"/>
              <a:ea typeface="Calibri"/>
              <a:cs typeface="Calibri"/>
              <a:sym typeface="Calibri"/>
            </a:endParaRPr>
          </a:p>
        </p:txBody>
      </p:sp>
      <p:sp>
        <p:nvSpPr>
          <p:cNvPr id="74" name="Google Shape;74;p4"/>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9"/>
        </a:solidFill>
      </p:bgPr>
    </p:bg>
    <p:spTree>
      <p:nvGrpSpPr>
        <p:cNvPr id="79" name="Shape 79"/>
        <p:cNvGrpSpPr/>
        <p:nvPr/>
      </p:nvGrpSpPr>
      <p:grpSpPr>
        <a:xfrm>
          <a:off x="0" y="0"/>
          <a:ext cx="0" cy="0"/>
          <a:chOff x="0" y="0"/>
          <a:chExt cx="0" cy="0"/>
        </a:xfrm>
      </p:grpSpPr>
      <p:sp>
        <p:nvSpPr>
          <p:cNvPr id="80" name="Google Shape;80;p5"/>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5"/>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MEET YOUR GROUP</a:t>
            </a:r>
            <a:endParaRPr sz="1100">
              <a:solidFill>
                <a:schemeClr val="dk1"/>
              </a:solidFill>
              <a:latin typeface="Calibri"/>
              <a:ea typeface="Calibri"/>
              <a:cs typeface="Calibri"/>
              <a:sym typeface="Calibri"/>
            </a:endParaRPr>
          </a:p>
        </p:txBody>
      </p:sp>
      <p:sp>
        <p:nvSpPr>
          <p:cNvPr id="82" name="Google Shape;82;p5"/>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Find your people</a:t>
            </a:r>
            <a:endParaRPr sz="3000">
              <a:solidFill>
                <a:schemeClr val="dk1"/>
              </a:solidFill>
              <a:latin typeface="Calibri"/>
              <a:ea typeface="Calibri"/>
              <a:cs typeface="Calibri"/>
              <a:sym typeface="Calibri"/>
            </a:endParaRPr>
          </a:p>
        </p:txBody>
      </p:sp>
      <p:sp>
        <p:nvSpPr>
          <p:cNvPr id="83" name="Google Shape;83;p5"/>
          <p:cNvSpPr/>
          <p:nvPr/>
        </p:nvSpPr>
        <p:spPr>
          <a:xfrm>
            <a:off x="9494215" y="502920"/>
            <a:ext cx="2194560" cy="384048"/>
          </a:xfrm>
          <a:prstGeom prst="roundRect">
            <a:avLst>
              <a:gd fmla="val 50000" name="adj"/>
            </a:avLst>
          </a:prstGeom>
          <a:solidFill>
            <a:srgbClr val="FFCF01"/>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5"/>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950"/>
              <a:buFont typeface="Poppins SemiBold"/>
              <a:buNone/>
            </a:pPr>
            <a:r>
              <a:rPr lang="en-US" sz="950">
                <a:solidFill>
                  <a:srgbClr val="0D2434"/>
                </a:solidFill>
                <a:latin typeface="Poppins SemiBold"/>
                <a:ea typeface="Poppins SemiBold"/>
                <a:cs typeface="Poppins SemiBold"/>
                <a:sym typeface="Poppins SemiBold"/>
              </a:rPr>
              <a:t>ACTIVITY</a:t>
            </a:r>
            <a:endParaRPr sz="950">
              <a:solidFill>
                <a:schemeClr val="dk1"/>
              </a:solidFill>
              <a:latin typeface="Calibri"/>
              <a:ea typeface="Calibri"/>
              <a:cs typeface="Calibri"/>
              <a:sym typeface="Calibri"/>
            </a:endParaRPr>
          </a:p>
        </p:txBody>
      </p:sp>
      <p:sp>
        <p:nvSpPr>
          <p:cNvPr id="85" name="Google Shape;85;p5"/>
          <p:cNvSpPr/>
          <p:nvPr/>
        </p:nvSpPr>
        <p:spPr>
          <a:xfrm>
            <a:off x="502920" y="1755648"/>
            <a:ext cx="5989320" cy="3977640"/>
          </a:xfrm>
          <a:prstGeom prst="roundRect">
            <a:avLst>
              <a:gd fmla="val 2759"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5"/>
          <p:cNvSpPr/>
          <p:nvPr/>
        </p:nvSpPr>
        <p:spPr>
          <a:xfrm>
            <a:off x="502920" y="1755648"/>
            <a:ext cx="5989320" cy="530352"/>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5"/>
          <p:cNvSpPr/>
          <p:nvPr/>
        </p:nvSpPr>
        <p:spPr>
          <a:xfrm>
            <a:off x="777240" y="1755648"/>
            <a:ext cx="54406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ACTIVITY  ·  THE FIRST-WEEK MAP</a:t>
            </a:r>
            <a:endParaRPr sz="1200">
              <a:solidFill>
                <a:schemeClr val="dk1"/>
              </a:solidFill>
              <a:latin typeface="Calibri"/>
              <a:ea typeface="Calibri"/>
              <a:cs typeface="Calibri"/>
              <a:sym typeface="Calibri"/>
            </a:endParaRPr>
          </a:p>
        </p:txBody>
      </p:sp>
      <p:sp>
        <p:nvSpPr>
          <p:cNvPr id="88" name="Google Shape;88;p5"/>
          <p:cNvSpPr/>
          <p:nvPr/>
        </p:nvSpPr>
        <p:spPr>
          <a:xfrm>
            <a:off x="795528" y="2468880"/>
            <a:ext cx="384048" cy="384048"/>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5"/>
          <p:cNvSpPr/>
          <p:nvPr/>
        </p:nvSpPr>
        <p:spPr>
          <a:xfrm>
            <a:off x="795528" y="24688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1</a:t>
            </a:r>
            <a:endParaRPr sz="1300">
              <a:solidFill>
                <a:schemeClr val="dk1"/>
              </a:solidFill>
              <a:latin typeface="Calibri"/>
              <a:ea typeface="Calibri"/>
              <a:cs typeface="Calibri"/>
              <a:sym typeface="Calibri"/>
            </a:endParaRPr>
          </a:p>
        </p:txBody>
      </p:sp>
      <p:sp>
        <p:nvSpPr>
          <p:cNvPr id="90" name="Google Shape;90;p5"/>
          <p:cNvSpPr/>
          <p:nvPr/>
        </p:nvSpPr>
        <p:spPr>
          <a:xfrm>
            <a:off x="1344168" y="2414016"/>
            <a:ext cx="4846320" cy="603504"/>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16242B"/>
              </a:buClr>
              <a:buSzPts val="1150"/>
              <a:buFont typeface="Poppins"/>
              <a:buNone/>
            </a:pPr>
            <a:r>
              <a:rPr lang="en-US" sz="1150">
                <a:solidFill>
                  <a:srgbClr val="16242B"/>
                </a:solidFill>
                <a:latin typeface="Poppins"/>
                <a:ea typeface="Poppins"/>
                <a:cs typeface="Poppins"/>
                <a:sym typeface="Poppins"/>
              </a:rPr>
              <a:t>Stand up and find two people you have not spoken to yet.</a:t>
            </a:r>
            <a:endParaRPr sz="1150">
              <a:solidFill>
                <a:schemeClr val="dk1"/>
              </a:solidFill>
              <a:latin typeface="Calibri"/>
              <a:ea typeface="Calibri"/>
              <a:cs typeface="Calibri"/>
              <a:sym typeface="Calibri"/>
            </a:endParaRPr>
          </a:p>
        </p:txBody>
      </p:sp>
      <p:sp>
        <p:nvSpPr>
          <p:cNvPr id="91" name="Google Shape;91;p5"/>
          <p:cNvSpPr/>
          <p:nvPr/>
        </p:nvSpPr>
        <p:spPr>
          <a:xfrm>
            <a:off x="795528" y="3127248"/>
            <a:ext cx="384048" cy="384048"/>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5"/>
          <p:cNvSpPr/>
          <p:nvPr/>
        </p:nvSpPr>
        <p:spPr>
          <a:xfrm>
            <a:off x="795528" y="31272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2</a:t>
            </a:r>
            <a:endParaRPr sz="1300">
              <a:solidFill>
                <a:schemeClr val="dk1"/>
              </a:solidFill>
              <a:latin typeface="Calibri"/>
              <a:ea typeface="Calibri"/>
              <a:cs typeface="Calibri"/>
              <a:sym typeface="Calibri"/>
            </a:endParaRPr>
          </a:p>
        </p:txBody>
      </p:sp>
      <p:sp>
        <p:nvSpPr>
          <p:cNvPr id="93" name="Google Shape;93;p5"/>
          <p:cNvSpPr/>
          <p:nvPr/>
        </p:nvSpPr>
        <p:spPr>
          <a:xfrm>
            <a:off x="1344168" y="3072384"/>
            <a:ext cx="4846320" cy="603504"/>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16242B"/>
              </a:buClr>
              <a:buSzPts val="1150"/>
              <a:buFont typeface="Poppins"/>
              <a:buNone/>
            </a:pPr>
            <a:r>
              <a:rPr lang="en-US" sz="1150">
                <a:solidFill>
                  <a:srgbClr val="16242B"/>
                </a:solidFill>
                <a:latin typeface="Poppins"/>
                <a:ea typeface="Poppins"/>
                <a:cs typeface="Poppins"/>
                <a:sym typeface="Poppins"/>
              </a:rPr>
              <a:t>Find one thing you have in common — anything at all (a show, a place, a snack, a pet).</a:t>
            </a:r>
            <a:endParaRPr sz="1150">
              <a:solidFill>
                <a:schemeClr val="dk1"/>
              </a:solidFill>
              <a:latin typeface="Calibri"/>
              <a:ea typeface="Calibri"/>
              <a:cs typeface="Calibri"/>
              <a:sym typeface="Calibri"/>
            </a:endParaRPr>
          </a:p>
        </p:txBody>
      </p:sp>
      <p:sp>
        <p:nvSpPr>
          <p:cNvPr id="94" name="Google Shape;94;p5"/>
          <p:cNvSpPr/>
          <p:nvPr/>
        </p:nvSpPr>
        <p:spPr>
          <a:xfrm>
            <a:off x="795528" y="3785616"/>
            <a:ext cx="384048" cy="384048"/>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5"/>
          <p:cNvSpPr/>
          <p:nvPr/>
        </p:nvSpPr>
        <p:spPr>
          <a:xfrm>
            <a:off x="795528" y="378561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3</a:t>
            </a:r>
            <a:endParaRPr sz="1300">
              <a:solidFill>
                <a:schemeClr val="dk1"/>
              </a:solidFill>
              <a:latin typeface="Calibri"/>
              <a:ea typeface="Calibri"/>
              <a:cs typeface="Calibri"/>
              <a:sym typeface="Calibri"/>
            </a:endParaRPr>
          </a:p>
        </p:txBody>
      </p:sp>
      <p:sp>
        <p:nvSpPr>
          <p:cNvPr id="96" name="Google Shape;96;p5"/>
          <p:cNvSpPr/>
          <p:nvPr/>
        </p:nvSpPr>
        <p:spPr>
          <a:xfrm>
            <a:off x="1344168" y="3730752"/>
            <a:ext cx="4846320" cy="603504"/>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16242B"/>
              </a:buClr>
              <a:buSzPts val="1150"/>
              <a:buFont typeface="Poppins"/>
              <a:buNone/>
            </a:pPr>
            <a:r>
              <a:rPr lang="en-US" sz="1150">
                <a:solidFill>
                  <a:srgbClr val="16242B"/>
                </a:solidFill>
                <a:latin typeface="Poppins"/>
                <a:ea typeface="Poppins"/>
                <a:cs typeface="Poppins"/>
                <a:sym typeface="Poppins"/>
              </a:rPr>
              <a:t>Find one thing that is different about each of you.</a:t>
            </a:r>
            <a:endParaRPr sz="1150">
              <a:solidFill>
                <a:schemeClr val="dk1"/>
              </a:solidFill>
              <a:latin typeface="Calibri"/>
              <a:ea typeface="Calibri"/>
              <a:cs typeface="Calibri"/>
              <a:sym typeface="Calibri"/>
            </a:endParaRPr>
          </a:p>
        </p:txBody>
      </p:sp>
      <p:sp>
        <p:nvSpPr>
          <p:cNvPr id="97" name="Google Shape;97;p5"/>
          <p:cNvSpPr/>
          <p:nvPr/>
        </p:nvSpPr>
        <p:spPr>
          <a:xfrm>
            <a:off x="795528" y="4443984"/>
            <a:ext cx="384048" cy="384048"/>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5"/>
          <p:cNvSpPr/>
          <p:nvPr/>
        </p:nvSpPr>
        <p:spPr>
          <a:xfrm>
            <a:off x="795528" y="444398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4</a:t>
            </a:r>
            <a:endParaRPr sz="1300">
              <a:solidFill>
                <a:schemeClr val="dk1"/>
              </a:solidFill>
              <a:latin typeface="Calibri"/>
              <a:ea typeface="Calibri"/>
              <a:cs typeface="Calibri"/>
              <a:sym typeface="Calibri"/>
            </a:endParaRPr>
          </a:p>
        </p:txBody>
      </p:sp>
      <p:sp>
        <p:nvSpPr>
          <p:cNvPr id="99" name="Google Shape;99;p5"/>
          <p:cNvSpPr/>
          <p:nvPr/>
        </p:nvSpPr>
        <p:spPr>
          <a:xfrm>
            <a:off x="1344168" y="4389120"/>
            <a:ext cx="4846320" cy="603504"/>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16242B"/>
              </a:buClr>
              <a:buSzPts val="1150"/>
              <a:buFont typeface="Poppins"/>
              <a:buNone/>
            </a:pPr>
            <a:r>
              <a:rPr lang="en-US" sz="1150">
                <a:solidFill>
                  <a:srgbClr val="16242B"/>
                </a:solidFill>
                <a:latin typeface="Poppins"/>
                <a:ea typeface="Poppins"/>
                <a:cs typeface="Poppins"/>
                <a:sym typeface="Poppins"/>
              </a:rPr>
              <a:t>Be ready to introduce one of your group to the rest of the room.</a:t>
            </a:r>
            <a:endParaRPr sz="1150">
              <a:solidFill>
                <a:schemeClr val="dk1"/>
              </a:solidFill>
              <a:latin typeface="Calibri"/>
              <a:ea typeface="Calibri"/>
              <a:cs typeface="Calibri"/>
              <a:sym typeface="Calibri"/>
            </a:endParaRPr>
          </a:p>
        </p:txBody>
      </p:sp>
      <p:cxnSp>
        <p:nvCxnSpPr>
          <p:cNvPr id="100" name="Google Shape;100;p5"/>
          <p:cNvCxnSpPr/>
          <p:nvPr/>
        </p:nvCxnSpPr>
        <p:spPr>
          <a:xfrm>
            <a:off x="795528" y="5138928"/>
            <a:ext cx="5404104" cy="0"/>
          </a:xfrm>
          <a:prstGeom prst="straightConnector1">
            <a:avLst/>
          </a:prstGeom>
          <a:noFill/>
          <a:ln cap="flat" cmpd="sng" w="12700">
            <a:solidFill>
              <a:srgbClr val="D2DBDA"/>
            </a:solidFill>
            <a:prstDash val="solid"/>
            <a:round/>
            <a:headEnd len="sm" w="sm" type="none"/>
            <a:tailEnd len="sm" w="sm" type="none"/>
          </a:ln>
        </p:spPr>
      </p:cxnSp>
      <p:pic>
        <p:nvPicPr>
          <p:cNvPr descr="preencoded.png" id="101" name="Google Shape;101;p5"/>
          <p:cNvPicPr preferRelativeResize="0"/>
          <p:nvPr/>
        </p:nvPicPr>
        <p:blipFill rotWithShape="1">
          <a:blip r:embed="rId3">
            <a:alphaModFix/>
          </a:blip>
          <a:srcRect b="0" l="0" r="0" t="0"/>
          <a:stretch/>
        </p:blipFill>
        <p:spPr>
          <a:xfrm>
            <a:off x="795528" y="5266944"/>
            <a:ext cx="274320" cy="274320"/>
          </a:xfrm>
          <a:prstGeom prst="rect">
            <a:avLst/>
          </a:prstGeom>
          <a:noFill/>
          <a:ln>
            <a:noFill/>
          </a:ln>
        </p:spPr>
      </p:pic>
      <p:sp>
        <p:nvSpPr>
          <p:cNvPr id="102" name="Google Shape;102;p5"/>
          <p:cNvSpPr/>
          <p:nvPr/>
        </p:nvSpPr>
        <p:spPr>
          <a:xfrm>
            <a:off x="1179576" y="5248656"/>
            <a:ext cx="4983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50"/>
              <a:buFont typeface="Poppins"/>
              <a:buNone/>
            </a:pPr>
            <a:r>
              <a:rPr i="1" lang="en-US" sz="1050">
                <a:solidFill>
                  <a:srgbClr val="5A6A6F"/>
                </a:solidFill>
                <a:latin typeface="Poppins"/>
                <a:ea typeface="Poppins"/>
                <a:cs typeface="Poppins"/>
                <a:sym typeface="Poppins"/>
              </a:rPr>
              <a:t>About 8 minutes — keep it light and moving.</a:t>
            </a:r>
            <a:endParaRPr sz="1050">
              <a:solidFill>
                <a:schemeClr val="dk1"/>
              </a:solidFill>
              <a:latin typeface="Calibri"/>
              <a:ea typeface="Calibri"/>
              <a:cs typeface="Calibri"/>
              <a:sym typeface="Calibri"/>
            </a:endParaRPr>
          </a:p>
        </p:txBody>
      </p:sp>
      <p:sp>
        <p:nvSpPr>
          <p:cNvPr id="103" name="Google Shape;103;p5"/>
          <p:cNvSpPr/>
          <p:nvPr/>
        </p:nvSpPr>
        <p:spPr>
          <a:xfrm>
            <a:off x="6766560" y="1755648"/>
            <a:ext cx="4919472" cy="3977640"/>
          </a:xfrm>
          <a:prstGeom prst="roundRect">
            <a:avLst>
              <a:gd fmla="val 2759" name="adj"/>
            </a:avLst>
          </a:prstGeom>
          <a:solidFill>
            <a:srgbClr val="0D2434"/>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4" name="Google Shape;104;p5"/>
          <p:cNvPicPr preferRelativeResize="0"/>
          <p:nvPr/>
        </p:nvPicPr>
        <p:blipFill rotWithShape="1">
          <a:blip r:embed="rId4">
            <a:alphaModFix/>
          </a:blip>
          <a:srcRect b="0" l="0" r="0" t="0"/>
          <a:stretch/>
        </p:blipFill>
        <p:spPr>
          <a:xfrm>
            <a:off x="7077456" y="2121408"/>
            <a:ext cx="457200" cy="457200"/>
          </a:xfrm>
          <a:prstGeom prst="rect">
            <a:avLst/>
          </a:prstGeom>
          <a:noFill/>
          <a:ln>
            <a:noFill/>
          </a:ln>
        </p:spPr>
      </p:pic>
      <p:sp>
        <p:nvSpPr>
          <p:cNvPr id="105" name="Google Shape;105;p5"/>
          <p:cNvSpPr/>
          <p:nvPr/>
        </p:nvSpPr>
        <p:spPr>
          <a:xfrm>
            <a:off x="7077456" y="2688336"/>
            <a:ext cx="4297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SemiBold"/>
              <a:buNone/>
            </a:pPr>
            <a:r>
              <a:rPr lang="en-US" sz="1600">
                <a:solidFill>
                  <a:srgbClr val="FFFFFF"/>
                </a:solidFill>
                <a:latin typeface="Poppins SemiBold"/>
                <a:ea typeface="Poppins SemiBold"/>
                <a:cs typeface="Poppins SemiBold"/>
                <a:sym typeface="Poppins SemiBold"/>
              </a:rPr>
              <a:t>Why we start here</a:t>
            </a:r>
            <a:endParaRPr sz="1600">
              <a:solidFill>
                <a:schemeClr val="dk1"/>
              </a:solidFill>
              <a:latin typeface="Calibri"/>
              <a:ea typeface="Calibri"/>
              <a:cs typeface="Calibri"/>
              <a:sym typeface="Calibri"/>
            </a:endParaRPr>
          </a:p>
        </p:txBody>
      </p:sp>
      <p:sp>
        <p:nvSpPr>
          <p:cNvPr id="106" name="Google Shape;106;p5"/>
          <p:cNvSpPr/>
          <p:nvPr/>
        </p:nvSpPr>
        <p:spPr>
          <a:xfrm>
            <a:off x="7077456" y="3172968"/>
            <a:ext cx="4297680" cy="228600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C7D0D3"/>
              </a:buClr>
              <a:buSzPts val="1150"/>
              <a:buFont typeface="Poppins Light"/>
              <a:buNone/>
            </a:pPr>
            <a:r>
              <a:rPr lang="en-US" sz="1150">
                <a:solidFill>
                  <a:srgbClr val="C7D0D3"/>
                </a:solidFill>
                <a:latin typeface="Poppins Light"/>
                <a:ea typeface="Poppins Light"/>
                <a:cs typeface="Poppins Light"/>
                <a:sym typeface="Poppins Light"/>
              </a:rPr>
              <a:t>Belonging is the single biggest factor in whether students stay, attend and succeed. If you know even a couple of friendly faces in the room, everything that follows feels easier.</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C7D0D3"/>
              </a:buClr>
              <a:buSzPts val="1150"/>
              <a:buFont typeface="Poppins Light"/>
              <a:buNone/>
            </a:pPr>
            <a:r>
              <a:rPr lang="en-US" sz="1150">
                <a:solidFill>
                  <a:srgbClr val="C7D0D3"/>
                </a:solidFill>
                <a:latin typeface="Poppins Light"/>
                <a:ea typeface="Poppins Light"/>
                <a:cs typeface="Poppins Light"/>
                <a:sym typeface="Poppins Light"/>
              </a:rPr>
              <a:t>You will not click with everyone — that's normal. The goal today is simply that no one feels alone.</a:t>
            </a:r>
            <a:endParaRPr sz="1150">
              <a:solidFill>
                <a:schemeClr val="dk1"/>
              </a:solidFill>
              <a:latin typeface="Calibri"/>
              <a:ea typeface="Calibri"/>
              <a:cs typeface="Calibri"/>
              <a:sym typeface="Calibri"/>
            </a:endParaRPr>
          </a:p>
        </p:txBody>
      </p:sp>
      <p:sp>
        <p:nvSpPr>
          <p:cNvPr id="107" name="Google Shape;107;p5"/>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108" name="Google Shape;108;p5"/>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5"/>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Level 3/ T - Level  YR1  ·  SETTLING IN</a:t>
            </a:r>
            <a:endParaRPr sz="700">
              <a:solidFill>
                <a:schemeClr val="dk1"/>
              </a:solidFill>
              <a:latin typeface="Calibri"/>
              <a:ea typeface="Calibri"/>
              <a:cs typeface="Calibri"/>
              <a:sym typeface="Calibri"/>
            </a:endParaRPr>
          </a:p>
        </p:txBody>
      </p:sp>
      <p:sp>
        <p:nvSpPr>
          <p:cNvPr id="110" name="Google Shape;110;p5"/>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3</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9"/>
        </a:solidFill>
      </p:bgPr>
    </p:bg>
    <p:spTree>
      <p:nvGrpSpPr>
        <p:cNvPr id="115" name="Shape 115"/>
        <p:cNvGrpSpPr/>
        <p:nvPr/>
      </p:nvGrpSpPr>
      <p:grpSpPr>
        <a:xfrm>
          <a:off x="0" y="0"/>
          <a:ext cx="0" cy="0"/>
          <a:chOff x="0" y="0"/>
          <a:chExt cx="0" cy="0"/>
        </a:xfrm>
      </p:grpSpPr>
      <p:sp>
        <p:nvSpPr>
          <p:cNvPr id="116" name="Google Shape;116;p6"/>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6"/>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MEET YOUR TEACHERS</a:t>
            </a:r>
            <a:endParaRPr sz="1100">
              <a:solidFill>
                <a:schemeClr val="dk1"/>
              </a:solidFill>
              <a:latin typeface="Calibri"/>
              <a:ea typeface="Calibri"/>
              <a:cs typeface="Calibri"/>
              <a:sym typeface="Calibri"/>
            </a:endParaRPr>
          </a:p>
        </p:txBody>
      </p:sp>
      <p:sp>
        <p:nvSpPr>
          <p:cNvPr id="118" name="Google Shape;118;p6"/>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Who we are &amp; how we'll work together</a:t>
            </a:r>
            <a:endParaRPr sz="3000">
              <a:solidFill>
                <a:schemeClr val="dk1"/>
              </a:solidFill>
              <a:latin typeface="Calibri"/>
              <a:ea typeface="Calibri"/>
              <a:cs typeface="Calibri"/>
              <a:sym typeface="Calibri"/>
            </a:endParaRPr>
          </a:p>
        </p:txBody>
      </p:sp>
      <p:sp>
        <p:nvSpPr>
          <p:cNvPr id="119" name="Google Shape;119;p6"/>
          <p:cNvSpPr/>
          <p:nvPr/>
        </p:nvSpPr>
        <p:spPr>
          <a:xfrm>
            <a:off x="9494215" y="502920"/>
            <a:ext cx="2194560" cy="384048"/>
          </a:xfrm>
          <a:prstGeom prst="roundRect">
            <a:avLst>
              <a:gd fmla="val 50000" name="adj"/>
            </a:avLst>
          </a:prstGeom>
          <a:solidFill>
            <a:srgbClr val="0D2434"/>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6"/>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121" name="Google Shape;121;p6"/>
          <p:cNvSpPr/>
          <p:nvPr/>
        </p:nvSpPr>
        <p:spPr>
          <a:xfrm>
            <a:off x="502920" y="1728216"/>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Take a couple of minutes to introduce yourself properly. Students remember how a teacher made them feel on day one.</a:t>
            </a:r>
            <a:endParaRPr sz="1250">
              <a:solidFill>
                <a:schemeClr val="dk1"/>
              </a:solidFill>
              <a:latin typeface="Calibri"/>
              <a:ea typeface="Calibri"/>
              <a:cs typeface="Calibri"/>
              <a:sym typeface="Calibri"/>
            </a:endParaRPr>
          </a:p>
        </p:txBody>
      </p:sp>
      <p:sp>
        <p:nvSpPr>
          <p:cNvPr id="122" name="Google Shape;122;p6"/>
          <p:cNvSpPr/>
          <p:nvPr/>
        </p:nvSpPr>
        <p:spPr>
          <a:xfrm>
            <a:off x="502920" y="2313432"/>
            <a:ext cx="5486400" cy="2926080"/>
          </a:xfrm>
          <a:prstGeom prst="roundRect">
            <a:avLst>
              <a:gd fmla="val 2500" name="adj"/>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3" name="Google Shape;123;p6"/>
          <p:cNvPicPr preferRelativeResize="0"/>
          <p:nvPr/>
        </p:nvPicPr>
        <p:blipFill rotWithShape="1">
          <a:blip r:embed="rId3">
            <a:alphaModFix/>
          </a:blip>
          <a:srcRect b="0" l="0" r="0" t="0"/>
          <a:stretch/>
        </p:blipFill>
        <p:spPr>
          <a:xfrm>
            <a:off x="667512" y="2468880"/>
            <a:ext cx="237744" cy="237744"/>
          </a:xfrm>
          <a:prstGeom prst="rect">
            <a:avLst/>
          </a:prstGeom>
          <a:noFill/>
          <a:ln>
            <a:noFill/>
          </a:ln>
        </p:spPr>
      </p:pic>
      <p:sp>
        <p:nvSpPr>
          <p:cNvPr id="124" name="Google Shape;124;p6"/>
          <p:cNvSpPr/>
          <p:nvPr/>
        </p:nvSpPr>
        <p:spPr>
          <a:xfrm>
            <a:off x="978408" y="2432304"/>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00"/>
              <a:buFont typeface="Poppins SemiBold"/>
              <a:buNone/>
            </a:pPr>
            <a:r>
              <a:rPr lang="en-US" sz="1000">
                <a:solidFill>
                  <a:srgbClr val="B23A2E"/>
                </a:solidFill>
                <a:latin typeface="Poppins SemiBold"/>
                <a:ea typeface="Poppins SemiBold"/>
                <a:cs typeface="Poppins SemiBold"/>
                <a:sym typeface="Poppins SemiBold"/>
              </a:rPr>
              <a:t>ESCG TO CONFIRM</a:t>
            </a:r>
            <a:endParaRPr sz="1000">
              <a:solidFill>
                <a:schemeClr val="dk1"/>
              </a:solidFill>
              <a:latin typeface="Calibri"/>
              <a:ea typeface="Calibri"/>
              <a:cs typeface="Calibri"/>
              <a:sym typeface="Calibri"/>
            </a:endParaRPr>
          </a:p>
        </p:txBody>
      </p:sp>
      <p:sp>
        <p:nvSpPr>
          <p:cNvPr id="125" name="Google Shape;125;p6"/>
          <p:cNvSpPr/>
          <p:nvPr/>
        </p:nvSpPr>
        <p:spPr>
          <a:xfrm>
            <a:off x="978408" y="2697480"/>
            <a:ext cx="4846320" cy="2414016"/>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16242B"/>
              </a:buClr>
              <a:buSzPts val="950"/>
              <a:buFont typeface="Poppins"/>
              <a:buNone/>
            </a:pPr>
            <a:r>
              <a:rPr lang="en-US" sz="950">
                <a:solidFill>
                  <a:srgbClr val="16242B"/>
                </a:solidFill>
                <a:latin typeface="Poppins"/>
                <a:ea typeface="Poppins"/>
                <a:cs typeface="Poppins"/>
                <a:sym typeface="Poppins"/>
              </a:rPr>
              <a:t>Replace this panel with your own introduction. Suggested: your name and what you teach; one genuine, human detail about you (why you got into this subject, or something you enjoy); the names of the other teachers and key staff this group will see regularly; and how students should address you. Keep it warm and brief — about 2 minutes.</a:t>
            </a:r>
            <a:endParaRPr sz="950">
              <a:solidFill>
                <a:schemeClr val="dk1"/>
              </a:solidFill>
              <a:latin typeface="Calibri"/>
              <a:ea typeface="Calibri"/>
              <a:cs typeface="Calibri"/>
              <a:sym typeface="Calibri"/>
            </a:endParaRPr>
          </a:p>
        </p:txBody>
      </p:sp>
      <p:sp>
        <p:nvSpPr>
          <p:cNvPr id="126" name="Google Shape;126;p6"/>
          <p:cNvSpPr/>
          <p:nvPr/>
        </p:nvSpPr>
        <p:spPr>
          <a:xfrm>
            <a:off x="6263640" y="2313432"/>
            <a:ext cx="5422392" cy="1371600"/>
          </a:xfrm>
          <a:prstGeom prst="roundRect">
            <a:avLst>
              <a:gd fmla="val 6667"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6"/>
          <p:cNvSpPr/>
          <p:nvPr/>
        </p:nvSpPr>
        <p:spPr>
          <a:xfrm>
            <a:off x="6519672" y="2478024"/>
            <a:ext cx="49103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050"/>
              <a:buFont typeface="Poppins SemiBold"/>
              <a:buNone/>
            </a:pPr>
            <a:r>
              <a:rPr lang="en-US" sz="1050">
                <a:solidFill>
                  <a:srgbClr val="0F7A54"/>
                </a:solidFill>
                <a:latin typeface="Poppins SemiBold"/>
                <a:ea typeface="Poppins SemiBold"/>
                <a:cs typeface="Poppins SemiBold"/>
                <a:sym typeface="Poppins SemiBold"/>
              </a:rPr>
              <a:t>WHAT YOU CAN EXPECT FROM US</a:t>
            </a:r>
            <a:endParaRPr sz="1050">
              <a:solidFill>
                <a:schemeClr val="dk1"/>
              </a:solidFill>
              <a:latin typeface="Calibri"/>
              <a:ea typeface="Calibri"/>
              <a:cs typeface="Calibri"/>
              <a:sym typeface="Calibri"/>
            </a:endParaRPr>
          </a:p>
        </p:txBody>
      </p:sp>
      <p:sp>
        <p:nvSpPr>
          <p:cNvPr id="128" name="Google Shape;128;p6"/>
          <p:cNvSpPr/>
          <p:nvPr/>
        </p:nvSpPr>
        <p:spPr>
          <a:xfrm>
            <a:off x="6519672" y="2770632"/>
            <a:ext cx="4910328" cy="841248"/>
          </a:xfrm>
          <a:prstGeom prst="rect">
            <a:avLst/>
          </a:prstGeom>
          <a:noFill/>
          <a:ln>
            <a:noFill/>
          </a:ln>
        </p:spPr>
        <p:txBody>
          <a:bodyPr anchorCtr="0" anchor="ctr" bIns="0" lIns="0" spcFirstLastPara="1" rIns="0" wrap="square" tIns="0">
            <a:noAutofit/>
          </a:bodyPr>
          <a:lstStyle/>
          <a:p>
            <a:pPr indent="0" lvl="0" marL="0" marR="0" rtl="0" algn="l">
              <a:lnSpc>
                <a:spcPct val="131818"/>
              </a:lnSpc>
              <a:spcBef>
                <a:spcPts val="0"/>
              </a:spcBef>
              <a:spcAft>
                <a:spcPts val="0"/>
              </a:spcAft>
              <a:buClr>
                <a:srgbClr val="16242B"/>
              </a:buClr>
              <a:buSzPts val="1100"/>
              <a:buFont typeface="Poppins"/>
              <a:buNone/>
            </a:pPr>
            <a:r>
              <a:rPr lang="en-US" sz="1100">
                <a:solidFill>
                  <a:srgbClr val="16242B"/>
                </a:solidFill>
                <a:latin typeface="Poppins"/>
                <a:ea typeface="Poppins"/>
                <a:cs typeface="Poppins"/>
                <a:sym typeface="Poppins"/>
              </a:rPr>
              <a:t>To know your name, treat you with respect, teach you well, and help you when you're stuck. You can always ask.</a:t>
            </a:r>
            <a:endParaRPr sz="1100">
              <a:solidFill>
                <a:schemeClr val="dk1"/>
              </a:solidFill>
              <a:latin typeface="Calibri"/>
              <a:ea typeface="Calibri"/>
              <a:cs typeface="Calibri"/>
              <a:sym typeface="Calibri"/>
            </a:endParaRPr>
          </a:p>
        </p:txBody>
      </p:sp>
      <p:sp>
        <p:nvSpPr>
          <p:cNvPr id="129" name="Google Shape;129;p6"/>
          <p:cNvSpPr/>
          <p:nvPr/>
        </p:nvSpPr>
        <p:spPr>
          <a:xfrm>
            <a:off x="6263640" y="3867912"/>
            <a:ext cx="5422392" cy="1371600"/>
          </a:xfrm>
          <a:prstGeom prst="roundRect">
            <a:avLst>
              <a:gd fmla="val 6667"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6"/>
          <p:cNvSpPr/>
          <p:nvPr/>
        </p:nvSpPr>
        <p:spPr>
          <a:xfrm>
            <a:off x="6263640" y="3867912"/>
            <a:ext cx="91440" cy="137160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6"/>
          <p:cNvSpPr/>
          <p:nvPr/>
        </p:nvSpPr>
        <p:spPr>
          <a:xfrm>
            <a:off x="6556248" y="4032504"/>
            <a:ext cx="48737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WHAT WE'LL ASK OF YOU</a:t>
            </a:r>
            <a:endParaRPr sz="1050">
              <a:solidFill>
                <a:schemeClr val="dk1"/>
              </a:solidFill>
              <a:latin typeface="Calibri"/>
              <a:ea typeface="Calibri"/>
              <a:cs typeface="Calibri"/>
              <a:sym typeface="Calibri"/>
            </a:endParaRPr>
          </a:p>
        </p:txBody>
      </p:sp>
      <p:sp>
        <p:nvSpPr>
          <p:cNvPr id="132" name="Google Shape;132;p6"/>
          <p:cNvSpPr/>
          <p:nvPr/>
        </p:nvSpPr>
        <p:spPr>
          <a:xfrm>
            <a:off x="6556248" y="4325112"/>
            <a:ext cx="4855464" cy="841248"/>
          </a:xfrm>
          <a:prstGeom prst="rect">
            <a:avLst/>
          </a:prstGeom>
          <a:noFill/>
          <a:ln>
            <a:noFill/>
          </a:ln>
        </p:spPr>
        <p:txBody>
          <a:bodyPr anchorCtr="0" anchor="ctr" bIns="0" lIns="0" spcFirstLastPara="1" rIns="0" wrap="square" tIns="0">
            <a:noAutofit/>
          </a:bodyPr>
          <a:lstStyle/>
          <a:p>
            <a:pPr indent="0" lvl="0" marL="0" marR="0" rtl="0" algn="l">
              <a:lnSpc>
                <a:spcPct val="131818"/>
              </a:lnSpc>
              <a:spcBef>
                <a:spcPts val="0"/>
              </a:spcBef>
              <a:spcAft>
                <a:spcPts val="0"/>
              </a:spcAft>
              <a:buClr>
                <a:srgbClr val="16242B"/>
              </a:buClr>
              <a:buSzPts val="1100"/>
              <a:buFont typeface="Poppins"/>
              <a:buNone/>
            </a:pPr>
            <a:r>
              <a:rPr lang="en-US" sz="1100">
                <a:solidFill>
                  <a:srgbClr val="16242B"/>
                </a:solidFill>
                <a:latin typeface="Poppins"/>
                <a:ea typeface="Poppins"/>
                <a:cs typeface="Poppins"/>
                <a:sym typeface="Poppins"/>
              </a:rPr>
              <a:t>To turn up, give things a go, be kind to the people around you, and tell us early if something isn't working.</a:t>
            </a:r>
            <a:endParaRPr sz="1100">
              <a:solidFill>
                <a:schemeClr val="dk1"/>
              </a:solidFill>
              <a:latin typeface="Calibri"/>
              <a:ea typeface="Calibri"/>
              <a:cs typeface="Calibri"/>
              <a:sym typeface="Calibri"/>
            </a:endParaRPr>
          </a:p>
        </p:txBody>
      </p:sp>
      <p:sp>
        <p:nvSpPr>
          <p:cNvPr id="133" name="Google Shape;133;p6"/>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134" name="Google Shape;134;p6"/>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6"/>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a:t>
            </a:r>
            <a:r>
              <a:rPr lang="en-US" sz="700">
                <a:solidFill>
                  <a:srgbClr val="0F7A54"/>
                </a:solidFill>
                <a:latin typeface="Poppins SemiBold"/>
                <a:ea typeface="Poppins SemiBold"/>
                <a:cs typeface="Poppins SemiBold"/>
                <a:sym typeface="Poppins SemiBold"/>
              </a:rPr>
              <a:t>Level 3/ T - Level  YR1  ·  SETTLING IN</a:t>
            </a:r>
            <a:endParaRPr sz="700">
              <a:solidFill>
                <a:schemeClr val="dk1"/>
              </a:solidFill>
              <a:latin typeface="Calibri"/>
              <a:ea typeface="Calibri"/>
              <a:cs typeface="Calibri"/>
              <a:sym typeface="Calibri"/>
            </a:endParaRPr>
          </a:p>
        </p:txBody>
      </p:sp>
      <p:sp>
        <p:nvSpPr>
          <p:cNvPr id="136" name="Google Shape;136;p6"/>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4</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9"/>
        </a:solidFill>
      </p:bgPr>
    </p:bg>
    <p:spTree>
      <p:nvGrpSpPr>
        <p:cNvPr id="141" name="Shape 141"/>
        <p:cNvGrpSpPr/>
        <p:nvPr/>
      </p:nvGrpSpPr>
      <p:grpSpPr>
        <a:xfrm>
          <a:off x="0" y="0"/>
          <a:ext cx="0" cy="0"/>
          <a:chOff x="0" y="0"/>
          <a:chExt cx="0" cy="0"/>
        </a:xfrm>
      </p:grpSpPr>
      <p:sp>
        <p:nvSpPr>
          <p:cNvPr id="142" name="Google Shape;142;p7"/>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7"/>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YOUR STUDY PROGRAMME</a:t>
            </a:r>
            <a:endParaRPr sz="1100">
              <a:solidFill>
                <a:schemeClr val="dk1"/>
              </a:solidFill>
              <a:latin typeface="Calibri"/>
              <a:ea typeface="Calibri"/>
              <a:cs typeface="Calibri"/>
              <a:sym typeface="Calibri"/>
            </a:endParaRPr>
          </a:p>
        </p:txBody>
      </p:sp>
      <p:sp>
        <p:nvSpPr>
          <p:cNvPr id="144" name="Google Shape;144;p7"/>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What you're here to do</a:t>
            </a:r>
            <a:endParaRPr sz="3000">
              <a:solidFill>
                <a:schemeClr val="dk1"/>
              </a:solidFill>
              <a:latin typeface="Calibri"/>
              <a:ea typeface="Calibri"/>
              <a:cs typeface="Calibri"/>
              <a:sym typeface="Calibri"/>
            </a:endParaRPr>
          </a:p>
        </p:txBody>
      </p:sp>
      <p:sp>
        <p:nvSpPr>
          <p:cNvPr id="145" name="Google Shape;145;p7"/>
          <p:cNvSpPr/>
          <p:nvPr/>
        </p:nvSpPr>
        <p:spPr>
          <a:xfrm>
            <a:off x="9494215" y="502920"/>
            <a:ext cx="2194560" cy="384048"/>
          </a:xfrm>
          <a:prstGeom prst="roundRect">
            <a:avLst>
              <a:gd fmla="val 50000" name="adj"/>
            </a:avLst>
          </a:prstGeom>
          <a:solidFill>
            <a:srgbClr val="0D2434"/>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7"/>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147" name="Google Shape;147;p7"/>
          <p:cNvSpPr/>
          <p:nvPr/>
        </p:nvSpPr>
        <p:spPr>
          <a:xfrm>
            <a:off x="502920" y="1728216"/>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Your study programme is everything that makes up your course — not just lessons. Here's what it includes.</a:t>
            </a:r>
            <a:endParaRPr sz="1250">
              <a:solidFill>
                <a:schemeClr val="dk1"/>
              </a:solidFill>
              <a:latin typeface="Calibri"/>
              <a:ea typeface="Calibri"/>
              <a:cs typeface="Calibri"/>
              <a:sym typeface="Calibri"/>
            </a:endParaRPr>
          </a:p>
        </p:txBody>
      </p:sp>
      <p:sp>
        <p:nvSpPr>
          <p:cNvPr id="148" name="Google Shape;148;p7"/>
          <p:cNvSpPr/>
          <p:nvPr/>
        </p:nvSpPr>
        <p:spPr>
          <a:xfrm>
            <a:off x="502920" y="2313432"/>
            <a:ext cx="2670048" cy="2286000"/>
          </a:xfrm>
          <a:prstGeom prst="roundRect">
            <a:avLst>
              <a:gd fmla="val 4000"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7"/>
          <p:cNvSpPr/>
          <p:nvPr/>
        </p:nvSpPr>
        <p:spPr>
          <a:xfrm>
            <a:off x="758952" y="2587752"/>
            <a:ext cx="640080" cy="640080"/>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0" name="Google Shape;150;p7"/>
          <p:cNvPicPr preferRelativeResize="0"/>
          <p:nvPr/>
        </p:nvPicPr>
        <p:blipFill rotWithShape="1">
          <a:blip r:embed="rId3">
            <a:alphaModFix/>
          </a:blip>
          <a:srcRect b="0" l="0" r="0" t="0"/>
          <a:stretch/>
        </p:blipFill>
        <p:spPr>
          <a:xfrm>
            <a:off x="886968" y="2715768"/>
            <a:ext cx="384048" cy="384048"/>
          </a:xfrm>
          <a:prstGeom prst="rect">
            <a:avLst/>
          </a:prstGeom>
          <a:noFill/>
          <a:ln>
            <a:noFill/>
          </a:ln>
        </p:spPr>
      </p:pic>
      <p:sp>
        <p:nvSpPr>
          <p:cNvPr id="151" name="Google Shape;151;p7"/>
          <p:cNvSpPr/>
          <p:nvPr/>
        </p:nvSpPr>
        <p:spPr>
          <a:xfrm>
            <a:off x="740664" y="3337560"/>
            <a:ext cx="2212848" cy="60350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Your Digital or Media qualification</a:t>
            </a:r>
            <a:endParaRPr sz="1250">
              <a:solidFill>
                <a:schemeClr val="dk1"/>
              </a:solidFill>
              <a:latin typeface="Calibri"/>
              <a:ea typeface="Calibri"/>
              <a:cs typeface="Calibri"/>
              <a:sym typeface="Calibri"/>
            </a:endParaRPr>
          </a:p>
        </p:txBody>
      </p:sp>
      <p:sp>
        <p:nvSpPr>
          <p:cNvPr id="152" name="Google Shape;152;p7"/>
          <p:cNvSpPr/>
          <p:nvPr/>
        </p:nvSpPr>
        <p:spPr>
          <a:xfrm>
            <a:off x="740664" y="3904488"/>
            <a:ext cx="2249424" cy="603504"/>
          </a:xfrm>
          <a:prstGeom prst="rect">
            <a:avLst/>
          </a:prstGeom>
          <a:noFill/>
          <a:ln>
            <a:noFill/>
          </a:ln>
        </p:spPr>
        <p:txBody>
          <a:bodyPr anchorCtr="0" anchor="ctr" bIns="0" lIns="0" spcFirstLastPara="1" rIns="0" wrap="square" tIns="0">
            <a:noAutofit/>
          </a:bodyPr>
          <a:lstStyle/>
          <a:p>
            <a:pPr indent="0" lvl="0" marL="0" marR="0" rtl="0" algn="l">
              <a:lnSpc>
                <a:spcPct val="128865"/>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The core course you applied for — coursework, portfolio, and final projects assessed throughout the year.</a:t>
            </a:r>
            <a:endParaRPr sz="970">
              <a:solidFill>
                <a:schemeClr val="dk1"/>
              </a:solidFill>
              <a:latin typeface="Calibri"/>
              <a:ea typeface="Calibri"/>
              <a:cs typeface="Calibri"/>
              <a:sym typeface="Calibri"/>
            </a:endParaRPr>
          </a:p>
        </p:txBody>
      </p:sp>
      <p:sp>
        <p:nvSpPr>
          <p:cNvPr id="153" name="Google Shape;153;p7"/>
          <p:cNvSpPr/>
          <p:nvPr/>
        </p:nvSpPr>
        <p:spPr>
          <a:xfrm>
            <a:off x="3337560" y="2313432"/>
            <a:ext cx="2670048" cy="2286000"/>
          </a:xfrm>
          <a:prstGeom prst="roundRect">
            <a:avLst>
              <a:gd fmla="val 4000"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7"/>
          <p:cNvSpPr/>
          <p:nvPr/>
        </p:nvSpPr>
        <p:spPr>
          <a:xfrm>
            <a:off x="3593592" y="2587752"/>
            <a:ext cx="640080" cy="640080"/>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5" name="Google Shape;155;p7"/>
          <p:cNvPicPr preferRelativeResize="0"/>
          <p:nvPr/>
        </p:nvPicPr>
        <p:blipFill rotWithShape="1">
          <a:blip r:embed="rId4">
            <a:alphaModFix/>
          </a:blip>
          <a:srcRect b="0" l="0" r="0" t="0"/>
          <a:stretch/>
        </p:blipFill>
        <p:spPr>
          <a:xfrm>
            <a:off x="3721608" y="2715768"/>
            <a:ext cx="384048" cy="384048"/>
          </a:xfrm>
          <a:prstGeom prst="rect">
            <a:avLst/>
          </a:prstGeom>
          <a:noFill/>
          <a:ln>
            <a:noFill/>
          </a:ln>
        </p:spPr>
      </p:pic>
      <p:sp>
        <p:nvSpPr>
          <p:cNvPr id="156" name="Google Shape;156;p7"/>
          <p:cNvSpPr/>
          <p:nvPr/>
        </p:nvSpPr>
        <p:spPr>
          <a:xfrm>
            <a:off x="3575304" y="3337560"/>
            <a:ext cx="2212848" cy="60350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English &amp; maths</a:t>
            </a:r>
            <a:endParaRPr sz="1250">
              <a:solidFill>
                <a:schemeClr val="dk1"/>
              </a:solidFill>
              <a:latin typeface="Calibri"/>
              <a:ea typeface="Calibri"/>
              <a:cs typeface="Calibri"/>
              <a:sym typeface="Calibri"/>
            </a:endParaRPr>
          </a:p>
        </p:txBody>
      </p:sp>
      <p:sp>
        <p:nvSpPr>
          <p:cNvPr id="157" name="Google Shape;157;p7"/>
          <p:cNvSpPr/>
          <p:nvPr/>
        </p:nvSpPr>
        <p:spPr>
          <a:xfrm>
            <a:off x="3575304" y="3904488"/>
            <a:ext cx="2249424" cy="603504"/>
          </a:xfrm>
          <a:prstGeom prst="rect">
            <a:avLst/>
          </a:prstGeom>
          <a:noFill/>
          <a:ln>
            <a:noFill/>
          </a:ln>
        </p:spPr>
        <p:txBody>
          <a:bodyPr anchorCtr="0" anchor="ctr" bIns="0" lIns="0" spcFirstLastPara="1" rIns="0" wrap="square" tIns="0">
            <a:noAutofit/>
          </a:bodyPr>
          <a:lstStyle/>
          <a:p>
            <a:pPr indent="0" lvl="0" marL="0" marR="0" rtl="0" algn="l">
              <a:lnSpc>
                <a:spcPct val="128865"/>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If you haven't yet achieved these, you'll continue them here.</a:t>
            </a:r>
            <a:endParaRPr sz="970">
              <a:solidFill>
                <a:schemeClr val="dk1"/>
              </a:solidFill>
              <a:latin typeface="Calibri"/>
              <a:ea typeface="Calibri"/>
              <a:cs typeface="Calibri"/>
              <a:sym typeface="Calibri"/>
            </a:endParaRPr>
          </a:p>
        </p:txBody>
      </p:sp>
      <p:sp>
        <p:nvSpPr>
          <p:cNvPr id="158" name="Google Shape;158;p7"/>
          <p:cNvSpPr/>
          <p:nvPr/>
        </p:nvSpPr>
        <p:spPr>
          <a:xfrm>
            <a:off x="6172200" y="2313432"/>
            <a:ext cx="2670048" cy="2286000"/>
          </a:xfrm>
          <a:prstGeom prst="roundRect">
            <a:avLst>
              <a:gd fmla="val 4000"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7"/>
          <p:cNvSpPr/>
          <p:nvPr/>
        </p:nvSpPr>
        <p:spPr>
          <a:xfrm>
            <a:off x="6428232" y="2587752"/>
            <a:ext cx="640080" cy="640080"/>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60" name="Google Shape;160;p7"/>
          <p:cNvPicPr preferRelativeResize="0"/>
          <p:nvPr/>
        </p:nvPicPr>
        <p:blipFill rotWithShape="1">
          <a:blip r:embed="rId5">
            <a:alphaModFix/>
          </a:blip>
          <a:srcRect b="0" l="0" r="0" t="0"/>
          <a:stretch/>
        </p:blipFill>
        <p:spPr>
          <a:xfrm>
            <a:off x="6556248" y="2715768"/>
            <a:ext cx="384048" cy="384048"/>
          </a:xfrm>
          <a:prstGeom prst="rect">
            <a:avLst/>
          </a:prstGeom>
          <a:noFill/>
          <a:ln>
            <a:noFill/>
          </a:ln>
        </p:spPr>
      </p:pic>
      <p:sp>
        <p:nvSpPr>
          <p:cNvPr id="161" name="Google Shape;161;p7"/>
          <p:cNvSpPr/>
          <p:nvPr/>
        </p:nvSpPr>
        <p:spPr>
          <a:xfrm>
            <a:off x="6409944" y="3337560"/>
            <a:ext cx="2212848" cy="60350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Work-related learning</a:t>
            </a:r>
            <a:endParaRPr sz="1250">
              <a:solidFill>
                <a:schemeClr val="dk1"/>
              </a:solidFill>
              <a:latin typeface="Calibri"/>
              <a:ea typeface="Calibri"/>
              <a:cs typeface="Calibri"/>
              <a:sym typeface="Calibri"/>
            </a:endParaRPr>
          </a:p>
        </p:txBody>
      </p:sp>
      <p:sp>
        <p:nvSpPr>
          <p:cNvPr id="162" name="Google Shape;162;p7"/>
          <p:cNvSpPr/>
          <p:nvPr/>
        </p:nvSpPr>
        <p:spPr>
          <a:xfrm>
            <a:off x="6409944" y="3904488"/>
            <a:ext cx="2249424" cy="603504"/>
          </a:xfrm>
          <a:prstGeom prst="rect">
            <a:avLst/>
          </a:prstGeom>
          <a:noFill/>
          <a:ln>
            <a:noFill/>
          </a:ln>
        </p:spPr>
        <p:txBody>
          <a:bodyPr anchorCtr="0" anchor="ctr" bIns="0" lIns="0" spcFirstLastPara="1" rIns="0" wrap="square" tIns="0">
            <a:noAutofit/>
          </a:bodyPr>
          <a:lstStyle/>
          <a:p>
            <a:pPr indent="0" lvl="0" marL="0" marR="0" rtl="0" algn="l">
              <a:lnSpc>
                <a:spcPct val="128865"/>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Industry placements, live briefs and real creative experience. For T Level students, this is mandatory.</a:t>
            </a:r>
            <a:endParaRPr sz="970">
              <a:solidFill>
                <a:schemeClr val="dk1"/>
              </a:solidFill>
              <a:latin typeface="Calibri"/>
              <a:ea typeface="Calibri"/>
              <a:cs typeface="Calibri"/>
              <a:sym typeface="Calibri"/>
            </a:endParaRPr>
          </a:p>
        </p:txBody>
      </p:sp>
      <p:sp>
        <p:nvSpPr>
          <p:cNvPr id="163" name="Google Shape;163;p7"/>
          <p:cNvSpPr/>
          <p:nvPr/>
        </p:nvSpPr>
        <p:spPr>
          <a:xfrm>
            <a:off x="9006840" y="2313432"/>
            <a:ext cx="2670048" cy="2286000"/>
          </a:xfrm>
          <a:prstGeom prst="roundRect">
            <a:avLst>
              <a:gd fmla="val 4000"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7"/>
          <p:cNvSpPr/>
          <p:nvPr/>
        </p:nvSpPr>
        <p:spPr>
          <a:xfrm>
            <a:off x="9262872" y="2587752"/>
            <a:ext cx="640080" cy="640080"/>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65" name="Google Shape;165;p7"/>
          <p:cNvPicPr preferRelativeResize="0"/>
          <p:nvPr/>
        </p:nvPicPr>
        <p:blipFill rotWithShape="1">
          <a:blip r:embed="rId6">
            <a:alphaModFix/>
          </a:blip>
          <a:srcRect b="0" l="0" r="0" t="0"/>
          <a:stretch/>
        </p:blipFill>
        <p:spPr>
          <a:xfrm>
            <a:off x="9390888" y="2715768"/>
            <a:ext cx="384048" cy="384048"/>
          </a:xfrm>
          <a:prstGeom prst="rect">
            <a:avLst/>
          </a:prstGeom>
          <a:noFill/>
          <a:ln>
            <a:noFill/>
          </a:ln>
        </p:spPr>
      </p:pic>
      <p:sp>
        <p:nvSpPr>
          <p:cNvPr id="166" name="Google Shape;166;p7"/>
          <p:cNvSpPr/>
          <p:nvPr/>
        </p:nvSpPr>
        <p:spPr>
          <a:xfrm>
            <a:off x="9244584" y="3337560"/>
            <a:ext cx="2212848" cy="60350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Tutorial &amp; personal development</a:t>
            </a:r>
            <a:endParaRPr sz="1250">
              <a:solidFill>
                <a:schemeClr val="dk1"/>
              </a:solidFill>
              <a:latin typeface="Calibri"/>
              <a:ea typeface="Calibri"/>
              <a:cs typeface="Calibri"/>
              <a:sym typeface="Calibri"/>
            </a:endParaRPr>
          </a:p>
        </p:txBody>
      </p:sp>
      <p:sp>
        <p:nvSpPr>
          <p:cNvPr id="167" name="Google Shape;167;p7"/>
          <p:cNvSpPr/>
          <p:nvPr/>
        </p:nvSpPr>
        <p:spPr>
          <a:xfrm>
            <a:off x="9244584" y="3904488"/>
            <a:ext cx="2249424" cy="603504"/>
          </a:xfrm>
          <a:prstGeom prst="rect">
            <a:avLst/>
          </a:prstGeom>
          <a:noFill/>
          <a:ln>
            <a:noFill/>
          </a:ln>
        </p:spPr>
        <p:txBody>
          <a:bodyPr anchorCtr="0" anchor="ctr" bIns="0" lIns="0" spcFirstLastPara="1" rIns="0" wrap="square" tIns="0">
            <a:noAutofit/>
          </a:bodyPr>
          <a:lstStyle/>
          <a:p>
            <a:pPr indent="0" lvl="0" marL="0" marR="0" rtl="0" algn="l">
              <a:lnSpc>
                <a:spcPct val="128865"/>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Time set aside for your wellbeing, skills and progress.</a:t>
            </a:r>
            <a:endParaRPr sz="970">
              <a:solidFill>
                <a:schemeClr val="dk1"/>
              </a:solidFill>
              <a:latin typeface="Calibri"/>
              <a:ea typeface="Calibri"/>
              <a:cs typeface="Calibri"/>
              <a:sym typeface="Calibri"/>
            </a:endParaRPr>
          </a:p>
        </p:txBody>
      </p:sp>
      <p:sp>
        <p:nvSpPr>
          <p:cNvPr id="168" name="Google Shape;168;p7"/>
          <p:cNvSpPr/>
          <p:nvPr/>
        </p:nvSpPr>
        <p:spPr>
          <a:xfrm>
            <a:off x="502920" y="4800600"/>
            <a:ext cx="11183112" cy="841248"/>
          </a:xfrm>
          <a:prstGeom prst="roundRect">
            <a:avLst>
              <a:gd fmla="val 8696" name="adj"/>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69" name="Google Shape;169;p7"/>
          <p:cNvPicPr preferRelativeResize="0"/>
          <p:nvPr/>
        </p:nvPicPr>
        <p:blipFill rotWithShape="1">
          <a:blip r:embed="rId7">
            <a:alphaModFix/>
          </a:blip>
          <a:srcRect b="0" l="0" r="0" t="0"/>
          <a:stretch/>
        </p:blipFill>
        <p:spPr>
          <a:xfrm>
            <a:off x="667512" y="4956048"/>
            <a:ext cx="237744" cy="237744"/>
          </a:xfrm>
          <a:prstGeom prst="rect">
            <a:avLst/>
          </a:prstGeom>
          <a:noFill/>
          <a:ln>
            <a:noFill/>
          </a:ln>
        </p:spPr>
      </p:pic>
      <p:sp>
        <p:nvSpPr>
          <p:cNvPr id="170" name="Google Shape;170;p7"/>
          <p:cNvSpPr/>
          <p:nvPr/>
        </p:nvSpPr>
        <p:spPr>
          <a:xfrm>
            <a:off x="978408" y="4919472"/>
            <a:ext cx="105430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00"/>
              <a:buFont typeface="Poppins SemiBold"/>
              <a:buNone/>
            </a:pPr>
            <a:r>
              <a:rPr lang="en-US" sz="1000">
                <a:solidFill>
                  <a:srgbClr val="B23A2E"/>
                </a:solidFill>
                <a:latin typeface="Poppins SemiBold"/>
                <a:ea typeface="Poppins SemiBold"/>
                <a:cs typeface="Poppins SemiBold"/>
                <a:sym typeface="Poppins SemiBold"/>
              </a:rPr>
              <a:t>ESCG TO CONFIRM</a:t>
            </a:r>
            <a:endParaRPr sz="1000">
              <a:solidFill>
                <a:schemeClr val="dk1"/>
              </a:solidFill>
              <a:latin typeface="Calibri"/>
              <a:ea typeface="Calibri"/>
              <a:cs typeface="Calibri"/>
              <a:sym typeface="Calibri"/>
            </a:endParaRPr>
          </a:p>
        </p:txBody>
      </p:sp>
      <p:sp>
        <p:nvSpPr>
          <p:cNvPr id="171" name="Google Shape;171;p7"/>
          <p:cNvSpPr/>
          <p:nvPr/>
        </p:nvSpPr>
        <p:spPr>
          <a:xfrm>
            <a:off x="978408" y="5184648"/>
            <a:ext cx="10543032" cy="329184"/>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16242B"/>
              </a:buClr>
              <a:buSzPts val="950"/>
              <a:buFont typeface="Poppins"/>
              <a:buNone/>
            </a:pPr>
            <a:r>
              <a:rPr lang="en-US" sz="950">
                <a:solidFill>
                  <a:srgbClr val="16242B"/>
                </a:solidFill>
                <a:latin typeface="Poppins"/>
                <a:ea typeface="Poppins"/>
                <a:cs typeface="Poppins"/>
                <a:sym typeface="Poppins"/>
              </a:rPr>
              <a:t>Add this group’s exact qualification title (e.g. Content Creation Level 3 Diploma, Games Art Level 3, Digital T Level, Cyber Security T Level, Film Production Level 3, Media A Level). State whether they have English/maths to complete. If relevant, flag the Merit/Distinction gate, Unit 8 graded project, or T Level ESP now. Confirm campus.</a:t>
            </a:r>
            <a:endParaRPr sz="950">
              <a:solidFill>
                <a:schemeClr val="dk1"/>
              </a:solidFill>
              <a:latin typeface="Calibri"/>
              <a:ea typeface="Calibri"/>
              <a:cs typeface="Calibri"/>
              <a:sym typeface="Calibri"/>
            </a:endParaRPr>
          </a:p>
        </p:txBody>
      </p:sp>
      <p:sp>
        <p:nvSpPr>
          <p:cNvPr id="172" name="Google Shape;172;p7"/>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173" name="Google Shape;173;p7"/>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7"/>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Level 3/ T - Level  YR1  ·  SETTLING IN</a:t>
            </a:r>
            <a:endParaRPr sz="700">
              <a:solidFill>
                <a:schemeClr val="dk1"/>
              </a:solidFill>
              <a:latin typeface="Calibri"/>
              <a:ea typeface="Calibri"/>
              <a:cs typeface="Calibri"/>
              <a:sym typeface="Calibri"/>
            </a:endParaRPr>
          </a:p>
        </p:txBody>
      </p:sp>
      <p:sp>
        <p:nvSpPr>
          <p:cNvPr id="175" name="Google Shape;175;p7"/>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5</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9"/>
        </a:solidFill>
      </p:bgPr>
    </p:bg>
    <p:spTree>
      <p:nvGrpSpPr>
        <p:cNvPr id="180" name="Shape 180"/>
        <p:cNvGrpSpPr/>
        <p:nvPr/>
      </p:nvGrpSpPr>
      <p:grpSpPr>
        <a:xfrm>
          <a:off x="0" y="0"/>
          <a:ext cx="0" cy="0"/>
          <a:chOff x="0" y="0"/>
          <a:chExt cx="0" cy="0"/>
        </a:xfrm>
      </p:grpSpPr>
      <p:sp>
        <p:nvSpPr>
          <p:cNvPr id="181" name="Google Shape;181;p8"/>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8"/>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STAYING ORGANISED</a:t>
            </a:r>
            <a:endParaRPr sz="1100">
              <a:solidFill>
                <a:schemeClr val="dk1"/>
              </a:solidFill>
              <a:latin typeface="Calibri"/>
              <a:ea typeface="Calibri"/>
              <a:cs typeface="Calibri"/>
              <a:sym typeface="Calibri"/>
            </a:endParaRPr>
          </a:p>
        </p:txBody>
      </p:sp>
      <p:sp>
        <p:nvSpPr>
          <p:cNvPr id="183" name="Google Shape;183;p8"/>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Your timetable &amp; Pro Portal</a:t>
            </a:r>
            <a:endParaRPr sz="3000">
              <a:solidFill>
                <a:schemeClr val="dk1"/>
              </a:solidFill>
              <a:latin typeface="Calibri"/>
              <a:ea typeface="Calibri"/>
              <a:cs typeface="Calibri"/>
              <a:sym typeface="Calibri"/>
            </a:endParaRPr>
          </a:p>
        </p:txBody>
      </p:sp>
      <p:sp>
        <p:nvSpPr>
          <p:cNvPr id="184" name="Google Shape;184;p8"/>
          <p:cNvSpPr/>
          <p:nvPr/>
        </p:nvSpPr>
        <p:spPr>
          <a:xfrm>
            <a:off x="9494215" y="502920"/>
            <a:ext cx="2194560" cy="384048"/>
          </a:xfrm>
          <a:prstGeom prst="roundRect">
            <a:avLst>
              <a:gd fmla="val 50000" name="adj"/>
            </a:avLst>
          </a:prstGeom>
          <a:solidFill>
            <a:srgbClr val="0D2434"/>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8"/>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186" name="Google Shape;186;p8"/>
          <p:cNvSpPr/>
          <p:nvPr/>
        </p:nvSpPr>
        <p:spPr>
          <a:xfrm>
            <a:off x="502920" y="1728216"/>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These are the two tools that tell you where to be and what's going on. Let's make sure everyone can get into them.</a:t>
            </a:r>
            <a:endParaRPr sz="1250">
              <a:solidFill>
                <a:schemeClr val="dk1"/>
              </a:solidFill>
              <a:latin typeface="Calibri"/>
              <a:ea typeface="Calibri"/>
              <a:cs typeface="Calibri"/>
              <a:sym typeface="Calibri"/>
            </a:endParaRPr>
          </a:p>
        </p:txBody>
      </p:sp>
      <p:sp>
        <p:nvSpPr>
          <p:cNvPr id="187" name="Google Shape;187;p8"/>
          <p:cNvSpPr/>
          <p:nvPr/>
        </p:nvSpPr>
        <p:spPr>
          <a:xfrm>
            <a:off x="502920" y="2313432"/>
            <a:ext cx="5532120" cy="3346704"/>
          </a:xfrm>
          <a:prstGeom prst="roundRect">
            <a:avLst>
              <a:gd fmla="val 2732"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8"/>
          <p:cNvSpPr/>
          <p:nvPr/>
        </p:nvSpPr>
        <p:spPr>
          <a:xfrm>
            <a:off x="502920" y="2313432"/>
            <a:ext cx="5532120" cy="45720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9" name="Google Shape;189;p8"/>
          <p:cNvPicPr preferRelativeResize="0"/>
          <p:nvPr/>
        </p:nvPicPr>
        <p:blipFill rotWithShape="1">
          <a:blip r:embed="rId3">
            <a:alphaModFix/>
          </a:blip>
          <a:srcRect b="0" l="0" r="0" t="0"/>
          <a:stretch/>
        </p:blipFill>
        <p:spPr>
          <a:xfrm>
            <a:off x="704088" y="2414016"/>
            <a:ext cx="256032" cy="256032"/>
          </a:xfrm>
          <a:prstGeom prst="rect">
            <a:avLst/>
          </a:prstGeom>
          <a:noFill/>
          <a:ln>
            <a:noFill/>
          </a:ln>
        </p:spPr>
      </p:pic>
      <p:sp>
        <p:nvSpPr>
          <p:cNvPr id="190" name="Google Shape;190;p8"/>
          <p:cNvSpPr/>
          <p:nvPr/>
        </p:nvSpPr>
        <p:spPr>
          <a:xfrm>
            <a:off x="1051560" y="2313432"/>
            <a:ext cx="4800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lang="en-US" sz="1100">
                <a:solidFill>
                  <a:srgbClr val="FFFFFF"/>
                </a:solidFill>
                <a:latin typeface="Poppins SemiBold"/>
                <a:ea typeface="Poppins SemiBold"/>
                <a:cs typeface="Poppins SemiBold"/>
                <a:sym typeface="Poppins SemiBold"/>
              </a:rPr>
              <a:t>PRO PORTAL — YOUR DIGITAL HOME</a:t>
            </a:r>
            <a:endParaRPr sz="1100">
              <a:solidFill>
                <a:schemeClr val="dk1"/>
              </a:solidFill>
              <a:latin typeface="Calibri"/>
              <a:ea typeface="Calibri"/>
              <a:cs typeface="Calibri"/>
              <a:sym typeface="Calibri"/>
            </a:endParaRPr>
          </a:p>
        </p:txBody>
      </p:sp>
      <p:sp>
        <p:nvSpPr>
          <p:cNvPr id="191" name="Google Shape;191;p8"/>
          <p:cNvSpPr/>
          <p:nvPr/>
        </p:nvSpPr>
        <p:spPr>
          <a:xfrm>
            <a:off x="704088" y="2916936"/>
            <a:ext cx="5129784" cy="2542032"/>
          </a:xfrm>
          <a:prstGeom prst="roundRect">
            <a:avLst>
              <a:gd fmla="val 2878" name="adj"/>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2" name="Google Shape;192;p8"/>
          <p:cNvPicPr preferRelativeResize="0"/>
          <p:nvPr/>
        </p:nvPicPr>
        <p:blipFill rotWithShape="1">
          <a:blip r:embed="rId4">
            <a:alphaModFix/>
          </a:blip>
          <a:srcRect b="0" l="0" r="0" t="0"/>
          <a:stretch/>
        </p:blipFill>
        <p:spPr>
          <a:xfrm>
            <a:off x="868680" y="3072384"/>
            <a:ext cx="237744" cy="237744"/>
          </a:xfrm>
          <a:prstGeom prst="rect">
            <a:avLst/>
          </a:prstGeom>
          <a:noFill/>
          <a:ln>
            <a:noFill/>
          </a:ln>
        </p:spPr>
      </p:pic>
      <p:sp>
        <p:nvSpPr>
          <p:cNvPr id="193" name="Google Shape;193;p8"/>
          <p:cNvSpPr/>
          <p:nvPr/>
        </p:nvSpPr>
        <p:spPr>
          <a:xfrm>
            <a:off x="1179576" y="3035808"/>
            <a:ext cx="448970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00"/>
              <a:buFont typeface="Poppins SemiBold"/>
              <a:buNone/>
            </a:pPr>
            <a:r>
              <a:rPr lang="en-US" sz="1000">
                <a:solidFill>
                  <a:srgbClr val="B23A2E"/>
                </a:solidFill>
                <a:latin typeface="Poppins SemiBold"/>
                <a:ea typeface="Poppins SemiBold"/>
                <a:cs typeface="Poppins SemiBold"/>
                <a:sym typeface="Poppins SemiBold"/>
              </a:rPr>
              <a:t>ESCG TO CONFIRM</a:t>
            </a:r>
            <a:endParaRPr sz="1000">
              <a:solidFill>
                <a:schemeClr val="dk1"/>
              </a:solidFill>
              <a:latin typeface="Calibri"/>
              <a:ea typeface="Calibri"/>
              <a:cs typeface="Calibri"/>
              <a:sym typeface="Calibri"/>
            </a:endParaRPr>
          </a:p>
        </p:txBody>
      </p:sp>
      <p:sp>
        <p:nvSpPr>
          <p:cNvPr id="194" name="Google Shape;194;p8"/>
          <p:cNvSpPr/>
          <p:nvPr/>
        </p:nvSpPr>
        <p:spPr>
          <a:xfrm>
            <a:off x="1179576" y="3300984"/>
            <a:ext cx="4489704" cy="2029968"/>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16242B"/>
              </a:buClr>
              <a:buSzPts val="950"/>
              <a:buFont typeface="Poppins"/>
              <a:buNone/>
            </a:pPr>
            <a:r>
              <a:rPr lang="en-US" sz="950">
                <a:solidFill>
                  <a:srgbClr val="16242B"/>
                </a:solidFill>
                <a:latin typeface="Poppins"/>
                <a:ea typeface="Poppins"/>
                <a:cs typeface="Poppins"/>
                <a:sym typeface="Poppins"/>
              </a:rPr>
              <a:t>Insert a current screenshot of the Pro Portal login screen and the step-by-step login instructions for new students (URL, username format, first-time password, where to get help if locked out). Live walkthrough on student devices works best — if devices aren't available this lesson, demonstrate on the projector and book a follow-up.</a:t>
            </a:r>
            <a:endParaRPr sz="950">
              <a:solidFill>
                <a:schemeClr val="dk1"/>
              </a:solidFill>
              <a:latin typeface="Calibri"/>
              <a:ea typeface="Calibri"/>
              <a:cs typeface="Calibri"/>
              <a:sym typeface="Calibri"/>
            </a:endParaRPr>
          </a:p>
        </p:txBody>
      </p:sp>
      <p:sp>
        <p:nvSpPr>
          <p:cNvPr id="195" name="Google Shape;195;p8"/>
          <p:cNvSpPr/>
          <p:nvPr/>
        </p:nvSpPr>
        <p:spPr>
          <a:xfrm>
            <a:off x="6309360" y="2313432"/>
            <a:ext cx="5376672" cy="3346704"/>
          </a:xfrm>
          <a:prstGeom prst="roundRect">
            <a:avLst>
              <a:gd fmla="val 2732"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8"/>
          <p:cNvSpPr/>
          <p:nvPr/>
        </p:nvSpPr>
        <p:spPr>
          <a:xfrm>
            <a:off x="6583680" y="2532888"/>
            <a:ext cx="48280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WHAT YOU'LL USE IT FOR</a:t>
            </a:r>
            <a:endParaRPr sz="1100">
              <a:solidFill>
                <a:schemeClr val="dk1"/>
              </a:solidFill>
              <a:latin typeface="Calibri"/>
              <a:ea typeface="Calibri"/>
              <a:cs typeface="Calibri"/>
              <a:sym typeface="Calibri"/>
            </a:endParaRPr>
          </a:p>
        </p:txBody>
      </p:sp>
      <p:sp>
        <p:nvSpPr>
          <p:cNvPr id="197" name="Google Shape;197;p8"/>
          <p:cNvSpPr/>
          <p:nvPr/>
        </p:nvSpPr>
        <p:spPr>
          <a:xfrm>
            <a:off x="6583680" y="2980944"/>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8"/>
          <p:cNvSpPr/>
          <p:nvPr/>
        </p:nvSpPr>
        <p:spPr>
          <a:xfrm>
            <a:off x="6858000" y="2871216"/>
            <a:ext cx="4553712" cy="457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42B"/>
              </a:buClr>
              <a:buSzPts val="1080"/>
              <a:buFont typeface="Poppins"/>
              <a:buNone/>
            </a:pPr>
            <a:r>
              <a:rPr lang="en-US" sz="1080">
                <a:solidFill>
                  <a:srgbClr val="16242B"/>
                </a:solidFill>
                <a:latin typeface="Poppins"/>
                <a:ea typeface="Poppins"/>
                <a:cs typeface="Poppins"/>
                <a:sym typeface="Poppins"/>
              </a:rPr>
              <a:t>Check your timetable — rooms, times, and any changes</a:t>
            </a:r>
            <a:endParaRPr sz="1080">
              <a:solidFill>
                <a:schemeClr val="dk1"/>
              </a:solidFill>
              <a:latin typeface="Calibri"/>
              <a:ea typeface="Calibri"/>
              <a:cs typeface="Calibri"/>
              <a:sym typeface="Calibri"/>
            </a:endParaRPr>
          </a:p>
        </p:txBody>
      </p:sp>
      <p:sp>
        <p:nvSpPr>
          <p:cNvPr id="199" name="Google Shape;199;p8"/>
          <p:cNvSpPr/>
          <p:nvPr/>
        </p:nvSpPr>
        <p:spPr>
          <a:xfrm>
            <a:off x="6583680" y="3474720"/>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8"/>
          <p:cNvSpPr/>
          <p:nvPr/>
        </p:nvSpPr>
        <p:spPr>
          <a:xfrm>
            <a:off x="6858000" y="3364992"/>
            <a:ext cx="4553712" cy="457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42B"/>
              </a:buClr>
              <a:buSzPts val="1080"/>
              <a:buFont typeface="Poppins"/>
              <a:buNone/>
            </a:pPr>
            <a:r>
              <a:rPr lang="en-US" sz="1080">
                <a:solidFill>
                  <a:srgbClr val="16242B"/>
                </a:solidFill>
                <a:latin typeface="Poppins"/>
                <a:ea typeface="Poppins"/>
                <a:cs typeface="Poppins"/>
                <a:sym typeface="Poppins"/>
              </a:rPr>
              <a:t>See messages from your teachers and the college</a:t>
            </a:r>
            <a:endParaRPr sz="1080">
              <a:solidFill>
                <a:schemeClr val="dk1"/>
              </a:solidFill>
              <a:latin typeface="Calibri"/>
              <a:ea typeface="Calibri"/>
              <a:cs typeface="Calibri"/>
              <a:sym typeface="Calibri"/>
            </a:endParaRPr>
          </a:p>
        </p:txBody>
      </p:sp>
      <p:sp>
        <p:nvSpPr>
          <p:cNvPr id="201" name="Google Shape;201;p8"/>
          <p:cNvSpPr/>
          <p:nvPr/>
        </p:nvSpPr>
        <p:spPr>
          <a:xfrm>
            <a:off x="6583680" y="3968496"/>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8"/>
          <p:cNvSpPr/>
          <p:nvPr/>
        </p:nvSpPr>
        <p:spPr>
          <a:xfrm>
            <a:off x="6858000" y="3858768"/>
            <a:ext cx="4553712" cy="457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42B"/>
              </a:buClr>
              <a:buSzPts val="1080"/>
              <a:buFont typeface="Poppins"/>
              <a:buNone/>
            </a:pPr>
            <a:r>
              <a:rPr lang="en-US" sz="1080">
                <a:solidFill>
                  <a:srgbClr val="16242B"/>
                </a:solidFill>
                <a:latin typeface="Poppins"/>
                <a:ea typeface="Poppins"/>
                <a:cs typeface="Poppins"/>
                <a:sym typeface="Poppins"/>
              </a:rPr>
              <a:t>Track your attendance and your progress</a:t>
            </a:r>
            <a:endParaRPr sz="1080">
              <a:solidFill>
                <a:schemeClr val="dk1"/>
              </a:solidFill>
              <a:latin typeface="Calibri"/>
              <a:ea typeface="Calibri"/>
              <a:cs typeface="Calibri"/>
              <a:sym typeface="Calibri"/>
            </a:endParaRPr>
          </a:p>
        </p:txBody>
      </p:sp>
      <p:sp>
        <p:nvSpPr>
          <p:cNvPr id="203" name="Google Shape;203;p8"/>
          <p:cNvSpPr/>
          <p:nvPr/>
        </p:nvSpPr>
        <p:spPr>
          <a:xfrm>
            <a:off x="6583680" y="4462272"/>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8"/>
          <p:cNvSpPr/>
          <p:nvPr/>
        </p:nvSpPr>
        <p:spPr>
          <a:xfrm>
            <a:off x="6858000" y="4352544"/>
            <a:ext cx="4553712" cy="457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42B"/>
              </a:buClr>
              <a:buSzPts val="1080"/>
              <a:buFont typeface="Poppins"/>
              <a:buNone/>
            </a:pPr>
            <a:r>
              <a:rPr lang="en-US" sz="1080">
                <a:solidFill>
                  <a:srgbClr val="16242B"/>
                </a:solidFill>
                <a:latin typeface="Poppins"/>
                <a:ea typeface="Poppins"/>
                <a:cs typeface="Poppins"/>
                <a:sym typeface="Poppins"/>
              </a:rPr>
              <a:t>Find links to your learning and key college services</a:t>
            </a:r>
            <a:endParaRPr sz="1080">
              <a:solidFill>
                <a:schemeClr val="dk1"/>
              </a:solidFill>
              <a:latin typeface="Calibri"/>
              <a:ea typeface="Calibri"/>
              <a:cs typeface="Calibri"/>
              <a:sym typeface="Calibri"/>
            </a:endParaRPr>
          </a:p>
        </p:txBody>
      </p:sp>
      <p:cxnSp>
        <p:nvCxnSpPr>
          <p:cNvPr id="205" name="Google Shape;205;p8"/>
          <p:cNvCxnSpPr/>
          <p:nvPr/>
        </p:nvCxnSpPr>
        <p:spPr>
          <a:xfrm>
            <a:off x="6583680" y="4965192"/>
            <a:ext cx="4828032" cy="0"/>
          </a:xfrm>
          <a:prstGeom prst="straightConnector1">
            <a:avLst/>
          </a:prstGeom>
          <a:noFill/>
          <a:ln cap="flat" cmpd="sng" w="12700">
            <a:solidFill>
              <a:srgbClr val="D2DBDA"/>
            </a:solidFill>
            <a:prstDash val="solid"/>
            <a:round/>
            <a:headEnd len="sm" w="sm" type="none"/>
            <a:tailEnd len="sm" w="sm" type="none"/>
          </a:ln>
        </p:spPr>
      </p:cxnSp>
      <p:sp>
        <p:nvSpPr>
          <p:cNvPr id="206" name="Google Shape;206;p8"/>
          <p:cNvSpPr/>
          <p:nvPr/>
        </p:nvSpPr>
        <p:spPr>
          <a:xfrm>
            <a:off x="6583680" y="5093208"/>
            <a:ext cx="4828032" cy="640080"/>
          </a:xfrm>
          <a:prstGeom prst="rect">
            <a:avLst/>
          </a:prstGeom>
          <a:noFill/>
          <a:ln>
            <a:noFill/>
          </a:ln>
        </p:spPr>
        <p:txBody>
          <a:bodyPr anchorCtr="0" anchor="ctr" bIns="0" lIns="0" spcFirstLastPara="1" rIns="0" wrap="square" tIns="0">
            <a:noAutofit/>
          </a:bodyPr>
          <a:lstStyle/>
          <a:p>
            <a:pPr indent="0" lvl="0" marL="0" marR="0" rtl="0" algn="l">
              <a:lnSpc>
                <a:spcPct val="126213"/>
              </a:lnSpc>
              <a:spcBef>
                <a:spcPts val="0"/>
              </a:spcBef>
              <a:spcAft>
                <a:spcPts val="0"/>
              </a:spcAft>
              <a:buClr>
                <a:srgbClr val="0F7A54"/>
              </a:buClr>
              <a:buSzPts val="1030"/>
              <a:buFont typeface="Poppins"/>
              <a:buNone/>
            </a:pPr>
            <a:r>
              <a:rPr i="1" lang="en-US" sz="1030">
                <a:solidFill>
                  <a:srgbClr val="0F7A54"/>
                </a:solidFill>
                <a:latin typeface="Poppins"/>
                <a:ea typeface="Poppins"/>
                <a:cs typeface="Poppins"/>
                <a:sym typeface="Poppins"/>
              </a:rPr>
              <a:t>Golden rule: check Pro Portal every morning before you set off. It's the first place changes appear.</a:t>
            </a:r>
            <a:endParaRPr sz="1030">
              <a:solidFill>
                <a:schemeClr val="dk1"/>
              </a:solidFill>
              <a:latin typeface="Calibri"/>
              <a:ea typeface="Calibri"/>
              <a:cs typeface="Calibri"/>
              <a:sym typeface="Calibri"/>
            </a:endParaRPr>
          </a:p>
        </p:txBody>
      </p:sp>
      <p:sp>
        <p:nvSpPr>
          <p:cNvPr id="207" name="Google Shape;207;p8"/>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208" name="Google Shape;208;p8"/>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8"/>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Level 3/ T - Level  YR1  ·  SETTLING IN</a:t>
            </a:r>
            <a:endParaRPr sz="700">
              <a:solidFill>
                <a:schemeClr val="dk1"/>
              </a:solidFill>
              <a:latin typeface="Calibri"/>
              <a:ea typeface="Calibri"/>
              <a:cs typeface="Calibri"/>
              <a:sym typeface="Calibri"/>
            </a:endParaRPr>
          </a:p>
        </p:txBody>
      </p:sp>
      <p:sp>
        <p:nvSpPr>
          <p:cNvPr id="210" name="Google Shape;210;p8"/>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6</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15" name="Shape 215"/>
        <p:cNvGrpSpPr/>
        <p:nvPr/>
      </p:nvGrpSpPr>
      <p:grpSpPr>
        <a:xfrm>
          <a:off x="0" y="0"/>
          <a:ext cx="0" cy="0"/>
          <a:chOff x="0" y="0"/>
          <a:chExt cx="0" cy="0"/>
        </a:xfrm>
      </p:grpSpPr>
      <p:sp>
        <p:nvSpPr>
          <p:cNvPr id="216" name="Google Shape;216;p9"/>
          <p:cNvSpPr/>
          <p:nvPr/>
        </p:nvSpPr>
        <p:spPr>
          <a:xfrm>
            <a:off x="9494215" y="502920"/>
            <a:ext cx="2194560" cy="384048"/>
          </a:xfrm>
          <a:prstGeom prst="roundRect">
            <a:avLst>
              <a:gd fmla="val 50000" name="adj"/>
            </a:avLst>
          </a:prstGeom>
          <a:solidFill>
            <a:srgbClr val="0F7A54"/>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9"/>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DISCUSSION</a:t>
            </a:r>
            <a:endParaRPr sz="950">
              <a:solidFill>
                <a:schemeClr val="dk1"/>
              </a:solidFill>
              <a:latin typeface="Calibri"/>
              <a:ea typeface="Calibri"/>
              <a:cs typeface="Calibri"/>
              <a:sym typeface="Calibri"/>
            </a:endParaRPr>
          </a:p>
        </p:txBody>
      </p:sp>
      <p:sp>
        <p:nvSpPr>
          <p:cNvPr id="218" name="Google Shape;218;p9"/>
          <p:cNvSpPr/>
          <p:nvPr/>
        </p:nvSpPr>
        <p:spPr>
          <a:xfrm>
            <a:off x="502920" y="56692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9"/>
          <p:cNvSpPr/>
          <p:nvPr/>
        </p:nvSpPr>
        <p:spPr>
          <a:xfrm>
            <a:off x="841248" y="493776"/>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DISCUSSION</a:t>
            </a:r>
            <a:endParaRPr sz="1100">
              <a:solidFill>
                <a:schemeClr val="dk1"/>
              </a:solidFill>
              <a:latin typeface="Calibri"/>
              <a:ea typeface="Calibri"/>
              <a:cs typeface="Calibri"/>
              <a:sym typeface="Calibri"/>
            </a:endParaRPr>
          </a:p>
        </p:txBody>
      </p:sp>
      <p:sp>
        <p:nvSpPr>
          <p:cNvPr id="220" name="Google Shape;220;p9"/>
          <p:cNvSpPr/>
          <p:nvPr/>
        </p:nvSpPr>
        <p:spPr>
          <a:xfrm>
            <a:off x="475488" y="868680"/>
            <a:ext cx="10515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Poppins SemiBold"/>
              <a:buNone/>
            </a:pPr>
            <a:r>
              <a:rPr lang="en-US" sz="2900">
                <a:solidFill>
                  <a:srgbClr val="FFFFFF"/>
                </a:solidFill>
                <a:latin typeface="Poppins SemiBold"/>
                <a:ea typeface="Poppins SemiBold"/>
                <a:cs typeface="Poppins SemiBold"/>
                <a:sym typeface="Poppins SemiBold"/>
              </a:rPr>
              <a:t>Let's be honest about starting college</a:t>
            </a:r>
            <a:endParaRPr sz="2900">
              <a:solidFill>
                <a:schemeClr val="dk1"/>
              </a:solidFill>
              <a:latin typeface="Calibri"/>
              <a:ea typeface="Calibri"/>
              <a:cs typeface="Calibri"/>
              <a:sym typeface="Calibri"/>
            </a:endParaRPr>
          </a:p>
        </p:txBody>
      </p:sp>
      <p:sp>
        <p:nvSpPr>
          <p:cNvPr id="221" name="Google Shape;221;p9"/>
          <p:cNvSpPr/>
          <p:nvPr/>
        </p:nvSpPr>
        <p:spPr>
          <a:xfrm>
            <a:off x="502920" y="1965960"/>
            <a:ext cx="5349240" cy="2331720"/>
          </a:xfrm>
          <a:prstGeom prst="roundRect">
            <a:avLst>
              <a:gd fmla="val 4706" name="adj"/>
            </a:avLst>
          </a:prstGeom>
          <a:solidFill>
            <a:srgbClr val="1C3A4D"/>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2" name="Google Shape;222;p9"/>
          <p:cNvPicPr preferRelativeResize="0"/>
          <p:nvPr/>
        </p:nvPicPr>
        <p:blipFill rotWithShape="1">
          <a:blip r:embed="rId3">
            <a:alphaModFix/>
          </a:blip>
          <a:srcRect b="0" l="0" r="0" t="0"/>
          <a:stretch/>
        </p:blipFill>
        <p:spPr>
          <a:xfrm>
            <a:off x="786384" y="2258568"/>
            <a:ext cx="420624" cy="420624"/>
          </a:xfrm>
          <a:prstGeom prst="rect">
            <a:avLst/>
          </a:prstGeom>
          <a:noFill/>
          <a:ln>
            <a:noFill/>
          </a:ln>
        </p:spPr>
      </p:pic>
      <p:sp>
        <p:nvSpPr>
          <p:cNvPr id="223" name="Google Shape;223;p9"/>
          <p:cNvSpPr/>
          <p:nvPr/>
        </p:nvSpPr>
        <p:spPr>
          <a:xfrm>
            <a:off x="786384" y="2752344"/>
            <a:ext cx="4800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SemiBold"/>
              <a:buNone/>
            </a:pPr>
            <a:r>
              <a:rPr lang="en-US" sz="1600">
                <a:solidFill>
                  <a:srgbClr val="FFFFFF"/>
                </a:solidFill>
                <a:latin typeface="Poppins SemiBold"/>
                <a:ea typeface="Poppins SemiBold"/>
                <a:cs typeface="Poppins SemiBold"/>
                <a:sym typeface="Poppins SemiBold"/>
              </a:rPr>
              <a:t>What are you hoping for?</a:t>
            </a:r>
            <a:endParaRPr sz="1600">
              <a:solidFill>
                <a:schemeClr val="dk1"/>
              </a:solidFill>
              <a:latin typeface="Calibri"/>
              <a:ea typeface="Calibri"/>
              <a:cs typeface="Calibri"/>
              <a:sym typeface="Calibri"/>
            </a:endParaRPr>
          </a:p>
        </p:txBody>
      </p:sp>
      <p:sp>
        <p:nvSpPr>
          <p:cNvPr id="224" name="Google Shape;224;p9"/>
          <p:cNvSpPr/>
          <p:nvPr/>
        </p:nvSpPr>
        <p:spPr>
          <a:xfrm>
            <a:off x="786384" y="3191256"/>
            <a:ext cx="4745736" cy="91440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C7D0D3"/>
              </a:buClr>
              <a:buSzPts val="1150"/>
              <a:buFont typeface="Poppins Light"/>
              <a:buNone/>
            </a:pPr>
            <a:r>
              <a:rPr lang="en-US" sz="1150">
                <a:solidFill>
                  <a:srgbClr val="C7D0D3"/>
                </a:solidFill>
                <a:latin typeface="Poppins Light"/>
                <a:ea typeface="Poppins Light"/>
                <a:cs typeface="Poppins Light"/>
                <a:sym typeface="Poppins Light"/>
              </a:rPr>
              <a:t>A creative career? Making something real? Getting to Level 3? A qualification that actually interests you? There are no wrong answers.</a:t>
            </a:r>
            <a:endParaRPr sz="1150">
              <a:solidFill>
                <a:schemeClr val="dk1"/>
              </a:solidFill>
              <a:latin typeface="Calibri"/>
              <a:ea typeface="Calibri"/>
              <a:cs typeface="Calibri"/>
              <a:sym typeface="Calibri"/>
            </a:endParaRPr>
          </a:p>
        </p:txBody>
      </p:sp>
      <p:sp>
        <p:nvSpPr>
          <p:cNvPr id="225" name="Google Shape;225;p9"/>
          <p:cNvSpPr/>
          <p:nvPr/>
        </p:nvSpPr>
        <p:spPr>
          <a:xfrm>
            <a:off x="6153912" y="1965960"/>
            <a:ext cx="5349240" cy="2331720"/>
          </a:xfrm>
          <a:prstGeom prst="roundRect">
            <a:avLst>
              <a:gd fmla="val 4706" name="adj"/>
            </a:avLst>
          </a:prstGeom>
          <a:solidFill>
            <a:srgbClr val="FFCF01"/>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6" name="Google Shape;226;p9"/>
          <p:cNvPicPr preferRelativeResize="0"/>
          <p:nvPr/>
        </p:nvPicPr>
        <p:blipFill rotWithShape="1">
          <a:blip r:embed="rId4">
            <a:alphaModFix/>
          </a:blip>
          <a:srcRect b="0" l="0" r="0" t="0"/>
          <a:stretch/>
        </p:blipFill>
        <p:spPr>
          <a:xfrm>
            <a:off x="6437376" y="2258568"/>
            <a:ext cx="420624" cy="420624"/>
          </a:xfrm>
          <a:prstGeom prst="rect">
            <a:avLst/>
          </a:prstGeom>
          <a:noFill/>
          <a:ln>
            <a:noFill/>
          </a:ln>
        </p:spPr>
      </p:pic>
      <p:sp>
        <p:nvSpPr>
          <p:cNvPr id="227" name="Google Shape;227;p9"/>
          <p:cNvSpPr/>
          <p:nvPr/>
        </p:nvSpPr>
        <p:spPr>
          <a:xfrm>
            <a:off x="6437376" y="2752344"/>
            <a:ext cx="4800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600"/>
              <a:buFont typeface="Poppins SemiBold"/>
              <a:buNone/>
            </a:pPr>
            <a:r>
              <a:rPr lang="en-US" sz="1600">
                <a:solidFill>
                  <a:srgbClr val="0D2434"/>
                </a:solidFill>
                <a:latin typeface="Poppins SemiBold"/>
                <a:ea typeface="Poppins SemiBold"/>
                <a:cs typeface="Poppins SemiBold"/>
                <a:sym typeface="Poppins SemiBold"/>
              </a:rPr>
              <a:t>What's on your mind?</a:t>
            </a:r>
            <a:endParaRPr sz="1600">
              <a:solidFill>
                <a:schemeClr val="dk1"/>
              </a:solidFill>
              <a:latin typeface="Calibri"/>
              <a:ea typeface="Calibri"/>
              <a:cs typeface="Calibri"/>
              <a:sym typeface="Calibri"/>
            </a:endParaRPr>
          </a:p>
        </p:txBody>
      </p:sp>
      <p:sp>
        <p:nvSpPr>
          <p:cNvPr id="228" name="Google Shape;228;p9"/>
          <p:cNvSpPr/>
          <p:nvPr/>
        </p:nvSpPr>
        <p:spPr>
          <a:xfrm>
            <a:off x="6437376" y="3191256"/>
            <a:ext cx="4782312" cy="91440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0D2434"/>
              </a:buClr>
              <a:buSzPts val="1150"/>
              <a:buFont typeface="Poppins"/>
              <a:buNone/>
            </a:pPr>
            <a:r>
              <a:rPr lang="en-US" sz="1150">
                <a:solidFill>
                  <a:srgbClr val="0D2434"/>
                </a:solidFill>
                <a:latin typeface="Poppins"/>
                <a:ea typeface="Poppins"/>
                <a:cs typeface="Poppins"/>
                <a:sym typeface="Poppins"/>
              </a:rPr>
              <a:t>Worried about the workload? Not sure if you’re creative enough? Nervous about the software? Most people in this room feel the same — saying it out loud helps.</a:t>
            </a:r>
            <a:endParaRPr sz="1150">
              <a:solidFill>
                <a:schemeClr val="dk1"/>
              </a:solidFill>
              <a:latin typeface="Calibri"/>
              <a:ea typeface="Calibri"/>
              <a:cs typeface="Calibri"/>
              <a:sym typeface="Calibri"/>
            </a:endParaRPr>
          </a:p>
        </p:txBody>
      </p:sp>
      <p:sp>
        <p:nvSpPr>
          <p:cNvPr id="229" name="Google Shape;229;p9"/>
          <p:cNvSpPr/>
          <p:nvPr/>
        </p:nvSpPr>
        <p:spPr>
          <a:xfrm>
            <a:off x="502920" y="4553712"/>
            <a:ext cx="11155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FB0B5"/>
              </a:buClr>
              <a:buSzPts val="1200"/>
              <a:buFont typeface="Poppins"/>
              <a:buNone/>
            </a:pPr>
            <a:r>
              <a:rPr i="1" lang="en-US" sz="1200">
                <a:solidFill>
                  <a:srgbClr val="9FB0B5"/>
                </a:solidFill>
                <a:latin typeface="Poppins"/>
                <a:ea typeface="Poppins"/>
                <a:cs typeface="Poppins"/>
                <a:sym typeface="Poppins"/>
              </a:rPr>
              <a:t>Talk in pairs for two minutes, then we'll share a few as a group — only if you want to.</a:t>
            </a:r>
            <a:endParaRPr sz="1200">
              <a:solidFill>
                <a:schemeClr val="dk1"/>
              </a:solidFill>
              <a:latin typeface="Calibri"/>
              <a:ea typeface="Calibri"/>
              <a:cs typeface="Calibri"/>
              <a:sym typeface="Calibri"/>
            </a:endParaRPr>
          </a:p>
        </p:txBody>
      </p:sp>
      <p:sp>
        <p:nvSpPr>
          <p:cNvPr id="230" name="Google Shape;230;p9"/>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231" name="Google Shape;231;p9"/>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9"/>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Level 3/ T - Level  YR1  ·  SETTLING IN</a:t>
            </a:r>
            <a:endParaRPr sz="700">
              <a:solidFill>
                <a:schemeClr val="dk1"/>
              </a:solidFill>
              <a:latin typeface="Calibri"/>
              <a:ea typeface="Calibri"/>
              <a:cs typeface="Calibri"/>
              <a:sym typeface="Calibri"/>
            </a:endParaRPr>
          </a:p>
        </p:txBody>
      </p:sp>
      <p:sp>
        <p:nvSpPr>
          <p:cNvPr id="233" name="Google Shape;233;p9"/>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7</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9"/>
        </a:solidFill>
      </p:bgPr>
    </p:bg>
    <p:spTree>
      <p:nvGrpSpPr>
        <p:cNvPr id="238" name="Shape 238"/>
        <p:cNvGrpSpPr/>
        <p:nvPr/>
      </p:nvGrpSpPr>
      <p:grpSpPr>
        <a:xfrm>
          <a:off x="0" y="0"/>
          <a:ext cx="0" cy="0"/>
          <a:chOff x="0" y="0"/>
          <a:chExt cx="0" cy="0"/>
        </a:xfrm>
      </p:grpSpPr>
      <p:sp>
        <p:nvSpPr>
          <p:cNvPr id="239" name="Google Shape;239;p10"/>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0"/>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YOU'RE NOT ON YOUR OWN</a:t>
            </a:r>
            <a:endParaRPr sz="1100">
              <a:solidFill>
                <a:schemeClr val="dk1"/>
              </a:solidFill>
              <a:latin typeface="Calibri"/>
              <a:ea typeface="Calibri"/>
              <a:cs typeface="Calibri"/>
              <a:sym typeface="Calibri"/>
            </a:endParaRPr>
          </a:p>
        </p:txBody>
      </p:sp>
      <p:sp>
        <p:nvSpPr>
          <p:cNvPr id="241" name="Google Shape;241;p10"/>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Support services at college</a:t>
            </a:r>
            <a:endParaRPr sz="3000">
              <a:solidFill>
                <a:schemeClr val="dk1"/>
              </a:solidFill>
              <a:latin typeface="Calibri"/>
              <a:ea typeface="Calibri"/>
              <a:cs typeface="Calibri"/>
              <a:sym typeface="Calibri"/>
            </a:endParaRPr>
          </a:p>
        </p:txBody>
      </p:sp>
      <p:sp>
        <p:nvSpPr>
          <p:cNvPr id="242" name="Google Shape;242;p10"/>
          <p:cNvSpPr/>
          <p:nvPr/>
        </p:nvSpPr>
        <p:spPr>
          <a:xfrm>
            <a:off x="9494215" y="502920"/>
            <a:ext cx="2194560" cy="384048"/>
          </a:xfrm>
          <a:prstGeom prst="roundRect">
            <a:avLst>
              <a:gd fmla="val 50000" name="adj"/>
            </a:avLst>
          </a:prstGeom>
          <a:solidFill>
            <a:srgbClr val="0D2434"/>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0"/>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244" name="Google Shape;244;p10"/>
          <p:cNvSpPr/>
          <p:nvPr/>
        </p:nvSpPr>
        <p:spPr>
          <a:xfrm>
            <a:off x="502920" y="1728216"/>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Everyone needs help sometimes — it's a sign of sense, not weakness. Here's who is here for you.</a:t>
            </a:r>
            <a:endParaRPr sz="1250">
              <a:solidFill>
                <a:schemeClr val="dk1"/>
              </a:solidFill>
              <a:latin typeface="Calibri"/>
              <a:ea typeface="Calibri"/>
              <a:cs typeface="Calibri"/>
              <a:sym typeface="Calibri"/>
            </a:endParaRPr>
          </a:p>
        </p:txBody>
      </p:sp>
      <p:sp>
        <p:nvSpPr>
          <p:cNvPr id="245" name="Google Shape;245;p10"/>
          <p:cNvSpPr/>
          <p:nvPr/>
        </p:nvSpPr>
        <p:spPr>
          <a:xfrm>
            <a:off x="502920" y="2313432"/>
            <a:ext cx="2670048" cy="1865376"/>
          </a:xfrm>
          <a:prstGeom prst="roundRect">
            <a:avLst>
              <a:gd fmla="val 4902"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10"/>
          <p:cNvSpPr/>
          <p:nvPr/>
        </p:nvSpPr>
        <p:spPr>
          <a:xfrm>
            <a:off x="502920" y="2313432"/>
            <a:ext cx="267004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7" name="Google Shape;247;p10"/>
          <p:cNvPicPr preferRelativeResize="0"/>
          <p:nvPr/>
        </p:nvPicPr>
        <p:blipFill rotWithShape="1">
          <a:blip r:embed="rId3">
            <a:alphaModFix/>
          </a:blip>
          <a:srcRect b="0" l="0" r="0" t="0"/>
          <a:stretch/>
        </p:blipFill>
        <p:spPr>
          <a:xfrm>
            <a:off x="740664" y="2551176"/>
            <a:ext cx="402336" cy="402336"/>
          </a:xfrm>
          <a:prstGeom prst="rect">
            <a:avLst/>
          </a:prstGeom>
          <a:noFill/>
          <a:ln>
            <a:noFill/>
          </a:ln>
        </p:spPr>
      </p:pic>
      <p:sp>
        <p:nvSpPr>
          <p:cNvPr id="248" name="Google Shape;248;p10"/>
          <p:cNvSpPr/>
          <p:nvPr/>
        </p:nvSpPr>
        <p:spPr>
          <a:xfrm>
            <a:off x="740664" y="3026664"/>
            <a:ext cx="2212848" cy="548640"/>
          </a:xfrm>
          <a:prstGeom prst="rect">
            <a:avLst/>
          </a:prstGeom>
          <a:noFill/>
          <a:ln>
            <a:noFill/>
          </a:ln>
        </p:spPr>
        <p:txBody>
          <a:bodyPr anchorCtr="0" anchor="ctr" bIns="0" lIns="0" spcFirstLastPara="1" rIns="0" wrap="square" tIns="0">
            <a:noAutofit/>
          </a:bodyPr>
          <a:lstStyle/>
          <a:p>
            <a:pPr indent="0" lvl="0" marL="0" marR="0" rtl="0" algn="l">
              <a:lnSpc>
                <a:spcPct val="120833"/>
              </a:lnSpc>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Learning support</a:t>
            </a:r>
            <a:endParaRPr sz="1200">
              <a:solidFill>
                <a:schemeClr val="dk1"/>
              </a:solidFill>
              <a:latin typeface="Calibri"/>
              <a:ea typeface="Calibri"/>
              <a:cs typeface="Calibri"/>
              <a:sym typeface="Calibri"/>
            </a:endParaRPr>
          </a:p>
        </p:txBody>
      </p:sp>
      <p:sp>
        <p:nvSpPr>
          <p:cNvPr id="249" name="Google Shape;249;p10"/>
          <p:cNvSpPr/>
          <p:nvPr/>
        </p:nvSpPr>
        <p:spPr>
          <a:xfrm>
            <a:off x="740664" y="3520440"/>
            <a:ext cx="2249424" cy="566928"/>
          </a:xfrm>
          <a:prstGeom prst="rect">
            <a:avLst/>
          </a:prstGeom>
          <a:noFill/>
          <a:ln>
            <a:noFill/>
          </a:ln>
        </p:spPr>
        <p:txBody>
          <a:bodyPr anchorCtr="0" anchor="ctr" bIns="0" lIns="0" spcFirstLastPara="1" rIns="0" wrap="square" tIns="0">
            <a:noAutofit/>
          </a:bodyPr>
          <a:lstStyle/>
          <a:p>
            <a:pPr indent="0" lvl="0" marL="0" marR="0" rtl="0" algn="l">
              <a:lnSpc>
                <a:spcPct val="126315"/>
              </a:lnSpc>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Help with your studies, extra needs, or exam access arrangements.</a:t>
            </a:r>
            <a:endParaRPr sz="950">
              <a:solidFill>
                <a:schemeClr val="dk1"/>
              </a:solidFill>
              <a:latin typeface="Calibri"/>
              <a:ea typeface="Calibri"/>
              <a:cs typeface="Calibri"/>
              <a:sym typeface="Calibri"/>
            </a:endParaRPr>
          </a:p>
        </p:txBody>
      </p:sp>
      <p:sp>
        <p:nvSpPr>
          <p:cNvPr id="250" name="Google Shape;250;p10"/>
          <p:cNvSpPr/>
          <p:nvPr/>
        </p:nvSpPr>
        <p:spPr>
          <a:xfrm>
            <a:off x="3337560" y="2313432"/>
            <a:ext cx="2670048" cy="1865376"/>
          </a:xfrm>
          <a:prstGeom prst="roundRect">
            <a:avLst>
              <a:gd fmla="val 4902"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0"/>
          <p:cNvSpPr/>
          <p:nvPr/>
        </p:nvSpPr>
        <p:spPr>
          <a:xfrm>
            <a:off x="3337560" y="2313432"/>
            <a:ext cx="267004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2" name="Google Shape;252;p10"/>
          <p:cNvPicPr preferRelativeResize="0"/>
          <p:nvPr/>
        </p:nvPicPr>
        <p:blipFill rotWithShape="1">
          <a:blip r:embed="rId4">
            <a:alphaModFix/>
          </a:blip>
          <a:srcRect b="0" l="0" r="0" t="0"/>
          <a:stretch/>
        </p:blipFill>
        <p:spPr>
          <a:xfrm>
            <a:off x="3575304" y="2551176"/>
            <a:ext cx="402336" cy="402336"/>
          </a:xfrm>
          <a:prstGeom prst="rect">
            <a:avLst/>
          </a:prstGeom>
          <a:noFill/>
          <a:ln>
            <a:noFill/>
          </a:ln>
        </p:spPr>
      </p:pic>
      <p:sp>
        <p:nvSpPr>
          <p:cNvPr id="253" name="Google Shape;253;p10"/>
          <p:cNvSpPr/>
          <p:nvPr/>
        </p:nvSpPr>
        <p:spPr>
          <a:xfrm>
            <a:off x="3575304" y="3026664"/>
            <a:ext cx="2212848" cy="548640"/>
          </a:xfrm>
          <a:prstGeom prst="rect">
            <a:avLst/>
          </a:prstGeom>
          <a:noFill/>
          <a:ln>
            <a:noFill/>
          </a:ln>
        </p:spPr>
        <p:txBody>
          <a:bodyPr anchorCtr="0" anchor="ctr" bIns="0" lIns="0" spcFirstLastPara="1" rIns="0" wrap="square" tIns="0">
            <a:noAutofit/>
          </a:bodyPr>
          <a:lstStyle/>
          <a:p>
            <a:pPr indent="0" lvl="0" marL="0" marR="0" rtl="0" algn="l">
              <a:lnSpc>
                <a:spcPct val="120833"/>
              </a:lnSpc>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Wellbeing &amp; mental health</a:t>
            </a:r>
            <a:endParaRPr sz="1200">
              <a:solidFill>
                <a:schemeClr val="dk1"/>
              </a:solidFill>
              <a:latin typeface="Calibri"/>
              <a:ea typeface="Calibri"/>
              <a:cs typeface="Calibri"/>
              <a:sym typeface="Calibri"/>
            </a:endParaRPr>
          </a:p>
        </p:txBody>
      </p:sp>
      <p:sp>
        <p:nvSpPr>
          <p:cNvPr id="254" name="Google Shape;254;p10"/>
          <p:cNvSpPr/>
          <p:nvPr/>
        </p:nvSpPr>
        <p:spPr>
          <a:xfrm>
            <a:off x="3575304" y="3520440"/>
            <a:ext cx="2249424" cy="566928"/>
          </a:xfrm>
          <a:prstGeom prst="rect">
            <a:avLst/>
          </a:prstGeom>
          <a:noFill/>
          <a:ln>
            <a:noFill/>
          </a:ln>
        </p:spPr>
        <p:txBody>
          <a:bodyPr anchorCtr="0" anchor="ctr" bIns="0" lIns="0" spcFirstLastPara="1" rIns="0" wrap="square" tIns="0">
            <a:noAutofit/>
          </a:bodyPr>
          <a:lstStyle/>
          <a:p>
            <a:pPr indent="0" lvl="0" marL="0" marR="0" rtl="0" algn="l">
              <a:lnSpc>
                <a:spcPct val="126315"/>
              </a:lnSpc>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Someone to talk to if you're struggling, stressed or low.</a:t>
            </a:r>
            <a:endParaRPr sz="950">
              <a:solidFill>
                <a:schemeClr val="dk1"/>
              </a:solidFill>
              <a:latin typeface="Calibri"/>
              <a:ea typeface="Calibri"/>
              <a:cs typeface="Calibri"/>
              <a:sym typeface="Calibri"/>
            </a:endParaRPr>
          </a:p>
        </p:txBody>
      </p:sp>
      <p:sp>
        <p:nvSpPr>
          <p:cNvPr id="255" name="Google Shape;255;p10"/>
          <p:cNvSpPr/>
          <p:nvPr/>
        </p:nvSpPr>
        <p:spPr>
          <a:xfrm>
            <a:off x="6172200" y="2313432"/>
            <a:ext cx="2670048" cy="1865376"/>
          </a:xfrm>
          <a:prstGeom prst="roundRect">
            <a:avLst>
              <a:gd fmla="val 4902"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0"/>
          <p:cNvSpPr/>
          <p:nvPr/>
        </p:nvSpPr>
        <p:spPr>
          <a:xfrm>
            <a:off x="6172200" y="2313432"/>
            <a:ext cx="267004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7" name="Google Shape;257;p10"/>
          <p:cNvPicPr preferRelativeResize="0"/>
          <p:nvPr/>
        </p:nvPicPr>
        <p:blipFill rotWithShape="1">
          <a:blip r:embed="rId5">
            <a:alphaModFix/>
          </a:blip>
          <a:srcRect b="0" l="0" r="0" t="0"/>
          <a:stretch/>
        </p:blipFill>
        <p:spPr>
          <a:xfrm>
            <a:off x="6409944" y="2551176"/>
            <a:ext cx="402336" cy="402336"/>
          </a:xfrm>
          <a:prstGeom prst="rect">
            <a:avLst/>
          </a:prstGeom>
          <a:noFill/>
          <a:ln>
            <a:noFill/>
          </a:ln>
        </p:spPr>
      </p:pic>
      <p:sp>
        <p:nvSpPr>
          <p:cNvPr id="258" name="Google Shape;258;p10"/>
          <p:cNvSpPr/>
          <p:nvPr/>
        </p:nvSpPr>
        <p:spPr>
          <a:xfrm>
            <a:off x="6409944" y="3026664"/>
            <a:ext cx="2212848" cy="548640"/>
          </a:xfrm>
          <a:prstGeom prst="rect">
            <a:avLst/>
          </a:prstGeom>
          <a:noFill/>
          <a:ln>
            <a:noFill/>
          </a:ln>
        </p:spPr>
        <p:txBody>
          <a:bodyPr anchorCtr="0" anchor="ctr" bIns="0" lIns="0" spcFirstLastPara="1" rIns="0" wrap="square" tIns="0">
            <a:noAutofit/>
          </a:bodyPr>
          <a:lstStyle/>
          <a:p>
            <a:pPr indent="0" lvl="0" marL="0" marR="0" rtl="0" algn="l">
              <a:lnSpc>
                <a:spcPct val="120833"/>
              </a:lnSpc>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Money &amp; practical help</a:t>
            </a:r>
            <a:endParaRPr sz="1200">
              <a:solidFill>
                <a:schemeClr val="dk1"/>
              </a:solidFill>
              <a:latin typeface="Calibri"/>
              <a:ea typeface="Calibri"/>
              <a:cs typeface="Calibri"/>
              <a:sym typeface="Calibri"/>
            </a:endParaRPr>
          </a:p>
        </p:txBody>
      </p:sp>
      <p:sp>
        <p:nvSpPr>
          <p:cNvPr id="259" name="Google Shape;259;p10"/>
          <p:cNvSpPr/>
          <p:nvPr/>
        </p:nvSpPr>
        <p:spPr>
          <a:xfrm>
            <a:off x="6409944" y="3520440"/>
            <a:ext cx="2249424" cy="566928"/>
          </a:xfrm>
          <a:prstGeom prst="rect">
            <a:avLst/>
          </a:prstGeom>
          <a:noFill/>
          <a:ln>
            <a:noFill/>
          </a:ln>
        </p:spPr>
        <p:txBody>
          <a:bodyPr anchorCtr="0" anchor="ctr" bIns="0" lIns="0" spcFirstLastPara="1" rIns="0" wrap="square" tIns="0">
            <a:noAutofit/>
          </a:bodyPr>
          <a:lstStyle/>
          <a:p>
            <a:pPr indent="0" lvl="0" marL="0" marR="0" rtl="0" algn="l">
              <a:lnSpc>
                <a:spcPct val="126315"/>
              </a:lnSpc>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Bursary, travel, equipment and other practical support.</a:t>
            </a:r>
            <a:endParaRPr sz="950">
              <a:solidFill>
                <a:schemeClr val="dk1"/>
              </a:solidFill>
              <a:latin typeface="Calibri"/>
              <a:ea typeface="Calibri"/>
              <a:cs typeface="Calibri"/>
              <a:sym typeface="Calibri"/>
            </a:endParaRPr>
          </a:p>
        </p:txBody>
      </p:sp>
      <p:sp>
        <p:nvSpPr>
          <p:cNvPr id="260" name="Google Shape;260;p10"/>
          <p:cNvSpPr/>
          <p:nvPr/>
        </p:nvSpPr>
        <p:spPr>
          <a:xfrm>
            <a:off x="9006840" y="2313432"/>
            <a:ext cx="2670048" cy="1865376"/>
          </a:xfrm>
          <a:prstGeom prst="roundRect">
            <a:avLst>
              <a:gd fmla="val 4902"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0"/>
          <p:cNvSpPr/>
          <p:nvPr/>
        </p:nvSpPr>
        <p:spPr>
          <a:xfrm>
            <a:off x="9006840" y="2313432"/>
            <a:ext cx="267004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62" name="Google Shape;262;p10"/>
          <p:cNvPicPr preferRelativeResize="0"/>
          <p:nvPr/>
        </p:nvPicPr>
        <p:blipFill rotWithShape="1">
          <a:blip r:embed="rId6">
            <a:alphaModFix/>
          </a:blip>
          <a:srcRect b="0" l="0" r="0" t="0"/>
          <a:stretch/>
        </p:blipFill>
        <p:spPr>
          <a:xfrm>
            <a:off x="9244584" y="2551176"/>
            <a:ext cx="402336" cy="402336"/>
          </a:xfrm>
          <a:prstGeom prst="rect">
            <a:avLst/>
          </a:prstGeom>
          <a:noFill/>
          <a:ln>
            <a:noFill/>
          </a:ln>
        </p:spPr>
      </p:pic>
      <p:sp>
        <p:nvSpPr>
          <p:cNvPr id="263" name="Google Shape;263;p10"/>
          <p:cNvSpPr/>
          <p:nvPr/>
        </p:nvSpPr>
        <p:spPr>
          <a:xfrm>
            <a:off x="9244584" y="3026664"/>
            <a:ext cx="2212848" cy="548640"/>
          </a:xfrm>
          <a:prstGeom prst="rect">
            <a:avLst/>
          </a:prstGeom>
          <a:noFill/>
          <a:ln>
            <a:noFill/>
          </a:ln>
        </p:spPr>
        <p:txBody>
          <a:bodyPr anchorCtr="0" anchor="ctr" bIns="0" lIns="0" spcFirstLastPara="1" rIns="0" wrap="square" tIns="0">
            <a:noAutofit/>
          </a:bodyPr>
          <a:lstStyle/>
          <a:p>
            <a:pPr indent="0" lvl="0" marL="0" marR="0" rtl="0" algn="l">
              <a:lnSpc>
                <a:spcPct val="120833"/>
              </a:lnSpc>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Careers &amp; next steps</a:t>
            </a:r>
            <a:endParaRPr sz="1200">
              <a:solidFill>
                <a:schemeClr val="dk1"/>
              </a:solidFill>
              <a:latin typeface="Calibri"/>
              <a:ea typeface="Calibri"/>
              <a:cs typeface="Calibri"/>
              <a:sym typeface="Calibri"/>
            </a:endParaRPr>
          </a:p>
        </p:txBody>
      </p:sp>
      <p:sp>
        <p:nvSpPr>
          <p:cNvPr id="264" name="Google Shape;264;p10"/>
          <p:cNvSpPr/>
          <p:nvPr/>
        </p:nvSpPr>
        <p:spPr>
          <a:xfrm>
            <a:off x="9244584" y="3520440"/>
            <a:ext cx="2249424" cy="566928"/>
          </a:xfrm>
          <a:prstGeom prst="rect">
            <a:avLst/>
          </a:prstGeom>
          <a:noFill/>
          <a:ln>
            <a:noFill/>
          </a:ln>
        </p:spPr>
        <p:txBody>
          <a:bodyPr anchorCtr="0" anchor="ctr" bIns="0" lIns="0" spcFirstLastPara="1" rIns="0" wrap="square" tIns="0">
            <a:noAutofit/>
          </a:bodyPr>
          <a:lstStyle/>
          <a:p>
            <a:pPr indent="0" lvl="0" marL="0" marR="0" rtl="0" algn="l">
              <a:lnSpc>
                <a:spcPct val="126315"/>
              </a:lnSpc>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Guidance on jobs, university, apprenticeships and your future.</a:t>
            </a:r>
            <a:endParaRPr sz="950">
              <a:solidFill>
                <a:schemeClr val="dk1"/>
              </a:solidFill>
              <a:latin typeface="Calibri"/>
              <a:ea typeface="Calibri"/>
              <a:cs typeface="Calibri"/>
              <a:sym typeface="Calibri"/>
            </a:endParaRPr>
          </a:p>
        </p:txBody>
      </p:sp>
      <p:sp>
        <p:nvSpPr>
          <p:cNvPr id="265" name="Google Shape;265;p10"/>
          <p:cNvSpPr/>
          <p:nvPr/>
        </p:nvSpPr>
        <p:spPr>
          <a:xfrm>
            <a:off x="502920" y="4361688"/>
            <a:ext cx="11183112" cy="914400"/>
          </a:xfrm>
          <a:prstGeom prst="roundRect">
            <a:avLst>
              <a:gd fmla="val 8000" name="adj"/>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66" name="Google Shape;266;p10"/>
          <p:cNvPicPr preferRelativeResize="0"/>
          <p:nvPr/>
        </p:nvPicPr>
        <p:blipFill rotWithShape="1">
          <a:blip r:embed="rId7">
            <a:alphaModFix/>
          </a:blip>
          <a:srcRect b="0" l="0" r="0" t="0"/>
          <a:stretch/>
        </p:blipFill>
        <p:spPr>
          <a:xfrm>
            <a:off x="667512" y="4517136"/>
            <a:ext cx="237744" cy="237744"/>
          </a:xfrm>
          <a:prstGeom prst="rect">
            <a:avLst/>
          </a:prstGeom>
          <a:noFill/>
          <a:ln>
            <a:noFill/>
          </a:ln>
        </p:spPr>
      </p:pic>
      <p:sp>
        <p:nvSpPr>
          <p:cNvPr id="267" name="Google Shape;267;p10"/>
          <p:cNvSpPr/>
          <p:nvPr/>
        </p:nvSpPr>
        <p:spPr>
          <a:xfrm>
            <a:off x="978408" y="4480560"/>
            <a:ext cx="105430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00"/>
              <a:buFont typeface="Poppins SemiBold"/>
              <a:buNone/>
            </a:pPr>
            <a:r>
              <a:rPr lang="en-US" sz="1000">
                <a:solidFill>
                  <a:srgbClr val="B23A2E"/>
                </a:solidFill>
                <a:latin typeface="Poppins SemiBold"/>
                <a:ea typeface="Poppins SemiBold"/>
                <a:cs typeface="Poppins SemiBold"/>
                <a:sym typeface="Poppins SemiBold"/>
              </a:rPr>
              <a:t>ESCG TO CONFIRM</a:t>
            </a:r>
            <a:endParaRPr sz="1000">
              <a:solidFill>
                <a:schemeClr val="dk1"/>
              </a:solidFill>
              <a:latin typeface="Calibri"/>
              <a:ea typeface="Calibri"/>
              <a:cs typeface="Calibri"/>
              <a:sym typeface="Calibri"/>
            </a:endParaRPr>
          </a:p>
        </p:txBody>
      </p:sp>
      <p:sp>
        <p:nvSpPr>
          <p:cNvPr id="268" name="Google Shape;268;p10"/>
          <p:cNvSpPr/>
          <p:nvPr/>
        </p:nvSpPr>
        <p:spPr>
          <a:xfrm>
            <a:off x="978408" y="4745736"/>
            <a:ext cx="10543032" cy="402336"/>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16242B"/>
              </a:buClr>
              <a:buSzPts val="950"/>
              <a:buFont typeface="Poppins"/>
              <a:buNone/>
            </a:pPr>
            <a:r>
              <a:rPr lang="en-US" sz="950">
                <a:solidFill>
                  <a:srgbClr val="16242B"/>
                </a:solidFill>
                <a:latin typeface="Poppins"/>
                <a:ea typeface="Poppins"/>
                <a:cs typeface="Poppins"/>
                <a:sym typeface="Poppins"/>
              </a:rPr>
              <a:t>Add the ESCG specifics for your campus: the actual names of these services, WHERE students physically go, and HOW to make contact or book. Include the one or two people you'd most want a worried student to be able to find. Verify all names and locations against the current central source before teaching.</a:t>
            </a:r>
            <a:endParaRPr sz="950">
              <a:solidFill>
                <a:schemeClr val="dk1"/>
              </a:solidFill>
              <a:latin typeface="Calibri"/>
              <a:ea typeface="Calibri"/>
              <a:cs typeface="Calibri"/>
              <a:sym typeface="Calibri"/>
            </a:endParaRPr>
          </a:p>
        </p:txBody>
      </p:sp>
      <p:sp>
        <p:nvSpPr>
          <p:cNvPr id="269" name="Google Shape;269;p10"/>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270" name="Google Shape;270;p10"/>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0"/>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Level 3/ T - Level  YR1  ·  SETTLING IN</a:t>
            </a:r>
            <a:endParaRPr sz="700">
              <a:solidFill>
                <a:schemeClr val="dk1"/>
              </a:solidFill>
              <a:latin typeface="Calibri"/>
              <a:ea typeface="Calibri"/>
              <a:cs typeface="Calibri"/>
              <a:sym typeface="Calibri"/>
            </a:endParaRPr>
          </a:p>
        </p:txBody>
      </p:sp>
      <p:sp>
        <p:nvSpPr>
          <p:cNvPr id="272" name="Google Shape;272;p10"/>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8</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9"/>
        </a:solidFill>
      </p:bgPr>
    </p:bg>
    <p:spTree>
      <p:nvGrpSpPr>
        <p:cNvPr id="277" name="Shape 277"/>
        <p:cNvGrpSpPr/>
        <p:nvPr/>
      </p:nvGrpSpPr>
      <p:grpSpPr>
        <a:xfrm>
          <a:off x="0" y="0"/>
          <a:ext cx="0" cy="0"/>
          <a:chOff x="0" y="0"/>
          <a:chExt cx="0" cy="0"/>
        </a:xfrm>
      </p:grpSpPr>
      <p:sp>
        <p:nvSpPr>
          <p:cNvPr id="278" name="Google Shape;278;p11"/>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1"/>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MORE THAN YOUR COURSE</a:t>
            </a:r>
            <a:endParaRPr sz="1100">
              <a:solidFill>
                <a:schemeClr val="dk1"/>
              </a:solidFill>
              <a:latin typeface="Calibri"/>
              <a:ea typeface="Calibri"/>
              <a:cs typeface="Calibri"/>
              <a:sym typeface="Calibri"/>
            </a:endParaRPr>
          </a:p>
        </p:txBody>
      </p:sp>
      <p:sp>
        <p:nvSpPr>
          <p:cNvPr id="280" name="Google Shape;280;p11"/>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Enrichment &amp; Freshers</a:t>
            </a:r>
            <a:endParaRPr sz="3000">
              <a:solidFill>
                <a:schemeClr val="dk1"/>
              </a:solidFill>
              <a:latin typeface="Calibri"/>
              <a:ea typeface="Calibri"/>
              <a:cs typeface="Calibri"/>
              <a:sym typeface="Calibri"/>
            </a:endParaRPr>
          </a:p>
        </p:txBody>
      </p:sp>
      <p:sp>
        <p:nvSpPr>
          <p:cNvPr id="281" name="Google Shape;281;p11"/>
          <p:cNvSpPr/>
          <p:nvPr/>
        </p:nvSpPr>
        <p:spPr>
          <a:xfrm>
            <a:off x="9494215" y="502920"/>
            <a:ext cx="2194560" cy="384048"/>
          </a:xfrm>
          <a:prstGeom prst="roundRect">
            <a:avLst>
              <a:gd fmla="val 50000" name="adj"/>
            </a:avLst>
          </a:prstGeom>
          <a:solidFill>
            <a:srgbClr val="0D2434"/>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1"/>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283" name="Google Shape;283;p11"/>
          <p:cNvSpPr/>
          <p:nvPr/>
        </p:nvSpPr>
        <p:spPr>
          <a:xfrm>
            <a:off x="502920" y="1728216"/>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College is also where you try things, meet people and build a life outside lessons. Here's a taste.</a:t>
            </a:r>
            <a:endParaRPr sz="1250">
              <a:solidFill>
                <a:schemeClr val="dk1"/>
              </a:solidFill>
              <a:latin typeface="Calibri"/>
              <a:ea typeface="Calibri"/>
              <a:cs typeface="Calibri"/>
              <a:sym typeface="Calibri"/>
            </a:endParaRPr>
          </a:p>
        </p:txBody>
      </p:sp>
      <p:sp>
        <p:nvSpPr>
          <p:cNvPr id="284" name="Google Shape;284;p11"/>
          <p:cNvSpPr/>
          <p:nvPr/>
        </p:nvSpPr>
        <p:spPr>
          <a:xfrm>
            <a:off x="502920" y="2313432"/>
            <a:ext cx="5532120" cy="3511296"/>
          </a:xfrm>
          <a:prstGeom prst="roundRect">
            <a:avLst>
              <a:gd fmla="val 2604"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1"/>
          <p:cNvSpPr/>
          <p:nvPr/>
        </p:nvSpPr>
        <p:spPr>
          <a:xfrm>
            <a:off x="502920" y="2313432"/>
            <a:ext cx="5532120" cy="457200"/>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86" name="Google Shape;286;p11"/>
          <p:cNvPicPr preferRelativeResize="0"/>
          <p:nvPr/>
        </p:nvPicPr>
        <p:blipFill rotWithShape="1">
          <a:blip r:embed="rId3">
            <a:alphaModFix/>
          </a:blip>
          <a:srcRect b="0" l="0" r="0" t="0"/>
          <a:stretch/>
        </p:blipFill>
        <p:spPr>
          <a:xfrm>
            <a:off x="704088" y="2414016"/>
            <a:ext cx="256032" cy="256032"/>
          </a:xfrm>
          <a:prstGeom prst="rect">
            <a:avLst/>
          </a:prstGeom>
          <a:noFill/>
          <a:ln>
            <a:noFill/>
          </a:ln>
        </p:spPr>
      </p:pic>
      <p:sp>
        <p:nvSpPr>
          <p:cNvPr id="287" name="Google Shape;287;p11"/>
          <p:cNvSpPr/>
          <p:nvPr/>
        </p:nvSpPr>
        <p:spPr>
          <a:xfrm>
            <a:off x="1051560" y="2313432"/>
            <a:ext cx="4800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lang="en-US" sz="1100">
                <a:solidFill>
                  <a:srgbClr val="FFFFFF"/>
                </a:solidFill>
                <a:latin typeface="Poppins SemiBold"/>
                <a:ea typeface="Poppins SemiBold"/>
                <a:cs typeface="Poppins SemiBold"/>
                <a:sym typeface="Poppins SemiBold"/>
              </a:rPr>
              <a:t>THE ESC ENRICHMENT PROGRAMME</a:t>
            </a:r>
            <a:endParaRPr sz="1100">
              <a:solidFill>
                <a:schemeClr val="dk1"/>
              </a:solidFill>
              <a:latin typeface="Calibri"/>
              <a:ea typeface="Calibri"/>
              <a:cs typeface="Calibri"/>
              <a:sym typeface="Calibri"/>
            </a:endParaRPr>
          </a:p>
        </p:txBody>
      </p:sp>
      <p:sp>
        <p:nvSpPr>
          <p:cNvPr id="288" name="Google Shape;288;p11"/>
          <p:cNvSpPr/>
          <p:nvPr/>
        </p:nvSpPr>
        <p:spPr>
          <a:xfrm>
            <a:off x="704088" y="2916936"/>
            <a:ext cx="5129784" cy="2706624"/>
          </a:xfrm>
          <a:prstGeom prst="roundRect">
            <a:avLst>
              <a:gd fmla="val 2703" name="adj"/>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89" name="Google Shape;289;p11"/>
          <p:cNvPicPr preferRelativeResize="0"/>
          <p:nvPr/>
        </p:nvPicPr>
        <p:blipFill rotWithShape="1">
          <a:blip r:embed="rId4">
            <a:alphaModFix/>
          </a:blip>
          <a:srcRect b="0" l="0" r="0" t="0"/>
          <a:stretch/>
        </p:blipFill>
        <p:spPr>
          <a:xfrm>
            <a:off x="868680" y="3072384"/>
            <a:ext cx="237744" cy="237744"/>
          </a:xfrm>
          <a:prstGeom prst="rect">
            <a:avLst/>
          </a:prstGeom>
          <a:noFill/>
          <a:ln>
            <a:noFill/>
          </a:ln>
        </p:spPr>
      </p:pic>
      <p:sp>
        <p:nvSpPr>
          <p:cNvPr id="290" name="Google Shape;290;p11"/>
          <p:cNvSpPr/>
          <p:nvPr/>
        </p:nvSpPr>
        <p:spPr>
          <a:xfrm>
            <a:off x="1179576" y="3035808"/>
            <a:ext cx="448970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00"/>
              <a:buFont typeface="Poppins SemiBold"/>
              <a:buNone/>
            </a:pPr>
            <a:r>
              <a:rPr lang="en-US" sz="1000">
                <a:solidFill>
                  <a:srgbClr val="B23A2E"/>
                </a:solidFill>
                <a:latin typeface="Poppins SemiBold"/>
                <a:ea typeface="Poppins SemiBold"/>
                <a:cs typeface="Poppins SemiBold"/>
                <a:sym typeface="Poppins SemiBold"/>
              </a:rPr>
              <a:t>ESCG TO CONFIRM</a:t>
            </a:r>
            <a:endParaRPr sz="1000">
              <a:solidFill>
                <a:schemeClr val="dk1"/>
              </a:solidFill>
              <a:latin typeface="Calibri"/>
              <a:ea typeface="Calibri"/>
              <a:cs typeface="Calibri"/>
              <a:sym typeface="Calibri"/>
            </a:endParaRPr>
          </a:p>
        </p:txBody>
      </p:sp>
      <p:sp>
        <p:nvSpPr>
          <p:cNvPr id="291" name="Google Shape;291;p11"/>
          <p:cNvSpPr/>
          <p:nvPr/>
        </p:nvSpPr>
        <p:spPr>
          <a:xfrm>
            <a:off x="1179576" y="3300984"/>
            <a:ext cx="4489704" cy="219456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16242B"/>
              </a:buClr>
              <a:buSzPts val="950"/>
              <a:buFont typeface="Poppins"/>
              <a:buNone/>
            </a:pPr>
            <a:r>
              <a:rPr lang="en-US" sz="950">
                <a:solidFill>
                  <a:srgbClr val="16242B"/>
                </a:solidFill>
                <a:latin typeface="Poppins"/>
                <a:ea typeface="Poppins"/>
                <a:cs typeface="Poppins"/>
                <a:sym typeface="Poppins"/>
              </a:rPr>
              <a:t>Add the current ESC Enrichment offer for this campus — the clubs, sports, societies and activities available this year, how students sign up, and when things start. If a printed or digital enrichment guide exists, show it here and tell students how to get one.</a:t>
            </a:r>
            <a:endParaRPr sz="950">
              <a:solidFill>
                <a:schemeClr val="dk1"/>
              </a:solidFill>
              <a:latin typeface="Calibri"/>
              <a:ea typeface="Calibri"/>
              <a:cs typeface="Calibri"/>
              <a:sym typeface="Calibri"/>
            </a:endParaRPr>
          </a:p>
        </p:txBody>
      </p:sp>
      <p:sp>
        <p:nvSpPr>
          <p:cNvPr id="292" name="Google Shape;292;p11"/>
          <p:cNvSpPr/>
          <p:nvPr/>
        </p:nvSpPr>
        <p:spPr>
          <a:xfrm>
            <a:off x="6309360" y="2313432"/>
            <a:ext cx="5376672" cy="3511296"/>
          </a:xfrm>
          <a:prstGeom prst="roundRect">
            <a:avLst>
              <a:gd fmla="val 2604" name="adj"/>
            </a:avLst>
          </a:prstGeom>
          <a:solidFill>
            <a:srgbClr val="0D2434"/>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93" name="Google Shape;293;p11"/>
          <p:cNvPicPr preferRelativeResize="0"/>
          <p:nvPr/>
        </p:nvPicPr>
        <p:blipFill rotWithShape="1">
          <a:blip r:embed="rId3">
            <a:alphaModFix/>
          </a:blip>
          <a:srcRect b="0" l="0" r="0" t="0"/>
          <a:stretch/>
        </p:blipFill>
        <p:spPr>
          <a:xfrm>
            <a:off x="6601968" y="2587752"/>
            <a:ext cx="420624" cy="420624"/>
          </a:xfrm>
          <a:prstGeom prst="rect">
            <a:avLst/>
          </a:prstGeom>
          <a:noFill/>
          <a:ln>
            <a:noFill/>
          </a:ln>
        </p:spPr>
      </p:pic>
      <p:sp>
        <p:nvSpPr>
          <p:cNvPr id="294" name="Google Shape;294;p11"/>
          <p:cNvSpPr/>
          <p:nvPr/>
        </p:nvSpPr>
        <p:spPr>
          <a:xfrm>
            <a:off x="6601968" y="3081528"/>
            <a:ext cx="479145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Poppins SemiBold"/>
              <a:buNone/>
            </a:pPr>
            <a:r>
              <a:rPr lang="en-US" sz="1700">
                <a:solidFill>
                  <a:srgbClr val="FFFFFF"/>
                </a:solidFill>
                <a:latin typeface="Poppins SemiBold"/>
                <a:ea typeface="Poppins SemiBold"/>
                <a:cs typeface="Poppins SemiBold"/>
                <a:sym typeface="Poppins SemiBold"/>
              </a:rPr>
              <a:t>Your Freshers Fair</a:t>
            </a:r>
            <a:endParaRPr sz="1700">
              <a:solidFill>
                <a:schemeClr val="dk1"/>
              </a:solidFill>
              <a:latin typeface="Calibri"/>
              <a:ea typeface="Calibri"/>
              <a:cs typeface="Calibri"/>
              <a:sym typeface="Calibri"/>
            </a:endParaRPr>
          </a:p>
        </p:txBody>
      </p:sp>
      <p:sp>
        <p:nvSpPr>
          <p:cNvPr id="295" name="Google Shape;295;p11"/>
          <p:cNvSpPr/>
          <p:nvPr/>
        </p:nvSpPr>
        <p:spPr>
          <a:xfrm>
            <a:off x="6601968" y="3520440"/>
            <a:ext cx="4773168" cy="109728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C7D0D3"/>
              </a:buClr>
              <a:buSzPts val="1150"/>
              <a:buFont typeface="Poppins Light"/>
              <a:buNone/>
            </a:pPr>
            <a:r>
              <a:rPr lang="en-US" sz="1150">
                <a:solidFill>
                  <a:srgbClr val="C7D0D3"/>
                </a:solidFill>
                <a:latin typeface="Poppins Light"/>
                <a:ea typeface="Poppins Light"/>
                <a:cs typeface="Poppins Light"/>
                <a:sym typeface="Poppins Light"/>
              </a:rPr>
              <a:t>In the next couple of weeks your campus runs a Freshers Fair — stalls, clubs, freebies and a chance to sign up for the things that interest you. Go along, even if you go with one new friend from today.</a:t>
            </a:r>
            <a:endParaRPr sz="1150">
              <a:solidFill>
                <a:schemeClr val="dk1"/>
              </a:solidFill>
              <a:latin typeface="Calibri"/>
              <a:ea typeface="Calibri"/>
              <a:cs typeface="Calibri"/>
              <a:sym typeface="Calibri"/>
            </a:endParaRPr>
          </a:p>
        </p:txBody>
      </p:sp>
      <p:sp>
        <p:nvSpPr>
          <p:cNvPr id="296" name="Google Shape;296;p11"/>
          <p:cNvSpPr/>
          <p:nvPr/>
        </p:nvSpPr>
        <p:spPr>
          <a:xfrm>
            <a:off x="6601968" y="4709160"/>
            <a:ext cx="4791456" cy="877824"/>
          </a:xfrm>
          <a:prstGeom prst="roundRect">
            <a:avLst>
              <a:gd fmla="val 8333" name="adj"/>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97" name="Google Shape;297;p11"/>
          <p:cNvPicPr preferRelativeResize="0"/>
          <p:nvPr/>
        </p:nvPicPr>
        <p:blipFill rotWithShape="1">
          <a:blip r:embed="rId4">
            <a:alphaModFix/>
          </a:blip>
          <a:srcRect b="0" l="0" r="0" t="0"/>
          <a:stretch/>
        </p:blipFill>
        <p:spPr>
          <a:xfrm>
            <a:off x="6766560" y="4864608"/>
            <a:ext cx="237744" cy="237744"/>
          </a:xfrm>
          <a:prstGeom prst="rect">
            <a:avLst/>
          </a:prstGeom>
          <a:noFill/>
          <a:ln>
            <a:noFill/>
          </a:ln>
        </p:spPr>
      </p:pic>
      <p:sp>
        <p:nvSpPr>
          <p:cNvPr id="298" name="Google Shape;298;p11"/>
          <p:cNvSpPr/>
          <p:nvPr/>
        </p:nvSpPr>
        <p:spPr>
          <a:xfrm>
            <a:off x="7077456" y="4828032"/>
            <a:ext cx="41513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00"/>
              <a:buFont typeface="Poppins SemiBold"/>
              <a:buNone/>
            </a:pPr>
            <a:r>
              <a:rPr lang="en-US" sz="1000">
                <a:solidFill>
                  <a:srgbClr val="B23A2E"/>
                </a:solidFill>
                <a:latin typeface="Poppins SemiBold"/>
                <a:ea typeface="Poppins SemiBold"/>
                <a:cs typeface="Poppins SemiBold"/>
                <a:sym typeface="Poppins SemiBold"/>
              </a:rPr>
              <a:t>ESCG TO CONFIRM</a:t>
            </a:r>
            <a:endParaRPr sz="1000">
              <a:solidFill>
                <a:schemeClr val="dk1"/>
              </a:solidFill>
              <a:latin typeface="Calibri"/>
              <a:ea typeface="Calibri"/>
              <a:cs typeface="Calibri"/>
              <a:sym typeface="Calibri"/>
            </a:endParaRPr>
          </a:p>
        </p:txBody>
      </p:sp>
      <p:sp>
        <p:nvSpPr>
          <p:cNvPr id="299" name="Google Shape;299;p11"/>
          <p:cNvSpPr/>
          <p:nvPr/>
        </p:nvSpPr>
        <p:spPr>
          <a:xfrm>
            <a:off x="7077456" y="5093208"/>
            <a:ext cx="4151376" cy="36576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16242B"/>
              </a:buClr>
              <a:buSzPts val="950"/>
              <a:buFont typeface="Poppins"/>
              <a:buNone/>
            </a:pPr>
            <a:r>
              <a:rPr lang="en-US" sz="950">
                <a:solidFill>
                  <a:srgbClr val="16242B"/>
                </a:solidFill>
                <a:latin typeface="Poppins"/>
                <a:ea typeface="Poppins"/>
                <a:cs typeface="Poppins"/>
                <a:sym typeface="Poppins"/>
              </a:rPr>
              <a:t>Add this campus's Freshers Fair date, time and location.</a:t>
            </a:r>
            <a:endParaRPr sz="950">
              <a:solidFill>
                <a:schemeClr val="dk1"/>
              </a:solidFill>
              <a:latin typeface="Calibri"/>
              <a:ea typeface="Calibri"/>
              <a:cs typeface="Calibri"/>
              <a:sym typeface="Calibri"/>
            </a:endParaRPr>
          </a:p>
        </p:txBody>
      </p:sp>
      <p:sp>
        <p:nvSpPr>
          <p:cNvPr id="300" name="Google Shape;300;p11"/>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301" name="Google Shape;301;p11"/>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1"/>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Level 3/ T - Level  YR1  ·  SETTLING IN</a:t>
            </a:r>
            <a:endParaRPr sz="700">
              <a:solidFill>
                <a:schemeClr val="dk1"/>
              </a:solidFill>
              <a:latin typeface="Calibri"/>
              <a:ea typeface="Calibri"/>
              <a:cs typeface="Calibri"/>
              <a:sym typeface="Calibri"/>
            </a:endParaRPr>
          </a:p>
        </p:txBody>
      </p:sp>
      <p:sp>
        <p:nvSpPr>
          <p:cNvPr id="303" name="Google Shape;303;p11"/>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9</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9"/>
        </a:solidFill>
      </p:bgPr>
    </p:bg>
    <p:spTree>
      <p:nvGrpSpPr>
        <p:cNvPr id="308" name="Shape 308"/>
        <p:cNvGrpSpPr/>
        <p:nvPr/>
      </p:nvGrpSpPr>
      <p:grpSpPr>
        <a:xfrm>
          <a:off x="0" y="0"/>
          <a:ext cx="0" cy="0"/>
          <a:chOff x="0" y="0"/>
          <a:chExt cx="0" cy="0"/>
        </a:xfrm>
      </p:grpSpPr>
      <p:sp>
        <p:nvSpPr>
          <p:cNvPr id="309" name="Google Shape;309;p12"/>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2"/>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BEFORE WE FINISH</a:t>
            </a:r>
            <a:endParaRPr sz="1100">
              <a:solidFill>
                <a:schemeClr val="dk1"/>
              </a:solidFill>
              <a:latin typeface="Calibri"/>
              <a:ea typeface="Calibri"/>
              <a:cs typeface="Calibri"/>
              <a:sym typeface="Calibri"/>
            </a:endParaRPr>
          </a:p>
        </p:txBody>
      </p:sp>
      <p:sp>
        <p:nvSpPr>
          <p:cNvPr id="311" name="Google Shape;311;p12"/>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One thing you're taking away</a:t>
            </a:r>
            <a:endParaRPr sz="3000">
              <a:solidFill>
                <a:schemeClr val="dk1"/>
              </a:solidFill>
              <a:latin typeface="Calibri"/>
              <a:ea typeface="Calibri"/>
              <a:cs typeface="Calibri"/>
              <a:sym typeface="Calibri"/>
            </a:endParaRPr>
          </a:p>
        </p:txBody>
      </p:sp>
      <p:sp>
        <p:nvSpPr>
          <p:cNvPr id="312" name="Google Shape;312;p12"/>
          <p:cNvSpPr/>
          <p:nvPr/>
        </p:nvSpPr>
        <p:spPr>
          <a:xfrm>
            <a:off x="9494215" y="502920"/>
            <a:ext cx="2194560" cy="384048"/>
          </a:xfrm>
          <a:prstGeom prst="roundRect">
            <a:avLst>
              <a:gd fmla="val 50000" name="adj"/>
            </a:avLst>
          </a:prstGeom>
          <a:solidFill>
            <a:srgbClr val="FFCF01"/>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2"/>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950"/>
              <a:buFont typeface="Poppins SemiBold"/>
              <a:buNone/>
            </a:pPr>
            <a:r>
              <a:rPr lang="en-US" sz="950">
                <a:solidFill>
                  <a:srgbClr val="0D2434"/>
                </a:solidFill>
                <a:latin typeface="Poppins SemiBold"/>
                <a:ea typeface="Poppins SemiBold"/>
                <a:cs typeface="Poppins SemiBold"/>
                <a:sym typeface="Poppins SemiBold"/>
              </a:rPr>
              <a:t>ACTIVITY</a:t>
            </a:r>
            <a:endParaRPr sz="950">
              <a:solidFill>
                <a:schemeClr val="dk1"/>
              </a:solidFill>
              <a:latin typeface="Calibri"/>
              <a:ea typeface="Calibri"/>
              <a:cs typeface="Calibri"/>
              <a:sym typeface="Calibri"/>
            </a:endParaRPr>
          </a:p>
        </p:txBody>
      </p:sp>
      <p:sp>
        <p:nvSpPr>
          <p:cNvPr id="314" name="Google Shape;314;p12"/>
          <p:cNvSpPr/>
          <p:nvPr/>
        </p:nvSpPr>
        <p:spPr>
          <a:xfrm>
            <a:off x="502920" y="1801368"/>
            <a:ext cx="5852160" cy="3383280"/>
          </a:xfrm>
          <a:prstGeom prst="roundRect">
            <a:avLst>
              <a:gd fmla="val 3243"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2"/>
          <p:cNvSpPr/>
          <p:nvPr/>
        </p:nvSpPr>
        <p:spPr>
          <a:xfrm>
            <a:off x="502920" y="1801368"/>
            <a:ext cx="5852160" cy="530352"/>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2"/>
          <p:cNvSpPr/>
          <p:nvPr/>
        </p:nvSpPr>
        <p:spPr>
          <a:xfrm>
            <a:off x="777240" y="1801368"/>
            <a:ext cx="53035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ACTIVITY  ·  ONE THING</a:t>
            </a:r>
            <a:endParaRPr sz="1200">
              <a:solidFill>
                <a:schemeClr val="dk1"/>
              </a:solidFill>
              <a:latin typeface="Calibri"/>
              <a:ea typeface="Calibri"/>
              <a:cs typeface="Calibri"/>
              <a:sym typeface="Calibri"/>
            </a:endParaRPr>
          </a:p>
        </p:txBody>
      </p:sp>
      <p:sp>
        <p:nvSpPr>
          <p:cNvPr id="317" name="Google Shape;317;p12"/>
          <p:cNvSpPr/>
          <p:nvPr/>
        </p:nvSpPr>
        <p:spPr>
          <a:xfrm>
            <a:off x="795528" y="2514600"/>
            <a:ext cx="5285232" cy="5029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6242B"/>
              </a:buClr>
              <a:buSzPts val="1150"/>
              <a:buFont typeface="Poppins"/>
              <a:buNone/>
            </a:pPr>
            <a:r>
              <a:rPr lang="en-US" sz="1150">
                <a:solidFill>
                  <a:srgbClr val="16242B"/>
                </a:solidFill>
                <a:latin typeface="Poppins"/>
                <a:ea typeface="Poppins"/>
                <a:cs typeface="Poppins"/>
                <a:sym typeface="Poppins"/>
              </a:rPr>
              <a:t>On the card or sticky note you've been given, write ONE of the following:</a:t>
            </a:r>
            <a:endParaRPr sz="1150">
              <a:solidFill>
                <a:schemeClr val="dk1"/>
              </a:solidFill>
              <a:latin typeface="Calibri"/>
              <a:ea typeface="Calibri"/>
              <a:cs typeface="Calibri"/>
              <a:sym typeface="Calibri"/>
            </a:endParaRPr>
          </a:p>
        </p:txBody>
      </p:sp>
      <p:sp>
        <p:nvSpPr>
          <p:cNvPr id="318" name="Google Shape;318;p12"/>
          <p:cNvSpPr/>
          <p:nvPr/>
        </p:nvSpPr>
        <p:spPr>
          <a:xfrm>
            <a:off x="813816" y="3118104"/>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2"/>
          <p:cNvSpPr/>
          <p:nvPr/>
        </p:nvSpPr>
        <p:spPr>
          <a:xfrm>
            <a:off x="1088136" y="3008376"/>
            <a:ext cx="4937760" cy="457200"/>
          </a:xfrm>
          <a:prstGeom prst="rect">
            <a:avLst/>
          </a:prstGeom>
          <a:noFill/>
          <a:ln>
            <a:noFill/>
          </a:ln>
        </p:spPr>
        <p:txBody>
          <a:bodyPr anchorCtr="0" anchor="ctr" bIns="0" lIns="0" spcFirstLastPara="1" rIns="0" wrap="square" tIns="0">
            <a:noAutofit/>
          </a:bodyPr>
          <a:lstStyle/>
          <a:p>
            <a:pPr indent="0" lvl="0" marL="0" marR="0" rtl="0" algn="l">
              <a:lnSpc>
                <a:spcPct val="122727"/>
              </a:lnSpc>
              <a:spcBef>
                <a:spcPts val="0"/>
              </a:spcBef>
              <a:spcAft>
                <a:spcPts val="0"/>
              </a:spcAft>
              <a:buClr>
                <a:srgbClr val="16242B"/>
              </a:buClr>
              <a:buSzPts val="1100"/>
              <a:buFont typeface="Poppins"/>
              <a:buNone/>
            </a:pPr>
            <a:r>
              <a:rPr lang="en-US" sz="1100">
                <a:solidFill>
                  <a:srgbClr val="16242B"/>
                </a:solidFill>
                <a:latin typeface="Poppins"/>
                <a:ea typeface="Poppins"/>
                <a:cs typeface="Poppins"/>
                <a:sym typeface="Poppins"/>
              </a:rPr>
              <a:t>One thing you're looking forward to this year, OR</a:t>
            </a:r>
            <a:endParaRPr sz="1100">
              <a:solidFill>
                <a:schemeClr val="dk1"/>
              </a:solidFill>
              <a:latin typeface="Calibri"/>
              <a:ea typeface="Calibri"/>
              <a:cs typeface="Calibri"/>
              <a:sym typeface="Calibri"/>
            </a:endParaRPr>
          </a:p>
        </p:txBody>
      </p:sp>
      <p:sp>
        <p:nvSpPr>
          <p:cNvPr id="320" name="Google Shape;320;p12"/>
          <p:cNvSpPr/>
          <p:nvPr/>
        </p:nvSpPr>
        <p:spPr>
          <a:xfrm>
            <a:off x="813816" y="3593592"/>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2"/>
          <p:cNvSpPr/>
          <p:nvPr/>
        </p:nvSpPr>
        <p:spPr>
          <a:xfrm>
            <a:off x="1088136" y="3483864"/>
            <a:ext cx="4937760" cy="457200"/>
          </a:xfrm>
          <a:prstGeom prst="rect">
            <a:avLst/>
          </a:prstGeom>
          <a:noFill/>
          <a:ln>
            <a:noFill/>
          </a:ln>
        </p:spPr>
        <p:txBody>
          <a:bodyPr anchorCtr="0" anchor="ctr" bIns="0" lIns="0" spcFirstLastPara="1" rIns="0" wrap="square" tIns="0">
            <a:noAutofit/>
          </a:bodyPr>
          <a:lstStyle/>
          <a:p>
            <a:pPr indent="0" lvl="0" marL="0" marR="0" rtl="0" algn="l">
              <a:lnSpc>
                <a:spcPct val="122727"/>
              </a:lnSpc>
              <a:spcBef>
                <a:spcPts val="0"/>
              </a:spcBef>
              <a:spcAft>
                <a:spcPts val="0"/>
              </a:spcAft>
              <a:buClr>
                <a:srgbClr val="16242B"/>
              </a:buClr>
              <a:buSzPts val="1100"/>
              <a:buFont typeface="Poppins"/>
              <a:buNone/>
            </a:pPr>
            <a:r>
              <a:rPr lang="en-US" sz="1100">
                <a:solidFill>
                  <a:srgbClr val="16242B"/>
                </a:solidFill>
                <a:latin typeface="Poppins"/>
                <a:ea typeface="Poppins"/>
                <a:cs typeface="Poppins"/>
                <a:sym typeface="Poppins"/>
              </a:rPr>
              <a:t>One thing you'd like help with, OR</a:t>
            </a:r>
            <a:endParaRPr sz="1100">
              <a:solidFill>
                <a:schemeClr val="dk1"/>
              </a:solidFill>
              <a:latin typeface="Calibri"/>
              <a:ea typeface="Calibri"/>
              <a:cs typeface="Calibri"/>
              <a:sym typeface="Calibri"/>
            </a:endParaRPr>
          </a:p>
        </p:txBody>
      </p:sp>
      <p:sp>
        <p:nvSpPr>
          <p:cNvPr id="322" name="Google Shape;322;p12"/>
          <p:cNvSpPr/>
          <p:nvPr/>
        </p:nvSpPr>
        <p:spPr>
          <a:xfrm>
            <a:off x="813816" y="4069080"/>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2"/>
          <p:cNvSpPr/>
          <p:nvPr/>
        </p:nvSpPr>
        <p:spPr>
          <a:xfrm>
            <a:off x="1088136" y="3959352"/>
            <a:ext cx="4937760" cy="457200"/>
          </a:xfrm>
          <a:prstGeom prst="rect">
            <a:avLst/>
          </a:prstGeom>
          <a:noFill/>
          <a:ln>
            <a:noFill/>
          </a:ln>
        </p:spPr>
        <p:txBody>
          <a:bodyPr anchorCtr="0" anchor="ctr" bIns="0" lIns="0" spcFirstLastPara="1" rIns="0" wrap="square" tIns="0">
            <a:noAutofit/>
          </a:bodyPr>
          <a:lstStyle/>
          <a:p>
            <a:pPr indent="0" lvl="0" marL="0" marR="0" rtl="0" algn="l">
              <a:lnSpc>
                <a:spcPct val="122727"/>
              </a:lnSpc>
              <a:spcBef>
                <a:spcPts val="0"/>
              </a:spcBef>
              <a:spcAft>
                <a:spcPts val="0"/>
              </a:spcAft>
              <a:buClr>
                <a:srgbClr val="16242B"/>
              </a:buClr>
              <a:buSzPts val="1100"/>
              <a:buFont typeface="Poppins"/>
              <a:buNone/>
            </a:pPr>
            <a:r>
              <a:rPr lang="en-US" sz="1100">
                <a:solidFill>
                  <a:srgbClr val="16242B"/>
                </a:solidFill>
                <a:latin typeface="Poppins"/>
                <a:ea typeface="Poppins"/>
                <a:cs typeface="Poppins"/>
                <a:sym typeface="Poppins"/>
              </a:rPr>
              <a:t>One name of someone new you met today.</a:t>
            </a:r>
            <a:endParaRPr sz="1100">
              <a:solidFill>
                <a:schemeClr val="dk1"/>
              </a:solidFill>
              <a:latin typeface="Calibri"/>
              <a:ea typeface="Calibri"/>
              <a:cs typeface="Calibri"/>
              <a:sym typeface="Calibri"/>
            </a:endParaRPr>
          </a:p>
        </p:txBody>
      </p:sp>
      <p:cxnSp>
        <p:nvCxnSpPr>
          <p:cNvPr id="324" name="Google Shape;324;p12"/>
          <p:cNvCxnSpPr/>
          <p:nvPr/>
        </p:nvCxnSpPr>
        <p:spPr>
          <a:xfrm>
            <a:off x="813816" y="4544568"/>
            <a:ext cx="5230368" cy="0"/>
          </a:xfrm>
          <a:prstGeom prst="straightConnector1">
            <a:avLst/>
          </a:prstGeom>
          <a:noFill/>
          <a:ln cap="flat" cmpd="sng" w="12700">
            <a:solidFill>
              <a:srgbClr val="D2DBDA"/>
            </a:solidFill>
            <a:prstDash val="solid"/>
            <a:round/>
            <a:headEnd len="sm" w="sm" type="none"/>
            <a:tailEnd len="sm" w="sm" type="none"/>
          </a:ln>
        </p:spPr>
      </p:cxnSp>
      <p:sp>
        <p:nvSpPr>
          <p:cNvPr id="325" name="Google Shape;325;p12"/>
          <p:cNvSpPr/>
          <p:nvPr/>
        </p:nvSpPr>
        <p:spPr>
          <a:xfrm>
            <a:off x="813816" y="4654296"/>
            <a:ext cx="5230368" cy="6400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5A6A6F"/>
              </a:buClr>
              <a:buSzPts val="1000"/>
              <a:buFont typeface="Poppins"/>
              <a:buNone/>
            </a:pPr>
            <a:r>
              <a:rPr i="1" lang="en-US" sz="1000">
                <a:solidFill>
                  <a:srgbClr val="5A6A6F"/>
                </a:solidFill>
                <a:latin typeface="Poppins"/>
                <a:ea typeface="Poppins"/>
                <a:cs typeface="Poppins"/>
                <a:sym typeface="Poppins"/>
              </a:rPr>
              <a:t>No names needed on it unless you'd like to. We'll keep these — they help us support you well.</a:t>
            </a:r>
            <a:endParaRPr sz="1000">
              <a:solidFill>
                <a:schemeClr val="dk1"/>
              </a:solidFill>
              <a:latin typeface="Calibri"/>
              <a:ea typeface="Calibri"/>
              <a:cs typeface="Calibri"/>
              <a:sym typeface="Calibri"/>
            </a:endParaRPr>
          </a:p>
        </p:txBody>
      </p:sp>
      <p:sp>
        <p:nvSpPr>
          <p:cNvPr id="326" name="Google Shape;326;p12"/>
          <p:cNvSpPr/>
          <p:nvPr/>
        </p:nvSpPr>
        <p:spPr>
          <a:xfrm>
            <a:off x="6629400" y="1801368"/>
            <a:ext cx="5056632" cy="3383280"/>
          </a:xfrm>
          <a:prstGeom prst="roundRect">
            <a:avLst>
              <a:gd fmla="val 3243"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27" name="Google Shape;327;p12"/>
          <p:cNvPicPr preferRelativeResize="0"/>
          <p:nvPr/>
        </p:nvPicPr>
        <p:blipFill rotWithShape="1">
          <a:blip r:embed="rId3">
            <a:alphaModFix/>
          </a:blip>
          <a:srcRect b="0" l="0" r="0" t="0"/>
          <a:stretch/>
        </p:blipFill>
        <p:spPr>
          <a:xfrm>
            <a:off x="6922008" y="2112264"/>
            <a:ext cx="457200" cy="457200"/>
          </a:xfrm>
          <a:prstGeom prst="rect">
            <a:avLst/>
          </a:prstGeom>
          <a:noFill/>
          <a:ln>
            <a:noFill/>
          </a:ln>
        </p:spPr>
      </p:pic>
      <p:sp>
        <p:nvSpPr>
          <p:cNvPr id="328" name="Google Shape;328;p12"/>
          <p:cNvSpPr/>
          <p:nvPr/>
        </p:nvSpPr>
        <p:spPr>
          <a:xfrm>
            <a:off x="6922008" y="2642616"/>
            <a:ext cx="447141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500"/>
              <a:buFont typeface="Poppins SemiBold"/>
              <a:buNone/>
            </a:pPr>
            <a:r>
              <a:rPr lang="en-US" sz="1500">
                <a:solidFill>
                  <a:srgbClr val="0F7A54"/>
                </a:solidFill>
                <a:latin typeface="Poppins SemiBold"/>
                <a:ea typeface="Poppins SemiBold"/>
                <a:cs typeface="Poppins SemiBold"/>
                <a:sym typeface="Poppins SemiBold"/>
              </a:rPr>
              <a:t>This is your evidence too</a:t>
            </a:r>
            <a:endParaRPr sz="1500">
              <a:solidFill>
                <a:schemeClr val="dk1"/>
              </a:solidFill>
              <a:latin typeface="Calibri"/>
              <a:ea typeface="Calibri"/>
              <a:cs typeface="Calibri"/>
              <a:sym typeface="Calibri"/>
            </a:endParaRPr>
          </a:p>
        </p:txBody>
      </p:sp>
      <p:sp>
        <p:nvSpPr>
          <p:cNvPr id="329" name="Google Shape;329;p12"/>
          <p:cNvSpPr/>
          <p:nvPr/>
        </p:nvSpPr>
        <p:spPr>
          <a:xfrm>
            <a:off x="6922008" y="3099816"/>
            <a:ext cx="4471416" cy="19202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16242B"/>
              </a:buClr>
              <a:buSzPts val="1100"/>
              <a:buFont typeface="Poppins"/>
              <a:buNone/>
            </a:pPr>
            <a:r>
              <a:rPr lang="en-US" sz="1100">
                <a:solidFill>
                  <a:srgbClr val="16242B"/>
                </a:solidFill>
                <a:latin typeface="Poppins"/>
                <a:ea typeface="Poppins"/>
                <a:cs typeface="Poppins"/>
                <a:sym typeface="Poppins"/>
              </a:rPr>
              <a:t>These cards do two jobs. They give you a moment to reflect on a positive start — and they give us a simple, low-pressure way to see how the group is feeling and who might want a bit of early support.</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16242B"/>
              </a:buClr>
              <a:buSzPts val="1100"/>
              <a:buFont typeface="Poppins"/>
              <a:buNone/>
            </a:pPr>
            <a:r>
              <a:rPr lang="en-US" sz="1100">
                <a:solidFill>
                  <a:srgbClr val="16242B"/>
                </a:solidFill>
                <a:latin typeface="Poppins"/>
                <a:ea typeface="Poppins"/>
                <a:cs typeface="Poppins"/>
                <a:sym typeface="Poppins"/>
              </a:rPr>
              <a:t>Keep the completed cards. They are the light-touch record that this session happened and how students responded.</a:t>
            </a:r>
            <a:endParaRPr sz="1100">
              <a:solidFill>
                <a:schemeClr val="dk1"/>
              </a:solidFill>
              <a:latin typeface="Calibri"/>
              <a:ea typeface="Calibri"/>
              <a:cs typeface="Calibri"/>
              <a:sym typeface="Calibri"/>
            </a:endParaRPr>
          </a:p>
        </p:txBody>
      </p:sp>
      <p:sp>
        <p:nvSpPr>
          <p:cNvPr id="330" name="Google Shape;330;p12"/>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331" name="Google Shape;331;p12"/>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2"/>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Level 3/ T - Level  YR1  ·  SETTLING IN</a:t>
            </a:r>
            <a:endParaRPr sz="700">
              <a:solidFill>
                <a:schemeClr val="dk1"/>
              </a:solidFill>
              <a:latin typeface="Calibri"/>
              <a:ea typeface="Calibri"/>
              <a:cs typeface="Calibri"/>
              <a:sym typeface="Calibri"/>
            </a:endParaRPr>
          </a:p>
        </p:txBody>
      </p:sp>
      <p:sp>
        <p:nvSpPr>
          <p:cNvPr id="333" name="Google Shape;333;p12"/>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10</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9"/>
        </a:solidFill>
      </p:bgPr>
    </p:bg>
    <p:spTree>
      <p:nvGrpSpPr>
        <p:cNvPr id="338" name="Shape 338"/>
        <p:cNvGrpSpPr/>
        <p:nvPr/>
      </p:nvGrpSpPr>
      <p:grpSpPr>
        <a:xfrm>
          <a:off x="0" y="0"/>
          <a:ext cx="0" cy="0"/>
          <a:chOff x="0" y="0"/>
          <a:chExt cx="0" cy="0"/>
        </a:xfrm>
      </p:grpSpPr>
      <p:sp>
        <p:nvSpPr>
          <p:cNvPr id="339" name="Google Shape;339;p13"/>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3"/>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WRAPPING UP</a:t>
            </a:r>
            <a:endParaRPr sz="1100">
              <a:solidFill>
                <a:schemeClr val="dk1"/>
              </a:solidFill>
              <a:latin typeface="Calibri"/>
              <a:ea typeface="Calibri"/>
              <a:cs typeface="Calibri"/>
              <a:sym typeface="Calibri"/>
            </a:endParaRPr>
          </a:p>
        </p:txBody>
      </p:sp>
      <p:sp>
        <p:nvSpPr>
          <p:cNvPr id="341" name="Google Shape;341;p13"/>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What we've done &amp; what's next</a:t>
            </a:r>
            <a:endParaRPr sz="3000">
              <a:solidFill>
                <a:schemeClr val="dk1"/>
              </a:solidFill>
              <a:latin typeface="Calibri"/>
              <a:ea typeface="Calibri"/>
              <a:cs typeface="Calibri"/>
              <a:sym typeface="Calibri"/>
            </a:endParaRPr>
          </a:p>
        </p:txBody>
      </p:sp>
      <p:sp>
        <p:nvSpPr>
          <p:cNvPr id="342" name="Google Shape;342;p13"/>
          <p:cNvSpPr/>
          <p:nvPr/>
        </p:nvSpPr>
        <p:spPr>
          <a:xfrm>
            <a:off x="9494215" y="502920"/>
            <a:ext cx="2194560" cy="384048"/>
          </a:xfrm>
          <a:prstGeom prst="roundRect">
            <a:avLst>
              <a:gd fmla="val 50000" name="adj"/>
            </a:avLst>
          </a:prstGeom>
          <a:solidFill>
            <a:srgbClr val="0D2434"/>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13"/>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344" name="Google Shape;344;p13"/>
          <p:cNvSpPr/>
          <p:nvPr/>
        </p:nvSpPr>
        <p:spPr>
          <a:xfrm>
            <a:off x="502920" y="1755648"/>
            <a:ext cx="4572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TODAY YOU HAVE:</a:t>
            </a:r>
            <a:endParaRPr sz="1100">
              <a:solidFill>
                <a:schemeClr val="dk1"/>
              </a:solidFill>
              <a:latin typeface="Calibri"/>
              <a:ea typeface="Calibri"/>
              <a:cs typeface="Calibri"/>
              <a:sym typeface="Calibri"/>
            </a:endParaRPr>
          </a:p>
        </p:txBody>
      </p:sp>
      <p:pic>
        <p:nvPicPr>
          <p:cNvPr descr="preencoded.png" id="345" name="Google Shape;345;p13"/>
          <p:cNvPicPr preferRelativeResize="0"/>
          <p:nvPr/>
        </p:nvPicPr>
        <p:blipFill rotWithShape="1">
          <a:blip r:embed="rId3">
            <a:alphaModFix/>
          </a:blip>
          <a:srcRect b="0" l="0" r="0" t="0"/>
          <a:stretch/>
        </p:blipFill>
        <p:spPr>
          <a:xfrm>
            <a:off x="521208" y="2139696"/>
            <a:ext cx="237744" cy="237744"/>
          </a:xfrm>
          <a:prstGeom prst="rect">
            <a:avLst/>
          </a:prstGeom>
          <a:noFill/>
          <a:ln>
            <a:noFill/>
          </a:ln>
        </p:spPr>
      </p:pic>
      <p:sp>
        <p:nvSpPr>
          <p:cNvPr id="346" name="Google Shape;346;p13"/>
          <p:cNvSpPr/>
          <p:nvPr/>
        </p:nvSpPr>
        <p:spPr>
          <a:xfrm>
            <a:off x="868680" y="2057400"/>
            <a:ext cx="5669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42B"/>
              </a:buClr>
              <a:buSzPts val="1150"/>
              <a:buFont typeface="Poppins"/>
              <a:buNone/>
            </a:pPr>
            <a:r>
              <a:rPr lang="en-US" sz="1150">
                <a:solidFill>
                  <a:srgbClr val="16242B"/>
                </a:solidFill>
                <a:latin typeface="Poppins"/>
                <a:ea typeface="Poppins"/>
                <a:cs typeface="Poppins"/>
                <a:sym typeface="Poppins"/>
              </a:rPr>
              <a:t>Met your group and your teachers</a:t>
            </a:r>
            <a:endParaRPr sz="1150">
              <a:solidFill>
                <a:schemeClr val="dk1"/>
              </a:solidFill>
              <a:latin typeface="Calibri"/>
              <a:ea typeface="Calibri"/>
              <a:cs typeface="Calibri"/>
              <a:sym typeface="Calibri"/>
            </a:endParaRPr>
          </a:p>
        </p:txBody>
      </p:sp>
      <p:pic>
        <p:nvPicPr>
          <p:cNvPr descr="preencoded.png" id="347" name="Google Shape;347;p13"/>
          <p:cNvPicPr preferRelativeResize="0"/>
          <p:nvPr/>
        </p:nvPicPr>
        <p:blipFill rotWithShape="1">
          <a:blip r:embed="rId3">
            <a:alphaModFix/>
          </a:blip>
          <a:srcRect b="0" l="0" r="0" t="0"/>
          <a:stretch/>
        </p:blipFill>
        <p:spPr>
          <a:xfrm>
            <a:off x="521208" y="2560320"/>
            <a:ext cx="237744" cy="237744"/>
          </a:xfrm>
          <a:prstGeom prst="rect">
            <a:avLst/>
          </a:prstGeom>
          <a:noFill/>
          <a:ln>
            <a:noFill/>
          </a:ln>
        </p:spPr>
      </p:pic>
      <p:sp>
        <p:nvSpPr>
          <p:cNvPr id="348" name="Google Shape;348;p13"/>
          <p:cNvSpPr/>
          <p:nvPr/>
        </p:nvSpPr>
        <p:spPr>
          <a:xfrm>
            <a:off x="868680" y="2478024"/>
            <a:ext cx="5669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42B"/>
              </a:buClr>
              <a:buSzPts val="1150"/>
              <a:buFont typeface="Poppins"/>
              <a:buNone/>
            </a:pPr>
            <a:r>
              <a:rPr lang="en-US" sz="1150">
                <a:solidFill>
                  <a:srgbClr val="16242B"/>
                </a:solidFill>
                <a:latin typeface="Poppins"/>
                <a:ea typeface="Poppins"/>
                <a:cs typeface="Poppins"/>
                <a:sym typeface="Poppins"/>
              </a:rPr>
              <a:t>Seen what your study programme involves</a:t>
            </a:r>
            <a:endParaRPr sz="1150">
              <a:solidFill>
                <a:schemeClr val="dk1"/>
              </a:solidFill>
              <a:latin typeface="Calibri"/>
              <a:ea typeface="Calibri"/>
              <a:cs typeface="Calibri"/>
              <a:sym typeface="Calibri"/>
            </a:endParaRPr>
          </a:p>
        </p:txBody>
      </p:sp>
      <p:pic>
        <p:nvPicPr>
          <p:cNvPr descr="preencoded.png" id="349" name="Google Shape;349;p13"/>
          <p:cNvPicPr preferRelativeResize="0"/>
          <p:nvPr/>
        </p:nvPicPr>
        <p:blipFill rotWithShape="1">
          <a:blip r:embed="rId3">
            <a:alphaModFix/>
          </a:blip>
          <a:srcRect b="0" l="0" r="0" t="0"/>
          <a:stretch/>
        </p:blipFill>
        <p:spPr>
          <a:xfrm>
            <a:off x="521208" y="2980944"/>
            <a:ext cx="237744" cy="237744"/>
          </a:xfrm>
          <a:prstGeom prst="rect">
            <a:avLst/>
          </a:prstGeom>
          <a:noFill/>
          <a:ln>
            <a:noFill/>
          </a:ln>
        </p:spPr>
      </p:pic>
      <p:sp>
        <p:nvSpPr>
          <p:cNvPr id="350" name="Google Shape;350;p13"/>
          <p:cNvSpPr/>
          <p:nvPr/>
        </p:nvSpPr>
        <p:spPr>
          <a:xfrm>
            <a:off x="868680" y="2898648"/>
            <a:ext cx="5669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42B"/>
              </a:buClr>
              <a:buSzPts val="1150"/>
              <a:buFont typeface="Poppins"/>
              <a:buNone/>
            </a:pPr>
            <a:r>
              <a:rPr lang="en-US" sz="1150">
                <a:solidFill>
                  <a:srgbClr val="16242B"/>
                </a:solidFill>
                <a:latin typeface="Poppins"/>
                <a:ea typeface="Poppins"/>
                <a:cs typeface="Poppins"/>
                <a:sym typeface="Poppins"/>
              </a:rPr>
              <a:t>Got started with your timetable and Pro Portal</a:t>
            </a:r>
            <a:endParaRPr sz="1150">
              <a:solidFill>
                <a:schemeClr val="dk1"/>
              </a:solidFill>
              <a:latin typeface="Calibri"/>
              <a:ea typeface="Calibri"/>
              <a:cs typeface="Calibri"/>
              <a:sym typeface="Calibri"/>
            </a:endParaRPr>
          </a:p>
        </p:txBody>
      </p:sp>
      <p:pic>
        <p:nvPicPr>
          <p:cNvPr descr="preencoded.png" id="351" name="Google Shape;351;p13"/>
          <p:cNvPicPr preferRelativeResize="0"/>
          <p:nvPr/>
        </p:nvPicPr>
        <p:blipFill rotWithShape="1">
          <a:blip r:embed="rId3">
            <a:alphaModFix/>
          </a:blip>
          <a:srcRect b="0" l="0" r="0" t="0"/>
          <a:stretch/>
        </p:blipFill>
        <p:spPr>
          <a:xfrm>
            <a:off x="521208" y="3401568"/>
            <a:ext cx="237744" cy="237744"/>
          </a:xfrm>
          <a:prstGeom prst="rect">
            <a:avLst/>
          </a:prstGeom>
          <a:noFill/>
          <a:ln>
            <a:noFill/>
          </a:ln>
        </p:spPr>
      </p:pic>
      <p:sp>
        <p:nvSpPr>
          <p:cNvPr id="352" name="Google Shape;352;p13"/>
          <p:cNvSpPr/>
          <p:nvPr/>
        </p:nvSpPr>
        <p:spPr>
          <a:xfrm>
            <a:off x="868680" y="3319272"/>
            <a:ext cx="5669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42B"/>
              </a:buClr>
              <a:buSzPts val="1150"/>
              <a:buFont typeface="Poppins"/>
              <a:buNone/>
            </a:pPr>
            <a:r>
              <a:rPr lang="en-US" sz="1150">
                <a:solidFill>
                  <a:srgbClr val="16242B"/>
                </a:solidFill>
                <a:latin typeface="Poppins"/>
                <a:ea typeface="Poppins"/>
                <a:cs typeface="Poppins"/>
                <a:sym typeface="Poppins"/>
              </a:rPr>
              <a:t>Found out where to get support</a:t>
            </a:r>
            <a:endParaRPr sz="1150">
              <a:solidFill>
                <a:schemeClr val="dk1"/>
              </a:solidFill>
              <a:latin typeface="Calibri"/>
              <a:ea typeface="Calibri"/>
              <a:cs typeface="Calibri"/>
              <a:sym typeface="Calibri"/>
            </a:endParaRPr>
          </a:p>
        </p:txBody>
      </p:sp>
      <p:pic>
        <p:nvPicPr>
          <p:cNvPr descr="preencoded.png" id="353" name="Google Shape;353;p13"/>
          <p:cNvPicPr preferRelativeResize="0"/>
          <p:nvPr/>
        </p:nvPicPr>
        <p:blipFill rotWithShape="1">
          <a:blip r:embed="rId3">
            <a:alphaModFix/>
          </a:blip>
          <a:srcRect b="0" l="0" r="0" t="0"/>
          <a:stretch/>
        </p:blipFill>
        <p:spPr>
          <a:xfrm>
            <a:off x="521208" y="3822192"/>
            <a:ext cx="237744" cy="237744"/>
          </a:xfrm>
          <a:prstGeom prst="rect">
            <a:avLst/>
          </a:prstGeom>
          <a:noFill/>
          <a:ln>
            <a:noFill/>
          </a:ln>
        </p:spPr>
      </p:pic>
      <p:sp>
        <p:nvSpPr>
          <p:cNvPr id="354" name="Google Shape;354;p13"/>
          <p:cNvSpPr/>
          <p:nvPr/>
        </p:nvSpPr>
        <p:spPr>
          <a:xfrm>
            <a:off x="868680" y="3739896"/>
            <a:ext cx="5669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42B"/>
              </a:buClr>
              <a:buSzPts val="1150"/>
              <a:buFont typeface="Poppins"/>
              <a:buNone/>
            </a:pPr>
            <a:r>
              <a:rPr lang="en-US" sz="1150">
                <a:solidFill>
                  <a:srgbClr val="16242B"/>
                </a:solidFill>
                <a:latin typeface="Poppins"/>
                <a:ea typeface="Poppins"/>
                <a:cs typeface="Poppins"/>
                <a:sym typeface="Poppins"/>
              </a:rPr>
              <a:t>Heard what's on — enrichment and Freshers</a:t>
            </a:r>
            <a:endParaRPr sz="1150">
              <a:solidFill>
                <a:schemeClr val="dk1"/>
              </a:solidFill>
              <a:latin typeface="Calibri"/>
              <a:ea typeface="Calibri"/>
              <a:cs typeface="Calibri"/>
              <a:sym typeface="Calibri"/>
            </a:endParaRPr>
          </a:p>
        </p:txBody>
      </p:sp>
      <p:sp>
        <p:nvSpPr>
          <p:cNvPr id="355" name="Google Shape;355;p13"/>
          <p:cNvSpPr/>
          <p:nvPr/>
        </p:nvSpPr>
        <p:spPr>
          <a:xfrm>
            <a:off x="6766560" y="1755648"/>
            <a:ext cx="4919472" cy="2468880"/>
          </a:xfrm>
          <a:prstGeom prst="roundRect">
            <a:avLst>
              <a:gd fmla="val 4444" name="adj"/>
            </a:avLst>
          </a:prstGeom>
          <a:solidFill>
            <a:srgbClr val="0D2434"/>
          </a:solidFill>
          <a:ln>
            <a:noFill/>
          </a:ln>
          <a:effectLst>
            <a:outerShdw blurRad="762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56" name="Google Shape;356;p13"/>
          <p:cNvPicPr preferRelativeResize="0"/>
          <p:nvPr/>
        </p:nvPicPr>
        <p:blipFill rotWithShape="1">
          <a:blip r:embed="rId4">
            <a:alphaModFix/>
          </a:blip>
          <a:srcRect b="0" l="0" r="0" t="0"/>
          <a:stretch/>
        </p:blipFill>
        <p:spPr>
          <a:xfrm>
            <a:off x="7059168" y="2029968"/>
            <a:ext cx="420624" cy="420624"/>
          </a:xfrm>
          <a:prstGeom prst="rect">
            <a:avLst/>
          </a:prstGeom>
          <a:noFill/>
          <a:ln>
            <a:noFill/>
          </a:ln>
        </p:spPr>
      </p:pic>
      <p:sp>
        <p:nvSpPr>
          <p:cNvPr id="357" name="Google Shape;357;p13"/>
          <p:cNvSpPr/>
          <p:nvPr/>
        </p:nvSpPr>
        <p:spPr>
          <a:xfrm>
            <a:off x="7059168" y="2523744"/>
            <a:ext cx="433425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SemiBold"/>
              <a:buNone/>
            </a:pPr>
            <a:r>
              <a:rPr lang="en-US" sz="1600">
                <a:solidFill>
                  <a:srgbClr val="FFFFFF"/>
                </a:solidFill>
                <a:latin typeface="Poppins SemiBold"/>
                <a:ea typeface="Poppins SemiBold"/>
                <a:cs typeface="Poppins SemiBold"/>
                <a:sym typeface="Poppins SemiBold"/>
              </a:rPr>
              <a:t>What's next</a:t>
            </a:r>
            <a:endParaRPr sz="1600">
              <a:solidFill>
                <a:schemeClr val="dk1"/>
              </a:solidFill>
              <a:latin typeface="Calibri"/>
              <a:ea typeface="Calibri"/>
              <a:cs typeface="Calibri"/>
              <a:sym typeface="Calibri"/>
            </a:endParaRPr>
          </a:p>
        </p:txBody>
      </p:sp>
      <p:sp>
        <p:nvSpPr>
          <p:cNvPr id="358" name="Google Shape;358;p13"/>
          <p:cNvSpPr/>
          <p:nvPr/>
        </p:nvSpPr>
        <p:spPr>
          <a:xfrm>
            <a:off x="7059168" y="2944368"/>
            <a:ext cx="4334256" cy="118872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C7D0D3"/>
              </a:buClr>
              <a:buSzPts val="1150"/>
              <a:buFont typeface="Poppins Light"/>
              <a:buNone/>
            </a:pPr>
            <a:r>
              <a:rPr lang="en-US" sz="1150">
                <a:solidFill>
                  <a:srgbClr val="C7D0D3"/>
                </a:solidFill>
                <a:latin typeface="Poppins Light"/>
                <a:ea typeface="Poppins Light"/>
                <a:cs typeface="Poppins Light"/>
                <a:sym typeface="Poppins Light"/>
              </a:rPr>
              <a:t>Over the next three weeks you'll have more short induction sessions — staying safe, looking after yourself, and getting ready for your future. None of them are tests. They're here to help you settle and succeed.</a:t>
            </a:r>
            <a:endParaRPr sz="1150">
              <a:solidFill>
                <a:schemeClr val="dk1"/>
              </a:solidFill>
              <a:latin typeface="Calibri"/>
              <a:ea typeface="Calibri"/>
              <a:cs typeface="Calibri"/>
              <a:sym typeface="Calibri"/>
            </a:endParaRPr>
          </a:p>
        </p:txBody>
      </p:sp>
      <p:sp>
        <p:nvSpPr>
          <p:cNvPr id="359" name="Google Shape;359;p13"/>
          <p:cNvSpPr/>
          <p:nvPr/>
        </p:nvSpPr>
        <p:spPr>
          <a:xfrm>
            <a:off x="502920" y="4407408"/>
            <a:ext cx="11183112" cy="841248"/>
          </a:xfrm>
          <a:prstGeom prst="roundRect">
            <a:avLst>
              <a:gd fmla="val 10870"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3"/>
          <p:cNvSpPr/>
          <p:nvPr/>
        </p:nvSpPr>
        <p:spPr>
          <a:xfrm>
            <a:off x="502920" y="4407408"/>
            <a:ext cx="11183112"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600"/>
              <a:buFont typeface="Poppins SemiBold"/>
              <a:buNone/>
            </a:pPr>
            <a:r>
              <a:rPr lang="en-US" sz="1600">
                <a:solidFill>
                  <a:srgbClr val="0D2434"/>
                </a:solidFill>
                <a:latin typeface="Poppins SemiBold"/>
                <a:ea typeface="Poppins SemiBold"/>
                <a:cs typeface="Poppins SemiBold"/>
                <a:sym typeface="Poppins SemiBold"/>
              </a:rPr>
              <a:t>Welcome to East Sussex College. We're really glad you're here.</a:t>
            </a:r>
            <a:endParaRPr sz="1600">
              <a:solidFill>
                <a:schemeClr val="dk1"/>
              </a:solidFill>
              <a:latin typeface="Calibri"/>
              <a:ea typeface="Calibri"/>
              <a:cs typeface="Calibri"/>
              <a:sym typeface="Calibri"/>
            </a:endParaRPr>
          </a:p>
        </p:txBody>
      </p:sp>
      <p:sp>
        <p:nvSpPr>
          <p:cNvPr id="361" name="Google Shape;361;p13"/>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Belonging &amp; Support</a:t>
            </a:r>
            <a:endParaRPr sz="850">
              <a:solidFill>
                <a:schemeClr val="dk1"/>
              </a:solidFill>
              <a:latin typeface="Calibri"/>
              <a:ea typeface="Calibri"/>
              <a:cs typeface="Calibri"/>
              <a:sym typeface="Calibri"/>
            </a:endParaRPr>
          </a:p>
        </p:txBody>
      </p:sp>
      <p:sp>
        <p:nvSpPr>
          <p:cNvPr id="362" name="Google Shape;362;p13"/>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13"/>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Level 3/ T - Level  YR1  ·  SETTLING IN</a:t>
            </a:r>
            <a:endParaRPr sz="700">
              <a:solidFill>
                <a:schemeClr val="dk1"/>
              </a:solidFill>
              <a:latin typeface="Calibri"/>
              <a:ea typeface="Calibri"/>
              <a:cs typeface="Calibri"/>
              <a:sym typeface="Calibri"/>
            </a:endParaRPr>
          </a:p>
        </p:txBody>
      </p:sp>
      <p:sp>
        <p:nvSpPr>
          <p:cNvPr id="364" name="Google Shape;364;p13"/>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11</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369" name="Shape 369"/>
        <p:cNvGrpSpPr/>
        <p:nvPr/>
      </p:nvGrpSpPr>
      <p:grpSpPr>
        <a:xfrm>
          <a:off x="0" y="0"/>
          <a:ext cx="0" cy="0"/>
          <a:chOff x="0" y="0"/>
          <a:chExt cx="0" cy="0"/>
        </a:xfrm>
      </p:grpSpPr>
      <p:sp>
        <p:nvSpPr>
          <p:cNvPr id="370" name="Google Shape;370;p14"/>
          <p:cNvSpPr/>
          <p:nvPr/>
        </p:nvSpPr>
        <p:spPr>
          <a:xfrm>
            <a:off x="502920" y="548640"/>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4"/>
          <p:cNvSpPr/>
          <p:nvPr/>
        </p:nvSpPr>
        <p:spPr>
          <a:xfrm>
            <a:off x="841248" y="475488"/>
            <a:ext cx="10058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FOR THE TEACHER  ·  DO NOT DISPLAY TO STUDENTS</a:t>
            </a:r>
            <a:endParaRPr sz="1100">
              <a:solidFill>
                <a:schemeClr val="dk1"/>
              </a:solidFill>
              <a:latin typeface="Calibri"/>
              <a:ea typeface="Calibri"/>
              <a:cs typeface="Calibri"/>
              <a:sym typeface="Calibri"/>
            </a:endParaRPr>
          </a:p>
        </p:txBody>
      </p:sp>
      <p:sp>
        <p:nvSpPr>
          <p:cNvPr id="372" name="Google Shape;372;p14"/>
          <p:cNvSpPr/>
          <p:nvPr/>
        </p:nvSpPr>
        <p:spPr>
          <a:xfrm>
            <a:off x="475488" y="841248"/>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Module A — facilitation summary</a:t>
            </a:r>
            <a:endParaRPr sz="2600">
              <a:solidFill>
                <a:schemeClr val="dk1"/>
              </a:solidFill>
              <a:latin typeface="Calibri"/>
              <a:ea typeface="Calibri"/>
              <a:cs typeface="Calibri"/>
              <a:sym typeface="Calibri"/>
            </a:endParaRPr>
          </a:p>
        </p:txBody>
      </p:sp>
      <p:sp>
        <p:nvSpPr>
          <p:cNvPr id="373" name="Google Shape;373;p14"/>
          <p:cNvSpPr/>
          <p:nvPr/>
        </p:nvSpPr>
        <p:spPr>
          <a:xfrm>
            <a:off x="502920" y="1691640"/>
            <a:ext cx="5212080" cy="3657600"/>
          </a:xfrm>
          <a:prstGeom prst="roundRect">
            <a:avLst>
              <a:gd fmla="val 2500" name="adj"/>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4"/>
          <p:cNvSpPr/>
          <p:nvPr/>
        </p:nvSpPr>
        <p:spPr>
          <a:xfrm>
            <a:off x="777240" y="1892808"/>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RUNNING ORDER &amp; TIMINGS</a:t>
            </a:r>
            <a:endParaRPr sz="1100">
              <a:solidFill>
                <a:schemeClr val="dk1"/>
              </a:solidFill>
              <a:latin typeface="Calibri"/>
              <a:ea typeface="Calibri"/>
              <a:cs typeface="Calibri"/>
              <a:sym typeface="Calibri"/>
            </a:endParaRPr>
          </a:p>
        </p:txBody>
      </p:sp>
      <p:sp>
        <p:nvSpPr>
          <p:cNvPr id="375" name="Google Shape;375;p14"/>
          <p:cNvSpPr/>
          <p:nvPr/>
        </p:nvSpPr>
        <p:spPr>
          <a:xfrm>
            <a:off x="740664" y="2231136"/>
            <a:ext cx="548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1–2</a:t>
            </a:r>
            <a:endParaRPr sz="950">
              <a:solidFill>
                <a:schemeClr val="dk1"/>
              </a:solidFill>
              <a:latin typeface="Calibri"/>
              <a:ea typeface="Calibri"/>
              <a:cs typeface="Calibri"/>
              <a:sym typeface="Calibri"/>
            </a:endParaRPr>
          </a:p>
        </p:txBody>
      </p:sp>
      <p:sp>
        <p:nvSpPr>
          <p:cNvPr id="376" name="Google Shape;376;p14"/>
          <p:cNvSpPr/>
          <p:nvPr/>
        </p:nvSpPr>
        <p:spPr>
          <a:xfrm>
            <a:off x="1289304" y="2231136"/>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Welcome + session map</a:t>
            </a:r>
            <a:endParaRPr sz="970">
              <a:solidFill>
                <a:schemeClr val="dk1"/>
              </a:solidFill>
              <a:latin typeface="Calibri"/>
              <a:ea typeface="Calibri"/>
              <a:cs typeface="Calibri"/>
              <a:sym typeface="Calibri"/>
            </a:endParaRPr>
          </a:p>
        </p:txBody>
      </p:sp>
      <p:sp>
        <p:nvSpPr>
          <p:cNvPr id="377" name="Google Shape;377;p14"/>
          <p:cNvSpPr/>
          <p:nvPr/>
        </p:nvSpPr>
        <p:spPr>
          <a:xfrm>
            <a:off x="4800600" y="2231136"/>
            <a:ext cx="768096"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~4 min</a:t>
            </a:r>
            <a:endParaRPr sz="920">
              <a:solidFill>
                <a:schemeClr val="dk1"/>
              </a:solidFill>
              <a:latin typeface="Calibri"/>
              <a:ea typeface="Calibri"/>
              <a:cs typeface="Calibri"/>
              <a:sym typeface="Calibri"/>
            </a:endParaRPr>
          </a:p>
        </p:txBody>
      </p:sp>
      <p:sp>
        <p:nvSpPr>
          <p:cNvPr id="378" name="Google Shape;378;p14"/>
          <p:cNvSpPr/>
          <p:nvPr/>
        </p:nvSpPr>
        <p:spPr>
          <a:xfrm>
            <a:off x="667512" y="2542032"/>
            <a:ext cx="4882896" cy="310896"/>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4"/>
          <p:cNvSpPr/>
          <p:nvPr/>
        </p:nvSpPr>
        <p:spPr>
          <a:xfrm>
            <a:off x="740664" y="2542032"/>
            <a:ext cx="548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3</a:t>
            </a:r>
            <a:endParaRPr sz="950">
              <a:solidFill>
                <a:schemeClr val="dk1"/>
              </a:solidFill>
              <a:latin typeface="Calibri"/>
              <a:ea typeface="Calibri"/>
              <a:cs typeface="Calibri"/>
              <a:sym typeface="Calibri"/>
            </a:endParaRPr>
          </a:p>
        </p:txBody>
      </p:sp>
      <p:sp>
        <p:nvSpPr>
          <p:cNvPr id="380" name="Google Shape;380;p14"/>
          <p:cNvSpPr/>
          <p:nvPr/>
        </p:nvSpPr>
        <p:spPr>
          <a:xfrm>
            <a:off x="1289304" y="2542032"/>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Meet your group (activity)</a:t>
            </a:r>
            <a:endParaRPr sz="970">
              <a:solidFill>
                <a:schemeClr val="dk1"/>
              </a:solidFill>
              <a:latin typeface="Calibri"/>
              <a:ea typeface="Calibri"/>
              <a:cs typeface="Calibri"/>
              <a:sym typeface="Calibri"/>
            </a:endParaRPr>
          </a:p>
        </p:txBody>
      </p:sp>
      <p:sp>
        <p:nvSpPr>
          <p:cNvPr id="381" name="Google Shape;381;p14"/>
          <p:cNvSpPr/>
          <p:nvPr/>
        </p:nvSpPr>
        <p:spPr>
          <a:xfrm>
            <a:off x="4800600" y="2542032"/>
            <a:ext cx="768096"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~10 min</a:t>
            </a:r>
            <a:endParaRPr sz="920">
              <a:solidFill>
                <a:schemeClr val="dk1"/>
              </a:solidFill>
              <a:latin typeface="Calibri"/>
              <a:ea typeface="Calibri"/>
              <a:cs typeface="Calibri"/>
              <a:sym typeface="Calibri"/>
            </a:endParaRPr>
          </a:p>
        </p:txBody>
      </p:sp>
      <p:sp>
        <p:nvSpPr>
          <p:cNvPr id="382" name="Google Shape;382;p14"/>
          <p:cNvSpPr/>
          <p:nvPr/>
        </p:nvSpPr>
        <p:spPr>
          <a:xfrm>
            <a:off x="740664" y="2852928"/>
            <a:ext cx="548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4</a:t>
            </a:r>
            <a:endParaRPr sz="950">
              <a:solidFill>
                <a:schemeClr val="dk1"/>
              </a:solidFill>
              <a:latin typeface="Calibri"/>
              <a:ea typeface="Calibri"/>
              <a:cs typeface="Calibri"/>
              <a:sym typeface="Calibri"/>
            </a:endParaRPr>
          </a:p>
        </p:txBody>
      </p:sp>
      <p:sp>
        <p:nvSpPr>
          <p:cNvPr id="383" name="Google Shape;383;p14"/>
          <p:cNvSpPr/>
          <p:nvPr/>
        </p:nvSpPr>
        <p:spPr>
          <a:xfrm>
            <a:off x="1289304" y="2852928"/>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Meet your teachers</a:t>
            </a:r>
            <a:endParaRPr sz="970">
              <a:solidFill>
                <a:schemeClr val="dk1"/>
              </a:solidFill>
              <a:latin typeface="Calibri"/>
              <a:ea typeface="Calibri"/>
              <a:cs typeface="Calibri"/>
              <a:sym typeface="Calibri"/>
            </a:endParaRPr>
          </a:p>
        </p:txBody>
      </p:sp>
      <p:sp>
        <p:nvSpPr>
          <p:cNvPr id="384" name="Google Shape;384;p14"/>
          <p:cNvSpPr/>
          <p:nvPr/>
        </p:nvSpPr>
        <p:spPr>
          <a:xfrm>
            <a:off x="4800600" y="2852928"/>
            <a:ext cx="768096"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~4 min</a:t>
            </a:r>
            <a:endParaRPr sz="920">
              <a:solidFill>
                <a:schemeClr val="dk1"/>
              </a:solidFill>
              <a:latin typeface="Calibri"/>
              <a:ea typeface="Calibri"/>
              <a:cs typeface="Calibri"/>
              <a:sym typeface="Calibri"/>
            </a:endParaRPr>
          </a:p>
        </p:txBody>
      </p:sp>
      <p:sp>
        <p:nvSpPr>
          <p:cNvPr id="385" name="Google Shape;385;p14"/>
          <p:cNvSpPr/>
          <p:nvPr/>
        </p:nvSpPr>
        <p:spPr>
          <a:xfrm>
            <a:off x="667512" y="3163824"/>
            <a:ext cx="4882896" cy="310896"/>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4"/>
          <p:cNvSpPr/>
          <p:nvPr/>
        </p:nvSpPr>
        <p:spPr>
          <a:xfrm>
            <a:off x="740664" y="3163824"/>
            <a:ext cx="548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5</a:t>
            </a:r>
            <a:endParaRPr sz="950">
              <a:solidFill>
                <a:schemeClr val="dk1"/>
              </a:solidFill>
              <a:latin typeface="Calibri"/>
              <a:ea typeface="Calibri"/>
              <a:cs typeface="Calibri"/>
              <a:sym typeface="Calibri"/>
            </a:endParaRPr>
          </a:p>
        </p:txBody>
      </p:sp>
      <p:sp>
        <p:nvSpPr>
          <p:cNvPr id="387" name="Google Shape;387;p14"/>
          <p:cNvSpPr/>
          <p:nvPr/>
        </p:nvSpPr>
        <p:spPr>
          <a:xfrm>
            <a:off x="1289304" y="3163824"/>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Your study programme</a:t>
            </a:r>
            <a:endParaRPr sz="970">
              <a:solidFill>
                <a:schemeClr val="dk1"/>
              </a:solidFill>
              <a:latin typeface="Calibri"/>
              <a:ea typeface="Calibri"/>
              <a:cs typeface="Calibri"/>
              <a:sym typeface="Calibri"/>
            </a:endParaRPr>
          </a:p>
        </p:txBody>
      </p:sp>
      <p:sp>
        <p:nvSpPr>
          <p:cNvPr id="388" name="Google Shape;388;p14"/>
          <p:cNvSpPr/>
          <p:nvPr/>
        </p:nvSpPr>
        <p:spPr>
          <a:xfrm>
            <a:off x="4800600" y="3163824"/>
            <a:ext cx="768096"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~5 min</a:t>
            </a:r>
            <a:endParaRPr sz="920">
              <a:solidFill>
                <a:schemeClr val="dk1"/>
              </a:solidFill>
              <a:latin typeface="Calibri"/>
              <a:ea typeface="Calibri"/>
              <a:cs typeface="Calibri"/>
              <a:sym typeface="Calibri"/>
            </a:endParaRPr>
          </a:p>
        </p:txBody>
      </p:sp>
      <p:sp>
        <p:nvSpPr>
          <p:cNvPr id="389" name="Google Shape;389;p14"/>
          <p:cNvSpPr/>
          <p:nvPr/>
        </p:nvSpPr>
        <p:spPr>
          <a:xfrm>
            <a:off x="740664" y="3474720"/>
            <a:ext cx="548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6</a:t>
            </a:r>
            <a:endParaRPr sz="950">
              <a:solidFill>
                <a:schemeClr val="dk1"/>
              </a:solidFill>
              <a:latin typeface="Calibri"/>
              <a:ea typeface="Calibri"/>
              <a:cs typeface="Calibri"/>
              <a:sym typeface="Calibri"/>
            </a:endParaRPr>
          </a:p>
        </p:txBody>
      </p:sp>
      <p:sp>
        <p:nvSpPr>
          <p:cNvPr id="390" name="Google Shape;390;p14"/>
          <p:cNvSpPr/>
          <p:nvPr/>
        </p:nvSpPr>
        <p:spPr>
          <a:xfrm>
            <a:off x="1289304" y="3474720"/>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Timetable &amp; Pro Portal</a:t>
            </a:r>
            <a:endParaRPr sz="970">
              <a:solidFill>
                <a:schemeClr val="dk1"/>
              </a:solidFill>
              <a:latin typeface="Calibri"/>
              <a:ea typeface="Calibri"/>
              <a:cs typeface="Calibri"/>
              <a:sym typeface="Calibri"/>
            </a:endParaRPr>
          </a:p>
        </p:txBody>
      </p:sp>
      <p:sp>
        <p:nvSpPr>
          <p:cNvPr id="391" name="Google Shape;391;p14"/>
          <p:cNvSpPr/>
          <p:nvPr/>
        </p:nvSpPr>
        <p:spPr>
          <a:xfrm>
            <a:off x="4800600" y="3474720"/>
            <a:ext cx="768096"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~7 min</a:t>
            </a:r>
            <a:endParaRPr sz="920">
              <a:solidFill>
                <a:schemeClr val="dk1"/>
              </a:solidFill>
              <a:latin typeface="Calibri"/>
              <a:ea typeface="Calibri"/>
              <a:cs typeface="Calibri"/>
              <a:sym typeface="Calibri"/>
            </a:endParaRPr>
          </a:p>
        </p:txBody>
      </p:sp>
      <p:sp>
        <p:nvSpPr>
          <p:cNvPr id="392" name="Google Shape;392;p14"/>
          <p:cNvSpPr/>
          <p:nvPr/>
        </p:nvSpPr>
        <p:spPr>
          <a:xfrm>
            <a:off x="667512" y="3785616"/>
            <a:ext cx="4882896" cy="310896"/>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4"/>
          <p:cNvSpPr/>
          <p:nvPr/>
        </p:nvSpPr>
        <p:spPr>
          <a:xfrm>
            <a:off x="740664" y="3785616"/>
            <a:ext cx="548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7</a:t>
            </a:r>
            <a:endParaRPr sz="950">
              <a:solidFill>
                <a:schemeClr val="dk1"/>
              </a:solidFill>
              <a:latin typeface="Calibri"/>
              <a:ea typeface="Calibri"/>
              <a:cs typeface="Calibri"/>
              <a:sym typeface="Calibri"/>
            </a:endParaRPr>
          </a:p>
        </p:txBody>
      </p:sp>
      <p:sp>
        <p:nvSpPr>
          <p:cNvPr id="394" name="Google Shape;394;p14"/>
          <p:cNvSpPr/>
          <p:nvPr/>
        </p:nvSpPr>
        <p:spPr>
          <a:xfrm>
            <a:off x="1289304" y="3785616"/>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Discussion: hopes &amp; worries</a:t>
            </a:r>
            <a:endParaRPr sz="970">
              <a:solidFill>
                <a:schemeClr val="dk1"/>
              </a:solidFill>
              <a:latin typeface="Calibri"/>
              <a:ea typeface="Calibri"/>
              <a:cs typeface="Calibri"/>
              <a:sym typeface="Calibri"/>
            </a:endParaRPr>
          </a:p>
        </p:txBody>
      </p:sp>
      <p:sp>
        <p:nvSpPr>
          <p:cNvPr id="395" name="Google Shape;395;p14"/>
          <p:cNvSpPr/>
          <p:nvPr/>
        </p:nvSpPr>
        <p:spPr>
          <a:xfrm>
            <a:off x="4800600" y="3785616"/>
            <a:ext cx="768096"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~8 min</a:t>
            </a:r>
            <a:endParaRPr sz="920">
              <a:solidFill>
                <a:schemeClr val="dk1"/>
              </a:solidFill>
              <a:latin typeface="Calibri"/>
              <a:ea typeface="Calibri"/>
              <a:cs typeface="Calibri"/>
              <a:sym typeface="Calibri"/>
            </a:endParaRPr>
          </a:p>
        </p:txBody>
      </p:sp>
      <p:sp>
        <p:nvSpPr>
          <p:cNvPr id="396" name="Google Shape;396;p14"/>
          <p:cNvSpPr/>
          <p:nvPr/>
        </p:nvSpPr>
        <p:spPr>
          <a:xfrm>
            <a:off x="740664" y="4096512"/>
            <a:ext cx="548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8</a:t>
            </a:r>
            <a:endParaRPr sz="950">
              <a:solidFill>
                <a:schemeClr val="dk1"/>
              </a:solidFill>
              <a:latin typeface="Calibri"/>
              <a:ea typeface="Calibri"/>
              <a:cs typeface="Calibri"/>
              <a:sym typeface="Calibri"/>
            </a:endParaRPr>
          </a:p>
        </p:txBody>
      </p:sp>
      <p:sp>
        <p:nvSpPr>
          <p:cNvPr id="397" name="Google Shape;397;p14"/>
          <p:cNvSpPr/>
          <p:nvPr/>
        </p:nvSpPr>
        <p:spPr>
          <a:xfrm>
            <a:off x="1289304" y="4096512"/>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Support at college</a:t>
            </a:r>
            <a:endParaRPr sz="970">
              <a:solidFill>
                <a:schemeClr val="dk1"/>
              </a:solidFill>
              <a:latin typeface="Calibri"/>
              <a:ea typeface="Calibri"/>
              <a:cs typeface="Calibri"/>
              <a:sym typeface="Calibri"/>
            </a:endParaRPr>
          </a:p>
        </p:txBody>
      </p:sp>
      <p:sp>
        <p:nvSpPr>
          <p:cNvPr id="398" name="Google Shape;398;p14"/>
          <p:cNvSpPr/>
          <p:nvPr/>
        </p:nvSpPr>
        <p:spPr>
          <a:xfrm>
            <a:off x="4800600" y="4096512"/>
            <a:ext cx="768096"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~6 min</a:t>
            </a:r>
            <a:endParaRPr sz="920">
              <a:solidFill>
                <a:schemeClr val="dk1"/>
              </a:solidFill>
              <a:latin typeface="Calibri"/>
              <a:ea typeface="Calibri"/>
              <a:cs typeface="Calibri"/>
              <a:sym typeface="Calibri"/>
            </a:endParaRPr>
          </a:p>
        </p:txBody>
      </p:sp>
      <p:sp>
        <p:nvSpPr>
          <p:cNvPr id="399" name="Google Shape;399;p14"/>
          <p:cNvSpPr/>
          <p:nvPr/>
        </p:nvSpPr>
        <p:spPr>
          <a:xfrm>
            <a:off x="667512" y="4407408"/>
            <a:ext cx="4882896" cy="310896"/>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4"/>
          <p:cNvSpPr/>
          <p:nvPr/>
        </p:nvSpPr>
        <p:spPr>
          <a:xfrm>
            <a:off x="740664" y="4407408"/>
            <a:ext cx="548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9</a:t>
            </a:r>
            <a:endParaRPr sz="950">
              <a:solidFill>
                <a:schemeClr val="dk1"/>
              </a:solidFill>
              <a:latin typeface="Calibri"/>
              <a:ea typeface="Calibri"/>
              <a:cs typeface="Calibri"/>
              <a:sym typeface="Calibri"/>
            </a:endParaRPr>
          </a:p>
        </p:txBody>
      </p:sp>
      <p:sp>
        <p:nvSpPr>
          <p:cNvPr id="401" name="Google Shape;401;p14"/>
          <p:cNvSpPr/>
          <p:nvPr/>
        </p:nvSpPr>
        <p:spPr>
          <a:xfrm>
            <a:off x="1289304" y="4407408"/>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Enrichment &amp; Freshers</a:t>
            </a:r>
            <a:endParaRPr sz="970">
              <a:solidFill>
                <a:schemeClr val="dk1"/>
              </a:solidFill>
              <a:latin typeface="Calibri"/>
              <a:ea typeface="Calibri"/>
              <a:cs typeface="Calibri"/>
              <a:sym typeface="Calibri"/>
            </a:endParaRPr>
          </a:p>
        </p:txBody>
      </p:sp>
      <p:sp>
        <p:nvSpPr>
          <p:cNvPr id="402" name="Google Shape;402;p14"/>
          <p:cNvSpPr/>
          <p:nvPr/>
        </p:nvSpPr>
        <p:spPr>
          <a:xfrm>
            <a:off x="4800600" y="4407408"/>
            <a:ext cx="768096"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~5 min</a:t>
            </a:r>
            <a:endParaRPr sz="920">
              <a:solidFill>
                <a:schemeClr val="dk1"/>
              </a:solidFill>
              <a:latin typeface="Calibri"/>
              <a:ea typeface="Calibri"/>
              <a:cs typeface="Calibri"/>
              <a:sym typeface="Calibri"/>
            </a:endParaRPr>
          </a:p>
        </p:txBody>
      </p:sp>
      <p:sp>
        <p:nvSpPr>
          <p:cNvPr id="403" name="Google Shape;403;p14"/>
          <p:cNvSpPr/>
          <p:nvPr/>
        </p:nvSpPr>
        <p:spPr>
          <a:xfrm>
            <a:off x="740664" y="4718304"/>
            <a:ext cx="548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10</a:t>
            </a:r>
            <a:endParaRPr sz="950">
              <a:solidFill>
                <a:schemeClr val="dk1"/>
              </a:solidFill>
              <a:latin typeface="Calibri"/>
              <a:ea typeface="Calibri"/>
              <a:cs typeface="Calibri"/>
              <a:sym typeface="Calibri"/>
            </a:endParaRPr>
          </a:p>
        </p:txBody>
      </p:sp>
      <p:sp>
        <p:nvSpPr>
          <p:cNvPr id="404" name="Google Shape;404;p14"/>
          <p:cNvSpPr/>
          <p:nvPr/>
        </p:nvSpPr>
        <p:spPr>
          <a:xfrm>
            <a:off x="1289304" y="4718304"/>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'One Thing' activity</a:t>
            </a:r>
            <a:endParaRPr sz="970">
              <a:solidFill>
                <a:schemeClr val="dk1"/>
              </a:solidFill>
              <a:latin typeface="Calibri"/>
              <a:ea typeface="Calibri"/>
              <a:cs typeface="Calibri"/>
              <a:sym typeface="Calibri"/>
            </a:endParaRPr>
          </a:p>
        </p:txBody>
      </p:sp>
      <p:sp>
        <p:nvSpPr>
          <p:cNvPr id="405" name="Google Shape;405;p14"/>
          <p:cNvSpPr/>
          <p:nvPr/>
        </p:nvSpPr>
        <p:spPr>
          <a:xfrm>
            <a:off x="4800600" y="4718304"/>
            <a:ext cx="768096"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~7 min</a:t>
            </a:r>
            <a:endParaRPr sz="920">
              <a:solidFill>
                <a:schemeClr val="dk1"/>
              </a:solidFill>
              <a:latin typeface="Calibri"/>
              <a:ea typeface="Calibri"/>
              <a:cs typeface="Calibri"/>
              <a:sym typeface="Calibri"/>
            </a:endParaRPr>
          </a:p>
        </p:txBody>
      </p:sp>
      <p:sp>
        <p:nvSpPr>
          <p:cNvPr id="406" name="Google Shape;406;p14"/>
          <p:cNvSpPr/>
          <p:nvPr/>
        </p:nvSpPr>
        <p:spPr>
          <a:xfrm>
            <a:off x="667512" y="5029200"/>
            <a:ext cx="4882896" cy="310896"/>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4"/>
          <p:cNvSpPr/>
          <p:nvPr/>
        </p:nvSpPr>
        <p:spPr>
          <a:xfrm>
            <a:off x="740664" y="5029200"/>
            <a:ext cx="548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11</a:t>
            </a:r>
            <a:endParaRPr sz="950">
              <a:solidFill>
                <a:schemeClr val="dk1"/>
              </a:solidFill>
              <a:latin typeface="Calibri"/>
              <a:ea typeface="Calibri"/>
              <a:cs typeface="Calibri"/>
              <a:sym typeface="Calibri"/>
            </a:endParaRPr>
          </a:p>
        </p:txBody>
      </p:sp>
      <p:sp>
        <p:nvSpPr>
          <p:cNvPr id="408" name="Google Shape;408;p14"/>
          <p:cNvSpPr/>
          <p:nvPr/>
        </p:nvSpPr>
        <p:spPr>
          <a:xfrm>
            <a:off x="1289304" y="5029200"/>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Recap &amp; close</a:t>
            </a:r>
            <a:endParaRPr sz="970">
              <a:solidFill>
                <a:schemeClr val="dk1"/>
              </a:solidFill>
              <a:latin typeface="Calibri"/>
              <a:ea typeface="Calibri"/>
              <a:cs typeface="Calibri"/>
              <a:sym typeface="Calibri"/>
            </a:endParaRPr>
          </a:p>
        </p:txBody>
      </p:sp>
      <p:sp>
        <p:nvSpPr>
          <p:cNvPr id="409" name="Google Shape;409;p14"/>
          <p:cNvSpPr/>
          <p:nvPr/>
        </p:nvSpPr>
        <p:spPr>
          <a:xfrm>
            <a:off x="4800600" y="5029200"/>
            <a:ext cx="768096"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~3 min</a:t>
            </a:r>
            <a:endParaRPr sz="920">
              <a:solidFill>
                <a:schemeClr val="dk1"/>
              </a:solidFill>
              <a:latin typeface="Calibri"/>
              <a:ea typeface="Calibri"/>
              <a:cs typeface="Calibri"/>
              <a:sym typeface="Calibri"/>
            </a:endParaRPr>
          </a:p>
        </p:txBody>
      </p:sp>
      <p:sp>
        <p:nvSpPr>
          <p:cNvPr id="410" name="Google Shape;410;p14"/>
          <p:cNvSpPr/>
          <p:nvPr/>
        </p:nvSpPr>
        <p:spPr>
          <a:xfrm>
            <a:off x="5989320" y="1691640"/>
            <a:ext cx="5696712" cy="1783080"/>
          </a:xfrm>
          <a:prstGeom prst="roundRect">
            <a:avLst>
              <a:gd fmla="val 5128" name="adj"/>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4"/>
          <p:cNvSpPr/>
          <p:nvPr/>
        </p:nvSpPr>
        <p:spPr>
          <a:xfrm>
            <a:off x="6263640" y="1874520"/>
            <a:ext cx="51480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BEFORE YOU TEACH — CHECKLIST</a:t>
            </a:r>
            <a:endParaRPr sz="1100">
              <a:solidFill>
                <a:schemeClr val="dk1"/>
              </a:solidFill>
              <a:latin typeface="Calibri"/>
              <a:ea typeface="Calibri"/>
              <a:cs typeface="Calibri"/>
              <a:sym typeface="Calibri"/>
            </a:endParaRPr>
          </a:p>
        </p:txBody>
      </p:sp>
      <p:sp>
        <p:nvSpPr>
          <p:cNvPr id="412" name="Google Shape;412;p14"/>
          <p:cNvSpPr/>
          <p:nvPr/>
        </p:nvSpPr>
        <p:spPr>
          <a:xfrm>
            <a:off x="6263640" y="2231136"/>
            <a:ext cx="146304" cy="146304"/>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4"/>
          <p:cNvSpPr/>
          <p:nvPr/>
        </p:nvSpPr>
        <p:spPr>
          <a:xfrm>
            <a:off x="6519672" y="2139696"/>
            <a:ext cx="4873752" cy="365760"/>
          </a:xfrm>
          <a:prstGeom prst="rect">
            <a:avLst/>
          </a:prstGeom>
          <a:noFill/>
          <a:ln>
            <a:noFill/>
          </a:ln>
        </p:spPr>
        <p:txBody>
          <a:bodyPr anchorCtr="0" anchor="t" bIns="0" lIns="0" spcFirstLastPara="1" rIns="0" wrap="square" tIns="0">
            <a:noAutofit/>
          </a:bodyPr>
          <a:lstStyle/>
          <a:p>
            <a:pPr indent="0" lvl="0" marL="0" marR="0" rtl="0" algn="l">
              <a:lnSpc>
                <a:spcPct val="123711"/>
              </a:lnSpc>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Replace all four [ESCG TO CONFIRM] panels — including the exact qualification title and any key grade thresholds (e.g. Merit/Distinction for Level 3 progression, T Level ESP, Unit 8 graded project)</a:t>
            </a:r>
            <a:endParaRPr sz="970">
              <a:solidFill>
                <a:schemeClr val="dk1"/>
              </a:solidFill>
              <a:latin typeface="Calibri"/>
              <a:ea typeface="Calibri"/>
              <a:cs typeface="Calibri"/>
              <a:sym typeface="Calibri"/>
            </a:endParaRPr>
          </a:p>
        </p:txBody>
      </p:sp>
      <p:sp>
        <p:nvSpPr>
          <p:cNvPr id="414" name="Google Shape;414;p14"/>
          <p:cNvSpPr/>
          <p:nvPr/>
        </p:nvSpPr>
        <p:spPr>
          <a:xfrm>
            <a:off x="6263640" y="2542032"/>
            <a:ext cx="146304" cy="146304"/>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4"/>
          <p:cNvSpPr/>
          <p:nvPr/>
        </p:nvSpPr>
        <p:spPr>
          <a:xfrm>
            <a:off x="6519672" y="2450592"/>
            <a:ext cx="4873752" cy="365760"/>
          </a:xfrm>
          <a:prstGeom prst="rect">
            <a:avLst/>
          </a:prstGeom>
          <a:noFill/>
          <a:ln>
            <a:noFill/>
          </a:ln>
        </p:spPr>
        <p:txBody>
          <a:bodyPr anchorCtr="0" anchor="t" bIns="0" lIns="0" spcFirstLastPara="1" rIns="0" wrap="square" tIns="0">
            <a:noAutofit/>
          </a:bodyPr>
          <a:lstStyle/>
          <a:p>
            <a:pPr indent="0" lvl="0" marL="0" marR="0" rtl="0" algn="l">
              <a:lnSpc>
                <a:spcPct val="123711"/>
              </a:lnSpc>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Print index cards / sticky notes + pens for the 'One Thing' activity</a:t>
            </a:r>
            <a:endParaRPr sz="970">
              <a:solidFill>
                <a:schemeClr val="dk1"/>
              </a:solidFill>
              <a:latin typeface="Calibri"/>
              <a:ea typeface="Calibri"/>
              <a:cs typeface="Calibri"/>
              <a:sym typeface="Calibri"/>
            </a:endParaRPr>
          </a:p>
        </p:txBody>
      </p:sp>
      <p:sp>
        <p:nvSpPr>
          <p:cNvPr id="416" name="Google Shape;416;p14"/>
          <p:cNvSpPr/>
          <p:nvPr/>
        </p:nvSpPr>
        <p:spPr>
          <a:xfrm>
            <a:off x="6263640" y="2852928"/>
            <a:ext cx="146304" cy="146304"/>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4"/>
          <p:cNvSpPr/>
          <p:nvPr/>
        </p:nvSpPr>
        <p:spPr>
          <a:xfrm>
            <a:off x="6519672" y="2761488"/>
            <a:ext cx="4873752" cy="365760"/>
          </a:xfrm>
          <a:prstGeom prst="rect">
            <a:avLst/>
          </a:prstGeom>
          <a:noFill/>
          <a:ln>
            <a:noFill/>
          </a:ln>
        </p:spPr>
        <p:txBody>
          <a:bodyPr anchorCtr="0" anchor="t" bIns="0" lIns="0" spcFirstLastPara="1" rIns="0" wrap="square" tIns="0">
            <a:noAutofit/>
          </a:bodyPr>
          <a:lstStyle/>
          <a:p>
            <a:pPr indent="0" lvl="0" marL="0" marR="0" rtl="0" algn="l">
              <a:lnSpc>
                <a:spcPct val="123711"/>
              </a:lnSpc>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Check you can log in to Pro Portal to demonstrate it</a:t>
            </a:r>
            <a:endParaRPr sz="970">
              <a:solidFill>
                <a:schemeClr val="dk1"/>
              </a:solidFill>
              <a:latin typeface="Calibri"/>
              <a:ea typeface="Calibri"/>
              <a:cs typeface="Calibri"/>
              <a:sym typeface="Calibri"/>
            </a:endParaRPr>
          </a:p>
        </p:txBody>
      </p:sp>
      <p:sp>
        <p:nvSpPr>
          <p:cNvPr id="418" name="Google Shape;418;p14"/>
          <p:cNvSpPr/>
          <p:nvPr/>
        </p:nvSpPr>
        <p:spPr>
          <a:xfrm>
            <a:off x="6263640" y="3163824"/>
            <a:ext cx="146304" cy="146304"/>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4"/>
          <p:cNvSpPr/>
          <p:nvPr/>
        </p:nvSpPr>
        <p:spPr>
          <a:xfrm>
            <a:off x="6519672" y="3072384"/>
            <a:ext cx="4873752" cy="365760"/>
          </a:xfrm>
          <a:prstGeom prst="rect">
            <a:avLst/>
          </a:prstGeom>
          <a:noFill/>
          <a:ln>
            <a:noFill/>
          </a:ln>
        </p:spPr>
        <p:txBody>
          <a:bodyPr anchorCtr="0" anchor="t" bIns="0" lIns="0" spcFirstLastPara="1" rIns="0" wrap="square" tIns="0">
            <a:noAutofit/>
          </a:bodyPr>
          <a:lstStyle/>
          <a:p>
            <a:pPr indent="0" lvl="0" marL="0" marR="0" rtl="0" algn="l">
              <a:lnSpc>
                <a:spcPct val="123711"/>
              </a:lnSpc>
              <a:spcBef>
                <a:spcPts val="0"/>
              </a:spcBef>
              <a:spcAft>
                <a:spcPts val="0"/>
              </a:spcAft>
              <a:buClr>
                <a:srgbClr val="FFFFFF"/>
              </a:buClr>
              <a:buSzPts val="970"/>
              <a:buFont typeface="Poppins"/>
              <a:buNone/>
            </a:pPr>
            <a:r>
              <a:rPr lang="en-US" sz="970">
                <a:solidFill>
                  <a:srgbClr val="FFFFFF"/>
                </a:solidFill>
                <a:latin typeface="Poppins"/>
                <a:ea typeface="Poppins"/>
                <a:cs typeface="Poppins"/>
                <a:sym typeface="Poppins"/>
              </a:rPr>
              <a:t>Know your campus Safeguarding lead's name and location</a:t>
            </a:r>
            <a:endParaRPr sz="970">
              <a:solidFill>
                <a:schemeClr val="dk1"/>
              </a:solidFill>
              <a:latin typeface="Calibri"/>
              <a:ea typeface="Calibri"/>
              <a:cs typeface="Calibri"/>
              <a:sym typeface="Calibri"/>
            </a:endParaRPr>
          </a:p>
        </p:txBody>
      </p:sp>
      <p:sp>
        <p:nvSpPr>
          <p:cNvPr id="420" name="Google Shape;420;p14"/>
          <p:cNvSpPr/>
          <p:nvPr/>
        </p:nvSpPr>
        <p:spPr>
          <a:xfrm>
            <a:off x="5989320" y="3657600"/>
            <a:ext cx="5696712" cy="1691640"/>
          </a:xfrm>
          <a:prstGeom prst="roundRect">
            <a:avLst>
              <a:gd fmla="val 5405"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4"/>
          <p:cNvSpPr/>
          <p:nvPr/>
        </p:nvSpPr>
        <p:spPr>
          <a:xfrm>
            <a:off x="6263640" y="3840480"/>
            <a:ext cx="51480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IF A STUDENT DISCLOSES SOMETHING</a:t>
            </a:r>
            <a:endParaRPr sz="1100">
              <a:solidFill>
                <a:schemeClr val="dk1"/>
              </a:solidFill>
              <a:latin typeface="Calibri"/>
              <a:ea typeface="Calibri"/>
              <a:cs typeface="Calibri"/>
              <a:sym typeface="Calibri"/>
            </a:endParaRPr>
          </a:p>
        </p:txBody>
      </p:sp>
      <p:sp>
        <p:nvSpPr>
          <p:cNvPr id="422" name="Google Shape;422;p14"/>
          <p:cNvSpPr/>
          <p:nvPr/>
        </p:nvSpPr>
        <p:spPr>
          <a:xfrm>
            <a:off x="6263640" y="4151376"/>
            <a:ext cx="5148072" cy="1097280"/>
          </a:xfrm>
          <a:prstGeom prst="rect">
            <a:avLst/>
          </a:prstGeom>
          <a:noFill/>
          <a:ln>
            <a:noFill/>
          </a:ln>
        </p:spPr>
        <p:txBody>
          <a:bodyPr anchorCtr="0" anchor="ctr" bIns="0" lIns="0" spcFirstLastPara="1" rIns="0" wrap="square" tIns="0">
            <a:noAutofit/>
          </a:bodyPr>
          <a:lstStyle/>
          <a:p>
            <a:pPr indent="0" lvl="0" marL="0" marR="0" rtl="0" algn="l">
              <a:lnSpc>
                <a:spcPct val="132653"/>
              </a:lnSpc>
              <a:spcBef>
                <a:spcPts val="0"/>
              </a:spcBef>
              <a:spcAft>
                <a:spcPts val="0"/>
              </a:spcAft>
              <a:buClr>
                <a:srgbClr val="0D2434"/>
              </a:buClr>
              <a:buSzPts val="980"/>
              <a:buFont typeface="Poppins"/>
              <a:buNone/>
            </a:pPr>
            <a:r>
              <a:rPr lang="en-US" sz="980">
                <a:solidFill>
                  <a:srgbClr val="0D2434"/>
                </a:solidFill>
                <a:latin typeface="Poppins"/>
                <a:ea typeface="Poppins"/>
                <a:cs typeface="Poppins"/>
                <a:sym typeface="Poppins"/>
              </a:rPr>
              <a:t>Listen calmly. Do not promise to keep it secret. Do not investigate or ask leading questions. Write down what was said in the student's own words as soon as you can, and report it the same day via the ESCG safeguarding reporting route. If you are unsure of anything, speak to your campus Safeguarding lead today — before you teach.</a:t>
            </a:r>
            <a:endParaRPr sz="98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