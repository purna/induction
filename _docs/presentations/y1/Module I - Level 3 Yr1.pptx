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Poppins"/>
      <p:regular r:id="rId17"/>
      <p:bold r:id="rId18"/>
      <p:italic r:id="rId19"/>
      <p:boldItalic r:id="rId20"/>
    </p:embeddedFont>
    <p:embeddedFont>
      <p:font typeface="Poppins Medium"/>
      <p:regular r:id="rId21"/>
      <p:bold r:id="rId22"/>
      <p:italic r:id="rId23"/>
      <p:boldItalic r:id="rId24"/>
    </p:embeddedFont>
    <p:embeddedFont>
      <p:font typeface="Poppins SemiBold"/>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PoppinsMedium-bold.fntdata"/><Relationship Id="rId21" Type="http://schemas.openxmlformats.org/officeDocument/2006/relationships/font" Target="fonts/PoppinsMedium-regular.fntdata"/><Relationship Id="rId24" Type="http://schemas.openxmlformats.org/officeDocument/2006/relationships/font" Target="fonts/PoppinsMedium-boldItalic.fntdata"/><Relationship Id="rId23" Type="http://schemas.openxmlformats.org/officeDocument/2006/relationships/font" Target="fonts/PoppinsMedium-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SemiBold-bold.fntdata"/><Relationship Id="rId25" Type="http://schemas.openxmlformats.org/officeDocument/2006/relationships/font" Target="fonts/PoppinsSemiBold-regular.fntdata"/><Relationship Id="rId28" Type="http://schemas.openxmlformats.org/officeDocument/2006/relationships/font" Target="fonts/PoppinsSemiBold-boldItalic.fntdata"/><Relationship Id="rId27" Type="http://schemas.openxmlformats.org/officeDocument/2006/relationships/font" Target="fonts/PoppinsSemi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 min. MODE: Arrival / title on screen.</a:t>
            </a:r>
            <a:br>
              <a:rPr lang="en-US"/>
            </a:br>
            <a:br>
              <a:rPr lang="en-US"/>
            </a:br>
            <a:r>
              <a:rPr lang="en-US"/>
              <a:t>PURPOSE: Frame the session before anyone speaks. This is the first Employability module the group meets after the Navigate set-up session, and the framing matters: it is a working session about them, not a lecture about conduct.</a:t>
            </a:r>
            <a:br>
              <a:rPr lang="en-US"/>
            </a:br>
            <a:br>
              <a:rPr lang="en-US"/>
            </a:br>
            <a:r>
              <a:rPr lang="en-US"/>
              <a:t>HOW TO RUN IT: Have this on screen as students arrive. When you start, say something like: 'Today is about two things that decide more interviews than grades do — how you operate, and whether you can talk about what you're good at with a straight face. By the end of the session you'll have written three things about yourself that you could say in an interview next week.'</a:t>
            </a:r>
            <a:br>
              <a:rPr lang="en-US"/>
            </a:br>
            <a:br>
              <a:rPr lang="en-US"/>
            </a:br>
            <a:r>
              <a:rPr lang="en-US"/>
              <a:t>WHAT TO WATCH FOR: Some L3 students hear the word 'professional' as code for 'behave yourselves' and switch off. The deck deliberately never moralises — hold that line in your delivery too. The register throughout is adult-to-adult: this is information and craft, not a telling-off.</a:t>
            </a:r>
            <a:br>
              <a:rPr lang="en-US"/>
            </a:br>
            <a:br>
              <a:rPr lang="en-US"/>
            </a:br>
            <a:r>
              <a:rPr lang="en-US"/>
              <a:t>PREREQUISITE: Students need working Navigate access (Module H). If a significant number don't have it, see the pre-flight checklist on the appendix slide before you begin — the Skills Assessment beat depends on it.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mins. MODE: Session map.</a:t>
            </a:r>
            <a:br>
              <a:rPr lang="en-US"/>
            </a:br>
            <a:br>
              <a:rPr lang="en-US"/>
            </a:br>
            <a:r>
              <a:rPr lang="en-US"/>
              <a:t>PURPOSE: Set the contract for the session — this is a workshop, and the deliverable is theirs, not yours. Naming that early buys you permission to keep input beats short.</a:t>
            </a:r>
            <a:br>
              <a:rPr lang="en-US"/>
            </a:br>
            <a:br>
              <a:rPr lang="en-US"/>
            </a:br>
            <a:r>
              <a:rPr lang="en-US"/>
              <a:t>HOW TO RUN IT: Walk the map briskly. Point at beats 5 and 7 and say something like: 'These two are the session. Everything before them is loading the tools.' Flag the Navigate dependency now: 'You'll need Navigate open and working by the half-way point — if you already know yours doesn't log in, tell me in the first activity, not at the moment you need it.'</a:t>
            </a:r>
            <a:br>
              <a:rPr lang="en-US"/>
            </a:br>
            <a:br>
              <a:rPr lang="en-US"/>
            </a:br>
            <a:r>
              <a:rPr lang="en-US"/>
              <a:t>WHAT TO WATCH FOR: The 90-minute shape is deliberately front-loaded with short input beats and back-loaded with production. If you're running long by beat 4, trim the discussion in beat 2 — never trim beats 5 and 7. The strengths work is the entitlement in this module; the talking is scaffolding.</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mins. MODE: Discussion — paired or threes.</a:t>
            </a:r>
            <a:br>
              <a:rPr lang="en-US"/>
            </a:br>
            <a:br>
              <a:rPr lang="en-US"/>
            </a:br>
            <a:r>
              <a:rPr lang="en-US"/>
              <a:t>PURPOSE: Two jobs at once. First, the standard settling check-in three weeks into term — surface how the course is landing while stakes are low. Second, seed the whole session: the 'most/least professional person' prompts generate concrete behavioural examples that beat 2 will formalise. Students define professionalism from their own experience before you name it — that ordering matters (they own the definition rather than receiving it).</a:t>
            </a:r>
            <a:br>
              <a:rPr lang="en-US"/>
            </a:br>
            <a:br>
              <a:rPr lang="en-US"/>
            </a:br>
            <a:r>
              <a:rPr lang="en-US"/>
              <a:t>HOW TO RUN IT: Circulate. Listen for the specifics — 'she remembered my name', 'he turned up twenty minutes late and blamed the traffic'. Collect two or three verbatim to quote in the next beat. Say something like: 'Notice that nobody has mentioned qualifications yet. Everything you've described is behaviour.'</a:t>
            </a:r>
            <a:br>
              <a:rPr lang="en-US"/>
            </a:br>
            <a:br>
              <a:rPr lang="en-US"/>
            </a:br>
            <a:r>
              <a:rPr lang="en-US"/>
              <a:t>WHAT TO WATCH FOR: The first prompt can surface course-fit worries or personal difficulties. Don't solve them mid-activity — note who said what, and follow up individually. If anything touches safeguarding territory (home pressures, money, health), the protocol on the appendix slide applies: listen calmly, no promises of secrecy, report same-day via the ESCG route.</a:t>
            </a:r>
            <a:endParaRPr/>
          </a:p>
        </p:txBody>
      </p:sp>
      <p:sp>
        <p:nvSpPr>
          <p:cNvPr id="79" name="Google Shape;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15 mins. MODE: Teacher input, closing on a short paired discussion.</a:t>
            </a:r>
            <a:br>
              <a:rPr lang="en-US"/>
            </a:br>
            <a:br>
              <a:rPr lang="en-US"/>
            </a:br>
            <a:r>
              <a:rPr lang="en-US"/>
              <a:t>PURPOSE: The module's core claim — professionalism is not context-dependent. The same four behaviours carry a student through college, placement and employment. This slide converts the examples from the settling discussion into a standard.</a:t>
            </a:r>
            <a:br>
              <a:rPr lang="en-US"/>
            </a:br>
            <a:br>
              <a:rPr lang="en-US"/>
            </a:br>
            <a:r>
              <a:rPr lang="en-US"/>
              <a:t>HOW TO RUN IT: Start by quoting two or three of the specific behaviours students described in the opener — 'you've already written this slide for me'. Walk the four behaviours briefly; they don't need expansion, they need connecting to the three contexts. Say something like: 'The reason we care about how you operate in college isn't rules for their own sake. It's that placement providers and employers meet exactly the same person you're practising being now.'</a:t>
            </a:r>
            <a:br>
              <a:rPr lang="en-US"/>
            </a:br>
            <a:br>
              <a:rPr lang="en-US"/>
            </a:br>
            <a:r>
              <a:rPr lang="en-US"/>
              <a:t>PROUD ANCHOR: This module anchors on Show Respect. Name it once, as written on the panel, and let the content do the carrying. Do not turn the values into a recital — one honest sentence beats five slogans.</a:t>
            </a:r>
            <a:br>
              <a:rPr lang="en-US"/>
            </a:br>
            <a:br>
              <a:rPr lang="en-US"/>
            </a:br>
            <a:r>
              <a:rPr lang="en-US"/>
              <a:t>CLOSING DISCUSSION: The 'hardest to keep up when nobody is checking' question is where this beat earns its time — it moves the standard from abstract to personal. Take two or three answers. Punctuality and early communication usually surface; both feed the next slide.</a:t>
            </a:r>
            <a:br>
              <a:rPr lang="en-US"/>
            </a:br>
            <a:br>
              <a:rPr lang="en-US"/>
            </a:br>
            <a:r>
              <a:rPr lang="en-US"/>
              <a:t>WHAT TO WATCH FOR: Any drift into moralising. The register is 'this is how the working world operates and you deserve to know it', never 'you lot need to behave'.</a:t>
            </a:r>
            <a:endParaRPr/>
          </a:p>
        </p:txBody>
      </p:sp>
      <p:sp>
        <p:nvSpPr>
          <p:cNvPr id="103" name="Google Shape;10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mins. MODE: Teacher input.</a:t>
            </a:r>
            <a:br>
              <a:rPr lang="en-US"/>
            </a:br>
            <a:br>
              <a:rPr lang="en-US"/>
            </a:br>
            <a:r>
              <a:rPr lang="en-US"/>
              <a:t>PURPOSE: Attendance and punctuality handled as professional information, not policy enforcement. This module is entitled to exactly one version of the attendance case: your reference is being written all year, by people who notice. That is fact, not pressure — and treated as fact it lands far better with this age group.</a:t>
            </a:r>
            <a:br>
              <a:rPr lang="en-US"/>
            </a:br>
            <a:br>
              <a:rPr lang="en-US"/>
            </a:br>
            <a:r>
              <a:rPr lang="en-US"/>
              <a:t>BRIGHT LINES: No percentage thresholds anywhere on this slide or in your delivery — policy mechanics belong to Module B and tutorial, not here. And no preaching. If you hear yourself saying 'you need to understand', stop and return to the factual register.</a:t>
            </a:r>
            <a:br>
              <a:rPr lang="en-US"/>
            </a:br>
            <a:br>
              <a:rPr lang="en-US"/>
            </a:br>
            <a:r>
              <a:rPr lang="en-US"/>
              <a:t>HOW TO RUN IT: Walk the three panels left to right. The middle panel matters most — say something like: 'One rough week doesn't follow you. A pattern does. That's actually good news, because patterns are the one thing you fully control.'</a:t>
            </a:r>
            <a:br>
              <a:rPr lang="en-US"/>
            </a:br>
            <a:br>
              <a:rPr lang="en-US"/>
            </a:br>
            <a:r>
              <a:rPr lang="en-US"/>
              <a:t>THE MUSTARD PANEL: Deliver it straight and unhurried: 'If something outside college is making it hard to get here — caring for someone, money, housing, health — telling someone early is the professional move, not the weak one. Adults in workplaces do exactly this.' Then name the confirmed first point of contact.</a:t>
            </a:r>
            <a:br>
              <a:rPr lang="en-US"/>
            </a:br>
            <a:br>
              <a:rPr lang="en-US"/>
            </a:br>
            <a:r>
              <a:rPr lang="en-US"/>
              <a:t>SAFEGUARDING: This is the session's most likely surface point for disclosures. Listen calmly, don't promise secrecy, don't investigate, report the same day via the ESCG safeguarding route. Signpost only — the full procedure lives in Module F.</a:t>
            </a:r>
            <a:endParaRPr/>
          </a:p>
        </p:txBody>
      </p:sp>
      <p:sp>
        <p:nvSpPr>
          <p:cNvPr id="136" name="Google Shape;1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15 mins. MODE: Teacher input closing on an individual self-audit.</a:t>
            </a:r>
            <a:br>
              <a:rPr lang="en-US"/>
            </a:br>
            <a:br>
              <a:rPr lang="en-US"/>
            </a:br>
            <a:r>
              <a:rPr lang="en-US"/>
              <a:t>PURPOSE: Name the skill set employers rank above technical qualifications at the point of entry-level hire, and get each student to locate themselves against it. The term used throughout is 'human skills' — the guide allows 'employability' or 'soft' skills, but 'soft' invites exactly the dismissiveness this beat must avoid. If it comes up, say something like: 'There's nothing soft about being the person a team relies on. These are also the skills that don't automate — which makes them the safest investment you can make.'</a:t>
            </a:r>
            <a:br>
              <a:rPr lang="en-US"/>
            </a:br>
            <a:br>
              <a:rPr lang="en-US"/>
            </a:br>
            <a:r>
              <a:rPr lang="en-US"/>
              <a:t>SECTOR LOCALISATION: The confirm block is the most important localisation in this deck. The generic six are a sound default, but 'the skills most valued by employers in this sector' is course-specific — a post-production house and a cyber security team do not rank these identically. Get the sector list from Careers before delivery and teach from that.</a:t>
            </a:r>
            <a:br>
              <a:rPr lang="en-US"/>
            </a:br>
            <a:br>
              <a:rPr lang="en-US"/>
            </a:br>
            <a:r>
              <a:rPr lang="en-US"/>
              <a:t>THE SELF-AUDIT: Two to three minutes, individual, private. The 'what would your last teacher or boss say' framing is deliberate — it forces external-perspective evidence rather than self-image, and it pre-loads the evidenced-strengths work in beats 6 and 7. Insist they write the three down; the strengths activity draws directly on this.</a:t>
            </a:r>
            <a:br>
              <a:rPr lang="en-US"/>
            </a:br>
            <a:br>
              <a:rPr lang="en-US"/>
            </a:br>
            <a:r>
              <a:rPr lang="en-US"/>
              <a:t>WHAT TO WATCH FOR: Students claiming all six or none. Both are avoidance — the partner-testing in beat 7 will handle it.</a:t>
            </a:r>
            <a:endParaRPr/>
          </a:p>
        </p:txBody>
      </p:sp>
      <p:sp>
        <p:nvSpPr>
          <p:cNvPr id="161" name="Google Shape;16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15 mins. MODE: Activity — individual, then paired cross-check.</a:t>
            </a:r>
            <a:br>
              <a:rPr lang="en-US"/>
            </a:br>
            <a:br>
              <a:rPr lang="en-US"/>
            </a:br>
            <a:r>
              <a:rPr lang="en-US"/>
              <a:t>PURPOSE: The staff guide requires the Skills Assessment to be complete by the end of this session, and notes it should already have been done in the Navigate module. This deck therefore treats the assessment as results interpretation, not first completion — interpreting a result is thinking; filling in a questionnaire is admin. Students who arrive without it done complete it in this window instead (see the confirm block), which is why the beat carries 15 minutes.</a:t>
            </a:r>
            <a:br>
              <a:rPr lang="en-US"/>
            </a:br>
            <a:br>
              <a:rPr lang="en-US"/>
            </a:br>
            <a:r>
              <a:rPr lang="en-US"/>
              <a:t>HOW TO RUN IT: Steps 1–3 are individual and quiet — resist narrating over them. Step 4 is the valuable one: a partner's read is external evidence, and disagreement between partner and assessment is a genuinely useful finding. Say something like: 'If your partner and the assessment disagree about you, that's not a problem — that's information. Which of them has seen you under pressure?'</a:t>
            </a:r>
            <a:br>
              <a:rPr lang="en-US"/>
            </a:br>
            <a:br>
              <a:rPr lang="en-US"/>
            </a:br>
            <a:r>
              <a:rPr lang="en-US"/>
              <a:t>WHAT TO WATCH FOR: (1) Login failures — have the confirmed route ready and keep a note of anyone who still can't access; their tutor needs to know today. (2) Students treating the result as an identity verdict, in either direction. The italic line on the slide is your script for that. (3) The quiet students who finish fast — send them to the development-priority question: 'what would need to be true by June for that score to move?'</a:t>
            </a:r>
            <a:endParaRPr/>
          </a:p>
        </p:txBody>
      </p:sp>
      <p:sp>
        <p:nvSpPr>
          <p:cNvPr id="200" name="Google Shape;20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mins. MODE: Teacher input.</a:t>
            </a:r>
            <a:br>
              <a:rPr lang="en-US"/>
            </a:br>
            <a:br>
              <a:rPr lang="en-US"/>
            </a:br>
            <a:r>
              <a:rPr lang="en-US"/>
              <a:t>PURPOSE: The craft heart of the module — the difference between a vague strength claim and a specific, evidenced strength statement. Everything before this slide loaded the raw material (self-audit, Skills Assessment, partner's read); this slide gives the form.</a:t>
            </a:r>
            <a:br>
              <a:rPr lang="en-US"/>
            </a:br>
            <a:br>
              <a:rPr lang="en-US"/>
            </a:br>
            <a:r>
              <a:rPr lang="en-US"/>
              <a:t>HOW TO RUN IT: Read both quotes aloud, claim first. Let the flatness of 'I'm a good team player' sit for a second before the second one. Say something like: 'The first one is wallpaper — an interviewer's eyes slide straight off it. The second one starts a conversation, because there's something in it to ask about. That's the whole trick: give them something to ask about.'</a:t>
            </a:r>
            <a:br>
              <a:rPr lang="en-US"/>
            </a:br>
            <a:br>
              <a:rPr lang="en-US"/>
            </a:br>
            <a:r>
              <a:rPr lang="en-US"/>
              <a:t>Walk the formula once with a fresh example built live from something a student said earlier in the session — using their material shows the formula is portable, not a worksheet trick.</a:t>
            </a:r>
            <a:br>
              <a:rPr lang="en-US"/>
            </a:br>
            <a:br>
              <a:rPr lang="en-US"/>
            </a:br>
            <a:r>
              <a:rPr lang="en-US"/>
              <a:t>THE EVIDENCE-SOURCES LINE MATTERS: Students in this cohort routinely discount unpaid experience — caring responsibilities and part-time work above all. Name them explicitly and without hedging: 'If you've been getting a younger sibling to school every day for two years, you have evidence of reliability that most adults couldn't match.' For some students that reframe is the most valuable sentence in the session.</a:t>
            </a:r>
            <a:br>
              <a:rPr lang="en-US"/>
            </a:br>
            <a:br>
              <a:rPr lang="en-US"/>
            </a:br>
            <a:r>
              <a:rPr lang="en-US"/>
              <a:t>WHAT TO WATCH FOR: Keep this beat tight. The temptation is to over-teach the formula; ten minutes is right because the learning happens in the next beat, when they write.</a:t>
            </a:r>
            <a:endParaRPr/>
          </a:p>
        </p:txBody>
      </p:sp>
      <p:sp>
        <p:nvSpPr>
          <p:cNvPr id="234" name="Google Shape;2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mins (let it run to 15 by trimming beat 2 if the room is working well). MODE: Activity — individual drafting, paired testing.</a:t>
            </a:r>
            <a:br>
              <a:rPr lang="en-US"/>
            </a:br>
            <a:br>
              <a:rPr lang="en-US"/>
            </a:br>
            <a:r>
              <a:rPr lang="en-US"/>
              <a:t>PURPOSE: The module's required outcome: every student leaves able to state at least three strengths with real evidence. The statements also become live material — deposited in Navigate, they feed the Digital CV and every application this year. That link forward is what makes this feel like work worth doing rather than a worksheet.</a:t>
            </a:r>
            <a:br>
              <a:rPr lang="en-US"/>
            </a:br>
            <a:br>
              <a:rPr lang="en-US"/>
            </a:br>
            <a:r>
              <a:rPr lang="en-US"/>
              <a:t>HOW TO RUN IT: Drafting is quiet and individual — five to six minutes. Then partner-testing: be explicit that the partner's job is friendly interrogation, not approval. 'What's your evidence?' asked twice does more for statement quality than any amount of teacher feedback. Circulate and listen for claims sneaking back in ('I'm a good communicator because I'm confident') — redirect to the formula.</a:t>
            </a:r>
            <a:br>
              <a:rPr lang="en-US"/>
            </a:br>
            <a:br>
              <a:rPr lang="en-US"/>
            </a:br>
            <a:r>
              <a:rPr lang="en-US"/>
              <a:t>SCOPE BOUNDARY: This beat deposits strength statements into Navigate. It does not write CVs — CV structure and the Opportunities Module belong to the Navigate session and Module J. If students race ahead to CV formatting, park it: 'Good instinct, wrong week.'</a:t>
            </a:r>
            <a:br>
              <a:rPr lang="en-US"/>
            </a:br>
            <a:br>
              <a:rPr lang="en-US"/>
            </a:br>
            <a:r>
              <a:rPr lang="en-US"/>
              <a:t>WHAT TO WATCH FOR: The student staring at a blank page is the one this activity is for. Sit with them and mine the session: what did their partner say in the cross-check? What's on their quick audit? Caring responsibilities, part-time work and sport are the richest seams for students who think they have 'nothing'.</a:t>
            </a:r>
            <a:endParaRPr/>
          </a:p>
        </p:txBody>
      </p:sp>
      <p:sp>
        <p:nvSpPr>
          <p:cNvPr id="255" name="Google Shape;25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5 mins. MODE: Activity — individual, written, collected.</a:t>
            </a:r>
            <a:br>
              <a:rPr lang="en-US"/>
            </a:br>
            <a:br>
              <a:rPr lang="en-US"/>
            </a:br>
            <a:r>
              <a:rPr lang="en-US"/>
              <a:t>PURPOSE: The standard closing commitment — one specific thing, this week, on a card the tutor keeps. The four options map onto the session's four substantive beats: the Skills Assessment (development priority), the strengths work (use a statement somewhere real), the professional standard (practise one habit), and the disclosure route (tell someone about a barrier).</a:t>
            </a:r>
            <a:br>
              <a:rPr lang="en-US"/>
            </a:br>
            <a:br>
              <a:rPr lang="en-US"/>
            </a:br>
            <a:r>
              <a:rPr lang="en-US"/>
              <a:t>HOW TO RUN IT: Push for specificity in the wording — 'I'll be on time' fails the test; 'I'll leave the house by 8:10 every day this week because the 8:24 bus is the one that makes it' passes. Collect every card. Agree with the tutor beforehand how and when follow-up happens — a card nobody ever mentions again teaches students that commitments here are theatre.</a:t>
            </a:r>
            <a:br>
              <a:rPr lang="en-US"/>
            </a:br>
            <a:br>
              <a:rPr lang="en-US"/>
            </a:br>
            <a:r>
              <a:rPr lang="en-US"/>
              <a:t>OPTION 4: Deliver it in the same breath as the other three, without a change of tone. Its job is to give a student who has been sitting on something all session a low-friction route to say so in writing. Read the cards the same day you collect them: any card that hints at a barrier or a difficulty gets a same-day conversation, and anything touching safeguarding follows the ESCG route immediately — see the appendix slide.</a:t>
            </a:r>
            <a:br>
              <a:rPr lang="en-US"/>
            </a:br>
            <a:br>
              <a:rPr lang="en-US"/>
            </a:br>
            <a:r>
              <a:rPr lang="en-US"/>
              <a:t>WHAT TO WATCH FOR: Students choosing option 2 but writing a claim rather than a statement — a ten-second glance while collecting catches it.</a:t>
            </a:r>
            <a:endParaRPr/>
          </a:p>
        </p:txBody>
      </p:sp>
      <p:sp>
        <p:nvSpPr>
          <p:cNvPr id="287" name="Google Shape;28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 mins. MODE: Close.</a:t>
            </a:r>
            <a:br>
              <a:rPr lang="en-US"/>
            </a:br>
            <a:br>
              <a:rPr lang="en-US"/>
            </a:br>
            <a:r>
              <a:rPr lang="en-US"/>
              <a:t>PURPOSE: Land three forward links and finish. First, Navigate as a live portfolio — the guide's framing is that a student's Navigate record constitutes a professional portfolio developing across their whole time at ESCG; today's strength statements are now part of it. Second, the explicit bridge to Module J: the strengths written today are the raw material for placement applications. Third, restate the module's core claim in one line — one standard, three contexts.</a:t>
            </a:r>
            <a:br>
              <a:rPr lang="en-US"/>
            </a:br>
            <a:br>
              <a:rPr lang="en-US"/>
            </a:br>
            <a:r>
              <a:rPr lang="en-US"/>
              <a:t>HOW TO RUN IT: Brisk. Say something like: 'Most of what you produced today doesn't stay in this room — it's in Navigate, which means it's already working for you. When we get to placements, you won't be starting from a blank page.'</a:t>
            </a:r>
            <a:br>
              <a:rPr lang="en-US"/>
            </a:br>
            <a:br>
              <a:rPr lang="en-US"/>
            </a:br>
            <a:r>
              <a:rPr lang="en-US"/>
              <a:t>Name the confirmed Careers and placement contacts, then close. Do not add new content here — a session that ends on time is itself a demonstration of the standard the module has been describing, and it's worth saying exactly that with a smile as they pack up.</a:t>
            </a:r>
            <a:br>
              <a:rPr lang="en-US"/>
            </a:br>
            <a:br>
              <a:rPr lang="en-US"/>
            </a:br>
            <a:r>
              <a:rPr lang="en-US"/>
              <a:t>AFTER THE SESSION: Read the commitment cards today. Pass Navigate access failures to the tutor. Anything from option 4 that hints at a barrier gets a same-day conversation; anything safeguarding-adjacent goes through the ESCG route immediately.</a:t>
            </a:r>
            <a:endParaRPr/>
          </a:p>
        </p:txBody>
      </p:sp>
      <p:sp>
        <p:nvSpPr>
          <p:cNvPr id="309" name="Google Shape;30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appendix. Not for student display. Keep this slide at the end of the deck; delete it only from any version exported for student-facing distribution.</a:t>
            </a:r>
            <a:endParaRPr/>
          </a:p>
        </p:txBody>
      </p:sp>
      <p:sp>
        <p:nvSpPr>
          <p:cNvPr id="326" name="Google Shape;32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7.png"/><Relationship Id="rId7" Type="http://schemas.openxmlformats.org/officeDocument/2006/relationships/image" Target="../media/image5.png"/><Relationship Id="rId8"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5" name="Shape 15"/>
        <p:cNvGrpSpPr/>
        <p:nvPr/>
      </p:nvGrpSpPr>
      <p:grpSpPr>
        <a:xfrm>
          <a:off x="0" y="0"/>
          <a:ext cx="0" cy="0"/>
          <a:chOff x="0" y="0"/>
          <a:chExt cx="0" cy="0"/>
        </a:xfrm>
      </p:grpSpPr>
      <p:sp>
        <p:nvSpPr>
          <p:cNvPr id="16" name="Google Shape;16;p3"/>
          <p:cNvSpPr/>
          <p:nvPr/>
        </p:nvSpPr>
        <p:spPr>
          <a:xfrm>
            <a:off x="521208" y="932688"/>
            <a:ext cx="566928" cy="566928"/>
          </a:xfrm>
          <a:prstGeom prst="roundRect">
            <a:avLst>
              <a:gd fmla="val 14516"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3"/>
          <p:cNvSpPr/>
          <p:nvPr/>
        </p:nvSpPr>
        <p:spPr>
          <a:xfrm>
            <a:off x="1252728" y="932688"/>
            <a:ext cx="566928" cy="566928"/>
          </a:xfrm>
          <a:prstGeom prst="roundRect">
            <a:avLst>
              <a:gd fmla="val 14516"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3"/>
          <p:cNvSpPr/>
          <p:nvPr/>
        </p:nvSpPr>
        <p:spPr>
          <a:xfrm>
            <a:off x="1984248" y="932688"/>
            <a:ext cx="566928" cy="566928"/>
          </a:xfrm>
          <a:prstGeom prst="roundRect">
            <a:avLst>
              <a:gd fmla="val 14516" name="adj"/>
            </a:avLst>
          </a:prstGeom>
          <a:solidFill>
            <a:srgbClr val="0D2434"/>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 name="Google Shape;19;p3"/>
          <p:cNvPicPr preferRelativeResize="0"/>
          <p:nvPr/>
        </p:nvPicPr>
        <p:blipFill rotWithShape="1">
          <a:blip r:embed="rId3">
            <a:alphaModFix/>
          </a:blip>
          <a:srcRect b="0" l="0" r="0" t="0"/>
          <a:stretch/>
        </p:blipFill>
        <p:spPr>
          <a:xfrm>
            <a:off x="2116836" y="1069848"/>
            <a:ext cx="301752" cy="301752"/>
          </a:xfrm>
          <a:prstGeom prst="rect">
            <a:avLst/>
          </a:prstGeom>
          <a:noFill/>
          <a:ln>
            <a:noFill/>
          </a:ln>
        </p:spPr>
      </p:pic>
      <p:sp>
        <p:nvSpPr>
          <p:cNvPr id="20" name="Google Shape;20;p3"/>
          <p:cNvSpPr/>
          <p:nvPr/>
        </p:nvSpPr>
        <p:spPr>
          <a:xfrm>
            <a:off x="502920" y="45720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STUDENT INDUCTION 2026–27  ·  MODULE I</a:t>
            </a:r>
            <a:endParaRPr sz="1100">
              <a:solidFill>
                <a:schemeClr val="dk1"/>
              </a:solidFill>
              <a:latin typeface="Calibri"/>
              <a:ea typeface="Calibri"/>
              <a:cs typeface="Calibri"/>
              <a:sym typeface="Calibri"/>
            </a:endParaRPr>
          </a:p>
        </p:txBody>
      </p:sp>
      <p:sp>
        <p:nvSpPr>
          <p:cNvPr id="21" name="Google Shape;21;p3"/>
          <p:cNvSpPr/>
          <p:nvPr/>
        </p:nvSpPr>
        <p:spPr>
          <a:xfrm>
            <a:off x="502920" y="1828800"/>
            <a:ext cx="8138160" cy="15544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4000"/>
              <a:buFont typeface="Poppins SemiBold"/>
              <a:buNone/>
            </a:pPr>
            <a:r>
              <a:rPr lang="en-US" sz="4000">
                <a:solidFill>
                  <a:srgbClr val="FFFFFF"/>
                </a:solidFill>
                <a:latin typeface="Poppins SemiBold"/>
                <a:ea typeface="Poppins SemiBold"/>
                <a:cs typeface="Poppins SemiBold"/>
                <a:sym typeface="Poppins SemiBold"/>
              </a:rPr>
              <a:t>Professional Behaviour</a:t>
            </a:r>
            <a:endParaRPr sz="40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4000"/>
              <a:buFont typeface="Poppins SemiBold"/>
              <a:buNone/>
            </a:pPr>
            <a:r>
              <a:rPr lang="en-US" sz="4000">
                <a:solidFill>
                  <a:srgbClr val="FFFFFF"/>
                </a:solidFill>
                <a:latin typeface="Poppins SemiBold"/>
                <a:ea typeface="Poppins SemiBold"/>
                <a:cs typeface="Poppins SemiBold"/>
                <a:sym typeface="Poppins SemiBold"/>
              </a:rPr>
              <a:t>&amp; Personal Strengths</a:t>
            </a:r>
            <a:endParaRPr sz="4000">
              <a:solidFill>
                <a:schemeClr val="dk1"/>
              </a:solidFill>
              <a:latin typeface="Calibri"/>
              <a:ea typeface="Calibri"/>
              <a:cs typeface="Calibri"/>
              <a:sym typeface="Calibri"/>
            </a:endParaRPr>
          </a:p>
        </p:txBody>
      </p:sp>
      <p:sp>
        <p:nvSpPr>
          <p:cNvPr id="22" name="Google Shape;22;p3"/>
          <p:cNvSpPr/>
          <p:nvPr/>
        </p:nvSpPr>
        <p:spPr>
          <a:xfrm>
            <a:off x="502920" y="352044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400"/>
              <a:buFont typeface="Poppins Medium"/>
              <a:buNone/>
            </a:pPr>
            <a:r>
              <a:rPr lang="en-US" sz="1400">
                <a:solidFill>
                  <a:srgbClr val="F6891E"/>
                </a:solidFill>
                <a:latin typeface="Poppins Medium"/>
                <a:ea typeface="Poppins Medium"/>
                <a:cs typeface="Poppins Medium"/>
                <a:sym typeface="Poppins Medium"/>
              </a:rPr>
              <a:t>Employability, Careers &amp; Progression  ·  Level 3 Year 1</a:t>
            </a:r>
            <a:endParaRPr sz="1400">
              <a:solidFill>
                <a:schemeClr val="dk1"/>
              </a:solidFill>
              <a:latin typeface="Calibri"/>
              <a:ea typeface="Calibri"/>
              <a:cs typeface="Calibri"/>
              <a:sym typeface="Calibri"/>
            </a:endParaRPr>
          </a:p>
        </p:txBody>
      </p:sp>
      <p:sp>
        <p:nvSpPr>
          <p:cNvPr id="23" name="Google Shape;23;p3"/>
          <p:cNvSpPr/>
          <p:nvPr/>
        </p:nvSpPr>
        <p:spPr>
          <a:xfrm>
            <a:off x="502920" y="388620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2D6"/>
              </a:buClr>
              <a:buSzPts val="1250"/>
              <a:buFont typeface="Poppins"/>
              <a:buNone/>
            </a:pPr>
            <a:r>
              <a:rPr i="1" lang="en-US" sz="1250">
                <a:solidFill>
                  <a:srgbClr val="C9D2D6"/>
                </a:solidFill>
                <a:latin typeface="Poppins"/>
                <a:ea typeface="Poppins"/>
                <a:cs typeface="Poppins"/>
                <a:sym typeface="Poppins"/>
              </a:rPr>
              <a:t>One standard — in college, on placement, in employment.</a:t>
            </a:r>
            <a:endParaRPr sz="1250">
              <a:solidFill>
                <a:schemeClr val="dk1"/>
              </a:solidFill>
              <a:latin typeface="Calibri"/>
              <a:ea typeface="Calibri"/>
              <a:cs typeface="Calibri"/>
              <a:sym typeface="Calibri"/>
            </a:endParaRPr>
          </a:p>
        </p:txBody>
      </p:sp>
      <p:sp>
        <p:nvSpPr>
          <p:cNvPr id="24" name="Google Shape;24;p3"/>
          <p:cNvSpPr/>
          <p:nvPr/>
        </p:nvSpPr>
        <p:spPr>
          <a:xfrm>
            <a:off x="502920" y="4686300"/>
            <a:ext cx="8138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0A8"/>
              </a:buClr>
              <a:buSzPts val="950"/>
              <a:buFont typeface="Poppins"/>
              <a:buNone/>
            </a:pPr>
            <a:r>
              <a:rPr lang="en-US" sz="950">
                <a:solidFill>
                  <a:srgbClr val="8FA0A8"/>
                </a:solidFill>
                <a:latin typeface="Poppins"/>
                <a:ea typeface="Poppins"/>
                <a:cs typeface="Poppins"/>
                <a:sym typeface="Poppins"/>
              </a:rPr>
              <a:t>East Sussex College  ·  90 minutes  ·  Requires Navigate (Module H)</a:t>
            </a:r>
            <a:endParaRPr sz="9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9" name="Shape 29"/>
        <p:cNvGrpSpPr/>
        <p:nvPr/>
      </p:nvGrpSpPr>
      <p:grpSpPr>
        <a:xfrm>
          <a:off x="0" y="0"/>
          <a:ext cx="0" cy="0"/>
          <a:chOff x="0" y="0"/>
          <a:chExt cx="0" cy="0"/>
        </a:xfrm>
      </p:grpSpPr>
      <p:sp>
        <p:nvSpPr>
          <p:cNvPr id="30" name="Google Shape;30;p4"/>
          <p:cNvSpPr/>
          <p:nvPr/>
        </p:nvSpPr>
        <p:spPr>
          <a:xfrm>
            <a:off x="502920" y="274320"/>
            <a:ext cx="6035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00"/>
              <a:buFont typeface="Poppins SemiBold"/>
              <a:buNone/>
            </a:pPr>
            <a:r>
              <a:rPr lang="en-US" sz="900">
                <a:solidFill>
                  <a:srgbClr val="F6891E"/>
                </a:solidFill>
                <a:latin typeface="Poppins SemiBold"/>
                <a:ea typeface="Poppins SemiBold"/>
                <a:cs typeface="Poppins SemiBold"/>
                <a:sym typeface="Poppins SemiBold"/>
              </a:rPr>
              <a:t>SESSION MAP</a:t>
            </a:r>
            <a:endParaRPr sz="900">
              <a:solidFill>
                <a:schemeClr val="dk1"/>
              </a:solidFill>
              <a:latin typeface="Calibri"/>
              <a:ea typeface="Calibri"/>
              <a:cs typeface="Calibri"/>
              <a:sym typeface="Calibri"/>
            </a:endParaRPr>
          </a:p>
        </p:txBody>
      </p:sp>
      <p:sp>
        <p:nvSpPr>
          <p:cNvPr id="31" name="Google Shape;31;p4"/>
          <p:cNvSpPr/>
          <p:nvPr/>
        </p:nvSpPr>
        <p:spPr>
          <a:xfrm>
            <a:off x="502920" y="475488"/>
            <a:ext cx="694944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Where the 90 minutes goes</a:t>
            </a:r>
            <a:endParaRPr sz="2500">
              <a:solidFill>
                <a:schemeClr val="dk1"/>
              </a:solidFill>
              <a:latin typeface="Calibri"/>
              <a:ea typeface="Calibri"/>
              <a:cs typeface="Calibri"/>
              <a:sym typeface="Calibri"/>
            </a:endParaRPr>
          </a:p>
        </p:txBody>
      </p:sp>
      <p:sp>
        <p:nvSpPr>
          <p:cNvPr id="32" name="Google Shape;32;p4"/>
          <p:cNvSpPr/>
          <p:nvPr/>
        </p:nvSpPr>
        <p:spPr>
          <a:xfrm>
            <a:off x="7159752" y="310896"/>
            <a:ext cx="1481328" cy="274320"/>
          </a:xfrm>
          <a:prstGeom prst="roundRect">
            <a:avLst>
              <a:gd fmla="val 50000" name="adj"/>
            </a:avLst>
          </a:prstGeom>
          <a:solidFill>
            <a:srgbClr val="FFFFFF"/>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4"/>
          <p:cNvSpPr/>
          <p:nvPr/>
        </p:nvSpPr>
        <p:spPr>
          <a:xfrm>
            <a:off x="7159752" y="299923"/>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850"/>
              <a:buFont typeface="Poppins SemiBold"/>
              <a:buNone/>
            </a:pPr>
            <a:r>
              <a:rPr lang="en-US" sz="850">
                <a:solidFill>
                  <a:srgbClr val="0D2434"/>
                </a:solidFill>
                <a:latin typeface="Poppins SemiBold"/>
                <a:ea typeface="Poppins SemiBold"/>
                <a:cs typeface="Poppins SemiBold"/>
                <a:sym typeface="Poppins SemiBold"/>
              </a:rPr>
              <a:t>SESSION MAP</a:t>
            </a:r>
            <a:endParaRPr sz="850">
              <a:solidFill>
                <a:schemeClr val="dk1"/>
              </a:solidFill>
              <a:latin typeface="Calibri"/>
              <a:ea typeface="Calibri"/>
              <a:cs typeface="Calibri"/>
              <a:sym typeface="Calibri"/>
            </a:endParaRPr>
          </a:p>
        </p:txBody>
      </p:sp>
      <p:sp>
        <p:nvSpPr>
          <p:cNvPr id="34" name="Google Shape;34;p4"/>
          <p:cNvSpPr/>
          <p:nvPr/>
        </p:nvSpPr>
        <p:spPr>
          <a:xfrm>
            <a:off x="502920" y="4850892"/>
            <a:ext cx="6858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700"/>
              <a:buFont typeface="Poppins"/>
              <a:buNone/>
            </a:pPr>
            <a:r>
              <a:rPr lang="en-US" sz="700">
                <a:solidFill>
                  <a:srgbClr val="5A6A6F"/>
                </a:solidFill>
                <a:latin typeface="Poppins"/>
                <a:ea typeface="Poppins"/>
                <a:cs typeface="Poppins"/>
                <a:sym typeface="Poppins"/>
              </a:rPr>
              <a:t>MODULE I  ·  PROFESSIONAL BEHAVIOUR &amp; PERSONAL STRENGTHS  ·  L3 YEAR 1</a:t>
            </a:r>
            <a:endParaRPr sz="700">
              <a:solidFill>
                <a:schemeClr val="dk1"/>
              </a:solidFill>
              <a:latin typeface="Calibri"/>
              <a:ea typeface="Calibri"/>
              <a:cs typeface="Calibri"/>
              <a:sym typeface="Calibri"/>
            </a:endParaRPr>
          </a:p>
        </p:txBody>
      </p:sp>
      <p:sp>
        <p:nvSpPr>
          <p:cNvPr id="35" name="Google Shape;35;p4"/>
          <p:cNvSpPr/>
          <p:nvPr/>
        </p:nvSpPr>
        <p:spPr>
          <a:xfrm>
            <a:off x="502920" y="1207008"/>
            <a:ext cx="8138160" cy="361188"/>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4"/>
          <p:cNvSpPr/>
          <p:nvPr/>
        </p:nvSpPr>
        <p:spPr>
          <a:xfrm>
            <a:off x="612648" y="1207008"/>
            <a:ext cx="36576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00"/>
              <a:buFont typeface="Poppins SemiBold"/>
              <a:buNone/>
            </a:pPr>
            <a:r>
              <a:rPr lang="en-US" sz="1200">
                <a:solidFill>
                  <a:srgbClr val="F6891E"/>
                </a:solidFill>
                <a:latin typeface="Poppins SemiBold"/>
                <a:ea typeface="Poppins SemiBold"/>
                <a:cs typeface="Poppins SemiBold"/>
                <a:sym typeface="Poppins SemiBold"/>
              </a:rPr>
              <a:t>1</a:t>
            </a:r>
            <a:endParaRPr sz="1200">
              <a:solidFill>
                <a:schemeClr val="dk1"/>
              </a:solidFill>
              <a:latin typeface="Calibri"/>
              <a:ea typeface="Calibri"/>
              <a:cs typeface="Calibri"/>
              <a:sym typeface="Calibri"/>
            </a:endParaRPr>
          </a:p>
        </p:txBody>
      </p:sp>
      <p:sp>
        <p:nvSpPr>
          <p:cNvPr id="37" name="Google Shape;37;p4"/>
          <p:cNvSpPr/>
          <p:nvPr/>
        </p:nvSpPr>
        <p:spPr>
          <a:xfrm>
            <a:off x="1033272" y="1207008"/>
            <a:ext cx="512064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Medium"/>
              <a:buNone/>
            </a:pPr>
            <a:r>
              <a:rPr lang="en-US" sz="1150">
                <a:solidFill>
                  <a:srgbClr val="1B2A30"/>
                </a:solidFill>
                <a:latin typeface="Poppins Medium"/>
                <a:ea typeface="Poppins Medium"/>
                <a:cs typeface="Poppins Medium"/>
                <a:sym typeface="Poppins Medium"/>
              </a:rPr>
              <a:t>Settling in — how is it going?</a:t>
            </a:r>
            <a:endParaRPr sz="1150">
              <a:solidFill>
                <a:schemeClr val="dk1"/>
              </a:solidFill>
              <a:latin typeface="Calibri"/>
              <a:ea typeface="Calibri"/>
              <a:cs typeface="Calibri"/>
              <a:sym typeface="Calibri"/>
            </a:endParaRPr>
          </a:p>
        </p:txBody>
      </p:sp>
      <p:sp>
        <p:nvSpPr>
          <p:cNvPr id="38" name="Google Shape;38;p4"/>
          <p:cNvSpPr/>
          <p:nvPr/>
        </p:nvSpPr>
        <p:spPr>
          <a:xfrm>
            <a:off x="6263640" y="1207008"/>
            <a:ext cx="86868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10 min</a:t>
            </a:r>
            <a:endParaRPr sz="1000">
              <a:solidFill>
                <a:schemeClr val="dk1"/>
              </a:solidFill>
              <a:latin typeface="Calibri"/>
              <a:ea typeface="Calibri"/>
              <a:cs typeface="Calibri"/>
              <a:sym typeface="Calibri"/>
            </a:endParaRPr>
          </a:p>
        </p:txBody>
      </p:sp>
      <p:sp>
        <p:nvSpPr>
          <p:cNvPr id="39" name="Google Shape;39;p4"/>
          <p:cNvSpPr/>
          <p:nvPr/>
        </p:nvSpPr>
        <p:spPr>
          <a:xfrm>
            <a:off x="7178040" y="1207008"/>
            <a:ext cx="1371600" cy="361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Discussion</a:t>
            </a:r>
            <a:endParaRPr sz="950">
              <a:solidFill>
                <a:schemeClr val="dk1"/>
              </a:solidFill>
              <a:latin typeface="Calibri"/>
              <a:ea typeface="Calibri"/>
              <a:cs typeface="Calibri"/>
              <a:sym typeface="Calibri"/>
            </a:endParaRPr>
          </a:p>
        </p:txBody>
      </p:sp>
      <p:sp>
        <p:nvSpPr>
          <p:cNvPr id="40" name="Google Shape;40;p4"/>
          <p:cNvSpPr/>
          <p:nvPr/>
        </p:nvSpPr>
        <p:spPr>
          <a:xfrm>
            <a:off x="502920" y="1568196"/>
            <a:ext cx="8138160" cy="361188"/>
          </a:xfrm>
          <a:prstGeom prst="rect">
            <a:avLst/>
          </a:prstGeom>
          <a:solidFill>
            <a:srgbClr val="FDEEDC"/>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4"/>
          <p:cNvSpPr/>
          <p:nvPr/>
        </p:nvSpPr>
        <p:spPr>
          <a:xfrm>
            <a:off x="612648" y="1568196"/>
            <a:ext cx="36576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00"/>
              <a:buFont typeface="Poppins SemiBold"/>
              <a:buNone/>
            </a:pPr>
            <a:r>
              <a:rPr lang="en-US" sz="1200">
                <a:solidFill>
                  <a:srgbClr val="F6891E"/>
                </a:solidFill>
                <a:latin typeface="Poppins SemiBold"/>
                <a:ea typeface="Poppins SemiBold"/>
                <a:cs typeface="Poppins SemiBold"/>
                <a:sym typeface="Poppins SemiBold"/>
              </a:rPr>
              <a:t>2</a:t>
            </a:r>
            <a:endParaRPr sz="1200">
              <a:solidFill>
                <a:schemeClr val="dk1"/>
              </a:solidFill>
              <a:latin typeface="Calibri"/>
              <a:ea typeface="Calibri"/>
              <a:cs typeface="Calibri"/>
              <a:sym typeface="Calibri"/>
            </a:endParaRPr>
          </a:p>
        </p:txBody>
      </p:sp>
      <p:sp>
        <p:nvSpPr>
          <p:cNvPr id="42" name="Google Shape;42;p4"/>
          <p:cNvSpPr/>
          <p:nvPr/>
        </p:nvSpPr>
        <p:spPr>
          <a:xfrm>
            <a:off x="1033272" y="1568196"/>
            <a:ext cx="512064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Medium"/>
              <a:buNone/>
            </a:pPr>
            <a:r>
              <a:rPr lang="en-US" sz="1150">
                <a:solidFill>
                  <a:srgbClr val="1B2A30"/>
                </a:solidFill>
                <a:latin typeface="Poppins Medium"/>
                <a:ea typeface="Poppins Medium"/>
                <a:cs typeface="Poppins Medium"/>
                <a:sym typeface="Poppins Medium"/>
              </a:rPr>
              <a:t>One standard, three contexts</a:t>
            </a:r>
            <a:endParaRPr sz="1150">
              <a:solidFill>
                <a:schemeClr val="dk1"/>
              </a:solidFill>
              <a:latin typeface="Calibri"/>
              <a:ea typeface="Calibri"/>
              <a:cs typeface="Calibri"/>
              <a:sym typeface="Calibri"/>
            </a:endParaRPr>
          </a:p>
        </p:txBody>
      </p:sp>
      <p:sp>
        <p:nvSpPr>
          <p:cNvPr id="43" name="Google Shape;43;p4"/>
          <p:cNvSpPr/>
          <p:nvPr/>
        </p:nvSpPr>
        <p:spPr>
          <a:xfrm>
            <a:off x="6263640" y="1568196"/>
            <a:ext cx="86868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15 min</a:t>
            </a:r>
            <a:endParaRPr sz="1000">
              <a:solidFill>
                <a:schemeClr val="dk1"/>
              </a:solidFill>
              <a:latin typeface="Calibri"/>
              <a:ea typeface="Calibri"/>
              <a:cs typeface="Calibri"/>
              <a:sym typeface="Calibri"/>
            </a:endParaRPr>
          </a:p>
        </p:txBody>
      </p:sp>
      <p:sp>
        <p:nvSpPr>
          <p:cNvPr id="44" name="Google Shape;44;p4"/>
          <p:cNvSpPr/>
          <p:nvPr/>
        </p:nvSpPr>
        <p:spPr>
          <a:xfrm>
            <a:off x="7178040" y="1568196"/>
            <a:ext cx="1371600" cy="361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Input + discussion</a:t>
            </a:r>
            <a:endParaRPr sz="950">
              <a:solidFill>
                <a:schemeClr val="dk1"/>
              </a:solidFill>
              <a:latin typeface="Calibri"/>
              <a:ea typeface="Calibri"/>
              <a:cs typeface="Calibri"/>
              <a:sym typeface="Calibri"/>
            </a:endParaRPr>
          </a:p>
        </p:txBody>
      </p:sp>
      <p:sp>
        <p:nvSpPr>
          <p:cNvPr id="45" name="Google Shape;45;p4"/>
          <p:cNvSpPr/>
          <p:nvPr/>
        </p:nvSpPr>
        <p:spPr>
          <a:xfrm>
            <a:off x="502920" y="1929384"/>
            <a:ext cx="8138160" cy="361188"/>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612648" y="1929384"/>
            <a:ext cx="36576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00"/>
              <a:buFont typeface="Poppins SemiBold"/>
              <a:buNone/>
            </a:pPr>
            <a:r>
              <a:rPr lang="en-US" sz="1200">
                <a:solidFill>
                  <a:srgbClr val="F6891E"/>
                </a:solidFill>
                <a:latin typeface="Poppins SemiBold"/>
                <a:ea typeface="Poppins SemiBold"/>
                <a:cs typeface="Poppins SemiBold"/>
                <a:sym typeface="Poppins SemiBold"/>
              </a:rPr>
              <a:t>3</a:t>
            </a:r>
            <a:endParaRPr sz="1200">
              <a:solidFill>
                <a:schemeClr val="dk1"/>
              </a:solidFill>
              <a:latin typeface="Calibri"/>
              <a:ea typeface="Calibri"/>
              <a:cs typeface="Calibri"/>
              <a:sym typeface="Calibri"/>
            </a:endParaRPr>
          </a:p>
        </p:txBody>
      </p:sp>
      <p:sp>
        <p:nvSpPr>
          <p:cNvPr id="47" name="Google Shape;47;p4"/>
          <p:cNvSpPr/>
          <p:nvPr/>
        </p:nvSpPr>
        <p:spPr>
          <a:xfrm>
            <a:off x="1033272" y="1929384"/>
            <a:ext cx="512064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Medium"/>
              <a:buNone/>
            </a:pPr>
            <a:r>
              <a:rPr lang="en-US" sz="1150">
                <a:solidFill>
                  <a:srgbClr val="1B2A30"/>
                </a:solidFill>
                <a:latin typeface="Poppins Medium"/>
                <a:ea typeface="Poppins Medium"/>
                <a:cs typeface="Poppins Medium"/>
                <a:sym typeface="Poppins Medium"/>
              </a:rPr>
              <a:t>The reference you're already writing</a:t>
            </a:r>
            <a:endParaRPr sz="1150">
              <a:solidFill>
                <a:schemeClr val="dk1"/>
              </a:solidFill>
              <a:latin typeface="Calibri"/>
              <a:ea typeface="Calibri"/>
              <a:cs typeface="Calibri"/>
              <a:sym typeface="Calibri"/>
            </a:endParaRPr>
          </a:p>
        </p:txBody>
      </p:sp>
      <p:sp>
        <p:nvSpPr>
          <p:cNvPr id="48" name="Google Shape;48;p4"/>
          <p:cNvSpPr/>
          <p:nvPr/>
        </p:nvSpPr>
        <p:spPr>
          <a:xfrm>
            <a:off x="6263640" y="1929384"/>
            <a:ext cx="86868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10 min</a:t>
            </a:r>
            <a:endParaRPr sz="1000">
              <a:solidFill>
                <a:schemeClr val="dk1"/>
              </a:solidFill>
              <a:latin typeface="Calibri"/>
              <a:ea typeface="Calibri"/>
              <a:cs typeface="Calibri"/>
              <a:sym typeface="Calibri"/>
            </a:endParaRPr>
          </a:p>
        </p:txBody>
      </p:sp>
      <p:sp>
        <p:nvSpPr>
          <p:cNvPr id="49" name="Google Shape;49;p4"/>
          <p:cNvSpPr/>
          <p:nvPr/>
        </p:nvSpPr>
        <p:spPr>
          <a:xfrm>
            <a:off x="7178040" y="1929384"/>
            <a:ext cx="1371600" cy="361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Input</a:t>
            </a:r>
            <a:endParaRPr sz="950">
              <a:solidFill>
                <a:schemeClr val="dk1"/>
              </a:solidFill>
              <a:latin typeface="Calibri"/>
              <a:ea typeface="Calibri"/>
              <a:cs typeface="Calibri"/>
              <a:sym typeface="Calibri"/>
            </a:endParaRPr>
          </a:p>
        </p:txBody>
      </p:sp>
      <p:sp>
        <p:nvSpPr>
          <p:cNvPr id="50" name="Google Shape;50;p4"/>
          <p:cNvSpPr/>
          <p:nvPr/>
        </p:nvSpPr>
        <p:spPr>
          <a:xfrm>
            <a:off x="502920" y="2290572"/>
            <a:ext cx="8138160" cy="361188"/>
          </a:xfrm>
          <a:prstGeom prst="rect">
            <a:avLst/>
          </a:prstGeom>
          <a:solidFill>
            <a:srgbClr val="FDEEDC"/>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p:nvPr/>
        </p:nvSpPr>
        <p:spPr>
          <a:xfrm>
            <a:off x="612648" y="2290572"/>
            <a:ext cx="36576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00"/>
              <a:buFont typeface="Poppins SemiBold"/>
              <a:buNone/>
            </a:pPr>
            <a:r>
              <a:rPr lang="en-US" sz="1200">
                <a:solidFill>
                  <a:srgbClr val="F6891E"/>
                </a:solidFill>
                <a:latin typeface="Poppins SemiBold"/>
                <a:ea typeface="Poppins SemiBold"/>
                <a:cs typeface="Poppins SemiBold"/>
                <a:sym typeface="Poppins SemiBold"/>
              </a:rPr>
              <a:t>4</a:t>
            </a:r>
            <a:endParaRPr sz="1200">
              <a:solidFill>
                <a:schemeClr val="dk1"/>
              </a:solidFill>
              <a:latin typeface="Calibri"/>
              <a:ea typeface="Calibri"/>
              <a:cs typeface="Calibri"/>
              <a:sym typeface="Calibri"/>
            </a:endParaRPr>
          </a:p>
        </p:txBody>
      </p:sp>
      <p:sp>
        <p:nvSpPr>
          <p:cNvPr id="52" name="Google Shape;52;p4"/>
          <p:cNvSpPr/>
          <p:nvPr/>
        </p:nvSpPr>
        <p:spPr>
          <a:xfrm>
            <a:off x="1033272" y="2290572"/>
            <a:ext cx="512064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Medium"/>
              <a:buNone/>
            </a:pPr>
            <a:r>
              <a:rPr lang="en-US" sz="1150">
                <a:solidFill>
                  <a:srgbClr val="1B2A30"/>
                </a:solidFill>
                <a:latin typeface="Poppins Medium"/>
                <a:ea typeface="Poppins Medium"/>
                <a:cs typeface="Poppins Medium"/>
                <a:sym typeface="Poppins Medium"/>
              </a:rPr>
              <a:t>Human skills — what actually gets you hired</a:t>
            </a:r>
            <a:endParaRPr sz="1150">
              <a:solidFill>
                <a:schemeClr val="dk1"/>
              </a:solidFill>
              <a:latin typeface="Calibri"/>
              <a:ea typeface="Calibri"/>
              <a:cs typeface="Calibri"/>
              <a:sym typeface="Calibri"/>
            </a:endParaRPr>
          </a:p>
        </p:txBody>
      </p:sp>
      <p:sp>
        <p:nvSpPr>
          <p:cNvPr id="53" name="Google Shape;53;p4"/>
          <p:cNvSpPr/>
          <p:nvPr/>
        </p:nvSpPr>
        <p:spPr>
          <a:xfrm>
            <a:off x="6263640" y="2290572"/>
            <a:ext cx="86868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15 min</a:t>
            </a:r>
            <a:endParaRPr sz="1000">
              <a:solidFill>
                <a:schemeClr val="dk1"/>
              </a:solidFill>
              <a:latin typeface="Calibri"/>
              <a:ea typeface="Calibri"/>
              <a:cs typeface="Calibri"/>
              <a:sym typeface="Calibri"/>
            </a:endParaRPr>
          </a:p>
        </p:txBody>
      </p:sp>
      <p:sp>
        <p:nvSpPr>
          <p:cNvPr id="54" name="Google Shape;54;p4"/>
          <p:cNvSpPr/>
          <p:nvPr/>
        </p:nvSpPr>
        <p:spPr>
          <a:xfrm>
            <a:off x="7178040" y="2290572"/>
            <a:ext cx="1371600" cy="361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Input + self-audit</a:t>
            </a:r>
            <a:endParaRPr sz="950">
              <a:solidFill>
                <a:schemeClr val="dk1"/>
              </a:solidFill>
              <a:latin typeface="Calibri"/>
              <a:ea typeface="Calibri"/>
              <a:cs typeface="Calibri"/>
              <a:sym typeface="Calibri"/>
            </a:endParaRPr>
          </a:p>
        </p:txBody>
      </p:sp>
      <p:sp>
        <p:nvSpPr>
          <p:cNvPr id="55" name="Google Shape;55;p4"/>
          <p:cNvSpPr/>
          <p:nvPr/>
        </p:nvSpPr>
        <p:spPr>
          <a:xfrm>
            <a:off x="502920" y="2651760"/>
            <a:ext cx="8138160" cy="361188"/>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4"/>
          <p:cNvSpPr/>
          <p:nvPr/>
        </p:nvSpPr>
        <p:spPr>
          <a:xfrm>
            <a:off x="612648" y="2651760"/>
            <a:ext cx="36576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00"/>
              <a:buFont typeface="Poppins SemiBold"/>
              <a:buNone/>
            </a:pPr>
            <a:r>
              <a:rPr lang="en-US" sz="1200">
                <a:solidFill>
                  <a:srgbClr val="F6891E"/>
                </a:solidFill>
                <a:latin typeface="Poppins SemiBold"/>
                <a:ea typeface="Poppins SemiBold"/>
                <a:cs typeface="Poppins SemiBold"/>
                <a:sym typeface="Poppins SemiBold"/>
              </a:rPr>
              <a:t>5</a:t>
            </a:r>
            <a:endParaRPr sz="1200">
              <a:solidFill>
                <a:schemeClr val="dk1"/>
              </a:solidFill>
              <a:latin typeface="Calibri"/>
              <a:ea typeface="Calibri"/>
              <a:cs typeface="Calibri"/>
              <a:sym typeface="Calibri"/>
            </a:endParaRPr>
          </a:p>
        </p:txBody>
      </p:sp>
      <p:sp>
        <p:nvSpPr>
          <p:cNvPr id="57" name="Google Shape;57;p4"/>
          <p:cNvSpPr/>
          <p:nvPr/>
        </p:nvSpPr>
        <p:spPr>
          <a:xfrm>
            <a:off x="1033272" y="2651760"/>
            <a:ext cx="512064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Medium"/>
              <a:buNone/>
            </a:pPr>
            <a:r>
              <a:rPr lang="en-US" sz="1150">
                <a:solidFill>
                  <a:srgbClr val="1B2A30"/>
                </a:solidFill>
                <a:latin typeface="Poppins Medium"/>
                <a:ea typeface="Poppins Medium"/>
                <a:cs typeface="Poppins Medium"/>
                <a:sym typeface="Poppins Medium"/>
              </a:rPr>
              <a:t>Your Skills Assessment results</a:t>
            </a:r>
            <a:endParaRPr sz="1150">
              <a:solidFill>
                <a:schemeClr val="dk1"/>
              </a:solidFill>
              <a:latin typeface="Calibri"/>
              <a:ea typeface="Calibri"/>
              <a:cs typeface="Calibri"/>
              <a:sym typeface="Calibri"/>
            </a:endParaRPr>
          </a:p>
        </p:txBody>
      </p:sp>
      <p:sp>
        <p:nvSpPr>
          <p:cNvPr id="58" name="Google Shape;58;p4"/>
          <p:cNvSpPr/>
          <p:nvPr/>
        </p:nvSpPr>
        <p:spPr>
          <a:xfrm>
            <a:off x="6263640" y="2651760"/>
            <a:ext cx="86868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15 min</a:t>
            </a:r>
            <a:endParaRPr sz="1000">
              <a:solidFill>
                <a:schemeClr val="dk1"/>
              </a:solidFill>
              <a:latin typeface="Calibri"/>
              <a:ea typeface="Calibri"/>
              <a:cs typeface="Calibri"/>
              <a:sym typeface="Calibri"/>
            </a:endParaRPr>
          </a:p>
        </p:txBody>
      </p:sp>
      <p:sp>
        <p:nvSpPr>
          <p:cNvPr id="59" name="Google Shape;59;p4"/>
          <p:cNvSpPr/>
          <p:nvPr/>
        </p:nvSpPr>
        <p:spPr>
          <a:xfrm>
            <a:off x="7178040" y="2651760"/>
            <a:ext cx="1371600" cy="361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Activity</a:t>
            </a:r>
            <a:endParaRPr sz="950">
              <a:solidFill>
                <a:schemeClr val="dk1"/>
              </a:solidFill>
              <a:latin typeface="Calibri"/>
              <a:ea typeface="Calibri"/>
              <a:cs typeface="Calibri"/>
              <a:sym typeface="Calibri"/>
            </a:endParaRPr>
          </a:p>
        </p:txBody>
      </p:sp>
      <p:sp>
        <p:nvSpPr>
          <p:cNvPr id="60" name="Google Shape;60;p4"/>
          <p:cNvSpPr/>
          <p:nvPr/>
        </p:nvSpPr>
        <p:spPr>
          <a:xfrm>
            <a:off x="502920" y="3012948"/>
            <a:ext cx="8138160" cy="361188"/>
          </a:xfrm>
          <a:prstGeom prst="rect">
            <a:avLst/>
          </a:prstGeom>
          <a:solidFill>
            <a:srgbClr val="FDEEDC"/>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4"/>
          <p:cNvSpPr/>
          <p:nvPr/>
        </p:nvSpPr>
        <p:spPr>
          <a:xfrm>
            <a:off x="612648" y="3012948"/>
            <a:ext cx="36576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00"/>
              <a:buFont typeface="Poppins SemiBold"/>
              <a:buNone/>
            </a:pPr>
            <a:r>
              <a:rPr lang="en-US" sz="1200">
                <a:solidFill>
                  <a:srgbClr val="F6891E"/>
                </a:solidFill>
                <a:latin typeface="Poppins SemiBold"/>
                <a:ea typeface="Poppins SemiBold"/>
                <a:cs typeface="Poppins SemiBold"/>
                <a:sym typeface="Poppins SemiBold"/>
              </a:rPr>
              <a:t>6</a:t>
            </a:r>
            <a:endParaRPr sz="1200">
              <a:solidFill>
                <a:schemeClr val="dk1"/>
              </a:solidFill>
              <a:latin typeface="Calibri"/>
              <a:ea typeface="Calibri"/>
              <a:cs typeface="Calibri"/>
              <a:sym typeface="Calibri"/>
            </a:endParaRPr>
          </a:p>
        </p:txBody>
      </p:sp>
      <p:sp>
        <p:nvSpPr>
          <p:cNvPr id="62" name="Google Shape;62;p4"/>
          <p:cNvSpPr/>
          <p:nvPr/>
        </p:nvSpPr>
        <p:spPr>
          <a:xfrm>
            <a:off x="1033272" y="3012948"/>
            <a:ext cx="512064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Medium"/>
              <a:buNone/>
            </a:pPr>
            <a:r>
              <a:rPr lang="en-US" sz="1150">
                <a:solidFill>
                  <a:srgbClr val="1B2A30"/>
                </a:solidFill>
                <a:latin typeface="Poppins Medium"/>
                <a:ea typeface="Poppins Medium"/>
                <a:cs typeface="Poppins Medium"/>
                <a:sym typeface="Poppins Medium"/>
              </a:rPr>
              <a:t>Claims versus evidence</a:t>
            </a:r>
            <a:endParaRPr sz="1150">
              <a:solidFill>
                <a:schemeClr val="dk1"/>
              </a:solidFill>
              <a:latin typeface="Calibri"/>
              <a:ea typeface="Calibri"/>
              <a:cs typeface="Calibri"/>
              <a:sym typeface="Calibri"/>
            </a:endParaRPr>
          </a:p>
        </p:txBody>
      </p:sp>
      <p:sp>
        <p:nvSpPr>
          <p:cNvPr id="63" name="Google Shape;63;p4"/>
          <p:cNvSpPr/>
          <p:nvPr/>
        </p:nvSpPr>
        <p:spPr>
          <a:xfrm>
            <a:off x="6263640" y="3012948"/>
            <a:ext cx="86868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10 min</a:t>
            </a:r>
            <a:endParaRPr sz="1000">
              <a:solidFill>
                <a:schemeClr val="dk1"/>
              </a:solidFill>
              <a:latin typeface="Calibri"/>
              <a:ea typeface="Calibri"/>
              <a:cs typeface="Calibri"/>
              <a:sym typeface="Calibri"/>
            </a:endParaRPr>
          </a:p>
        </p:txBody>
      </p:sp>
      <p:sp>
        <p:nvSpPr>
          <p:cNvPr id="64" name="Google Shape;64;p4"/>
          <p:cNvSpPr/>
          <p:nvPr/>
        </p:nvSpPr>
        <p:spPr>
          <a:xfrm>
            <a:off x="7178040" y="3012948"/>
            <a:ext cx="1371600" cy="361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Input</a:t>
            </a:r>
            <a:endParaRPr sz="950">
              <a:solidFill>
                <a:schemeClr val="dk1"/>
              </a:solidFill>
              <a:latin typeface="Calibri"/>
              <a:ea typeface="Calibri"/>
              <a:cs typeface="Calibri"/>
              <a:sym typeface="Calibri"/>
            </a:endParaRPr>
          </a:p>
        </p:txBody>
      </p:sp>
      <p:sp>
        <p:nvSpPr>
          <p:cNvPr id="65" name="Google Shape;65;p4"/>
          <p:cNvSpPr/>
          <p:nvPr/>
        </p:nvSpPr>
        <p:spPr>
          <a:xfrm>
            <a:off x="502920" y="3374136"/>
            <a:ext cx="8138160" cy="361188"/>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p:nvPr/>
        </p:nvSpPr>
        <p:spPr>
          <a:xfrm>
            <a:off x="612648" y="3374136"/>
            <a:ext cx="36576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00"/>
              <a:buFont typeface="Poppins SemiBold"/>
              <a:buNone/>
            </a:pPr>
            <a:r>
              <a:rPr lang="en-US" sz="1200">
                <a:solidFill>
                  <a:srgbClr val="F6891E"/>
                </a:solidFill>
                <a:latin typeface="Poppins SemiBold"/>
                <a:ea typeface="Poppins SemiBold"/>
                <a:cs typeface="Poppins SemiBold"/>
                <a:sym typeface="Poppins SemiBold"/>
              </a:rPr>
              <a:t>7</a:t>
            </a:r>
            <a:endParaRPr sz="1200">
              <a:solidFill>
                <a:schemeClr val="dk1"/>
              </a:solidFill>
              <a:latin typeface="Calibri"/>
              <a:ea typeface="Calibri"/>
              <a:cs typeface="Calibri"/>
              <a:sym typeface="Calibri"/>
            </a:endParaRPr>
          </a:p>
        </p:txBody>
      </p:sp>
      <p:sp>
        <p:nvSpPr>
          <p:cNvPr id="67" name="Google Shape;67;p4"/>
          <p:cNvSpPr/>
          <p:nvPr/>
        </p:nvSpPr>
        <p:spPr>
          <a:xfrm>
            <a:off x="1033272" y="3374136"/>
            <a:ext cx="512064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Medium"/>
              <a:buNone/>
            </a:pPr>
            <a:r>
              <a:rPr lang="en-US" sz="1150">
                <a:solidFill>
                  <a:srgbClr val="1B2A30"/>
                </a:solidFill>
                <a:latin typeface="Poppins Medium"/>
                <a:ea typeface="Poppins Medium"/>
                <a:cs typeface="Poppins Medium"/>
                <a:sym typeface="Poppins Medium"/>
              </a:rPr>
              <a:t>Three strengths, with proof</a:t>
            </a:r>
            <a:endParaRPr sz="1150">
              <a:solidFill>
                <a:schemeClr val="dk1"/>
              </a:solidFill>
              <a:latin typeface="Calibri"/>
              <a:ea typeface="Calibri"/>
              <a:cs typeface="Calibri"/>
              <a:sym typeface="Calibri"/>
            </a:endParaRPr>
          </a:p>
        </p:txBody>
      </p:sp>
      <p:sp>
        <p:nvSpPr>
          <p:cNvPr id="68" name="Google Shape;68;p4"/>
          <p:cNvSpPr/>
          <p:nvPr/>
        </p:nvSpPr>
        <p:spPr>
          <a:xfrm>
            <a:off x="6263640" y="3374136"/>
            <a:ext cx="86868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10 min</a:t>
            </a:r>
            <a:endParaRPr sz="1000">
              <a:solidFill>
                <a:schemeClr val="dk1"/>
              </a:solidFill>
              <a:latin typeface="Calibri"/>
              <a:ea typeface="Calibri"/>
              <a:cs typeface="Calibri"/>
              <a:sym typeface="Calibri"/>
            </a:endParaRPr>
          </a:p>
        </p:txBody>
      </p:sp>
      <p:sp>
        <p:nvSpPr>
          <p:cNvPr id="69" name="Google Shape;69;p4"/>
          <p:cNvSpPr/>
          <p:nvPr/>
        </p:nvSpPr>
        <p:spPr>
          <a:xfrm>
            <a:off x="7178040" y="3374136"/>
            <a:ext cx="1371600" cy="361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Activity</a:t>
            </a:r>
            <a:endParaRPr sz="950">
              <a:solidFill>
                <a:schemeClr val="dk1"/>
              </a:solidFill>
              <a:latin typeface="Calibri"/>
              <a:ea typeface="Calibri"/>
              <a:cs typeface="Calibri"/>
              <a:sym typeface="Calibri"/>
            </a:endParaRPr>
          </a:p>
        </p:txBody>
      </p:sp>
      <p:sp>
        <p:nvSpPr>
          <p:cNvPr id="70" name="Google Shape;70;p4"/>
          <p:cNvSpPr/>
          <p:nvPr/>
        </p:nvSpPr>
        <p:spPr>
          <a:xfrm>
            <a:off x="502920" y="3735324"/>
            <a:ext cx="8138160" cy="361188"/>
          </a:xfrm>
          <a:prstGeom prst="rect">
            <a:avLst/>
          </a:prstGeom>
          <a:solidFill>
            <a:srgbClr val="FDEEDC"/>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4"/>
          <p:cNvSpPr/>
          <p:nvPr/>
        </p:nvSpPr>
        <p:spPr>
          <a:xfrm>
            <a:off x="612648" y="3735324"/>
            <a:ext cx="36576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00"/>
              <a:buFont typeface="Poppins SemiBold"/>
              <a:buNone/>
            </a:pPr>
            <a:r>
              <a:rPr lang="en-US" sz="1200">
                <a:solidFill>
                  <a:srgbClr val="F6891E"/>
                </a:solidFill>
                <a:latin typeface="Poppins SemiBold"/>
                <a:ea typeface="Poppins SemiBold"/>
                <a:cs typeface="Poppins SemiBold"/>
                <a:sym typeface="Poppins SemiBold"/>
              </a:rPr>
              <a:t>8</a:t>
            </a:r>
            <a:endParaRPr sz="1200">
              <a:solidFill>
                <a:schemeClr val="dk1"/>
              </a:solidFill>
              <a:latin typeface="Calibri"/>
              <a:ea typeface="Calibri"/>
              <a:cs typeface="Calibri"/>
              <a:sym typeface="Calibri"/>
            </a:endParaRPr>
          </a:p>
        </p:txBody>
      </p:sp>
      <p:sp>
        <p:nvSpPr>
          <p:cNvPr id="72" name="Google Shape;72;p4"/>
          <p:cNvSpPr/>
          <p:nvPr/>
        </p:nvSpPr>
        <p:spPr>
          <a:xfrm>
            <a:off x="1033272" y="3735324"/>
            <a:ext cx="512064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Medium"/>
              <a:buNone/>
            </a:pPr>
            <a:r>
              <a:rPr lang="en-US" sz="1150">
                <a:solidFill>
                  <a:srgbClr val="1B2A30"/>
                </a:solidFill>
                <a:latin typeface="Poppins Medium"/>
                <a:ea typeface="Poppins Medium"/>
                <a:cs typeface="Poppins Medium"/>
                <a:sym typeface="Poppins Medium"/>
              </a:rPr>
              <a:t>One thing</a:t>
            </a:r>
            <a:endParaRPr sz="1150">
              <a:solidFill>
                <a:schemeClr val="dk1"/>
              </a:solidFill>
              <a:latin typeface="Calibri"/>
              <a:ea typeface="Calibri"/>
              <a:cs typeface="Calibri"/>
              <a:sym typeface="Calibri"/>
            </a:endParaRPr>
          </a:p>
        </p:txBody>
      </p:sp>
      <p:sp>
        <p:nvSpPr>
          <p:cNvPr id="73" name="Google Shape;73;p4"/>
          <p:cNvSpPr/>
          <p:nvPr/>
        </p:nvSpPr>
        <p:spPr>
          <a:xfrm>
            <a:off x="6263640" y="3735324"/>
            <a:ext cx="868680" cy="361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5 min</a:t>
            </a:r>
            <a:endParaRPr sz="1000">
              <a:solidFill>
                <a:schemeClr val="dk1"/>
              </a:solidFill>
              <a:latin typeface="Calibri"/>
              <a:ea typeface="Calibri"/>
              <a:cs typeface="Calibri"/>
              <a:sym typeface="Calibri"/>
            </a:endParaRPr>
          </a:p>
        </p:txBody>
      </p:sp>
      <p:sp>
        <p:nvSpPr>
          <p:cNvPr id="74" name="Google Shape;74;p4"/>
          <p:cNvSpPr/>
          <p:nvPr/>
        </p:nvSpPr>
        <p:spPr>
          <a:xfrm>
            <a:off x="7178040" y="3735324"/>
            <a:ext cx="1371600" cy="3611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Commitment</a:t>
            </a:r>
            <a:endParaRPr sz="950">
              <a:solidFill>
                <a:schemeClr val="dk1"/>
              </a:solidFill>
              <a:latin typeface="Calibri"/>
              <a:ea typeface="Calibri"/>
              <a:cs typeface="Calibri"/>
              <a:sym typeface="Calibri"/>
            </a:endParaRPr>
          </a:p>
        </p:txBody>
      </p:sp>
      <p:sp>
        <p:nvSpPr>
          <p:cNvPr id="75" name="Google Shape;75;p4"/>
          <p:cNvSpPr/>
          <p:nvPr/>
        </p:nvSpPr>
        <p:spPr>
          <a:xfrm>
            <a:off x="502920" y="4224528"/>
            <a:ext cx="8138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i="1" lang="en-US" sz="1100">
                <a:solidFill>
                  <a:srgbClr val="5A6A6F"/>
                </a:solidFill>
                <a:latin typeface="Poppins"/>
                <a:ea typeface="Poppins"/>
                <a:cs typeface="Poppins"/>
                <a:sym typeface="Poppins"/>
              </a:rPr>
              <a:t>This is a working session. Most of it, you're producing — not listening.</a:t>
            </a:r>
            <a:endParaRPr sz="11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0" name="Shape 80"/>
        <p:cNvGrpSpPr/>
        <p:nvPr/>
      </p:nvGrpSpPr>
      <p:grpSpPr>
        <a:xfrm>
          <a:off x="0" y="0"/>
          <a:ext cx="0" cy="0"/>
          <a:chOff x="0" y="0"/>
          <a:chExt cx="0" cy="0"/>
        </a:xfrm>
      </p:grpSpPr>
      <p:sp>
        <p:nvSpPr>
          <p:cNvPr id="81" name="Google Shape;81;p5"/>
          <p:cNvSpPr/>
          <p:nvPr/>
        </p:nvSpPr>
        <p:spPr>
          <a:xfrm>
            <a:off x="502920" y="274320"/>
            <a:ext cx="6035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00"/>
              <a:buFont typeface="Poppins SemiBold"/>
              <a:buNone/>
            </a:pPr>
            <a:r>
              <a:rPr lang="en-US" sz="900">
                <a:solidFill>
                  <a:srgbClr val="F6891E"/>
                </a:solidFill>
                <a:latin typeface="Poppins SemiBold"/>
                <a:ea typeface="Poppins SemiBold"/>
                <a:cs typeface="Poppins SemiBold"/>
                <a:sym typeface="Poppins SemiBold"/>
              </a:rPr>
              <a:t>SETTLING IN · 10 MINUTES</a:t>
            </a:r>
            <a:endParaRPr sz="900">
              <a:solidFill>
                <a:schemeClr val="dk1"/>
              </a:solidFill>
              <a:latin typeface="Calibri"/>
              <a:ea typeface="Calibri"/>
              <a:cs typeface="Calibri"/>
              <a:sym typeface="Calibri"/>
            </a:endParaRPr>
          </a:p>
        </p:txBody>
      </p:sp>
      <p:sp>
        <p:nvSpPr>
          <p:cNvPr id="82" name="Google Shape;82;p5"/>
          <p:cNvSpPr/>
          <p:nvPr/>
        </p:nvSpPr>
        <p:spPr>
          <a:xfrm>
            <a:off x="502920" y="475488"/>
            <a:ext cx="694944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How is it going?</a:t>
            </a:r>
            <a:endParaRPr sz="2500">
              <a:solidFill>
                <a:schemeClr val="dk1"/>
              </a:solidFill>
              <a:latin typeface="Calibri"/>
              <a:ea typeface="Calibri"/>
              <a:cs typeface="Calibri"/>
              <a:sym typeface="Calibri"/>
            </a:endParaRPr>
          </a:p>
        </p:txBody>
      </p:sp>
      <p:sp>
        <p:nvSpPr>
          <p:cNvPr id="83" name="Google Shape;83;p5"/>
          <p:cNvSpPr/>
          <p:nvPr/>
        </p:nvSpPr>
        <p:spPr>
          <a:xfrm>
            <a:off x="7159752" y="310896"/>
            <a:ext cx="1481328" cy="274320"/>
          </a:xfrm>
          <a:prstGeom prst="roundRect">
            <a:avLst>
              <a:gd fmla="val 50000" name="adj"/>
            </a:avLst>
          </a:prstGeom>
          <a:solidFill>
            <a:srgbClr val="FFCF01"/>
          </a:solidFill>
          <a:ln cap="flat" cmpd="sng" w="12700">
            <a:solidFill>
              <a:srgbClr val="FFCF0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p:nvPr/>
        </p:nvSpPr>
        <p:spPr>
          <a:xfrm>
            <a:off x="7159752" y="299923"/>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850"/>
              <a:buFont typeface="Poppins SemiBold"/>
              <a:buNone/>
            </a:pPr>
            <a:r>
              <a:rPr lang="en-US" sz="850">
                <a:solidFill>
                  <a:srgbClr val="0D2434"/>
                </a:solidFill>
                <a:latin typeface="Poppins SemiBold"/>
                <a:ea typeface="Poppins SemiBold"/>
                <a:cs typeface="Poppins SemiBold"/>
                <a:sym typeface="Poppins SemiBold"/>
              </a:rPr>
              <a:t>DISCUSSION</a:t>
            </a:r>
            <a:endParaRPr sz="850">
              <a:solidFill>
                <a:schemeClr val="dk1"/>
              </a:solidFill>
              <a:latin typeface="Calibri"/>
              <a:ea typeface="Calibri"/>
              <a:cs typeface="Calibri"/>
              <a:sym typeface="Calibri"/>
            </a:endParaRPr>
          </a:p>
        </p:txBody>
      </p:sp>
      <p:sp>
        <p:nvSpPr>
          <p:cNvPr id="85" name="Google Shape;85;p5"/>
          <p:cNvSpPr/>
          <p:nvPr/>
        </p:nvSpPr>
        <p:spPr>
          <a:xfrm>
            <a:off x="502920" y="4850892"/>
            <a:ext cx="6858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700"/>
              <a:buFont typeface="Poppins"/>
              <a:buNone/>
            </a:pPr>
            <a:r>
              <a:rPr lang="en-US" sz="700">
                <a:solidFill>
                  <a:srgbClr val="5A6A6F"/>
                </a:solidFill>
                <a:latin typeface="Poppins"/>
                <a:ea typeface="Poppins"/>
                <a:cs typeface="Poppins"/>
                <a:sym typeface="Poppins"/>
              </a:rPr>
              <a:t>MODULE I  ·  PROFESSIONAL BEHAVIOUR &amp; PERSONAL STRENGTHS  ·  L3 YEAR 1</a:t>
            </a:r>
            <a:endParaRPr sz="700">
              <a:solidFill>
                <a:schemeClr val="dk1"/>
              </a:solidFill>
              <a:latin typeface="Calibri"/>
              <a:ea typeface="Calibri"/>
              <a:cs typeface="Calibri"/>
              <a:sym typeface="Calibri"/>
            </a:endParaRPr>
          </a:p>
        </p:txBody>
      </p:sp>
      <p:sp>
        <p:nvSpPr>
          <p:cNvPr id="86" name="Google Shape;86;p5"/>
          <p:cNvSpPr/>
          <p:nvPr/>
        </p:nvSpPr>
        <p:spPr>
          <a:xfrm>
            <a:off x="502920" y="111556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200"/>
              <a:buFont typeface="Poppins"/>
              <a:buNone/>
            </a:pPr>
            <a:r>
              <a:rPr lang="en-US" sz="1200">
                <a:solidFill>
                  <a:srgbClr val="5A6A6F"/>
                </a:solidFill>
                <a:latin typeface="Poppins"/>
                <a:ea typeface="Poppins"/>
                <a:cs typeface="Poppins"/>
                <a:sym typeface="Poppins"/>
              </a:rPr>
              <a:t>In pairs or threes. Nothing written down, nothing reported back unless you want to.</a:t>
            </a:r>
            <a:endParaRPr sz="1200">
              <a:solidFill>
                <a:schemeClr val="dk1"/>
              </a:solidFill>
              <a:latin typeface="Calibri"/>
              <a:ea typeface="Calibri"/>
              <a:cs typeface="Calibri"/>
              <a:sym typeface="Calibri"/>
            </a:endParaRPr>
          </a:p>
        </p:txBody>
      </p:sp>
      <p:sp>
        <p:nvSpPr>
          <p:cNvPr id="87" name="Google Shape;87;p5"/>
          <p:cNvSpPr/>
          <p:nvPr/>
        </p:nvSpPr>
        <p:spPr>
          <a:xfrm>
            <a:off x="502920" y="1572768"/>
            <a:ext cx="2587752" cy="2286000"/>
          </a:xfrm>
          <a:prstGeom prst="roundRect">
            <a:avLst>
              <a:gd fmla="val 240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8" name="Google Shape;88;p5"/>
          <p:cNvPicPr preferRelativeResize="0"/>
          <p:nvPr/>
        </p:nvPicPr>
        <p:blipFill rotWithShape="1">
          <a:blip r:embed="rId3">
            <a:alphaModFix/>
          </a:blip>
          <a:srcRect b="0" l="0" r="0" t="0"/>
          <a:stretch/>
        </p:blipFill>
        <p:spPr>
          <a:xfrm>
            <a:off x="704088" y="1792224"/>
            <a:ext cx="310896" cy="310896"/>
          </a:xfrm>
          <a:prstGeom prst="rect">
            <a:avLst/>
          </a:prstGeom>
          <a:noFill/>
          <a:ln>
            <a:noFill/>
          </a:ln>
        </p:spPr>
      </p:pic>
      <p:sp>
        <p:nvSpPr>
          <p:cNvPr id="89" name="Google Shape;89;p5"/>
          <p:cNvSpPr/>
          <p:nvPr/>
        </p:nvSpPr>
        <p:spPr>
          <a:xfrm>
            <a:off x="704088" y="2231136"/>
            <a:ext cx="218541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Three weeks in</a:t>
            </a:r>
            <a:endParaRPr sz="1300">
              <a:solidFill>
                <a:schemeClr val="dk1"/>
              </a:solidFill>
              <a:latin typeface="Calibri"/>
              <a:ea typeface="Calibri"/>
              <a:cs typeface="Calibri"/>
              <a:sym typeface="Calibri"/>
            </a:endParaRPr>
          </a:p>
        </p:txBody>
      </p:sp>
      <p:sp>
        <p:nvSpPr>
          <p:cNvPr id="90" name="Google Shape;90;p5"/>
          <p:cNvSpPr/>
          <p:nvPr/>
        </p:nvSpPr>
        <p:spPr>
          <a:xfrm>
            <a:off x="704088" y="2816352"/>
            <a:ext cx="2185416" cy="8595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What's working — and what's been harder than you expected? Software, deadlines, hours outside class?</a:t>
            </a:r>
            <a:endParaRPr sz="1050">
              <a:solidFill>
                <a:schemeClr val="dk1"/>
              </a:solidFill>
              <a:latin typeface="Calibri"/>
              <a:ea typeface="Calibri"/>
              <a:cs typeface="Calibri"/>
              <a:sym typeface="Calibri"/>
            </a:endParaRPr>
          </a:p>
        </p:txBody>
      </p:sp>
      <p:sp>
        <p:nvSpPr>
          <p:cNvPr id="91" name="Google Shape;91;p5"/>
          <p:cNvSpPr/>
          <p:nvPr/>
        </p:nvSpPr>
        <p:spPr>
          <a:xfrm>
            <a:off x="3273552" y="1572768"/>
            <a:ext cx="2587752" cy="2286000"/>
          </a:xfrm>
          <a:prstGeom prst="roundRect">
            <a:avLst>
              <a:gd fmla="val 240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2" name="Google Shape;92;p5"/>
          <p:cNvPicPr preferRelativeResize="0"/>
          <p:nvPr/>
        </p:nvPicPr>
        <p:blipFill rotWithShape="1">
          <a:blip r:embed="rId3">
            <a:alphaModFix/>
          </a:blip>
          <a:srcRect b="0" l="0" r="0" t="0"/>
          <a:stretch/>
        </p:blipFill>
        <p:spPr>
          <a:xfrm>
            <a:off x="3474720" y="1792224"/>
            <a:ext cx="310896" cy="310896"/>
          </a:xfrm>
          <a:prstGeom prst="rect">
            <a:avLst/>
          </a:prstGeom>
          <a:noFill/>
          <a:ln>
            <a:noFill/>
          </a:ln>
        </p:spPr>
      </p:pic>
      <p:sp>
        <p:nvSpPr>
          <p:cNvPr id="93" name="Google Shape;93;p5"/>
          <p:cNvSpPr/>
          <p:nvPr/>
        </p:nvSpPr>
        <p:spPr>
          <a:xfrm>
            <a:off x="3474720" y="2231136"/>
            <a:ext cx="218541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The most professional person you've met</a:t>
            </a:r>
            <a:endParaRPr sz="1300">
              <a:solidFill>
                <a:schemeClr val="dk1"/>
              </a:solidFill>
              <a:latin typeface="Calibri"/>
              <a:ea typeface="Calibri"/>
              <a:cs typeface="Calibri"/>
              <a:sym typeface="Calibri"/>
            </a:endParaRPr>
          </a:p>
        </p:txBody>
      </p:sp>
      <p:sp>
        <p:nvSpPr>
          <p:cNvPr id="94" name="Google Shape;94;p5"/>
          <p:cNvSpPr/>
          <p:nvPr/>
        </p:nvSpPr>
        <p:spPr>
          <a:xfrm>
            <a:off x="3474720" y="2816352"/>
            <a:ext cx="2185416" cy="8595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A supervisor, a visiting professional, someone whose work you follow. What did they actually do?</a:t>
            </a:r>
            <a:endParaRPr sz="1050">
              <a:solidFill>
                <a:schemeClr val="dk1"/>
              </a:solidFill>
              <a:latin typeface="Calibri"/>
              <a:ea typeface="Calibri"/>
              <a:cs typeface="Calibri"/>
              <a:sym typeface="Calibri"/>
            </a:endParaRPr>
          </a:p>
        </p:txBody>
      </p:sp>
      <p:sp>
        <p:nvSpPr>
          <p:cNvPr id="95" name="Google Shape;95;p5"/>
          <p:cNvSpPr/>
          <p:nvPr/>
        </p:nvSpPr>
        <p:spPr>
          <a:xfrm>
            <a:off x="6044184" y="1572768"/>
            <a:ext cx="2587752" cy="2286000"/>
          </a:xfrm>
          <a:prstGeom prst="roundRect">
            <a:avLst>
              <a:gd fmla="val 240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6" name="Google Shape;96;p5"/>
          <p:cNvPicPr preferRelativeResize="0"/>
          <p:nvPr/>
        </p:nvPicPr>
        <p:blipFill rotWithShape="1">
          <a:blip r:embed="rId3">
            <a:alphaModFix/>
          </a:blip>
          <a:srcRect b="0" l="0" r="0" t="0"/>
          <a:stretch/>
        </p:blipFill>
        <p:spPr>
          <a:xfrm>
            <a:off x="6245352" y="1792224"/>
            <a:ext cx="310896" cy="310896"/>
          </a:xfrm>
          <a:prstGeom prst="rect">
            <a:avLst/>
          </a:prstGeom>
          <a:noFill/>
          <a:ln>
            <a:noFill/>
          </a:ln>
        </p:spPr>
      </p:pic>
      <p:sp>
        <p:nvSpPr>
          <p:cNvPr id="97" name="Google Shape;97;p5"/>
          <p:cNvSpPr/>
          <p:nvPr/>
        </p:nvSpPr>
        <p:spPr>
          <a:xfrm>
            <a:off x="6245352" y="2231136"/>
            <a:ext cx="218541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The least professional</a:t>
            </a:r>
            <a:endParaRPr sz="1300">
              <a:solidFill>
                <a:schemeClr val="dk1"/>
              </a:solidFill>
              <a:latin typeface="Calibri"/>
              <a:ea typeface="Calibri"/>
              <a:cs typeface="Calibri"/>
              <a:sym typeface="Calibri"/>
            </a:endParaRPr>
          </a:p>
        </p:txBody>
      </p:sp>
      <p:sp>
        <p:nvSpPr>
          <p:cNvPr id="98" name="Google Shape;98;p5"/>
          <p:cNvSpPr/>
          <p:nvPr/>
        </p:nvSpPr>
        <p:spPr>
          <a:xfrm>
            <a:off x="6245352" y="2816352"/>
            <a:ext cx="2185416" cy="8595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Same question, other direction. What did it cost them — your trust, your custom, your respect?</a:t>
            </a:r>
            <a:endParaRPr sz="1050">
              <a:solidFill>
                <a:schemeClr val="dk1"/>
              </a:solidFill>
              <a:latin typeface="Calibri"/>
              <a:ea typeface="Calibri"/>
              <a:cs typeface="Calibri"/>
              <a:sym typeface="Calibri"/>
            </a:endParaRPr>
          </a:p>
        </p:txBody>
      </p:sp>
      <p:sp>
        <p:nvSpPr>
          <p:cNvPr id="99" name="Google Shape;99;p5"/>
          <p:cNvSpPr/>
          <p:nvPr/>
        </p:nvSpPr>
        <p:spPr>
          <a:xfrm>
            <a:off x="502920" y="402336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150"/>
              <a:buFont typeface="Poppins"/>
              <a:buNone/>
            </a:pPr>
            <a:r>
              <a:rPr i="1" lang="en-US" sz="1150">
                <a:solidFill>
                  <a:srgbClr val="F6891E"/>
                </a:solidFill>
                <a:latin typeface="Poppins"/>
                <a:ea typeface="Poppins"/>
                <a:cs typeface="Poppins"/>
                <a:sym typeface="Poppins"/>
              </a:rPr>
              <a:t>Hold on to those two people. We'll come back to them.</a:t>
            </a:r>
            <a:endParaRPr sz="11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04" name="Shape 104"/>
        <p:cNvGrpSpPr/>
        <p:nvPr/>
      </p:nvGrpSpPr>
      <p:grpSpPr>
        <a:xfrm>
          <a:off x="0" y="0"/>
          <a:ext cx="0" cy="0"/>
          <a:chOff x="0" y="0"/>
          <a:chExt cx="0" cy="0"/>
        </a:xfrm>
      </p:grpSpPr>
      <p:sp>
        <p:nvSpPr>
          <p:cNvPr id="105" name="Google Shape;105;p6"/>
          <p:cNvSpPr/>
          <p:nvPr/>
        </p:nvSpPr>
        <p:spPr>
          <a:xfrm>
            <a:off x="502920" y="274320"/>
            <a:ext cx="6035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00"/>
              <a:buFont typeface="Poppins SemiBold"/>
              <a:buNone/>
            </a:pPr>
            <a:r>
              <a:rPr lang="en-US" sz="900">
                <a:solidFill>
                  <a:srgbClr val="F6891E"/>
                </a:solidFill>
                <a:latin typeface="Poppins SemiBold"/>
                <a:ea typeface="Poppins SemiBold"/>
                <a:cs typeface="Poppins SemiBold"/>
                <a:sym typeface="Poppins SemiBold"/>
              </a:rPr>
              <a:t>PROFESSIONAL BEHAVIOUR</a:t>
            </a:r>
            <a:endParaRPr sz="900">
              <a:solidFill>
                <a:schemeClr val="dk1"/>
              </a:solidFill>
              <a:latin typeface="Calibri"/>
              <a:ea typeface="Calibri"/>
              <a:cs typeface="Calibri"/>
              <a:sym typeface="Calibri"/>
            </a:endParaRPr>
          </a:p>
        </p:txBody>
      </p:sp>
      <p:sp>
        <p:nvSpPr>
          <p:cNvPr id="106" name="Google Shape;106;p6"/>
          <p:cNvSpPr/>
          <p:nvPr/>
        </p:nvSpPr>
        <p:spPr>
          <a:xfrm>
            <a:off x="502920" y="475488"/>
            <a:ext cx="694944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One standard, three contexts</a:t>
            </a:r>
            <a:endParaRPr sz="2500">
              <a:solidFill>
                <a:schemeClr val="dk1"/>
              </a:solidFill>
              <a:latin typeface="Calibri"/>
              <a:ea typeface="Calibri"/>
              <a:cs typeface="Calibri"/>
              <a:sym typeface="Calibri"/>
            </a:endParaRPr>
          </a:p>
        </p:txBody>
      </p:sp>
      <p:sp>
        <p:nvSpPr>
          <p:cNvPr id="107" name="Google Shape;107;p6"/>
          <p:cNvSpPr/>
          <p:nvPr/>
        </p:nvSpPr>
        <p:spPr>
          <a:xfrm>
            <a:off x="7159752" y="310896"/>
            <a:ext cx="1481328" cy="274320"/>
          </a:xfrm>
          <a:prstGeom prst="roundRect">
            <a:avLst>
              <a:gd fmla="val 50000" name="adj"/>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6"/>
          <p:cNvSpPr/>
          <p:nvPr/>
        </p:nvSpPr>
        <p:spPr>
          <a:xfrm>
            <a:off x="7159752" y="299923"/>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Poppins SemiBold"/>
              <a:buNone/>
            </a:pPr>
            <a:r>
              <a:rPr lang="en-US" sz="850">
                <a:solidFill>
                  <a:srgbClr val="FFFFFF"/>
                </a:solidFill>
                <a:latin typeface="Poppins SemiBold"/>
                <a:ea typeface="Poppins SemiBold"/>
                <a:cs typeface="Poppins SemiBold"/>
                <a:sym typeface="Poppins SemiBold"/>
              </a:rPr>
              <a:t>TEACHER INPUT</a:t>
            </a:r>
            <a:endParaRPr sz="850">
              <a:solidFill>
                <a:schemeClr val="dk1"/>
              </a:solidFill>
              <a:latin typeface="Calibri"/>
              <a:ea typeface="Calibri"/>
              <a:cs typeface="Calibri"/>
              <a:sym typeface="Calibri"/>
            </a:endParaRPr>
          </a:p>
        </p:txBody>
      </p:sp>
      <p:sp>
        <p:nvSpPr>
          <p:cNvPr id="109" name="Google Shape;109;p6"/>
          <p:cNvSpPr/>
          <p:nvPr/>
        </p:nvSpPr>
        <p:spPr>
          <a:xfrm>
            <a:off x="502920" y="4850892"/>
            <a:ext cx="6858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700"/>
              <a:buFont typeface="Poppins"/>
              <a:buNone/>
            </a:pPr>
            <a:r>
              <a:rPr lang="en-US" sz="700">
                <a:solidFill>
                  <a:srgbClr val="5A6A6F"/>
                </a:solidFill>
                <a:latin typeface="Poppins"/>
                <a:ea typeface="Poppins"/>
                <a:cs typeface="Poppins"/>
                <a:sym typeface="Poppins"/>
              </a:rPr>
              <a:t>MODULE I  ·  PROFESSIONAL BEHAVIOUR &amp; PERSONAL STRENGTHS  ·  L3 YEAR 1</a:t>
            </a:r>
            <a:endParaRPr sz="700">
              <a:solidFill>
                <a:schemeClr val="dk1"/>
              </a:solidFill>
              <a:latin typeface="Calibri"/>
              <a:ea typeface="Calibri"/>
              <a:cs typeface="Calibri"/>
              <a:sym typeface="Calibri"/>
            </a:endParaRPr>
          </a:p>
        </p:txBody>
      </p:sp>
      <p:sp>
        <p:nvSpPr>
          <p:cNvPr id="110" name="Google Shape;110;p6"/>
          <p:cNvSpPr/>
          <p:nvPr/>
        </p:nvSpPr>
        <p:spPr>
          <a:xfrm>
            <a:off x="502920" y="1097280"/>
            <a:ext cx="81381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250"/>
              <a:buFont typeface="Poppins"/>
              <a:buNone/>
            </a:pPr>
            <a:r>
              <a:rPr lang="en-US" sz="1250">
                <a:solidFill>
                  <a:srgbClr val="1B2A30"/>
                </a:solidFill>
                <a:latin typeface="Poppins"/>
                <a:ea typeface="Poppins"/>
                <a:cs typeface="Poppins"/>
                <a:sym typeface="Poppins"/>
              </a:rPr>
              <a:t>Professionalism isn't a costume you put on for interviews. It's a set of habits — and the habits don't change with the setting.</a:t>
            </a:r>
            <a:endParaRPr sz="1250">
              <a:solidFill>
                <a:schemeClr val="dk1"/>
              </a:solidFill>
              <a:latin typeface="Calibri"/>
              <a:ea typeface="Calibri"/>
              <a:cs typeface="Calibri"/>
              <a:sym typeface="Calibri"/>
            </a:endParaRPr>
          </a:p>
        </p:txBody>
      </p:sp>
      <p:sp>
        <p:nvSpPr>
          <p:cNvPr id="111" name="Google Shape;111;p6"/>
          <p:cNvSpPr/>
          <p:nvPr/>
        </p:nvSpPr>
        <p:spPr>
          <a:xfrm>
            <a:off x="502920" y="1700784"/>
            <a:ext cx="1874520" cy="365760"/>
          </a:xfrm>
          <a:prstGeom prst="roundRect">
            <a:avLst>
              <a:gd fmla="val 50000" name="adj"/>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6"/>
          <p:cNvSpPr/>
          <p:nvPr/>
        </p:nvSpPr>
        <p:spPr>
          <a:xfrm>
            <a:off x="502920" y="1691640"/>
            <a:ext cx="18745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Poppins SemiBold"/>
              <a:buNone/>
            </a:pPr>
            <a:r>
              <a:rPr lang="en-US" sz="1000">
                <a:solidFill>
                  <a:srgbClr val="FFFFFF"/>
                </a:solidFill>
                <a:latin typeface="Poppins SemiBold"/>
                <a:ea typeface="Poppins SemiBold"/>
                <a:cs typeface="Poppins SemiBold"/>
                <a:sym typeface="Poppins SemiBold"/>
              </a:rPr>
              <a:t>IN COLLEGE</a:t>
            </a:r>
            <a:endParaRPr sz="1000">
              <a:solidFill>
                <a:schemeClr val="dk1"/>
              </a:solidFill>
              <a:latin typeface="Calibri"/>
              <a:ea typeface="Calibri"/>
              <a:cs typeface="Calibri"/>
              <a:sym typeface="Calibri"/>
            </a:endParaRPr>
          </a:p>
        </p:txBody>
      </p:sp>
      <p:sp>
        <p:nvSpPr>
          <p:cNvPr id="113" name="Google Shape;113;p6"/>
          <p:cNvSpPr/>
          <p:nvPr/>
        </p:nvSpPr>
        <p:spPr>
          <a:xfrm>
            <a:off x="2578608" y="1700784"/>
            <a:ext cx="1874520" cy="365760"/>
          </a:xfrm>
          <a:prstGeom prst="roundRect">
            <a:avLst>
              <a:gd fmla="val 50000"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6"/>
          <p:cNvSpPr/>
          <p:nvPr/>
        </p:nvSpPr>
        <p:spPr>
          <a:xfrm>
            <a:off x="2578608" y="1691640"/>
            <a:ext cx="18745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00"/>
              <a:buFont typeface="Poppins SemiBold"/>
              <a:buNone/>
            </a:pPr>
            <a:r>
              <a:rPr lang="en-US" sz="1000">
                <a:solidFill>
                  <a:srgbClr val="0D2434"/>
                </a:solidFill>
                <a:latin typeface="Poppins SemiBold"/>
                <a:ea typeface="Poppins SemiBold"/>
                <a:cs typeface="Poppins SemiBold"/>
                <a:sym typeface="Poppins SemiBold"/>
              </a:rPr>
              <a:t>ON PLACEMENT</a:t>
            </a:r>
            <a:endParaRPr sz="1000">
              <a:solidFill>
                <a:schemeClr val="dk1"/>
              </a:solidFill>
              <a:latin typeface="Calibri"/>
              <a:ea typeface="Calibri"/>
              <a:cs typeface="Calibri"/>
              <a:sym typeface="Calibri"/>
            </a:endParaRPr>
          </a:p>
        </p:txBody>
      </p:sp>
      <p:sp>
        <p:nvSpPr>
          <p:cNvPr id="115" name="Google Shape;115;p6"/>
          <p:cNvSpPr/>
          <p:nvPr/>
        </p:nvSpPr>
        <p:spPr>
          <a:xfrm>
            <a:off x="4654296" y="1700784"/>
            <a:ext cx="1874520" cy="365760"/>
          </a:xfrm>
          <a:prstGeom prst="roundRect">
            <a:avLst>
              <a:gd fmla="val 50000"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6"/>
          <p:cNvSpPr/>
          <p:nvPr/>
        </p:nvSpPr>
        <p:spPr>
          <a:xfrm>
            <a:off x="4654296" y="1691640"/>
            <a:ext cx="18745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00"/>
              <a:buFont typeface="Poppins SemiBold"/>
              <a:buNone/>
            </a:pPr>
            <a:r>
              <a:rPr lang="en-US" sz="1000">
                <a:solidFill>
                  <a:srgbClr val="0D2434"/>
                </a:solidFill>
                <a:latin typeface="Poppins SemiBold"/>
                <a:ea typeface="Poppins SemiBold"/>
                <a:cs typeface="Poppins SemiBold"/>
                <a:sym typeface="Poppins SemiBold"/>
              </a:rPr>
              <a:t>IN EMPLOYMENT</a:t>
            </a:r>
            <a:endParaRPr sz="1000">
              <a:solidFill>
                <a:schemeClr val="dk1"/>
              </a:solidFill>
              <a:latin typeface="Calibri"/>
              <a:ea typeface="Calibri"/>
              <a:cs typeface="Calibri"/>
              <a:sym typeface="Calibri"/>
            </a:endParaRPr>
          </a:p>
        </p:txBody>
      </p:sp>
      <p:sp>
        <p:nvSpPr>
          <p:cNvPr id="117" name="Google Shape;117;p6"/>
          <p:cNvSpPr/>
          <p:nvPr/>
        </p:nvSpPr>
        <p:spPr>
          <a:xfrm>
            <a:off x="6729984" y="1746504"/>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i="1" lang="en-US" sz="1100">
                <a:solidFill>
                  <a:srgbClr val="5A6A6F"/>
                </a:solidFill>
                <a:latin typeface="Poppins"/>
                <a:ea typeface="Poppins"/>
                <a:cs typeface="Poppins"/>
                <a:sym typeface="Poppins"/>
              </a:rPr>
              <a:t>— the list doesn't change:</a:t>
            </a:r>
            <a:endParaRPr sz="1100">
              <a:solidFill>
                <a:schemeClr val="dk1"/>
              </a:solidFill>
              <a:latin typeface="Calibri"/>
              <a:ea typeface="Calibri"/>
              <a:cs typeface="Calibri"/>
              <a:sym typeface="Calibri"/>
            </a:endParaRPr>
          </a:p>
        </p:txBody>
      </p:sp>
      <p:sp>
        <p:nvSpPr>
          <p:cNvPr id="118" name="Google Shape;118;p6"/>
          <p:cNvSpPr/>
          <p:nvPr/>
        </p:nvSpPr>
        <p:spPr>
          <a:xfrm>
            <a:off x="502920" y="2267712"/>
            <a:ext cx="5212080" cy="1847088"/>
          </a:xfrm>
          <a:prstGeom prst="roundRect">
            <a:avLst>
              <a:gd fmla="val 297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9" name="Google Shape;119;p6"/>
          <p:cNvPicPr preferRelativeResize="0"/>
          <p:nvPr/>
        </p:nvPicPr>
        <p:blipFill rotWithShape="1">
          <a:blip r:embed="rId3">
            <a:alphaModFix/>
          </a:blip>
          <a:srcRect b="0" l="0" r="0" t="0"/>
          <a:stretch/>
        </p:blipFill>
        <p:spPr>
          <a:xfrm>
            <a:off x="704088" y="2468880"/>
            <a:ext cx="219456" cy="219456"/>
          </a:xfrm>
          <a:prstGeom prst="rect">
            <a:avLst/>
          </a:prstGeom>
          <a:noFill/>
          <a:ln>
            <a:noFill/>
          </a:ln>
        </p:spPr>
      </p:pic>
      <p:sp>
        <p:nvSpPr>
          <p:cNvPr id="120" name="Google Shape;120;p6"/>
          <p:cNvSpPr/>
          <p:nvPr/>
        </p:nvSpPr>
        <p:spPr>
          <a:xfrm>
            <a:off x="1033272" y="2404872"/>
            <a:ext cx="4526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Turning up — on time, kit charged, files backed up</a:t>
            </a:r>
            <a:endParaRPr sz="1050">
              <a:solidFill>
                <a:schemeClr val="dk1"/>
              </a:solidFill>
              <a:latin typeface="Calibri"/>
              <a:ea typeface="Calibri"/>
              <a:cs typeface="Calibri"/>
              <a:sym typeface="Calibri"/>
            </a:endParaRPr>
          </a:p>
        </p:txBody>
      </p:sp>
      <p:pic>
        <p:nvPicPr>
          <p:cNvPr descr="preencoded.png" id="121" name="Google Shape;121;p6"/>
          <p:cNvPicPr preferRelativeResize="0"/>
          <p:nvPr/>
        </p:nvPicPr>
        <p:blipFill rotWithShape="1">
          <a:blip r:embed="rId3">
            <a:alphaModFix/>
          </a:blip>
          <a:srcRect b="0" l="0" r="0" t="0"/>
          <a:stretch/>
        </p:blipFill>
        <p:spPr>
          <a:xfrm>
            <a:off x="704088" y="2871216"/>
            <a:ext cx="219456" cy="219456"/>
          </a:xfrm>
          <a:prstGeom prst="rect">
            <a:avLst/>
          </a:prstGeom>
          <a:noFill/>
          <a:ln>
            <a:noFill/>
          </a:ln>
        </p:spPr>
      </p:pic>
      <p:sp>
        <p:nvSpPr>
          <p:cNvPr id="122" name="Google Shape;122;p6"/>
          <p:cNvSpPr/>
          <p:nvPr/>
        </p:nvSpPr>
        <p:spPr>
          <a:xfrm>
            <a:off x="1033272" y="2807208"/>
            <a:ext cx="4526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Flagging problems early — before a deadline or a deliverable slips</a:t>
            </a:r>
            <a:endParaRPr sz="1050">
              <a:solidFill>
                <a:schemeClr val="dk1"/>
              </a:solidFill>
              <a:latin typeface="Calibri"/>
              <a:ea typeface="Calibri"/>
              <a:cs typeface="Calibri"/>
              <a:sym typeface="Calibri"/>
            </a:endParaRPr>
          </a:p>
        </p:txBody>
      </p:sp>
      <p:pic>
        <p:nvPicPr>
          <p:cNvPr descr="preencoded.png" id="123" name="Google Shape;123;p6"/>
          <p:cNvPicPr preferRelativeResize="0"/>
          <p:nvPr/>
        </p:nvPicPr>
        <p:blipFill rotWithShape="1">
          <a:blip r:embed="rId3">
            <a:alphaModFix/>
          </a:blip>
          <a:srcRect b="0" l="0" r="0" t="0"/>
          <a:stretch/>
        </p:blipFill>
        <p:spPr>
          <a:xfrm>
            <a:off x="704088" y="3273552"/>
            <a:ext cx="219456" cy="219456"/>
          </a:xfrm>
          <a:prstGeom prst="rect">
            <a:avLst/>
          </a:prstGeom>
          <a:noFill/>
          <a:ln>
            <a:noFill/>
          </a:ln>
        </p:spPr>
      </p:pic>
      <p:sp>
        <p:nvSpPr>
          <p:cNvPr id="124" name="Google Shape;124;p6"/>
          <p:cNvSpPr/>
          <p:nvPr/>
        </p:nvSpPr>
        <p:spPr>
          <a:xfrm>
            <a:off x="1033272" y="3209544"/>
            <a:ext cx="4526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How you speak to people — in the room, in the group chat, and online</a:t>
            </a:r>
            <a:endParaRPr sz="1050">
              <a:solidFill>
                <a:schemeClr val="dk1"/>
              </a:solidFill>
              <a:latin typeface="Calibri"/>
              <a:ea typeface="Calibri"/>
              <a:cs typeface="Calibri"/>
              <a:sym typeface="Calibri"/>
            </a:endParaRPr>
          </a:p>
        </p:txBody>
      </p:sp>
      <p:pic>
        <p:nvPicPr>
          <p:cNvPr descr="preencoded.png" id="125" name="Google Shape;125;p6"/>
          <p:cNvPicPr preferRelativeResize="0"/>
          <p:nvPr/>
        </p:nvPicPr>
        <p:blipFill rotWithShape="1">
          <a:blip r:embed="rId3">
            <a:alphaModFix/>
          </a:blip>
          <a:srcRect b="0" l="0" r="0" t="0"/>
          <a:stretch/>
        </p:blipFill>
        <p:spPr>
          <a:xfrm>
            <a:off x="704088" y="3675888"/>
            <a:ext cx="219456" cy="219456"/>
          </a:xfrm>
          <a:prstGeom prst="rect">
            <a:avLst/>
          </a:prstGeom>
          <a:noFill/>
          <a:ln>
            <a:noFill/>
          </a:ln>
        </p:spPr>
      </p:pic>
      <p:sp>
        <p:nvSpPr>
          <p:cNvPr id="126" name="Google Shape;126;p6"/>
          <p:cNvSpPr/>
          <p:nvPr/>
        </p:nvSpPr>
        <p:spPr>
          <a:xfrm>
            <a:off x="1033272" y="3611880"/>
            <a:ext cx="452628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Owning mistakes and putting them right, rather than hiding them</a:t>
            </a:r>
            <a:endParaRPr sz="1050">
              <a:solidFill>
                <a:schemeClr val="dk1"/>
              </a:solidFill>
              <a:latin typeface="Calibri"/>
              <a:ea typeface="Calibri"/>
              <a:cs typeface="Calibri"/>
              <a:sym typeface="Calibri"/>
            </a:endParaRPr>
          </a:p>
        </p:txBody>
      </p:sp>
      <p:sp>
        <p:nvSpPr>
          <p:cNvPr id="127" name="Google Shape;127;p6"/>
          <p:cNvSpPr/>
          <p:nvPr/>
        </p:nvSpPr>
        <p:spPr>
          <a:xfrm>
            <a:off x="5943600" y="2267712"/>
            <a:ext cx="2697480" cy="1847088"/>
          </a:xfrm>
          <a:prstGeom prst="roundRect">
            <a:avLst>
              <a:gd fmla="val 2970" name="adj"/>
            </a:avLst>
          </a:prstGeom>
          <a:solidFill>
            <a:srgbClr val="0D2434"/>
          </a:solidFill>
          <a:ln>
            <a:noFill/>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6"/>
          <p:cNvSpPr/>
          <p:nvPr/>
        </p:nvSpPr>
        <p:spPr>
          <a:xfrm>
            <a:off x="6144768" y="2450592"/>
            <a:ext cx="1481328" cy="274320"/>
          </a:xfrm>
          <a:prstGeom prst="roundRect">
            <a:avLst>
              <a:gd fmla="val 50000"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6"/>
          <p:cNvSpPr/>
          <p:nvPr/>
        </p:nvSpPr>
        <p:spPr>
          <a:xfrm>
            <a:off x="6144768" y="2441448"/>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700"/>
              <a:buFont typeface="Poppins SemiBold"/>
              <a:buNone/>
            </a:pPr>
            <a:r>
              <a:rPr lang="en-US" sz="700">
                <a:solidFill>
                  <a:srgbClr val="0D2434"/>
                </a:solidFill>
                <a:latin typeface="Poppins SemiBold"/>
                <a:ea typeface="Poppins SemiBold"/>
                <a:cs typeface="Poppins SemiBold"/>
                <a:sym typeface="Poppins SemiBold"/>
              </a:rPr>
              <a:t>PROUD · SHOW RESPECT</a:t>
            </a:r>
            <a:endParaRPr sz="700">
              <a:solidFill>
                <a:schemeClr val="dk1"/>
              </a:solidFill>
              <a:latin typeface="Calibri"/>
              <a:ea typeface="Calibri"/>
              <a:cs typeface="Calibri"/>
              <a:sym typeface="Calibri"/>
            </a:endParaRPr>
          </a:p>
        </p:txBody>
      </p:sp>
      <p:sp>
        <p:nvSpPr>
          <p:cNvPr id="130" name="Google Shape;130;p6"/>
          <p:cNvSpPr/>
          <p:nvPr/>
        </p:nvSpPr>
        <p:spPr>
          <a:xfrm>
            <a:off x="6144768" y="2834640"/>
            <a:ext cx="2295144"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Medium"/>
              <a:buNone/>
            </a:pPr>
            <a:r>
              <a:rPr lang="en-US" sz="1100">
                <a:solidFill>
                  <a:srgbClr val="FFFFFF"/>
                </a:solidFill>
                <a:latin typeface="Poppins Medium"/>
                <a:ea typeface="Poppins Medium"/>
                <a:cs typeface="Poppins Medium"/>
                <a:sym typeface="Poppins Medium"/>
              </a:rPr>
              <a:t>This is Show Respect in practice — respect for people's time, for the work, and for your own future.</a:t>
            </a:r>
            <a:endParaRPr sz="1100">
              <a:solidFill>
                <a:schemeClr val="dk1"/>
              </a:solidFill>
              <a:latin typeface="Calibri"/>
              <a:ea typeface="Calibri"/>
              <a:cs typeface="Calibri"/>
              <a:sym typeface="Calibri"/>
            </a:endParaRPr>
          </a:p>
        </p:txBody>
      </p:sp>
      <p:sp>
        <p:nvSpPr>
          <p:cNvPr id="131" name="Google Shape;131;p6"/>
          <p:cNvSpPr/>
          <p:nvPr/>
        </p:nvSpPr>
        <p:spPr>
          <a:xfrm>
            <a:off x="6144768" y="3712464"/>
            <a:ext cx="2295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2D6"/>
              </a:buClr>
              <a:buSzPts val="950"/>
              <a:buFont typeface="Poppins"/>
              <a:buNone/>
            </a:pPr>
            <a:r>
              <a:rPr i="1" lang="en-US" sz="950">
                <a:solidFill>
                  <a:srgbClr val="C9D2D6"/>
                </a:solidFill>
                <a:latin typeface="Poppins"/>
                <a:ea typeface="Poppins"/>
                <a:cs typeface="Poppins"/>
                <a:sym typeface="Poppins"/>
              </a:rPr>
              <a:t>The people you described earlier were doing exactly this.</a:t>
            </a:r>
            <a:endParaRPr sz="950">
              <a:solidFill>
                <a:schemeClr val="dk1"/>
              </a:solidFill>
              <a:latin typeface="Calibri"/>
              <a:ea typeface="Calibri"/>
              <a:cs typeface="Calibri"/>
              <a:sym typeface="Calibri"/>
            </a:endParaRPr>
          </a:p>
        </p:txBody>
      </p:sp>
      <p:sp>
        <p:nvSpPr>
          <p:cNvPr id="132" name="Google Shape;132;p6"/>
          <p:cNvSpPr/>
          <p:nvPr/>
        </p:nvSpPr>
        <p:spPr>
          <a:xfrm>
            <a:off x="502920" y="4242816"/>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i="1" lang="en-US" sz="1100">
                <a:solidFill>
                  <a:srgbClr val="5A6A6F"/>
                </a:solidFill>
                <a:latin typeface="Poppins"/>
                <a:ea typeface="Poppins"/>
                <a:cs typeface="Poppins"/>
                <a:sym typeface="Poppins"/>
              </a:rPr>
              <a:t>Discuss: which of these four is hardest to keep up when nobody is checking? Why that one?</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37" name="Shape 137"/>
        <p:cNvGrpSpPr/>
        <p:nvPr/>
      </p:nvGrpSpPr>
      <p:grpSpPr>
        <a:xfrm>
          <a:off x="0" y="0"/>
          <a:ext cx="0" cy="0"/>
          <a:chOff x="0" y="0"/>
          <a:chExt cx="0" cy="0"/>
        </a:xfrm>
      </p:grpSpPr>
      <p:sp>
        <p:nvSpPr>
          <p:cNvPr id="138" name="Google Shape;138;p7"/>
          <p:cNvSpPr/>
          <p:nvPr/>
        </p:nvSpPr>
        <p:spPr>
          <a:xfrm>
            <a:off x="502920" y="274320"/>
            <a:ext cx="6035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00"/>
              <a:buFont typeface="Poppins SemiBold"/>
              <a:buNone/>
            </a:pPr>
            <a:r>
              <a:rPr lang="en-US" sz="900">
                <a:solidFill>
                  <a:srgbClr val="F6891E"/>
                </a:solidFill>
                <a:latin typeface="Poppins SemiBold"/>
                <a:ea typeface="Poppins SemiBold"/>
                <a:cs typeface="Poppins SemiBold"/>
                <a:sym typeface="Poppins SemiBold"/>
              </a:rPr>
              <a:t>ATTENDANCE &amp; PUNCTUALITY</a:t>
            </a:r>
            <a:endParaRPr sz="900">
              <a:solidFill>
                <a:schemeClr val="dk1"/>
              </a:solidFill>
              <a:latin typeface="Calibri"/>
              <a:ea typeface="Calibri"/>
              <a:cs typeface="Calibri"/>
              <a:sym typeface="Calibri"/>
            </a:endParaRPr>
          </a:p>
        </p:txBody>
      </p:sp>
      <p:sp>
        <p:nvSpPr>
          <p:cNvPr id="139" name="Google Shape;139;p7"/>
          <p:cNvSpPr/>
          <p:nvPr/>
        </p:nvSpPr>
        <p:spPr>
          <a:xfrm>
            <a:off x="502920" y="475488"/>
            <a:ext cx="694944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The reference you're already writing</a:t>
            </a:r>
            <a:endParaRPr sz="2500">
              <a:solidFill>
                <a:schemeClr val="dk1"/>
              </a:solidFill>
              <a:latin typeface="Calibri"/>
              <a:ea typeface="Calibri"/>
              <a:cs typeface="Calibri"/>
              <a:sym typeface="Calibri"/>
            </a:endParaRPr>
          </a:p>
        </p:txBody>
      </p:sp>
      <p:sp>
        <p:nvSpPr>
          <p:cNvPr id="140" name="Google Shape;140;p7"/>
          <p:cNvSpPr/>
          <p:nvPr/>
        </p:nvSpPr>
        <p:spPr>
          <a:xfrm>
            <a:off x="7159752" y="310896"/>
            <a:ext cx="1481328" cy="274320"/>
          </a:xfrm>
          <a:prstGeom prst="roundRect">
            <a:avLst>
              <a:gd fmla="val 50000" name="adj"/>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7"/>
          <p:cNvSpPr/>
          <p:nvPr/>
        </p:nvSpPr>
        <p:spPr>
          <a:xfrm>
            <a:off x="7159752" y="299923"/>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Poppins SemiBold"/>
              <a:buNone/>
            </a:pPr>
            <a:r>
              <a:rPr lang="en-US" sz="850">
                <a:solidFill>
                  <a:srgbClr val="FFFFFF"/>
                </a:solidFill>
                <a:latin typeface="Poppins SemiBold"/>
                <a:ea typeface="Poppins SemiBold"/>
                <a:cs typeface="Poppins SemiBold"/>
                <a:sym typeface="Poppins SemiBold"/>
              </a:rPr>
              <a:t>TEACHER INPUT</a:t>
            </a:r>
            <a:endParaRPr sz="850">
              <a:solidFill>
                <a:schemeClr val="dk1"/>
              </a:solidFill>
              <a:latin typeface="Calibri"/>
              <a:ea typeface="Calibri"/>
              <a:cs typeface="Calibri"/>
              <a:sym typeface="Calibri"/>
            </a:endParaRPr>
          </a:p>
        </p:txBody>
      </p:sp>
      <p:sp>
        <p:nvSpPr>
          <p:cNvPr id="142" name="Google Shape;142;p7"/>
          <p:cNvSpPr/>
          <p:nvPr/>
        </p:nvSpPr>
        <p:spPr>
          <a:xfrm>
            <a:off x="502920" y="4850892"/>
            <a:ext cx="6858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700"/>
              <a:buFont typeface="Poppins"/>
              <a:buNone/>
            </a:pPr>
            <a:r>
              <a:rPr lang="en-US" sz="700">
                <a:solidFill>
                  <a:srgbClr val="5A6A6F"/>
                </a:solidFill>
                <a:latin typeface="Poppins"/>
                <a:ea typeface="Poppins"/>
                <a:cs typeface="Poppins"/>
                <a:sym typeface="Poppins"/>
              </a:rPr>
              <a:t>MODULE I  ·  PROFESSIONAL BEHAVIOUR &amp; PERSONAL STRENGTHS  ·  L3 YEAR 1</a:t>
            </a:r>
            <a:endParaRPr sz="700">
              <a:solidFill>
                <a:schemeClr val="dk1"/>
              </a:solidFill>
              <a:latin typeface="Calibri"/>
              <a:ea typeface="Calibri"/>
              <a:cs typeface="Calibri"/>
              <a:sym typeface="Calibri"/>
            </a:endParaRPr>
          </a:p>
        </p:txBody>
      </p:sp>
      <p:sp>
        <p:nvSpPr>
          <p:cNvPr id="143" name="Google Shape;143;p7"/>
          <p:cNvSpPr/>
          <p:nvPr/>
        </p:nvSpPr>
        <p:spPr>
          <a:xfrm>
            <a:off x="502920" y="1097280"/>
            <a:ext cx="81381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250"/>
              <a:buFont typeface="Poppins"/>
              <a:buNone/>
            </a:pPr>
            <a:r>
              <a:rPr lang="en-US" sz="1250">
                <a:solidFill>
                  <a:srgbClr val="1B2A30"/>
                </a:solidFill>
                <a:latin typeface="Poppins"/>
                <a:ea typeface="Poppins"/>
                <a:cs typeface="Poppins"/>
                <a:sym typeface="Poppins"/>
              </a:rPr>
              <a:t>When you apply for a placement, an apprenticeship, a job or a degree, they ask us about you. You should know that from the start — not find out in Year 2.</a:t>
            </a:r>
            <a:endParaRPr sz="1250">
              <a:solidFill>
                <a:schemeClr val="dk1"/>
              </a:solidFill>
              <a:latin typeface="Calibri"/>
              <a:ea typeface="Calibri"/>
              <a:cs typeface="Calibri"/>
              <a:sym typeface="Calibri"/>
            </a:endParaRPr>
          </a:p>
        </p:txBody>
      </p:sp>
      <p:sp>
        <p:nvSpPr>
          <p:cNvPr id="144" name="Google Shape;144;p7"/>
          <p:cNvSpPr/>
          <p:nvPr/>
        </p:nvSpPr>
        <p:spPr>
          <a:xfrm>
            <a:off x="502920" y="1682496"/>
            <a:ext cx="5257800" cy="658368"/>
          </a:xfrm>
          <a:prstGeom prst="roundRect">
            <a:avLst>
              <a:gd fmla="val 694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 name="Google Shape;145;p7"/>
          <p:cNvSpPr/>
          <p:nvPr/>
        </p:nvSpPr>
        <p:spPr>
          <a:xfrm>
            <a:off x="685800" y="1773936"/>
            <a:ext cx="4892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050"/>
              <a:buFont typeface="Poppins SemiBold"/>
              <a:buNone/>
            </a:pPr>
            <a:r>
              <a:rPr lang="en-US" sz="1050">
                <a:solidFill>
                  <a:srgbClr val="F6891E"/>
                </a:solidFill>
                <a:latin typeface="Poppins SemiBold"/>
                <a:ea typeface="Poppins SemiBold"/>
                <a:cs typeface="Poppins SemiBold"/>
                <a:sym typeface="Poppins SemiBold"/>
              </a:rPr>
              <a:t>What gets asked</a:t>
            </a:r>
            <a:endParaRPr sz="1050">
              <a:solidFill>
                <a:schemeClr val="dk1"/>
              </a:solidFill>
              <a:latin typeface="Calibri"/>
              <a:ea typeface="Calibri"/>
              <a:cs typeface="Calibri"/>
              <a:sym typeface="Calibri"/>
            </a:endParaRPr>
          </a:p>
        </p:txBody>
      </p:sp>
      <p:sp>
        <p:nvSpPr>
          <p:cNvPr id="146" name="Google Shape;146;p7"/>
          <p:cNvSpPr/>
          <p:nvPr/>
        </p:nvSpPr>
        <p:spPr>
          <a:xfrm>
            <a:off x="685800" y="1984248"/>
            <a:ext cx="4892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References from ESCG staff routinely include attendance, punctuality and reliability — because employers and admissions teams ask for exactly that.</a:t>
            </a:r>
            <a:endParaRPr sz="950">
              <a:solidFill>
                <a:schemeClr val="dk1"/>
              </a:solidFill>
              <a:latin typeface="Calibri"/>
              <a:ea typeface="Calibri"/>
              <a:cs typeface="Calibri"/>
              <a:sym typeface="Calibri"/>
            </a:endParaRPr>
          </a:p>
        </p:txBody>
      </p:sp>
      <p:sp>
        <p:nvSpPr>
          <p:cNvPr id="147" name="Google Shape;147;p7"/>
          <p:cNvSpPr/>
          <p:nvPr/>
        </p:nvSpPr>
        <p:spPr>
          <a:xfrm>
            <a:off x="502920" y="2450592"/>
            <a:ext cx="5257800" cy="658368"/>
          </a:xfrm>
          <a:prstGeom prst="roundRect">
            <a:avLst>
              <a:gd fmla="val 694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7"/>
          <p:cNvSpPr/>
          <p:nvPr/>
        </p:nvSpPr>
        <p:spPr>
          <a:xfrm>
            <a:off x="685800" y="2542032"/>
            <a:ext cx="4892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050"/>
              <a:buFont typeface="Poppins SemiBold"/>
              <a:buNone/>
            </a:pPr>
            <a:r>
              <a:rPr lang="en-US" sz="1050">
                <a:solidFill>
                  <a:srgbClr val="F6891E"/>
                </a:solidFill>
                <a:latin typeface="Poppins SemiBold"/>
                <a:ea typeface="Poppins SemiBold"/>
                <a:cs typeface="Poppins SemiBold"/>
                <a:sym typeface="Poppins SemiBold"/>
              </a:rPr>
              <a:t>Pattern, not the odd bad day</a:t>
            </a:r>
            <a:endParaRPr sz="1050">
              <a:solidFill>
                <a:schemeClr val="dk1"/>
              </a:solidFill>
              <a:latin typeface="Calibri"/>
              <a:ea typeface="Calibri"/>
              <a:cs typeface="Calibri"/>
              <a:sym typeface="Calibri"/>
            </a:endParaRPr>
          </a:p>
        </p:txBody>
      </p:sp>
      <p:sp>
        <p:nvSpPr>
          <p:cNvPr id="149" name="Google Shape;149;p7"/>
          <p:cNvSpPr/>
          <p:nvPr/>
        </p:nvSpPr>
        <p:spPr>
          <a:xfrm>
            <a:off x="685800" y="2752344"/>
            <a:ext cx="4892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Nobody is compiling a charge sheet. A rough week happens to everyone. What a reference reflects is the pattern across the year.</a:t>
            </a:r>
            <a:endParaRPr sz="950">
              <a:solidFill>
                <a:schemeClr val="dk1"/>
              </a:solidFill>
              <a:latin typeface="Calibri"/>
              <a:ea typeface="Calibri"/>
              <a:cs typeface="Calibri"/>
              <a:sym typeface="Calibri"/>
            </a:endParaRPr>
          </a:p>
        </p:txBody>
      </p:sp>
      <p:sp>
        <p:nvSpPr>
          <p:cNvPr id="150" name="Google Shape;150;p7"/>
          <p:cNvSpPr/>
          <p:nvPr/>
        </p:nvSpPr>
        <p:spPr>
          <a:xfrm>
            <a:off x="502920" y="3218688"/>
            <a:ext cx="5257800" cy="658368"/>
          </a:xfrm>
          <a:prstGeom prst="roundRect">
            <a:avLst>
              <a:gd fmla="val 694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7"/>
          <p:cNvSpPr/>
          <p:nvPr/>
        </p:nvSpPr>
        <p:spPr>
          <a:xfrm>
            <a:off x="685800" y="3310128"/>
            <a:ext cx="4892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050"/>
              <a:buFont typeface="Poppins SemiBold"/>
              <a:buNone/>
            </a:pPr>
            <a:r>
              <a:rPr lang="en-US" sz="1050">
                <a:solidFill>
                  <a:srgbClr val="F6891E"/>
                </a:solidFill>
                <a:latin typeface="Poppins SemiBold"/>
                <a:ea typeface="Poppins SemiBold"/>
                <a:cs typeface="Poppins SemiBold"/>
                <a:sym typeface="Poppins SemiBold"/>
              </a:rPr>
              <a:t>Entirely in your control</a:t>
            </a:r>
            <a:endParaRPr sz="1050">
              <a:solidFill>
                <a:schemeClr val="dk1"/>
              </a:solidFill>
              <a:latin typeface="Calibri"/>
              <a:ea typeface="Calibri"/>
              <a:cs typeface="Calibri"/>
              <a:sym typeface="Calibri"/>
            </a:endParaRPr>
          </a:p>
        </p:txBody>
      </p:sp>
      <p:sp>
        <p:nvSpPr>
          <p:cNvPr id="152" name="Google Shape;152;p7"/>
          <p:cNvSpPr/>
          <p:nvPr/>
        </p:nvSpPr>
        <p:spPr>
          <a:xfrm>
            <a:off x="685800" y="3520440"/>
            <a:ext cx="4892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The record is built from small, repeated behaviours. Which means that, starting today, you are the one writing it.</a:t>
            </a:r>
            <a:endParaRPr sz="950">
              <a:solidFill>
                <a:schemeClr val="dk1"/>
              </a:solidFill>
              <a:latin typeface="Calibri"/>
              <a:ea typeface="Calibri"/>
              <a:cs typeface="Calibri"/>
              <a:sym typeface="Calibri"/>
            </a:endParaRPr>
          </a:p>
        </p:txBody>
      </p:sp>
      <p:sp>
        <p:nvSpPr>
          <p:cNvPr id="153" name="Google Shape;153;p7"/>
          <p:cNvSpPr/>
          <p:nvPr/>
        </p:nvSpPr>
        <p:spPr>
          <a:xfrm>
            <a:off x="5943600" y="1682496"/>
            <a:ext cx="2697480" cy="1170432"/>
          </a:xfrm>
          <a:prstGeom prst="roundRect">
            <a:avLst>
              <a:gd fmla="val 4688" name="adj"/>
            </a:avLst>
          </a:prstGeom>
          <a:solidFill>
            <a:srgbClr val="FFCF01"/>
          </a:solidFill>
          <a:ln>
            <a:noFill/>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7"/>
          <p:cNvSpPr/>
          <p:nvPr/>
        </p:nvSpPr>
        <p:spPr>
          <a:xfrm>
            <a:off x="6126480" y="1828800"/>
            <a:ext cx="2331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50"/>
              <a:buFont typeface="Poppins Medium"/>
              <a:buNone/>
            </a:pPr>
            <a:r>
              <a:rPr lang="en-US" sz="1150">
                <a:solidFill>
                  <a:srgbClr val="0D2434"/>
                </a:solidFill>
                <a:latin typeface="Poppins Medium"/>
                <a:ea typeface="Poppins Medium"/>
                <a:cs typeface="Poppins Medium"/>
                <a:sym typeface="Poppins Medium"/>
              </a:rPr>
              <a:t>If something is making it hard to show up —</a:t>
            </a:r>
            <a:endParaRPr sz="1150">
              <a:solidFill>
                <a:schemeClr val="dk1"/>
              </a:solidFill>
              <a:latin typeface="Calibri"/>
              <a:ea typeface="Calibri"/>
              <a:cs typeface="Calibri"/>
              <a:sym typeface="Calibri"/>
            </a:endParaRPr>
          </a:p>
        </p:txBody>
      </p:sp>
      <p:sp>
        <p:nvSpPr>
          <p:cNvPr id="155" name="Google Shape;155;p7"/>
          <p:cNvSpPr/>
          <p:nvPr/>
        </p:nvSpPr>
        <p:spPr>
          <a:xfrm>
            <a:off x="6126480" y="2304288"/>
            <a:ext cx="2331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600"/>
              <a:buFont typeface="Poppins SemiBold"/>
              <a:buNone/>
            </a:pPr>
            <a:r>
              <a:rPr lang="en-US" sz="1600">
                <a:solidFill>
                  <a:srgbClr val="0D2434"/>
                </a:solidFill>
                <a:latin typeface="Poppins SemiBold"/>
                <a:ea typeface="Poppins SemiBold"/>
                <a:cs typeface="Poppins SemiBold"/>
                <a:sym typeface="Poppins SemiBold"/>
              </a:rPr>
              <a:t>Tell someone. Early.</a:t>
            </a:r>
            <a:endParaRPr sz="1600">
              <a:solidFill>
                <a:schemeClr val="dk1"/>
              </a:solidFill>
              <a:latin typeface="Calibri"/>
              <a:ea typeface="Calibri"/>
              <a:cs typeface="Calibri"/>
              <a:sym typeface="Calibri"/>
            </a:endParaRPr>
          </a:p>
        </p:txBody>
      </p:sp>
      <p:sp>
        <p:nvSpPr>
          <p:cNvPr id="156" name="Google Shape;156;p7"/>
          <p:cNvSpPr/>
          <p:nvPr/>
        </p:nvSpPr>
        <p:spPr>
          <a:xfrm>
            <a:off x="5943600" y="2999232"/>
            <a:ext cx="2697480" cy="987552"/>
          </a:xfrm>
          <a:prstGeom prst="rect">
            <a:avLst/>
          </a:prstGeom>
          <a:solidFill>
            <a:srgbClr val="F8E7E3"/>
          </a:solidFill>
          <a:ln cap="flat" cmpd="sng" w="1905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7"/>
          <p:cNvSpPr/>
          <p:nvPr/>
        </p:nvSpPr>
        <p:spPr>
          <a:xfrm>
            <a:off x="6071616" y="3054096"/>
            <a:ext cx="2441448" cy="8778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850"/>
              <a:buFont typeface="Poppins SemiBold"/>
              <a:buNone/>
            </a:pPr>
            <a:r>
              <a:rPr lang="en-US" sz="850">
                <a:solidFill>
                  <a:srgbClr val="B23A2E"/>
                </a:solidFill>
                <a:latin typeface="Poppins SemiBold"/>
                <a:ea typeface="Poppins SemiBold"/>
                <a:cs typeface="Poppins SemiBold"/>
                <a:sym typeface="Poppins SemiBold"/>
              </a:rPr>
              <a:t>ESCG TO CONFIRM   </a:t>
            </a:r>
            <a:r>
              <a:rPr lang="en-US" sz="950">
                <a:solidFill>
                  <a:srgbClr val="1B2A30"/>
                </a:solidFill>
                <a:latin typeface="Poppins"/>
                <a:ea typeface="Poppins"/>
                <a:cs typeface="Poppins"/>
                <a:sym typeface="Poppins"/>
              </a:rPr>
              <a:t>Insert the first point of contact for attendance and personal barriers on this course — name, room, email. Confirm before delivery.</a:t>
            </a:r>
            <a:endParaRPr sz="8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62" name="Shape 162"/>
        <p:cNvGrpSpPr/>
        <p:nvPr/>
      </p:nvGrpSpPr>
      <p:grpSpPr>
        <a:xfrm>
          <a:off x="0" y="0"/>
          <a:ext cx="0" cy="0"/>
          <a:chOff x="0" y="0"/>
          <a:chExt cx="0" cy="0"/>
        </a:xfrm>
      </p:grpSpPr>
      <p:sp>
        <p:nvSpPr>
          <p:cNvPr id="163" name="Google Shape;163;p8"/>
          <p:cNvSpPr/>
          <p:nvPr/>
        </p:nvSpPr>
        <p:spPr>
          <a:xfrm>
            <a:off x="502920" y="274320"/>
            <a:ext cx="6035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00"/>
              <a:buFont typeface="Poppins SemiBold"/>
              <a:buNone/>
            </a:pPr>
            <a:r>
              <a:rPr lang="en-US" sz="900">
                <a:solidFill>
                  <a:srgbClr val="F6891E"/>
                </a:solidFill>
                <a:latin typeface="Poppins SemiBold"/>
                <a:ea typeface="Poppins SemiBold"/>
                <a:cs typeface="Poppins SemiBold"/>
                <a:sym typeface="Poppins SemiBold"/>
              </a:rPr>
              <a:t>EMPLOYABILITY</a:t>
            </a:r>
            <a:endParaRPr sz="900">
              <a:solidFill>
                <a:schemeClr val="dk1"/>
              </a:solidFill>
              <a:latin typeface="Calibri"/>
              <a:ea typeface="Calibri"/>
              <a:cs typeface="Calibri"/>
              <a:sym typeface="Calibri"/>
            </a:endParaRPr>
          </a:p>
        </p:txBody>
      </p:sp>
      <p:sp>
        <p:nvSpPr>
          <p:cNvPr id="164" name="Google Shape;164;p8"/>
          <p:cNvSpPr/>
          <p:nvPr/>
        </p:nvSpPr>
        <p:spPr>
          <a:xfrm>
            <a:off x="502920" y="475488"/>
            <a:ext cx="694944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Human skills — what actually gets you hired</a:t>
            </a:r>
            <a:endParaRPr sz="2500">
              <a:solidFill>
                <a:schemeClr val="dk1"/>
              </a:solidFill>
              <a:latin typeface="Calibri"/>
              <a:ea typeface="Calibri"/>
              <a:cs typeface="Calibri"/>
              <a:sym typeface="Calibri"/>
            </a:endParaRPr>
          </a:p>
        </p:txBody>
      </p:sp>
      <p:sp>
        <p:nvSpPr>
          <p:cNvPr id="165" name="Google Shape;165;p8"/>
          <p:cNvSpPr/>
          <p:nvPr/>
        </p:nvSpPr>
        <p:spPr>
          <a:xfrm>
            <a:off x="7159752" y="310896"/>
            <a:ext cx="1481328" cy="274320"/>
          </a:xfrm>
          <a:prstGeom prst="roundRect">
            <a:avLst>
              <a:gd fmla="val 50000" name="adj"/>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8"/>
          <p:cNvSpPr/>
          <p:nvPr/>
        </p:nvSpPr>
        <p:spPr>
          <a:xfrm>
            <a:off x="7159752" y="299923"/>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Poppins SemiBold"/>
              <a:buNone/>
            </a:pPr>
            <a:r>
              <a:rPr lang="en-US" sz="850">
                <a:solidFill>
                  <a:srgbClr val="FFFFFF"/>
                </a:solidFill>
                <a:latin typeface="Poppins SemiBold"/>
                <a:ea typeface="Poppins SemiBold"/>
                <a:cs typeface="Poppins SemiBold"/>
                <a:sym typeface="Poppins SemiBold"/>
              </a:rPr>
              <a:t>TEACHER INPUT</a:t>
            </a:r>
            <a:endParaRPr sz="850">
              <a:solidFill>
                <a:schemeClr val="dk1"/>
              </a:solidFill>
              <a:latin typeface="Calibri"/>
              <a:ea typeface="Calibri"/>
              <a:cs typeface="Calibri"/>
              <a:sym typeface="Calibri"/>
            </a:endParaRPr>
          </a:p>
        </p:txBody>
      </p:sp>
      <p:sp>
        <p:nvSpPr>
          <p:cNvPr id="167" name="Google Shape;167;p8"/>
          <p:cNvSpPr/>
          <p:nvPr/>
        </p:nvSpPr>
        <p:spPr>
          <a:xfrm>
            <a:off x="502920" y="4850892"/>
            <a:ext cx="6858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700"/>
              <a:buFont typeface="Poppins"/>
              <a:buNone/>
            </a:pPr>
            <a:r>
              <a:rPr lang="en-US" sz="700">
                <a:solidFill>
                  <a:srgbClr val="5A6A6F"/>
                </a:solidFill>
                <a:latin typeface="Poppins"/>
                <a:ea typeface="Poppins"/>
                <a:cs typeface="Poppins"/>
                <a:sym typeface="Poppins"/>
              </a:rPr>
              <a:t>MODULE I  ·  PROFESSIONAL BEHAVIOUR &amp; PERSONAL STRENGTHS  ·  L3 YEAR 1</a:t>
            </a:r>
            <a:endParaRPr sz="700">
              <a:solidFill>
                <a:schemeClr val="dk1"/>
              </a:solidFill>
              <a:latin typeface="Calibri"/>
              <a:ea typeface="Calibri"/>
              <a:cs typeface="Calibri"/>
              <a:sym typeface="Calibri"/>
            </a:endParaRPr>
          </a:p>
        </p:txBody>
      </p:sp>
      <p:sp>
        <p:nvSpPr>
          <p:cNvPr id="168" name="Google Shape;168;p8"/>
          <p:cNvSpPr/>
          <p:nvPr/>
        </p:nvSpPr>
        <p:spPr>
          <a:xfrm>
            <a:off x="502920" y="1078992"/>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Qualifications and technical skills get you shortlisted. At entry level, employers consistently report that the deciding factors are human.</a:t>
            </a:r>
            <a:endParaRPr sz="1200">
              <a:solidFill>
                <a:schemeClr val="dk1"/>
              </a:solidFill>
              <a:latin typeface="Calibri"/>
              <a:ea typeface="Calibri"/>
              <a:cs typeface="Calibri"/>
              <a:sym typeface="Calibri"/>
            </a:endParaRPr>
          </a:p>
        </p:txBody>
      </p:sp>
      <p:sp>
        <p:nvSpPr>
          <p:cNvPr id="169" name="Google Shape;169;p8"/>
          <p:cNvSpPr/>
          <p:nvPr/>
        </p:nvSpPr>
        <p:spPr>
          <a:xfrm>
            <a:off x="502920" y="1609344"/>
            <a:ext cx="2587752" cy="786384"/>
          </a:xfrm>
          <a:prstGeom prst="roundRect">
            <a:avLst>
              <a:gd fmla="val 581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0" name="Google Shape;170;p8"/>
          <p:cNvPicPr preferRelativeResize="0"/>
          <p:nvPr/>
        </p:nvPicPr>
        <p:blipFill rotWithShape="1">
          <a:blip r:embed="rId3">
            <a:alphaModFix/>
          </a:blip>
          <a:srcRect b="0" l="0" r="0" t="0"/>
          <a:stretch/>
        </p:blipFill>
        <p:spPr>
          <a:xfrm>
            <a:off x="649224" y="1746504"/>
            <a:ext cx="274320" cy="274320"/>
          </a:xfrm>
          <a:prstGeom prst="rect">
            <a:avLst/>
          </a:prstGeom>
          <a:noFill/>
          <a:ln>
            <a:noFill/>
          </a:ln>
        </p:spPr>
      </p:pic>
      <p:sp>
        <p:nvSpPr>
          <p:cNvPr id="171" name="Google Shape;171;p8"/>
          <p:cNvSpPr/>
          <p:nvPr/>
        </p:nvSpPr>
        <p:spPr>
          <a:xfrm>
            <a:off x="1014984" y="1700784"/>
            <a:ext cx="19476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Communication</a:t>
            </a:r>
            <a:endParaRPr sz="1100">
              <a:solidFill>
                <a:schemeClr val="dk1"/>
              </a:solidFill>
              <a:latin typeface="Calibri"/>
              <a:ea typeface="Calibri"/>
              <a:cs typeface="Calibri"/>
              <a:sym typeface="Calibri"/>
            </a:endParaRPr>
          </a:p>
        </p:txBody>
      </p:sp>
      <p:sp>
        <p:nvSpPr>
          <p:cNvPr id="172" name="Google Shape;172;p8"/>
          <p:cNvSpPr/>
          <p:nvPr/>
        </p:nvSpPr>
        <p:spPr>
          <a:xfrm>
            <a:off x="1014984" y="1938528"/>
            <a:ext cx="1947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explaining your work clearly — to a team, a client or an audience</a:t>
            </a:r>
            <a:endParaRPr sz="900">
              <a:solidFill>
                <a:schemeClr val="dk1"/>
              </a:solidFill>
              <a:latin typeface="Calibri"/>
              <a:ea typeface="Calibri"/>
              <a:cs typeface="Calibri"/>
              <a:sym typeface="Calibri"/>
            </a:endParaRPr>
          </a:p>
        </p:txBody>
      </p:sp>
      <p:sp>
        <p:nvSpPr>
          <p:cNvPr id="173" name="Google Shape;173;p8"/>
          <p:cNvSpPr/>
          <p:nvPr/>
        </p:nvSpPr>
        <p:spPr>
          <a:xfrm>
            <a:off x="3273552" y="1609344"/>
            <a:ext cx="2587752" cy="786384"/>
          </a:xfrm>
          <a:prstGeom prst="roundRect">
            <a:avLst>
              <a:gd fmla="val 581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4" name="Google Shape;174;p8"/>
          <p:cNvPicPr preferRelativeResize="0"/>
          <p:nvPr/>
        </p:nvPicPr>
        <p:blipFill rotWithShape="1">
          <a:blip r:embed="rId4">
            <a:alphaModFix/>
          </a:blip>
          <a:srcRect b="0" l="0" r="0" t="0"/>
          <a:stretch/>
        </p:blipFill>
        <p:spPr>
          <a:xfrm>
            <a:off x="3419856" y="1746504"/>
            <a:ext cx="274320" cy="274320"/>
          </a:xfrm>
          <a:prstGeom prst="rect">
            <a:avLst/>
          </a:prstGeom>
          <a:noFill/>
          <a:ln>
            <a:noFill/>
          </a:ln>
        </p:spPr>
      </p:pic>
      <p:sp>
        <p:nvSpPr>
          <p:cNvPr id="175" name="Google Shape;175;p8"/>
          <p:cNvSpPr/>
          <p:nvPr/>
        </p:nvSpPr>
        <p:spPr>
          <a:xfrm>
            <a:off x="3785616" y="1700784"/>
            <a:ext cx="19476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Teamwork</a:t>
            </a:r>
            <a:endParaRPr sz="1100">
              <a:solidFill>
                <a:schemeClr val="dk1"/>
              </a:solidFill>
              <a:latin typeface="Calibri"/>
              <a:ea typeface="Calibri"/>
              <a:cs typeface="Calibri"/>
              <a:sym typeface="Calibri"/>
            </a:endParaRPr>
          </a:p>
        </p:txBody>
      </p:sp>
      <p:sp>
        <p:nvSpPr>
          <p:cNvPr id="176" name="Google Shape;176;p8"/>
          <p:cNvSpPr/>
          <p:nvPr/>
        </p:nvSpPr>
        <p:spPr>
          <a:xfrm>
            <a:off x="3785616" y="1938528"/>
            <a:ext cx="1947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being someone people want to work with again</a:t>
            </a:r>
            <a:endParaRPr sz="900">
              <a:solidFill>
                <a:schemeClr val="dk1"/>
              </a:solidFill>
              <a:latin typeface="Calibri"/>
              <a:ea typeface="Calibri"/>
              <a:cs typeface="Calibri"/>
              <a:sym typeface="Calibri"/>
            </a:endParaRPr>
          </a:p>
        </p:txBody>
      </p:sp>
      <p:sp>
        <p:nvSpPr>
          <p:cNvPr id="177" name="Google Shape;177;p8"/>
          <p:cNvSpPr/>
          <p:nvPr/>
        </p:nvSpPr>
        <p:spPr>
          <a:xfrm>
            <a:off x="6044184" y="1609344"/>
            <a:ext cx="2587752" cy="786384"/>
          </a:xfrm>
          <a:prstGeom prst="roundRect">
            <a:avLst>
              <a:gd fmla="val 581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8" name="Google Shape;178;p8"/>
          <p:cNvPicPr preferRelativeResize="0"/>
          <p:nvPr/>
        </p:nvPicPr>
        <p:blipFill rotWithShape="1">
          <a:blip r:embed="rId5">
            <a:alphaModFix/>
          </a:blip>
          <a:srcRect b="0" l="0" r="0" t="0"/>
          <a:stretch/>
        </p:blipFill>
        <p:spPr>
          <a:xfrm>
            <a:off x="6190488" y="1746504"/>
            <a:ext cx="274320" cy="274320"/>
          </a:xfrm>
          <a:prstGeom prst="rect">
            <a:avLst/>
          </a:prstGeom>
          <a:noFill/>
          <a:ln>
            <a:noFill/>
          </a:ln>
        </p:spPr>
      </p:pic>
      <p:sp>
        <p:nvSpPr>
          <p:cNvPr id="179" name="Google Shape;179;p8"/>
          <p:cNvSpPr/>
          <p:nvPr/>
        </p:nvSpPr>
        <p:spPr>
          <a:xfrm>
            <a:off x="6556248" y="1700784"/>
            <a:ext cx="19476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Reliability</a:t>
            </a:r>
            <a:endParaRPr sz="1100">
              <a:solidFill>
                <a:schemeClr val="dk1"/>
              </a:solidFill>
              <a:latin typeface="Calibri"/>
              <a:ea typeface="Calibri"/>
              <a:cs typeface="Calibri"/>
              <a:sym typeface="Calibri"/>
            </a:endParaRPr>
          </a:p>
        </p:txBody>
      </p:sp>
      <p:sp>
        <p:nvSpPr>
          <p:cNvPr id="180" name="Google Shape;180;p8"/>
          <p:cNvSpPr/>
          <p:nvPr/>
        </p:nvSpPr>
        <p:spPr>
          <a:xfrm>
            <a:off x="6556248" y="1938528"/>
            <a:ext cx="1947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delivering what you promised, on the date you promised it</a:t>
            </a:r>
            <a:endParaRPr sz="900">
              <a:solidFill>
                <a:schemeClr val="dk1"/>
              </a:solidFill>
              <a:latin typeface="Calibri"/>
              <a:ea typeface="Calibri"/>
              <a:cs typeface="Calibri"/>
              <a:sym typeface="Calibri"/>
            </a:endParaRPr>
          </a:p>
        </p:txBody>
      </p:sp>
      <p:sp>
        <p:nvSpPr>
          <p:cNvPr id="181" name="Google Shape;181;p8"/>
          <p:cNvSpPr/>
          <p:nvPr/>
        </p:nvSpPr>
        <p:spPr>
          <a:xfrm>
            <a:off x="502920" y="2523744"/>
            <a:ext cx="2587752" cy="786384"/>
          </a:xfrm>
          <a:prstGeom prst="roundRect">
            <a:avLst>
              <a:gd fmla="val 581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2" name="Google Shape;182;p8"/>
          <p:cNvPicPr preferRelativeResize="0"/>
          <p:nvPr/>
        </p:nvPicPr>
        <p:blipFill rotWithShape="1">
          <a:blip r:embed="rId6">
            <a:alphaModFix/>
          </a:blip>
          <a:srcRect b="0" l="0" r="0" t="0"/>
          <a:stretch/>
        </p:blipFill>
        <p:spPr>
          <a:xfrm>
            <a:off x="649224" y="2660904"/>
            <a:ext cx="274320" cy="274320"/>
          </a:xfrm>
          <a:prstGeom prst="rect">
            <a:avLst/>
          </a:prstGeom>
          <a:noFill/>
          <a:ln>
            <a:noFill/>
          </a:ln>
        </p:spPr>
      </p:pic>
      <p:sp>
        <p:nvSpPr>
          <p:cNvPr id="183" name="Google Shape;183;p8"/>
          <p:cNvSpPr/>
          <p:nvPr/>
        </p:nvSpPr>
        <p:spPr>
          <a:xfrm>
            <a:off x="1014984" y="2615184"/>
            <a:ext cx="19476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Problem-solving</a:t>
            </a:r>
            <a:endParaRPr sz="1100">
              <a:solidFill>
                <a:schemeClr val="dk1"/>
              </a:solidFill>
              <a:latin typeface="Calibri"/>
              <a:ea typeface="Calibri"/>
              <a:cs typeface="Calibri"/>
              <a:sym typeface="Calibri"/>
            </a:endParaRPr>
          </a:p>
        </p:txBody>
      </p:sp>
      <p:sp>
        <p:nvSpPr>
          <p:cNvPr id="184" name="Google Shape;184;p8"/>
          <p:cNvSpPr/>
          <p:nvPr/>
        </p:nvSpPr>
        <p:spPr>
          <a:xfrm>
            <a:off x="1014984" y="2852928"/>
            <a:ext cx="1947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working it out when there's no tutorial and no template</a:t>
            </a:r>
            <a:endParaRPr sz="900">
              <a:solidFill>
                <a:schemeClr val="dk1"/>
              </a:solidFill>
              <a:latin typeface="Calibri"/>
              <a:ea typeface="Calibri"/>
              <a:cs typeface="Calibri"/>
              <a:sym typeface="Calibri"/>
            </a:endParaRPr>
          </a:p>
        </p:txBody>
      </p:sp>
      <p:sp>
        <p:nvSpPr>
          <p:cNvPr id="185" name="Google Shape;185;p8"/>
          <p:cNvSpPr/>
          <p:nvPr/>
        </p:nvSpPr>
        <p:spPr>
          <a:xfrm>
            <a:off x="3273552" y="2523744"/>
            <a:ext cx="2587752" cy="786384"/>
          </a:xfrm>
          <a:prstGeom prst="roundRect">
            <a:avLst>
              <a:gd fmla="val 581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6" name="Google Shape;186;p8"/>
          <p:cNvPicPr preferRelativeResize="0"/>
          <p:nvPr/>
        </p:nvPicPr>
        <p:blipFill rotWithShape="1">
          <a:blip r:embed="rId7">
            <a:alphaModFix/>
          </a:blip>
          <a:srcRect b="0" l="0" r="0" t="0"/>
          <a:stretch/>
        </p:blipFill>
        <p:spPr>
          <a:xfrm>
            <a:off x="3419856" y="2660904"/>
            <a:ext cx="274320" cy="274320"/>
          </a:xfrm>
          <a:prstGeom prst="rect">
            <a:avLst/>
          </a:prstGeom>
          <a:noFill/>
          <a:ln>
            <a:noFill/>
          </a:ln>
        </p:spPr>
      </p:pic>
      <p:sp>
        <p:nvSpPr>
          <p:cNvPr id="187" name="Google Shape;187;p8"/>
          <p:cNvSpPr/>
          <p:nvPr/>
        </p:nvSpPr>
        <p:spPr>
          <a:xfrm>
            <a:off x="3785616" y="2615184"/>
            <a:ext cx="19476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Adaptability</a:t>
            </a:r>
            <a:endParaRPr sz="1100">
              <a:solidFill>
                <a:schemeClr val="dk1"/>
              </a:solidFill>
              <a:latin typeface="Calibri"/>
              <a:ea typeface="Calibri"/>
              <a:cs typeface="Calibri"/>
              <a:sym typeface="Calibri"/>
            </a:endParaRPr>
          </a:p>
        </p:txBody>
      </p:sp>
      <p:sp>
        <p:nvSpPr>
          <p:cNvPr id="188" name="Google Shape;188;p8"/>
          <p:cNvSpPr/>
          <p:nvPr/>
        </p:nvSpPr>
        <p:spPr>
          <a:xfrm>
            <a:off x="3785616" y="2852928"/>
            <a:ext cx="1947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coping well when the brief, the kit or the client changes</a:t>
            </a:r>
            <a:endParaRPr sz="900">
              <a:solidFill>
                <a:schemeClr val="dk1"/>
              </a:solidFill>
              <a:latin typeface="Calibri"/>
              <a:ea typeface="Calibri"/>
              <a:cs typeface="Calibri"/>
              <a:sym typeface="Calibri"/>
            </a:endParaRPr>
          </a:p>
        </p:txBody>
      </p:sp>
      <p:sp>
        <p:nvSpPr>
          <p:cNvPr id="189" name="Google Shape;189;p8"/>
          <p:cNvSpPr/>
          <p:nvPr/>
        </p:nvSpPr>
        <p:spPr>
          <a:xfrm>
            <a:off x="6044184" y="2523744"/>
            <a:ext cx="2587752" cy="786384"/>
          </a:xfrm>
          <a:prstGeom prst="roundRect">
            <a:avLst>
              <a:gd fmla="val 581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0" name="Google Shape;190;p8"/>
          <p:cNvPicPr preferRelativeResize="0"/>
          <p:nvPr/>
        </p:nvPicPr>
        <p:blipFill rotWithShape="1">
          <a:blip r:embed="rId8">
            <a:alphaModFix/>
          </a:blip>
          <a:srcRect b="0" l="0" r="0" t="0"/>
          <a:stretch/>
        </p:blipFill>
        <p:spPr>
          <a:xfrm>
            <a:off x="6190488" y="2660904"/>
            <a:ext cx="274320" cy="274320"/>
          </a:xfrm>
          <a:prstGeom prst="rect">
            <a:avLst/>
          </a:prstGeom>
          <a:noFill/>
          <a:ln>
            <a:noFill/>
          </a:ln>
        </p:spPr>
      </p:pic>
      <p:sp>
        <p:nvSpPr>
          <p:cNvPr id="191" name="Google Shape;191;p8"/>
          <p:cNvSpPr/>
          <p:nvPr/>
        </p:nvSpPr>
        <p:spPr>
          <a:xfrm>
            <a:off x="6556248" y="2615184"/>
            <a:ext cx="194767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Initiative</a:t>
            </a:r>
            <a:endParaRPr sz="1100">
              <a:solidFill>
                <a:schemeClr val="dk1"/>
              </a:solidFill>
              <a:latin typeface="Calibri"/>
              <a:ea typeface="Calibri"/>
              <a:cs typeface="Calibri"/>
              <a:sym typeface="Calibri"/>
            </a:endParaRPr>
          </a:p>
        </p:txBody>
      </p:sp>
      <p:sp>
        <p:nvSpPr>
          <p:cNvPr id="192" name="Google Shape;192;p8"/>
          <p:cNvSpPr/>
          <p:nvPr/>
        </p:nvSpPr>
        <p:spPr>
          <a:xfrm>
            <a:off x="6556248" y="2852928"/>
            <a:ext cx="1947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a:buNone/>
            </a:pPr>
            <a:r>
              <a:rPr lang="en-US" sz="900">
                <a:solidFill>
                  <a:srgbClr val="5A6A6F"/>
                </a:solidFill>
                <a:latin typeface="Poppins"/>
                <a:ea typeface="Poppins"/>
                <a:cs typeface="Poppins"/>
                <a:sym typeface="Poppins"/>
              </a:rPr>
              <a:t>spotting what needs doing without being asked</a:t>
            </a:r>
            <a:endParaRPr sz="900">
              <a:solidFill>
                <a:schemeClr val="dk1"/>
              </a:solidFill>
              <a:latin typeface="Calibri"/>
              <a:ea typeface="Calibri"/>
              <a:cs typeface="Calibri"/>
              <a:sym typeface="Calibri"/>
            </a:endParaRPr>
          </a:p>
        </p:txBody>
      </p:sp>
      <p:sp>
        <p:nvSpPr>
          <p:cNvPr id="193" name="Google Shape;193;p8"/>
          <p:cNvSpPr/>
          <p:nvPr/>
        </p:nvSpPr>
        <p:spPr>
          <a:xfrm>
            <a:off x="502920" y="3438144"/>
            <a:ext cx="3931920" cy="859536"/>
          </a:xfrm>
          <a:prstGeom prst="roundRect">
            <a:avLst>
              <a:gd fmla="val 5319" name="adj"/>
            </a:avLst>
          </a:prstGeom>
          <a:solidFill>
            <a:srgbClr val="FDEED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8"/>
          <p:cNvSpPr/>
          <p:nvPr/>
        </p:nvSpPr>
        <p:spPr>
          <a:xfrm>
            <a:off x="649224" y="3511296"/>
            <a:ext cx="3657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00"/>
              <a:buFont typeface="Poppins SemiBold"/>
              <a:buNone/>
            </a:pPr>
            <a:r>
              <a:rPr lang="en-US" sz="1000">
                <a:solidFill>
                  <a:srgbClr val="0D2434"/>
                </a:solidFill>
                <a:latin typeface="Poppins SemiBold"/>
                <a:ea typeface="Poppins SemiBold"/>
                <a:cs typeface="Poppins SemiBold"/>
                <a:sym typeface="Poppins SemiBold"/>
              </a:rPr>
              <a:t>Quick audit  </a:t>
            </a:r>
            <a:r>
              <a:rPr lang="en-US" sz="950">
                <a:solidFill>
                  <a:srgbClr val="1B2A30"/>
                </a:solidFill>
                <a:latin typeface="Poppins"/>
                <a:ea typeface="Poppins"/>
                <a:cs typeface="Poppins"/>
                <a:sym typeface="Poppins"/>
              </a:rPr>
              <a:t>— which two would your last teacher or boss say are your strongest? Which one needs work? Jot all three down. You'll use them shortly.</a:t>
            </a:r>
            <a:endParaRPr sz="1000">
              <a:solidFill>
                <a:schemeClr val="dk1"/>
              </a:solidFill>
              <a:latin typeface="Calibri"/>
              <a:ea typeface="Calibri"/>
              <a:cs typeface="Calibri"/>
              <a:sym typeface="Calibri"/>
            </a:endParaRPr>
          </a:p>
        </p:txBody>
      </p:sp>
      <p:sp>
        <p:nvSpPr>
          <p:cNvPr id="195" name="Google Shape;195;p8"/>
          <p:cNvSpPr/>
          <p:nvPr/>
        </p:nvSpPr>
        <p:spPr>
          <a:xfrm>
            <a:off x="4617720" y="3438144"/>
            <a:ext cx="4023360" cy="859536"/>
          </a:xfrm>
          <a:prstGeom prst="rect">
            <a:avLst/>
          </a:prstGeom>
          <a:solidFill>
            <a:srgbClr val="F8E7E3"/>
          </a:solidFill>
          <a:ln cap="flat" cmpd="sng" w="1905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8"/>
          <p:cNvSpPr/>
          <p:nvPr/>
        </p:nvSpPr>
        <p:spPr>
          <a:xfrm>
            <a:off x="4745736" y="3493008"/>
            <a:ext cx="3767328"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850"/>
              <a:buFont typeface="Poppins SemiBold"/>
              <a:buNone/>
            </a:pPr>
            <a:r>
              <a:rPr lang="en-US" sz="850">
                <a:solidFill>
                  <a:srgbClr val="B23A2E"/>
                </a:solidFill>
                <a:latin typeface="Poppins SemiBold"/>
                <a:ea typeface="Poppins SemiBold"/>
                <a:cs typeface="Poppins SemiBold"/>
                <a:sym typeface="Poppins SemiBold"/>
              </a:rPr>
              <a:t>ESCG TO CONFIRM   </a:t>
            </a:r>
            <a:r>
              <a:rPr lang="en-US" sz="950">
                <a:solidFill>
                  <a:srgbClr val="1B2A30"/>
                </a:solidFill>
                <a:latin typeface="Poppins"/>
                <a:ea typeface="Poppins"/>
                <a:cs typeface="Poppins"/>
                <a:sym typeface="Poppins"/>
              </a:rPr>
              <a:t>Localised for Digital, Media, Film &amp; Computing — inferred, please review. Check with Careers whether your course's employers rank these differently.</a:t>
            </a:r>
            <a:endParaRPr sz="8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1" name="Shape 201"/>
        <p:cNvGrpSpPr/>
        <p:nvPr/>
      </p:nvGrpSpPr>
      <p:grpSpPr>
        <a:xfrm>
          <a:off x="0" y="0"/>
          <a:ext cx="0" cy="0"/>
          <a:chOff x="0" y="0"/>
          <a:chExt cx="0" cy="0"/>
        </a:xfrm>
      </p:grpSpPr>
      <p:sp>
        <p:nvSpPr>
          <p:cNvPr id="202" name="Google Shape;202;p9"/>
          <p:cNvSpPr/>
          <p:nvPr/>
        </p:nvSpPr>
        <p:spPr>
          <a:xfrm>
            <a:off x="502920" y="274320"/>
            <a:ext cx="6035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00"/>
              <a:buFont typeface="Poppins SemiBold"/>
              <a:buNone/>
            </a:pPr>
            <a:r>
              <a:rPr lang="en-US" sz="900">
                <a:solidFill>
                  <a:srgbClr val="F6891E"/>
                </a:solidFill>
                <a:latin typeface="Poppins SemiBold"/>
                <a:ea typeface="Poppins SemiBold"/>
                <a:cs typeface="Poppins SemiBold"/>
                <a:sym typeface="Poppins SemiBold"/>
              </a:rPr>
              <a:t>NAVIGATE · 15 MINUTES</a:t>
            </a:r>
            <a:endParaRPr sz="900">
              <a:solidFill>
                <a:schemeClr val="dk1"/>
              </a:solidFill>
              <a:latin typeface="Calibri"/>
              <a:ea typeface="Calibri"/>
              <a:cs typeface="Calibri"/>
              <a:sym typeface="Calibri"/>
            </a:endParaRPr>
          </a:p>
        </p:txBody>
      </p:sp>
      <p:sp>
        <p:nvSpPr>
          <p:cNvPr id="203" name="Google Shape;203;p9"/>
          <p:cNvSpPr/>
          <p:nvPr/>
        </p:nvSpPr>
        <p:spPr>
          <a:xfrm>
            <a:off x="502920" y="475488"/>
            <a:ext cx="694944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Your Skills Assessment — read it like data</a:t>
            </a:r>
            <a:endParaRPr sz="2500">
              <a:solidFill>
                <a:schemeClr val="dk1"/>
              </a:solidFill>
              <a:latin typeface="Calibri"/>
              <a:ea typeface="Calibri"/>
              <a:cs typeface="Calibri"/>
              <a:sym typeface="Calibri"/>
            </a:endParaRPr>
          </a:p>
        </p:txBody>
      </p:sp>
      <p:sp>
        <p:nvSpPr>
          <p:cNvPr id="204" name="Google Shape;204;p9"/>
          <p:cNvSpPr/>
          <p:nvPr/>
        </p:nvSpPr>
        <p:spPr>
          <a:xfrm>
            <a:off x="7159752" y="310896"/>
            <a:ext cx="1481328" cy="274320"/>
          </a:xfrm>
          <a:prstGeom prst="roundRect">
            <a:avLst>
              <a:gd fmla="val 50000" name="adj"/>
            </a:avLst>
          </a:prstGeom>
          <a:solidFill>
            <a:srgbClr val="F6891E"/>
          </a:solidFill>
          <a:ln cap="flat" cmpd="sng" w="12700">
            <a:solidFill>
              <a:srgbClr val="F6891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9"/>
          <p:cNvSpPr/>
          <p:nvPr/>
        </p:nvSpPr>
        <p:spPr>
          <a:xfrm>
            <a:off x="7159752" y="299923"/>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850"/>
              <a:buFont typeface="Poppins SemiBold"/>
              <a:buNone/>
            </a:pPr>
            <a:r>
              <a:rPr lang="en-US" sz="850">
                <a:solidFill>
                  <a:srgbClr val="0D2434"/>
                </a:solidFill>
                <a:latin typeface="Poppins SemiBold"/>
                <a:ea typeface="Poppins SemiBold"/>
                <a:cs typeface="Poppins SemiBold"/>
                <a:sym typeface="Poppins SemiBold"/>
              </a:rPr>
              <a:t>ACTIVITY</a:t>
            </a:r>
            <a:endParaRPr sz="850">
              <a:solidFill>
                <a:schemeClr val="dk1"/>
              </a:solidFill>
              <a:latin typeface="Calibri"/>
              <a:ea typeface="Calibri"/>
              <a:cs typeface="Calibri"/>
              <a:sym typeface="Calibri"/>
            </a:endParaRPr>
          </a:p>
        </p:txBody>
      </p:sp>
      <p:sp>
        <p:nvSpPr>
          <p:cNvPr id="206" name="Google Shape;206;p9"/>
          <p:cNvSpPr/>
          <p:nvPr/>
        </p:nvSpPr>
        <p:spPr>
          <a:xfrm>
            <a:off x="502920" y="4850892"/>
            <a:ext cx="6858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700"/>
              <a:buFont typeface="Poppins"/>
              <a:buNone/>
            </a:pPr>
            <a:r>
              <a:rPr lang="en-US" sz="700">
                <a:solidFill>
                  <a:srgbClr val="5A6A6F"/>
                </a:solidFill>
                <a:latin typeface="Poppins"/>
                <a:ea typeface="Poppins"/>
                <a:cs typeface="Poppins"/>
                <a:sym typeface="Poppins"/>
              </a:rPr>
              <a:t>MODULE I  ·  PROFESSIONAL BEHAVIOUR &amp; PERSONAL STRENGTHS  ·  L3 YEAR 1</a:t>
            </a:r>
            <a:endParaRPr sz="700">
              <a:solidFill>
                <a:schemeClr val="dk1"/>
              </a:solidFill>
              <a:latin typeface="Calibri"/>
              <a:ea typeface="Calibri"/>
              <a:cs typeface="Calibri"/>
              <a:sym typeface="Calibri"/>
            </a:endParaRPr>
          </a:p>
        </p:txBody>
      </p:sp>
      <p:sp>
        <p:nvSpPr>
          <p:cNvPr id="207" name="Google Shape;207;p9"/>
          <p:cNvSpPr/>
          <p:nvPr/>
        </p:nvSpPr>
        <p:spPr>
          <a:xfrm>
            <a:off x="502920" y="1078992"/>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You completed the Navigate Skills Assessment in the Navigate session. Today you put the results to work.</a:t>
            </a:r>
            <a:endParaRPr sz="1200">
              <a:solidFill>
                <a:schemeClr val="dk1"/>
              </a:solidFill>
              <a:latin typeface="Calibri"/>
              <a:ea typeface="Calibri"/>
              <a:cs typeface="Calibri"/>
              <a:sym typeface="Calibri"/>
            </a:endParaRPr>
          </a:p>
        </p:txBody>
      </p:sp>
      <p:sp>
        <p:nvSpPr>
          <p:cNvPr id="208" name="Google Shape;208;p9"/>
          <p:cNvSpPr/>
          <p:nvPr/>
        </p:nvSpPr>
        <p:spPr>
          <a:xfrm>
            <a:off x="502920" y="1517904"/>
            <a:ext cx="3950208" cy="969264"/>
          </a:xfrm>
          <a:prstGeom prst="roundRect">
            <a:avLst>
              <a:gd fmla="val 4717"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9"/>
          <p:cNvSpPr/>
          <p:nvPr/>
        </p:nvSpPr>
        <p:spPr>
          <a:xfrm>
            <a:off x="649224" y="1664208"/>
            <a:ext cx="384048" cy="38404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9"/>
          <p:cNvSpPr/>
          <p:nvPr/>
        </p:nvSpPr>
        <p:spPr>
          <a:xfrm>
            <a:off x="649224" y="16550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1</a:t>
            </a:r>
            <a:endParaRPr sz="1400">
              <a:solidFill>
                <a:schemeClr val="dk1"/>
              </a:solidFill>
              <a:latin typeface="Calibri"/>
              <a:ea typeface="Calibri"/>
              <a:cs typeface="Calibri"/>
              <a:sym typeface="Calibri"/>
            </a:endParaRPr>
          </a:p>
        </p:txBody>
      </p:sp>
      <p:sp>
        <p:nvSpPr>
          <p:cNvPr id="211" name="Google Shape;211;p9"/>
          <p:cNvSpPr/>
          <p:nvPr/>
        </p:nvSpPr>
        <p:spPr>
          <a:xfrm>
            <a:off x="1161288" y="1627632"/>
            <a:ext cx="312724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50"/>
              <a:buFont typeface="Poppins SemiBold"/>
              <a:buNone/>
            </a:pPr>
            <a:r>
              <a:rPr lang="en-US" sz="1150">
                <a:solidFill>
                  <a:srgbClr val="0D2434"/>
                </a:solidFill>
                <a:latin typeface="Poppins SemiBold"/>
                <a:ea typeface="Poppins SemiBold"/>
                <a:cs typeface="Poppins SemiBold"/>
                <a:sym typeface="Poppins SemiBold"/>
              </a:rPr>
              <a:t>Open your results</a:t>
            </a:r>
            <a:endParaRPr sz="1150">
              <a:solidFill>
                <a:schemeClr val="dk1"/>
              </a:solidFill>
              <a:latin typeface="Calibri"/>
              <a:ea typeface="Calibri"/>
              <a:cs typeface="Calibri"/>
              <a:sym typeface="Calibri"/>
            </a:endParaRPr>
          </a:p>
        </p:txBody>
      </p:sp>
      <p:sp>
        <p:nvSpPr>
          <p:cNvPr id="212" name="Google Shape;212;p9"/>
          <p:cNvSpPr/>
          <p:nvPr/>
        </p:nvSpPr>
        <p:spPr>
          <a:xfrm>
            <a:off x="1161288" y="1883664"/>
            <a:ext cx="312724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Log in to Navigate and find your Skills Assessment results.</a:t>
            </a:r>
            <a:endParaRPr sz="950">
              <a:solidFill>
                <a:schemeClr val="dk1"/>
              </a:solidFill>
              <a:latin typeface="Calibri"/>
              <a:ea typeface="Calibri"/>
              <a:cs typeface="Calibri"/>
              <a:sym typeface="Calibri"/>
            </a:endParaRPr>
          </a:p>
        </p:txBody>
      </p:sp>
      <p:sp>
        <p:nvSpPr>
          <p:cNvPr id="213" name="Google Shape;213;p9"/>
          <p:cNvSpPr/>
          <p:nvPr/>
        </p:nvSpPr>
        <p:spPr>
          <a:xfrm>
            <a:off x="4690872" y="1517904"/>
            <a:ext cx="3950208" cy="969264"/>
          </a:xfrm>
          <a:prstGeom prst="roundRect">
            <a:avLst>
              <a:gd fmla="val 4717"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9"/>
          <p:cNvSpPr/>
          <p:nvPr/>
        </p:nvSpPr>
        <p:spPr>
          <a:xfrm>
            <a:off x="4837176" y="1664208"/>
            <a:ext cx="384048" cy="38404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9"/>
          <p:cNvSpPr/>
          <p:nvPr/>
        </p:nvSpPr>
        <p:spPr>
          <a:xfrm>
            <a:off x="4837176" y="16550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2</a:t>
            </a:r>
            <a:endParaRPr sz="1400">
              <a:solidFill>
                <a:schemeClr val="dk1"/>
              </a:solidFill>
              <a:latin typeface="Calibri"/>
              <a:ea typeface="Calibri"/>
              <a:cs typeface="Calibri"/>
              <a:sym typeface="Calibri"/>
            </a:endParaRPr>
          </a:p>
        </p:txBody>
      </p:sp>
      <p:sp>
        <p:nvSpPr>
          <p:cNvPr id="216" name="Google Shape;216;p9"/>
          <p:cNvSpPr/>
          <p:nvPr/>
        </p:nvSpPr>
        <p:spPr>
          <a:xfrm>
            <a:off x="5349240" y="1627632"/>
            <a:ext cx="312724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50"/>
              <a:buFont typeface="Poppins SemiBold"/>
              <a:buNone/>
            </a:pPr>
            <a:r>
              <a:rPr lang="en-US" sz="1150">
                <a:solidFill>
                  <a:srgbClr val="0D2434"/>
                </a:solidFill>
                <a:latin typeface="Poppins SemiBold"/>
                <a:ea typeface="Poppins SemiBold"/>
                <a:cs typeface="Poppins SemiBold"/>
                <a:sym typeface="Poppins SemiBold"/>
              </a:rPr>
              <a:t>Interrogate them</a:t>
            </a:r>
            <a:endParaRPr sz="1150">
              <a:solidFill>
                <a:schemeClr val="dk1"/>
              </a:solidFill>
              <a:latin typeface="Calibri"/>
              <a:ea typeface="Calibri"/>
              <a:cs typeface="Calibri"/>
              <a:sym typeface="Calibri"/>
            </a:endParaRPr>
          </a:p>
        </p:txBody>
      </p:sp>
      <p:sp>
        <p:nvSpPr>
          <p:cNvPr id="217" name="Google Shape;217;p9"/>
          <p:cNvSpPr/>
          <p:nvPr/>
        </p:nvSpPr>
        <p:spPr>
          <a:xfrm>
            <a:off x="5349240" y="1883664"/>
            <a:ext cx="312724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Do you agree? Where's the gap between what it says and how you see yourself?</a:t>
            </a:r>
            <a:endParaRPr sz="950">
              <a:solidFill>
                <a:schemeClr val="dk1"/>
              </a:solidFill>
              <a:latin typeface="Calibri"/>
              <a:ea typeface="Calibri"/>
              <a:cs typeface="Calibri"/>
              <a:sym typeface="Calibri"/>
            </a:endParaRPr>
          </a:p>
        </p:txBody>
      </p:sp>
      <p:sp>
        <p:nvSpPr>
          <p:cNvPr id="218" name="Google Shape;218;p9"/>
          <p:cNvSpPr/>
          <p:nvPr/>
        </p:nvSpPr>
        <p:spPr>
          <a:xfrm>
            <a:off x="502920" y="2633472"/>
            <a:ext cx="3950208" cy="969264"/>
          </a:xfrm>
          <a:prstGeom prst="roundRect">
            <a:avLst>
              <a:gd fmla="val 4717"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9"/>
          <p:cNvSpPr/>
          <p:nvPr/>
        </p:nvSpPr>
        <p:spPr>
          <a:xfrm>
            <a:off x="649224" y="2779776"/>
            <a:ext cx="384048" cy="38404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9"/>
          <p:cNvSpPr/>
          <p:nvPr/>
        </p:nvSpPr>
        <p:spPr>
          <a:xfrm>
            <a:off x="649224" y="27706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3</a:t>
            </a:r>
            <a:endParaRPr sz="1400">
              <a:solidFill>
                <a:schemeClr val="dk1"/>
              </a:solidFill>
              <a:latin typeface="Calibri"/>
              <a:ea typeface="Calibri"/>
              <a:cs typeface="Calibri"/>
              <a:sym typeface="Calibri"/>
            </a:endParaRPr>
          </a:p>
        </p:txBody>
      </p:sp>
      <p:sp>
        <p:nvSpPr>
          <p:cNvPr id="221" name="Google Shape;221;p9"/>
          <p:cNvSpPr/>
          <p:nvPr/>
        </p:nvSpPr>
        <p:spPr>
          <a:xfrm>
            <a:off x="1161288" y="2743200"/>
            <a:ext cx="312724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50"/>
              <a:buFont typeface="Poppins SemiBold"/>
              <a:buNone/>
            </a:pPr>
            <a:r>
              <a:rPr lang="en-US" sz="1150">
                <a:solidFill>
                  <a:srgbClr val="0D2434"/>
                </a:solidFill>
                <a:latin typeface="Poppins SemiBold"/>
                <a:ea typeface="Poppins SemiBold"/>
                <a:cs typeface="Poppins SemiBold"/>
                <a:sym typeface="Poppins SemiBold"/>
              </a:rPr>
              <a:t>Pick two things</a:t>
            </a:r>
            <a:endParaRPr sz="1150">
              <a:solidFill>
                <a:schemeClr val="dk1"/>
              </a:solidFill>
              <a:latin typeface="Calibri"/>
              <a:ea typeface="Calibri"/>
              <a:cs typeface="Calibri"/>
              <a:sym typeface="Calibri"/>
            </a:endParaRPr>
          </a:p>
        </p:txBody>
      </p:sp>
      <p:sp>
        <p:nvSpPr>
          <p:cNvPr id="222" name="Google Shape;222;p9"/>
          <p:cNvSpPr/>
          <p:nvPr/>
        </p:nvSpPr>
        <p:spPr>
          <a:xfrm>
            <a:off x="1161288" y="2999232"/>
            <a:ext cx="312724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One strength it confirmed — and one development priority for this year.</a:t>
            </a:r>
            <a:endParaRPr sz="950">
              <a:solidFill>
                <a:schemeClr val="dk1"/>
              </a:solidFill>
              <a:latin typeface="Calibri"/>
              <a:ea typeface="Calibri"/>
              <a:cs typeface="Calibri"/>
              <a:sym typeface="Calibri"/>
            </a:endParaRPr>
          </a:p>
        </p:txBody>
      </p:sp>
      <p:sp>
        <p:nvSpPr>
          <p:cNvPr id="223" name="Google Shape;223;p9"/>
          <p:cNvSpPr/>
          <p:nvPr/>
        </p:nvSpPr>
        <p:spPr>
          <a:xfrm>
            <a:off x="4690872" y="2633472"/>
            <a:ext cx="3950208" cy="969264"/>
          </a:xfrm>
          <a:prstGeom prst="roundRect">
            <a:avLst>
              <a:gd fmla="val 4717"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9"/>
          <p:cNvSpPr/>
          <p:nvPr/>
        </p:nvSpPr>
        <p:spPr>
          <a:xfrm>
            <a:off x="4837176" y="2779776"/>
            <a:ext cx="384048" cy="38404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9"/>
          <p:cNvSpPr/>
          <p:nvPr/>
        </p:nvSpPr>
        <p:spPr>
          <a:xfrm>
            <a:off x="4837176" y="27706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4</a:t>
            </a:r>
            <a:endParaRPr sz="1400">
              <a:solidFill>
                <a:schemeClr val="dk1"/>
              </a:solidFill>
              <a:latin typeface="Calibri"/>
              <a:ea typeface="Calibri"/>
              <a:cs typeface="Calibri"/>
              <a:sym typeface="Calibri"/>
            </a:endParaRPr>
          </a:p>
        </p:txBody>
      </p:sp>
      <p:sp>
        <p:nvSpPr>
          <p:cNvPr id="226" name="Google Shape;226;p9"/>
          <p:cNvSpPr/>
          <p:nvPr/>
        </p:nvSpPr>
        <p:spPr>
          <a:xfrm>
            <a:off x="5349240" y="2743200"/>
            <a:ext cx="312724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50"/>
              <a:buFont typeface="Poppins SemiBold"/>
              <a:buNone/>
            </a:pPr>
            <a:r>
              <a:rPr lang="en-US" sz="1150">
                <a:solidFill>
                  <a:srgbClr val="0D2434"/>
                </a:solidFill>
                <a:latin typeface="Poppins SemiBold"/>
                <a:ea typeface="Poppins SemiBold"/>
                <a:cs typeface="Poppins SemiBold"/>
                <a:sym typeface="Poppins SemiBold"/>
              </a:rPr>
              <a:t>Cross-check</a:t>
            </a:r>
            <a:endParaRPr sz="1150">
              <a:solidFill>
                <a:schemeClr val="dk1"/>
              </a:solidFill>
              <a:latin typeface="Calibri"/>
              <a:ea typeface="Calibri"/>
              <a:cs typeface="Calibri"/>
              <a:sym typeface="Calibri"/>
            </a:endParaRPr>
          </a:p>
        </p:txBody>
      </p:sp>
      <p:sp>
        <p:nvSpPr>
          <p:cNvPr id="227" name="Google Shape;227;p9"/>
          <p:cNvSpPr/>
          <p:nvPr/>
        </p:nvSpPr>
        <p:spPr>
          <a:xfrm>
            <a:off x="5349240" y="2999232"/>
            <a:ext cx="312724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Compare with a partner. Does their read of you match the assessment's?</a:t>
            </a:r>
            <a:endParaRPr sz="950">
              <a:solidFill>
                <a:schemeClr val="dk1"/>
              </a:solidFill>
              <a:latin typeface="Calibri"/>
              <a:ea typeface="Calibri"/>
              <a:cs typeface="Calibri"/>
              <a:sym typeface="Calibri"/>
            </a:endParaRPr>
          </a:p>
        </p:txBody>
      </p:sp>
      <p:sp>
        <p:nvSpPr>
          <p:cNvPr id="228" name="Google Shape;228;p9"/>
          <p:cNvSpPr/>
          <p:nvPr/>
        </p:nvSpPr>
        <p:spPr>
          <a:xfrm>
            <a:off x="502920" y="374904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100"/>
              <a:buFont typeface="Poppins"/>
              <a:buNone/>
            </a:pPr>
            <a:r>
              <a:rPr i="1" lang="en-US" sz="1100">
                <a:solidFill>
                  <a:srgbClr val="F6891E"/>
                </a:solidFill>
                <a:latin typeface="Poppins"/>
                <a:ea typeface="Poppins"/>
                <a:cs typeface="Poppins"/>
                <a:sym typeface="Poppins"/>
              </a:rPr>
              <a:t>The assessment is a starting point, not a verdict. Its job is to give you language and a place to begin — the judgement stays yours.</a:t>
            </a:r>
            <a:endParaRPr sz="1100">
              <a:solidFill>
                <a:schemeClr val="dk1"/>
              </a:solidFill>
              <a:latin typeface="Calibri"/>
              <a:ea typeface="Calibri"/>
              <a:cs typeface="Calibri"/>
              <a:sym typeface="Calibri"/>
            </a:endParaRPr>
          </a:p>
        </p:txBody>
      </p:sp>
      <p:sp>
        <p:nvSpPr>
          <p:cNvPr id="229" name="Google Shape;229;p9"/>
          <p:cNvSpPr/>
          <p:nvPr/>
        </p:nvSpPr>
        <p:spPr>
          <a:xfrm>
            <a:off x="502920" y="4096512"/>
            <a:ext cx="8138160" cy="749808"/>
          </a:xfrm>
          <a:prstGeom prst="rect">
            <a:avLst/>
          </a:prstGeom>
          <a:solidFill>
            <a:srgbClr val="F8E7E3"/>
          </a:solidFill>
          <a:ln cap="flat" cmpd="sng" w="1905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9"/>
          <p:cNvSpPr/>
          <p:nvPr/>
        </p:nvSpPr>
        <p:spPr>
          <a:xfrm>
            <a:off x="630936" y="4151376"/>
            <a:ext cx="788212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850"/>
              <a:buFont typeface="Poppins SemiBold"/>
              <a:buNone/>
            </a:pPr>
            <a:r>
              <a:rPr lang="en-US" sz="850">
                <a:solidFill>
                  <a:srgbClr val="B23A2E"/>
                </a:solidFill>
                <a:latin typeface="Poppins SemiBold"/>
                <a:ea typeface="Poppins SemiBold"/>
                <a:cs typeface="Poppins SemiBold"/>
                <a:sym typeface="Poppins SemiBold"/>
              </a:rPr>
              <a:t>ESCG TO CONFIRM   </a:t>
            </a:r>
            <a:r>
              <a:rPr lang="en-US" sz="950">
                <a:solidFill>
                  <a:srgbClr val="1B2A30"/>
                </a:solidFill>
                <a:latin typeface="Poppins"/>
                <a:ea typeface="Poppins"/>
                <a:cs typeface="Poppins"/>
                <a:sym typeface="Poppins"/>
              </a:rPr>
              <a:t>Confirm the Navigate login route for this group, and check with the Module H deliverer which students have not yet completed the Skills Assessment. Those students complete it now — insert the route here.</a:t>
            </a:r>
            <a:endParaRPr sz="8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35" name="Shape 235"/>
        <p:cNvGrpSpPr/>
        <p:nvPr/>
      </p:nvGrpSpPr>
      <p:grpSpPr>
        <a:xfrm>
          <a:off x="0" y="0"/>
          <a:ext cx="0" cy="0"/>
          <a:chOff x="0" y="0"/>
          <a:chExt cx="0" cy="0"/>
        </a:xfrm>
      </p:grpSpPr>
      <p:sp>
        <p:nvSpPr>
          <p:cNvPr id="236" name="Google Shape;236;p10"/>
          <p:cNvSpPr/>
          <p:nvPr/>
        </p:nvSpPr>
        <p:spPr>
          <a:xfrm>
            <a:off x="502920" y="274320"/>
            <a:ext cx="6035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00"/>
              <a:buFont typeface="Poppins SemiBold"/>
              <a:buNone/>
            </a:pPr>
            <a:r>
              <a:rPr lang="en-US" sz="900">
                <a:solidFill>
                  <a:srgbClr val="F6891E"/>
                </a:solidFill>
                <a:latin typeface="Poppins SemiBold"/>
                <a:ea typeface="Poppins SemiBold"/>
                <a:cs typeface="Poppins SemiBold"/>
                <a:sym typeface="Poppins SemiBold"/>
              </a:rPr>
              <a:t>PERSONAL STRENGTHS</a:t>
            </a:r>
            <a:endParaRPr sz="900">
              <a:solidFill>
                <a:schemeClr val="dk1"/>
              </a:solidFill>
              <a:latin typeface="Calibri"/>
              <a:ea typeface="Calibri"/>
              <a:cs typeface="Calibri"/>
              <a:sym typeface="Calibri"/>
            </a:endParaRPr>
          </a:p>
        </p:txBody>
      </p:sp>
      <p:sp>
        <p:nvSpPr>
          <p:cNvPr id="237" name="Google Shape;237;p10"/>
          <p:cNvSpPr/>
          <p:nvPr/>
        </p:nvSpPr>
        <p:spPr>
          <a:xfrm>
            <a:off x="502920" y="475488"/>
            <a:ext cx="694944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Claims are free. Evidence is yours.</a:t>
            </a:r>
            <a:endParaRPr sz="2500">
              <a:solidFill>
                <a:schemeClr val="dk1"/>
              </a:solidFill>
              <a:latin typeface="Calibri"/>
              <a:ea typeface="Calibri"/>
              <a:cs typeface="Calibri"/>
              <a:sym typeface="Calibri"/>
            </a:endParaRPr>
          </a:p>
        </p:txBody>
      </p:sp>
      <p:sp>
        <p:nvSpPr>
          <p:cNvPr id="238" name="Google Shape;238;p10"/>
          <p:cNvSpPr/>
          <p:nvPr/>
        </p:nvSpPr>
        <p:spPr>
          <a:xfrm>
            <a:off x="7159752" y="310896"/>
            <a:ext cx="1481328" cy="274320"/>
          </a:xfrm>
          <a:prstGeom prst="roundRect">
            <a:avLst>
              <a:gd fmla="val 50000" name="adj"/>
            </a:avLst>
          </a:prstGeom>
          <a:solidFill>
            <a:srgbClr val="0D2434"/>
          </a:solidFill>
          <a:ln cap="flat" cmpd="sng" w="12700">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0"/>
          <p:cNvSpPr/>
          <p:nvPr/>
        </p:nvSpPr>
        <p:spPr>
          <a:xfrm>
            <a:off x="7159752" y="299923"/>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Poppins SemiBold"/>
              <a:buNone/>
            </a:pPr>
            <a:r>
              <a:rPr lang="en-US" sz="850">
                <a:solidFill>
                  <a:srgbClr val="FFFFFF"/>
                </a:solidFill>
                <a:latin typeface="Poppins SemiBold"/>
                <a:ea typeface="Poppins SemiBold"/>
                <a:cs typeface="Poppins SemiBold"/>
                <a:sym typeface="Poppins SemiBold"/>
              </a:rPr>
              <a:t>TEACHER INPUT</a:t>
            </a:r>
            <a:endParaRPr sz="850">
              <a:solidFill>
                <a:schemeClr val="dk1"/>
              </a:solidFill>
              <a:latin typeface="Calibri"/>
              <a:ea typeface="Calibri"/>
              <a:cs typeface="Calibri"/>
              <a:sym typeface="Calibri"/>
            </a:endParaRPr>
          </a:p>
        </p:txBody>
      </p:sp>
      <p:sp>
        <p:nvSpPr>
          <p:cNvPr id="240" name="Google Shape;240;p10"/>
          <p:cNvSpPr/>
          <p:nvPr/>
        </p:nvSpPr>
        <p:spPr>
          <a:xfrm>
            <a:off x="502920" y="4850892"/>
            <a:ext cx="6858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700"/>
              <a:buFont typeface="Poppins"/>
              <a:buNone/>
            </a:pPr>
            <a:r>
              <a:rPr lang="en-US" sz="700">
                <a:solidFill>
                  <a:srgbClr val="5A6A6F"/>
                </a:solidFill>
                <a:latin typeface="Poppins"/>
                <a:ea typeface="Poppins"/>
                <a:cs typeface="Poppins"/>
                <a:sym typeface="Poppins"/>
              </a:rPr>
              <a:t>MODULE I  ·  PROFESSIONAL BEHAVIOUR &amp; PERSONAL STRENGTHS  ·  L3 YEAR 1</a:t>
            </a:r>
            <a:endParaRPr sz="700">
              <a:solidFill>
                <a:schemeClr val="dk1"/>
              </a:solidFill>
              <a:latin typeface="Calibri"/>
              <a:ea typeface="Calibri"/>
              <a:cs typeface="Calibri"/>
              <a:sym typeface="Calibri"/>
            </a:endParaRPr>
          </a:p>
        </p:txBody>
      </p:sp>
      <p:sp>
        <p:nvSpPr>
          <p:cNvPr id="241" name="Google Shape;241;p10"/>
          <p:cNvSpPr/>
          <p:nvPr/>
        </p:nvSpPr>
        <p:spPr>
          <a:xfrm>
            <a:off x="502920" y="1170432"/>
            <a:ext cx="3950208" cy="1737360"/>
          </a:xfrm>
          <a:prstGeom prst="roundRect">
            <a:avLst>
              <a:gd fmla="val 3158"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2" name="Google Shape;242;p10"/>
          <p:cNvPicPr preferRelativeResize="0"/>
          <p:nvPr/>
        </p:nvPicPr>
        <p:blipFill rotWithShape="1">
          <a:blip r:embed="rId3">
            <a:alphaModFix/>
          </a:blip>
          <a:srcRect b="0" l="0" r="0" t="0"/>
          <a:stretch/>
        </p:blipFill>
        <p:spPr>
          <a:xfrm>
            <a:off x="704088" y="1353312"/>
            <a:ext cx="274320" cy="274320"/>
          </a:xfrm>
          <a:prstGeom prst="rect">
            <a:avLst/>
          </a:prstGeom>
          <a:noFill/>
          <a:ln>
            <a:noFill/>
          </a:ln>
        </p:spPr>
      </p:pic>
      <p:sp>
        <p:nvSpPr>
          <p:cNvPr id="243" name="Google Shape;243;p10"/>
          <p:cNvSpPr/>
          <p:nvPr/>
        </p:nvSpPr>
        <p:spPr>
          <a:xfrm>
            <a:off x="704088" y="1719072"/>
            <a:ext cx="354787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Medium"/>
              <a:buNone/>
            </a:pPr>
            <a:r>
              <a:rPr lang="en-US" sz="1300">
                <a:solidFill>
                  <a:srgbClr val="5A6A6F"/>
                </a:solidFill>
                <a:latin typeface="Poppins Medium"/>
                <a:ea typeface="Poppins Medium"/>
                <a:cs typeface="Poppins Medium"/>
                <a:sym typeface="Poppins Medium"/>
              </a:rPr>
              <a:t>“I’m a good team player.”</a:t>
            </a:r>
            <a:endParaRPr sz="1300">
              <a:solidFill>
                <a:schemeClr val="dk1"/>
              </a:solidFill>
              <a:latin typeface="Calibri"/>
              <a:ea typeface="Calibri"/>
              <a:cs typeface="Calibri"/>
              <a:sym typeface="Calibri"/>
            </a:endParaRPr>
          </a:p>
        </p:txBody>
      </p:sp>
      <p:sp>
        <p:nvSpPr>
          <p:cNvPr id="244" name="Google Shape;244;p10"/>
          <p:cNvSpPr/>
          <p:nvPr/>
        </p:nvSpPr>
        <p:spPr>
          <a:xfrm>
            <a:off x="704088" y="2249424"/>
            <a:ext cx="354787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50"/>
              <a:buFont typeface="Poppins"/>
              <a:buNone/>
            </a:pPr>
            <a:r>
              <a:rPr lang="en-US" sz="950">
                <a:solidFill>
                  <a:srgbClr val="5A6A6F"/>
                </a:solidFill>
                <a:latin typeface="Poppins"/>
                <a:ea typeface="Poppins"/>
                <a:cs typeface="Poppins"/>
                <a:sym typeface="Poppins"/>
              </a:rPr>
              <a:t>A claim. Anyone can say it — it costs nothing and proves nothing. Interviewers hear it forty times a week.</a:t>
            </a:r>
            <a:endParaRPr sz="950">
              <a:solidFill>
                <a:schemeClr val="dk1"/>
              </a:solidFill>
              <a:latin typeface="Calibri"/>
              <a:ea typeface="Calibri"/>
              <a:cs typeface="Calibri"/>
              <a:sym typeface="Calibri"/>
            </a:endParaRPr>
          </a:p>
        </p:txBody>
      </p:sp>
      <p:sp>
        <p:nvSpPr>
          <p:cNvPr id="245" name="Google Shape;245;p10"/>
          <p:cNvSpPr/>
          <p:nvPr/>
        </p:nvSpPr>
        <p:spPr>
          <a:xfrm>
            <a:off x="4690872" y="1170432"/>
            <a:ext cx="3950208" cy="1737360"/>
          </a:xfrm>
          <a:prstGeom prst="roundRect">
            <a:avLst>
              <a:gd fmla="val 3158" name="adj"/>
            </a:avLst>
          </a:prstGeom>
          <a:solidFill>
            <a:srgbClr val="FDEEDC"/>
          </a:solidFill>
          <a:ln cap="flat" cmpd="sng" w="15875">
            <a:solidFill>
              <a:srgbClr val="F6891E"/>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6" name="Google Shape;246;p10"/>
          <p:cNvPicPr preferRelativeResize="0"/>
          <p:nvPr/>
        </p:nvPicPr>
        <p:blipFill rotWithShape="1">
          <a:blip r:embed="rId4">
            <a:alphaModFix/>
          </a:blip>
          <a:srcRect b="0" l="0" r="0" t="0"/>
          <a:stretch/>
        </p:blipFill>
        <p:spPr>
          <a:xfrm>
            <a:off x="4892040" y="1353312"/>
            <a:ext cx="274320" cy="274320"/>
          </a:xfrm>
          <a:prstGeom prst="rect">
            <a:avLst/>
          </a:prstGeom>
          <a:noFill/>
          <a:ln>
            <a:noFill/>
          </a:ln>
        </p:spPr>
      </p:pic>
      <p:sp>
        <p:nvSpPr>
          <p:cNvPr id="247" name="Google Shape;247;p10"/>
          <p:cNvSpPr/>
          <p:nvPr/>
        </p:nvSpPr>
        <p:spPr>
          <a:xfrm>
            <a:off x="4892040" y="1700784"/>
            <a:ext cx="3547872" cy="8595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50"/>
              <a:buFont typeface="Poppins Medium"/>
              <a:buNone/>
            </a:pPr>
            <a:r>
              <a:rPr lang="en-US" sz="1050">
                <a:solidFill>
                  <a:srgbClr val="0D2434"/>
                </a:solidFill>
                <a:latin typeface="Poppins Medium"/>
                <a:ea typeface="Poppins Medium"/>
                <a:cs typeface="Poppins Medium"/>
                <a:sym typeface="Poppins Medium"/>
              </a:rPr>
              <a:t>“On our last project I chaired the planning and set the deadlines — everyone knew their job, and we submitted on time.”</a:t>
            </a:r>
            <a:endParaRPr sz="1050">
              <a:solidFill>
                <a:schemeClr val="dk1"/>
              </a:solidFill>
              <a:latin typeface="Calibri"/>
              <a:ea typeface="Calibri"/>
              <a:cs typeface="Calibri"/>
              <a:sym typeface="Calibri"/>
            </a:endParaRPr>
          </a:p>
        </p:txBody>
      </p:sp>
      <p:sp>
        <p:nvSpPr>
          <p:cNvPr id="248" name="Google Shape;248;p10"/>
          <p:cNvSpPr/>
          <p:nvPr/>
        </p:nvSpPr>
        <p:spPr>
          <a:xfrm>
            <a:off x="4892040" y="2542032"/>
            <a:ext cx="35478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Evidence. Specific, checkable, memorable — only you can say it.</a:t>
            </a:r>
            <a:endParaRPr sz="950">
              <a:solidFill>
                <a:schemeClr val="dk1"/>
              </a:solidFill>
              <a:latin typeface="Calibri"/>
              <a:ea typeface="Calibri"/>
              <a:cs typeface="Calibri"/>
              <a:sym typeface="Calibri"/>
            </a:endParaRPr>
          </a:p>
        </p:txBody>
      </p:sp>
      <p:sp>
        <p:nvSpPr>
          <p:cNvPr id="249" name="Google Shape;249;p10"/>
          <p:cNvSpPr/>
          <p:nvPr/>
        </p:nvSpPr>
        <p:spPr>
          <a:xfrm>
            <a:off x="502920" y="3090672"/>
            <a:ext cx="8138160" cy="475488"/>
          </a:xfrm>
          <a:prstGeom prst="roundRect">
            <a:avLst>
              <a:gd fmla="val 11538" name="adj"/>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0"/>
          <p:cNvSpPr/>
          <p:nvPr/>
        </p:nvSpPr>
        <p:spPr>
          <a:xfrm>
            <a:off x="502920" y="3081528"/>
            <a:ext cx="813816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SITUATION        →        WHAT YOU ACTUALLY DO        →        WHAT IT SHOWS</a:t>
            </a:r>
            <a:endParaRPr sz="1200">
              <a:solidFill>
                <a:schemeClr val="dk1"/>
              </a:solidFill>
              <a:latin typeface="Calibri"/>
              <a:ea typeface="Calibri"/>
              <a:cs typeface="Calibri"/>
              <a:sym typeface="Calibri"/>
            </a:endParaRPr>
          </a:p>
        </p:txBody>
      </p:sp>
      <p:sp>
        <p:nvSpPr>
          <p:cNvPr id="251" name="Google Shape;251;p10"/>
          <p:cNvSpPr/>
          <p:nvPr/>
        </p:nvSpPr>
        <p:spPr>
          <a:xfrm>
            <a:off x="502920" y="3712464"/>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Evidence doesn't have to be paid work. Projects, placement, part-time jobs, caring for someone, sport, anything you've made or run — it all counts.</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56" name="Shape 256"/>
        <p:cNvGrpSpPr/>
        <p:nvPr/>
      </p:nvGrpSpPr>
      <p:grpSpPr>
        <a:xfrm>
          <a:off x="0" y="0"/>
          <a:ext cx="0" cy="0"/>
          <a:chOff x="0" y="0"/>
          <a:chExt cx="0" cy="0"/>
        </a:xfrm>
      </p:grpSpPr>
      <p:sp>
        <p:nvSpPr>
          <p:cNvPr id="257" name="Google Shape;257;p11"/>
          <p:cNvSpPr/>
          <p:nvPr/>
        </p:nvSpPr>
        <p:spPr>
          <a:xfrm>
            <a:off x="502920" y="274320"/>
            <a:ext cx="6035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00"/>
              <a:buFont typeface="Poppins SemiBold"/>
              <a:buNone/>
            </a:pPr>
            <a:r>
              <a:rPr lang="en-US" sz="900">
                <a:solidFill>
                  <a:srgbClr val="F6891E"/>
                </a:solidFill>
                <a:latin typeface="Poppins SemiBold"/>
                <a:ea typeface="Poppins SemiBold"/>
                <a:cs typeface="Poppins SemiBold"/>
                <a:sym typeface="Poppins SemiBold"/>
              </a:rPr>
              <a:t>THE DELIVERABLE · 10 MINUTES</a:t>
            </a:r>
            <a:endParaRPr sz="900">
              <a:solidFill>
                <a:schemeClr val="dk1"/>
              </a:solidFill>
              <a:latin typeface="Calibri"/>
              <a:ea typeface="Calibri"/>
              <a:cs typeface="Calibri"/>
              <a:sym typeface="Calibri"/>
            </a:endParaRPr>
          </a:p>
        </p:txBody>
      </p:sp>
      <p:sp>
        <p:nvSpPr>
          <p:cNvPr id="258" name="Google Shape;258;p11"/>
          <p:cNvSpPr/>
          <p:nvPr/>
        </p:nvSpPr>
        <p:spPr>
          <a:xfrm>
            <a:off x="502920" y="475488"/>
            <a:ext cx="694944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Three strengths, with proof</a:t>
            </a:r>
            <a:endParaRPr sz="2500">
              <a:solidFill>
                <a:schemeClr val="dk1"/>
              </a:solidFill>
              <a:latin typeface="Calibri"/>
              <a:ea typeface="Calibri"/>
              <a:cs typeface="Calibri"/>
              <a:sym typeface="Calibri"/>
            </a:endParaRPr>
          </a:p>
        </p:txBody>
      </p:sp>
      <p:sp>
        <p:nvSpPr>
          <p:cNvPr id="259" name="Google Shape;259;p11"/>
          <p:cNvSpPr/>
          <p:nvPr/>
        </p:nvSpPr>
        <p:spPr>
          <a:xfrm>
            <a:off x="7159752" y="310896"/>
            <a:ext cx="1481328" cy="274320"/>
          </a:xfrm>
          <a:prstGeom prst="roundRect">
            <a:avLst>
              <a:gd fmla="val 50000" name="adj"/>
            </a:avLst>
          </a:prstGeom>
          <a:solidFill>
            <a:srgbClr val="F6891E"/>
          </a:solidFill>
          <a:ln cap="flat" cmpd="sng" w="12700">
            <a:solidFill>
              <a:srgbClr val="F6891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1"/>
          <p:cNvSpPr/>
          <p:nvPr/>
        </p:nvSpPr>
        <p:spPr>
          <a:xfrm>
            <a:off x="7159752" y="299923"/>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850"/>
              <a:buFont typeface="Poppins SemiBold"/>
              <a:buNone/>
            </a:pPr>
            <a:r>
              <a:rPr lang="en-US" sz="850">
                <a:solidFill>
                  <a:srgbClr val="0D2434"/>
                </a:solidFill>
                <a:latin typeface="Poppins SemiBold"/>
                <a:ea typeface="Poppins SemiBold"/>
                <a:cs typeface="Poppins SemiBold"/>
                <a:sym typeface="Poppins SemiBold"/>
              </a:rPr>
              <a:t>ACTIVITY</a:t>
            </a:r>
            <a:endParaRPr sz="850">
              <a:solidFill>
                <a:schemeClr val="dk1"/>
              </a:solidFill>
              <a:latin typeface="Calibri"/>
              <a:ea typeface="Calibri"/>
              <a:cs typeface="Calibri"/>
              <a:sym typeface="Calibri"/>
            </a:endParaRPr>
          </a:p>
        </p:txBody>
      </p:sp>
      <p:sp>
        <p:nvSpPr>
          <p:cNvPr id="261" name="Google Shape;261;p11"/>
          <p:cNvSpPr/>
          <p:nvPr/>
        </p:nvSpPr>
        <p:spPr>
          <a:xfrm>
            <a:off x="502920" y="4850892"/>
            <a:ext cx="6858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700"/>
              <a:buFont typeface="Poppins"/>
              <a:buNone/>
            </a:pPr>
            <a:r>
              <a:rPr lang="en-US" sz="700">
                <a:solidFill>
                  <a:srgbClr val="5A6A6F"/>
                </a:solidFill>
                <a:latin typeface="Poppins"/>
                <a:ea typeface="Poppins"/>
                <a:cs typeface="Poppins"/>
                <a:sym typeface="Poppins"/>
              </a:rPr>
              <a:t>MODULE I  ·  PROFESSIONAL BEHAVIOUR &amp; PERSONAL STRENGTHS  ·  L3 YEAR 1</a:t>
            </a:r>
            <a:endParaRPr sz="700">
              <a:solidFill>
                <a:schemeClr val="dk1"/>
              </a:solidFill>
              <a:latin typeface="Calibri"/>
              <a:ea typeface="Calibri"/>
              <a:cs typeface="Calibri"/>
              <a:sym typeface="Calibri"/>
            </a:endParaRPr>
          </a:p>
        </p:txBody>
      </p:sp>
      <p:sp>
        <p:nvSpPr>
          <p:cNvPr id="262" name="Google Shape;262;p11"/>
          <p:cNvSpPr/>
          <p:nvPr/>
        </p:nvSpPr>
        <p:spPr>
          <a:xfrm>
            <a:off x="502920" y="1078992"/>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By the end you'll be able to state three strengths — and evidence each one well enough for an interview.</a:t>
            </a:r>
            <a:endParaRPr sz="1200">
              <a:solidFill>
                <a:schemeClr val="dk1"/>
              </a:solidFill>
              <a:latin typeface="Calibri"/>
              <a:ea typeface="Calibri"/>
              <a:cs typeface="Calibri"/>
              <a:sym typeface="Calibri"/>
            </a:endParaRPr>
          </a:p>
        </p:txBody>
      </p:sp>
      <p:sp>
        <p:nvSpPr>
          <p:cNvPr id="263" name="Google Shape;263;p11"/>
          <p:cNvSpPr/>
          <p:nvPr/>
        </p:nvSpPr>
        <p:spPr>
          <a:xfrm>
            <a:off x="502920" y="1463040"/>
            <a:ext cx="8138160" cy="566928"/>
          </a:xfrm>
          <a:prstGeom prst="roundRect">
            <a:avLst>
              <a:gd fmla="val 8065"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1"/>
          <p:cNvSpPr/>
          <p:nvPr/>
        </p:nvSpPr>
        <p:spPr>
          <a:xfrm>
            <a:off x="630936" y="1581912"/>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1"/>
          <p:cNvSpPr/>
          <p:nvPr/>
        </p:nvSpPr>
        <p:spPr>
          <a:xfrm>
            <a:off x="630936" y="15727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1</a:t>
            </a:r>
            <a:endParaRPr sz="1200">
              <a:solidFill>
                <a:schemeClr val="dk1"/>
              </a:solidFill>
              <a:latin typeface="Calibri"/>
              <a:ea typeface="Calibri"/>
              <a:cs typeface="Calibri"/>
              <a:sym typeface="Calibri"/>
            </a:endParaRPr>
          </a:p>
        </p:txBody>
      </p:sp>
      <p:sp>
        <p:nvSpPr>
          <p:cNvPr id="266" name="Google Shape;266;p11"/>
          <p:cNvSpPr/>
          <p:nvPr/>
        </p:nvSpPr>
        <p:spPr>
          <a:xfrm>
            <a:off x="1088136" y="1536192"/>
            <a:ext cx="7406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Choose three</a:t>
            </a:r>
            <a:endParaRPr sz="1050">
              <a:solidFill>
                <a:schemeClr val="dk1"/>
              </a:solidFill>
              <a:latin typeface="Calibri"/>
              <a:ea typeface="Calibri"/>
              <a:cs typeface="Calibri"/>
              <a:sym typeface="Calibri"/>
            </a:endParaRPr>
          </a:p>
        </p:txBody>
      </p:sp>
      <p:sp>
        <p:nvSpPr>
          <p:cNvPr id="267" name="Google Shape;267;p11"/>
          <p:cNvSpPr/>
          <p:nvPr/>
        </p:nvSpPr>
        <p:spPr>
          <a:xfrm>
            <a:off x="1088136" y="1746504"/>
            <a:ext cx="7406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Use your quick audit, your Skills Assessment results and your partner's read. Pick the three with the strongest evidence behind them — not the three that sound best.</a:t>
            </a:r>
            <a:endParaRPr sz="950">
              <a:solidFill>
                <a:schemeClr val="dk1"/>
              </a:solidFill>
              <a:latin typeface="Calibri"/>
              <a:ea typeface="Calibri"/>
              <a:cs typeface="Calibri"/>
              <a:sym typeface="Calibri"/>
            </a:endParaRPr>
          </a:p>
        </p:txBody>
      </p:sp>
      <p:sp>
        <p:nvSpPr>
          <p:cNvPr id="268" name="Google Shape;268;p11"/>
          <p:cNvSpPr/>
          <p:nvPr/>
        </p:nvSpPr>
        <p:spPr>
          <a:xfrm>
            <a:off x="502920" y="2121408"/>
            <a:ext cx="8138160" cy="566928"/>
          </a:xfrm>
          <a:prstGeom prst="roundRect">
            <a:avLst>
              <a:gd fmla="val 8065"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11"/>
          <p:cNvSpPr/>
          <p:nvPr/>
        </p:nvSpPr>
        <p:spPr>
          <a:xfrm>
            <a:off x="630936" y="2240280"/>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1"/>
          <p:cNvSpPr/>
          <p:nvPr/>
        </p:nvSpPr>
        <p:spPr>
          <a:xfrm>
            <a:off x="630936" y="223113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2</a:t>
            </a:r>
            <a:endParaRPr sz="1200">
              <a:solidFill>
                <a:schemeClr val="dk1"/>
              </a:solidFill>
              <a:latin typeface="Calibri"/>
              <a:ea typeface="Calibri"/>
              <a:cs typeface="Calibri"/>
              <a:sym typeface="Calibri"/>
            </a:endParaRPr>
          </a:p>
        </p:txBody>
      </p:sp>
      <p:sp>
        <p:nvSpPr>
          <p:cNvPr id="271" name="Google Shape;271;p11"/>
          <p:cNvSpPr/>
          <p:nvPr/>
        </p:nvSpPr>
        <p:spPr>
          <a:xfrm>
            <a:off x="1088136" y="2194560"/>
            <a:ext cx="7406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Draft each as an evidenced statement</a:t>
            </a:r>
            <a:endParaRPr sz="1050">
              <a:solidFill>
                <a:schemeClr val="dk1"/>
              </a:solidFill>
              <a:latin typeface="Calibri"/>
              <a:ea typeface="Calibri"/>
              <a:cs typeface="Calibri"/>
              <a:sym typeface="Calibri"/>
            </a:endParaRPr>
          </a:p>
        </p:txBody>
      </p:sp>
      <p:sp>
        <p:nvSpPr>
          <p:cNvPr id="272" name="Google Shape;272;p11"/>
          <p:cNvSpPr/>
          <p:nvPr/>
        </p:nvSpPr>
        <p:spPr>
          <a:xfrm>
            <a:off x="1088136" y="2404872"/>
            <a:ext cx="7406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Situation → what you actually do → what it shows. No claims without proof.</a:t>
            </a:r>
            <a:endParaRPr sz="950">
              <a:solidFill>
                <a:schemeClr val="dk1"/>
              </a:solidFill>
              <a:latin typeface="Calibri"/>
              <a:ea typeface="Calibri"/>
              <a:cs typeface="Calibri"/>
              <a:sym typeface="Calibri"/>
            </a:endParaRPr>
          </a:p>
        </p:txBody>
      </p:sp>
      <p:sp>
        <p:nvSpPr>
          <p:cNvPr id="273" name="Google Shape;273;p11"/>
          <p:cNvSpPr/>
          <p:nvPr/>
        </p:nvSpPr>
        <p:spPr>
          <a:xfrm>
            <a:off x="502920" y="2779776"/>
            <a:ext cx="8138160" cy="566928"/>
          </a:xfrm>
          <a:prstGeom prst="roundRect">
            <a:avLst>
              <a:gd fmla="val 8065"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1"/>
          <p:cNvSpPr/>
          <p:nvPr/>
        </p:nvSpPr>
        <p:spPr>
          <a:xfrm>
            <a:off x="630936" y="2898648"/>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1"/>
          <p:cNvSpPr/>
          <p:nvPr/>
        </p:nvSpPr>
        <p:spPr>
          <a:xfrm>
            <a:off x="630936" y="288950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3</a:t>
            </a:r>
            <a:endParaRPr sz="1200">
              <a:solidFill>
                <a:schemeClr val="dk1"/>
              </a:solidFill>
              <a:latin typeface="Calibri"/>
              <a:ea typeface="Calibri"/>
              <a:cs typeface="Calibri"/>
              <a:sym typeface="Calibri"/>
            </a:endParaRPr>
          </a:p>
        </p:txBody>
      </p:sp>
      <p:sp>
        <p:nvSpPr>
          <p:cNvPr id="276" name="Google Shape;276;p11"/>
          <p:cNvSpPr/>
          <p:nvPr/>
        </p:nvSpPr>
        <p:spPr>
          <a:xfrm>
            <a:off x="1088136" y="2852928"/>
            <a:ext cx="7406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Test on a partner</a:t>
            </a:r>
            <a:endParaRPr sz="1050">
              <a:solidFill>
                <a:schemeClr val="dk1"/>
              </a:solidFill>
              <a:latin typeface="Calibri"/>
              <a:ea typeface="Calibri"/>
              <a:cs typeface="Calibri"/>
              <a:sym typeface="Calibri"/>
            </a:endParaRPr>
          </a:p>
        </p:txBody>
      </p:sp>
      <p:sp>
        <p:nvSpPr>
          <p:cNvPr id="277" name="Google Shape;277;p11"/>
          <p:cNvSpPr/>
          <p:nvPr/>
        </p:nvSpPr>
        <p:spPr>
          <a:xfrm>
            <a:off x="1088136" y="3063240"/>
            <a:ext cx="7406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Their only job is to ask “what’s your evidence?” until they believe you. If they don't, the statement isn't ready.</a:t>
            </a:r>
            <a:endParaRPr sz="950">
              <a:solidFill>
                <a:schemeClr val="dk1"/>
              </a:solidFill>
              <a:latin typeface="Calibri"/>
              <a:ea typeface="Calibri"/>
              <a:cs typeface="Calibri"/>
              <a:sym typeface="Calibri"/>
            </a:endParaRPr>
          </a:p>
        </p:txBody>
      </p:sp>
      <p:sp>
        <p:nvSpPr>
          <p:cNvPr id="278" name="Google Shape;278;p11"/>
          <p:cNvSpPr/>
          <p:nvPr/>
        </p:nvSpPr>
        <p:spPr>
          <a:xfrm>
            <a:off x="502920" y="3438144"/>
            <a:ext cx="8138160" cy="566928"/>
          </a:xfrm>
          <a:prstGeom prst="roundRect">
            <a:avLst>
              <a:gd fmla="val 8065" name="adj"/>
            </a:avLst>
          </a:prstGeom>
          <a:solidFill>
            <a:srgbClr val="FDEEDC"/>
          </a:solidFill>
          <a:ln cap="flat" cmpd="sng" w="12700">
            <a:solidFill>
              <a:srgbClr val="F6891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1"/>
          <p:cNvSpPr/>
          <p:nvPr/>
        </p:nvSpPr>
        <p:spPr>
          <a:xfrm>
            <a:off x="630936" y="3557016"/>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1"/>
          <p:cNvSpPr/>
          <p:nvPr/>
        </p:nvSpPr>
        <p:spPr>
          <a:xfrm>
            <a:off x="630936" y="35478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4</a:t>
            </a:r>
            <a:endParaRPr sz="1200">
              <a:solidFill>
                <a:schemeClr val="dk1"/>
              </a:solidFill>
              <a:latin typeface="Calibri"/>
              <a:ea typeface="Calibri"/>
              <a:cs typeface="Calibri"/>
              <a:sym typeface="Calibri"/>
            </a:endParaRPr>
          </a:p>
        </p:txBody>
      </p:sp>
      <p:sp>
        <p:nvSpPr>
          <p:cNvPr id="281" name="Google Shape;281;p11"/>
          <p:cNvSpPr/>
          <p:nvPr/>
        </p:nvSpPr>
        <p:spPr>
          <a:xfrm>
            <a:off x="1088136" y="3511296"/>
            <a:ext cx="7406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Refine — then put all three into Navigate</a:t>
            </a:r>
            <a:endParaRPr sz="1050">
              <a:solidFill>
                <a:schemeClr val="dk1"/>
              </a:solidFill>
              <a:latin typeface="Calibri"/>
              <a:ea typeface="Calibri"/>
              <a:cs typeface="Calibri"/>
              <a:sym typeface="Calibri"/>
            </a:endParaRPr>
          </a:p>
        </p:txBody>
      </p:sp>
      <p:sp>
        <p:nvSpPr>
          <p:cNvPr id="282" name="Google Shape;282;p11"/>
          <p:cNvSpPr/>
          <p:nvPr/>
        </p:nvSpPr>
        <p:spPr>
          <a:xfrm>
            <a:off x="1088136" y="3721608"/>
            <a:ext cx="7406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They'll feed your Digital CV, your placement applications and everything else you apply for.</a:t>
            </a:r>
            <a:endParaRPr sz="950">
              <a:solidFill>
                <a:schemeClr val="dk1"/>
              </a:solidFill>
              <a:latin typeface="Calibri"/>
              <a:ea typeface="Calibri"/>
              <a:cs typeface="Calibri"/>
              <a:sym typeface="Calibri"/>
            </a:endParaRPr>
          </a:p>
        </p:txBody>
      </p:sp>
      <p:sp>
        <p:nvSpPr>
          <p:cNvPr id="283" name="Google Shape;283;p11"/>
          <p:cNvSpPr/>
          <p:nvPr/>
        </p:nvSpPr>
        <p:spPr>
          <a:xfrm>
            <a:off x="502920" y="4151376"/>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050"/>
              <a:buFont typeface="Poppins"/>
              <a:buNone/>
            </a:pPr>
            <a:r>
              <a:rPr i="1" lang="en-US" sz="1050">
                <a:solidFill>
                  <a:srgbClr val="F6891E"/>
                </a:solidFill>
                <a:latin typeface="Poppins"/>
                <a:ea typeface="Poppins"/>
                <a:cs typeface="Poppins"/>
                <a:sym typeface="Poppins"/>
              </a:rPr>
              <a:t>If you can't find three, you're not short of strengths — you're short of practice noticing them. That's what your partner is for.</a:t>
            </a:r>
            <a:endParaRPr sz="10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88" name="Shape 288"/>
        <p:cNvGrpSpPr/>
        <p:nvPr/>
      </p:nvGrpSpPr>
      <p:grpSpPr>
        <a:xfrm>
          <a:off x="0" y="0"/>
          <a:ext cx="0" cy="0"/>
          <a:chOff x="0" y="0"/>
          <a:chExt cx="0" cy="0"/>
        </a:xfrm>
      </p:grpSpPr>
      <p:sp>
        <p:nvSpPr>
          <p:cNvPr id="289" name="Google Shape;289;p12"/>
          <p:cNvSpPr/>
          <p:nvPr/>
        </p:nvSpPr>
        <p:spPr>
          <a:xfrm>
            <a:off x="502920" y="274320"/>
            <a:ext cx="6035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00"/>
              <a:buFont typeface="Poppins SemiBold"/>
              <a:buNone/>
            </a:pPr>
            <a:r>
              <a:rPr lang="en-US" sz="900">
                <a:solidFill>
                  <a:srgbClr val="F6891E"/>
                </a:solidFill>
                <a:latin typeface="Poppins SemiBold"/>
                <a:ea typeface="Poppins SemiBold"/>
                <a:cs typeface="Poppins SemiBold"/>
                <a:sym typeface="Poppins SemiBold"/>
              </a:rPr>
              <a:t>COMMITMENT · 5 MINUTES</a:t>
            </a:r>
            <a:endParaRPr sz="900">
              <a:solidFill>
                <a:schemeClr val="dk1"/>
              </a:solidFill>
              <a:latin typeface="Calibri"/>
              <a:ea typeface="Calibri"/>
              <a:cs typeface="Calibri"/>
              <a:sym typeface="Calibri"/>
            </a:endParaRPr>
          </a:p>
        </p:txBody>
      </p:sp>
      <p:sp>
        <p:nvSpPr>
          <p:cNvPr id="290" name="Google Shape;290;p12"/>
          <p:cNvSpPr/>
          <p:nvPr/>
        </p:nvSpPr>
        <p:spPr>
          <a:xfrm>
            <a:off x="502920" y="475488"/>
            <a:ext cx="694944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One thing</a:t>
            </a:r>
            <a:endParaRPr sz="2500">
              <a:solidFill>
                <a:schemeClr val="dk1"/>
              </a:solidFill>
              <a:latin typeface="Calibri"/>
              <a:ea typeface="Calibri"/>
              <a:cs typeface="Calibri"/>
              <a:sym typeface="Calibri"/>
            </a:endParaRPr>
          </a:p>
        </p:txBody>
      </p:sp>
      <p:sp>
        <p:nvSpPr>
          <p:cNvPr id="291" name="Google Shape;291;p12"/>
          <p:cNvSpPr/>
          <p:nvPr/>
        </p:nvSpPr>
        <p:spPr>
          <a:xfrm>
            <a:off x="7159752" y="310896"/>
            <a:ext cx="1481328" cy="274320"/>
          </a:xfrm>
          <a:prstGeom prst="roundRect">
            <a:avLst>
              <a:gd fmla="val 50000" name="adj"/>
            </a:avLst>
          </a:prstGeom>
          <a:solidFill>
            <a:srgbClr val="F6891E"/>
          </a:solidFill>
          <a:ln cap="flat" cmpd="sng" w="12700">
            <a:solidFill>
              <a:srgbClr val="F6891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2"/>
          <p:cNvSpPr/>
          <p:nvPr/>
        </p:nvSpPr>
        <p:spPr>
          <a:xfrm>
            <a:off x="7159752" y="299923"/>
            <a:ext cx="148132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850"/>
              <a:buFont typeface="Poppins SemiBold"/>
              <a:buNone/>
            </a:pPr>
            <a:r>
              <a:rPr lang="en-US" sz="850">
                <a:solidFill>
                  <a:srgbClr val="0D2434"/>
                </a:solidFill>
                <a:latin typeface="Poppins SemiBold"/>
                <a:ea typeface="Poppins SemiBold"/>
                <a:cs typeface="Poppins SemiBold"/>
                <a:sym typeface="Poppins SemiBold"/>
              </a:rPr>
              <a:t>ACTIVITY</a:t>
            </a:r>
            <a:endParaRPr sz="850">
              <a:solidFill>
                <a:schemeClr val="dk1"/>
              </a:solidFill>
              <a:latin typeface="Calibri"/>
              <a:ea typeface="Calibri"/>
              <a:cs typeface="Calibri"/>
              <a:sym typeface="Calibri"/>
            </a:endParaRPr>
          </a:p>
        </p:txBody>
      </p:sp>
      <p:sp>
        <p:nvSpPr>
          <p:cNvPr id="293" name="Google Shape;293;p12"/>
          <p:cNvSpPr/>
          <p:nvPr/>
        </p:nvSpPr>
        <p:spPr>
          <a:xfrm>
            <a:off x="502920" y="4850892"/>
            <a:ext cx="68580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700"/>
              <a:buFont typeface="Poppins"/>
              <a:buNone/>
            </a:pPr>
            <a:r>
              <a:rPr lang="en-US" sz="700">
                <a:solidFill>
                  <a:srgbClr val="5A6A6F"/>
                </a:solidFill>
                <a:latin typeface="Poppins"/>
                <a:ea typeface="Poppins"/>
                <a:cs typeface="Poppins"/>
                <a:sym typeface="Poppins"/>
              </a:rPr>
              <a:t>MODULE I  ·  PROFESSIONAL BEHAVIOUR &amp; PERSONAL STRENGTHS  ·  L3 YEAR 1</a:t>
            </a:r>
            <a:endParaRPr sz="700">
              <a:solidFill>
                <a:schemeClr val="dk1"/>
              </a:solidFill>
              <a:latin typeface="Calibri"/>
              <a:ea typeface="Calibri"/>
              <a:cs typeface="Calibri"/>
              <a:sym typeface="Calibri"/>
            </a:endParaRPr>
          </a:p>
        </p:txBody>
      </p:sp>
      <p:sp>
        <p:nvSpPr>
          <p:cNvPr id="294" name="Google Shape;294;p12"/>
          <p:cNvSpPr/>
          <p:nvPr/>
        </p:nvSpPr>
        <p:spPr>
          <a:xfrm>
            <a:off x="502920" y="1078992"/>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Pick one. Write it down, make it specific, hand it in. Your tutor keeps the cards — and will ask you how it went.</a:t>
            </a:r>
            <a:endParaRPr sz="1200">
              <a:solidFill>
                <a:schemeClr val="dk1"/>
              </a:solidFill>
              <a:latin typeface="Calibri"/>
              <a:ea typeface="Calibri"/>
              <a:cs typeface="Calibri"/>
              <a:sym typeface="Calibri"/>
            </a:endParaRPr>
          </a:p>
        </p:txBody>
      </p:sp>
      <p:sp>
        <p:nvSpPr>
          <p:cNvPr id="295" name="Google Shape;295;p12"/>
          <p:cNvSpPr/>
          <p:nvPr/>
        </p:nvSpPr>
        <p:spPr>
          <a:xfrm>
            <a:off x="502920" y="1481328"/>
            <a:ext cx="8138160" cy="2999232"/>
          </a:xfrm>
          <a:prstGeom prst="roundRect">
            <a:avLst>
              <a:gd fmla="val 2134"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00000">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2"/>
          <p:cNvSpPr/>
          <p:nvPr/>
        </p:nvSpPr>
        <p:spPr>
          <a:xfrm>
            <a:off x="777240" y="1664208"/>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100"/>
              <a:buFont typeface="Poppins SemiBold"/>
              <a:buNone/>
            </a:pPr>
            <a:r>
              <a:rPr lang="en-US" sz="1100">
                <a:solidFill>
                  <a:srgbClr val="F6891E"/>
                </a:solidFill>
                <a:latin typeface="Poppins SemiBold"/>
                <a:ea typeface="Poppins SemiBold"/>
                <a:cs typeface="Poppins SemiBold"/>
                <a:sym typeface="Poppins SemiBold"/>
              </a:rPr>
              <a:t>THIS WEEK, I WILL…</a:t>
            </a:r>
            <a:endParaRPr sz="1100">
              <a:solidFill>
                <a:schemeClr val="dk1"/>
              </a:solidFill>
              <a:latin typeface="Calibri"/>
              <a:ea typeface="Calibri"/>
              <a:cs typeface="Calibri"/>
              <a:sym typeface="Calibri"/>
            </a:endParaRPr>
          </a:p>
        </p:txBody>
      </p:sp>
      <p:sp>
        <p:nvSpPr>
          <p:cNvPr id="297" name="Google Shape;297;p12"/>
          <p:cNvSpPr/>
          <p:nvPr/>
        </p:nvSpPr>
        <p:spPr>
          <a:xfrm>
            <a:off x="777240" y="2048256"/>
            <a:ext cx="274320" cy="274320"/>
          </a:xfrm>
          <a:prstGeom prst="roundRect">
            <a:avLst>
              <a:gd fmla="val 16667" name="adj"/>
            </a:avLst>
          </a:prstGeom>
          <a:solidFill>
            <a:srgbClr val="FBFBF8"/>
          </a:solidFill>
          <a:ln cap="flat" cmpd="sng" w="15875">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2"/>
          <p:cNvSpPr/>
          <p:nvPr/>
        </p:nvSpPr>
        <p:spPr>
          <a:xfrm>
            <a:off x="1197864" y="1993392"/>
            <a:ext cx="7178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Act on my Skills Assessment development priority — one concrete step, named.</a:t>
            </a:r>
            <a:endParaRPr sz="1100">
              <a:solidFill>
                <a:schemeClr val="dk1"/>
              </a:solidFill>
              <a:latin typeface="Calibri"/>
              <a:ea typeface="Calibri"/>
              <a:cs typeface="Calibri"/>
              <a:sym typeface="Calibri"/>
            </a:endParaRPr>
          </a:p>
        </p:txBody>
      </p:sp>
      <p:sp>
        <p:nvSpPr>
          <p:cNvPr id="299" name="Google Shape;299;p12"/>
          <p:cNvSpPr/>
          <p:nvPr/>
        </p:nvSpPr>
        <p:spPr>
          <a:xfrm>
            <a:off x="777240" y="2523744"/>
            <a:ext cx="274320" cy="274320"/>
          </a:xfrm>
          <a:prstGeom prst="roundRect">
            <a:avLst>
              <a:gd fmla="val 16667" name="adj"/>
            </a:avLst>
          </a:prstGeom>
          <a:solidFill>
            <a:srgbClr val="FBFBF8"/>
          </a:solidFill>
          <a:ln cap="flat" cmpd="sng" w="15875">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2"/>
          <p:cNvSpPr/>
          <p:nvPr/>
        </p:nvSpPr>
        <p:spPr>
          <a:xfrm>
            <a:off x="1197864" y="2468880"/>
            <a:ext cx="7178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Use one of my three strength statements somewhere real — Navigate, an application, a conversation.</a:t>
            </a:r>
            <a:endParaRPr sz="1100">
              <a:solidFill>
                <a:schemeClr val="dk1"/>
              </a:solidFill>
              <a:latin typeface="Calibri"/>
              <a:ea typeface="Calibri"/>
              <a:cs typeface="Calibri"/>
              <a:sym typeface="Calibri"/>
            </a:endParaRPr>
          </a:p>
        </p:txBody>
      </p:sp>
      <p:sp>
        <p:nvSpPr>
          <p:cNvPr id="301" name="Google Shape;301;p12"/>
          <p:cNvSpPr/>
          <p:nvPr/>
        </p:nvSpPr>
        <p:spPr>
          <a:xfrm>
            <a:off x="777240" y="2999232"/>
            <a:ext cx="274320" cy="274320"/>
          </a:xfrm>
          <a:prstGeom prst="roundRect">
            <a:avLst>
              <a:gd fmla="val 16667" name="adj"/>
            </a:avLst>
          </a:prstGeom>
          <a:solidFill>
            <a:srgbClr val="FBFBF8"/>
          </a:solidFill>
          <a:ln cap="flat" cmpd="sng" w="15875">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2"/>
          <p:cNvSpPr/>
          <p:nvPr/>
        </p:nvSpPr>
        <p:spPr>
          <a:xfrm>
            <a:off x="1197864" y="2944368"/>
            <a:ext cx="7178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Practise one professional habit deliberately for the week — name the habit and where.</a:t>
            </a:r>
            <a:endParaRPr sz="1100">
              <a:solidFill>
                <a:schemeClr val="dk1"/>
              </a:solidFill>
              <a:latin typeface="Calibri"/>
              <a:ea typeface="Calibri"/>
              <a:cs typeface="Calibri"/>
              <a:sym typeface="Calibri"/>
            </a:endParaRPr>
          </a:p>
        </p:txBody>
      </p:sp>
      <p:sp>
        <p:nvSpPr>
          <p:cNvPr id="303" name="Google Shape;303;p12"/>
          <p:cNvSpPr/>
          <p:nvPr/>
        </p:nvSpPr>
        <p:spPr>
          <a:xfrm>
            <a:off x="777240" y="3474720"/>
            <a:ext cx="274320" cy="274320"/>
          </a:xfrm>
          <a:prstGeom prst="roundRect">
            <a:avLst>
              <a:gd fmla="val 16667" name="adj"/>
            </a:avLst>
          </a:prstGeom>
          <a:solidFill>
            <a:srgbClr val="FBFBF8"/>
          </a:solidFill>
          <a:ln cap="flat" cmpd="sng" w="15875">
            <a:solidFill>
              <a:srgbClr val="0D243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12"/>
          <p:cNvSpPr/>
          <p:nvPr/>
        </p:nvSpPr>
        <p:spPr>
          <a:xfrm>
            <a:off x="1197864" y="3419856"/>
            <a:ext cx="7178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Tell someone about something that's making it hard to show up.</a:t>
            </a:r>
            <a:endParaRPr sz="1100">
              <a:solidFill>
                <a:schemeClr val="dk1"/>
              </a:solidFill>
              <a:latin typeface="Calibri"/>
              <a:ea typeface="Calibri"/>
              <a:cs typeface="Calibri"/>
              <a:sym typeface="Calibri"/>
            </a:endParaRPr>
          </a:p>
        </p:txBody>
      </p:sp>
      <p:sp>
        <p:nvSpPr>
          <p:cNvPr id="305" name="Google Shape;305;p12"/>
          <p:cNvSpPr/>
          <p:nvPr/>
        </p:nvSpPr>
        <p:spPr>
          <a:xfrm>
            <a:off x="777240" y="3968496"/>
            <a:ext cx="7589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50"/>
              <a:buFont typeface="Poppins"/>
              <a:buNone/>
            </a:pPr>
            <a:r>
              <a:rPr i="1" lang="en-US" sz="1050">
                <a:solidFill>
                  <a:srgbClr val="5A6A6F"/>
                </a:solidFill>
                <a:latin typeface="Poppins"/>
                <a:ea typeface="Poppins"/>
                <a:cs typeface="Poppins"/>
                <a:sym typeface="Poppins"/>
              </a:rPr>
              <a:t>Small and done beats impressive and imaginary.</a:t>
            </a:r>
            <a:endParaRPr sz="10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310" name="Shape 310"/>
        <p:cNvGrpSpPr/>
        <p:nvPr/>
      </p:nvGrpSpPr>
      <p:grpSpPr>
        <a:xfrm>
          <a:off x="0" y="0"/>
          <a:ext cx="0" cy="0"/>
          <a:chOff x="0" y="0"/>
          <a:chExt cx="0" cy="0"/>
        </a:xfrm>
      </p:grpSpPr>
      <p:sp>
        <p:nvSpPr>
          <p:cNvPr id="311" name="Google Shape;311;p13"/>
          <p:cNvSpPr/>
          <p:nvPr/>
        </p:nvSpPr>
        <p:spPr>
          <a:xfrm>
            <a:off x="502920" y="457200"/>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WHERE THIS GOES NEXT</a:t>
            </a:r>
            <a:endParaRPr sz="1100">
              <a:solidFill>
                <a:schemeClr val="dk1"/>
              </a:solidFill>
              <a:latin typeface="Calibri"/>
              <a:ea typeface="Calibri"/>
              <a:cs typeface="Calibri"/>
              <a:sym typeface="Calibri"/>
            </a:endParaRPr>
          </a:p>
        </p:txBody>
      </p:sp>
      <p:pic>
        <p:nvPicPr>
          <p:cNvPr descr="preencoded.png" id="312" name="Google Shape;312;p13"/>
          <p:cNvPicPr preferRelativeResize="0"/>
          <p:nvPr/>
        </p:nvPicPr>
        <p:blipFill rotWithShape="1">
          <a:blip r:embed="rId3">
            <a:alphaModFix/>
          </a:blip>
          <a:srcRect b="0" l="0" r="0" t="0"/>
          <a:stretch/>
        </p:blipFill>
        <p:spPr>
          <a:xfrm>
            <a:off x="502920" y="1051560"/>
            <a:ext cx="310896" cy="310896"/>
          </a:xfrm>
          <a:prstGeom prst="rect">
            <a:avLst/>
          </a:prstGeom>
          <a:noFill/>
          <a:ln>
            <a:noFill/>
          </a:ln>
        </p:spPr>
      </p:pic>
      <p:sp>
        <p:nvSpPr>
          <p:cNvPr id="313" name="Google Shape;313;p13"/>
          <p:cNvSpPr/>
          <p:nvPr/>
        </p:nvSpPr>
        <p:spPr>
          <a:xfrm>
            <a:off x="996696" y="1005840"/>
            <a:ext cx="7498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Poppins SemiBold"/>
              <a:buNone/>
            </a:pPr>
            <a:r>
              <a:rPr lang="en-US" sz="1450">
                <a:solidFill>
                  <a:srgbClr val="FFFFFF"/>
                </a:solidFill>
                <a:latin typeface="Poppins SemiBold"/>
                <a:ea typeface="Poppins SemiBold"/>
                <a:cs typeface="Poppins SemiBold"/>
                <a:sym typeface="Poppins SemiBold"/>
              </a:rPr>
              <a:t>Your Navigate record is live</a:t>
            </a:r>
            <a:endParaRPr sz="1450">
              <a:solidFill>
                <a:schemeClr val="dk1"/>
              </a:solidFill>
              <a:latin typeface="Calibri"/>
              <a:ea typeface="Calibri"/>
              <a:cs typeface="Calibri"/>
              <a:sym typeface="Calibri"/>
            </a:endParaRPr>
          </a:p>
        </p:txBody>
      </p:sp>
      <p:sp>
        <p:nvSpPr>
          <p:cNvPr id="314" name="Google Shape;314;p13"/>
          <p:cNvSpPr/>
          <p:nvPr/>
        </p:nvSpPr>
        <p:spPr>
          <a:xfrm>
            <a:off x="996696" y="1316736"/>
            <a:ext cx="74980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2D6"/>
              </a:buClr>
              <a:buSzPts val="1100"/>
              <a:buFont typeface="Poppins"/>
              <a:buNone/>
            </a:pPr>
            <a:r>
              <a:rPr lang="en-US" sz="1100">
                <a:solidFill>
                  <a:srgbClr val="C9D2D6"/>
                </a:solidFill>
                <a:latin typeface="Poppins"/>
                <a:ea typeface="Poppins"/>
                <a:cs typeface="Poppins"/>
                <a:sym typeface="Poppins"/>
              </a:rPr>
              <a:t>Skills Assessment, strengths, Digital CV — a portfolio that builds all year, not the night before an application.</a:t>
            </a:r>
            <a:endParaRPr sz="1100">
              <a:solidFill>
                <a:schemeClr val="dk1"/>
              </a:solidFill>
              <a:latin typeface="Calibri"/>
              <a:ea typeface="Calibri"/>
              <a:cs typeface="Calibri"/>
              <a:sym typeface="Calibri"/>
            </a:endParaRPr>
          </a:p>
        </p:txBody>
      </p:sp>
      <p:pic>
        <p:nvPicPr>
          <p:cNvPr descr="preencoded.png" id="315" name="Google Shape;315;p13"/>
          <p:cNvPicPr preferRelativeResize="0"/>
          <p:nvPr/>
        </p:nvPicPr>
        <p:blipFill rotWithShape="1">
          <a:blip r:embed="rId3">
            <a:alphaModFix/>
          </a:blip>
          <a:srcRect b="0" l="0" r="0" t="0"/>
          <a:stretch/>
        </p:blipFill>
        <p:spPr>
          <a:xfrm>
            <a:off x="502920" y="2039112"/>
            <a:ext cx="310896" cy="310896"/>
          </a:xfrm>
          <a:prstGeom prst="rect">
            <a:avLst/>
          </a:prstGeom>
          <a:noFill/>
          <a:ln>
            <a:noFill/>
          </a:ln>
        </p:spPr>
      </p:pic>
      <p:sp>
        <p:nvSpPr>
          <p:cNvPr id="316" name="Google Shape;316;p13"/>
          <p:cNvSpPr/>
          <p:nvPr/>
        </p:nvSpPr>
        <p:spPr>
          <a:xfrm>
            <a:off x="996696" y="1993392"/>
            <a:ext cx="7498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Poppins SemiBold"/>
              <a:buNone/>
            </a:pPr>
            <a:r>
              <a:rPr lang="en-US" sz="1450">
                <a:solidFill>
                  <a:srgbClr val="FFFFFF"/>
                </a:solidFill>
                <a:latin typeface="Poppins SemiBold"/>
                <a:ea typeface="Poppins SemiBold"/>
                <a:cs typeface="Poppins SemiBold"/>
                <a:sym typeface="Poppins SemiBold"/>
              </a:rPr>
              <a:t>Next: Work Experience (Module J)</a:t>
            </a:r>
            <a:endParaRPr sz="1450">
              <a:solidFill>
                <a:schemeClr val="dk1"/>
              </a:solidFill>
              <a:latin typeface="Calibri"/>
              <a:ea typeface="Calibri"/>
              <a:cs typeface="Calibri"/>
              <a:sym typeface="Calibri"/>
            </a:endParaRPr>
          </a:p>
        </p:txBody>
      </p:sp>
      <p:sp>
        <p:nvSpPr>
          <p:cNvPr id="317" name="Google Shape;317;p13"/>
          <p:cNvSpPr/>
          <p:nvPr/>
        </p:nvSpPr>
        <p:spPr>
          <a:xfrm>
            <a:off x="996696" y="2304288"/>
            <a:ext cx="74980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2D6"/>
              </a:buClr>
              <a:buSzPts val="1100"/>
              <a:buFont typeface="Poppins"/>
              <a:buNone/>
            </a:pPr>
            <a:r>
              <a:rPr lang="en-US" sz="1100">
                <a:solidFill>
                  <a:srgbClr val="C9D2D6"/>
                </a:solidFill>
                <a:latin typeface="Poppins"/>
                <a:ea typeface="Poppins"/>
                <a:cs typeface="Poppins"/>
                <a:sym typeface="Poppins"/>
              </a:rPr>
              <a:t>Finding and applying for placements — using exactly what you wrote today.</a:t>
            </a:r>
            <a:endParaRPr sz="1100">
              <a:solidFill>
                <a:schemeClr val="dk1"/>
              </a:solidFill>
              <a:latin typeface="Calibri"/>
              <a:ea typeface="Calibri"/>
              <a:cs typeface="Calibri"/>
              <a:sym typeface="Calibri"/>
            </a:endParaRPr>
          </a:p>
        </p:txBody>
      </p:sp>
      <p:pic>
        <p:nvPicPr>
          <p:cNvPr descr="preencoded.png" id="318" name="Google Shape;318;p13"/>
          <p:cNvPicPr preferRelativeResize="0"/>
          <p:nvPr/>
        </p:nvPicPr>
        <p:blipFill rotWithShape="1">
          <a:blip r:embed="rId3">
            <a:alphaModFix/>
          </a:blip>
          <a:srcRect b="0" l="0" r="0" t="0"/>
          <a:stretch/>
        </p:blipFill>
        <p:spPr>
          <a:xfrm>
            <a:off x="502920" y="3026664"/>
            <a:ext cx="310896" cy="310896"/>
          </a:xfrm>
          <a:prstGeom prst="rect">
            <a:avLst/>
          </a:prstGeom>
          <a:noFill/>
          <a:ln>
            <a:noFill/>
          </a:ln>
        </p:spPr>
      </p:pic>
      <p:sp>
        <p:nvSpPr>
          <p:cNvPr id="319" name="Google Shape;319;p13"/>
          <p:cNvSpPr/>
          <p:nvPr/>
        </p:nvSpPr>
        <p:spPr>
          <a:xfrm>
            <a:off x="996696" y="2980944"/>
            <a:ext cx="7498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Poppins SemiBold"/>
              <a:buNone/>
            </a:pPr>
            <a:r>
              <a:rPr lang="en-US" sz="1450">
                <a:solidFill>
                  <a:srgbClr val="FFFFFF"/>
                </a:solidFill>
                <a:latin typeface="Poppins SemiBold"/>
                <a:ea typeface="Poppins SemiBold"/>
                <a:cs typeface="Poppins SemiBold"/>
                <a:sym typeface="Poppins SemiBold"/>
              </a:rPr>
              <a:t>The standard doesn't reset</a:t>
            </a:r>
            <a:endParaRPr sz="1450">
              <a:solidFill>
                <a:schemeClr val="dk1"/>
              </a:solidFill>
              <a:latin typeface="Calibri"/>
              <a:ea typeface="Calibri"/>
              <a:cs typeface="Calibri"/>
              <a:sym typeface="Calibri"/>
            </a:endParaRPr>
          </a:p>
        </p:txBody>
      </p:sp>
      <p:sp>
        <p:nvSpPr>
          <p:cNvPr id="320" name="Google Shape;320;p13"/>
          <p:cNvSpPr/>
          <p:nvPr/>
        </p:nvSpPr>
        <p:spPr>
          <a:xfrm>
            <a:off x="996696" y="3291840"/>
            <a:ext cx="74980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2D6"/>
              </a:buClr>
              <a:buSzPts val="1100"/>
              <a:buFont typeface="Poppins"/>
              <a:buNone/>
            </a:pPr>
            <a:r>
              <a:rPr lang="en-US" sz="1100">
                <a:solidFill>
                  <a:srgbClr val="C9D2D6"/>
                </a:solidFill>
                <a:latin typeface="Poppins"/>
                <a:ea typeface="Poppins"/>
                <a:cs typeface="Poppins"/>
                <a:sym typeface="Poppins"/>
              </a:rPr>
              <a:t>One standard, three contexts. It's the same tomorrow as it was today. That's the whole point.</a:t>
            </a:r>
            <a:endParaRPr sz="1100">
              <a:solidFill>
                <a:schemeClr val="dk1"/>
              </a:solidFill>
              <a:latin typeface="Calibri"/>
              <a:ea typeface="Calibri"/>
              <a:cs typeface="Calibri"/>
              <a:sym typeface="Calibri"/>
            </a:endParaRPr>
          </a:p>
        </p:txBody>
      </p:sp>
      <p:sp>
        <p:nvSpPr>
          <p:cNvPr id="321" name="Google Shape;321;p13"/>
          <p:cNvSpPr/>
          <p:nvPr/>
        </p:nvSpPr>
        <p:spPr>
          <a:xfrm>
            <a:off x="502920" y="4041648"/>
            <a:ext cx="8138160" cy="676656"/>
          </a:xfrm>
          <a:prstGeom prst="rect">
            <a:avLst/>
          </a:prstGeom>
          <a:solidFill>
            <a:srgbClr val="F8E7E3"/>
          </a:solidFill>
          <a:ln cap="flat" cmpd="sng" w="1905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3"/>
          <p:cNvSpPr/>
          <p:nvPr/>
        </p:nvSpPr>
        <p:spPr>
          <a:xfrm>
            <a:off x="630936" y="4096512"/>
            <a:ext cx="788212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850"/>
              <a:buFont typeface="Poppins SemiBold"/>
              <a:buNone/>
            </a:pPr>
            <a:r>
              <a:rPr lang="en-US" sz="850">
                <a:solidFill>
                  <a:srgbClr val="B23A2E"/>
                </a:solidFill>
                <a:latin typeface="Poppins SemiBold"/>
                <a:ea typeface="Poppins SemiBold"/>
                <a:cs typeface="Poppins SemiBold"/>
                <a:sym typeface="Poppins SemiBold"/>
              </a:rPr>
              <a:t>ESCG TO CONFIRM   </a:t>
            </a:r>
            <a:r>
              <a:rPr lang="en-US" sz="950">
                <a:solidFill>
                  <a:srgbClr val="1B2A30"/>
                </a:solidFill>
                <a:latin typeface="Poppins"/>
                <a:ea typeface="Poppins"/>
                <a:cs typeface="Poppins"/>
                <a:sym typeface="Poppins"/>
              </a:rPr>
              <a:t>Insert the Careers Team drop-in details and the placement coordinator for this course. Questions your tutor can't answer go here.</a:t>
            </a:r>
            <a:endParaRPr sz="8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27" name="Shape 327"/>
        <p:cNvGrpSpPr/>
        <p:nvPr/>
      </p:nvGrpSpPr>
      <p:grpSpPr>
        <a:xfrm>
          <a:off x="0" y="0"/>
          <a:ext cx="0" cy="0"/>
          <a:chOff x="0" y="0"/>
          <a:chExt cx="0" cy="0"/>
        </a:xfrm>
      </p:grpSpPr>
      <p:sp>
        <p:nvSpPr>
          <p:cNvPr id="328" name="Google Shape;328;p14"/>
          <p:cNvSpPr/>
          <p:nvPr/>
        </p:nvSpPr>
        <p:spPr>
          <a:xfrm>
            <a:off x="502920" y="256032"/>
            <a:ext cx="3108960" cy="310896"/>
          </a:xfrm>
          <a:prstGeom prst="roundRect">
            <a:avLst>
              <a:gd fmla="val 50000" name="adj"/>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14"/>
          <p:cNvSpPr/>
          <p:nvPr/>
        </p:nvSpPr>
        <p:spPr>
          <a:xfrm>
            <a:off x="502920" y="246888"/>
            <a:ext cx="31089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DO NOT DISPLAY TO STUDENTS</a:t>
            </a:r>
            <a:endParaRPr sz="950">
              <a:solidFill>
                <a:schemeClr val="dk1"/>
              </a:solidFill>
              <a:latin typeface="Calibri"/>
              <a:ea typeface="Calibri"/>
              <a:cs typeface="Calibri"/>
              <a:sym typeface="Calibri"/>
            </a:endParaRPr>
          </a:p>
        </p:txBody>
      </p:sp>
      <p:sp>
        <p:nvSpPr>
          <p:cNvPr id="330" name="Google Shape;330;p14"/>
          <p:cNvSpPr/>
          <p:nvPr/>
        </p:nvSpPr>
        <p:spPr>
          <a:xfrm>
            <a:off x="3794760" y="256032"/>
            <a:ext cx="48463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Teacher appendix — Module I · L3 Year 1</a:t>
            </a:r>
            <a:endParaRPr sz="1300">
              <a:solidFill>
                <a:schemeClr val="dk1"/>
              </a:solidFill>
              <a:latin typeface="Calibri"/>
              <a:ea typeface="Calibri"/>
              <a:cs typeface="Calibri"/>
              <a:sym typeface="Calibri"/>
            </a:endParaRPr>
          </a:p>
        </p:txBody>
      </p:sp>
      <p:sp>
        <p:nvSpPr>
          <p:cNvPr id="331" name="Google Shape;331;p14"/>
          <p:cNvSpPr/>
          <p:nvPr/>
        </p:nvSpPr>
        <p:spPr>
          <a:xfrm>
            <a:off x="502920" y="749808"/>
            <a:ext cx="3794760" cy="4114800"/>
          </a:xfrm>
          <a:prstGeom prst="roundRect">
            <a:avLst>
              <a:gd fmla="val 1205"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4"/>
          <p:cNvSpPr/>
          <p:nvPr/>
        </p:nvSpPr>
        <p:spPr>
          <a:xfrm>
            <a:off x="667512" y="859536"/>
            <a:ext cx="346557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50"/>
              <a:buFont typeface="Poppins SemiBold"/>
              <a:buNone/>
            </a:pPr>
            <a:r>
              <a:rPr lang="en-US" sz="950">
                <a:solidFill>
                  <a:srgbClr val="F6891E"/>
                </a:solidFill>
                <a:latin typeface="Poppins SemiBold"/>
                <a:ea typeface="Poppins SemiBold"/>
                <a:cs typeface="Poppins SemiBold"/>
                <a:sym typeface="Poppins SemiBold"/>
              </a:rPr>
              <a:t>RUNNING ORDER · 90 MINUTES</a:t>
            </a:r>
            <a:endParaRPr sz="950">
              <a:solidFill>
                <a:schemeClr val="dk1"/>
              </a:solidFill>
              <a:latin typeface="Calibri"/>
              <a:ea typeface="Calibri"/>
              <a:cs typeface="Calibri"/>
              <a:sym typeface="Calibri"/>
            </a:endParaRPr>
          </a:p>
        </p:txBody>
      </p:sp>
      <p:sp>
        <p:nvSpPr>
          <p:cNvPr id="333" name="Google Shape;333;p14"/>
          <p:cNvSpPr/>
          <p:nvPr/>
        </p:nvSpPr>
        <p:spPr>
          <a:xfrm>
            <a:off x="667512" y="1152144"/>
            <a:ext cx="6583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00"/>
              <a:buFont typeface="Poppins SemiBold"/>
              <a:buNone/>
            </a:pPr>
            <a:r>
              <a:rPr lang="en-US" sz="900">
                <a:solidFill>
                  <a:srgbClr val="0D2434"/>
                </a:solidFill>
                <a:latin typeface="Poppins SemiBold"/>
                <a:ea typeface="Poppins SemiBold"/>
                <a:cs typeface="Poppins SemiBold"/>
                <a:sym typeface="Poppins SemiBold"/>
              </a:rPr>
              <a:t>00–10</a:t>
            </a:r>
            <a:endParaRPr sz="900">
              <a:solidFill>
                <a:schemeClr val="dk1"/>
              </a:solidFill>
              <a:latin typeface="Calibri"/>
              <a:ea typeface="Calibri"/>
              <a:cs typeface="Calibri"/>
              <a:sym typeface="Calibri"/>
            </a:endParaRPr>
          </a:p>
        </p:txBody>
      </p:sp>
      <p:sp>
        <p:nvSpPr>
          <p:cNvPr id="334" name="Google Shape;334;p14"/>
          <p:cNvSpPr/>
          <p:nvPr/>
        </p:nvSpPr>
        <p:spPr>
          <a:xfrm>
            <a:off x="1371600" y="1152144"/>
            <a:ext cx="27432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850"/>
              <a:buFont typeface="Poppins"/>
              <a:buNone/>
            </a:pPr>
            <a:r>
              <a:rPr lang="en-US" sz="850">
                <a:solidFill>
                  <a:srgbClr val="1B2A30"/>
                </a:solidFill>
                <a:latin typeface="Poppins"/>
                <a:ea typeface="Poppins"/>
                <a:cs typeface="Poppins"/>
                <a:sym typeface="Poppins"/>
              </a:rPr>
              <a:t>Settling discussion — how is it going?</a:t>
            </a:r>
            <a:endParaRPr sz="850">
              <a:solidFill>
                <a:schemeClr val="dk1"/>
              </a:solidFill>
              <a:latin typeface="Calibri"/>
              <a:ea typeface="Calibri"/>
              <a:cs typeface="Calibri"/>
              <a:sym typeface="Calibri"/>
            </a:endParaRPr>
          </a:p>
        </p:txBody>
      </p:sp>
      <p:sp>
        <p:nvSpPr>
          <p:cNvPr id="335" name="Google Shape;335;p14"/>
          <p:cNvSpPr/>
          <p:nvPr/>
        </p:nvSpPr>
        <p:spPr>
          <a:xfrm>
            <a:off x="667512" y="1591056"/>
            <a:ext cx="6583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00"/>
              <a:buFont typeface="Poppins SemiBold"/>
              <a:buNone/>
            </a:pPr>
            <a:r>
              <a:rPr lang="en-US" sz="900">
                <a:solidFill>
                  <a:srgbClr val="0D2434"/>
                </a:solidFill>
                <a:latin typeface="Poppins SemiBold"/>
                <a:ea typeface="Poppins SemiBold"/>
                <a:cs typeface="Poppins SemiBold"/>
                <a:sym typeface="Poppins SemiBold"/>
              </a:rPr>
              <a:t>10–25</a:t>
            </a:r>
            <a:endParaRPr sz="900">
              <a:solidFill>
                <a:schemeClr val="dk1"/>
              </a:solidFill>
              <a:latin typeface="Calibri"/>
              <a:ea typeface="Calibri"/>
              <a:cs typeface="Calibri"/>
              <a:sym typeface="Calibri"/>
            </a:endParaRPr>
          </a:p>
        </p:txBody>
      </p:sp>
      <p:sp>
        <p:nvSpPr>
          <p:cNvPr id="336" name="Google Shape;336;p14"/>
          <p:cNvSpPr/>
          <p:nvPr/>
        </p:nvSpPr>
        <p:spPr>
          <a:xfrm>
            <a:off x="1371600" y="1591056"/>
            <a:ext cx="27432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850"/>
              <a:buFont typeface="Poppins"/>
              <a:buNone/>
            </a:pPr>
            <a:r>
              <a:rPr lang="en-US" sz="850">
                <a:solidFill>
                  <a:srgbClr val="1B2A30"/>
                </a:solidFill>
                <a:latin typeface="Poppins"/>
                <a:ea typeface="Poppins"/>
                <a:cs typeface="Poppins"/>
                <a:sym typeface="Poppins"/>
              </a:rPr>
              <a:t>One standard, three contexts (+ PROUD: Show Respect)</a:t>
            </a:r>
            <a:endParaRPr sz="850">
              <a:solidFill>
                <a:schemeClr val="dk1"/>
              </a:solidFill>
              <a:latin typeface="Calibri"/>
              <a:ea typeface="Calibri"/>
              <a:cs typeface="Calibri"/>
              <a:sym typeface="Calibri"/>
            </a:endParaRPr>
          </a:p>
        </p:txBody>
      </p:sp>
      <p:sp>
        <p:nvSpPr>
          <p:cNvPr id="337" name="Google Shape;337;p14"/>
          <p:cNvSpPr/>
          <p:nvPr/>
        </p:nvSpPr>
        <p:spPr>
          <a:xfrm>
            <a:off x="667512" y="2029968"/>
            <a:ext cx="6583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00"/>
              <a:buFont typeface="Poppins SemiBold"/>
              <a:buNone/>
            </a:pPr>
            <a:r>
              <a:rPr lang="en-US" sz="900">
                <a:solidFill>
                  <a:srgbClr val="0D2434"/>
                </a:solidFill>
                <a:latin typeface="Poppins SemiBold"/>
                <a:ea typeface="Poppins SemiBold"/>
                <a:cs typeface="Poppins SemiBold"/>
                <a:sym typeface="Poppins SemiBold"/>
              </a:rPr>
              <a:t>25–35</a:t>
            </a:r>
            <a:endParaRPr sz="900">
              <a:solidFill>
                <a:schemeClr val="dk1"/>
              </a:solidFill>
              <a:latin typeface="Calibri"/>
              <a:ea typeface="Calibri"/>
              <a:cs typeface="Calibri"/>
              <a:sym typeface="Calibri"/>
            </a:endParaRPr>
          </a:p>
        </p:txBody>
      </p:sp>
      <p:sp>
        <p:nvSpPr>
          <p:cNvPr id="338" name="Google Shape;338;p14"/>
          <p:cNvSpPr/>
          <p:nvPr/>
        </p:nvSpPr>
        <p:spPr>
          <a:xfrm>
            <a:off x="1371600" y="2029968"/>
            <a:ext cx="27432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850"/>
              <a:buFont typeface="Poppins"/>
              <a:buNone/>
            </a:pPr>
            <a:r>
              <a:rPr lang="en-US" sz="850">
                <a:solidFill>
                  <a:srgbClr val="1B2A30"/>
                </a:solidFill>
                <a:latin typeface="Poppins"/>
                <a:ea typeface="Poppins"/>
                <a:cs typeface="Poppins"/>
                <a:sym typeface="Poppins"/>
              </a:rPr>
              <a:t>The reference you're already writing</a:t>
            </a:r>
            <a:endParaRPr sz="850">
              <a:solidFill>
                <a:schemeClr val="dk1"/>
              </a:solidFill>
              <a:latin typeface="Calibri"/>
              <a:ea typeface="Calibri"/>
              <a:cs typeface="Calibri"/>
              <a:sym typeface="Calibri"/>
            </a:endParaRPr>
          </a:p>
        </p:txBody>
      </p:sp>
      <p:sp>
        <p:nvSpPr>
          <p:cNvPr id="339" name="Google Shape;339;p14"/>
          <p:cNvSpPr/>
          <p:nvPr/>
        </p:nvSpPr>
        <p:spPr>
          <a:xfrm>
            <a:off x="667512" y="2468880"/>
            <a:ext cx="6583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00"/>
              <a:buFont typeface="Poppins SemiBold"/>
              <a:buNone/>
            </a:pPr>
            <a:r>
              <a:rPr lang="en-US" sz="900">
                <a:solidFill>
                  <a:srgbClr val="0D2434"/>
                </a:solidFill>
                <a:latin typeface="Poppins SemiBold"/>
                <a:ea typeface="Poppins SemiBold"/>
                <a:cs typeface="Poppins SemiBold"/>
                <a:sym typeface="Poppins SemiBold"/>
              </a:rPr>
              <a:t>35–50</a:t>
            </a:r>
            <a:endParaRPr sz="900">
              <a:solidFill>
                <a:schemeClr val="dk1"/>
              </a:solidFill>
              <a:latin typeface="Calibri"/>
              <a:ea typeface="Calibri"/>
              <a:cs typeface="Calibri"/>
              <a:sym typeface="Calibri"/>
            </a:endParaRPr>
          </a:p>
        </p:txBody>
      </p:sp>
      <p:sp>
        <p:nvSpPr>
          <p:cNvPr id="340" name="Google Shape;340;p14"/>
          <p:cNvSpPr/>
          <p:nvPr/>
        </p:nvSpPr>
        <p:spPr>
          <a:xfrm>
            <a:off x="1371600" y="2468880"/>
            <a:ext cx="27432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850"/>
              <a:buFont typeface="Poppins"/>
              <a:buNone/>
            </a:pPr>
            <a:r>
              <a:rPr lang="en-US" sz="850">
                <a:solidFill>
                  <a:srgbClr val="1B2A30"/>
                </a:solidFill>
                <a:latin typeface="Poppins"/>
                <a:ea typeface="Poppins"/>
                <a:cs typeface="Poppins"/>
                <a:sym typeface="Poppins"/>
              </a:rPr>
              <a:t>Human skills + quick self-audit</a:t>
            </a:r>
            <a:endParaRPr sz="850">
              <a:solidFill>
                <a:schemeClr val="dk1"/>
              </a:solidFill>
              <a:latin typeface="Calibri"/>
              <a:ea typeface="Calibri"/>
              <a:cs typeface="Calibri"/>
              <a:sym typeface="Calibri"/>
            </a:endParaRPr>
          </a:p>
        </p:txBody>
      </p:sp>
      <p:sp>
        <p:nvSpPr>
          <p:cNvPr id="341" name="Google Shape;341;p14"/>
          <p:cNvSpPr/>
          <p:nvPr/>
        </p:nvSpPr>
        <p:spPr>
          <a:xfrm>
            <a:off x="667512" y="2907792"/>
            <a:ext cx="6583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00"/>
              <a:buFont typeface="Poppins SemiBold"/>
              <a:buNone/>
            </a:pPr>
            <a:r>
              <a:rPr lang="en-US" sz="900">
                <a:solidFill>
                  <a:srgbClr val="0D2434"/>
                </a:solidFill>
                <a:latin typeface="Poppins SemiBold"/>
                <a:ea typeface="Poppins SemiBold"/>
                <a:cs typeface="Poppins SemiBold"/>
                <a:sym typeface="Poppins SemiBold"/>
              </a:rPr>
              <a:t>50–65</a:t>
            </a:r>
            <a:endParaRPr sz="900">
              <a:solidFill>
                <a:schemeClr val="dk1"/>
              </a:solidFill>
              <a:latin typeface="Calibri"/>
              <a:ea typeface="Calibri"/>
              <a:cs typeface="Calibri"/>
              <a:sym typeface="Calibri"/>
            </a:endParaRPr>
          </a:p>
        </p:txBody>
      </p:sp>
      <p:sp>
        <p:nvSpPr>
          <p:cNvPr id="342" name="Google Shape;342;p14"/>
          <p:cNvSpPr/>
          <p:nvPr/>
        </p:nvSpPr>
        <p:spPr>
          <a:xfrm>
            <a:off x="1371600" y="2907792"/>
            <a:ext cx="27432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850"/>
              <a:buFont typeface="Poppins"/>
              <a:buNone/>
            </a:pPr>
            <a:r>
              <a:rPr lang="en-US" sz="850">
                <a:solidFill>
                  <a:srgbClr val="1B2A30"/>
                </a:solidFill>
                <a:latin typeface="Poppins"/>
                <a:ea typeface="Poppins"/>
                <a:cs typeface="Poppins"/>
                <a:sym typeface="Poppins"/>
              </a:rPr>
              <a:t>Skills Assessment — results interpretation</a:t>
            </a:r>
            <a:endParaRPr sz="850">
              <a:solidFill>
                <a:schemeClr val="dk1"/>
              </a:solidFill>
              <a:latin typeface="Calibri"/>
              <a:ea typeface="Calibri"/>
              <a:cs typeface="Calibri"/>
              <a:sym typeface="Calibri"/>
            </a:endParaRPr>
          </a:p>
        </p:txBody>
      </p:sp>
      <p:sp>
        <p:nvSpPr>
          <p:cNvPr id="343" name="Google Shape;343;p14"/>
          <p:cNvSpPr/>
          <p:nvPr/>
        </p:nvSpPr>
        <p:spPr>
          <a:xfrm>
            <a:off x="667512" y="3346704"/>
            <a:ext cx="6583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00"/>
              <a:buFont typeface="Poppins SemiBold"/>
              <a:buNone/>
            </a:pPr>
            <a:r>
              <a:rPr lang="en-US" sz="900">
                <a:solidFill>
                  <a:srgbClr val="0D2434"/>
                </a:solidFill>
                <a:latin typeface="Poppins SemiBold"/>
                <a:ea typeface="Poppins SemiBold"/>
                <a:cs typeface="Poppins SemiBold"/>
                <a:sym typeface="Poppins SemiBold"/>
              </a:rPr>
              <a:t>65–75</a:t>
            </a:r>
            <a:endParaRPr sz="900">
              <a:solidFill>
                <a:schemeClr val="dk1"/>
              </a:solidFill>
              <a:latin typeface="Calibri"/>
              <a:ea typeface="Calibri"/>
              <a:cs typeface="Calibri"/>
              <a:sym typeface="Calibri"/>
            </a:endParaRPr>
          </a:p>
        </p:txBody>
      </p:sp>
      <p:sp>
        <p:nvSpPr>
          <p:cNvPr id="344" name="Google Shape;344;p14"/>
          <p:cNvSpPr/>
          <p:nvPr/>
        </p:nvSpPr>
        <p:spPr>
          <a:xfrm>
            <a:off x="1371600" y="3346704"/>
            <a:ext cx="27432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850"/>
              <a:buFont typeface="Poppins"/>
              <a:buNone/>
            </a:pPr>
            <a:r>
              <a:rPr lang="en-US" sz="850">
                <a:solidFill>
                  <a:srgbClr val="1B2A30"/>
                </a:solidFill>
                <a:latin typeface="Poppins"/>
                <a:ea typeface="Poppins"/>
                <a:cs typeface="Poppins"/>
                <a:sym typeface="Poppins"/>
              </a:rPr>
              <a:t>Claims versus evidence</a:t>
            </a:r>
            <a:endParaRPr sz="850">
              <a:solidFill>
                <a:schemeClr val="dk1"/>
              </a:solidFill>
              <a:latin typeface="Calibri"/>
              <a:ea typeface="Calibri"/>
              <a:cs typeface="Calibri"/>
              <a:sym typeface="Calibri"/>
            </a:endParaRPr>
          </a:p>
        </p:txBody>
      </p:sp>
      <p:sp>
        <p:nvSpPr>
          <p:cNvPr id="345" name="Google Shape;345;p14"/>
          <p:cNvSpPr/>
          <p:nvPr/>
        </p:nvSpPr>
        <p:spPr>
          <a:xfrm>
            <a:off x="667512" y="3785616"/>
            <a:ext cx="6583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00"/>
              <a:buFont typeface="Poppins SemiBold"/>
              <a:buNone/>
            </a:pPr>
            <a:r>
              <a:rPr lang="en-US" sz="900">
                <a:solidFill>
                  <a:srgbClr val="0D2434"/>
                </a:solidFill>
                <a:latin typeface="Poppins SemiBold"/>
                <a:ea typeface="Poppins SemiBold"/>
                <a:cs typeface="Poppins SemiBold"/>
                <a:sym typeface="Poppins SemiBold"/>
              </a:rPr>
              <a:t>75–85</a:t>
            </a:r>
            <a:endParaRPr sz="900">
              <a:solidFill>
                <a:schemeClr val="dk1"/>
              </a:solidFill>
              <a:latin typeface="Calibri"/>
              <a:ea typeface="Calibri"/>
              <a:cs typeface="Calibri"/>
              <a:sym typeface="Calibri"/>
            </a:endParaRPr>
          </a:p>
        </p:txBody>
      </p:sp>
      <p:sp>
        <p:nvSpPr>
          <p:cNvPr id="346" name="Google Shape;346;p14"/>
          <p:cNvSpPr/>
          <p:nvPr/>
        </p:nvSpPr>
        <p:spPr>
          <a:xfrm>
            <a:off x="1371600" y="3785616"/>
            <a:ext cx="27432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850"/>
              <a:buFont typeface="Poppins"/>
              <a:buNone/>
            </a:pPr>
            <a:r>
              <a:rPr lang="en-US" sz="850">
                <a:solidFill>
                  <a:srgbClr val="1B2A30"/>
                </a:solidFill>
                <a:latin typeface="Poppins"/>
                <a:ea typeface="Poppins"/>
                <a:cs typeface="Poppins"/>
                <a:sym typeface="Poppins"/>
              </a:rPr>
              <a:t>Three strengths, with proof</a:t>
            </a:r>
            <a:endParaRPr sz="850">
              <a:solidFill>
                <a:schemeClr val="dk1"/>
              </a:solidFill>
              <a:latin typeface="Calibri"/>
              <a:ea typeface="Calibri"/>
              <a:cs typeface="Calibri"/>
              <a:sym typeface="Calibri"/>
            </a:endParaRPr>
          </a:p>
        </p:txBody>
      </p:sp>
      <p:sp>
        <p:nvSpPr>
          <p:cNvPr id="347" name="Google Shape;347;p14"/>
          <p:cNvSpPr/>
          <p:nvPr/>
        </p:nvSpPr>
        <p:spPr>
          <a:xfrm>
            <a:off x="667512" y="4224528"/>
            <a:ext cx="658368"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900"/>
              <a:buFont typeface="Poppins SemiBold"/>
              <a:buNone/>
            </a:pPr>
            <a:r>
              <a:rPr lang="en-US" sz="900">
                <a:solidFill>
                  <a:srgbClr val="0D2434"/>
                </a:solidFill>
                <a:latin typeface="Poppins SemiBold"/>
                <a:ea typeface="Poppins SemiBold"/>
                <a:cs typeface="Poppins SemiBold"/>
                <a:sym typeface="Poppins SemiBold"/>
              </a:rPr>
              <a:t>85–90</a:t>
            </a:r>
            <a:endParaRPr sz="900">
              <a:solidFill>
                <a:schemeClr val="dk1"/>
              </a:solidFill>
              <a:latin typeface="Calibri"/>
              <a:ea typeface="Calibri"/>
              <a:cs typeface="Calibri"/>
              <a:sym typeface="Calibri"/>
            </a:endParaRPr>
          </a:p>
        </p:txBody>
      </p:sp>
      <p:sp>
        <p:nvSpPr>
          <p:cNvPr id="348" name="Google Shape;348;p14"/>
          <p:cNvSpPr/>
          <p:nvPr/>
        </p:nvSpPr>
        <p:spPr>
          <a:xfrm>
            <a:off x="1371600" y="4224528"/>
            <a:ext cx="27432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850"/>
              <a:buFont typeface="Poppins"/>
              <a:buNone/>
            </a:pPr>
            <a:r>
              <a:rPr lang="en-US" sz="850">
                <a:solidFill>
                  <a:srgbClr val="1B2A30"/>
                </a:solidFill>
                <a:latin typeface="Poppins"/>
                <a:ea typeface="Poppins"/>
                <a:cs typeface="Poppins"/>
                <a:sym typeface="Poppins"/>
              </a:rPr>
              <a:t>One thing — cards collected</a:t>
            </a:r>
            <a:endParaRPr sz="850">
              <a:solidFill>
                <a:schemeClr val="dk1"/>
              </a:solidFill>
              <a:latin typeface="Calibri"/>
              <a:ea typeface="Calibri"/>
              <a:cs typeface="Calibri"/>
              <a:sym typeface="Calibri"/>
            </a:endParaRPr>
          </a:p>
        </p:txBody>
      </p:sp>
      <p:sp>
        <p:nvSpPr>
          <p:cNvPr id="349" name="Google Shape;349;p14"/>
          <p:cNvSpPr/>
          <p:nvPr/>
        </p:nvSpPr>
        <p:spPr>
          <a:xfrm>
            <a:off x="4526280" y="749808"/>
            <a:ext cx="4114800" cy="1481328"/>
          </a:xfrm>
          <a:prstGeom prst="roundRect">
            <a:avLst>
              <a:gd fmla="val 3086"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4"/>
          <p:cNvSpPr/>
          <p:nvPr/>
        </p:nvSpPr>
        <p:spPr>
          <a:xfrm>
            <a:off x="4690872" y="841248"/>
            <a:ext cx="378561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50"/>
              <a:buFont typeface="Poppins SemiBold"/>
              <a:buNone/>
            </a:pPr>
            <a:r>
              <a:rPr lang="en-US" sz="950">
                <a:solidFill>
                  <a:srgbClr val="F6891E"/>
                </a:solidFill>
                <a:latin typeface="Poppins SemiBold"/>
                <a:ea typeface="Poppins SemiBold"/>
                <a:cs typeface="Poppins SemiBold"/>
                <a:sym typeface="Poppins SemiBold"/>
              </a:rPr>
              <a:t>TEACHING THIS GROUP</a:t>
            </a:r>
            <a:endParaRPr sz="950">
              <a:solidFill>
                <a:schemeClr val="dk1"/>
              </a:solidFill>
              <a:latin typeface="Calibri"/>
              <a:ea typeface="Calibri"/>
              <a:cs typeface="Calibri"/>
              <a:sym typeface="Calibri"/>
            </a:endParaRPr>
          </a:p>
        </p:txBody>
      </p:sp>
      <p:sp>
        <p:nvSpPr>
          <p:cNvPr id="351" name="Google Shape;351;p14"/>
          <p:cNvSpPr/>
          <p:nvPr/>
        </p:nvSpPr>
        <p:spPr>
          <a:xfrm>
            <a:off x="4690872" y="1060704"/>
            <a:ext cx="3785616" cy="11338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800"/>
              <a:buFont typeface="Poppins"/>
              <a:buNone/>
            </a:pPr>
            <a:r>
              <a:rPr lang="en-US" sz="800">
                <a:solidFill>
                  <a:srgbClr val="1B2A30"/>
                </a:solidFill>
                <a:latin typeface="Poppins"/>
                <a:ea typeface="Poppins"/>
                <a:cs typeface="Poppins"/>
                <a:sym typeface="Poppins"/>
              </a:rPr>
              <a:t>L3 Year 1 Digital, Media, Film &amp; Computing — Content Creation and Cybersecurity (Eastbourne), Games Art and Animation (Station Plaza), Film Production and the Digital and Cyber T Levels (Hastings Ore), Creative and Design T Level (Lewes). Treat them as adults and this works; moralise and it dies in ten minutes. The room holds very different destinations — SOC analyst, animator, editor, journalist, software developer — so keep examples plural. Their shared reality is deadlines, industry software, heavy independent study and, for T Level students, a mandatory placement. The ones who claim they have nothing usually have evidence in projects, caring, part-time work or sport.</a:t>
            </a:r>
            <a:endParaRPr sz="800">
              <a:solidFill>
                <a:schemeClr val="dk1"/>
              </a:solidFill>
              <a:latin typeface="Calibri"/>
              <a:ea typeface="Calibri"/>
              <a:cs typeface="Calibri"/>
              <a:sym typeface="Calibri"/>
            </a:endParaRPr>
          </a:p>
        </p:txBody>
      </p:sp>
      <p:sp>
        <p:nvSpPr>
          <p:cNvPr id="352" name="Google Shape;352;p14"/>
          <p:cNvSpPr/>
          <p:nvPr/>
        </p:nvSpPr>
        <p:spPr>
          <a:xfrm>
            <a:off x="4526280" y="2359152"/>
            <a:ext cx="4114800" cy="1481328"/>
          </a:xfrm>
          <a:prstGeom prst="roundRect">
            <a:avLst>
              <a:gd fmla="val 3086"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14"/>
          <p:cNvSpPr/>
          <p:nvPr/>
        </p:nvSpPr>
        <p:spPr>
          <a:xfrm>
            <a:off x="4690872" y="2450592"/>
            <a:ext cx="3785616"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950"/>
              <a:buFont typeface="Poppins SemiBold"/>
              <a:buNone/>
            </a:pPr>
            <a:r>
              <a:rPr lang="en-US" sz="950">
                <a:solidFill>
                  <a:srgbClr val="F6891E"/>
                </a:solidFill>
                <a:latin typeface="Poppins SemiBold"/>
                <a:ea typeface="Poppins SemiBold"/>
                <a:cs typeface="Poppins SemiBold"/>
                <a:sym typeface="Poppins SemiBold"/>
              </a:rPr>
              <a:t>PRE-FLIGHT CHECKLIST</a:t>
            </a:r>
            <a:endParaRPr sz="950">
              <a:solidFill>
                <a:schemeClr val="dk1"/>
              </a:solidFill>
              <a:latin typeface="Calibri"/>
              <a:ea typeface="Calibri"/>
              <a:cs typeface="Calibri"/>
              <a:sym typeface="Calibri"/>
            </a:endParaRPr>
          </a:p>
        </p:txBody>
      </p:sp>
      <p:sp>
        <p:nvSpPr>
          <p:cNvPr id="354" name="Google Shape;354;p14"/>
          <p:cNvSpPr/>
          <p:nvPr/>
        </p:nvSpPr>
        <p:spPr>
          <a:xfrm>
            <a:off x="4690872" y="2670048"/>
            <a:ext cx="3785616" cy="113385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A30"/>
              </a:buClr>
              <a:buSzPts val="800"/>
              <a:buFont typeface="Poppins"/>
              <a:buChar char="•"/>
            </a:pPr>
            <a:r>
              <a:rPr lang="en-US" sz="800">
                <a:solidFill>
                  <a:srgbClr val="1B2A30"/>
                </a:solidFill>
                <a:latin typeface="Poppins"/>
                <a:ea typeface="Poppins"/>
                <a:cs typeface="Poppins"/>
                <a:sym typeface="Poppins"/>
              </a:rPr>
              <a:t>Navigate login route confirmed and tested on a student account</a:t>
            </a:r>
            <a:endParaRPr sz="800">
              <a:solidFill>
                <a:schemeClr val="dk1"/>
              </a:solidFill>
              <a:latin typeface="Calibri"/>
              <a:ea typeface="Calibri"/>
              <a:cs typeface="Calibri"/>
              <a:sym typeface="Calibri"/>
            </a:endParaRPr>
          </a:p>
          <a:p>
            <a:pPr indent="-342900" lvl="0" marL="342900" marR="0" rtl="0" algn="l">
              <a:spcBef>
                <a:spcPts val="300"/>
              </a:spcBef>
              <a:spcAft>
                <a:spcPts val="0"/>
              </a:spcAft>
              <a:buClr>
                <a:srgbClr val="1B2A30"/>
              </a:buClr>
              <a:buSzPts val="800"/>
              <a:buFont typeface="Poppins"/>
              <a:buChar char="•"/>
            </a:pPr>
            <a:r>
              <a:rPr lang="en-US" sz="800">
                <a:solidFill>
                  <a:srgbClr val="1B2A30"/>
                </a:solidFill>
                <a:latin typeface="Poppins"/>
                <a:ea typeface="Poppins"/>
                <a:cs typeface="Poppins"/>
                <a:sym typeface="Poppins"/>
              </a:rPr>
              <a:t>Skills Assessment completion checked with the Module H deliverer</a:t>
            </a:r>
            <a:endParaRPr sz="800">
              <a:solidFill>
                <a:schemeClr val="dk1"/>
              </a:solidFill>
              <a:latin typeface="Calibri"/>
              <a:ea typeface="Calibri"/>
              <a:cs typeface="Calibri"/>
              <a:sym typeface="Calibri"/>
            </a:endParaRPr>
          </a:p>
          <a:p>
            <a:pPr indent="-342900" lvl="0" marL="342900" marR="0" rtl="0" algn="l">
              <a:spcBef>
                <a:spcPts val="300"/>
              </a:spcBef>
              <a:spcAft>
                <a:spcPts val="0"/>
              </a:spcAft>
              <a:buClr>
                <a:srgbClr val="1B2A30"/>
              </a:buClr>
              <a:buSzPts val="800"/>
              <a:buFont typeface="Poppins"/>
              <a:buChar char="•"/>
            </a:pPr>
            <a:r>
              <a:rPr lang="en-US" sz="800">
                <a:solidFill>
                  <a:srgbClr val="1B2A30"/>
                </a:solidFill>
                <a:latin typeface="Poppins"/>
                <a:ea typeface="Poppins"/>
                <a:cs typeface="Poppins"/>
                <a:sym typeface="Poppins"/>
              </a:rPr>
              <a:t>Slide 6 skills list localised for digital/creative — check with Careers</a:t>
            </a:r>
            <a:endParaRPr sz="800">
              <a:solidFill>
                <a:schemeClr val="dk1"/>
              </a:solidFill>
              <a:latin typeface="Calibri"/>
              <a:ea typeface="Calibri"/>
              <a:cs typeface="Calibri"/>
              <a:sym typeface="Calibri"/>
            </a:endParaRPr>
          </a:p>
          <a:p>
            <a:pPr indent="-342900" lvl="0" marL="342900" marR="0" rtl="0" algn="l">
              <a:spcBef>
                <a:spcPts val="300"/>
              </a:spcBef>
              <a:spcAft>
                <a:spcPts val="0"/>
              </a:spcAft>
              <a:buClr>
                <a:srgbClr val="1B2A30"/>
              </a:buClr>
              <a:buSzPts val="800"/>
              <a:buFont typeface="Poppins"/>
              <a:buChar char="•"/>
            </a:pPr>
            <a:r>
              <a:rPr lang="en-US" sz="800">
                <a:solidFill>
                  <a:srgbClr val="1B2A30"/>
                </a:solidFill>
                <a:latin typeface="Poppins"/>
                <a:ea typeface="Poppins"/>
                <a:cs typeface="Poppins"/>
                <a:sym typeface="Poppins"/>
              </a:rPr>
              <a:t>Contacts inserted: attendance/barriers (slide 5), Careers &amp; placement (slide 11)</a:t>
            </a:r>
            <a:endParaRPr sz="800">
              <a:solidFill>
                <a:schemeClr val="dk1"/>
              </a:solidFill>
              <a:latin typeface="Calibri"/>
              <a:ea typeface="Calibri"/>
              <a:cs typeface="Calibri"/>
              <a:sym typeface="Calibri"/>
            </a:endParaRPr>
          </a:p>
          <a:p>
            <a:pPr indent="-342900" lvl="0" marL="342900" marR="0" rtl="0" algn="l">
              <a:spcBef>
                <a:spcPts val="300"/>
              </a:spcBef>
              <a:spcAft>
                <a:spcPts val="0"/>
              </a:spcAft>
              <a:buClr>
                <a:srgbClr val="1B2A30"/>
              </a:buClr>
              <a:buSzPts val="800"/>
              <a:buFont typeface="Poppins"/>
              <a:buChar char="•"/>
            </a:pPr>
            <a:r>
              <a:rPr lang="en-US" sz="800">
                <a:solidFill>
                  <a:srgbClr val="1B2A30"/>
                </a:solidFill>
                <a:latin typeface="Poppins"/>
                <a:ea typeface="Poppins"/>
                <a:cs typeface="Poppins"/>
                <a:sym typeface="Poppins"/>
              </a:rPr>
              <a:t>Commitment cards printed; follow-up plan agreed with the tutor</a:t>
            </a:r>
            <a:endParaRPr sz="800">
              <a:solidFill>
                <a:schemeClr val="dk1"/>
              </a:solidFill>
              <a:latin typeface="Calibri"/>
              <a:ea typeface="Calibri"/>
              <a:cs typeface="Calibri"/>
              <a:sym typeface="Calibri"/>
            </a:endParaRPr>
          </a:p>
        </p:txBody>
      </p:sp>
      <p:sp>
        <p:nvSpPr>
          <p:cNvPr id="355" name="Google Shape;355;p14"/>
          <p:cNvSpPr/>
          <p:nvPr/>
        </p:nvSpPr>
        <p:spPr>
          <a:xfrm>
            <a:off x="4526280" y="3968496"/>
            <a:ext cx="4114800" cy="896112"/>
          </a:xfrm>
          <a:prstGeom prst="roundRect">
            <a:avLst>
              <a:gd fmla="val 5102" name="adj"/>
            </a:avLst>
          </a:prstGeom>
          <a:solidFill>
            <a:srgbClr val="F8E7E3"/>
          </a:solidFill>
          <a:ln cap="flat" cmpd="sng" w="15875">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56" name="Google Shape;356;p14"/>
          <p:cNvPicPr preferRelativeResize="0"/>
          <p:nvPr/>
        </p:nvPicPr>
        <p:blipFill rotWithShape="1">
          <a:blip r:embed="rId3">
            <a:alphaModFix/>
          </a:blip>
          <a:srcRect b="0" l="0" r="0" t="0"/>
          <a:stretch/>
        </p:blipFill>
        <p:spPr>
          <a:xfrm>
            <a:off x="4672584" y="4096512"/>
            <a:ext cx="237744" cy="219456"/>
          </a:xfrm>
          <a:prstGeom prst="rect">
            <a:avLst/>
          </a:prstGeom>
          <a:noFill/>
          <a:ln>
            <a:noFill/>
          </a:ln>
        </p:spPr>
      </p:pic>
      <p:sp>
        <p:nvSpPr>
          <p:cNvPr id="357" name="Google Shape;357;p14"/>
          <p:cNvSpPr/>
          <p:nvPr/>
        </p:nvSpPr>
        <p:spPr>
          <a:xfrm>
            <a:off x="4983480" y="4078224"/>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950"/>
              <a:buFont typeface="Poppins SemiBold"/>
              <a:buNone/>
            </a:pPr>
            <a:r>
              <a:rPr lang="en-US" sz="950">
                <a:solidFill>
                  <a:srgbClr val="B23A2E"/>
                </a:solidFill>
                <a:latin typeface="Poppins SemiBold"/>
                <a:ea typeface="Poppins SemiBold"/>
                <a:cs typeface="Poppins SemiBold"/>
                <a:sym typeface="Poppins SemiBold"/>
              </a:rPr>
              <a:t>SAFEGUARDING</a:t>
            </a:r>
            <a:endParaRPr sz="950">
              <a:solidFill>
                <a:schemeClr val="dk1"/>
              </a:solidFill>
              <a:latin typeface="Calibri"/>
              <a:ea typeface="Calibri"/>
              <a:cs typeface="Calibri"/>
              <a:sym typeface="Calibri"/>
            </a:endParaRPr>
          </a:p>
        </p:txBody>
      </p:sp>
      <p:sp>
        <p:nvSpPr>
          <p:cNvPr id="358" name="Google Shape;358;p14"/>
          <p:cNvSpPr/>
          <p:nvPr/>
        </p:nvSpPr>
        <p:spPr>
          <a:xfrm>
            <a:off x="4690872" y="4297680"/>
            <a:ext cx="3785616"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750"/>
              <a:buFont typeface="Poppins"/>
              <a:buNone/>
            </a:pPr>
            <a:r>
              <a:rPr lang="en-US" sz="750">
                <a:solidFill>
                  <a:srgbClr val="1B2A30"/>
                </a:solidFill>
                <a:latin typeface="Poppins"/>
                <a:ea typeface="Poppins"/>
                <a:cs typeface="Poppins"/>
                <a:sym typeface="Poppins"/>
              </a:rPr>
              <a:t>Likely surface points: the 'tell someone early' beat (slide 5) and commitment option 4 — caring duties, money, housing, health. Listen calmly. Don't promise secrecy. Don't investigate. Report same-day via the ESCG safeguarding route. Full procedure lives in Module F — signpost only.</a:t>
            </a:r>
            <a:endParaRPr sz="7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