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Lst>
  <p:sldSz cy="6858000" cx="12192000"/>
  <p:notesSz cx="6858000" cy="12192000"/>
  <p:embeddedFontLst>
    <p:embeddedFont>
      <p:font typeface="Poppins"/>
      <p:regular r:id="rId17"/>
      <p:bold r:id="rId18"/>
      <p:italic r:id="rId19"/>
      <p:boldItalic r:id="rId20"/>
    </p:embeddedFont>
    <p:embeddedFont>
      <p:font typeface="Poppins SemiBold"/>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Poppins-boldItalic.fntdata"/><Relationship Id="rId11" Type="http://schemas.openxmlformats.org/officeDocument/2006/relationships/slide" Target="slides/slide7.xml"/><Relationship Id="rId22" Type="http://schemas.openxmlformats.org/officeDocument/2006/relationships/font" Target="fonts/PoppinsSemiBold-bold.fntdata"/><Relationship Id="rId10" Type="http://schemas.openxmlformats.org/officeDocument/2006/relationships/slide" Target="slides/slide6.xml"/><Relationship Id="rId21" Type="http://schemas.openxmlformats.org/officeDocument/2006/relationships/font" Target="fonts/PoppinsSemiBold-regular.fntdata"/><Relationship Id="rId13" Type="http://schemas.openxmlformats.org/officeDocument/2006/relationships/slide" Target="slides/slide9.xml"/><Relationship Id="rId24" Type="http://schemas.openxmlformats.org/officeDocument/2006/relationships/font" Target="fonts/PoppinsSemiBold-boldItalic.fntdata"/><Relationship Id="rId12" Type="http://schemas.openxmlformats.org/officeDocument/2006/relationships/slide" Target="slides/slide8.xml"/><Relationship Id="rId23" Type="http://schemas.openxmlformats.org/officeDocument/2006/relationships/font" Target="fonts/PoppinsSemiBold-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font" Target="fonts/Poppins-regular.fntdata"/><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font" Target="fonts/Poppins-italic.fntdata"/><Relationship Id="rId6" Type="http://schemas.openxmlformats.org/officeDocument/2006/relationships/slide" Target="slides/slide2.xml"/><Relationship Id="rId18" Type="http://schemas.openxmlformats.org/officeDocument/2006/relationships/font" Target="fonts/Poppins-bold.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 name="Shape 7"/>
        <p:cNvGrpSpPr/>
        <p:nvPr/>
      </p:nvGrpSpPr>
      <p:grpSpPr>
        <a:xfrm>
          <a:off x="0" y="0"/>
          <a:ext cx="0" cy="0"/>
          <a:chOff x="0" y="0"/>
          <a:chExt cx="0" cy="0"/>
        </a:xfrm>
      </p:grpSpPr>
      <p:sp>
        <p:nvSpPr>
          <p:cNvPr id="8" name="Google Shape;8;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 name="Google Shape;9;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chemeClr val="dk1"/>
                </a:solidFill>
                <a:latin typeface="Arial"/>
                <a:ea typeface="Arial"/>
                <a:cs typeface="Arial"/>
                <a:sym typeface="Arial"/>
              </a:rPr>
              <a:t>MODULE A — WELCOME BACK &amp; BELONGING  |  LEVEL 3, YEAR 2 variant</a:t>
            </a:r>
            <a:br>
              <a:rPr b="0" i="0" lang="en-US" sz="1200" u="none" cap="none" strike="noStrike">
                <a:solidFill>
                  <a:schemeClr val="dk1"/>
                </a:solidFill>
                <a:latin typeface="Arial"/>
                <a:ea typeface="Arial"/>
                <a:cs typeface="Arial"/>
                <a:sym typeface="Arial"/>
              </a:rPr>
            </a:br>
            <a:r>
              <a:rPr b="0" i="0" lang="en-US" sz="1200" u="none" cap="none" strike="noStrike">
                <a:solidFill>
                  <a:schemeClr val="dk1"/>
                </a:solidFill>
                <a:latin typeface="Arial"/>
                <a:ea typeface="Arial"/>
                <a:cs typeface="Arial"/>
                <a:sym typeface="Arial"/>
              </a:rPr>
              <a:t>============================================================</a:t>
            </a:r>
            <a:br>
              <a:rPr b="0" i="0" lang="en-US" sz="1200" u="none" cap="none" strike="noStrike">
                <a:solidFill>
                  <a:schemeClr val="dk1"/>
                </a:solidFill>
                <a:latin typeface="Arial"/>
                <a:ea typeface="Arial"/>
                <a:cs typeface="Arial"/>
                <a:sym typeface="Arial"/>
              </a:rPr>
            </a:br>
            <a:r>
              <a:rPr b="0" i="0" lang="en-US" sz="1200" u="none" cap="none" strike="noStrike">
                <a:solidFill>
                  <a:schemeClr val="dk1"/>
                </a:solidFill>
                <a:latin typeface="Arial"/>
                <a:ea typeface="Arial"/>
                <a:cs typeface="Arial"/>
                <a:sym typeface="Arial"/>
              </a:rPr>
              <a:t>WHO THIS IS FOR: final-year Level 3 vocational students. They have been at ESCG one or two years already. They know the campus, Pro Portal, the support teams. They are returners, not new starters.</a:t>
            </a:r>
            <a:br>
              <a:rPr b="0" i="0" lang="en-US" sz="1200" u="none" cap="none" strike="noStrike">
                <a:solidFill>
                  <a:schemeClr val="dk1"/>
                </a:solidFill>
                <a:latin typeface="Arial"/>
                <a:ea typeface="Arial"/>
                <a:cs typeface="Arial"/>
                <a:sym typeface="Arial"/>
              </a:rPr>
            </a:br>
            <a:br>
              <a:rPr b="0" i="0" lang="en-US" sz="1200" u="none" cap="none" strike="noStrike">
                <a:solidFill>
                  <a:schemeClr val="dk1"/>
                </a:solidFill>
                <a:latin typeface="Arial"/>
                <a:ea typeface="Arial"/>
                <a:cs typeface="Arial"/>
                <a:sym typeface="Arial"/>
              </a:rPr>
            </a:br>
            <a:r>
              <a:rPr b="0" i="0" lang="en-US" sz="1200" u="none" cap="none" strike="noStrike">
                <a:solidFill>
                  <a:schemeClr val="dk1"/>
                </a:solidFill>
                <a:latin typeface="Arial"/>
                <a:ea typeface="Arial"/>
                <a:cs typeface="Arial"/>
                <a:sym typeface="Arial"/>
              </a:rPr>
              <a:t>READ THE ROOM HONESTLY: this group will arrive with a 'been there, done that' attitude — and they have earned it. Do NOT run a normal induction at them. If you do 'here's how college works', you will lose them in 60 seconds and they will be right to switch off. Acknowledge straight away that they know the basics — that honesty is what buys their attention.</a:t>
            </a:r>
            <a:br>
              <a:rPr b="0" i="0" lang="en-US" sz="1200" u="none" cap="none" strike="noStrike">
                <a:solidFill>
                  <a:schemeClr val="dk1"/>
                </a:solidFill>
                <a:latin typeface="Arial"/>
                <a:ea typeface="Arial"/>
                <a:cs typeface="Arial"/>
                <a:sym typeface="Arial"/>
              </a:rPr>
            </a:br>
            <a:br>
              <a:rPr b="0" i="0" lang="en-US" sz="1200" u="none" cap="none" strike="noStrike">
                <a:solidFill>
                  <a:schemeClr val="dk1"/>
                </a:solidFill>
                <a:latin typeface="Arial"/>
                <a:ea typeface="Arial"/>
                <a:cs typeface="Arial"/>
                <a:sym typeface="Arial"/>
              </a:rPr>
            </a:br>
            <a:r>
              <a:rPr b="0" i="0" lang="en-US" sz="1200" u="none" cap="none" strike="noStrike">
                <a:solidFill>
                  <a:schemeClr val="dk1"/>
                </a:solidFill>
                <a:latin typeface="Arial"/>
                <a:ea typeface="Arial"/>
                <a:cs typeface="Arial"/>
                <a:sym typeface="Arial"/>
              </a:rPr>
              <a:t>THE REAL JOB OF THIS SESSION: this is shorter than the other variants (~45 mins) and it is not really an induction — it is a re-focus. The single message is: this is your final year, the goal is to FINISH STRONG and step into what's next. Most of you are heading into work; some into apprenticeships or university. All of those are real, ambitious destinations.</a:t>
            </a:r>
            <a:br>
              <a:rPr b="0" i="0" lang="en-US" sz="1200" u="none" cap="none" strike="noStrike">
                <a:solidFill>
                  <a:schemeClr val="dk1"/>
                </a:solidFill>
                <a:latin typeface="Arial"/>
                <a:ea typeface="Arial"/>
                <a:cs typeface="Arial"/>
                <a:sym typeface="Arial"/>
              </a:rPr>
            </a:br>
            <a:br>
              <a:rPr b="0" i="0" lang="en-US" sz="1200" u="none" cap="none" strike="noStrike">
                <a:solidFill>
                  <a:schemeClr val="dk1"/>
                </a:solidFill>
                <a:latin typeface="Arial"/>
                <a:ea typeface="Arial"/>
                <a:cs typeface="Arial"/>
                <a:sym typeface="Arial"/>
              </a:rPr>
            </a:br>
            <a:r>
              <a:rPr b="0" i="0" lang="en-US" sz="1200" u="none" cap="none" strike="noStrike">
                <a:solidFill>
                  <a:schemeClr val="dk1"/>
                </a:solidFill>
                <a:latin typeface="Arial"/>
                <a:ea typeface="Arial"/>
                <a:cs typeface="Arial"/>
                <a:sym typeface="Arial"/>
              </a:rPr>
              <a:t>THE HONEST RISK with this group is NOT disengagement — it is complacency and drift. Second-years often think they've got it handled, then coast: attendance slips in term two, the UCAS or apprenticeship deadline gets missed, the placement gets left too late. Your job is a respectful wake-up — 'you've done the hard part, don't fumble the last lap' — said as a peer, never as a nag.</a:t>
            </a:r>
            <a:br>
              <a:rPr b="0" i="0" lang="en-US" sz="1200" u="none" cap="none" strike="noStrike">
                <a:solidFill>
                  <a:schemeClr val="dk1"/>
                </a:solidFill>
                <a:latin typeface="Arial"/>
                <a:ea typeface="Arial"/>
                <a:cs typeface="Arial"/>
                <a:sym typeface="Arial"/>
              </a:rPr>
            </a:br>
            <a:br>
              <a:rPr b="0" i="0" lang="en-US" sz="1200" u="none" cap="none" strike="noStrike">
                <a:solidFill>
                  <a:schemeClr val="dk1"/>
                </a:solidFill>
                <a:latin typeface="Arial"/>
                <a:ea typeface="Arial"/>
                <a:cs typeface="Arial"/>
                <a:sym typeface="Arial"/>
              </a:rPr>
            </a:br>
            <a:r>
              <a:rPr b="0" i="0" lang="en-US" sz="1200" u="none" cap="none" strike="noStrike">
                <a:solidFill>
                  <a:schemeClr val="dk1"/>
                </a:solidFill>
                <a:latin typeface="Arial"/>
                <a:ea typeface="Arial"/>
                <a:cs typeface="Arial"/>
                <a:sym typeface="Arial"/>
              </a:rPr>
              <a:t>TONE: adult, peer-to-peer, brisk. No hand-holding, no over-explaining, no performed enthusiasm. Treat them as the near-graduates they are.</a:t>
            </a:r>
            <a:br>
              <a:rPr b="0" i="0" lang="en-US" sz="1200" u="none" cap="none" strike="noStrike">
                <a:solidFill>
                  <a:schemeClr val="dk1"/>
                </a:solidFill>
                <a:latin typeface="Arial"/>
                <a:ea typeface="Arial"/>
                <a:cs typeface="Arial"/>
                <a:sym typeface="Arial"/>
              </a:rPr>
            </a:br>
            <a:br>
              <a:rPr b="0" i="0" lang="en-US" sz="1200" u="none" cap="none" strike="noStrike">
                <a:solidFill>
                  <a:schemeClr val="dk1"/>
                </a:solidFill>
                <a:latin typeface="Arial"/>
                <a:ea typeface="Arial"/>
                <a:cs typeface="Arial"/>
                <a:sym typeface="Arial"/>
              </a:rPr>
            </a:br>
            <a:r>
              <a:rPr b="0" i="0" lang="en-US" sz="1200" u="none" cap="none" strike="noStrike">
                <a:solidFill>
                  <a:schemeClr val="dk1"/>
                </a:solidFill>
                <a:latin typeface="Arial"/>
                <a:ea typeface="Arial"/>
                <a:cs typeface="Arial"/>
                <a:sym typeface="Arial"/>
              </a:rPr>
              <a:t>TEACHING RHYTHM — chips on each slide:</a:t>
            </a:r>
            <a:br>
              <a:rPr b="0" i="0" lang="en-US" sz="1200" u="none" cap="none" strike="noStrike">
                <a:solidFill>
                  <a:schemeClr val="dk1"/>
                </a:solidFill>
                <a:latin typeface="Arial"/>
                <a:ea typeface="Arial"/>
                <a:cs typeface="Arial"/>
                <a:sym typeface="Arial"/>
              </a:rPr>
            </a:br>
            <a:r>
              <a:rPr b="0" i="0" lang="en-US" sz="1200" u="none" cap="none" strike="noStrike">
                <a:solidFill>
                  <a:schemeClr val="dk1"/>
                </a:solidFill>
                <a:latin typeface="Arial"/>
                <a:ea typeface="Arial"/>
                <a:cs typeface="Arial"/>
                <a:sym typeface="Arial"/>
              </a:rPr>
              <a:t>• STRAIGHT TALK (navy) = you talk — direct, brief, honest.</a:t>
            </a:r>
            <a:br>
              <a:rPr b="0" i="0" lang="en-US" sz="1200" u="none" cap="none" strike="noStrike">
                <a:solidFill>
                  <a:schemeClr val="dk1"/>
                </a:solidFill>
                <a:latin typeface="Arial"/>
                <a:ea typeface="Arial"/>
                <a:cs typeface="Arial"/>
                <a:sym typeface="Arial"/>
              </a:rPr>
            </a:br>
            <a:r>
              <a:rPr b="0" i="0" lang="en-US" sz="1200" u="none" cap="none" strike="noStrike">
                <a:solidFill>
                  <a:schemeClr val="dk1"/>
                </a:solidFill>
                <a:latin typeface="Arial"/>
                <a:ea typeface="Arial"/>
                <a:cs typeface="Arial"/>
                <a:sym typeface="Arial"/>
              </a:rPr>
              <a:t>• DISCUSS (green) = they talk; you facilitate.</a:t>
            </a:r>
            <a:br>
              <a:rPr b="0" i="0" lang="en-US" sz="1200" u="none" cap="none" strike="noStrike">
                <a:solidFill>
                  <a:schemeClr val="dk1"/>
                </a:solidFill>
                <a:latin typeface="Arial"/>
                <a:ea typeface="Arial"/>
                <a:cs typeface="Arial"/>
                <a:sym typeface="Arial"/>
              </a:rPr>
            </a:br>
            <a:r>
              <a:rPr b="0" i="0" lang="en-US" sz="1200" u="none" cap="none" strike="noStrike">
                <a:solidFill>
                  <a:schemeClr val="dk1"/>
                </a:solidFill>
                <a:latin typeface="Arial"/>
                <a:ea typeface="Arial"/>
                <a:cs typeface="Arial"/>
                <a:sym typeface="Arial"/>
              </a:rPr>
              <a:t>• OVER TO YOU (mustard) = they do something.</a:t>
            </a:r>
            <a:br>
              <a:rPr b="0" i="0" lang="en-US" sz="1200" u="none" cap="none" strike="noStrike">
                <a:solidFill>
                  <a:schemeClr val="dk1"/>
                </a:solidFill>
                <a:latin typeface="Arial"/>
                <a:ea typeface="Arial"/>
                <a:cs typeface="Arial"/>
                <a:sym typeface="Arial"/>
              </a:rPr>
            </a:br>
            <a:br>
              <a:rPr b="0" i="0" lang="en-US" sz="1200" u="none" cap="none" strike="noStrike">
                <a:solidFill>
                  <a:schemeClr val="dk1"/>
                </a:solidFill>
                <a:latin typeface="Arial"/>
                <a:ea typeface="Arial"/>
                <a:cs typeface="Arial"/>
                <a:sym typeface="Arial"/>
              </a:rPr>
            </a:br>
            <a:r>
              <a:rPr b="0" i="0" lang="en-US" sz="1200" u="none" cap="none" strike="noStrike">
                <a:solidFill>
                  <a:schemeClr val="dk1"/>
                </a:solidFill>
                <a:latin typeface="Arial"/>
                <a:ea typeface="Arial"/>
                <a:cs typeface="Arial"/>
                <a:sym typeface="Arial"/>
              </a:rPr>
              <a:t>IF A STUDENT DISCLOSES SOMETHING: listen, stay calm, don't promise secrecy, report it the same day via the ESCG safeguarding route. Year 2 students are not exempt from safeguarding need — final-year pressure, money worries and home situations all surface here. Unsure? Speak to your Safeguarding lead before you teach.</a:t>
            </a:r>
            <a:br>
              <a:rPr b="0" i="0" lang="en-US" sz="1200" u="none" cap="none" strike="noStrike">
                <a:solidFill>
                  <a:schemeClr val="dk1"/>
                </a:solidFill>
                <a:latin typeface="Arial"/>
                <a:ea typeface="Arial"/>
                <a:cs typeface="Arial"/>
                <a:sym typeface="Arial"/>
              </a:rPr>
            </a:br>
            <a:br>
              <a:rPr b="0" i="0" lang="en-US" sz="1200" u="none" cap="none" strike="noStrike">
                <a:solidFill>
                  <a:schemeClr val="dk1"/>
                </a:solidFill>
                <a:latin typeface="Arial"/>
                <a:ea typeface="Arial"/>
                <a:cs typeface="Arial"/>
                <a:sym typeface="Arial"/>
              </a:rPr>
            </a:br>
            <a:r>
              <a:rPr b="0" i="0" lang="en-US" sz="1200" u="none" cap="none" strike="noStrike">
                <a:solidFill>
                  <a:schemeClr val="dk1"/>
                </a:solidFill>
                <a:latin typeface="Arial"/>
                <a:ea typeface="Arial"/>
                <a:cs typeface="Arial"/>
                <a:sym typeface="Arial"/>
              </a:rPr>
              <a:t>SAY SOMETHING LIKE: 'Welcome back. I'm not going to walk you through where the toilets are — you know all that. What this session IS about is your final year, and making sure it ends with you walking into exactly what you want next. Let's talk about that.'</a:t>
            </a:r>
            <a:endParaRPr/>
          </a:p>
        </p:txBody>
      </p:sp>
      <p:sp>
        <p:nvSpPr>
          <p:cNvPr id="10" name="Google Shape;10;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 name="Shape 26"/>
        <p:cNvGrpSpPr/>
        <p:nvPr/>
      </p:nvGrpSpPr>
      <p:grpSpPr>
        <a:xfrm>
          <a:off x="0" y="0"/>
          <a:ext cx="0" cy="0"/>
          <a:chOff x="0" y="0"/>
          <a:chExt cx="0" cy="0"/>
        </a:xfrm>
      </p:grpSpPr>
      <p:sp>
        <p:nvSpPr>
          <p:cNvPr id="27" name="Google Shape;27;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 name="Google Shape;28;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SLIDE 2 — THE YEAR AHEAD  |  ~2 mins  |  Mode: THE YEAR AHEAD</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Keep this quick. Point at the five beats and move on — this group does not need a slow walkthrough.</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Make the framing explicit: 'Notice every one of these points at the same thing — you, finishing this year well and stepping out into what's next. That's the whole session.'</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Beats 1 and 5 (where you're headed / landing it) are the spine of the session. Flag that the destination work starts in two minutes.</a:t>
            </a:r>
            <a:endParaRPr/>
          </a:p>
        </p:txBody>
      </p:sp>
      <p:sp>
        <p:nvSpPr>
          <p:cNvPr id="29" name="Google Shape;29;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8" name="Google Shape;78;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SLIDE 3 — WHERE YOU'RE HEADED (activity)  |  ~8 mins  |  Mode: OVER TO YOU</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WHY THIS REPLACES THE USUAL ICEBREAKER: these students already know each other. A 'meet new people' activity would be pointless and they'd know it. So this beat does a real job instead — it reconnects them quickly AND surfaces every student's destination, which is the spine of the whole year.</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HOW TO RUN IT:</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 Small groups, quick round, everyone answers both questions. ~4–5 minutes.</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 Circulate and LISTEN — this is genuinely useful intelligence. Note who's heading where, and especially who says 'still deciding'.</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 Take a few shares — keep it brisk and adult.</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CRUCIAL — EQUAL RESPECT FOR ALL DESTINATIONS: most of this group will be going into WORK. Treat that as the strong, ambitious, valued choice it is — never as the lesser option to university. Apprenticeships likewise. Watch your own language: don't let 'what's your plan' sound like it means 'which uni'.</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'STILL DECIDING' students: flag these to yourself. They are the ones to make sure get early careers / Navigate support — undecided in September is fine; undecided in February is a problem.</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This activity gives you a destination map of your group. Use it all year.</a:t>
            </a:r>
            <a:endParaRPr/>
          </a:p>
        </p:txBody>
      </p:sp>
      <p:sp>
        <p:nvSpPr>
          <p:cNvPr id="79" name="Google Shape;79;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8" name="Google Shape;108;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SLIDE 4 — WHAT YEAR 2 DEMANDS  |  ~6 mins  |  Mode: STRAIGHT TALK</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This is the honest 'step up' slide. The respectful version of a wake-up call. The message: Year 2 is genuinely harder, not because we're being tough, but because it's the year that counts and it's the bridge to whatever's next.</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WALK THE THREE POINTS plainly. The middle one — deadlines stacking — is the big one for this group. Coursework + placement + applications all running together is exactly where second-years come unstuck. Name 'drift' as the real enemy: not inability, just leaving things.</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THE 'MORE ON YOU' POINT: frame the reduced chasing as respect and preparation, not as us stepping back. 'Next year nobody chases you at all — so we're building that muscle now.'</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THE [ESCG TO CONFIRM] PANEL is critical here: put the REAL Year 2 dates in — assessment deadlines, placement window, application deadlines. This group needs concrete dates, not 'sometime later'. Get them from your HoC and the relevant teams.</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TONE: honest and matter-of-fact, not heavy. You're respecting them with the truth, not threatening them.</a:t>
            </a:r>
            <a:endParaRPr/>
          </a:p>
        </p:txBody>
      </p:sp>
      <p:sp>
        <p:nvSpPr>
          <p:cNvPr id="109" name="Google Shape;109;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2" name="Google Shape;142;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SLIDE 5 — DON'T FUMBLE THE LAST LAP  |  ~9 mins  |  Mode: DISCUSS</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THIS IS THE MOST IMPORTANT SLIDE IN THE L3 YEAR 2 DECK. It's the respectful wake-up call.</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THE MESSAGE: the thing that stops capable second-years getting the result they deserve is almost never ability — it's drift. Missed deadlines, slipped attendance, applications left too late. Name that honestly. It's not a telling-off; it's letting them in on what actually goes wrong, so they can avoid it.</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Deliver the white card's content as straight, peer-to-peer truth. 'You've done the hard part' is genuine and important — respect the distance they've already covered. Then: the last lap is the one that counts.</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THE DISCUSSION: the two questions are deliberately self-directed — what would knock YOU off course, what habit keeps you on it. This group responds far better to working out their own risks than to being warned about generic ones. Give them real time (4–5 mins) and take honest shares.</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WATCH THE TONE: this must land as respect, not nagging. You're treating them as adults capable of seeing the risk and managing it themselves. If it tips into a lecture, you've lost it.</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If someone is cynical or jokey about it — fine, don't fight it, but bring it back: 'Genuinely though — what's YOUR one risk?' Most will engage honestly if you do.</a:t>
            </a:r>
            <a:endParaRPr/>
          </a:p>
        </p:txBody>
      </p:sp>
      <p:sp>
        <p:nvSpPr>
          <p:cNvPr id="143" name="Google Shape;143;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3" name="Google Shape;163;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SLIDE 6 — GETTING ORGANISED  |  ~5 mins  |  Mode: STRAIGHT TALK</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KEEP THIS FAST. They know Pro Portal. Do NOT do a login walkthrough — that's the kind of thing that makes this group switch off. This is a refresher with a purpose: in a year this deadline-heavy, being organised is the difference between a calm year and a chaotic one.</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The real content is the middle and right cards — getting all deadlines into one place, and watching attendance/grades for early slips. That's the Year-2 survival skill.</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THE [ESCG TO CONFIRM] PANEL: only flag what's CHANGED for returners. If nothing's changed, say so and move on. Add the course title and confirm where their dates live.</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Don't let this slide drag — it's a 5-minute practical, not a teaching point.</a:t>
            </a:r>
            <a:endParaRPr/>
          </a:p>
        </p:txBody>
      </p:sp>
      <p:sp>
        <p:nvSpPr>
          <p:cNvPr id="164" name="Google Shape;164;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7" name="Google Shape;197;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SLIDE 7 — SUPPORT STILL MATTERS  |  ~5 mins  |  Mode: STRAIGHT TALK</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THE FRAMING for this group: returners often think support is for new or struggling students and quietly opt out of it — right when final-year pressure means they need it most. Name that directly: the final year is exactly when people struggle in silence. Using support now is smart, not a step back.</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Lead with CAREERS &amp; PROGRESSION — for this group that's the support that matters most this year. Make it concrete: who they see, and that they should book in EARLY, not leave it.</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Wellbeing: be honest that final-year pressure is real. A calm 'if it's getting heavy, talk to someone' lands well with this group if it's said as a peer, not a poster.</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THE [ESCG TO CONFIRM] PANEL: current ESCG detail, careers support front and centre. Check names/locations.</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Keep safeguarding reporting detail for Module F. Year 2 students still disclose — don't assume they won't.</a:t>
            </a:r>
            <a:endParaRPr/>
          </a:p>
        </p:txBody>
      </p:sp>
      <p:sp>
        <p:nvSpPr>
          <p:cNvPr id="198" name="Google Shape;198;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6" name="Google Shape;236;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SLIDE 8 — LANDING IT (three destinations)  |  ~5 mins  |  Mode: STRAIGHT TALK</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THE KEY SLIDE on destinations. The one rule: all three routes get EQUAL, GENUINE respect.</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'Into work' is highlighted in mustard and tagged 'most of this room' DELIBERATELY — because most of this group is going into employment, and a lot of education messaging quietly treats work as the lesser option to university. It is not. A job, a wage, a career begun is a strong, ambitious outcome. Say so plainly and mean it. If the majority of your room feels like an afterthought, you've lost them.</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Apprenticeships: give them real weight — earn while you train, real qualifications, no debt. For many in this room this is the smartest route and they should hear it framed that way.</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University / HE: equally valid, for those whose goal needs a degree. Note ESCG has its own HE provision — progression doesn't necessarily mean leaving.</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THE CLOSING LINE — 'no second-best route, the best route is the one that gets YOU where you want to be' — is the heart of it. Land it with conviction.</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HAND-OFF: the actual mechanics of applications, placements, UCAS, the digital CV — those are Modules H, I and J, plus Navigate with the Careers team. This slide's job is just to make the destinations real and respected, and to make clear the work towards them starts NOW, not later.</a:t>
            </a:r>
            <a:endParaRPr/>
          </a:p>
        </p:txBody>
      </p:sp>
      <p:sp>
        <p:nvSpPr>
          <p:cNvPr id="237" name="Google Shape;237;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4" name="Google Shape;264;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SLIDE 9 — MAKE IT COUNT  |  ~5 mins  |  Mode: STRAIGHT TALK</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The other variants have an 'Enrichment &amp; Freshers' slide aimed at belonging. For Year 2, belonging isn't the point — so this beat is re-pointed at OUTCOMES: what's worth their time because it strengthens where they're going.</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The left card reframes enrichment, projects and placement as CV and application fuel — which is what makes this group take them seriously. The placement line is important: 'treat it as a long interview' is true and lands.</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THE 'CV TEST' on the right is a genuinely useful filter you're giving them: 'will this give me something real to say in an interview?' It helps them spend their final year well. Encourage them to actually use it.</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Keep it brisk and practical — this group values usefulness over enthusiasm.</a:t>
            </a:r>
            <a:endParaRPr/>
          </a:p>
        </p:txBody>
      </p:sp>
      <p:sp>
        <p:nvSpPr>
          <p:cNvPr id="265" name="Google Shape;265;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2" name="Google Shape;292;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SLIDE 10 — MY FINAL-YEAR FOCUS (activity)  |  ~6 mins  |  Mode: OVER TO YOU</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WHAT YOU NEED: a card per student, plus pens.</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This is the Year-2 version of the commitment activity. It's deliberately the most concrete and goal-focused of the four variants — destination, habit, and the one thing to sort early. That third prompt directly targets the 'drift' risk from Slide 5.</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RUN IT: give them ~4 quiet minutes. This group can handle a genuine, reflective task — let them take it seriously. Circulate; be available.</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EVIDENCING (light touch): collect the cards — the record that Module A happened, and a useful early read on each student's destination and risks. Tutors: genuinely keep these and bring them back at tutorial points across the year — they're a real check-in tool for a year where drift is the enemy.</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ANYTHING CONCERNING on a card → follow up privately and via the ESCG safeguarding route. If unsure, speak to your Safeguarding lead today.</a:t>
            </a:r>
            <a:endParaRPr/>
          </a:p>
        </p:txBody>
      </p:sp>
      <p:sp>
        <p:nvSpPr>
          <p:cNvPr id="293" name="Google Shape;293;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5" name="Google Shape;325;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SLIDE 11 — CLOSE  |  ~3 mins  |  Mode: close</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Brisk and purposeful. Run the four ticks quickly.</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'COMING UP' — note it points specifically at the careers and progression support, because that's what this group most needs to know is coming. Frame the other modules as useful, not as boxes to tick.</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END ON THE MUSTARD LINE — 'You've done the hard part. Now finish it properly — and step into what's next.' Say it as a peer who believes it. It respects the distance they've already travelled and points them squarely at the finish. That's the whole deck in one sentence.</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ADMIN: collect the 'Focus' cards. Note destinations and any 'still deciding' students for early careers support. Log completion as your centre requires.</a:t>
            </a:r>
            <a:endParaRPr/>
          </a:p>
        </p:txBody>
      </p:sp>
      <p:sp>
        <p:nvSpPr>
          <p:cNvPr id="326" name="Google Shape;326;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6" name="Google Shape;356;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SLIDE 12 — TEACHER APPENDIX  |  NOT FOR DISPLAY</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Teacher reference only. Skip or delete this slide in presentation mode.</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Whole session on one page: timings, how to teach this group, prep checklist, safeguarding reminder.</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The safeguarding wording is general. The definitive ESCG reporting procedure, named leads and AI policy are in Module F and the ESCG Safeguarding &amp; Prevent Policy. [ESCG TO CONFIRM: check this wording matches the current ESCG safeguarding reporting procedure before publishing.]</a:t>
            </a:r>
            <a:endParaRPr/>
          </a:p>
        </p:txBody>
      </p:sp>
      <p:sp>
        <p:nvSpPr>
          <p:cNvPr id="357" name="Google Shape;357;p1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6" name="Shape 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9.png"/><Relationship Id="rId5" Type="http://schemas.openxmlformats.org/officeDocument/2006/relationships/image" Target="../media/image3.png"/><Relationship Id="rId6" Type="http://schemas.openxmlformats.org/officeDocument/2006/relationships/image" Target="../media/image1.png"/><Relationship Id="rId7"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9.png"/><Relationship Id="rId5" Type="http://schemas.openxmlformats.org/officeDocument/2006/relationships/image" Target="../media/image2.png"/><Relationship Id="rId6"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3.png"/><Relationship Id="rId4" Type="http://schemas.openxmlformats.org/officeDocument/2006/relationships/image" Target="../media/image9.png"/><Relationship Id="rId5" Type="http://schemas.openxmlformats.org/officeDocument/2006/relationships/image" Target="../media/image3.png"/><Relationship Id="rId6"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5.png"/><Relationship Id="rId6" Type="http://schemas.openxmlformats.org/officeDocument/2006/relationships/image" Target="../media/image3.png"/><Relationship Id="rId7"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1.png"/><Relationship Id="rId4" Type="http://schemas.openxmlformats.org/officeDocument/2006/relationships/image" Target="../media/image16.png"/><Relationship Id="rId5"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4.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2434"/>
        </a:solidFill>
      </p:bgPr>
    </p:bg>
    <p:spTree>
      <p:nvGrpSpPr>
        <p:cNvPr id="11" name="Shape 11"/>
        <p:cNvGrpSpPr/>
        <p:nvPr/>
      </p:nvGrpSpPr>
      <p:grpSpPr>
        <a:xfrm>
          <a:off x="0" y="0"/>
          <a:ext cx="0" cy="0"/>
          <a:chOff x="0" y="0"/>
          <a:chExt cx="0" cy="0"/>
        </a:xfrm>
      </p:grpSpPr>
      <p:sp>
        <p:nvSpPr>
          <p:cNvPr id="12" name="Google Shape;12;p3"/>
          <p:cNvSpPr/>
          <p:nvPr/>
        </p:nvSpPr>
        <p:spPr>
          <a:xfrm>
            <a:off x="8595360" y="-1463040"/>
            <a:ext cx="5212080" cy="5212080"/>
          </a:xfrm>
          <a:prstGeom prst="ellipse">
            <a:avLst/>
          </a:prstGeom>
          <a:solidFill>
            <a:srgbClr val="1C3A4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 name="Google Shape;13;p3"/>
          <p:cNvSpPr/>
          <p:nvPr/>
        </p:nvSpPr>
        <p:spPr>
          <a:xfrm>
            <a:off x="9921240" y="777240"/>
            <a:ext cx="2697480" cy="2697480"/>
          </a:xfrm>
          <a:prstGeom prst="ellipse">
            <a:avLst/>
          </a:prstGeom>
          <a:solidFill>
            <a:srgbClr val="FFCF0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4" name="Google Shape;14;p3"/>
          <p:cNvPicPr preferRelativeResize="0"/>
          <p:nvPr/>
        </p:nvPicPr>
        <p:blipFill rotWithShape="1">
          <a:blip r:embed="rId3">
            <a:alphaModFix/>
          </a:blip>
          <a:srcRect b="0" l="0" r="0" t="0"/>
          <a:stretch/>
        </p:blipFill>
        <p:spPr>
          <a:xfrm>
            <a:off x="10744200" y="1554480"/>
            <a:ext cx="1097280" cy="1097280"/>
          </a:xfrm>
          <a:prstGeom prst="rect">
            <a:avLst/>
          </a:prstGeom>
          <a:noFill/>
          <a:ln>
            <a:noFill/>
          </a:ln>
        </p:spPr>
      </p:pic>
      <p:sp>
        <p:nvSpPr>
          <p:cNvPr id="15" name="Google Shape;15;p3"/>
          <p:cNvSpPr/>
          <p:nvPr/>
        </p:nvSpPr>
        <p:spPr>
          <a:xfrm>
            <a:off x="9326880" y="3566160"/>
            <a:ext cx="457200" cy="457200"/>
          </a:xfrm>
          <a:prstGeom prst="ellipse">
            <a:avLst/>
          </a:prstGeom>
          <a:solidFill>
            <a:srgbClr val="0F7A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 name="Google Shape;16;p3"/>
          <p:cNvSpPr/>
          <p:nvPr/>
        </p:nvSpPr>
        <p:spPr>
          <a:xfrm>
            <a:off x="777240" y="1188720"/>
            <a:ext cx="8229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CF01"/>
              </a:buClr>
              <a:buSzPts val="1250"/>
              <a:buFont typeface="Poppins SemiBold"/>
              <a:buNone/>
            </a:pPr>
            <a:r>
              <a:rPr lang="en-US" sz="1250">
                <a:solidFill>
                  <a:srgbClr val="FFCF01"/>
                </a:solidFill>
                <a:latin typeface="Poppins SemiBold"/>
                <a:ea typeface="Poppins SemiBold"/>
                <a:cs typeface="Poppins SemiBold"/>
                <a:sym typeface="Poppins SemiBold"/>
              </a:rPr>
              <a:t>ESCG STUDENT INDUCTION  ·  2026–27</a:t>
            </a:r>
            <a:endParaRPr sz="1250">
              <a:solidFill>
                <a:schemeClr val="dk1"/>
              </a:solidFill>
              <a:latin typeface="Calibri"/>
              <a:ea typeface="Calibri"/>
              <a:cs typeface="Calibri"/>
              <a:sym typeface="Calibri"/>
            </a:endParaRPr>
          </a:p>
        </p:txBody>
      </p:sp>
      <p:sp>
        <p:nvSpPr>
          <p:cNvPr id="17" name="Google Shape;17;p3"/>
          <p:cNvSpPr/>
          <p:nvPr/>
        </p:nvSpPr>
        <p:spPr>
          <a:xfrm>
            <a:off x="749808" y="1719072"/>
            <a:ext cx="68580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1A4"/>
              </a:buClr>
              <a:buSzPts val="1500"/>
              <a:buFont typeface="Poppins SemiBold"/>
              <a:buNone/>
            </a:pPr>
            <a:r>
              <a:rPr lang="en-US" sz="1500">
                <a:solidFill>
                  <a:srgbClr val="94A1A4"/>
                </a:solidFill>
                <a:latin typeface="Poppins SemiBold"/>
                <a:ea typeface="Poppins SemiBold"/>
                <a:cs typeface="Poppins SemiBold"/>
                <a:sym typeface="Poppins SemiBold"/>
              </a:rPr>
              <a:t>MODULE A  ·  LEVEL 3/ T Level YEAR 2</a:t>
            </a:r>
            <a:endParaRPr sz="1500">
              <a:solidFill>
                <a:schemeClr val="dk1"/>
              </a:solidFill>
              <a:latin typeface="Calibri"/>
              <a:ea typeface="Calibri"/>
              <a:cs typeface="Calibri"/>
              <a:sym typeface="Calibri"/>
            </a:endParaRPr>
          </a:p>
        </p:txBody>
      </p:sp>
      <p:sp>
        <p:nvSpPr>
          <p:cNvPr id="18" name="Google Shape;18;p3"/>
          <p:cNvSpPr/>
          <p:nvPr/>
        </p:nvSpPr>
        <p:spPr>
          <a:xfrm>
            <a:off x="731520" y="2194560"/>
            <a:ext cx="8229600" cy="2377440"/>
          </a:xfrm>
          <a:prstGeom prst="rect">
            <a:avLst/>
          </a:prstGeom>
          <a:noFill/>
          <a:ln>
            <a:noFill/>
          </a:ln>
        </p:spPr>
        <p:txBody>
          <a:bodyPr anchorCtr="0" anchor="ctr" bIns="0" lIns="0" spcFirstLastPara="1" rIns="0" wrap="square" tIns="0">
            <a:noAutofit/>
          </a:bodyPr>
          <a:lstStyle/>
          <a:p>
            <a:pPr indent="0" lvl="0" marL="0" marR="0" rtl="0" algn="l">
              <a:lnSpc>
                <a:spcPct val="106818"/>
              </a:lnSpc>
              <a:spcBef>
                <a:spcPts val="0"/>
              </a:spcBef>
              <a:spcAft>
                <a:spcPts val="0"/>
              </a:spcAft>
              <a:buClr>
                <a:srgbClr val="FFFFFF"/>
              </a:buClr>
              <a:buSzPts val="4400"/>
              <a:buFont typeface="Poppins SemiBold"/>
              <a:buNone/>
            </a:pPr>
            <a:r>
              <a:rPr lang="en-US" sz="4400">
                <a:solidFill>
                  <a:srgbClr val="FFFFFF"/>
                </a:solidFill>
                <a:latin typeface="Poppins SemiBold"/>
                <a:ea typeface="Poppins SemiBold"/>
                <a:cs typeface="Poppins SemiBold"/>
                <a:sym typeface="Poppins SemiBold"/>
              </a:rPr>
              <a:t>Welcome back —</a:t>
            </a:r>
            <a:endParaRPr sz="4400">
              <a:solidFill>
                <a:schemeClr val="dk1"/>
              </a:solidFill>
              <a:latin typeface="Calibri"/>
              <a:ea typeface="Calibri"/>
              <a:cs typeface="Calibri"/>
              <a:sym typeface="Calibri"/>
            </a:endParaRPr>
          </a:p>
          <a:p>
            <a:pPr indent="0" lvl="0" marL="0" marR="0" rtl="0" algn="l">
              <a:lnSpc>
                <a:spcPct val="106818"/>
              </a:lnSpc>
              <a:spcBef>
                <a:spcPts val="0"/>
              </a:spcBef>
              <a:spcAft>
                <a:spcPts val="0"/>
              </a:spcAft>
              <a:buClr>
                <a:srgbClr val="FFFFFF"/>
              </a:buClr>
              <a:buSzPts val="4400"/>
              <a:buFont typeface="Poppins SemiBold"/>
              <a:buNone/>
            </a:pPr>
            <a:r>
              <a:rPr lang="en-US" sz="4400">
                <a:solidFill>
                  <a:srgbClr val="FFFFFF"/>
                </a:solidFill>
                <a:latin typeface="Poppins SemiBold"/>
                <a:ea typeface="Poppins SemiBold"/>
                <a:cs typeface="Poppins SemiBold"/>
                <a:sym typeface="Poppins SemiBold"/>
              </a:rPr>
              <a:t>this is the year</a:t>
            </a:r>
            <a:endParaRPr sz="4400">
              <a:solidFill>
                <a:schemeClr val="dk1"/>
              </a:solidFill>
              <a:latin typeface="Calibri"/>
              <a:ea typeface="Calibri"/>
              <a:cs typeface="Calibri"/>
              <a:sym typeface="Calibri"/>
            </a:endParaRPr>
          </a:p>
          <a:p>
            <a:pPr indent="0" lvl="0" marL="0" marR="0" rtl="0" algn="l">
              <a:lnSpc>
                <a:spcPct val="106818"/>
              </a:lnSpc>
              <a:spcBef>
                <a:spcPts val="0"/>
              </a:spcBef>
              <a:spcAft>
                <a:spcPts val="0"/>
              </a:spcAft>
              <a:buClr>
                <a:srgbClr val="FFFFFF"/>
              </a:buClr>
              <a:buSzPts val="4400"/>
              <a:buFont typeface="Poppins SemiBold"/>
              <a:buNone/>
            </a:pPr>
            <a:r>
              <a:rPr lang="en-US" sz="4400">
                <a:solidFill>
                  <a:srgbClr val="FFFFFF"/>
                </a:solidFill>
                <a:latin typeface="Poppins SemiBold"/>
                <a:ea typeface="Poppins SemiBold"/>
                <a:cs typeface="Poppins SemiBold"/>
                <a:sym typeface="Poppins SemiBold"/>
              </a:rPr>
              <a:t>that counts.</a:t>
            </a:r>
            <a:endParaRPr sz="4400">
              <a:solidFill>
                <a:schemeClr val="dk1"/>
              </a:solidFill>
              <a:latin typeface="Calibri"/>
              <a:ea typeface="Calibri"/>
              <a:cs typeface="Calibri"/>
              <a:sym typeface="Calibri"/>
            </a:endParaRPr>
          </a:p>
        </p:txBody>
      </p:sp>
      <p:sp>
        <p:nvSpPr>
          <p:cNvPr id="19" name="Google Shape;19;p3"/>
          <p:cNvSpPr/>
          <p:nvPr/>
        </p:nvSpPr>
        <p:spPr>
          <a:xfrm>
            <a:off x="758952" y="4572000"/>
            <a:ext cx="7680960" cy="822960"/>
          </a:xfrm>
          <a:prstGeom prst="rect">
            <a:avLst/>
          </a:prstGeom>
          <a:noFill/>
          <a:ln>
            <a:noFill/>
          </a:ln>
        </p:spPr>
        <p:txBody>
          <a:bodyPr anchorCtr="0" anchor="ctr" bIns="0" lIns="0" spcFirstLastPara="1" rIns="0" wrap="square" tIns="0">
            <a:noAutofit/>
          </a:bodyPr>
          <a:lstStyle/>
          <a:p>
            <a:pPr indent="0" lvl="0" marL="0" marR="0" rtl="0" algn="l">
              <a:lnSpc>
                <a:spcPct val="140740"/>
              </a:lnSpc>
              <a:spcBef>
                <a:spcPts val="0"/>
              </a:spcBef>
              <a:spcAft>
                <a:spcPts val="0"/>
              </a:spcAft>
              <a:buClr>
                <a:srgbClr val="C7D0D3"/>
              </a:buClr>
              <a:buSzPts val="1350"/>
              <a:buFont typeface="Poppins"/>
              <a:buNone/>
            </a:pPr>
            <a:r>
              <a:rPr lang="en-US" sz="1350">
                <a:solidFill>
                  <a:srgbClr val="C7D0D3"/>
                </a:solidFill>
                <a:latin typeface="Poppins"/>
                <a:ea typeface="Poppins"/>
                <a:cs typeface="Poppins"/>
                <a:sym typeface="Poppins"/>
              </a:rPr>
              <a:t>You know this place. You’ve done the hard part of getting here. This year is about one thing: finishing strong, building the best portfolio you can, and stepping into what’s next.</a:t>
            </a:r>
            <a:endParaRPr sz="1350">
              <a:solidFill>
                <a:schemeClr val="dk1"/>
              </a:solidFill>
              <a:latin typeface="Calibri"/>
              <a:ea typeface="Calibri"/>
              <a:cs typeface="Calibri"/>
              <a:sym typeface="Calibri"/>
            </a:endParaRPr>
          </a:p>
        </p:txBody>
      </p:sp>
      <p:cxnSp>
        <p:nvCxnSpPr>
          <p:cNvPr id="20" name="Google Shape;20;p3"/>
          <p:cNvCxnSpPr/>
          <p:nvPr/>
        </p:nvCxnSpPr>
        <p:spPr>
          <a:xfrm>
            <a:off x="777240" y="5440680"/>
            <a:ext cx="6949440" cy="0"/>
          </a:xfrm>
          <a:prstGeom prst="straightConnector1">
            <a:avLst/>
          </a:prstGeom>
          <a:noFill/>
          <a:ln cap="flat" cmpd="sng" w="12700">
            <a:solidFill>
              <a:srgbClr val="1C3A4D"/>
            </a:solidFill>
            <a:prstDash val="solid"/>
            <a:round/>
            <a:headEnd len="sm" w="sm" type="none"/>
            <a:tailEnd len="sm" w="sm" type="none"/>
          </a:ln>
        </p:spPr>
      </p:cxnSp>
      <p:sp>
        <p:nvSpPr>
          <p:cNvPr id="21" name="Google Shape;21;p3"/>
          <p:cNvSpPr/>
          <p:nvPr/>
        </p:nvSpPr>
        <p:spPr>
          <a:xfrm>
            <a:off x="777240" y="5623560"/>
            <a:ext cx="7315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1A4"/>
              </a:buClr>
              <a:buSzPts val="1050"/>
              <a:buFont typeface="Poppins"/>
              <a:buNone/>
            </a:pPr>
            <a:r>
              <a:rPr b="1" lang="en-US" sz="1050">
                <a:solidFill>
                  <a:srgbClr val="94A1A4"/>
                </a:solidFill>
                <a:latin typeface="Poppins"/>
                <a:ea typeface="Poppins"/>
                <a:cs typeface="Poppins"/>
                <a:sym typeface="Poppins"/>
              </a:rPr>
              <a:t>TODAY   </a:t>
            </a:r>
            <a:r>
              <a:rPr lang="en-US" sz="1050">
                <a:solidFill>
                  <a:srgbClr val="FFFFFF"/>
                </a:solidFill>
                <a:latin typeface="Poppins"/>
                <a:ea typeface="Poppins"/>
                <a:cs typeface="Poppins"/>
                <a:sym typeface="Poppins"/>
              </a:rPr>
              <a:t>about 45 minutes  ·  setting up your final year</a:t>
            </a:r>
            <a:endParaRPr sz="1050">
              <a:solidFill>
                <a:schemeClr val="dk1"/>
              </a:solidFill>
              <a:latin typeface="Calibri"/>
              <a:ea typeface="Calibri"/>
              <a:cs typeface="Calibri"/>
              <a:sym typeface="Calibri"/>
            </a:endParaRPr>
          </a:p>
        </p:txBody>
      </p:sp>
      <p:sp>
        <p:nvSpPr>
          <p:cNvPr id="22" name="Google Shape;22;p3"/>
          <p:cNvSpPr/>
          <p:nvPr/>
        </p:nvSpPr>
        <p:spPr>
          <a:xfrm>
            <a:off x="502920" y="6437376"/>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1A4"/>
              </a:buClr>
              <a:buSzPts val="850"/>
              <a:buFont typeface="Poppins"/>
              <a:buNone/>
            </a:pPr>
            <a:r>
              <a:rPr lang="en-US" sz="850">
                <a:solidFill>
                  <a:srgbClr val="94A1A4"/>
                </a:solidFill>
                <a:latin typeface="Poppins"/>
                <a:ea typeface="Poppins"/>
                <a:cs typeface="Poppins"/>
                <a:sym typeface="Poppins"/>
              </a:rPr>
              <a:t>ESCG Student Induction 2026–27</a:t>
            </a:r>
            <a:r>
              <a:rPr lang="en-US" sz="850">
                <a:solidFill>
                  <a:srgbClr val="D2DBDA"/>
                </a:solidFill>
                <a:latin typeface="Poppins"/>
                <a:ea typeface="Poppins"/>
                <a:cs typeface="Poppins"/>
                <a:sym typeface="Poppins"/>
              </a:rPr>
              <a:t>   ·   </a:t>
            </a:r>
            <a:r>
              <a:rPr lang="en-US" sz="850">
                <a:solidFill>
                  <a:srgbClr val="94A1A4"/>
                </a:solidFill>
                <a:latin typeface="Poppins"/>
                <a:ea typeface="Poppins"/>
                <a:cs typeface="Poppins"/>
                <a:sym typeface="Poppins"/>
              </a:rPr>
              <a:t>Module A — Welcome Back</a:t>
            </a:r>
            <a:endParaRPr sz="850">
              <a:solidFill>
                <a:schemeClr val="dk1"/>
              </a:solidFill>
              <a:latin typeface="Calibri"/>
              <a:ea typeface="Calibri"/>
              <a:cs typeface="Calibri"/>
              <a:sym typeface="Calibri"/>
            </a:endParaRPr>
          </a:p>
        </p:txBody>
      </p:sp>
      <p:sp>
        <p:nvSpPr>
          <p:cNvPr id="23" name="Google Shape;23;p3"/>
          <p:cNvSpPr/>
          <p:nvPr/>
        </p:nvSpPr>
        <p:spPr>
          <a:xfrm>
            <a:off x="9494215" y="6400800"/>
            <a:ext cx="2194560" cy="292608"/>
          </a:xfrm>
          <a:prstGeom prst="roundRect">
            <a:avLst>
              <a:gd fmla="val 50000" name="adj"/>
            </a:avLst>
          </a:prstGeom>
          <a:solidFill>
            <a:srgbClr val="E2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 name="Google Shape;24;p3"/>
          <p:cNvSpPr/>
          <p:nvPr/>
        </p:nvSpPr>
        <p:spPr>
          <a:xfrm>
            <a:off x="9494215" y="6400800"/>
            <a:ext cx="219456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7A54"/>
              </a:buClr>
              <a:buSzPts val="700"/>
              <a:buFont typeface="Poppins SemiBold"/>
              <a:buNone/>
            </a:pPr>
            <a:r>
              <a:rPr lang="en-US" sz="700">
                <a:solidFill>
                  <a:srgbClr val="0F7A54"/>
                </a:solidFill>
                <a:latin typeface="Poppins SemiBold"/>
                <a:ea typeface="Poppins SemiBold"/>
                <a:cs typeface="Poppins SemiBold"/>
                <a:sym typeface="Poppins SemiBold"/>
              </a:rPr>
              <a:t>L3/ T- Level  · YEAR 2 · FINAL YEAR</a:t>
            </a:r>
            <a:endParaRPr sz="700">
              <a:solidFill>
                <a:schemeClr val="dk1"/>
              </a:solidFill>
              <a:latin typeface="Calibri"/>
              <a:ea typeface="Calibri"/>
              <a:cs typeface="Calibri"/>
              <a:sym typeface="Calibri"/>
            </a:endParaRPr>
          </a:p>
        </p:txBody>
      </p:sp>
      <p:sp>
        <p:nvSpPr>
          <p:cNvPr id="25" name="Google Shape;25;p3"/>
          <p:cNvSpPr/>
          <p:nvPr/>
        </p:nvSpPr>
        <p:spPr>
          <a:xfrm>
            <a:off x="11734495" y="6400800"/>
            <a:ext cx="3657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1A4"/>
              </a:buClr>
              <a:buSzPts val="900"/>
              <a:buFont typeface="Poppins SemiBold"/>
              <a:buNone/>
            </a:pPr>
            <a:r>
              <a:rPr lang="en-US" sz="900">
                <a:solidFill>
                  <a:srgbClr val="94A1A4"/>
                </a:solidFill>
                <a:latin typeface="Poppins SemiBold"/>
                <a:ea typeface="Poppins SemiBold"/>
                <a:cs typeface="Poppins SemiBold"/>
                <a:sym typeface="Poppins SemiBold"/>
              </a:rPr>
              <a:t>1</a:t>
            </a:r>
            <a:endParaRPr sz="90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30" name="Shape 30"/>
        <p:cNvGrpSpPr/>
        <p:nvPr/>
      </p:nvGrpSpPr>
      <p:grpSpPr>
        <a:xfrm>
          <a:off x="0" y="0"/>
          <a:ext cx="0" cy="0"/>
          <a:chOff x="0" y="0"/>
          <a:chExt cx="0" cy="0"/>
        </a:xfrm>
      </p:grpSpPr>
      <p:sp>
        <p:nvSpPr>
          <p:cNvPr id="31" name="Google Shape;31;p4"/>
          <p:cNvSpPr/>
          <p:nvPr/>
        </p:nvSpPr>
        <p:spPr>
          <a:xfrm>
            <a:off x="502920" y="576072"/>
            <a:ext cx="219456" cy="219456"/>
          </a:xfrm>
          <a:prstGeom prst="rect">
            <a:avLst/>
          </a:prstGeom>
          <a:solidFill>
            <a:srgbClr val="FFCF0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 name="Google Shape;32;p4"/>
          <p:cNvSpPr/>
          <p:nvPr/>
        </p:nvSpPr>
        <p:spPr>
          <a:xfrm>
            <a:off x="850392" y="512064"/>
            <a:ext cx="777240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7A54"/>
              </a:buClr>
              <a:buSzPts val="1150"/>
              <a:buFont typeface="Poppins SemiBold"/>
              <a:buNone/>
            </a:pPr>
            <a:r>
              <a:rPr lang="en-US" sz="1150">
                <a:solidFill>
                  <a:srgbClr val="0F7A54"/>
                </a:solidFill>
                <a:latin typeface="Poppins SemiBold"/>
                <a:ea typeface="Poppins SemiBold"/>
                <a:cs typeface="Poppins SemiBold"/>
                <a:sym typeface="Poppins SemiBold"/>
              </a:rPr>
              <a:t>THE YEAR AHEAD</a:t>
            </a:r>
            <a:endParaRPr sz="1150">
              <a:solidFill>
                <a:schemeClr val="dk1"/>
              </a:solidFill>
              <a:latin typeface="Calibri"/>
              <a:ea typeface="Calibri"/>
              <a:cs typeface="Calibri"/>
              <a:sym typeface="Calibri"/>
            </a:endParaRPr>
          </a:p>
        </p:txBody>
      </p:sp>
      <p:sp>
        <p:nvSpPr>
          <p:cNvPr id="33" name="Google Shape;33;p4"/>
          <p:cNvSpPr/>
          <p:nvPr/>
        </p:nvSpPr>
        <p:spPr>
          <a:xfrm>
            <a:off x="475488" y="841248"/>
            <a:ext cx="10424160" cy="8412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D2434"/>
              </a:buClr>
              <a:buSzPts val="3200"/>
              <a:buFont typeface="Poppins SemiBold"/>
              <a:buNone/>
            </a:pPr>
            <a:r>
              <a:rPr lang="en-US" sz="3200">
                <a:solidFill>
                  <a:srgbClr val="0D2434"/>
                </a:solidFill>
                <a:latin typeface="Poppins SemiBold"/>
                <a:ea typeface="Poppins SemiBold"/>
                <a:cs typeface="Poppins SemiBold"/>
                <a:sym typeface="Poppins SemiBold"/>
              </a:rPr>
              <a:t>What this session is for</a:t>
            </a:r>
            <a:endParaRPr sz="3200">
              <a:solidFill>
                <a:schemeClr val="dk1"/>
              </a:solidFill>
              <a:latin typeface="Calibri"/>
              <a:ea typeface="Calibri"/>
              <a:cs typeface="Calibri"/>
              <a:sym typeface="Calibri"/>
            </a:endParaRPr>
          </a:p>
        </p:txBody>
      </p:sp>
      <p:sp>
        <p:nvSpPr>
          <p:cNvPr id="34" name="Google Shape;34;p4"/>
          <p:cNvSpPr/>
          <p:nvPr/>
        </p:nvSpPr>
        <p:spPr>
          <a:xfrm>
            <a:off x="9494215" y="530352"/>
            <a:ext cx="2194560" cy="420624"/>
          </a:xfrm>
          <a:prstGeom prst="roundRect">
            <a:avLst>
              <a:gd fmla="val 50000" name="adj"/>
            </a:avLst>
          </a:prstGeom>
          <a:solidFill>
            <a:srgbClr val="E2F0EA"/>
          </a:solidFill>
          <a:ln>
            <a:noFill/>
          </a:ln>
          <a:effectLst>
            <a:outerShdw blurRad="88900" rotWithShape="0" algn="bl" dir="8100000" dist="25400">
              <a:srgbClr val="0D2434">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 name="Google Shape;35;p4"/>
          <p:cNvSpPr/>
          <p:nvPr/>
        </p:nvSpPr>
        <p:spPr>
          <a:xfrm>
            <a:off x="9494215" y="530352"/>
            <a:ext cx="2194560"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7A54"/>
              </a:buClr>
              <a:buSzPts val="950"/>
              <a:buFont typeface="Poppins SemiBold"/>
              <a:buNone/>
            </a:pPr>
            <a:r>
              <a:rPr lang="en-US" sz="950">
                <a:solidFill>
                  <a:srgbClr val="0F7A54"/>
                </a:solidFill>
                <a:latin typeface="Poppins SemiBold"/>
                <a:ea typeface="Poppins SemiBold"/>
                <a:cs typeface="Poppins SemiBold"/>
                <a:sym typeface="Poppins SemiBold"/>
              </a:rPr>
              <a:t>THE YEAR AHEAD</a:t>
            </a:r>
            <a:endParaRPr sz="950">
              <a:solidFill>
                <a:schemeClr val="dk1"/>
              </a:solidFill>
              <a:latin typeface="Calibri"/>
              <a:ea typeface="Calibri"/>
              <a:cs typeface="Calibri"/>
              <a:sym typeface="Calibri"/>
            </a:endParaRPr>
          </a:p>
        </p:txBody>
      </p:sp>
      <p:sp>
        <p:nvSpPr>
          <p:cNvPr id="36" name="Google Shape;36;p4"/>
          <p:cNvSpPr/>
          <p:nvPr/>
        </p:nvSpPr>
        <p:spPr>
          <a:xfrm>
            <a:off x="502920" y="1810512"/>
            <a:ext cx="106070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6F"/>
              </a:buClr>
              <a:buSzPts val="1300"/>
              <a:buFont typeface="Poppins"/>
              <a:buNone/>
            </a:pPr>
            <a:r>
              <a:rPr lang="en-US" sz="1300">
                <a:solidFill>
                  <a:srgbClr val="5A6A6F"/>
                </a:solidFill>
                <a:latin typeface="Poppins"/>
                <a:ea typeface="Poppins"/>
                <a:cs typeface="Poppins"/>
                <a:sym typeface="Poppins"/>
              </a:rPr>
              <a:t>We're keeping this short. Five things — all pointed at one goal: you, finishing strong.</a:t>
            </a:r>
            <a:endParaRPr sz="1300">
              <a:solidFill>
                <a:schemeClr val="dk1"/>
              </a:solidFill>
              <a:latin typeface="Calibri"/>
              <a:ea typeface="Calibri"/>
              <a:cs typeface="Calibri"/>
              <a:sym typeface="Calibri"/>
            </a:endParaRPr>
          </a:p>
        </p:txBody>
      </p:sp>
      <p:sp>
        <p:nvSpPr>
          <p:cNvPr id="37" name="Google Shape;37;p4"/>
          <p:cNvSpPr/>
          <p:nvPr/>
        </p:nvSpPr>
        <p:spPr>
          <a:xfrm>
            <a:off x="502920" y="2450592"/>
            <a:ext cx="2121408" cy="2926080"/>
          </a:xfrm>
          <a:prstGeom prst="roundRect">
            <a:avLst>
              <a:gd fmla="val 5172" name="adj"/>
            </a:avLst>
          </a:prstGeom>
          <a:solidFill>
            <a:srgbClr val="FFFFFF"/>
          </a:solidFill>
          <a:ln cap="flat" cmpd="sng" w="12700">
            <a:solidFill>
              <a:srgbClr val="D2DBDA"/>
            </a:solidFill>
            <a:prstDash val="solid"/>
            <a:round/>
            <a:headEnd len="sm" w="sm" type="none"/>
            <a:tailEnd len="sm" w="sm" type="none"/>
          </a:ln>
          <a:effectLst>
            <a:outerShdw blurRad="88900" rotWithShape="0" algn="bl" dir="8100000" dist="25400">
              <a:srgbClr val="0D2434">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 name="Google Shape;38;p4"/>
          <p:cNvSpPr/>
          <p:nvPr/>
        </p:nvSpPr>
        <p:spPr>
          <a:xfrm>
            <a:off x="502920" y="2450592"/>
            <a:ext cx="2121408" cy="91440"/>
          </a:xfrm>
          <a:prstGeom prst="rect">
            <a:avLst/>
          </a:prstGeom>
          <a:solidFill>
            <a:srgbClr val="FFCF0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 name="Google Shape;39;p4"/>
          <p:cNvSpPr/>
          <p:nvPr/>
        </p:nvSpPr>
        <p:spPr>
          <a:xfrm>
            <a:off x="1298448" y="2761488"/>
            <a:ext cx="530352" cy="530352"/>
          </a:xfrm>
          <a:prstGeom prst="ellipse">
            <a:avLst/>
          </a:prstGeom>
          <a:solidFill>
            <a:srgbClr val="0D24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 name="Google Shape;40;p4"/>
          <p:cNvSpPr/>
          <p:nvPr/>
        </p:nvSpPr>
        <p:spPr>
          <a:xfrm>
            <a:off x="1298448" y="2761488"/>
            <a:ext cx="530352" cy="5303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CF01"/>
              </a:buClr>
              <a:buSzPts val="1800"/>
              <a:buFont typeface="Poppins SemiBold"/>
              <a:buNone/>
            </a:pPr>
            <a:r>
              <a:rPr lang="en-US" sz="1800">
                <a:solidFill>
                  <a:srgbClr val="FFCF01"/>
                </a:solidFill>
                <a:latin typeface="Poppins SemiBold"/>
                <a:ea typeface="Poppins SemiBold"/>
                <a:cs typeface="Poppins SemiBold"/>
                <a:sym typeface="Poppins SemiBold"/>
              </a:rPr>
              <a:t>1</a:t>
            </a:r>
            <a:endParaRPr sz="1800">
              <a:solidFill>
                <a:schemeClr val="dk1"/>
              </a:solidFill>
              <a:latin typeface="Calibri"/>
              <a:ea typeface="Calibri"/>
              <a:cs typeface="Calibri"/>
              <a:sym typeface="Calibri"/>
            </a:endParaRPr>
          </a:p>
        </p:txBody>
      </p:sp>
      <p:sp>
        <p:nvSpPr>
          <p:cNvPr id="41" name="Google Shape;41;p4"/>
          <p:cNvSpPr/>
          <p:nvPr/>
        </p:nvSpPr>
        <p:spPr>
          <a:xfrm>
            <a:off x="1088136" y="3474720"/>
            <a:ext cx="950976" cy="950976"/>
          </a:xfrm>
          <a:prstGeom prst="ellipse">
            <a:avLst/>
          </a:prstGeom>
          <a:solidFill>
            <a:srgbClr val="EFF7F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42" name="Google Shape;42;p4"/>
          <p:cNvPicPr preferRelativeResize="0"/>
          <p:nvPr/>
        </p:nvPicPr>
        <p:blipFill rotWithShape="1">
          <a:blip r:embed="rId3">
            <a:alphaModFix/>
          </a:blip>
          <a:srcRect b="0" l="0" r="0" t="0"/>
          <a:stretch/>
        </p:blipFill>
        <p:spPr>
          <a:xfrm>
            <a:off x="1289304" y="3675888"/>
            <a:ext cx="548640" cy="548640"/>
          </a:xfrm>
          <a:prstGeom prst="rect">
            <a:avLst/>
          </a:prstGeom>
          <a:noFill/>
          <a:ln>
            <a:noFill/>
          </a:ln>
        </p:spPr>
      </p:pic>
      <p:sp>
        <p:nvSpPr>
          <p:cNvPr id="43" name="Google Shape;43;p4"/>
          <p:cNvSpPr/>
          <p:nvPr/>
        </p:nvSpPr>
        <p:spPr>
          <a:xfrm>
            <a:off x="576072" y="4535424"/>
            <a:ext cx="1975104" cy="713232"/>
          </a:xfrm>
          <a:prstGeom prst="rect">
            <a:avLst/>
          </a:prstGeom>
          <a:noFill/>
          <a:ln>
            <a:noFill/>
          </a:ln>
        </p:spPr>
        <p:txBody>
          <a:bodyPr anchorCtr="0" anchor="t" bIns="0" lIns="0" spcFirstLastPara="1" rIns="0" wrap="square" tIns="0">
            <a:noAutofit/>
          </a:bodyPr>
          <a:lstStyle/>
          <a:p>
            <a:pPr indent="0" lvl="0" marL="0" marR="0" rtl="0" algn="ctr">
              <a:lnSpc>
                <a:spcPct val="116000"/>
              </a:lnSpc>
              <a:spcBef>
                <a:spcPts val="0"/>
              </a:spcBef>
              <a:spcAft>
                <a:spcPts val="0"/>
              </a:spcAft>
              <a:buClr>
                <a:srgbClr val="0D2434"/>
              </a:buClr>
              <a:buSzPts val="1250"/>
              <a:buFont typeface="Poppins SemiBold"/>
              <a:buNone/>
            </a:pPr>
            <a:r>
              <a:rPr lang="en-US" sz="1250">
                <a:solidFill>
                  <a:srgbClr val="0D2434"/>
                </a:solidFill>
                <a:latin typeface="Poppins SemiBold"/>
                <a:ea typeface="Poppins SemiBold"/>
                <a:cs typeface="Poppins SemiBold"/>
                <a:sym typeface="Poppins SemiBold"/>
              </a:rPr>
              <a:t>Where you're</a:t>
            </a:r>
            <a:endParaRPr sz="1250">
              <a:solidFill>
                <a:schemeClr val="dk1"/>
              </a:solidFill>
              <a:latin typeface="Calibri"/>
              <a:ea typeface="Calibri"/>
              <a:cs typeface="Calibri"/>
              <a:sym typeface="Calibri"/>
            </a:endParaRPr>
          </a:p>
          <a:p>
            <a:pPr indent="0" lvl="0" marL="0" marR="0" rtl="0" algn="ctr">
              <a:lnSpc>
                <a:spcPct val="116000"/>
              </a:lnSpc>
              <a:spcBef>
                <a:spcPts val="0"/>
              </a:spcBef>
              <a:spcAft>
                <a:spcPts val="0"/>
              </a:spcAft>
              <a:buClr>
                <a:srgbClr val="0D2434"/>
              </a:buClr>
              <a:buSzPts val="1250"/>
              <a:buFont typeface="Poppins SemiBold"/>
              <a:buNone/>
            </a:pPr>
            <a:r>
              <a:rPr lang="en-US" sz="1250">
                <a:solidFill>
                  <a:srgbClr val="0D2434"/>
                </a:solidFill>
                <a:latin typeface="Poppins SemiBold"/>
                <a:ea typeface="Poppins SemiBold"/>
                <a:cs typeface="Poppins SemiBold"/>
                <a:sym typeface="Poppins SemiBold"/>
              </a:rPr>
              <a:t>headed</a:t>
            </a:r>
            <a:endParaRPr sz="1250">
              <a:solidFill>
                <a:schemeClr val="dk1"/>
              </a:solidFill>
              <a:latin typeface="Calibri"/>
              <a:ea typeface="Calibri"/>
              <a:cs typeface="Calibri"/>
              <a:sym typeface="Calibri"/>
            </a:endParaRPr>
          </a:p>
        </p:txBody>
      </p:sp>
      <p:sp>
        <p:nvSpPr>
          <p:cNvPr id="44" name="Google Shape;44;p4"/>
          <p:cNvSpPr/>
          <p:nvPr/>
        </p:nvSpPr>
        <p:spPr>
          <a:xfrm>
            <a:off x="2775204" y="2450592"/>
            <a:ext cx="2121408" cy="2926080"/>
          </a:xfrm>
          <a:prstGeom prst="roundRect">
            <a:avLst>
              <a:gd fmla="val 5172" name="adj"/>
            </a:avLst>
          </a:prstGeom>
          <a:solidFill>
            <a:srgbClr val="FFFFFF"/>
          </a:solidFill>
          <a:ln cap="flat" cmpd="sng" w="12700">
            <a:solidFill>
              <a:srgbClr val="D2DBDA"/>
            </a:solidFill>
            <a:prstDash val="solid"/>
            <a:round/>
            <a:headEnd len="sm" w="sm" type="none"/>
            <a:tailEnd len="sm" w="sm" type="none"/>
          </a:ln>
          <a:effectLst>
            <a:outerShdw blurRad="88900" rotWithShape="0" algn="bl" dir="8100000" dist="25400">
              <a:srgbClr val="0D2434">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 name="Google Shape;45;p4"/>
          <p:cNvSpPr/>
          <p:nvPr/>
        </p:nvSpPr>
        <p:spPr>
          <a:xfrm>
            <a:off x="2775204" y="2450592"/>
            <a:ext cx="2121408" cy="91440"/>
          </a:xfrm>
          <a:prstGeom prst="rect">
            <a:avLst/>
          </a:prstGeom>
          <a:solidFill>
            <a:srgbClr val="FFCF0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 name="Google Shape;46;p4"/>
          <p:cNvSpPr/>
          <p:nvPr/>
        </p:nvSpPr>
        <p:spPr>
          <a:xfrm>
            <a:off x="3570732" y="2761488"/>
            <a:ext cx="530352" cy="530352"/>
          </a:xfrm>
          <a:prstGeom prst="ellipse">
            <a:avLst/>
          </a:prstGeom>
          <a:solidFill>
            <a:srgbClr val="0D24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 name="Google Shape;47;p4"/>
          <p:cNvSpPr/>
          <p:nvPr/>
        </p:nvSpPr>
        <p:spPr>
          <a:xfrm>
            <a:off x="3570732" y="2761488"/>
            <a:ext cx="530352" cy="5303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CF01"/>
              </a:buClr>
              <a:buSzPts val="1800"/>
              <a:buFont typeface="Poppins SemiBold"/>
              <a:buNone/>
            </a:pPr>
            <a:r>
              <a:rPr lang="en-US" sz="1800">
                <a:solidFill>
                  <a:srgbClr val="FFCF01"/>
                </a:solidFill>
                <a:latin typeface="Poppins SemiBold"/>
                <a:ea typeface="Poppins SemiBold"/>
                <a:cs typeface="Poppins SemiBold"/>
                <a:sym typeface="Poppins SemiBold"/>
              </a:rPr>
              <a:t>2</a:t>
            </a:r>
            <a:endParaRPr sz="1800">
              <a:solidFill>
                <a:schemeClr val="dk1"/>
              </a:solidFill>
              <a:latin typeface="Calibri"/>
              <a:ea typeface="Calibri"/>
              <a:cs typeface="Calibri"/>
              <a:sym typeface="Calibri"/>
            </a:endParaRPr>
          </a:p>
        </p:txBody>
      </p:sp>
      <p:sp>
        <p:nvSpPr>
          <p:cNvPr id="48" name="Google Shape;48;p4"/>
          <p:cNvSpPr/>
          <p:nvPr/>
        </p:nvSpPr>
        <p:spPr>
          <a:xfrm>
            <a:off x="3360420" y="3474720"/>
            <a:ext cx="950976" cy="950976"/>
          </a:xfrm>
          <a:prstGeom prst="ellipse">
            <a:avLst/>
          </a:prstGeom>
          <a:solidFill>
            <a:srgbClr val="EFF7F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49" name="Google Shape;49;p4"/>
          <p:cNvPicPr preferRelativeResize="0"/>
          <p:nvPr/>
        </p:nvPicPr>
        <p:blipFill rotWithShape="1">
          <a:blip r:embed="rId4">
            <a:alphaModFix/>
          </a:blip>
          <a:srcRect b="0" l="0" r="0" t="0"/>
          <a:stretch/>
        </p:blipFill>
        <p:spPr>
          <a:xfrm>
            <a:off x="3561588" y="3675888"/>
            <a:ext cx="548640" cy="548640"/>
          </a:xfrm>
          <a:prstGeom prst="rect">
            <a:avLst/>
          </a:prstGeom>
          <a:noFill/>
          <a:ln>
            <a:noFill/>
          </a:ln>
        </p:spPr>
      </p:pic>
      <p:sp>
        <p:nvSpPr>
          <p:cNvPr id="50" name="Google Shape;50;p4"/>
          <p:cNvSpPr/>
          <p:nvPr/>
        </p:nvSpPr>
        <p:spPr>
          <a:xfrm>
            <a:off x="2848356" y="4535424"/>
            <a:ext cx="1975104" cy="713232"/>
          </a:xfrm>
          <a:prstGeom prst="rect">
            <a:avLst/>
          </a:prstGeom>
          <a:noFill/>
          <a:ln>
            <a:noFill/>
          </a:ln>
        </p:spPr>
        <p:txBody>
          <a:bodyPr anchorCtr="0" anchor="t" bIns="0" lIns="0" spcFirstLastPara="1" rIns="0" wrap="square" tIns="0">
            <a:noAutofit/>
          </a:bodyPr>
          <a:lstStyle/>
          <a:p>
            <a:pPr indent="0" lvl="0" marL="0" marR="0" rtl="0" algn="ctr">
              <a:lnSpc>
                <a:spcPct val="116000"/>
              </a:lnSpc>
              <a:spcBef>
                <a:spcPts val="0"/>
              </a:spcBef>
              <a:spcAft>
                <a:spcPts val="0"/>
              </a:spcAft>
              <a:buClr>
                <a:srgbClr val="0D2434"/>
              </a:buClr>
              <a:buSzPts val="1250"/>
              <a:buFont typeface="Poppins SemiBold"/>
              <a:buNone/>
            </a:pPr>
            <a:r>
              <a:rPr lang="en-US" sz="1250">
                <a:solidFill>
                  <a:srgbClr val="0D2434"/>
                </a:solidFill>
                <a:latin typeface="Poppins SemiBold"/>
                <a:ea typeface="Poppins SemiBold"/>
                <a:cs typeface="Poppins SemiBold"/>
                <a:sym typeface="Poppins SemiBold"/>
              </a:rPr>
              <a:t>What Year 2</a:t>
            </a:r>
            <a:endParaRPr sz="1250">
              <a:solidFill>
                <a:schemeClr val="dk1"/>
              </a:solidFill>
              <a:latin typeface="Calibri"/>
              <a:ea typeface="Calibri"/>
              <a:cs typeface="Calibri"/>
              <a:sym typeface="Calibri"/>
            </a:endParaRPr>
          </a:p>
          <a:p>
            <a:pPr indent="0" lvl="0" marL="0" marR="0" rtl="0" algn="ctr">
              <a:lnSpc>
                <a:spcPct val="116000"/>
              </a:lnSpc>
              <a:spcBef>
                <a:spcPts val="0"/>
              </a:spcBef>
              <a:spcAft>
                <a:spcPts val="0"/>
              </a:spcAft>
              <a:buClr>
                <a:srgbClr val="0D2434"/>
              </a:buClr>
              <a:buSzPts val="1250"/>
              <a:buFont typeface="Poppins SemiBold"/>
              <a:buNone/>
            </a:pPr>
            <a:r>
              <a:rPr lang="en-US" sz="1250">
                <a:solidFill>
                  <a:srgbClr val="0D2434"/>
                </a:solidFill>
                <a:latin typeface="Poppins SemiBold"/>
                <a:ea typeface="Poppins SemiBold"/>
                <a:cs typeface="Poppins SemiBold"/>
                <a:sym typeface="Poppins SemiBold"/>
              </a:rPr>
              <a:t>demands</a:t>
            </a:r>
            <a:endParaRPr sz="1250">
              <a:solidFill>
                <a:schemeClr val="dk1"/>
              </a:solidFill>
              <a:latin typeface="Calibri"/>
              <a:ea typeface="Calibri"/>
              <a:cs typeface="Calibri"/>
              <a:sym typeface="Calibri"/>
            </a:endParaRPr>
          </a:p>
        </p:txBody>
      </p:sp>
      <p:sp>
        <p:nvSpPr>
          <p:cNvPr id="51" name="Google Shape;51;p4"/>
          <p:cNvSpPr/>
          <p:nvPr/>
        </p:nvSpPr>
        <p:spPr>
          <a:xfrm>
            <a:off x="5047488" y="2450592"/>
            <a:ext cx="2121408" cy="2926080"/>
          </a:xfrm>
          <a:prstGeom prst="roundRect">
            <a:avLst>
              <a:gd fmla="val 5172" name="adj"/>
            </a:avLst>
          </a:prstGeom>
          <a:solidFill>
            <a:srgbClr val="FFFFFF"/>
          </a:solidFill>
          <a:ln cap="flat" cmpd="sng" w="12700">
            <a:solidFill>
              <a:srgbClr val="D2DBDA"/>
            </a:solidFill>
            <a:prstDash val="solid"/>
            <a:round/>
            <a:headEnd len="sm" w="sm" type="none"/>
            <a:tailEnd len="sm" w="sm" type="none"/>
          </a:ln>
          <a:effectLst>
            <a:outerShdw blurRad="88900" rotWithShape="0" algn="bl" dir="8100000" dist="25400">
              <a:srgbClr val="0D2434">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 name="Google Shape;52;p4"/>
          <p:cNvSpPr/>
          <p:nvPr/>
        </p:nvSpPr>
        <p:spPr>
          <a:xfrm>
            <a:off x="5047488" y="2450592"/>
            <a:ext cx="2121408" cy="91440"/>
          </a:xfrm>
          <a:prstGeom prst="rect">
            <a:avLst/>
          </a:prstGeom>
          <a:solidFill>
            <a:srgbClr val="FFCF0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 name="Google Shape;53;p4"/>
          <p:cNvSpPr/>
          <p:nvPr/>
        </p:nvSpPr>
        <p:spPr>
          <a:xfrm>
            <a:off x="5843016" y="2761488"/>
            <a:ext cx="530352" cy="530352"/>
          </a:xfrm>
          <a:prstGeom prst="ellipse">
            <a:avLst/>
          </a:prstGeom>
          <a:solidFill>
            <a:srgbClr val="0D24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 name="Google Shape;54;p4"/>
          <p:cNvSpPr/>
          <p:nvPr/>
        </p:nvSpPr>
        <p:spPr>
          <a:xfrm>
            <a:off x="5843016" y="2761488"/>
            <a:ext cx="530352" cy="5303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CF01"/>
              </a:buClr>
              <a:buSzPts val="1800"/>
              <a:buFont typeface="Poppins SemiBold"/>
              <a:buNone/>
            </a:pPr>
            <a:r>
              <a:rPr lang="en-US" sz="1800">
                <a:solidFill>
                  <a:srgbClr val="FFCF01"/>
                </a:solidFill>
                <a:latin typeface="Poppins SemiBold"/>
                <a:ea typeface="Poppins SemiBold"/>
                <a:cs typeface="Poppins SemiBold"/>
                <a:sym typeface="Poppins SemiBold"/>
              </a:rPr>
              <a:t>3</a:t>
            </a:r>
            <a:endParaRPr sz="1800">
              <a:solidFill>
                <a:schemeClr val="dk1"/>
              </a:solidFill>
              <a:latin typeface="Calibri"/>
              <a:ea typeface="Calibri"/>
              <a:cs typeface="Calibri"/>
              <a:sym typeface="Calibri"/>
            </a:endParaRPr>
          </a:p>
        </p:txBody>
      </p:sp>
      <p:sp>
        <p:nvSpPr>
          <p:cNvPr id="55" name="Google Shape;55;p4"/>
          <p:cNvSpPr/>
          <p:nvPr/>
        </p:nvSpPr>
        <p:spPr>
          <a:xfrm>
            <a:off x="5632704" y="3474720"/>
            <a:ext cx="950976" cy="950976"/>
          </a:xfrm>
          <a:prstGeom prst="ellipse">
            <a:avLst/>
          </a:prstGeom>
          <a:solidFill>
            <a:srgbClr val="EFF7F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56" name="Google Shape;56;p4"/>
          <p:cNvPicPr preferRelativeResize="0"/>
          <p:nvPr/>
        </p:nvPicPr>
        <p:blipFill rotWithShape="1">
          <a:blip r:embed="rId5">
            <a:alphaModFix/>
          </a:blip>
          <a:srcRect b="0" l="0" r="0" t="0"/>
          <a:stretch/>
        </p:blipFill>
        <p:spPr>
          <a:xfrm>
            <a:off x="5833872" y="3675888"/>
            <a:ext cx="548640" cy="548640"/>
          </a:xfrm>
          <a:prstGeom prst="rect">
            <a:avLst/>
          </a:prstGeom>
          <a:noFill/>
          <a:ln>
            <a:noFill/>
          </a:ln>
        </p:spPr>
      </p:pic>
      <p:sp>
        <p:nvSpPr>
          <p:cNvPr id="57" name="Google Shape;57;p4"/>
          <p:cNvSpPr/>
          <p:nvPr/>
        </p:nvSpPr>
        <p:spPr>
          <a:xfrm>
            <a:off x="5120640" y="4535424"/>
            <a:ext cx="1975104" cy="713232"/>
          </a:xfrm>
          <a:prstGeom prst="rect">
            <a:avLst/>
          </a:prstGeom>
          <a:noFill/>
          <a:ln>
            <a:noFill/>
          </a:ln>
        </p:spPr>
        <p:txBody>
          <a:bodyPr anchorCtr="0" anchor="t" bIns="0" lIns="0" spcFirstLastPara="1" rIns="0" wrap="square" tIns="0">
            <a:noAutofit/>
          </a:bodyPr>
          <a:lstStyle/>
          <a:p>
            <a:pPr indent="0" lvl="0" marL="0" marR="0" rtl="0" algn="ctr">
              <a:lnSpc>
                <a:spcPct val="116000"/>
              </a:lnSpc>
              <a:spcBef>
                <a:spcPts val="0"/>
              </a:spcBef>
              <a:spcAft>
                <a:spcPts val="0"/>
              </a:spcAft>
              <a:buClr>
                <a:srgbClr val="0D2434"/>
              </a:buClr>
              <a:buSzPts val="1250"/>
              <a:buFont typeface="Poppins SemiBold"/>
              <a:buNone/>
            </a:pPr>
            <a:r>
              <a:rPr lang="en-US" sz="1250">
                <a:solidFill>
                  <a:srgbClr val="0D2434"/>
                </a:solidFill>
                <a:latin typeface="Poppins SemiBold"/>
                <a:ea typeface="Poppins SemiBold"/>
                <a:cs typeface="Poppins SemiBold"/>
                <a:sym typeface="Poppins SemiBold"/>
              </a:rPr>
              <a:t>Staying on</a:t>
            </a:r>
            <a:endParaRPr sz="1250">
              <a:solidFill>
                <a:schemeClr val="dk1"/>
              </a:solidFill>
              <a:latin typeface="Calibri"/>
              <a:ea typeface="Calibri"/>
              <a:cs typeface="Calibri"/>
              <a:sym typeface="Calibri"/>
            </a:endParaRPr>
          </a:p>
          <a:p>
            <a:pPr indent="0" lvl="0" marL="0" marR="0" rtl="0" algn="ctr">
              <a:lnSpc>
                <a:spcPct val="116000"/>
              </a:lnSpc>
              <a:spcBef>
                <a:spcPts val="0"/>
              </a:spcBef>
              <a:spcAft>
                <a:spcPts val="0"/>
              </a:spcAft>
              <a:buClr>
                <a:srgbClr val="0D2434"/>
              </a:buClr>
              <a:buSzPts val="1250"/>
              <a:buFont typeface="Poppins SemiBold"/>
              <a:buNone/>
            </a:pPr>
            <a:r>
              <a:rPr lang="en-US" sz="1250">
                <a:solidFill>
                  <a:srgbClr val="0D2434"/>
                </a:solidFill>
                <a:latin typeface="Poppins SemiBold"/>
                <a:ea typeface="Poppins SemiBold"/>
                <a:cs typeface="Poppins SemiBold"/>
                <a:sym typeface="Poppins SemiBold"/>
              </a:rPr>
              <a:t>course</a:t>
            </a:r>
            <a:endParaRPr sz="1250">
              <a:solidFill>
                <a:schemeClr val="dk1"/>
              </a:solidFill>
              <a:latin typeface="Calibri"/>
              <a:ea typeface="Calibri"/>
              <a:cs typeface="Calibri"/>
              <a:sym typeface="Calibri"/>
            </a:endParaRPr>
          </a:p>
        </p:txBody>
      </p:sp>
      <p:sp>
        <p:nvSpPr>
          <p:cNvPr id="58" name="Google Shape;58;p4"/>
          <p:cNvSpPr/>
          <p:nvPr/>
        </p:nvSpPr>
        <p:spPr>
          <a:xfrm>
            <a:off x="7319772" y="2450592"/>
            <a:ext cx="2121408" cy="2926080"/>
          </a:xfrm>
          <a:prstGeom prst="roundRect">
            <a:avLst>
              <a:gd fmla="val 5172" name="adj"/>
            </a:avLst>
          </a:prstGeom>
          <a:solidFill>
            <a:srgbClr val="FFFFFF"/>
          </a:solidFill>
          <a:ln cap="flat" cmpd="sng" w="12700">
            <a:solidFill>
              <a:srgbClr val="D2DBDA"/>
            </a:solidFill>
            <a:prstDash val="solid"/>
            <a:round/>
            <a:headEnd len="sm" w="sm" type="none"/>
            <a:tailEnd len="sm" w="sm" type="none"/>
          </a:ln>
          <a:effectLst>
            <a:outerShdw blurRad="88900" rotWithShape="0" algn="bl" dir="8100000" dist="25400">
              <a:srgbClr val="0D2434">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 name="Google Shape;59;p4"/>
          <p:cNvSpPr/>
          <p:nvPr/>
        </p:nvSpPr>
        <p:spPr>
          <a:xfrm>
            <a:off x="7319772" y="2450592"/>
            <a:ext cx="2121408" cy="91440"/>
          </a:xfrm>
          <a:prstGeom prst="rect">
            <a:avLst/>
          </a:prstGeom>
          <a:solidFill>
            <a:srgbClr val="FFCF0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 name="Google Shape;60;p4"/>
          <p:cNvSpPr/>
          <p:nvPr/>
        </p:nvSpPr>
        <p:spPr>
          <a:xfrm>
            <a:off x="8115300" y="2761488"/>
            <a:ext cx="530352" cy="530352"/>
          </a:xfrm>
          <a:prstGeom prst="ellipse">
            <a:avLst/>
          </a:prstGeom>
          <a:solidFill>
            <a:srgbClr val="0D24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1" name="Google Shape;61;p4"/>
          <p:cNvSpPr/>
          <p:nvPr/>
        </p:nvSpPr>
        <p:spPr>
          <a:xfrm>
            <a:off x="8115300" y="2761488"/>
            <a:ext cx="530352" cy="5303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CF01"/>
              </a:buClr>
              <a:buSzPts val="1800"/>
              <a:buFont typeface="Poppins SemiBold"/>
              <a:buNone/>
            </a:pPr>
            <a:r>
              <a:rPr lang="en-US" sz="1800">
                <a:solidFill>
                  <a:srgbClr val="FFCF01"/>
                </a:solidFill>
                <a:latin typeface="Poppins SemiBold"/>
                <a:ea typeface="Poppins SemiBold"/>
                <a:cs typeface="Poppins SemiBold"/>
                <a:sym typeface="Poppins SemiBold"/>
              </a:rPr>
              <a:t>4</a:t>
            </a:r>
            <a:endParaRPr sz="1800">
              <a:solidFill>
                <a:schemeClr val="dk1"/>
              </a:solidFill>
              <a:latin typeface="Calibri"/>
              <a:ea typeface="Calibri"/>
              <a:cs typeface="Calibri"/>
              <a:sym typeface="Calibri"/>
            </a:endParaRPr>
          </a:p>
        </p:txBody>
      </p:sp>
      <p:sp>
        <p:nvSpPr>
          <p:cNvPr id="62" name="Google Shape;62;p4"/>
          <p:cNvSpPr/>
          <p:nvPr/>
        </p:nvSpPr>
        <p:spPr>
          <a:xfrm>
            <a:off x="7904988" y="3474720"/>
            <a:ext cx="950976" cy="950976"/>
          </a:xfrm>
          <a:prstGeom prst="ellipse">
            <a:avLst/>
          </a:prstGeom>
          <a:solidFill>
            <a:srgbClr val="EFF7F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63" name="Google Shape;63;p4"/>
          <p:cNvPicPr preferRelativeResize="0"/>
          <p:nvPr/>
        </p:nvPicPr>
        <p:blipFill rotWithShape="1">
          <a:blip r:embed="rId6">
            <a:alphaModFix/>
          </a:blip>
          <a:srcRect b="0" l="0" r="0" t="0"/>
          <a:stretch/>
        </p:blipFill>
        <p:spPr>
          <a:xfrm>
            <a:off x="8106156" y="3675888"/>
            <a:ext cx="548640" cy="548640"/>
          </a:xfrm>
          <a:prstGeom prst="rect">
            <a:avLst/>
          </a:prstGeom>
          <a:noFill/>
          <a:ln>
            <a:noFill/>
          </a:ln>
        </p:spPr>
      </p:pic>
      <p:sp>
        <p:nvSpPr>
          <p:cNvPr id="64" name="Google Shape;64;p4"/>
          <p:cNvSpPr/>
          <p:nvPr/>
        </p:nvSpPr>
        <p:spPr>
          <a:xfrm>
            <a:off x="7392924" y="4535424"/>
            <a:ext cx="1975104" cy="713232"/>
          </a:xfrm>
          <a:prstGeom prst="rect">
            <a:avLst/>
          </a:prstGeom>
          <a:noFill/>
          <a:ln>
            <a:noFill/>
          </a:ln>
        </p:spPr>
        <p:txBody>
          <a:bodyPr anchorCtr="0" anchor="t" bIns="0" lIns="0" spcFirstLastPara="1" rIns="0" wrap="square" tIns="0">
            <a:noAutofit/>
          </a:bodyPr>
          <a:lstStyle/>
          <a:p>
            <a:pPr indent="0" lvl="0" marL="0" marR="0" rtl="0" algn="ctr">
              <a:lnSpc>
                <a:spcPct val="116000"/>
              </a:lnSpc>
              <a:spcBef>
                <a:spcPts val="0"/>
              </a:spcBef>
              <a:spcAft>
                <a:spcPts val="0"/>
              </a:spcAft>
              <a:buClr>
                <a:srgbClr val="0D2434"/>
              </a:buClr>
              <a:buSzPts val="1250"/>
              <a:buFont typeface="Poppins SemiBold"/>
              <a:buNone/>
            </a:pPr>
            <a:r>
              <a:rPr lang="en-US" sz="1250">
                <a:solidFill>
                  <a:srgbClr val="0D2434"/>
                </a:solidFill>
                <a:latin typeface="Poppins SemiBold"/>
                <a:ea typeface="Poppins SemiBold"/>
                <a:cs typeface="Poppins SemiBold"/>
                <a:sym typeface="Poppins SemiBold"/>
              </a:rPr>
              <a:t>Support that</a:t>
            </a:r>
            <a:endParaRPr sz="1250">
              <a:solidFill>
                <a:schemeClr val="dk1"/>
              </a:solidFill>
              <a:latin typeface="Calibri"/>
              <a:ea typeface="Calibri"/>
              <a:cs typeface="Calibri"/>
              <a:sym typeface="Calibri"/>
            </a:endParaRPr>
          </a:p>
          <a:p>
            <a:pPr indent="0" lvl="0" marL="0" marR="0" rtl="0" algn="ctr">
              <a:lnSpc>
                <a:spcPct val="116000"/>
              </a:lnSpc>
              <a:spcBef>
                <a:spcPts val="0"/>
              </a:spcBef>
              <a:spcAft>
                <a:spcPts val="0"/>
              </a:spcAft>
              <a:buClr>
                <a:srgbClr val="0D2434"/>
              </a:buClr>
              <a:buSzPts val="1250"/>
              <a:buFont typeface="Poppins SemiBold"/>
              <a:buNone/>
            </a:pPr>
            <a:r>
              <a:rPr lang="en-US" sz="1250">
                <a:solidFill>
                  <a:srgbClr val="0D2434"/>
                </a:solidFill>
                <a:latin typeface="Poppins SemiBold"/>
                <a:ea typeface="Poppins SemiBold"/>
                <a:cs typeface="Poppins SemiBold"/>
                <a:sym typeface="Poppins SemiBold"/>
              </a:rPr>
              <a:t>still matters</a:t>
            </a:r>
            <a:endParaRPr sz="1250">
              <a:solidFill>
                <a:schemeClr val="dk1"/>
              </a:solidFill>
              <a:latin typeface="Calibri"/>
              <a:ea typeface="Calibri"/>
              <a:cs typeface="Calibri"/>
              <a:sym typeface="Calibri"/>
            </a:endParaRPr>
          </a:p>
        </p:txBody>
      </p:sp>
      <p:sp>
        <p:nvSpPr>
          <p:cNvPr id="65" name="Google Shape;65;p4"/>
          <p:cNvSpPr/>
          <p:nvPr/>
        </p:nvSpPr>
        <p:spPr>
          <a:xfrm>
            <a:off x="9592056" y="2450592"/>
            <a:ext cx="2121408" cy="2926080"/>
          </a:xfrm>
          <a:prstGeom prst="roundRect">
            <a:avLst>
              <a:gd fmla="val 5172" name="adj"/>
            </a:avLst>
          </a:prstGeom>
          <a:solidFill>
            <a:srgbClr val="FFFFFF"/>
          </a:solidFill>
          <a:ln cap="flat" cmpd="sng" w="12700">
            <a:solidFill>
              <a:srgbClr val="D2DBDA"/>
            </a:solidFill>
            <a:prstDash val="solid"/>
            <a:round/>
            <a:headEnd len="sm" w="sm" type="none"/>
            <a:tailEnd len="sm" w="sm" type="none"/>
          </a:ln>
          <a:effectLst>
            <a:outerShdw blurRad="88900" rotWithShape="0" algn="bl" dir="8100000" dist="25400">
              <a:srgbClr val="0D2434">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 name="Google Shape;66;p4"/>
          <p:cNvSpPr/>
          <p:nvPr/>
        </p:nvSpPr>
        <p:spPr>
          <a:xfrm>
            <a:off x="9592056" y="2450592"/>
            <a:ext cx="2121408" cy="91440"/>
          </a:xfrm>
          <a:prstGeom prst="rect">
            <a:avLst/>
          </a:prstGeom>
          <a:solidFill>
            <a:srgbClr val="FFCF0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 name="Google Shape;67;p4"/>
          <p:cNvSpPr/>
          <p:nvPr/>
        </p:nvSpPr>
        <p:spPr>
          <a:xfrm>
            <a:off x="10387584" y="2761488"/>
            <a:ext cx="530352" cy="530352"/>
          </a:xfrm>
          <a:prstGeom prst="ellipse">
            <a:avLst/>
          </a:prstGeom>
          <a:solidFill>
            <a:srgbClr val="0D24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 name="Google Shape;68;p4"/>
          <p:cNvSpPr/>
          <p:nvPr/>
        </p:nvSpPr>
        <p:spPr>
          <a:xfrm>
            <a:off x="10387584" y="2761488"/>
            <a:ext cx="530352" cy="53035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CF01"/>
              </a:buClr>
              <a:buSzPts val="1800"/>
              <a:buFont typeface="Poppins SemiBold"/>
              <a:buNone/>
            </a:pPr>
            <a:r>
              <a:rPr lang="en-US" sz="1800">
                <a:solidFill>
                  <a:srgbClr val="FFCF01"/>
                </a:solidFill>
                <a:latin typeface="Poppins SemiBold"/>
                <a:ea typeface="Poppins SemiBold"/>
                <a:cs typeface="Poppins SemiBold"/>
                <a:sym typeface="Poppins SemiBold"/>
              </a:rPr>
              <a:t>5</a:t>
            </a:r>
            <a:endParaRPr sz="1800">
              <a:solidFill>
                <a:schemeClr val="dk1"/>
              </a:solidFill>
              <a:latin typeface="Calibri"/>
              <a:ea typeface="Calibri"/>
              <a:cs typeface="Calibri"/>
              <a:sym typeface="Calibri"/>
            </a:endParaRPr>
          </a:p>
        </p:txBody>
      </p:sp>
      <p:sp>
        <p:nvSpPr>
          <p:cNvPr id="69" name="Google Shape;69;p4"/>
          <p:cNvSpPr/>
          <p:nvPr/>
        </p:nvSpPr>
        <p:spPr>
          <a:xfrm>
            <a:off x="10177272" y="3474720"/>
            <a:ext cx="950976" cy="950976"/>
          </a:xfrm>
          <a:prstGeom prst="ellipse">
            <a:avLst/>
          </a:prstGeom>
          <a:solidFill>
            <a:srgbClr val="EFF7F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70" name="Google Shape;70;p4"/>
          <p:cNvPicPr preferRelativeResize="0"/>
          <p:nvPr/>
        </p:nvPicPr>
        <p:blipFill rotWithShape="1">
          <a:blip r:embed="rId7">
            <a:alphaModFix/>
          </a:blip>
          <a:srcRect b="0" l="0" r="0" t="0"/>
          <a:stretch/>
        </p:blipFill>
        <p:spPr>
          <a:xfrm>
            <a:off x="10378440" y="3675888"/>
            <a:ext cx="548640" cy="548640"/>
          </a:xfrm>
          <a:prstGeom prst="rect">
            <a:avLst/>
          </a:prstGeom>
          <a:noFill/>
          <a:ln>
            <a:noFill/>
          </a:ln>
        </p:spPr>
      </p:pic>
      <p:sp>
        <p:nvSpPr>
          <p:cNvPr id="71" name="Google Shape;71;p4"/>
          <p:cNvSpPr/>
          <p:nvPr/>
        </p:nvSpPr>
        <p:spPr>
          <a:xfrm>
            <a:off x="9665208" y="4535424"/>
            <a:ext cx="1975104" cy="713232"/>
          </a:xfrm>
          <a:prstGeom prst="rect">
            <a:avLst/>
          </a:prstGeom>
          <a:noFill/>
          <a:ln>
            <a:noFill/>
          </a:ln>
        </p:spPr>
        <p:txBody>
          <a:bodyPr anchorCtr="0" anchor="t" bIns="0" lIns="0" spcFirstLastPara="1" rIns="0" wrap="square" tIns="0">
            <a:noAutofit/>
          </a:bodyPr>
          <a:lstStyle/>
          <a:p>
            <a:pPr indent="0" lvl="0" marL="0" marR="0" rtl="0" algn="ctr">
              <a:lnSpc>
                <a:spcPct val="116000"/>
              </a:lnSpc>
              <a:spcBef>
                <a:spcPts val="0"/>
              </a:spcBef>
              <a:spcAft>
                <a:spcPts val="0"/>
              </a:spcAft>
              <a:buClr>
                <a:srgbClr val="0D2434"/>
              </a:buClr>
              <a:buSzPts val="1250"/>
              <a:buFont typeface="Poppins SemiBold"/>
              <a:buNone/>
            </a:pPr>
            <a:r>
              <a:rPr lang="en-US" sz="1250">
                <a:solidFill>
                  <a:srgbClr val="0D2434"/>
                </a:solidFill>
                <a:latin typeface="Poppins SemiBold"/>
                <a:ea typeface="Poppins SemiBold"/>
                <a:cs typeface="Poppins SemiBold"/>
                <a:sym typeface="Poppins SemiBold"/>
              </a:rPr>
              <a:t>Landing it —</a:t>
            </a:r>
            <a:endParaRPr sz="1250">
              <a:solidFill>
                <a:schemeClr val="dk1"/>
              </a:solidFill>
              <a:latin typeface="Calibri"/>
              <a:ea typeface="Calibri"/>
              <a:cs typeface="Calibri"/>
              <a:sym typeface="Calibri"/>
            </a:endParaRPr>
          </a:p>
          <a:p>
            <a:pPr indent="0" lvl="0" marL="0" marR="0" rtl="0" algn="ctr">
              <a:lnSpc>
                <a:spcPct val="116000"/>
              </a:lnSpc>
              <a:spcBef>
                <a:spcPts val="0"/>
              </a:spcBef>
              <a:spcAft>
                <a:spcPts val="0"/>
              </a:spcAft>
              <a:buClr>
                <a:srgbClr val="0D2434"/>
              </a:buClr>
              <a:buSzPts val="1250"/>
              <a:buFont typeface="Poppins SemiBold"/>
              <a:buNone/>
            </a:pPr>
            <a:r>
              <a:rPr lang="en-US" sz="1250">
                <a:solidFill>
                  <a:srgbClr val="0D2434"/>
                </a:solidFill>
                <a:latin typeface="Poppins SemiBold"/>
                <a:ea typeface="Poppins SemiBold"/>
                <a:cs typeface="Poppins SemiBold"/>
                <a:sym typeface="Poppins SemiBold"/>
              </a:rPr>
              <a:t>your next step</a:t>
            </a:r>
            <a:endParaRPr sz="1250">
              <a:solidFill>
                <a:schemeClr val="dk1"/>
              </a:solidFill>
              <a:latin typeface="Calibri"/>
              <a:ea typeface="Calibri"/>
              <a:cs typeface="Calibri"/>
              <a:sym typeface="Calibri"/>
            </a:endParaRPr>
          </a:p>
        </p:txBody>
      </p:sp>
      <p:sp>
        <p:nvSpPr>
          <p:cNvPr id="72" name="Google Shape;72;p4"/>
          <p:cNvSpPr/>
          <p:nvPr/>
        </p:nvSpPr>
        <p:spPr>
          <a:xfrm>
            <a:off x="502920" y="6437376"/>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1A4"/>
              </a:buClr>
              <a:buSzPts val="850"/>
              <a:buFont typeface="Poppins"/>
              <a:buNone/>
            </a:pPr>
            <a:r>
              <a:rPr lang="en-US" sz="850">
                <a:solidFill>
                  <a:srgbClr val="94A1A4"/>
                </a:solidFill>
                <a:latin typeface="Poppins"/>
                <a:ea typeface="Poppins"/>
                <a:cs typeface="Poppins"/>
                <a:sym typeface="Poppins"/>
              </a:rPr>
              <a:t>ESCG Student Induction 2026–27</a:t>
            </a:r>
            <a:r>
              <a:rPr lang="en-US" sz="850">
                <a:solidFill>
                  <a:srgbClr val="D2DBDA"/>
                </a:solidFill>
                <a:latin typeface="Poppins"/>
                <a:ea typeface="Poppins"/>
                <a:cs typeface="Poppins"/>
                <a:sym typeface="Poppins"/>
              </a:rPr>
              <a:t>   ·   </a:t>
            </a:r>
            <a:r>
              <a:rPr lang="en-US" sz="850">
                <a:solidFill>
                  <a:srgbClr val="94A1A4"/>
                </a:solidFill>
                <a:latin typeface="Poppins"/>
                <a:ea typeface="Poppins"/>
                <a:cs typeface="Poppins"/>
                <a:sym typeface="Poppins"/>
              </a:rPr>
              <a:t>Module A — Welcome Back</a:t>
            </a:r>
            <a:endParaRPr sz="850">
              <a:solidFill>
                <a:schemeClr val="dk1"/>
              </a:solidFill>
              <a:latin typeface="Calibri"/>
              <a:ea typeface="Calibri"/>
              <a:cs typeface="Calibri"/>
              <a:sym typeface="Calibri"/>
            </a:endParaRPr>
          </a:p>
        </p:txBody>
      </p:sp>
      <p:sp>
        <p:nvSpPr>
          <p:cNvPr id="73" name="Google Shape;73;p4"/>
          <p:cNvSpPr/>
          <p:nvPr/>
        </p:nvSpPr>
        <p:spPr>
          <a:xfrm>
            <a:off x="9494215" y="6400800"/>
            <a:ext cx="2194560" cy="292608"/>
          </a:xfrm>
          <a:prstGeom prst="roundRect">
            <a:avLst>
              <a:gd fmla="val 50000" name="adj"/>
            </a:avLst>
          </a:prstGeom>
          <a:solidFill>
            <a:srgbClr val="E2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4" name="Google Shape;74;p4"/>
          <p:cNvSpPr/>
          <p:nvPr/>
        </p:nvSpPr>
        <p:spPr>
          <a:xfrm>
            <a:off x="9494215" y="6400800"/>
            <a:ext cx="2194560" cy="292608"/>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F7A54"/>
              </a:buClr>
              <a:buSzPts val="700"/>
              <a:buFont typeface="Poppins SemiBold"/>
              <a:buNone/>
            </a:pPr>
            <a:r>
              <a:rPr lang="en-US" sz="700">
                <a:solidFill>
                  <a:srgbClr val="0F7A54"/>
                </a:solidFill>
                <a:latin typeface="Poppins SemiBold"/>
                <a:ea typeface="Poppins SemiBold"/>
                <a:cs typeface="Poppins SemiBold"/>
                <a:sym typeface="Poppins SemiBold"/>
              </a:rPr>
              <a:t>L3/ T- Level  · YEAR 2 · FINAL YEAR</a:t>
            </a:r>
            <a:endParaRPr sz="700">
              <a:solidFill>
                <a:schemeClr val="dk1"/>
              </a:solidFill>
              <a:latin typeface="Calibri"/>
              <a:ea typeface="Calibri"/>
              <a:cs typeface="Calibri"/>
              <a:sym typeface="Calibri"/>
            </a:endParaRPr>
          </a:p>
        </p:txBody>
      </p:sp>
      <p:sp>
        <p:nvSpPr>
          <p:cNvPr id="75" name="Google Shape;75;p4"/>
          <p:cNvSpPr/>
          <p:nvPr/>
        </p:nvSpPr>
        <p:spPr>
          <a:xfrm>
            <a:off x="11734495" y="6400800"/>
            <a:ext cx="3657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1A4"/>
              </a:buClr>
              <a:buSzPts val="900"/>
              <a:buFont typeface="Poppins SemiBold"/>
              <a:buNone/>
            </a:pPr>
            <a:r>
              <a:rPr lang="en-US" sz="900">
                <a:solidFill>
                  <a:srgbClr val="94A1A4"/>
                </a:solidFill>
                <a:latin typeface="Poppins SemiBold"/>
                <a:ea typeface="Poppins SemiBold"/>
                <a:cs typeface="Poppins SemiBold"/>
                <a:sym typeface="Poppins SemiBold"/>
              </a:rPr>
              <a:t>2</a:t>
            </a:r>
            <a:endParaRPr sz="9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80" name="Shape 80"/>
        <p:cNvGrpSpPr/>
        <p:nvPr/>
      </p:nvGrpSpPr>
      <p:grpSpPr>
        <a:xfrm>
          <a:off x="0" y="0"/>
          <a:ext cx="0" cy="0"/>
          <a:chOff x="0" y="0"/>
          <a:chExt cx="0" cy="0"/>
        </a:xfrm>
      </p:grpSpPr>
      <p:sp>
        <p:nvSpPr>
          <p:cNvPr id="81" name="Google Shape;81;p5"/>
          <p:cNvSpPr/>
          <p:nvPr/>
        </p:nvSpPr>
        <p:spPr>
          <a:xfrm>
            <a:off x="502920" y="576072"/>
            <a:ext cx="219456" cy="219456"/>
          </a:xfrm>
          <a:prstGeom prst="rect">
            <a:avLst/>
          </a:prstGeom>
          <a:solidFill>
            <a:srgbClr val="FFCF0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2" name="Google Shape;82;p5"/>
          <p:cNvSpPr/>
          <p:nvPr/>
        </p:nvSpPr>
        <p:spPr>
          <a:xfrm>
            <a:off x="850392" y="512064"/>
            <a:ext cx="777240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7A54"/>
              </a:buClr>
              <a:buSzPts val="1150"/>
              <a:buFont typeface="Poppins SemiBold"/>
              <a:buNone/>
            </a:pPr>
            <a:r>
              <a:rPr lang="en-US" sz="1150">
                <a:solidFill>
                  <a:srgbClr val="0F7A54"/>
                </a:solidFill>
                <a:latin typeface="Poppins SemiBold"/>
                <a:ea typeface="Poppins SemiBold"/>
                <a:cs typeface="Poppins SemiBold"/>
                <a:sym typeface="Poppins SemiBold"/>
              </a:rPr>
              <a:t>WHERE YOU'RE HEADED</a:t>
            </a:r>
            <a:endParaRPr sz="1150">
              <a:solidFill>
                <a:schemeClr val="dk1"/>
              </a:solidFill>
              <a:latin typeface="Calibri"/>
              <a:ea typeface="Calibri"/>
              <a:cs typeface="Calibri"/>
              <a:sym typeface="Calibri"/>
            </a:endParaRPr>
          </a:p>
        </p:txBody>
      </p:sp>
      <p:sp>
        <p:nvSpPr>
          <p:cNvPr id="83" name="Google Shape;83;p5"/>
          <p:cNvSpPr/>
          <p:nvPr/>
        </p:nvSpPr>
        <p:spPr>
          <a:xfrm>
            <a:off x="475488" y="841248"/>
            <a:ext cx="10424160" cy="8412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D2434"/>
              </a:buClr>
              <a:buSzPts val="3200"/>
              <a:buFont typeface="Poppins SemiBold"/>
              <a:buNone/>
            </a:pPr>
            <a:r>
              <a:rPr lang="en-US" sz="3200">
                <a:solidFill>
                  <a:srgbClr val="0D2434"/>
                </a:solidFill>
                <a:latin typeface="Poppins SemiBold"/>
                <a:ea typeface="Poppins SemiBold"/>
                <a:cs typeface="Poppins SemiBold"/>
                <a:sym typeface="Poppins SemiBold"/>
              </a:rPr>
              <a:t>Reconnect — and name your next step</a:t>
            </a:r>
            <a:endParaRPr sz="3200">
              <a:solidFill>
                <a:schemeClr val="dk1"/>
              </a:solidFill>
              <a:latin typeface="Calibri"/>
              <a:ea typeface="Calibri"/>
              <a:cs typeface="Calibri"/>
              <a:sym typeface="Calibri"/>
            </a:endParaRPr>
          </a:p>
        </p:txBody>
      </p:sp>
      <p:sp>
        <p:nvSpPr>
          <p:cNvPr id="84" name="Google Shape;84;p5"/>
          <p:cNvSpPr/>
          <p:nvPr/>
        </p:nvSpPr>
        <p:spPr>
          <a:xfrm>
            <a:off x="9494215" y="530352"/>
            <a:ext cx="2194560" cy="420624"/>
          </a:xfrm>
          <a:prstGeom prst="roundRect">
            <a:avLst>
              <a:gd fmla="val 50000" name="adj"/>
            </a:avLst>
          </a:prstGeom>
          <a:solidFill>
            <a:srgbClr val="FFCF01"/>
          </a:solidFill>
          <a:ln>
            <a:noFill/>
          </a:ln>
          <a:effectLst>
            <a:outerShdw blurRad="88900" rotWithShape="0" algn="bl" dir="8100000" dist="25400">
              <a:srgbClr val="0D2434">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5" name="Google Shape;85;p5"/>
          <p:cNvSpPr/>
          <p:nvPr/>
        </p:nvSpPr>
        <p:spPr>
          <a:xfrm>
            <a:off x="9494215" y="530352"/>
            <a:ext cx="2194560"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2434"/>
              </a:buClr>
              <a:buSzPts val="950"/>
              <a:buFont typeface="Poppins SemiBold"/>
              <a:buNone/>
            </a:pPr>
            <a:r>
              <a:rPr lang="en-US" sz="950">
                <a:solidFill>
                  <a:srgbClr val="0D2434"/>
                </a:solidFill>
                <a:latin typeface="Poppins SemiBold"/>
                <a:ea typeface="Poppins SemiBold"/>
                <a:cs typeface="Poppins SemiBold"/>
                <a:sym typeface="Poppins SemiBold"/>
              </a:rPr>
              <a:t>OVER TO YOU</a:t>
            </a:r>
            <a:endParaRPr sz="950">
              <a:solidFill>
                <a:schemeClr val="dk1"/>
              </a:solidFill>
              <a:latin typeface="Calibri"/>
              <a:ea typeface="Calibri"/>
              <a:cs typeface="Calibri"/>
              <a:sym typeface="Calibri"/>
            </a:endParaRPr>
          </a:p>
        </p:txBody>
      </p:sp>
      <p:sp>
        <p:nvSpPr>
          <p:cNvPr id="86" name="Google Shape;86;p5"/>
          <p:cNvSpPr/>
          <p:nvPr/>
        </p:nvSpPr>
        <p:spPr>
          <a:xfrm>
            <a:off x="502920" y="1856232"/>
            <a:ext cx="6035040" cy="4069080"/>
          </a:xfrm>
          <a:prstGeom prst="roundRect">
            <a:avLst>
              <a:gd fmla="val 2697" name="adj"/>
            </a:avLst>
          </a:prstGeom>
          <a:solidFill>
            <a:srgbClr val="FFFFFF"/>
          </a:solidFill>
          <a:ln cap="flat" cmpd="sng" w="12700">
            <a:solidFill>
              <a:srgbClr val="D2DBDA"/>
            </a:solidFill>
            <a:prstDash val="solid"/>
            <a:round/>
            <a:headEnd len="sm" w="sm" type="none"/>
            <a:tailEnd len="sm" w="sm" type="none"/>
          </a:ln>
          <a:effectLst>
            <a:outerShdw blurRad="88900" rotWithShape="0" algn="bl" dir="8100000" dist="25400">
              <a:srgbClr val="0D2434">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7" name="Google Shape;87;p5"/>
          <p:cNvSpPr/>
          <p:nvPr/>
        </p:nvSpPr>
        <p:spPr>
          <a:xfrm>
            <a:off x="502920" y="1856232"/>
            <a:ext cx="6035040" cy="548640"/>
          </a:xfrm>
          <a:prstGeom prst="rect">
            <a:avLst/>
          </a:prstGeom>
          <a:solidFill>
            <a:srgbClr val="FFCF0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8" name="Google Shape;88;p5"/>
          <p:cNvSpPr/>
          <p:nvPr/>
        </p:nvSpPr>
        <p:spPr>
          <a:xfrm>
            <a:off x="795528" y="1856232"/>
            <a:ext cx="54864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1200"/>
              <a:buFont typeface="Poppins SemiBold"/>
              <a:buNone/>
            </a:pPr>
            <a:r>
              <a:rPr lang="en-US" sz="1200">
                <a:solidFill>
                  <a:srgbClr val="0D2434"/>
                </a:solidFill>
                <a:latin typeface="Poppins SemiBold"/>
                <a:ea typeface="Poppins SemiBold"/>
                <a:cs typeface="Poppins SemiBold"/>
                <a:sym typeface="Poppins SemiBold"/>
              </a:rPr>
              <a:t>ACTIVITY  ·  TWO QUESTIONS</a:t>
            </a:r>
            <a:endParaRPr sz="1200">
              <a:solidFill>
                <a:schemeClr val="dk1"/>
              </a:solidFill>
              <a:latin typeface="Calibri"/>
              <a:ea typeface="Calibri"/>
              <a:cs typeface="Calibri"/>
              <a:sym typeface="Calibri"/>
            </a:endParaRPr>
          </a:p>
        </p:txBody>
      </p:sp>
      <p:sp>
        <p:nvSpPr>
          <p:cNvPr id="89" name="Google Shape;89;p5"/>
          <p:cNvSpPr/>
          <p:nvPr/>
        </p:nvSpPr>
        <p:spPr>
          <a:xfrm>
            <a:off x="795528" y="2569464"/>
            <a:ext cx="5468112"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150"/>
              <a:buFont typeface="Poppins"/>
              <a:buNone/>
            </a:pPr>
            <a:r>
              <a:rPr lang="en-US" sz="1150">
                <a:solidFill>
                  <a:srgbClr val="1B2A30"/>
                </a:solidFill>
                <a:latin typeface="Poppins"/>
                <a:ea typeface="Poppins"/>
                <a:cs typeface="Poppins"/>
                <a:sym typeface="Poppins"/>
              </a:rPr>
              <a:t>In a small group, quick round — everyone answers both:</a:t>
            </a:r>
            <a:endParaRPr sz="1150">
              <a:solidFill>
                <a:schemeClr val="dk1"/>
              </a:solidFill>
              <a:latin typeface="Calibri"/>
              <a:ea typeface="Calibri"/>
              <a:cs typeface="Calibri"/>
              <a:sym typeface="Calibri"/>
            </a:endParaRPr>
          </a:p>
        </p:txBody>
      </p:sp>
      <p:sp>
        <p:nvSpPr>
          <p:cNvPr id="90" name="Google Shape;90;p5"/>
          <p:cNvSpPr/>
          <p:nvPr/>
        </p:nvSpPr>
        <p:spPr>
          <a:xfrm>
            <a:off x="813816" y="3081528"/>
            <a:ext cx="457200" cy="457200"/>
          </a:xfrm>
          <a:prstGeom prst="ellipse">
            <a:avLst/>
          </a:prstGeom>
          <a:solidFill>
            <a:srgbClr val="E2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1" name="Google Shape;91;p5"/>
          <p:cNvSpPr/>
          <p:nvPr/>
        </p:nvSpPr>
        <p:spPr>
          <a:xfrm>
            <a:off x="813816" y="3081528"/>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7A54"/>
              </a:buClr>
              <a:buSzPts val="1500"/>
              <a:buFont typeface="Poppins SemiBold"/>
              <a:buNone/>
            </a:pPr>
            <a:r>
              <a:rPr lang="en-US" sz="1500">
                <a:solidFill>
                  <a:srgbClr val="0F7A54"/>
                </a:solidFill>
                <a:latin typeface="Poppins SemiBold"/>
                <a:ea typeface="Poppins SemiBold"/>
                <a:cs typeface="Poppins SemiBold"/>
                <a:sym typeface="Poppins SemiBold"/>
              </a:rPr>
              <a:t>1</a:t>
            </a:r>
            <a:endParaRPr sz="1500">
              <a:solidFill>
                <a:schemeClr val="dk1"/>
              </a:solidFill>
              <a:latin typeface="Calibri"/>
              <a:ea typeface="Calibri"/>
              <a:cs typeface="Calibri"/>
              <a:sym typeface="Calibri"/>
            </a:endParaRPr>
          </a:p>
        </p:txBody>
      </p:sp>
      <p:sp>
        <p:nvSpPr>
          <p:cNvPr id="92" name="Google Shape;92;p5"/>
          <p:cNvSpPr/>
          <p:nvPr/>
        </p:nvSpPr>
        <p:spPr>
          <a:xfrm>
            <a:off x="1417320" y="2971800"/>
            <a:ext cx="4800600" cy="868680"/>
          </a:xfrm>
          <a:prstGeom prst="rect">
            <a:avLst/>
          </a:prstGeom>
          <a:noFill/>
          <a:ln>
            <a:noFill/>
          </a:ln>
        </p:spPr>
        <p:txBody>
          <a:bodyPr anchorCtr="0" anchor="ctr" bIns="0" lIns="0" spcFirstLastPara="1" rIns="0" wrap="square" tIns="0">
            <a:noAutofit/>
          </a:bodyPr>
          <a:lstStyle/>
          <a:p>
            <a:pPr indent="0" lvl="0" marL="0" marR="0" rtl="0" algn="l">
              <a:lnSpc>
                <a:spcPct val="126086"/>
              </a:lnSpc>
              <a:spcBef>
                <a:spcPts val="0"/>
              </a:spcBef>
              <a:spcAft>
                <a:spcPts val="0"/>
              </a:spcAft>
              <a:buClr>
                <a:srgbClr val="1B2A30"/>
              </a:buClr>
              <a:buSzPts val="1150"/>
              <a:buFont typeface="Poppins"/>
              <a:buNone/>
            </a:pPr>
            <a:r>
              <a:rPr lang="en-US" sz="1150">
                <a:solidFill>
                  <a:srgbClr val="1B2A30"/>
                </a:solidFill>
                <a:latin typeface="Poppins"/>
                <a:ea typeface="Poppins"/>
                <a:cs typeface="Poppins"/>
                <a:sym typeface="Poppins"/>
              </a:rPr>
              <a:t>One thing that went well for you last year.</a:t>
            </a:r>
            <a:endParaRPr sz="1150">
              <a:solidFill>
                <a:schemeClr val="dk1"/>
              </a:solidFill>
              <a:latin typeface="Calibri"/>
              <a:ea typeface="Calibri"/>
              <a:cs typeface="Calibri"/>
              <a:sym typeface="Calibri"/>
            </a:endParaRPr>
          </a:p>
        </p:txBody>
      </p:sp>
      <p:sp>
        <p:nvSpPr>
          <p:cNvPr id="93" name="Google Shape;93;p5"/>
          <p:cNvSpPr/>
          <p:nvPr/>
        </p:nvSpPr>
        <p:spPr>
          <a:xfrm>
            <a:off x="813816" y="4041648"/>
            <a:ext cx="457200" cy="457200"/>
          </a:xfrm>
          <a:prstGeom prst="ellipse">
            <a:avLst/>
          </a:prstGeom>
          <a:solidFill>
            <a:srgbClr val="E2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4" name="Google Shape;94;p5"/>
          <p:cNvSpPr/>
          <p:nvPr/>
        </p:nvSpPr>
        <p:spPr>
          <a:xfrm>
            <a:off x="813816" y="4041648"/>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7A54"/>
              </a:buClr>
              <a:buSzPts val="1500"/>
              <a:buFont typeface="Poppins SemiBold"/>
              <a:buNone/>
            </a:pPr>
            <a:r>
              <a:rPr lang="en-US" sz="1500">
                <a:solidFill>
                  <a:srgbClr val="0F7A54"/>
                </a:solidFill>
                <a:latin typeface="Poppins SemiBold"/>
                <a:ea typeface="Poppins SemiBold"/>
                <a:cs typeface="Poppins SemiBold"/>
                <a:sym typeface="Poppins SemiBold"/>
              </a:rPr>
              <a:t>2</a:t>
            </a:r>
            <a:endParaRPr sz="1500">
              <a:solidFill>
                <a:schemeClr val="dk1"/>
              </a:solidFill>
              <a:latin typeface="Calibri"/>
              <a:ea typeface="Calibri"/>
              <a:cs typeface="Calibri"/>
              <a:sym typeface="Calibri"/>
            </a:endParaRPr>
          </a:p>
        </p:txBody>
      </p:sp>
      <p:sp>
        <p:nvSpPr>
          <p:cNvPr id="95" name="Google Shape;95;p5"/>
          <p:cNvSpPr/>
          <p:nvPr/>
        </p:nvSpPr>
        <p:spPr>
          <a:xfrm>
            <a:off x="1417320" y="3931920"/>
            <a:ext cx="4800600" cy="868680"/>
          </a:xfrm>
          <a:prstGeom prst="rect">
            <a:avLst/>
          </a:prstGeom>
          <a:noFill/>
          <a:ln>
            <a:noFill/>
          </a:ln>
        </p:spPr>
        <p:txBody>
          <a:bodyPr anchorCtr="0" anchor="ctr" bIns="0" lIns="0" spcFirstLastPara="1" rIns="0" wrap="square" tIns="0">
            <a:noAutofit/>
          </a:bodyPr>
          <a:lstStyle/>
          <a:p>
            <a:pPr indent="0" lvl="0" marL="0" marR="0" rtl="0" algn="l">
              <a:lnSpc>
                <a:spcPct val="126086"/>
              </a:lnSpc>
              <a:spcBef>
                <a:spcPts val="0"/>
              </a:spcBef>
              <a:spcAft>
                <a:spcPts val="0"/>
              </a:spcAft>
              <a:buClr>
                <a:srgbClr val="1B2A30"/>
              </a:buClr>
              <a:buSzPts val="1150"/>
              <a:buFont typeface="Poppins"/>
              <a:buNone/>
            </a:pPr>
            <a:r>
              <a:rPr lang="en-US" sz="1150">
                <a:solidFill>
                  <a:srgbClr val="1B2A30"/>
                </a:solidFill>
                <a:latin typeface="Poppins"/>
                <a:ea typeface="Poppins"/>
                <a:cs typeface="Poppins"/>
                <a:sym typeface="Poppins"/>
              </a:rPr>
              <a:t>Your honest answer: what's the plan after this year — work, an apprenticeship, university, or still deciding?</a:t>
            </a:r>
            <a:endParaRPr sz="1150">
              <a:solidFill>
                <a:schemeClr val="dk1"/>
              </a:solidFill>
              <a:latin typeface="Calibri"/>
              <a:ea typeface="Calibri"/>
              <a:cs typeface="Calibri"/>
              <a:sym typeface="Calibri"/>
            </a:endParaRPr>
          </a:p>
        </p:txBody>
      </p:sp>
      <p:cxnSp>
        <p:nvCxnSpPr>
          <p:cNvPr id="96" name="Google Shape;96;p5"/>
          <p:cNvCxnSpPr/>
          <p:nvPr/>
        </p:nvCxnSpPr>
        <p:spPr>
          <a:xfrm>
            <a:off x="813816" y="5038344"/>
            <a:ext cx="5413248" cy="0"/>
          </a:xfrm>
          <a:prstGeom prst="straightConnector1">
            <a:avLst/>
          </a:prstGeom>
          <a:noFill/>
          <a:ln cap="flat" cmpd="sng" w="12700">
            <a:solidFill>
              <a:srgbClr val="D2DBDA"/>
            </a:solidFill>
            <a:prstDash val="solid"/>
            <a:round/>
            <a:headEnd len="sm" w="sm" type="none"/>
            <a:tailEnd len="sm" w="sm" type="none"/>
          </a:ln>
        </p:spPr>
      </p:cxnSp>
      <p:sp>
        <p:nvSpPr>
          <p:cNvPr id="97" name="Google Shape;97;p5"/>
          <p:cNvSpPr/>
          <p:nvPr/>
        </p:nvSpPr>
        <p:spPr>
          <a:xfrm>
            <a:off x="813816" y="5148072"/>
            <a:ext cx="5413248"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6F"/>
              </a:buClr>
              <a:buSzPts val="1050"/>
              <a:buFont typeface="Poppins"/>
              <a:buNone/>
            </a:pPr>
            <a:r>
              <a:rPr i="1" lang="en-US" sz="1050">
                <a:solidFill>
                  <a:srgbClr val="5A6A6F"/>
                </a:solidFill>
                <a:latin typeface="Poppins"/>
                <a:ea typeface="Poppins"/>
                <a:cs typeface="Poppins"/>
                <a:sym typeface="Poppins"/>
              </a:rPr>
              <a:t>"Still deciding" is a completely fine answer — naming it is the point.</a:t>
            </a:r>
            <a:endParaRPr sz="1050">
              <a:solidFill>
                <a:schemeClr val="dk1"/>
              </a:solidFill>
              <a:latin typeface="Calibri"/>
              <a:ea typeface="Calibri"/>
              <a:cs typeface="Calibri"/>
              <a:sym typeface="Calibri"/>
            </a:endParaRPr>
          </a:p>
        </p:txBody>
      </p:sp>
      <p:sp>
        <p:nvSpPr>
          <p:cNvPr id="98" name="Google Shape;98;p5"/>
          <p:cNvSpPr/>
          <p:nvPr/>
        </p:nvSpPr>
        <p:spPr>
          <a:xfrm>
            <a:off x="6812280" y="1856232"/>
            <a:ext cx="4873752" cy="4069080"/>
          </a:xfrm>
          <a:prstGeom prst="roundRect">
            <a:avLst>
              <a:gd fmla="val 2697" name="adj"/>
            </a:avLst>
          </a:prstGeom>
          <a:solidFill>
            <a:srgbClr val="0D2434"/>
          </a:solidFill>
          <a:ln>
            <a:noFill/>
          </a:ln>
          <a:effectLst>
            <a:outerShdw blurRad="88900" rotWithShape="0" algn="bl" dir="8100000" dist="25400">
              <a:srgbClr val="0D2434">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99" name="Google Shape;99;p5"/>
          <p:cNvPicPr preferRelativeResize="0"/>
          <p:nvPr/>
        </p:nvPicPr>
        <p:blipFill rotWithShape="1">
          <a:blip r:embed="rId3">
            <a:alphaModFix/>
          </a:blip>
          <a:srcRect b="0" l="0" r="0" t="0"/>
          <a:stretch/>
        </p:blipFill>
        <p:spPr>
          <a:xfrm>
            <a:off x="7123176" y="2240280"/>
            <a:ext cx="475488" cy="475488"/>
          </a:xfrm>
          <a:prstGeom prst="rect">
            <a:avLst/>
          </a:prstGeom>
          <a:noFill/>
          <a:ln>
            <a:noFill/>
          </a:ln>
        </p:spPr>
      </p:pic>
      <p:sp>
        <p:nvSpPr>
          <p:cNvPr id="100" name="Google Shape;100;p5"/>
          <p:cNvSpPr/>
          <p:nvPr/>
        </p:nvSpPr>
        <p:spPr>
          <a:xfrm>
            <a:off x="7123176" y="2825496"/>
            <a:ext cx="42519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700"/>
              <a:buFont typeface="Poppins SemiBold"/>
              <a:buNone/>
            </a:pPr>
            <a:r>
              <a:rPr lang="en-US" sz="1700">
                <a:solidFill>
                  <a:srgbClr val="FFFFFF"/>
                </a:solidFill>
                <a:latin typeface="Poppins SemiBold"/>
                <a:ea typeface="Poppins SemiBold"/>
                <a:cs typeface="Poppins SemiBold"/>
                <a:sym typeface="Poppins SemiBold"/>
              </a:rPr>
              <a:t>Why start here?</a:t>
            </a:r>
            <a:endParaRPr sz="1700">
              <a:solidFill>
                <a:schemeClr val="dk1"/>
              </a:solidFill>
              <a:latin typeface="Calibri"/>
              <a:ea typeface="Calibri"/>
              <a:cs typeface="Calibri"/>
              <a:sym typeface="Calibri"/>
            </a:endParaRPr>
          </a:p>
        </p:txBody>
      </p:sp>
      <p:sp>
        <p:nvSpPr>
          <p:cNvPr id="101" name="Google Shape;101;p5"/>
          <p:cNvSpPr/>
          <p:nvPr/>
        </p:nvSpPr>
        <p:spPr>
          <a:xfrm>
            <a:off x="7123176" y="3319272"/>
            <a:ext cx="4251960" cy="2377440"/>
          </a:xfrm>
          <a:prstGeom prst="rect">
            <a:avLst/>
          </a:prstGeom>
          <a:noFill/>
          <a:ln>
            <a:noFill/>
          </a:ln>
        </p:spPr>
        <p:txBody>
          <a:bodyPr anchorCtr="0" anchor="ctr" bIns="0" lIns="0" spcFirstLastPara="1" rIns="0" wrap="square" tIns="0">
            <a:noAutofit/>
          </a:bodyPr>
          <a:lstStyle/>
          <a:p>
            <a:pPr indent="0" lvl="0" marL="0" marR="0" rtl="0" algn="l">
              <a:lnSpc>
                <a:spcPct val="139130"/>
              </a:lnSpc>
              <a:spcBef>
                <a:spcPts val="0"/>
              </a:spcBef>
              <a:spcAft>
                <a:spcPts val="0"/>
              </a:spcAft>
              <a:buClr>
                <a:srgbClr val="C7D0D3"/>
              </a:buClr>
              <a:buSzPts val="1150"/>
              <a:buFont typeface="Poppins"/>
              <a:buNone/>
            </a:pPr>
            <a:r>
              <a:rPr lang="en-US" sz="1150">
                <a:solidFill>
                  <a:srgbClr val="C7D0D3"/>
                </a:solidFill>
                <a:latin typeface="Poppins"/>
                <a:ea typeface="Poppins"/>
                <a:cs typeface="Poppins"/>
                <a:sym typeface="Poppins"/>
              </a:rPr>
              <a:t>Everything this year gets easier when you know what you're aiming at. A student heading for work, one heading for an apprenticeship and one heading for university all need to use this year slightly differently.</a:t>
            </a:r>
            <a:endParaRPr sz="1150">
              <a:solidFill>
                <a:schemeClr val="dk1"/>
              </a:solidFill>
              <a:latin typeface="Calibri"/>
              <a:ea typeface="Calibri"/>
              <a:cs typeface="Calibri"/>
              <a:sym typeface="Calibri"/>
            </a:endParaRPr>
          </a:p>
          <a:p>
            <a:pPr indent="0" lvl="0" marL="0" marR="0" rtl="0" algn="l">
              <a:lnSpc>
                <a:spcPct val="139130"/>
              </a:lnSpc>
              <a:spcBef>
                <a:spcPts val="0"/>
              </a:spcBef>
              <a:spcAft>
                <a:spcPts val="0"/>
              </a:spcAft>
              <a:buClr>
                <a:schemeClr val="dk1"/>
              </a:buClr>
              <a:buSzPts val="1150"/>
              <a:buFont typeface="Calibri"/>
              <a:buNone/>
            </a:pPr>
            <a:r>
              <a:t/>
            </a:r>
            <a:endParaRPr sz="1150">
              <a:solidFill>
                <a:schemeClr val="dk1"/>
              </a:solidFill>
              <a:latin typeface="Calibri"/>
              <a:ea typeface="Calibri"/>
              <a:cs typeface="Calibri"/>
              <a:sym typeface="Calibri"/>
            </a:endParaRPr>
          </a:p>
          <a:p>
            <a:pPr indent="0" lvl="0" marL="0" marR="0" rtl="0" algn="l">
              <a:lnSpc>
                <a:spcPct val="139130"/>
              </a:lnSpc>
              <a:spcBef>
                <a:spcPts val="0"/>
              </a:spcBef>
              <a:spcAft>
                <a:spcPts val="0"/>
              </a:spcAft>
              <a:buClr>
                <a:srgbClr val="C7D0D3"/>
              </a:buClr>
              <a:buSzPts val="1150"/>
              <a:buFont typeface="Poppins"/>
              <a:buNone/>
            </a:pPr>
            <a:r>
              <a:rPr lang="en-US" sz="1150">
                <a:solidFill>
                  <a:srgbClr val="C7D0D3"/>
                </a:solidFill>
                <a:latin typeface="Poppins"/>
                <a:ea typeface="Poppins"/>
                <a:cs typeface="Poppins"/>
                <a:sym typeface="Poppins"/>
              </a:rPr>
              <a:t>Saying your destination out loud — even a rough one — is how the year starts working for you.</a:t>
            </a:r>
            <a:endParaRPr sz="1150">
              <a:solidFill>
                <a:schemeClr val="dk1"/>
              </a:solidFill>
              <a:latin typeface="Calibri"/>
              <a:ea typeface="Calibri"/>
              <a:cs typeface="Calibri"/>
              <a:sym typeface="Calibri"/>
            </a:endParaRPr>
          </a:p>
        </p:txBody>
      </p:sp>
      <p:sp>
        <p:nvSpPr>
          <p:cNvPr id="102" name="Google Shape;102;p5"/>
          <p:cNvSpPr/>
          <p:nvPr/>
        </p:nvSpPr>
        <p:spPr>
          <a:xfrm>
            <a:off x="502920" y="6437376"/>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1A4"/>
              </a:buClr>
              <a:buSzPts val="850"/>
              <a:buFont typeface="Poppins"/>
              <a:buNone/>
            </a:pPr>
            <a:r>
              <a:rPr lang="en-US" sz="850">
                <a:solidFill>
                  <a:srgbClr val="94A1A4"/>
                </a:solidFill>
                <a:latin typeface="Poppins"/>
                <a:ea typeface="Poppins"/>
                <a:cs typeface="Poppins"/>
                <a:sym typeface="Poppins"/>
              </a:rPr>
              <a:t>ESCG Student Induction 2026–27</a:t>
            </a:r>
            <a:r>
              <a:rPr lang="en-US" sz="850">
                <a:solidFill>
                  <a:srgbClr val="D2DBDA"/>
                </a:solidFill>
                <a:latin typeface="Poppins"/>
                <a:ea typeface="Poppins"/>
                <a:cs typeface="Poppins"/>
                <a:sym typeface="Poppins"/>
              </a:rPr>
              <a:t>   ·   </a:t>
            </a:r>
            <a:r>
              <a:rPr lang="en-US" sz="850">
                <a:solidFill>
                  <a:srgbClr val="94A1A4"/>
                </a:solidFill>
                <a:latin typeface="Poppins"/>
                <a:ea typeface="Poppins"/>
                <a:cs typeface="Poppins"/>
                <a:sym typeface="Poppins"/>
              </a:rPr>
              <a:t>Module A — Welcome Back</a:t>
            </a:r>
            <a:endParaRPr sz="850">
              <a:solidFill>
                <a:schemeClr val="dk1"/>
              </a:solidFill>
              <a:latin typeface="Calibri"/>
              <a:ea typeface="Calibri"/>
              <a:cs typeface="Calibri"/>
              <a:sym typeface="Calibri"/>
            </a:endParaRPr>
          </a:p>
        </p:txBody>
      </p:sp>
      <p:sp>
        <p:nvSpPr>
          <p:cNvPr id="103" name="Google Shape;103;p5"/>
          <p:cNvSpPr/>
          <p:nvPr/>
        </p:nvSpPr>
        <p:spPr>
          <a:xfrm>
            <a:off x="9494215" y="6400800"/>
            <a:ext cx="2194560" cy="292608"/>
          </a:xfrm>
          <a:prstGeom prst="roundRect">
            <a:avLst>
              <a:gd fmla="val 50000" name="adj"/>
            </a:avLst>
          </a:prstGeom>
          <a:solidFill>
            <a:srgbClr val="E2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4" name="Google Shape;104;p5"/>
          <p:cNvSpPr/>
          <p:nvPr/>
        </p:nvSpPr>
        <p:spPr>
          <a:xfrm>
            <a:off x="9494215" y="6400800"/>
            <a:ext cx="2194560" cy="292608"/>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F7A54"/>
              </a:buClr>
              <a:buSzPts val="700"/>
              <a:buFont typeface="Poppins SemiBold"/>
              <a:buNone/>
            </a:pPr>
            <a:r>
              <a:rPr lang="en-US" sz="700">
                <a:solidFill>
                  <a:srgbClr val="0F7A54"/>
                </a:solidFill>
                <a:latin typeface="Poppins SemiBold"/>
                <a:ea typeface="Poppins SemiBold"/>
                <a:cs typeface="Poppins SemiBold"/>
                <a:sym typeface="Poppins SemiBold"/>
              </a:rPr>
              <a:t>L3/ T- Level  · YEAR 2 · FINAL YEAR</a:t>
            </a:r>
            <a:endParaRPr sz="700">
              <a:solidFill>
                <a:schemeClr val="dk1"/>
              </a:solidFill>
              <a:latin typeface="Calibri"/>
              <a:ea typeface="Calibri"/>
              <a:cs typeface="Calibri"/>
              <a:sym typeface="Calibri"/>
            </a:endParaRPr>
          </a:p>
        </p:txBody>
      </p:sp>
      <p:sp>
        <p:nvSpPr>
          <p:cNvPr id="105" name="Google Shape;105;p5"/>
          <p:cNvSpPr/>
          <p:nvPr/>
        </p:nvSpPr>
        <p:spPr>
          <a:xfrm>
            <a:off x="11734495" y="6400800"/>
            <a:ext cx="3657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1A4"/>
              </a:buClr>
              <a:buSzPts val="900"/>
              <a:buFont typeface="Poppins SemiBold"/>
              <a:buNone/>
            </a:pPr>
            <a:r>
              <a:rPr lang="en-US" sz="900">
                <a:solidFill>
                  <a:srgbClr val="94A1A4"/>
                </a:solidFill>
                <a:latin typeface="Poppins SemiBold"/>
                <a:ea typeface="Poppins SemiBold"/>
                <a:cs typeface="Poppins SemiBold"/>
                <a:sym typeface="Poppins SemiBold"/>
              </a:rPr>
              <a:t>3</a:t>
            </a:r>
            <a:endParaRPr sz="9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110" name="Shape 110"/>
        <p:cNvGrpSpPr/>
        <p:nvPr/>
      </p:nvGrpSpPr>
      <p:grpSpPr>
        <a:xfrm>
          <a:off x="0" y="0"/>
          <a:ext cx="0" cy="0"/>
          <a:chOff x="0" y="0"/>
          <a:chExt cx="0" cy="0"/>
        </a:xfrm>
      </p:grpSpPr>
      <p:sp>
        <p:nvSpPr>
          <p:cNvPr id="111" name="Google Shape;111;p6"/>
          <p:cNvSpPr/>
          <p:nvPr/>
        </p:nvSpPr>
        <p:spPr>
          <a:xfrm>
            <a:off x="502920" y="576072"/>
            <a:ext cx="219456" cy="219456"/>
          </a:xfrm>
          <a:prstGeom prst="rect">
            <a:avLst/>
          </a:prstGeom>
          <a:solidFill>
            <a:srgbClr val="FFCF0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2" name="Google Shape;112;p6"/>
          <p:cNvSpPr/>
          <p:nvPr/>
        </p:nvSpPr>
        <p:spPr>
          <a:xfrm>
            <a:off x="850392" y="512064"/>
            <a:ext cx="777240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7A54"/>
              </a:buClr>
              <a:buSzPts val="1150"/>
              <a:buFont typeface="Poppins SemiBold"/>
              <a:buNone/>
            </a:pPr>
            <a:r>
              <a:rPr lang="en-US" sz="1150">
                <a:solidFill>
                  <a:srgbClr val="0F7A54"/>
                </a:solidFill>
                <a:latin typeface="Poppins SemiBold"/>
                <a:ea typeface="Poppins SemiBold"/>
                <a:cs typeface="Poppins SemiBold"/>
                <a:sym typeface="Poppins SemiBold"/>
              </a:rPr>
              <a:t>WHAT YEAR 2 DEMANDS</a:t>
            </a:r>
            <a:endParaRPr sz="1150">
              <a:solidFill>
                <a:schemeClr val="dk1"/>
              </a:solidFill>
              <a:latin typeface="Calibri"/>
              <a:ea typeface="Calibri"/>
              <a:cs typeface="Calibri"/>
              <a:sym typeface="Calibri"/>
            </a:endParaRPr>
          </a:p>
        </p:txBody>
      </p:sp>
      <p:sp>
        <p:nvSpPr>
          <p:cNvPr id="113" name="Google Shape;113;p6"/>
          <p:cNvSpPr/>
          <p:nvPr/>
        </p:nvSpPr>
        <p:spPr>
          <a:xfrm>
            <a:off x="475488" y="841248"/>
            <a:ext cx="10424160" cy="8412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D2434"/>
              </a:buClr>
              <a:buSzPts val="3200"/>
              <a:buFont typeface="Poppins SemiBold"/>
              <a:buNone/>
            </a:pPr>
            <a:r>
              <a:rPr lang="en-US" sz="3200">
                <a:solidFill>
                  <a:srgbClr val="0D2434"/>
                </a:solidFill>
                <a:latin typeface="Poppins SemiBold"/>
                <a:ea typeface="Poppins SemiBold"/>
                <a:cs typeface="Poppins SemiBold"/>
                <a:sym typeface="Poppins SemiBold"/>
              </a:rPr>
              <a:t>This year is a step up — here's how</a:t>
            </a:r>
            <a:endParaRPr sz="3200">
              <a:solidFill>
                <a:schemeClr val="dk1"/>
              </a:solidFill>
              <a:latin typeface="Calibri"/>
              <a:ea typeface="Calibri"/>
              <a:cs typeface="Calibri"/>
              <a:sym typeface="Calibri"/>
            </a:endParaRPr>
          </a:p>
        </p:txBody>
      </p:sp>
      <p:sp>
        <p:nvSpPr>
          <p:cNvPr id="114" name="Google Shape;114;p6"/>
          <p:cNvSpPr/>
          <p:nvPr/>
        </p:nvSpPr>
        <p:spPr>
          <a:xfrm>
            <a:off x="9494215" y="530352"/>
            <a:ext cx="2194560" cy="420624"/>
          </a:xfrm>
          <a:prstGeom prst="roundRect">
            <a:avLst>
              <a:gd fmla="val 50000" name="adj"/>
            </a:avLst>
          </a:prstGeom>
          <a:solidFill>
            <a:srgbClr val="0D2434"/>
          </a:solidFill>
          <a:ln>
            <a:noFill/>
          </a:ln>
          <a:effectLst>
            <a:outerShdw blurRad="88900" rotWithShape="0" algn="bl" dir="8100000" dist="25400">
              <a:srgbClr val="0D2434">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5" name="Google Shape;115;p6"/>
          <p:cNvSpPr/>
          <p:nvPr/>
        </p:nvSpPr>
        <p:spPr>
          <a:xfrm>
            <a:off x="9494215" y="530352"/>
            <a:ext cx="2194560"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Poppins SemiBold"/>
              <a:buNone/>
            </a:pPr>
            <a:r>
              <a:rPr lang="en-US" sz="950">
                <a:solidFill>
                  <a:srgbClr val="FFFFFF"/>
                </a:solidFill>
                <a:latin typeface="Poppins SemiBold"/>
                <a:ea typeface="Poppins SemiBold"/>
                <a:cs typeface="Poppins SemiBold"/>
                <a:sym typeface="Poppins SemiBold"/>
              </a:rPr>
              <a:t>STRAIGHT TALK</a:t>
            </a:r>
            <a:endParaRPr sz="950">
              <a:solidFill>
                <a:schemeClr val="dk1"/>
              </a:solidFill>
              <a:latin typeface="Calibri"/>
              <a:ea typeface="Calibri"/>
              <a:cs typeface="Calibri"/>
              <a:sym typeface="Calibri"/>
            </a:endParaRPr>
          </a:p>
        </p:txBody>
      </p:sp>
      <p:sp>
        <p:nvSpPr>
          <p:cNvPr id="116" name="Google Shape;116;p6"/>
          <p:cNvSpPr/>
          <p:nvPr/>
        </p:nvSpPr>
        <p:spPr>
          <a:xfrm>
            <a:off x="502920" y="1810512"/>
            <a:ext cx="107899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6F"/>
              </a:buClr>
              <a:buSzPts val="1300"/>
              <a:buFont typeface="Poppins"/>
              <a:buNone/>
            </a:pPr>
            <a:r>
              <a:rPr lang="en-US" sz="1300">
                <a:solidFill>
                  <a:srgbClr val="5A6A6F"/>
                </a:solidFill>
                <a:latin typeface="Poppins"/>
                <a:ea typeface="Poppins"/>
                <a:cs typeface="Poppins"/>
                <a:sym typeface="Poppins"/>
              </a:rPr>
              <a:t>You've passed Year 1. Year 2 isn't more of the same — it asks more of you. Straight talk on what changes.</a:t>
            </a:r>
            <a:endParaRPr sz="1300">
              <a:solidFill>
                <a:schemeClr val="dk1"/>
              </a:solidFill>
              <a:latin typeface="Calibri"/>
              <a:ea typeface="Calibri"/>
              <a:cs typeface="Calibri"/>
              <a:sym typeface="Calibri"/>
            </a:endParaRPr>
          </a:p>
        </p:txBody>
      </p:sp>
      <p:sp>
        <p:nvSpPr>
          <p:cNvPr id="117" name="Google Shape;117;p6"/>
          <p:cNvSpPr/>
          <p:nvPr/>
        </p:nvSpPr>
        <p:spPr>
          <a:xfrm>
            <a:off x="502920" y="2377440"/>
            <a:ext cx="3630168" cy="2423160"/>
          </a:xfrm>
          <a:prstGeom prst="roundRect">
            <a:avLst>
              <a:gd fmla="val 3774" name="adj"/>
            </a:avLst>
          </a:prstGeom>
          <a:solidFill>
            <a:srgbClr val="FFFFFF"/>
          </a:solidFill>
          <a:ln cap="flat" cmpd="sng" w="12700">
            <a:solidFill>
              <a:srgbClr val="D2DBDA"/>
            </a:solidFill>
            <a:prstDash val="solid"/>
            <a:round/>
            <a:headEnd len="sm" w="sm" type="none"/>
            <a:tailEnd len="sm" w="sm" type="none"/>
          </a:ln>
          <a:effectLst>
            <a:outerShdw blurRad="88900" rotWithShape="0" algn="bl" dir="8100000" dist="25400">
              <a:srgbClr val="0D2434">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8" name="Google Shape;118;p6"/>
          <p:cNvSpPr/>
          <p:nvPr/>
        </p:nvSpPr>
        <p:spPr>
          <a:xfrm>
            <a:off x="777240" y="2651760"/>
            <a:ext cx="841248" cy="841248"/>
          </a:xfrm>
          <a:prstGeom prst="ellipse">
            <a:avLst/>
          </a:prstGeom>
          <a:solidFill>
            <a:srgbClr val="EFF7F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19" name="Google Shape;119;p6"/>
          <p:cNvPicPr preferRelativeResize="0"/>
          <p:nvPr/>
        </p:nvPicPr>
        <p:blipFill rotWithShape="1">
          <a:blip r:embed="rId3">
            <a:alphaModFix/>
          </a:blip>
          <a:srcRect b="0" l="0" r="0" t="0"/>
          <a:stretch/>
        </p:blipFill>
        <p:spPr>
          <a:xfrm>
            <a:off x="950976" y="2825496"/>
            <a:ext cx="493776" cy="493776"/>
          </a:xfrm>
          <a:prstGeom prst="rect">
            <a:avLst/>
          </a:prstGeom>
          <a:noFill/>
          <a:ln>
            <a:noFill/>
          </a:ln>
        </p:spPr>
      </p:pic>
      <p:sp>
        <p:nvSpPr>
          <p:cNvPr id="120" name="Google Shape;120;p6"/>
          <p:cNvSpPr/>
          <p:nvPr/>
        </p:nvSpPr>
        <p:spPr>
          <a:xfrm>
            <a:off x="777240" y="3621024"/>
            <a:ext cx="3081528"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1400"/>
              <a:buFont typeface="Poppins SemiBold"/>
              <a:buNone/>
            </a:pPr>
            <a:r>
              <a:rPr lang="en-US" sz="1400">
                <a:solidFill>
                  <a:srgbClr val="0D2434"/>
                </a:solidFill>
                <a:latin typeface="Poppins SemiBold"/>
                <a:ea typeface="Poppins SemiBold"/>
                <a:cs typeface="Poppins SemiBold"/>
                <a:sym typeface="Poppins SemiBold"/>
              </a:rPr>
              <a:t>Grades carry weight</a:t>
            </a:r>
            <a:endParaRPr sz="1400">
              <a:solidFill>
                <a:schemeClr val="dk1"/>
              </a:solidFill>
              <a:latin typeface="Calibri"/>
              <a:ea typeface="Calibri"/>
              <a:cs typeface="Calibri"/>
              <a:sym typeface="Calibri"/>
            </a:endParaRPr>
          </a:p>
        </p:txBody>
      </p:sp>
      <p:sp>
        <p:nvSpPr>
          <p:cNvPr id="121" name="Google Shape;121;p6"/>
          <p:cNvSpPr/>
          <p:nvPr/>
        </p:nvSpPr>
        <p:spPr>
          <a:xfrm>
            <a:off x="777240" y="4023360"/>
            <a:ext cx="3099816" cy="713232"/>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5A6A6F"/>
              </a:buClr>
              <a:buSzPts val="1000"/>
              <a:buFont typeface="Poppins"/>
              <a:buNone/>
            </a:pPr>
            <a:r>
              <a:rPr lang="en-US" sz="1000">
                <a:solidFill>
                  <a:srgbClr val="5A6A6F"/>
                </a:solidFill>
                <a:latin typeface="Poppins"/>
                <a:ea typeface="Poppins"/>
                <a:cs typeface="Poppins"/>
                <a:sym typeface="Poppins"/>
              </a:rPr>
              <a:t>This year's results are the ones employers, training providers and universities actually see.</a:t>
            </a:r>
            <a:endParaRPr sz="1000">
              <a:solidFill>
                <a:schemeClr val="dk1"/>
              </a:solidFill>
              <a:latin typeface="Calibri"/>
              <a:ea typeface="Calibri"/>
              <a:cs typeface="Calibri"/>
              <a:sym typeface="Calibri"/>
            </a:endParaRPr>
          </a:p>
        </p:txBody>
      </p:sp>
      <p:sp>
        <p:nvSpPr>
          <p:cNvPr id="122" name="Google Shape;122;p6"/>
          <p:cNvSpPr/>
          <p:nvPr/>
        </p:nvSpPr>
        <p:spPr>
          <a:xfrm>
            <a:off x="4297680" y="2377440"/>
            <a:ext cx="3630168" cy="2423160"/>
          </a:xfrm>
          <a:prstGeom prst="roundRect">
            <a:avLst>
              <a:gd fmla="val 3774" name="adj"/>
            </a:avLst>
          </a:prstGeom>
          <a:solidFill>
            <a:srgbClr val="FFFFFF"/>
          </a:solidFill>
          <a:ln cap="flat" cmpd="sng" w="12700">
            <a:solidFill>
              <a:srgbClr val="D2DBDA"/>
            </a:solidFill>
            <a:prstDash val="solid"/>
            <a:round/>
            <a:headEnd len="sm" w="sm" type="none"/>
            <a:tailEnd len="sm" w="sm" type="none"/>
          </a:ln>
          <a:effectLst>
            <a:outerShdw blurRad="88900" rotWithShape="0" algn="bl" dir="8100000" dist="25400">
              <a:srgbClr val="0D2434">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3" name="Google Shape;123;p6"/>
          <p:cNvSpPr/>
          <p:nvPr/>
        </p:nvSpPr>
        <p:spPr>
          <a:xfrm>
            <a:off x="4572000" y="2651760"/>
            <a:ext cx="841248" cy="841248"/>
          </a:xfrm>
          <a:prstGeom prst="ellipse">
            <a:avLst/>
          </a:prstGeom>
          <a:solidFill>
            <a:srgbClr val="EFF7F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24" name="Google Shape;124;p6"/>
          <p:cNvPicPr preferRelativeResize="0"/>
          <p:nvPr/>
        </p:nvPicPr>
        <p:blipFill rotWithShape="1">
          <a:blip r:embed="rId4">
            <a:alphaModFix/>
          </a:blip>
          <a:srcRect b="0" l="0" r="0" t="0"/>
          <a:stretch/>
        </p:blipFill>
        <p:spPr>
          <a:xfrm>
            <a:off x="4745736" y="2825496"/>
            <a:ext cx="493776" cy="493776"/>
          </a:xfrm>
          <a:prstGeom prst="rect">
            <a:avLst/>
          </a:prstGeom>
          <a:noFill/>
          <a:ln>
            <a:noFill/>
          </a:ln>
        </p:spPr>
      </p:pic>
      <p:sp>
        <p:nvSpPr>
          <p:cNvPr id="125" name="Google Shape;125;p6"/>
          <p:cNvSpPr/>
          <p:nvPr/>
        </p:nvSpPr>
        <p:spPr>
          <a:xfrm>
            <a:off x="4572000" y="3621024"/>
            <a:ext cx="3081528"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1400"/>
              <a:buFont typeface="Poppins SemiBold"/>
              <a:buNone/>
            </a:pPr>
            <a:r>
              <a:rPr lang="en-US" sz="1400">
                <a:solidFill>
                  <a:srgbClr val="0D2434"/>
                </a:solidFill>
                <a:latin typeface="Poppins SemiBold"/>
                <a:ea typeface="Poppins SemiBold"/>
                <a:cs typeface="Poppins SemiBold"/>
                <a:sym typeface="Poppins SemiBold"/>
              </a:rPr>
              <a:t>Deadlines stack up</a:t>
            </a:r>
            <a:endParaRPr sz="1400">
              <a:solidFill>
                <a:schemeClr val="dk1"/>
              </a:solidFill>
              <a:latin typeface="Calibri"/>
              <a:ea typeface="Calibri"/>
              <a:cs typeface="Calibri"/>
              <a:sym typeface="Calibri"/>
            </a:endParaRPr>
          </a:p>
        </p:txBody>
      </p:sp>
      <p:sp>
        <p:nvSpPr>
          <p:cNvPr id="126" name="Google Shape;126;p6"/>
          <p:cNvSpPr/>
          <p:nvPr/>
        </p:nvSpPr>
        <p:spPr>
          <a:xfrm>
            <a:off x="4572000" y="4023360"/>
            <a:ext cx="3099816" cy="713232"/>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5A6A6F"/>
              </a:buClr>
              <a:buSzPts val="1000"/>
              <a:buFont typeface="Poppins"/>
              <a:buNone/>
            </a:pPr>
            <a:r>
              <a:rPr lang="en-US" sz="1000">
                <a:solidFill>
                  <a:srgbClr val="5A6A6F"/>
                </a:solidFill>
                <a:latin typeface="Poppins"/>
                <a:ea typeface="Poppins"/>
                <a:cs typeface="Poppins"/>
                <a:sym typeface="Poppins"/>
              </a:rPr>
              <a:t>Coursework, your Final Major Project or Extended Diploma units, placement hours, and applications — all run at once. Drift is the real enemy.</a:t>
            </a:r>
            <a:endParaRPr sz="1000">
              <a:solidFill>
                <a:schemeClr val="dk1"/>
              </a:solidFill>
              <a:latin typeface="Calibri"/>
              <a:ea typeface="Calibri"/>
              <a:cs typeface="Calibri"/>
              <a:sym typeface="Calibri"/>
            </a:endParaRPr>
          </a:p>
        </p:txBody>
      </p:sp>
      <p:sp>
        <p:nvSpPr>
          <p:cNvPr id="127" name="Google Shape;127;p6"/>
          <p:cNvSpPr/>
          <p:nvPr/>
        </p:nvSpPr>
        <p:spPr>
          <a:xfrm>
            <a:off x="8092440" y="2377440"/>
            <a:ext cx="3630168" cy="2423160"/>
          </a:xfrm>
          <a:prstGeom prst="roundRect">
            <a:avLst>
              <a:gd fmla="val 3774" name="adj"/>
            </a:avLst>
          </a:prstGeom>
          <a:solidFill>
            <a:srgbClr val="FFFFFF"/>
          </a:solidFill>
          <a:ln cap="flat" cmpd="sng" w="12700">
            <a:solidFill>
              <a:srgbClr val="D2DBDA"/>
            </a:solidFill>
            <a:prstDash val="solid"/>
            <a:round/>
            <a:headEnd len="sm" w="sm" type="none"/>
            <a:tailEnd len="sm" w="sm" type="none"/>
          </a:ln>
          <a:effectLst>
            <a:outerShdw blurRad="88900" rotWithShape="0" algn="bl" dir="8100000" dist="25400">
              <a:srgbClr val="0D2434">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8" name="Google Shape;128;p6"/>
          <p:cNvSpPr/>
          <p:nvPr/>
        </p:nvSpPr>
        <p:spPr>
          <a:xfrm>
            <a:off x="8366760" y="2651760"/>
            <a:ext cx="841248" cy="841248"/>
          </a:xfrm>
          <a:prstGeom prst="ellipse">
            <a:avLst/>
          </a:prstGeom>
          <a:solidFill>
            <a:srgbClr val="EFF7F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29" name="Google Shape;129;p6"/>
          <p:cNvPicPr preferRelativeResize="0"/>
          <p:nvPr/>
        </p:nvPicPr>
        <p:blipFill rotWithShape="1">
          <a:blip r:embed="rId5">
            <a:alphaModFix/>
          </a:blip>
          <a:srcRect b="0" l="0" r="0" t="0"/>
          <a:stretch/>
        </p:blipFill>
        <p:spPr>
          <a:xfrm>
            <a:off x="8540496" y="2825496"/>
            <a:ext cx="493776" cy="493776"/>
          </a:xfrm>
          <a:prstGeom prst="rect">
            <a:avLst/>
          </a:prstGeom>
          <a:noFill/>
          <a:ln>
            <a:noFill/>
          </a:ln>
        </p:spPr>
      </p:pic>
      <p:sp>
        <p:nvSpPr>
          <p:cNvPr id="130" name="Google Shape;130;p6"/>
          <p:cNvSpPr/>
          <p:nvPr/>
        </p:nvSpPr>
        <p:spPr>
          <a:xfrm>
            <a:off x="8366760" y="3621024"/>
            <a:ext cx="3081528"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1400"/>
              <a:buFont typeface="Poppins SemiBold"/>
              <a:buNone/>
            </a:pPr>
            <a:r>
              <a:rPr lang="en-US" sz="1400">
                <a:solidFill>
                  <a:srgbClr val="0D2434"/>
                </a:solidFill>
                <a:latin typeface="Poppins SemiBold"/>
                <a:ea typeface="Poppins SemiBold"/>
                <a:cs typeface="Poppins SemiBold"/>
                <a:sym typeface="Poppins SemiBold"/>
              </a:rPr>
              <a:t>More on you</a:t>
            </a:r>
            <a:endParaRPr sz="1400">
              <a:solidFill>
                <a:schemeClr val="dk1"/>
              </a:solidFill>
              <a:latin typeface="Calibri"/>
              <a:ea typeface="Calibri"/>
              <a:cs typeface="Calibri"/>
              <a:sym typeface="Calibri"/>
            </a:endParaRPr>
          </a:p>
        </p:txBody>
      </p:sp>
      <p:sp>
        <p:nvSpPr>
          <p:cNvPr id="131" name="Google Shape;131;p6"/>
          <p:cNvSpPr/>
          <p:nvPr/>
        </p:nvSpPr>
        <p:spPr>
          <a:xfrm>
            <a:off x="8366760" y="4023360"/>
            <a:ext cx="3099816" cy="713232"/>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5A6A6F"/>
              </a:buClr>
              <a:buSzPts val="1000"/>
              <a:buFont typeface="Poppins"/>
              <a:buNone/>
            </a:pPr>
            <a:r>
              <a:rPr lang="en-US" sz="1000">
                <a:solidFill>
                  <a:srgbClr val="5A6A6F"/>
                </a:solidFill>
                <a:latin typeface="Poppins"/>
                <a:ea typeface="Poppins"/>
                <a:cs typeface="Poppins"/>
                <a:sym typeface="Poppins"/>
              </a:rPr>
              <a:t>Less chasing from us, more independence from you. That's deliberate — it's what next year looks like.</a:t>
            </a:r>
            <a:endParaRPr sz="1000">
              <a:solidFill>
                <a:schemeClr val="dk1"/>
              </a:solidFill>
              <a:latin typeface="Calibri"/>
              <a:ea typeface="Calibri"/>
              <a:cs typeface="Calibri"/>
              <a:sym typeface="Calibri"/>
            </a:endParaRPr>
          </a:p>
        </p:txBody>
      </p:sp>
      <p:sp>
        <p:nvSpPr>
          <p:cNvPr id="132" name="Google Shape;132;p6"/>
          <p:cNvSpPr/>
          <p:nvPr/>
        </p:nvSpPr>
        <p:spPr>
          <a:xfrm>
            <a:off x="502920" y="5001768"/>
            <a:ext cx="11183112" cy="822960"/>
          </a:xfrm>
          <a:prstGeom prst="roundRect">
            <a:avLst>
              <a:gd fmla="val 10000" name="adj"/>
            </a:avLst>
          </a:prstGeom>
          <a:solidFill>
            <a:srgbClr val="F8E7E3"/>
          </a:solidFill>
          <a:ln cap="flat" cmpd="sng" w="12700">
            <a:solidFill>
              <a:srgbClr val="B23A2E"/>
            </a:solidFill>
            <a:prstDash val="dash"/>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33" name="Google Shape;133;p6"/>
          <p:cNvPicPr preferRelativeResize="0"/>
          <p:nvPr/>
        </p:nvPicPr>
        <p:blipFill rotWithShape="1">
          <a:blip r:embed="rId6">
            <a:alphaModFix/>
          </a:blip>
          <a:srcRect b="0" l="0" r="0" t="0"/>
          <a:stretch/>
        </p:blipFill>
        <p:spPr>
          <a:xfrm>
            <a:off x="676656" y="5166360"/>
            <a:ext cx="246888" cy="246888"/>
          </a:xfrm>
          <a:prstGeom prst="rect">
            <a:avLst/>
          </a:prstGeom>
          <a:noFill/>
          <a:ln>
            <a:noFill/>
          </a:ln>
        </p:spPr>
      </p:pic>
      <p:sp>
        <p:nvSpPr>
          <p:cNvPr id="134" name="Google Shape;134;p6"/>
          <p:cNvSpPr/>
          <p:nvPr/>
        </p:nvSpPr>
        <p:spPr>
          <a:xfrm>
            <a:off x="996696" y="5129784"/>
            <a:ext cx="10524744"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23A2E"/>
              </a:buClr>
              <a:buSzPts val="1050"/>
              <a:buFont typeface="Poppins SemiBold"/>
              <a:buNone/>
            </a:pPr>
            <a:r>
              <a:rPr lang="en-US" sz="1050">
                <a:solidFill>
                  <a:srgbClr val="B23A2E"/>
                </a:solidFill>
                <a:latin typeface="Poppins SemiBold"/>
                <a:ea typeface="Poppins SemiBold"/>
                <a:cs typeface="Poppins SemiBold"/>
                <a:sym typeface="Poppins SemiBold"/>
              </a:rPr>
              <a:t>ESCG TO CONFIRM</a:t>
            </a:r>
            <a:endParaRPr sz="1050">
              <a:solidFill>
                <a:schemeClr val="dk1"/>
              </a:solidFill>
              <a:latin typeface="Calibri"/>
              <a:ea typeface="Calibri"/>
              <a:cs typeface="Calibri"/>
              <a:sym typeface="Calibri"/>
            </a:endParaRPr>
          </a:p>
        </p:txBody>
      </p:sp>
      <p:sp>
        <p:nvSpPr>
          <p:cNvPr id="135" name="Google Shape;135;p6"/>
          <p:cNvSpPr/>
          <p:nvPr/>
        </p:nvSpPr>
        <p:spPr>
          <a:xfrm>
            <a:off x="996696" y="5404104"/>
            <a:ext cx="10469880" cy="292608"/>
          </a:xfrm>
          <a:prstGeom prst="rect">
            <a:avLst/>
          </a:prstGeom>
          <a:noFill/>
          <a:ln>
            <a:noFill/>
          </a:ln>
        </p:spPr>
        <p:txBody>
          <a:bodyPr anchorCtr="0" anchor="t" bIns="0" lIns="0" spcFirstLastPara="1" rIns="0" wrap="square" tIns="0">
            <a:noAutofit/>
          </a:bodyPr>
          <a:lstStyle/>
          <a:p>
            <a:pPr indent="0" lvl="0" marL="0" marR="0" rtl="0" algn="l">
              <a:lnSpc>
                <a:spcPct val="134020"/>
              </a:lnSpc>
              <a:spcBef>
                <a:spcPts val="0"/>
              </a:spcBef>
              <a:spcAft>
                <a:spcPts val="0"/>
              </a:spcAft>
              <a:buClr>
                <a:srgbClr val="1B2A30"/>
              </a:buClr>
              <a:buSzPts val="970"/>
              <a:buFont typeface="Poppins"/>
              <a:buNone/>
            </a:pPr>
            <a:r>
              <a:rPr lang="en-US" sz="970">
                <a:solidFill>
                  <a:srgbClr val="1B2A30"/>
                </a:solidFill>
                <a:latin typeface="Poppins"/>
                <a:ea typeface="Poppins"/>
                <a:cs typeface="Poppins"/>
                <a:sym typeface="Poppins"/>
              </a:rPr>
              <a:t>Add the specifics for THIS course: key Year 2 assessment dates, the Final Major Project or Extended Diploma deadline, placement window (especially T Level students with 315 hours), and any progression-application deadlines. For Content Creation and Creative Digital students: state the external moderation date now.</a:t>
            </a:r>
            <a:endParaRPr sz="970">
              <a:solidFill>
                <a:schemeClr val="dk1"/>
              </a:solidFill>
              <a:latin typeface="Calibri"/>
              <a:ea typeface="Calibri"/>
              <a:cs typeface="Calibri"/>
              <a:sym typeface="Calibri"/>
            </a:endParaRPr>
          </a:p>
        </p:txBody>
      </p:sp>
      <p:sp>
        <p:nvSpPr>
          <p:cNvPr id="136" name="Google Shape;136;p6"/>
          <p:cNvSpPr/>
          <p:nvPr/>
        </p:nvSpPr>
        <p:spPr>
          <a:xfrm>
            <a:off x="502920" y="6437376"/>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1A4"/>
              </a:buClr>
              <a:buSzPts val="850"/>
              <a:buFont typeface="Poppins"/>
              <a:buNone/>
            </a:pPr>
            <a:r>
              <a:rPr lang="en-US" sz="850">
                <a:solidFill>
                  <a:srgbClr val="94A1A4"/>
                </a:solidFill>
                <a:latin typeface="Poppins"/>
                <a:ea typeface="Poppins"/>
                <a:cs typeface="Poppins"/>
                <a:sym typeface="Poppins"/>
              </a:rPr>
              <a:t>ESCG Student Induction 2026–27</a:t>
            </a:r>
            <a:r>
              <a:rPr lang="en-US" sz="850">
                <a:solidFill>
                  <a:srgbClr val="D2DBDA"/>
                </a:solidFill>
                <a:latin typeface="Poppins"/>
                <a:ea typeface="Poppins"/>
                <a:cs typeface="Poppins"/>
                <a:sym typeface="Poppins"/>
              </a:rPr>
              <a:t>   ·   </a:t>
            </a:r>
            <a:r>
              <a:rPr lang="en-US" sz="850">
                <a:solidFill>
                  <a:srgbClr val="94A1A4"/>
                </a:solidFill>
                <a:latin typeface="Poppins"/>
                <a:ea typeface="Poppins"/>
                <a:cs typeface="Poppins"/>
                <a:sym typeface="Poppins"/>
              </a:rPr>
              <a:t>Module A — Welcome Back</a:t>
            </a:r>
            <a:endParaRPr sz="850">
              <a:solidFill>
                <a:schemeClr val="dk1"/>
              </a:solidFill>
              <a:latin typeface="Calibri"/>
              <a:ea typeface="Calibri"/>
              <a:cs typeface="Calibri"/>
              <a:sym typeface="Calibri"/>
            </a:endParaRPr>
          </a:p>
        </p:txBody>
      </p:sp>
      <p:sp>
        <p:nvSpPr>
          <p:cNvPr id="137" name="Google Shape;137;p6"/>
          <p:cNvSpPr/>
          <p:nvPr/>
        </p:nvSpPr>
        <p:spPr>
          <a:xfrm>
            <a:off x="9494215" y="6400800"/>
            <a:ext cx="2194560" cy="292608"/>
          </a:xfrm>
          <a:prstGeom prst="roundRect">
            <a:avLst>
              <a:gd fmla="val 50000" name="adj"/>
            </a:avLst>
          </a:prstGeom>
          <a:solidFill>
            <a:srgbClr val="E2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8" name="Google Shape;138;p6"/>
          <p:cNvSpPr/>
          <p:nvPr/>
        </p:nvSpPr>
        <p:spPr>
          <a:xfrm>
            <a:off x="9494215" y="6400800"/>
            <a:ext cx="2194560" cy="292608"/>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F7A54"/>
              </a:buClr>
              <a:buSzPts val="700"/>
              <a:buFont typeface="Poppins SemiBold"/>
              <a:buNone/>
            </a:pPr>
            <a:r>
              <a:rPr lang="en-US" sz="700">
                <a:solidFill>
                  <a:srgbClr val="0F7A54"/>
                </a:solidFill>
                <a:latin typeface="Poppins SemiBold"/>
                <a:ea typeface="Poppins SemiBold"/>
                <a:cs typeface="Poppins SemiBold"/>
                <a:sym typeface="Poppins SemiBold"/>
              </a:rPr>
              <a:t>L3/ T- Level  · YEAR 2 · FINAL YEAR</a:t>
            </a:r>
            <a:endParaRPr sz="700">
              <a:solidFill>
                <a:schemeClr val="dk1"/>
              </a:solidFill>
              <a:latin typeface="Calibri"/>
              <a:ea typeface="Calibri"/>
              <a:cs typeface="Calibri"/>
              <a:sym typeface="Calibri"/>
            </a:endParaRPr>
          </a:p>
        </p:txBody>
      </p:sp>
      <p:sp>
        <p:nvSpPr>
          <p:cNvPr id="139" name="Google Shape;139;p6"/>
          <p:cNvSpPr/>
          <p:nvPr/>
        </p:nvSpPr>
        <p:spPr>
          <a:xfrm>
            <a:off x="11734495" y="6400800"/>
            <a:ext cx="3657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1A4"/>
              </a:buClr>
              <a:buSzPts val="900"/>
              <a:buFont typeface="Poppins SemiBold"/>
              <a:buNone/>
            </a:pPr>
            <a:r>
              <a:rPr lang="en-US" sz="900">
                <a:solidFill>
                  <a:srgbClr val="94A1A4"/>
                </a:solidFill>
                <a:latin typeface="Poppins SemiBold"/>
                <a:ea typeface="Poppins SemiBold"/>
                <a:cs typeface="Poppins SemiBold"/>
                <a:sym typeface="Poppins SemiBold"/>
              </a:rPr>
              <a:t>4</a:t>
            </a:r>
            <a:endParaRPr sz="9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7A54"/>
        </a:solidFill>
      </p:bgPr>
    </p:bg>
    <p:spTree>
      <p:nvGrpSpPr>
        <p:cNvPr id="144" name="Shape 144"/>
        <p:cNvGrpSpPr/>
        <p:nvPr/>
      </p:nvGrpSpPr>
      <p:grpSpPr>
        <a:xfrm>
          <a:off x="0" y="0"/>
          <a:ext cx="0" cy="0"/>
          <a:chOff x="0" y="0"/>
          <a:chExt cx="0" cy="0"/>
        </a:xfrm>
      </p:grpSpPr>
      <p:sp>
        <p:nvSpPr>
          <p:cNvPr id="145" name="Google Shape;145;p7"/>
          <p:cNvSpPr/>
          <p:nvPr/>
        </p:nvSpPr>
        <p:spPr>
          <a:xfrm>
            <a:off x="9494215" y="530352"/>
            <a:ext cx="2194560" cy="420624"/>
          </a:xfrm>
          <a:prstGeom prst="roundRect">
            <a:avLst>
              <a:gd fmla="val 50000" name="adj"/>
            </a:avLst>
          </a:prstGeom>
          <a:solidFill>
            <a:srgbClr val="0F7A54"/>
          </a:solidFill>
          <a:ln>
            <a:noFill/>
          </a:ln>
          <a:effectLst>
            <a:outerShdw blurRad="88900" rotWithShape="0" algn="bl" dir="8100000" dist="25400">
              <a:srgbClr val="0D2434">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6" name="Google Shape;146;p7"/>
          <p:cNvSpPr/>
          <p:nvPr/>
        </p:nvSpPr>
        <p:spPr>
          <a:xfrm>
            <a:off x="9494215" y="530352"/>
            <a:ext cx="2194560"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Poppins SemiBold"/>
              <a:buNone/>
            </a:pPr>
            <a:r>
              <a:rPr lang="en-US" sz="950">
                <a:solidFill>
                  <a:srgbClr val="FFFFFF"/>
                </a:solidFill>
                <a:latin typeface="Poppins SemiBold"/>
                <a:ea typeface="Poppins SemiBold"/>
                <a:cs typeface="Poppins SemiBold"/>
                <a:sym typeface="Poppins SemiBold"/>
              </a:rPr>
              <a:t>DISCUSS</a:t>
            </a:r>
            <a:endParaRPr sz="950">
              <a:solidFill>
                <a:schemeClr val="dk1"/>
              </a:solidFill>
              <a:latin typeface="Calibri"/>
              <a:ea typeface="Calibri"/>
              <a:cs typeface="Calibri"/>
              <a:sym typeface="Calibri"/>
            </a:endParaRPr>
          </a:p>
        </p:txBody>
      </p:sp>
      <p:sp>
        <p:nvSpPr>
          <p:cNvPr id="147" name="Google Shape;147;p7"/>
          <p:cNvSpPr/>
          <p:nvPr/>
        </p:nvSpPr>
        <p:spPr>
          <a:xfrm>
            <a:off x="502920" y="576072"/>
            <a:ext cx="219456" cy="219456"/>
          </a:xfrm>
          <a:prstGeom prst="rect">
            <a:avLst/>
          </a:prstGeom>
          <a:solidFill>
            <a:srgbClr val="FFCF0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8" name="Google Shape;148;p7"/>
          <p:cNvSpPr/>
          <p:nvPr/>
        </p:nvSpPr>
        <p:spPr>
          <a:xfrm>
            <a:off x="850392" y="512064"/>
            <a:ext cx="548640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CF01"/>
              </a:buClr>
              <a:buSzPts val="1150"/>
              <a:buFont typeface="Poppins SemiBold"/>
              <a:buNone/>
            </a:pPr>
            <a:r>
              <a:rPr lang="en-US" sz="1150">
                <a:solidFill>
                  <a:srgbClr val="FFCF01"/>
                </a:solidFill>
                <a:latin typeface="Poppins SemiBold"/>
                <a:ea typeface="Poppins SemiBold"/>
                <a:cs typeface="Poppins SemiBold"/>
                <a:sym typeface="Poppins SemiBold"/>
              </a:rPr>
              <a:t>DISCUSS</a:t>
            </a:r>
            <a:endParaRPr sz="1150">
              <a:solidFill>
                <a:schemeClr val="dk1"/>
              </a:solidFill>
              <a:latin typeface="Calibri"/>
              <a:ea typeface="Calibri"/>
              <a:cs typeface="Calibri"/>
              <a:sym typeface="Calibri"/>
            </a:endParaRPr>
          </a:p>
        </p:txBody>
      </p:sp>
      <p:sp>
        <p:nvSpPr>
          <p:cNvPr id="149" name="Google Shape;149;p7"/>
          <p:cNvSpPr/>
          <p:nvPr/>
        </p:nvSpPr>
        <p:spPr>
          <a:xfrm>
            <a:off x="475488" y="841248"/>
            <a:ext cx="1051560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200"/>
              <a:buFont typeface="Poppins SemiBold"/>
              <a:buNone/>
            </a:pPr>
            <a:r>
              <a:rPr lang="en-US" sz="3200">
                <a:solidFill>
                  <a:srgbClr val="FFFFFF"/>
                </a:solidFill>
                <a:latin typeface="Poppins SemiBold"/>
                <a:ea typeface="Poppins SemiBold"/>
                <a:cs typeface="Poppins SemiBold"/>
                <a:sym typeface="Poppins SemiBold"/>
              </a:rPr>
              <a:t>Don't fumble the last lap</a:t>
            </a:r>
            <a:endParaRPr sz="3200">
              <a:solidFill>
                <a:schemeClr val="dk1"/>
              </a:solidFill>
              <a:latin typeface="Calibri"/>
              <a:ea typeface="Calibri"/>
              <a:cs typeface="Calibri"/>
              <a:sym typeface="Calibri"/>
            </a:endParaRPr>
          </a:p>
        </p:txBody>
      </p:sp>
      <p:sp>
        <p:nvSpPr>
          <p:cNvPr id="150" name="Google Shape;150;p7"/>
          <p:cNvSpPr/>
          <p:nvPr/>
        </p:nvSpPr>
        <p:spPr>
          <a:xfrm>
            <a:off x="502920" y="1828800"/>
            <a:ext cx="5989320" cy="3017520"/>
          </a:xfrm>
          <a:prstGeom prst="roundRect">
            <a:avLst>
              <a:gd fmla="val 3636" name="adj"/>
            </a:avLst>
          </a:prstGeom>
          <a:solidFill>
            <a:srgbClr val="FFFFFF"/>
          </a:solidFill>
          <a:ln>
            <a:noFill/>
          </a:ln>
          <a:effectLst>
            <a:outerShdw blurRad="88900" rotWithShape="0" algn="bl" dir="8100000" dist="25400">
              <a:srgbClr val="0D2434">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1" name="Google Shape;151;p7"/>
          <p:cNvSpPr/>
          <p:nvPr/>
        </p:nvSpPr>
        <p:spPr>
          <a:xfrm>
            <a:off x="795528" y="2066544"/>
            <a:ext cx="540410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7A54"/>
              </a:buClr>
              <a:buSzPts val="1000"/>
              <a:buFont typeface="Poppins SemiBold"/>
              <a:buNone/>
            </a:pPr>
            <a:r>
              <a:rPr lang="en-US" sz="1000">
                <a:solidFill>
                  <a:srgbClr val="0F7A54"/>
                </a:solidFill>
                <a:latin typeface="Poppins SemiBold"/>
                <a:ea typeface="Poppins SemiBold"/>
                <a:cs typeface="Poppins SemiBold"/>
                <a:sym typeface="Poppins SemiBold"/>
              </a:rPr>
              <a:t>THE HONEST BIT</a:t>
            </a:r>
            <a:endParaRPr sz="1000">
              <a:solidFill>
                <a:schemeClr val="dk1"/>
              </a:solidFill>
              <a:latin typeface="Calibri"/>
              <a:ea typeface="Calibri"/>
              <a:cs typeface="Calibri"/>
              <a:sym typeface="Calibri"/>
            </a:endParaRPr>
          </a:p>
        </p:txBody>
      </p:sp>
      <p:sp>
        <p:nvSpPr>
          <p:cNvPr id="152" name="Google Shape;152;p7"/>
          <p:cNvSpPr/>
          <p:nvPr/>
        </p:nvSpPr>
        <p:spPr>
          <a:xfrm>
            <a:off x="795528" y="2377440"/>
            <a:ext cx="5404104" cy="2331720"/>
          </a:xfrm>
          <a:prstGeom prst="rect">
            <a:avLst/>
          </a:prstGeom>
          <a:noFill/>
          <a:ln>
            <a:noFill/>
          </a:ln>
        </p:spPr>
        <p:txBody>
          <a:bodyPr anchorCtr="0" anchor="ctr" bIns="0" lIns="0" spcFirstLastPara="1" rIns="0" wrap="square" tIns="0">
            <a:noAutofit/>
          </a:bodyPr>
          <a:lstStyle/>
          <a:p>
            <a:pPr indent="0" lvl="0" marL="0" marR="0" rtl="0" algn="l">
              <a:lnSpc>
                <a:spcPct val="134782"/>
              </a:lnSpc>
              <a:spcBef>
                <a:spcPts val="0"/>
              </a:spcBef>
              <a:spcAft>
                <a:spcPts val="0"/>
              </a:spcAft>
              <a:buClr>
                <a:srgbClr val="1B2A30"/>
              </a:buClr>
              <a:buSzPts val="1150"/>
              <a:buFont typeface="Poppins"/>
              <a:buNone/>
            </a:pPr>
            <a:r>
              <a:rPr lang="en-US" sz="1150">
                <a:solidFill>
                  <a:srgbClr val="1B2A30"/>
                </a:solidFill>
                <a:latin typeface="Poppins"/>
                <a:ea typeface="Poppins"/>
                <a:cs typeface="Poppins"/>
                <a:sym typeface="Poppins"/>
              </a:rPr>
              <a:t>Most students who don't get the result they're capable of in Year 2 weren't not clever enough. They drifted. A missed deadline here, a few skipped days there, the application left too late.</a:t>
            </a:r>
            <a:endParaRPr sz="1150">
              <a:solidFill>
                <a:schemeClr val="dk1"/>
              </a:solidFill>
              <a:latin typeface="Calibri"/>
              <a:ea typeface="Calibri"/>
              <a:cs typeface="Calibri"/>
              <a:sym typeface="Calibri"/>
            </a:endParaRPr>
          </a:p>
          <a:p>
            <a:pPr indent="0" lvl="0" marL="0" marR="0" rtl="0" algn="l">
              <a:lnSpc>
                <a:spcPct val="134782"/>
              </a:lnSpc>
              <a:spcBef>
                <a:spcPts val="0"/>
              </a:spcBef>
              <a:spcAft>
                <a:spcPts val="0"/>
              </a:spcAft>
              <a:buClr>
                <a:schemeClr val="dk1"/>
              </a:buClr>
              <a:buSzPts val="1150"/>
              <a:buFont typeface="Calibri"/>
              <a:buNone/>
            </a:pPr>
            <a:r>
              <a:t/>
            </a:r>
            <a:endParaRPr sz="1150">
              <a:solidFill>
                <a:schemeClr val="dk1"/>
              </a:solidFill>
              <a:latin typeface="Calibri"/>
              <a:ea typeface="Calibri"/>
              <a:cs typeface="Calibri"/>
              <a:sym typeface="Calibri"/>
            </a:endParaRPr>
          </a:p>
          <a:p>
            <a:pPr indent="0" lvl="0" marL="0" marR="0" rtl="0" algn="l">
              <a:lnSpc>
                <a:spcPct val="134782"/>
              </a:lnSpc>
              <a:spcBef>
                <a:spcPts val="0"/>
              </a:spcBef>
              <a:spcAft>
                <a:spcPts val="0"/>
              </a:spcAft>
              <a:buClr>
                <a:srgbClr val="1B2A30"/>
              </a:buClr>
              <a:buSzPts val="1150"/>
              <a:buFont typeface="Poppins"/>
              <a:buNone/>
            </a:pPr>
            <a:r>
              <a:rPr lang="en-US" sz="1150">
                <a:solidFill>
                  <a:srgbClr val="1B2A30"/>
                </a:solidFill>
                <a:latin typeface="Poppins"/>
                <a:ea typeface="Poppins"/>
                <a:cs typeface="Poppins"/>
                <a:sym typeface="Poppins"/>
              </a:rPr>
              <a:t>You've already done the hard part — you got here, and you passed Year 1. The last lap is the one that decides what it was all for. Run it properly.</a:t>
            </a:r>
            <a:endParaRPr sz="1150">
              <a:solidFill>
                <a:schemeClr val="dk1"/>
              </a:solidFill>
              <a:latin typeface="Calibri"/>
              <a:ea typeface="Calibri"/>
              <a:cs typeface="Calibri"/>
              <a:sym typeface="Calibri"/>
            </a:endParaRPr>
          </a:p>
        </p:txBody>
      </p:sp>
      <p:sp>
        <p:nvSpPr>
          <p:cNvPr id="153" name="Google Shape;153;p7"/>
          <p:cNvSpPr/>
          <p:nvPr/>
        </p:nvSpPr>
        <p:spPr>
          <a:xfrm>
            <a:off x="6766560" y="1828800"/>
            <a:ext cx="4919472" cy="3017520"/>
          </a:xfrm>
          <a:prstGeom prst="roundRect">
            <a:avLst>
              <a:gd fmla="val 3636" name="adj"/>
            </a:avLst>
          </a:prstGeom>
          <a:solidFill>
            <a:srgbClr val="FFCF01"/>
          </a:solidFill>
          <a:ln>
            <a:noFill/>
          </a:ln>
          <a:effectLst>
            <a:outerShdw blurRad="88900" rotWithShape="0" algn="bl" dir="8100000" dist="25400">
              <a:srgbClr val="0D2434">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54" name="Google Shape;154;p7"/>
          <p:cNvPicPr preferRelativeResize="0"/>
          <p:nvPr/>
        </p:nvPicPr>
        <p:blipFill rotWithShape="1">
          <a:blip r:embed="rId3">
            <a:alphaModFix/>
          </a:blip>
          <a:srcRect b="0" l="0" r="0" t="0"/>
          <a:stretch/>
        </p:blipFill>
        <p:spPr>
          <a:xfrm>
            <a:off x="7059168" y="2103120"/>
            <a:ext cx="457200" cy="457200"/>
          </a:xfrm>
          <a:prstGeom prst="rect">
            <a:avLst/>
          </a:prstGeom>
          <a:noFill/>
          <a:ln>
            <a:noFill/>
          </a:ln>
        </p:spPr>
      </p:pic>
      <p:sp>
        <p:nvSpPr>
          <p:cNvPr id="155" name="Google Shape;155;p7"/>
          <p:cNvSpPr/>
          <p:nvPr/>
        </p:nvSpPr>
        <p:spPr>
          <a:xfrm>
            <a:off x="7059168" y="2615184"/>
            <a:ext cx="4334256"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1600"/>
              <a:buFont typeface="Poppins SemiBold"/>
              <a:buNone/>
            </a:pPr>
            <a:r>
              <a:rPr lang="en-US" sz="1600">
                <a:solidFill>
                  <a:srgbClr val="0D2434"/>
                </a:solidFill>
                <a:latin typeface="Poppins SemiBold"/>
                <a:ea typeface="Poppins SemiBold"/>
                <a:cs typeface="Poppins SemiBold"/>
                <a:sym typeface="Poppins SemiBold"/>
              </a:rPr>
              <a:t>Talk it through</a:t>
            </a:r>
            <a:endParaRPr sz="1600">
              <a:solidFill>
                <a:schemeClr val="dk1"/>
              </a:solidFill>
              <a:latin typeface="Calibri"/>
              <a:ea typeface="Calibri"/>
              <a:cs typeface="Calibri"/>
              <a:sym typeface="Calibri"/>
            </a:endParaRPr>
          </a:p>
        </p:txBody>
      </p:sp>
      <p:sp>
        <p:nvSpPr>
          <p:cNvPr id="156" name="Google Shape;156;p7"/>
          <p:cNvSpPr/>
          <p:nvPr/>
        </p:nvSpPr>
        <p:spPr>
          <a:xfrm>
            <a:off x="7059168" y="3063240"/>
            <a:ext cx="4334256" cy="1691640"/>
          </a:xfrm>
          <a:prstGeom prst="rect">
            <a:avLst/>
          </a:prstGeom>
          <a:noFill/>
          <a:ln>
            <a:noFill/>
          </a:ln>
        </p:spPr>
        <p:txBody>
          <a:bodyPr anchorCtr="0" anchor="ctr" bIns="0" lIns="0" spcFirstLastPara="1" rIns="0" wrap="square" tIns="0">
            <a:noAutofit/>
          </a:bodyPr>
          <a:lstStyle/>
          <a:p>
            <a:pPr indent="0" lvl="0" marL="0" marR="0" rtl="0" algn="l">
              <a:lnSpc>
                <a:spcPct val="139130"/>
              </a:lnSpc>
              <a:spcBef>
                <a:spcPts val="0"/>
              </a:spcBef>
              <a:spcAft>
                <a:spcPts val="0"/>
              </a:spcAft>
              <a:buClr>
                <a:srgbClr val="0D2434"/>
              </a:buClr>
              <a:buSzPts val="1150"/>
              <a:buFont typeface="Poppins"/>
              <a:buNone/>
            </a:pPr>
            <a:r>
              <a:rPr lang="en-US" sz="1150">
                <a:solidFill>
                  <a:srgbClr val="0D2434"/>
                </a:solidFill>
                <a:latin typeface="Poppins"/>
                <a:ea typeface="Poppins"/>
                <a:cs typeface="Poppins"/>
                <a:sym typeface="Poppins"/>
              </a:rPr>
              <a:t>In your group:</a:t>
            </a:r>
            <a:endParaRPr sz="1150">
              <a:solidFill>
                <a:schemeClr val="dk1"/>
              </a:solidFill>
              <a:latin typeface="Calibri"/>
              <a:ea typeface="Calibri"/>
              <a:cs typeface="Calibri"/>
              <a:sym typeface="Calibri"/>
            </a:endParaRPr>
          </a:p>
          <a:p>
            <a:pPr indent="0" lvl="0" marL="0" marR="0" rtl="0" algn="l">
              <a:lnSpc>
                <a:spcPct val="139130"/>
              </a:lnSpc>
              <a:spcBef>
                <a:spcPts val="0"/>
              </a:spcBef>
              <a:spcAft>
                <a:spcPts val="0"/>
              </a:spcAft>
              <a:buClr>
                <a:schemeClr val="dk1"/>
              </a:buClr>
              <a:buSzPts val="1150"/>
              <a:buFont typeface="Calibri"/>
              <a:buNone/>
            </a:pPr>
            <a:r>
              <a:t/>
            </a:r>
            <a:endParaRPr sz="1150">
              <a:solidFill>
                <a:schemeClr val="dk1"/>
              </a:solidFill>
              <a:latin typeface="Calibri"/>
              <a:ea typeface="Calibri"/>
              <a:cs typeface="Calibri"/>
              <a:sym typeface="Calibri"/>
            </a:endParaRPr>
          </a:p>
          <a:p>
            <a:pPr indent="0" lvl="0" marL="0" marR="0" rtl="0" algn="l">
              <a:lnSpc>
                <a:spcPct val="139130"/>
              </a:lnSpc>
              <a:spcBef>
                <a:spcPts val="0"/>
              </a:spcBef>
              <a:spcAft>
                <a:spcPts val="0"/>
              </a:spcAft>
              <a:buClr>
                <a:srgbClr val="0D2434"/>
              </a:buClr>
              <a:buSzPts val="1150"/>
              <a:buFont typeface="Poppins"/>
              <a:buNone/>
            </a:pPr>
            <a:r>
              <a:rPr lang="en-US" sz="1150">
                <a:solidFill>
                  <a:srgbClr val="0D2434"/>
                </a:solidFill>
                <a:latin typeface="Poppins"/>
                <a:ea typeface="Poppins"/>
                <a:cs typeface="Poppins"/>
                <a:sym typeface="Poppins"/>
              </a:rPr>
              <a:t>1.  What's the thing most likely to knock YOU off course this year?</a:t>
            </a:r>
            <a:endParaRPr sz="1150">
              <a:solidFill>
                <a:schemeClr val="dk1"/>
              </a:solidFill>
              <a:latin typeface="Calibri"/>
              <a:ea typeface="Calibri"/>
              <a:cs typeface="Calibri"/>
              <a:sym typeface="Calibri"/>
            </a:endParaRPr>
          </a:p>
          <a:p>
            <a:pPr indent="0" lvl="0" marL="0" marR="0" rtl="0" algn="l">
              <a:lnSpc>
                <a:spcPct val="139130"/>
              </a:lnSpc>
              <a:spcBef>
                <a:spcPts val="0"/>
              </a:spcBef>
              <a:spcAft>
                <a:spcPts val="0"/>
              </a:spcAft>
              <a:buClr>
                <a:schemeClr val="dk1"/>
              </a:buClr>
              <a:buSzPts val="1150"/>
              <a:buFont typeface="Calibri"/>
              <a:buNone/>
            </a:pPr>
            <a:r>
              <a:t/>
            </a:r>
            <a:endParaRPr sz="1150">
              <a:solidFill>
                <a:schemeClr val="dk1"/>
              </a:solidFill>
              <a:latin typeface="Calibri"/>
              <a:ea typeface="Calibri"/>
              <a:cs typeface="Calibri"/>
              <a:sym typeface="Calibri"/>
            </a:endParaRPr>
          </a:p>
          <a:p>
            <a:pPr indent="0" lvl="0" marL="0" marR="0" rtl="0" algn="l">
              <a:lnSpc>
                <a:spcPct val="139130"/>
              </a:lnSpc>
              <a:spcBef>
                <a:spcPts val="0"/>
              </a:spcBef>
              <a:spcAft>
                <a:spcPts val="0"/>
              </a:spcAft>
              <a:buClr>
                <a:srgbClr val="0D2434"/>
              </a:buClr>
              <a:buSzPts val="1150"/>
              <a:buFont typeface="Poppins"/>
              <a:buNone/>
            </a:pPr>
            <a:r>
              <a:rPr lang="en-US" sz="1150">
                <a:solidFill>
                  <a:srgbClr val="0D2434"/>
                </a:solidFill>
                <a:latin typeface="Poppins"/>
                <a:ea typeface="Poppins"/>
                <a:cs typeface="Poppins"/>
                <a:sym typeface="Poppins"/>
              </a:rPr>
              <a:t>2.  What's one habit that would keep you on it?</a:t>
            </a:r>
            <a:endParaRPr sz="1150">
              <a:solidFill>
                <a:schemeClr val="dk1"/>
              </a:solidFill>
              <a:latin typeface="Calibri"/>
              <a:ea typeface="Calibri"/>
              <a:cs typeface="Calibri"/>
              <a:sym typeface="Calibri"/>
            </a:endParaRPr>
          </a:p>
        </p:txBody>
      </p:sp>
      <p:sp>
        <p:nvSpPr>
          <p:cNvPr id="157" name="Google Shape;157;p7"/>
          <p:cNvSpPr/>
          <p:nvPr/>
        </p:nvSpPr>
        <p:spPr>
          <a:xfrm>
            <a:off x="502920" y="6437376"/>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1A4"/>
              </a:buClr>
              <a:buSzPts val="850"/>
              <a:buFont typeface="Poppins"/>
              <a:buNone/>
            </a:pPr>
            <a:r>
              <a:rPr lang="en-US" sz="850">
                <a:solidFill>
                  <a:srgbClr val="94A1A4"/>
                </a:solidFill>
                <a:latin typeface="Poppins"/>
                <a:ea typeface="Poppins"/>
                <a:cs typeface="Poppins"/>
                <a:sym typeface="Poppins"/>
              </a:rPr>
              <a:t>ESCG Student Induction 2026–27</a:t>
            </a:r>
            <a:r>
              <a:rPr lang="en-US" sz="850">
                <a:solidFill>
                  <a:srgbClr val="D2DBDA"/>
                </a:solidFill>
                <a:latin typeface="Poppins"/>
                <a:ea typeface="Poppins"/>
                <a:cs typeface="Poppins"/>
                <a:sym typeface="Poppins"/>
              </a:rPr>
              <a:t>   ·   </a:t>
            </a:r>
            <a:r>
              <a:rPr lang="en-US" sz="850">
                <a:solidFill>
                  <a:srgbClr val="94A1A4"/>
                </a:solidFill>
                <a:latin typeface="Poppins"/>
                <a:ea typeface="Poppins"/>
                <a:cs typeface="Poppins"/>
                <a:sym typeface="Poppins"/>
              </a:rPr>
              <a:t>Module A — Welcome Back</a:t>
            </a:r>
            <a:endParaRPr sz="850">
              <a:solidFill>
                <a:schemeClr val="dk1"/>
              </a:solidFill>
              <a:latin typeface="Calibri"/>
              <a:ea typeface="Calibri"/>
              <a:cs typeface="Calibri"/>
              <a:sym typeface="Calibri"/>
            </a:endParaRPr>
          </a:p>
        </p:txBody>
      </p:sp>
      <p:sp>
        <p:nvSpPr>
          <p:cNvPr id="158" name="Google Shape;158;p7"/>
          <p:cNvSpPr/>
          <p:nvPr/>
        </p:nvSpPr>
        <p:spPr>
          <a:xfrm>
            <a:off x="9494215" y="6400800"/>
            <a:ext cx="2194560" cy="292608"/>
          </a:xfrm>
          <a:prstGeom prst="roundRect">
            <a:avLst>
              <a:gd fmla="val 50000" name="adj"/>
            </a:avLst>
          </a:prstGeom>
          <a:solidFill>
            <a:srgbClr val="E2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9" name="Google Shape;159;p7"/>
          <p:cNvSpPr/>
          <p:nvPr/>
        </p:nvSpPr>
        <p:spPr>
          <a:xfrm>
            <a:off x="9494215" y="6400800"/>
            <a:ext cx="2194560" cy="292608"/>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F7A54"/>
              </a:buClr>
              <a:buSzPts val="700"/>
              <a:buFont typeface="Poppins SemiBold"/>
              <a:buNone/>
            </a:pPr>
            <a:r>
              <a:rPr lang="en-US" sz="700">
                <a:solidFill>
                  <a:srgbClr val="0F7A54"/>
                </a:solidFill>
                <a:latin typeface="Poppins SemiBold"/>
                <a:ea typeface="Poppins SemiBold"/>
                <a:cs typeface="Poppins SemiBold"/>
                <a:sym typeface="Poppins SemiBold"/>
              </a:rPr>
              <a:t>L3/ T- Level  · YEAR 2 · FINAL YEAR</a:t>
            </a:r>
            <a:endParaRPr sz="700">
              <a:solidFill>
                <a:schemeClr val="dk1"/>
              </a:solidFill>
              <a:latin typeface="Calibri"/>
              <a:ea typeface="Calibri"/>
              <a:cs typeface="Calibri"/>
              <a:sym typeface="Calibri"/>
            </a:endParaRPr>
          </a:p>
        </p:txBody>
      </p:sp>
      <p:sp>
        <p:nvSpPr>
          <p:cNvPr id="160" name="Google Shape;160;p7"/>
          <p:cNvSpPr/>
          <p:nvPr/>
        </p:nvSpPr>
        <p:spPr>
          <a:xfrm>
            <a:off x="11734495" y="6400800"/>
            <a:ext cx="3657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1A4"/>
              </a:buClr>
              <a:buSzPts val="900"/>
              <a:buFont typeface="Poppins SemiBold"/>
              <a:buNone/>
            </a:pPr>
            <a:r>
              <a:rPr lang="en-US" sz="900">
                <a:solidFill>
                  <a:srgbClr val="94A1A4"/>
                </a:solidFill>
                <a:latin typeface="Poppins SemiBold"/>
                <a:ea typeface="Poppins SemiBold"/>
                <a:cs typeface="Poppins SemiBold"/>
                <a:sym typeface="Poppins SemiBold"/>
              </a:rPr>
              <a:t>5</a:t>
            </a:r>
            <a:endParaRPr sz="9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165" name="Shape 165"/>
        <p:cNvGrpSpPr/>
        <p:nvPr/>
      </p:nvGrpSpPr>
      <p:grpSpPr>
        <a:xfrm>
          <a:off x="0" y="0"/>
          <a:ext cx="0" cy="0"/>
          <a:chOff x="0" y="0"/>
          <a:chExt cx="0" cy="0"/>
        </a:xfrm>
      </p:grpSpPr>
      <p:sp>
        <p:nvSpPr>
          <p:cNvPr id="166" name="Google Shape;166;p8"/>
          <p:cNvSpPr/>
          <p:nvPr/>
        </p:nvSpPr>
        <p:spPr>
          <a:xfrm>
            <a:off x="502920" y="576072"/>
            <a:ext cx="219456" cy="219456"/>
          </a:xfrm>
          <a:prstGeom prst="rect">
            <a:avLst/>
          </a:prstGeom>
          <a:solidFill>
            <a:srgbClr val="FFCF0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7" name="Google Shape;167;p8"/>
          <p:cNvSpPr/>
          <p:nvPr/>
        </p:nvSpPr>
        <p:spPr>
          <a:xfrm>
            <a:off x="850392" y="512064"/>
            <a:ext cx="777240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7A54"/>
              </a:buClr>
              <a:buSzPts val="1150"/>
              <a:buFont typeface="Poppins SemiBold"/>
              <a:buNone/>
            </a:pPr>
            <a:r>
              <a:rPr lang="en-US" sz="1150">
                <a:solidFill>
                  <a:srgbClr val="0F7A54"/>
                </a:solidFill>
                <a:latin typeface="Poppins SemiBold"/>
                <a:ea typeface="Poppins SemiBold"/>
                <a:cs typeface="Poppins SemiBold"/>
                <a:sym typeface="Poppins SemiBold"/>
              </a:rPr>
              <a:t>GETTING ORGANISED</a:t>
            </a:r>
            <a:endParaRPr sz="1150">
              <a:solidFill>
                <a:schemeClr val="dk1"/>
              </a:solidFill>
              <a:latin typeface="Calibri"/>
              <a:ea typeface="Calibri"/>
              <a:cs typeface="Calibri"/>
              <a:sym typeface="Calibri"/>
            </a:endParaRPr>
          </a:p>
        </p:txBody>
      </p:sp>
      <p:sp>
        <p:nvSpPr>
          <p:cNvPr id="168" name="Google Shape;168;p8"/>
          <p:cNvSpPr/>
          <p:nvPr/>
        </p:nvSpPr>
        <p:spPr>
          <a:xfrm>
            <a:off x="475488" y="841248"/>
            <a:ext cx="10424160" cy="8412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D2434"/>
              </a:buClr>
              <a:buSzPts val="3200"/>
              <a:buFont typeface="Poppins SemiBold"/>
              <a:buNone/>
            </a:pPr>
            <a:r>
              <a:rPr lang="en-US" sz="3200">
                <a:solidFill>
                  <a:srgbClr val="0D2434"/>
                </a:solidFill>
                <a:latin typeface="Poppins SemiBold"/>
                <a:ea typeface="Poppins SemiBold"/>
                <a:cs typeface="Poppins SemiBold"/>
                <a:sym typeface="Poppins SemiBold"/>
              </a:rPr>
              <a:t>Your tools — a quick refresher</a:t>
            </a:r>
            <a:endParaRPr sz="3200">
              <a:solidFill>
                <a:schemeClr val="dk1"/>
              </a:solidFill>
              <a:latin typeface="Calibri"/>
              <a:ea typeface="Calibri"/>
              <a:cs typeface="Calibri"/>
              <a:sym typeface="Calibri"/>
            </a:endParaRPr>
          </a:p>
        </p:txBody>
      </p:sp>
      <p:sp>
        <p:nvSpPr>
          <p:cNvPr id="169" name="Google Shape;169;p8"/>
          <p:cNvSpPr/>
          <p:nvPr/>
        </p:nvSpPr>
        <p:spPr>
          <a:xfrm>
            <a:off x="9494215" y="530352"/>
            <a:ext cx="2194560" cy="420624"/>
          </a:xfrm>
          <a:prstGeom prst="roundRect">
            <a:avLst>
              <a:gd fmla="val 50000" name="adj"/>
            </a:avLst>
          </a:prstGeom>
          <a:solidFill>
            <a:srgbClr val="0D2434"/>
          </a:solidFill>
          <a:ln>
            <a:noFill/>
          </a:ln>
          <a:effectLst>
            <a:outerShdw blurRad="88900" rotWithShape="0" algn="bl" dir="8100000" dist="25400">
              <a:srgbClr val="0D2434">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0" name="Google Shape;170;p8"/>
          <p:cNvSpPr/>
          <p:nvPr/>
        </p:nvSpPr>
        <p:spPr>
          <a:xfrm>
            <a:off x="9494215" y="530352"/>
            <a:ext cx="2194560"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Poppins SemiBold"/>
              <a:buNone/>
            </a:pPr>
            <a:r>
              <a:rPr lang="en-US" sz="950">
                <a:solidFill>
                  <a:srgbClr val="FFFFFF"/>
                </a:solidFill>
                <a:latin typeface="Poppins SemiBold"/>
                <a:ea typeface="Poppins SemiBold"/>
                <a:cs typeface="Poppins SemiBold"/>
                <a:sym typeface="Poppins SemiBold"/>
              </a:rPr>
              <a:t>STRAIGHT TALK</a:t>
            </a:r>
            <a:endParaRPr sz="950">
              <a:solidFill>
                <a:schemeClr val="dk1"/>
              </a:solidFill>
              <a:latin typeface="Calibri"/>
              <a:ea typeface="Calibri"/>
              <a:cs typeface="Calibri"/>
              <a:sym typeface="Calibri"/>
            </a:endParaRPr>
          </a:p>
        </p:txBody>
      </p:sp>
      <p:sp>
        <p:nvSpPr>
          <p:cNvPr id="171" name="Google Shape;171;p8"/>
          <p:cNvSpPr/>
          <p:nvPr/>
        </p:nvSpPr>
        <p:spPr>
          <a:xfrm>
            <a:off x="502920" y="1810512"/>
            <a:ext cx="108813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6F"/>
              </a:buClr>
              <a:buSzPts val="1300"/>
              <a:buFont typeface="Poppins"/>
              <a:buNone/>
            </a:pPr>
            <a:r>
              <a:rPr lang="en-US" sz="1300">
                <a:solidFill>
                  <a:srgbClr val="5A6A6F"/>
                </a:solidFill>
                <a:latin typeface="Poppins"/>
                <a:ea typeface="Poppins"/>
                <a:cs typeface="Poppins"/>
                <a:sym typeface="Poppins"/>
              </a:rPr>
              <a:t>You know these already. Quick refresh — because in a deadline-heavy year, organised is everything.</a:t>
            </a:r>
            <a:endParaRPr sz="1300">
              <a:solidFill>
                <a:schemeClr val="dk1"/>
              </a:solidFill>
              <a:latin typeface="Calibri"/>
              <a:ea typeface="Calibri"/>
              <a:cs typeface="Calibri"/>
              <a:sym typeface="Calibri"/>
            </a:endParaRPr>
          </a:p>
        </p:txBody>
      </p:sp>
      <p:sp>
        <p:nvSpPr>
          <p:cNvPr id="172" name="Google Shape;172;p8"/>
          <p:cNvSpPr/>
          <p:nvPr/>
        </p:nvSpPr>
        <p:spPr>
          <a:xfrm>
            <a:off x="502920" y="2377440"/>
            <a:ext cx="3630168" cy="1828800"/>
          </a:xfrm>
          <a:prstGeom prst="roundRect">
            <a:avLst>
              <a:gd fmla="val 5000" name="adj"/>
            </a:avLst>
          </a:prstGeom>
          <a:solidFill>
            <a:srgbClr val="FFFFFF"/>
          </a:solidFill>
          <a:ln cap="flat" cmpd="sng" w="12700">
            <a:solidFill>
              <a:srgbClr val="D2DBDA"/>
            </a:solidFill>
            <a:prstDash val="solid"/>
            <a:round/>
            <a:headEnd len="sm" w="sm" type="none"/>
            <a:tailEnd len="sm" w="sm" type="none"/>
          </a:ln>
          <a:effectLst>
            <a:outerShdw blurRad="88900" rotWithShape="0" algn="bl" dir="8100000" dist="25400">
              <a:srgbClr val="0D2434">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3" name="Google Shape;173;p8"/>
          <p:cNvSpPr/>
          <p:nvPr/>
        </p:nvSpPr>
        <p:spPr>
          <a:xfrm>
            <a:off x="502920" y="2377440"/>
            <a:ext cx="3630168" cy="73152"/>
          </a:xfrm>
          <a:prstGeom prst="rect">
            <a:avLst/>
          </a:prstGeom>
          <a:solidFill>
            <a:srgbClr val="0F7A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74" name="Google Shape;174;p8"/>
          <p:cNvPicPr preferRelativeResize="0"/>
          <p:nvPr/>
        </p:nvPicPr>
        <p:blipFill rotWithShape="1">
          <a:blip r:embed="rId3">
            <a:alphaModFix/>
          </a:blip>
          <a:srcRect b="0" l="0" r="0" t="0"/>
          <a:stretch/>
        </p:blipFill>
        <p:spPr>
          <a:xfrm>
            <a:off x="758952" y="2633472"/>
            <a:ext cx="420624" cy="420624"/>
          </a:xfrm>
          <a:prstGeom prst="rect">
            <a:avLst/>
          </a:prstGeom>
          <a:noFill/>
          <a:ln>
            <a:noFill/>
          </a:ln>
        </p:spPr>
      </p:pic>
      <p:sp>
        <p:nvSpPr>
          <p:cNvPr id="175" name="Google Shape;175;p8"/>
          <p:cNvSpPr/>
          <p:nvPr/>
        </p:nvSpPr>
        <p:spPr>
          <a:xfrm>
            <a:off x="758952" y="3127248"/>
            <a:ext cx="3118104"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1300"/>
              <a:buFont typeface="Poppins SemiBold"/>
              <a:buNone/>
            </a:pPr>
            <a:r>
              <a:rPr lang="en-US" sz="1300">
                <a:solidFill>
                  <a:srgbClr val="0D2434"/>
                </a:solidFill>
                <a:latin typeface="Poppins SemiBold"/>
                <a:ea typeface="Poppins SemiBold"/>
                <a:cs typeface="Poppins SemiBold"/>
                <a:sym typeface="Poppins SemiBold"/>
              </a:rPr>
              <a:t>Pro Portal</a:t>
            </a:r>
            <a:endParaRPr sz="1300">
              <a:solidFill>
                <a:schemeClr val="dk1"/>
              </a:solidFill>
              <a:latin typeface="Calibri"/>
              <a:ea typeface="Calibri"/>
              <a:cs typeface="Calibri"/>
              <a:sym typeface="Calibri"/>
            </a:endParaRPr>
          </a:p>
        </p:txBody>
      </p:sp>
      <p:sp>
        <p:nvSpPr>
          <p:cNvPr id="176" name="Google Shape;176;p8"/>
          <p:cNvSpPr/>
          <p:nvPr/>
        </p:nvSpPr>
        <p:spPr>
          <a:xfrm>
            <a:off x="758952" y="3474720"/>
            <a:ext cx="3136392" cy="658368"/>
          </a:xfrm>
          <a:prstGeom prst="rect">
            <a:avLst/>
          </a:prstGeom>
          <a:noFill/>
          <a:ln>
            <a:noFill/>
          </a:ln>
        </p:spPr>
        <p:txBody>
          <a:bodyPr anchorCtr="0" anchor="ctr" bIns="0" lIns="0" spcFirstLastPara="1" rIns="0" wrap="square" tIns="0">
            <a:noAutofit/>
          </a:bodyPr>
          <a:lstStyle/>
          <a:p>
            <a:pPr indent="0" lvl="0" marL="0" marR="0" rtl="0" algn="l">
              <a:lnSpc>
                <a:spcPct val="128865"/>
              </a:lnSpc>
              <a:spcBef>
                <a:spcPts val="0"/>
              </a:spcBef>
              <a:spcAft>
                <a:spcPts val="0"/>
              </a:spcAft>
              <a:buClr>
                <a:srgbClr val="5A6A6F"/>
              </a:buClr>
              <a:buSzPts val="970"/>
              <a:buFont typeface="Poppins"/>
              <a:buNone/>
            </a:pPr>
            <a:r>
              <a:rPr lang="en-US" sz="970">
                <a:solidFill>
                  <a:srgbClr val="5A6A6F"/>
                </a:solidFill>
                <a:latin typeface="Poppins"/>
                <a:ea typeface="Poppins"/>
                <a:cs typeface="Poppins"/>
                <a:sym typeface="Poppins"/>
              </a:rPr>
              <a:t>Timetable, rooms, messages. Check it every morning — no excuses in Year 2.</a:t>
            </a:r>
            <a:endParaRPr sz="970">
              <a:solidFill>
                <a:schemeClr val="dk1"/>
              </a:solidFill>
              <a:latin typeface="Calibri"/>
              <a:ea typeface="Calibri"/>
              <a:cs typeface="Calibri"/>
              <a:sym typeface="Calibri"/>
            </a:endParaRPr>
          </a:p>
        </p:txBody>
      </p:sp>
      <p:sp>
        <p:nvSpPr>
          <p:cNvPr id="177" name="Google Shape;177;p8"/>
          <p:cNvSpPr/>
          <p:nvPr/>
        </p:nvSpPr>
        <p:spPr>
          <a:xfrm>
            <a:off x="4297680" y="2377440"/>
            <a:ext cx="3630168" cy="1828800"/>
          </a:xfrm>
          <a:prstGeom prst="roundRect">
            <a:avLst>
              <a:gd fmla="val 5000" name="adj"/>
            </a:avLst>
          </a:prstGeom>
          <a:solidFill>
            <a:srgbClr val="FFFFFF"/>
          </a:solidFill>
          <a:ln cap="flat" cmpd="sng" w="12700">
            <a:solidFill>
              <a:srgbClr val="D2DBDA"/>
            </a:solidFill>
            <a:prstDash val="solid"/>
            <a:round/>
            <a:headEnd len="sm" w="sm" type="none"/>
            <a:tailEnd len="sm" w="sm" type="none"/>
          </a:ln>
          <a:effectLst>
            <a:outerShdw blurRad="88900" rotWithShape="0" algn="bl" dir="8100000" dist="25400">
              <a:srgbClr val="0D2434">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8" name="Google Shape;178;p8"/>
          <p:cNvSpPr/>
          <p:nvPr/>
        </p:nvSpPr>
        <p:spPr>
          <a:xfrm>
            <a:off x="4297680" y="2377440"/>
            <a:ext cx="3630168" cy="73152"/>
          </a:xfrm>
          <a:prstGeom prst="rect">
            <a:avLst/>
          </a:prstGeom>
          <a:solidFill>
            <a:srgbClr val="0F7A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79" name="Google Shape;179;p8"/>
          <p:cNvPicPr preferRelativeResize="0"/>
          <p:nvPr/>
        </p:nvPicPr>
        <p:blipFill rotWithShape="1">
          <a:blip r:embed="rId4">
            <a:alphaModFix/>
          </a:blip>
          <a:srcRect b="0" l="0" r="0" t="0"/>
          <a:stretch/>
        </p:blipFill>
        <p:spPr>
          <a:xfrm>
            <a:off x="4553712" y="2633472"/>
            <a:ext cx="420624" cy="420624"/>
          </a:xfrm>
          <a:prstGeom prst="rect">
            <a:avLst/>
          </a:prstGeom>
          <a:noFill/>
          <a:ln>
            <a:noFill/>
          </a:ln>
        </p:spPr>
      </p:pic>
      <p:sp>
        <p:nvSpPr>
          <p:cNvPr id="180" name="Google Shape;180;p8"/>
          <p:cNvSpPr/>
          <p:nvPr/>
        </p:nvSpPr>
        <p:spPr>
          <a:xfrm>
            <a:off x="4553712" y="3127248"/>
            <a:ext cx="3118104"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1300"/>
              <a:buFont typeface="Poppins SemiBold"/>
              <a:buNone/>
            </a:pPr>
            <a:r>
              <a:rPr lang="en-US" sz="1300">
                <a:solidFill>
                  <a:srgbClr val="0D2434"/>
                </a:solidFill>
                <a:latin typeface="Poppins SemiBold"/>
                <a:ea typeface="Poppins SemiBold"/>
                <a:cs typeface="Poppins SemiBold"/>
                <a:sym typeface="Poppins SemiBold"/>
              </a:rPr>
              <a:t>Your deadlines</a:t>
            </a:r>
            <a:endParaRPr sz="1300">
              <a:solidFill>
                <a:schemeClr val="dk1"/>
              </a:solidFill>
              <a:latin typeface="Calibri"/>
              <a:ea typeface="Calibri"/>
              <a:cs typeface="Calibri"/>
              <a:sym typeface="Calibri"/>
            </a:endParaRPr>
          </a:p>
        </p:txBody>
      </p:sp>
      <p:sp>
        <p:nvSpPr>
          <p:cNvPr id="181" name="Google Shape;181;p8"/>
          <p:cNvSpPr/>
          <p:nvPr/>
        </p:nvSpPr>
        <p:spPr>
          <a:xfrm>
            <a:off x="4553712" y="3474720"/>
            <a:ext cx="3136392" cy="658368"/>
          </a:xfrm>
          <a:prstGeom prst="rect">
            <a:avLst/>
          </a:prstGeom>
          <a:noFill/>
          <a:ln>
            <a:noFill/>
          </a:ln>
        </p:spPr>
        <p:txBody>
          <a:bodyPr anchorCtr="0" anchor="ctr" bIns="0" lIns="0" spcFirstLastPara="1" rIns="0" wrap="square" tIns="0">
            <a:noAutofit/>
          </a:bodyPr>
          <a:lstStyle/>
          <a:p>
            <a:pPr indent="0" lvl="0" marL="0" marR="0" rtl="0" algn="l">
              <a:lnSpc>
                <a:spcPct val="128865"/>
              </a:lnSpc>
              <a:spcBef>
                <a:spcPts val="0"/>
              </a:spcBef>
              <a:spcAft>
                <a:spcPts val="0"/>
              </a:spcAft>
              <a:buClr>
                <a:srgbClr val="5A6A6F"/>
              </a:buClr>
              <a:buSzPts val="970"/>
              <a:buFont typeface="Poppins"/>
              <a:buNone/>
            </a:pPr>
            <a:r>
              <a:rPr lang="en-US" sz="970">
                <a:solidFill>
                  <a:srgbClr val="5A6A6F"/>
                </a:solidFill>
                <a:latin typeface="Poppins"/>
                <a:ea typeface="Poppins"/>
                <a:cs typeface="Poppins"/>
                <a:sym typeface="Poppins"/>
              </a:rPr>
              <a:t>Get every assessment and application date into one place you'll actually look at.</a:t>
            </a:r>
            <a:endParaRPr sz="970">
              <a:solidFill>
                <a:schemeClr val="dk1"/>
              </a:solidFill>
              <a:latin typeface="Calibri"/>
              <a:ea typeface="Calibri"/>
              <a:cs typeface="Calibri"/>
              <a:sym typeface="Calibri"/>
            </a:endParaRPr>
          </a:p>
        </p:txBody>
      </p:sp>
      <p:sp>
        <p:nvSpPr>
          <p:cNvPr id="182" name="Google Shape;182;p8"/>
          <p:cNvSpPr/>
          <p:nvPr/>
        </p:nvSpPr>
        <p:spPr>
          <a:xfrm>
            <a:off x="8092440" y="2377440"/>
            <a:ext cx="3630168" cy="1828800"/>
          </a:xfrm>
          <a:prstGeom prst="roundRect">
            <a:avLst>
              <a:gd fmla="val 5000" name="adj"/>
            </a:avLst>
          </a:prstGeom>
          <a:solidFill>
            <a:srgbClr val="FFFFFF"/>
          </a:solidFill>
          <a:ln cap="flat" cmpd="sng" w="12700">
            <a:solidFill>
              <a:srgbClr val="D2DBDA"/>
            </a:solidFill>
            <a:prstDash val="solid"/>
            <a:round/>
            <a:headEnd len="sm" w="sm" type="none"/>
            <a:tailEnd len="sm" w="sm" type="none"/>
          </a:ln>
          <a:effectLst>
            <a:outerShdw blurRad="88900" rotWithShape="0" algn="bl" dir="8100000" dist="25400">
              <a:srgbClr val="0D2434">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3" name="Google Shape;183;p8"/>
          <p:cNvSpPr/>
          <p:nvPr/>
        </p:nvSpPr>
        <p:spPr>
          <a:xfrm>
            <a:off x="8092440" y="2377440"/>
            <a:ext cx="3630168" cy="73152"/>
          </a:xfrm>
          <a:prstGeom prst="rect">
            <a:avLst/>
          </a:prstGeom>
          <a:solidFill>
            <a:srgbClr val="0F7A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84" name="Google Shape;184;p8"/>
          <p:cNvPicPr preferRelativeResize="0"/>
          <p:nvPr/>
        </p:nvPicPr>
        <p:blipFill rotWithShape="1">
          <a:blip r:embed="rId5">
            <a:alphaModFix/>
          </a:blip>
          <a:srcRect b="0" l="0" r="0" t="0"/>
          <a:stretch/>
        </p:blipFill>
        <p:spPr>
          <a:xfrm>
            <a:off x="8348472" y="2633472"/>
            <a:ext cx="420624" cy="420624"/>
          </a:xfrm>
          <a:prstGeom prst="rect">
            <a:avLst/>
          </a:prstGeom>
          <a:noFill/>
          <a:ln>
            <a:noFill/>
          </a:ln>
        </p:spPr>
      </p:pic>
      <p:sp>
        <p:nvSpPr>
          <p:cNvPr id="185" name="Google Shape;185;p8"/>
          <p:cNvSpPr/>
          <p:nvPr/>
        </p:nvSpPr>
        <p:spPr>
          <a:xfrm>
            <a:off x="8348472" y="3127248"/>
            <a:ext cx="3118104"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1300"/>
              <a:buFont typeface="Poppins SemiBold"/>
              <a:buNone/>
            </a:pPr>
            <a:r>
              <a:rPr lang="en-US" sz="1300">
                <a:solidFill>
                  <a:srgbClr val="0D2434"/>
                </a:solidFill>
                <a:latin typeface="Poppins SemiBold"/>
                <a:ea typeface="Poppins SemiBold"/>
                <a:cs typeface="Poppins SemiBold"/>
                <a:sym typeface="Poppins SemiBold"/>
              </a:rPr>
              <a:t>Track your progress</a:t>
            </a:r>
            <a:endParaRPr sz="1300">
              <a:solidFill>
                <a:schemeClr val="dk1"/>
              </a:solidFill>
              <a:latin typeface="Calibri"/>
              <a:ea typeface="Calibri"/>
              <a:cs typeface="Calibri"/>
              <a:sym typeface="Calibri"/>
            </a:endParaRPr>
          </a:p>
        </p:txBody>
      </p:sp>
      <p:sp>
        <p:nvSpPr>
          <p:cNvPr id="186" name="Google Shape;186;p8"/>
          <p:cNvSpPr/>
          <p:nvPr/>
        </p:nvSpPr>
        <p:spPr>
          <a:xfrm>
            <a:off x="8348472" y="3474720"/>
            <a:ext cx="3136392" cy="658368"/>
          </a:xfrm>
          <a:prstGeom prst="rect">
            <a:avLst/>
          </a:prstGeom>
          <a:noFill/>
          <a:ln>
            <a:noFill/>
          </a:ln>
        </p:spPr>
        <p:txBody>
          <a:bodyPr anchorCtr="0" anchor="ctr" bIns="0" lIns="0" spcFirstLastPara="1" rIns="0" wrap="square" tIns="0">
            <a:noAutofit/>
          </a:bodyPr>
          <a:lstStyle/>
          <a:p>
            <a:pPr indent="0" lvl="0" marL="0" marR="0" rtl="0" algn="l">
              <a:lnSpc>
                <a:spcPct val="128865"/>
              </a:lnSpc>
              <a:spcBef>
                <a:spcPts val="0"/>
              </a:spcBef>
              <a:spcAft>
                <a:spcPts val="0"/>
              </a:spcAft>
              <a:buClr>
                <a:srgbClr val="5A6A6F"/>
              </a:buClr>
              <a:buSzPts val="970"/>
              <a:buFont typeface="Poppins"/>
              <a:buNone/>
            </a:pPr>
            <a:r>
              <a:rPr lang="en-US" sz="970">
                <a:solidFill>
                  <a:srgbClr val="5A6A6F"/>
                </a:solidFill>
                <a:latin typeface="Poppins"/>
                <a:ea typeface="Poppins"/>
                <a:cs typeface="Poppins"/>
                <a:sym typeface="Poppins"/>
              </a:rPr>
              <a:t>Keep an eye on attendance and grades. Catch a slip early, not in March.</a:t>
            </a:r>
            <a:endParaRPr sz="970">
              <a:solidFill>
                <a:schemeClr val="dk1"/>
              </a:solidFill>
              <a:latin typeface="Calibri"/>
              <a:ea typeface="Calibri"/>
              <a:cs typeface="Calibri"/>
              <a:sym typeface="Calibri"/>
            </a:endParaRPr>
          </a:p>
        </p:txBody>
      </p:sp>
      <p:sp>
        <p:nvSpPr>
          <p:cNvPr id="187" name="Google Shape;187;p8"/>
          <p:cNvSpPr/>
          <p:nvPr/>
        </p:nvSpPr>
        <p:spPr>
          <a:xfrm>
            <a:off x="502920" y="4407408"/>
            <a:ext cx="11183112" cy="960120"/>
          </a:xfrm>
          <a:prstGeom prst="roundRect">
            <a:avLst>
              <a:gd fmla="val 8571" name="adj"/>
            </a:avLst>
          </a:prstGeom>
          <a:solidFill>
            <a:srgbClr val="F8E7E3"/>
          </a:solidFill>
          <a:ln cap="flat" cmpd="sng" w="12700">
            <a:solidFill>
              <a:srgbClr val="B23A2E"/>
            </a:solidFill>
            <a:prstDash val="dash"/>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88" name="Google Shape;188;p8"/>
          <p:cNvPicPr preferRelativeResize="0"/>
          <p:nvPr/>
        </p:nvPicPr>
        <p:blipFill rotWithShape="1">
          <a:blip r:embed="rId6">
            <a:alphaModFix/>
          </a:blip>
          <a:srcRect b="0" l="0" r="0" t="0"/>
          <a:stretch/>
        </p:blipFill>
        <p:spPr>
          <a:xfrm>
            <a:off x="676656" y="4572000"/>
            <a:ext cx="246888" cy="246888"/>
          </a:xfrm>
          <a:prstGeom prst="rect">
            <a:avLst/>
          </a:prstGeom>
          <a:noFill/>
          <a:ln>
            <a:noFill/>
          </a:ln>
        </p:spPr>
      </p:pic>
      <p:sp>
        <p:nvSpPr>
          <p:cNvPr id="189" name="Google Shape;189;p8"/>
          <p:cNvSpPr/>
          <p:nvPr/>
        </p:nvSpPr>
        <p:spPr>
          <a:xfrm>
            <a:off x="996696" y="4535424"/>
            <a:ext cx="10524744"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23A2E"/>
              </a:buClr>
              <a:buSzPts val="1050"/>
              <a:buFont typeface="Poppins SemiBold"/>
              <a:buNone/>
            </a:pPr>
            <a:r>
              <a:rPr lang="en-US" sz="1050">
                <a:solidFill>
                  <a:srgbClr val="B23A2E"/>
                </a:solidFill>
                <a:latin typeface="Poppins SemiBold"/>
                <a:ea typeface="Poppins SemiBold"/>
                <a:cs typeface="Poppins SemiBold"/>
                <a:sym typeface="Poppins SemiBold"/>
              </a:rPr>
              <a:t>ESCG TO CONFIRM</a:t>
            </a:r>
            <a:endParaRPr sz="1050">
              <a:solidFill>
                <a:schemeClr val="dk1"/>
              </a:solidFill>
              <a:latin typeface="Calibri"/>
              <a:ea typeface="Calibri"/>
              <a:cs typeface="Calibri"/>
              <a:sym typeface="Calibri"/>
            </a:endParaRPr>
          </a:p>
        </p:txBody>
      </p:sp>
      <p:sp>
        <p:nvSpPr>
          <p:cNvPr id="190" name="Google Shape;190;p8"/>
          <p:cNvSpPr/>
          <p:nvPr/>
        </p:nvSpPr>
        <p:spPr>
          <a:xfrm>
            <a:off x="996696" y="4809744"/>
            <a:ext cx="10469880" cy="429768"/>
          </a:xfrm>
          <a:prstGeom prst="rect">
            <a:avLst/>
          </a:prstGeom>
          <a:noFill/>
          <a:ln>
            <a:noFill/>
          </a:ln>
        </p:spPr>
        <p:txBody>
          <a:bodyPr anchorCtr="0" anchor="t" bIns="0" lIns="0" spcFirstLastPara="1" rIns="0" wrap="square" tIns="0">
            <a:noAutofit/>
          </a:bodyPr>
          <a:lstStyle/>
          <a:p>
            <a:pPr indent="0" lvl="0" marL="0" marR="0" rtl="0" algn="l">
              <a:lnSpc>
                <a:spcPct val="134020"/>
              </a:lnSpc>
              <a:spcBef>
                <a:spcPts val="0"/>
              </a:spcBef>
              <a:spcAft>
                <a:spcPts val="0"/>
              </a:spcAft>
              <a:buClr>
                <a:srgbClr val="1B2A30"/>
              </a:buClr>
              <a:buSzPts val="970"/>
              <a:buFont typeface="Poppins"/>
              <a:buNone/>
            </a:pPr>
            <a:r>
              <a:rPr lang="en-US" sz="970">
                <a:solidFill>
                  <a:srgbClr val="1B2A30"/>
                </a:solidFill>
                <a:latin typeface="Poppins"/>
                <a:ea typeface="Poppins"/>
                <a:cs typeface="Poppins"/>
                <a:sym typeface="Poppins"/>
              </a:rPr>
              <a:t>Add anything that has CHANGED for returning students this year — new Pro Portal features, new systems, updated processes. Don't re-explain what they already know; just flag what's different. Add this group's course title and confirm where their key dates live.</a:t>
            </a:r>
            <a:endParaRPr sz="970">
              <a:solidFill>
                <a:schemeClr val="dk1"/>
              </a:solidFill>
              <a:latin typeface="Calibri"/>
              <a:ea typeface="Calibri"/>
              <a:cs typeface="Calibri"/>
              <a:sym typeface="Calibri"/>
            </a:endParaRPr>
          </a:p>
        </p:txBody>
      </p:sp>
      <p:sp>
        <p:nvSpPr>
          <p:cNvPr id="191" name="Google Shape;191;p8"/>
          <p:cNvSpPr/>
          <p:nvPr/>
        </p:nvSpPr>
        <p:spPr>
          <a:xfrm>
            <a:off x="502920" y="6437376"/>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1A4"/>
              </a:buClr>
              <a:buSzPts val="850"/>
              <a:buFont typeface="Poppins"/>
              <a:buNone/>
            </a:pPr>
            <a:r>
              <a:rPr lang="en-US" sz="850">
                <a:solidFill>
                  <a:srgbClr val="94A1A4"/>
                </a:solidFill>
                <a:latin typeface="Poppins"/>
                <a:ea typeface="Poppins"/>
                <a:cs typeface="Poppins"/>
                <a:sym typeface="Poppins"/>
              </a:rPr>
              <a:t>ESCG Student Induction 2026–27</a:t>
            </a:r>
            <a:r>
              <a:rPr lang="en-US" sz="850">
                <a:solidFill>
                  <a:srgbClr val="D2DBDA"/>
                </a:solidFill>
                <a:latin typeface="Poppins"/>
                <a:ea typeface="Poppins"/>
                <a:cs typeface="Poppins"/>
                <a:sym typeface="Poppins"/>
              </a:rPr>
              <a:t>   ·   </a:t>
            </a:r>
            <a:r>
              <a:rPr lang="en-US" sz="850">
                <a:solidFill>
                  <a:srgbClr val="94A1A4"/>
                </a:solidFill>
                <a:latin typeface="Poppins"/>
                <a:ea typeface="Poppins"/>
                <a:cs typeface="Poppins"/>
                <a:sym typeface="Poppins"/>
              </a:rPr>
              <a:t>Module A — Welcome Back</a:t>
            </a:r>
            <a:endParaRPr sz="850">
              <a:solidFill>
                <a:schemeClr val="dk1"/>
              </a:solidFill>
              <a:latin typeface="Calibri"/>
              <a:ea typeface="Calibri"/>
              <a:cs typeface="Calibri"/>
              <a:sym typeface="Calibri"/>
            </a:endParaRPr>
          </a:p>
        </p:txBody>
      </p:sp>
      <p:sp>
        <p:nvSpPr>
          <p:cNvPr id="192" name="Google Shape;192;p8"/>
          <p:cNvSpPr/>
          <p:nvPr/>
        </p:nvSpPr>
        <p:spPr>
          <a:xfrm>
            <a:off x="9494215" y="6400800"/>
            <a:ext cx="2194560" cy="292608"/>
          </a:xfrm>
          <a:prstGeom prst="roundRect">
            <a:avLst>
              <a:gd fmla="val 50000" name="adj"/>
            </a:avLst>
          </a:prstGeom>
          <a:solidFill>
            <a:srgbClr val="E2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3" name="Google Shape;193;p8"/>
          <p:cNvSpPr/>
          <p:nvPr/>
        </p:nvSpPr>
        <p:spPr>
          <a:xfrm>
            <a:off x="9494215" y="6400800"/>
            <a:ext cx="2194560" cy="292608"/>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F7A54"/>
              </a:buClr>
              <a:buSzPts val="700"/>
              <a:buFont typeface="Poppins SemiBold"/>
              <a:buNone/>
            </a:pPr>
            <a:r>
              <a:rPr lang="en-US" sz="700">
                <a:solidFill>
                  <a:srgbClr val="0F7A54"/>
                </a:solidFill>
                <a:latin typeface="Poppins SemiBold"/>
                <a:ea typeface="Poppins SemiBold"/>
                <a:cs typeface="Poppins SemiBold"/>
                <a:sym typeface="Poppins SemiBold"/>
              </a:rPr>
              <a:t>L3/ T- Level  · YEAR 2 · FINAL YEAR</a:t>
            </a:r>
            <a:endParaRPr sz="700">
              <a:solidFill>
                <a:schemeClr val="dk1"/>
              </a:solidFill>
              <a:latin typeface="Calibri"/>
              <a:ea typeface="Calibri"/>
              <a:cs typeface="Calibri"/>
              <a:sym typeface="Calibri"/>
            </a:endParaRPr>
          </a:p>
        </p:txBody>
      </p:sp>
      <p:sp>
        <p:nvSpPr>
          <p:cNvPr id="194" name="Google Shape;194;p8"/>
          <p:cNvSpPr/>
          <p:nvPr/>
        </p:nvSpPr>
        <p:spPr>
          <a:xfrm>
            <a:off x="11734495" y="6400800"/>
            <a:ext cx="3657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1A4"/>
              </a:buClr>
              <a:buSzPts val="900"/>
              <a:buFont typeface="Poppins SemiBold"/>
              <a:buNone/>
            </a:pPr>
            <a:r>
              <a:rPr lang="en-US" sz="900">
                <a:solidFill>
                  <a:srgbClr val="94A1A4"/>
                </a:solidFill>
                <a:latin typeface="Poppins SemiBold"/>
                <a:ea typeface="Poppins SemiBold"/>
                <a:cs typeface="Poppins SemiBold"/>
                <a:sym typeface="Poppins SemiBold"/>
              </a:rPr>
              <a:t>6</a:t>
            </a:r>
            <a:endParaRPr sz="9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199" name="Shape 199"/>
        <p:cNvGrpSpPr/>
        <p:nvPr/>
      </p:nvGrpSpPr>
      <p:grpSpPr>
        <a:xfrm>
          <a:off x="0" y="0"/>
          <a:ext cx="0" cy="0"/>
          <a:chOff x="0" y="0"/>
          <a:chExt cx="0" cy="0"/>
        </a:xfrm>
      </p:grpSpPr>
      <p:sp>
        <p:nvSpPr>
          <p:cNvPr id="200" name="Google Shape;200;p9"/>
          <p:cNvSpPr/>
          <p:nvPr/>
        </p:nvSpPr>
        <p:spPr>
          <a:xfrm>
            <a:off x="502920" y="576072"/>
            <a:ext cx="219456" cy="219456"/>
          </a:xfrm>
          <a:prstGeom prst="rect">
            <a:avLst/>
          </a:prstGeom>
          <a:solidFill>
            <a:srgbClr val="FFCF0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1" name="Google Shape;201;p9"/>
          <p:cNvSpPr/>
          <p:nvPr/>
        </p:nvSpPr>
        <p:spPr>
          <a:xfrm>
            <a:off x="850392" y="512064"/>
            <a:ext cx="777240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7A54"/>
              </a:buClr>
              <a:buSzPts val="1150"/>
              <a:buFont typeface="Poppins SemiBold"/>
              <a:buNone/>
            </a:pPr>
            <a:r>
              <a:rPr lang="en-US" sz="1150">
                <a:solidFill>
                  <a:srgbClr val="0F7A54"/>
                </a:solidFill>
                <a:latin typeface="Poppins SemiBold"/>
                <a:ea typeface="Poppins SemiBold"/>
                <a:cs typeface="Poppins SemiBold"/>
                <a:sym typeface="Poppins SemiBold"/>
              </a:rPr>
              <a:t>SUPPORT STILL MATTERS</a:t>
            </a:r>
            <a:endParaRPr sz="1150">
              <a:solidFill>
                <a:schemeClr val="dk1"/>
              </a:solidFill>
              <a:latin typeface="Calibri"/>
              <a:ea typeface="Calibri"/>
              <a:cs typeface="Calibri"/>
              <a:sym typeface="Calibri"/>
            </a:endParaRPr>
          </a:p>
        </p:txBody>
      </p:sp>
      <p:sp>
        <p:nvSpPr>
          <p:cNvPr id="202" name="Google Shape;202;p9"/>
          <p:cNvSpPr/>
          <p:nvPr/>
        </p:nvSpPr>
        <p:spPr>
          <a:xfrm>
            <a:off x="475488" y="841248"/>
            <a:ext cx="10424160" cy="8412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D2434"/>
              </a:buClr>
              <a:buSzPts val="3200"/>
              <a:buFont typeface="Poppins SemiBold"/>
              <a:buNone/>
            </a:pPr>
            <a:r>
              <a:rPr lang="en-US" sz="3200">
                <a:solidFill>
                  <a:srgbClr val="0D2434"/>
                </a:solidFill>
                <a:latin typeface="Poppins SemiBold"/>
                <a:ea typeface="Poppins SemiBold"/>
                <a:cs typeface="Poppins SemiBold"/>
                <a:sym typeface="Poppins SemiBold"/>
              </a:rPr>
              <a:t>Yes — even now, especially now</a:t>
            </a:r>
            <a:endParaRPr sz="3200">
              <a:solidFill>
                <a:schemeClr val="dk1"/>
              </a:solidFill>
              <a:latin typeface="Calibri"/>
              <a:ea typeface="Calibri"/>
              <a:cs typeface="Calibri"/>
              <a:sym typeface="Calibri"/>
            </a:endParaRPr>
          </a:p>
        </p:txBody>
      </p:sp>
      <p:sp>
        <p:nvSpPr>
          <p:cNvPr id="203" name="Google Shape;203;p9"/>
          <p:cNvSpPr/>
          <p:nvPr/>
        </p:nvSpPr>
        <p:spPr>
          <a:xfrm>
            <a:off x="9494215" y="530352"/>
            <a:ext cx="2194560" cy="420624"/>
          </a:xfrm>
          <a:prstGeom prst="roundRect">
            <a:avLst>
              <a:gd fmla="val 50000" name="adj"/>
            </a:avLst>
          </a:prstGeom>
          <a:solidFill>
            <a:srgbClr val="0D2434"/>
          </a:solidFill>
          <a:ln>
            <a:noFill/>
          </a:ln>
          <a:effectLst>
            <a:outerShdw blurRad="88900" rotWithShape="0" algn="bl" dir="8100000" dist="25400">
              <a:srgbClr val="0D2434">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4" name="Google Shape;204;p9"/>
          <p:cNvSpPr/>
          <p:nvPr/>
        </p:nvSpPr>
        <p:spPr>
          <a:xfrm>
            <a:off x="9494215" y="530352"/>
            <a:ext cx="2194560"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Poppins SemiBold"/>
              <a:buNone/>
            </a:pPr>
            <a:r>
              <a:rPr lang="en-US" sz="950">
                <a:solidFill>
                  <a:srgbClr val="FFFFFF"/>
                </a:solidFill>
                <a:latin typeface="Poppins SemiBold"/>
                <a:ea typeface="Poppins SemiBold"/>
                <a:cs typeface="Poppins SemiBold"/>
                <a:sym typeface="Poppins SemiBold"/>
              </a:rPr>
              <a:t>STRAIGHT TALK</a:t>
            </a:r>
            <a:endParaRPr sz="950">
              <a:solidFill>
                <a:schemeClr val="dk1"/>
              </a:solidFill>
              <a:latin typeface="Calibri"/>
              <a:ea typeface="Calibri"/>
              <a:cs typeface="Calibri"/>
              <a:sym typeface="Calibri"/>
            </a:endParaRPr>
          </a:p>
        </p:txBody>
      </p:sp>
      <p:sp>
        <p:nvSpPr>
          <p:cNvPr id="205" name="Google Shape;205;p9"/>
          <p:cNvSpPr/>
          <p:nvPr/>
        </p:nvSpPr>
        <p:spPr>
          <a:xfrm>
            <a:off x="502920" y="1810512"/>
            <a:ext cx="10972800" cy="457200"/>
          </a:xfrm>
          <a:prstGeom prst="rect">
            <a:avLst/>
          </a:prstGeom>
          <a:noFill/>
          <a:ln>
            <a:noFill/>
          </a:ln>
        </p:spPr>
        <p:txBody>
          <a:bodyPr anchorCtr="0" anchor="ctr" bIns="0" lIns="0" spcFirstLastPara="1" rIns="0" wrap="square" tIns="0">
            <a:noAutofit/>
          </a:bodyPr>
          <a:lstStyle/>
          <a:p>
            <a:pPr indent="0" lvl="0" marL="0" marR="0" rtl="0" algn="l">
              <a:lnSpc>
                <a:spcPct val="128000"/>
              </a:lnSpc>
              <a:spcBef>
                <a:spcPts val="0"/>
              </a:spcBef>
              <a:spcAft>
                <a:spcPts val="0"/>
              </a:spcAft>
              <a:buClr>
                <a:srgbClr val="5A6A6F"/>
              </a:buClr>
              <a:buSzPts val="1250"/>
              <a:buFont typeface="Poppins"/>
              <a:buNone/>
            </a:pPr>
            <a:r>
              <a:rPr lang="en-US" sz="1250">
                <a:solidFill>
                  <a:srgbClr val="5A6A6F"/>
                </a:solidFill>
                <a:latin typeface="Poppins"/>
                <a:ea typeface="Poppins"/>
                <a:cs typeface="Poppins"/>
                <a:sym typeface="Poppins"/>
              </a:rPr>
              <a:t>Final year is the year people quietly struggle and don't say anything. Don't be that person — the support is still here.</a:t>
            </a:r>
            <a:endParaRPr sz="1250">
              <a:solidFill>
                <a:schemeClr val="dk1"/>
              </a:solidFill>
              <a:latin typeface="Calibri"/>
              <a:ea typeface="Calibri"/>
              <a:cs typeface="Calibri"/>
              <a:sym typeface="Calibri"/>
            </a:endParaRPr>
          </a:p>
        </p:txBody>
      </p:sp>
      <p:sp>
        <p:nvSpPr>
          <p:cNvPr id="206" name="Google Shape;206;p9"/>
          <p:cNvSpPr/>
          <p:nvPr/>
        </p:nvSpPr>
        <p:spPr>
          <a:xfrm>
            <a:off x="502920" y="2414016"/>
            <a:ext cx="2670048" cy="1874520"/>
          </a:xfrm>
          <a:prstGeom prst="roundRect">
            <a:avLst>
              <a:gd fmla="val 4878" name="adj"/>
            </a:avLst>
          </a:prstGeom>
          <a:solidFill>
            <a:srgbClr val="FFFFFF"/>
          </a:solidFill>
          <a:ln cap="flat" cmpd="sng" w="12700">
            <a:solidFill>
              <a:srgbClr val="D2DBDA"/>
            </a:solidFill>
            <a:prstDash val="solid"/>
            <a:round/>
            <a:headEnd len="sm" w="sm" type="none"/>
            <a:tailEnd len="sm" w="sm" type="none"/>
          </a:ln>
          <a:effectLst>
            <a:outerShdw blurRad="88900" rotWithShape="0" algn="bl" dir="8100000" dist="25400">
              <a:srgbClr val="0D2434">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7" name="Google Shape;207;p9"/>
          <p:cNvSpPr/>
          <p:nvPr/>
        </p:nvSpPr>
        <p:spPr>
          <a:xfrm>
            <a:off x="502920" y="2414016"/>
            <a:ext cx="2670048" cy="73152"/>
          </a:xfrm>
          <a:prstGeom prst="rect">
            <a:avLst/>
          </a:prstGeom>
          <a:solidFill>
            <a:srgbClr val="0F7A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208" name="Google Shape;208;p9"/>
          <p:cNvPicPr preferRelativeResize="0"/>
          <p:nvPr/>
        </p:nvPicPr>
        <p:blipFill rotWithShape="1">
          <a:blip r:embed="rId3">
            <a:alphaModFix/>
          </a:blip>
          <a:srcRect b="0" l="0" r="0" t="0"/>
          <a:stretch/>
        </p:blipFill>
        <p:spPr>
          <a:xfrm>
            <a:off x="740664" y="2651760"/>
            <a:ext cx="402336" cy="402336"/>
          </a:xfrm>
          <a:prstGeom prst="rect">
            <a:avLst/>
          </a:prstGeom>
          <a:noFill/>
          <a:ln>
            <a:noFill/>
          </a:ln>
        </p:spPr>
      </p:pic>
      <p:sp>
        <p:nvSpPr>
          <p:cNvPr id="209" name="Google Shape;209;p9"/>
          <p:cNvSpPr/>
          <p:nvPr/>
        </p:nvSpPr>
        <p:spPr>
          <a:xfrm>
            <a:off x="740664" y="3127248"/>
            <a:ext cx="2212848"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1150"/>
              <a:buFont typeface="Poppins SemiBold"/>
              <a:buNone/>
            </a:pPr>
            <a:r>
              <a:rPr lang="en-US" sz="1150">
                <a:solidFill>
                  <a:srgbClr val="0D2434"/>
                </a:solidFill>
                <a:latin typeface="Poppins SemiBold"/>
                <a:ea typeface="Poppins SemiBold"/>
                <a:cs typeface="Poppins SemiBold"/>
                <a:sym typeface="Poppins SemiBold"/>
              </a:rPr>
              <a:t>Careers &amp; progression</a:t>
            </a:r>
            <a:endParaRPr sz="1150">
              <a:solidFill>
                <a:schemeClr val="dk1"/>
              </a:solidFill>
              <a:latin typeface="Calibri"/>
              <a:ea typeface="Calibri"/>
              <a:cs typeface="Calibri"/>
              <a:sym typeface="Calibri"/>
            </a:endParaRPr>
          </a:p>
        </p:txBody>
      </p:sp>
      <p:sp>
        <p:nvSpPr>
          <p:cNvPr id="210" name="Google Shape;210;p9"/>
          <p:cNvSpPr/>
          <p:nvPr/>
        </p:nvSpPr>
        <p:spPr>
          <a:xfrm>
            <a:off x="740664" y="3511296"/>
            <a:ext cx="2249424" cy="676656"/>
          </a:xfrm>
          <a:prstGeom prst="rect">
            <a:avLst/>
          </a:prstGeom>
          <a:noFill/>
          <a:ln>
            <a:noFill/>
          </a:ln>
        </p:spPr>
        <p:txBody>
          <a:bodyPr anchorCtr="0" anchor="ctr" bIns="0" lIns="0" spcFirstLastPara="1" rIns="0" wrap="square" tIns="0">
            <a:noAutofit/>
          </a:bodyPr>
          <a:lstStyle/>
          <a:p>
            <a:pPr indent="0" lvl="0" marL="0" marR="0" rtl="0" algn="l">
              <a:lnSpc>
                <a:spcPct val="129032"/>
              </a:lnSpc>
              <a:spcBef>
                <a:spcPts val="0"/>
              </a:spcBef>
              <a:spcAft>
                <a:spcPts val="0"/>
              </a:spcAft>
              <a:buClr>
                <a:srgbClr val="5A6A6F"/>
              </a:buClr>
              <a:buSzPts val="930"/>
              <a:buFont typeface="Poppins"/>
              <a:buNone/>
            </a:pPr>
            <a:r>
              <a:rPr lang="en-US" sz="930">
                <a:solidFill>
                  <a:srgbClr val="5A6A6F"/>
                </a:solidFill>
                <a:latin typeface="Poppins"/>
                <a:ea typeface="Poppins"/>
                <a:cs typeface="Poppins"/>
                <a:sym typeface="Poppins"/>
              </a:rPr>
              <a:t>Real help with applications, interviews, UCAS and apprenticeships.</a:t>
            </a:r>
            <a:endParaRPr sz="930">
              <a:solidFill>
                <a:schemeClr val="dk1"/>
              </a:solidFill>
              <a:latin typeface="Calibri"/>
              <a:ea typeface="Calibri"/>
              <a:cs typeface="Calibri"/>
              <a:sym typeface="Calibri"/>
            </a:endParaRPr>
          </a:p>
        </p:txBody>
      </p:sp>
      <p:sp>
        <p:nvSpPr>
          <p:cNvPr id="211" name="Google Shape;211;p9"/>
          <p:cNvSpPr/>
          <p:nvPr/>
        </p:nvSpPr>
        <p:spPr>
          <a:xfrm>
            <a:off x="3337560" y="2414016"/>
            <a:ext cx="2670048" cy="1874520"/>
          </a:xfrm>
          <a:prstGeom prst="roundRect">
            <a:avLst>
              <a:gd fmla="val 4878" name="adj"/>
            </a:avLst>
          </a:prstGeom>
          <a:solidFill>
            <a:srgbClr val="FFFFFF"/>
          </a:solidFill>
          <a:ln cap="flat" cmpd="sng" w="12700">
            <a:solidFill>
              <a:srgbClr val="D2DBDA"/>
            </a:solidFill>
            <a:prstDash val="solid"/>
            <a:round/>
            <a:headEnd len="sm" w="sm" type="none"/>
            <a:tailEnd len="sm" w="sm" type="none"/>
          </a:ln>
          <a:effectLst>
            <a:outerShdw blurRad="88900" rotWithShape="0" algn="bl" dir="8100000" dist="25400">
              <a:srgbClr val="0D2434">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2" name="Google Shape;212;p9"/>
          <p:cNvSpPr/>
          <p:nvPr/>
        </p:nvSpPr>
        <p:spPr>
          <a:xfrm>
            <a:off x="3337560" y="2414016"/>
            <a:ext cx="2670048" cy="73152"/>
          </a:xfrm>
          <a:prstGeom prst="rect">
            <a:avLst/>
          </a:prstGeom>
          <a:solidFill>
            <a:srgbClr val="0F7A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213" name="Google Shape;213;p9"/>
          <p:cNvPicPr preferRelativeResize="0"/>
          <p:nvPr/>
        </p:nvPicPr>
        <p:blipFill rotWithShape="1">
          <a:blip r:embed="rId4">
            <a:alphaModFix/>
          </a:blip>
          <a:srcRect b="0" l="0" r="0" t="0"/>
          <a:stretch/>
        </p:blipFill>
        <p:spPr>
          <a:xfrm>
            <a:off x="3575304" y="2651760"/>
            <a:ext cx="402336" cy="402336"/>
          </a:xfrm>
          <a:prstGeom prst="rect">
            <a:avLst/>
          </a:prstGeom>
          <a:noFill/>
          <a:ln>
            <a:noFill/>
          </a:ln>
        </p:spPr>
      </p:pic>
      <p:sp>
        <p:nvSpPr>
          <p:cNvPr id="214" name="Google Shape;214;p9"/>
          <p:cNvSpPr/>
          <p:nvPr/>
        </p:nvSpPr>
        <p:spPr>
          <a:xfrm>
            <a:off x="3575304" y="3127248"/>
            <a:ext cx="2212848"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1150"/>
              <a:buFont typeface="Poppins SemiBold"/>
              <a:buNone/>
            </a:pPr>
            <a:r>
              <a:rPr lang="en-US" sz="1150">
                <a:solidFill>
                  <a:srgbClr val="0D2434"/>
                </a:solidFill>
                <a:latin typeface="Poppins SemiBold"/>
                <a:ea typeface="Poppins SemiBold"/>
                <a:cs typeface="Poppins SemiBold"/>
                <a:sym typeface="Poppins SemiBold"/>
              </a:rPr>
              <a:t>Wellbeing</a:t>
            </a:r>
            <a:endParaRPr sz="1150">
              <a:solidFill>
                <a:schemeClr val="dk1"/>
              </a:solidFill>
              <a:latin typeface="Calibri"/>
              <a:ea typeface="Calibri"/>
              <a:cs typeface="Calibri"/>
              <a:sym typeface="Calibri"/>
            </a:endParaRPr>
          </a:p>
        </p:txBody>
      </p:sp>
      <p:sp>
        <p:nvSpPr>
          <p:cNvPr id="215" name="Google Shape;215;p9"/>
          <p:cNvSpPr/>
          <p:nvPr/>
        </p:nvSpPr>
        <p:spPr>
          <a:xfrm>
            <a:off x="3575304" y="3511296"/>
            <a:ext cx="2249424" cy="676656"/>
          </a:xfrm>
          <a:prstGeom prst="rect">
            <a:avLst/>
          </a:prstGeom>
          <a:noFill/>
          <a:ln>
            <a:noFill/>
          </a:ln>
        </p:spPr>
        <p:txBody>
          <a:bodyPr anchorCtr="0" anchor="ctr" bIns="0" lIns="0" spcFirstLastPara="1" rIns="0" wrap="square" tIns="0">
            <a:noAutofit/>
          </a:bodyPr>
          <a:lstStyle/>
          <a:p>
            <a:pPr indent="0" lvl="0" marL="0" marR="0" rtl="0" algn="l">
              <a:lnSpc>
                <a:spcPct val="129032"/>
              </a:lnSpc>
              <a:spcBef>
                <a:spcPts val="0"/>
              </a:spcBef>
              <a:spcAft>
                <a:spcPts val="0"/>
              </a:spcAft>
              <a:buClr>
                <a:srgbClr val="5A6A6F"/>
              </a:buClr>
              <a:buSzPts val="930"/>
              <a:buFont typeface="Poppins"/>
              <a:buNone/>
            </a:pPr>
            <a:r>
              <a:rPr lang="en-US" sz="930">
                <a:solidFill>
                  <a:srgbClr val="5A6A6F"/>
                </a:solidFill>
                <a:latin typeface="Poppins"/>
                <a:ea typeface="Poppins"/>
                <a:cs typeface="Poppins"/>
                <a:sym typeface="Poppins"/>
              </a:rPr>
              <a:t>Final-year pressure is real. Talking to someone is a strength, not a slip.</a:t>
            </a:r>
            <a:endParaRPr sz="930">
              <a:solidFill>
                <a:schemeClr val="dk1"/>
              </a:solidFill>
              <a:latin typeface="Calibri"/>
              <a:ea typeface="Calibri"/>
              <a:cs typeface="Calibri"/>
              <a:sym typeface="Calibri"/>
            </a:endParaRPr>
          </a:p>
        </p:txBody>
      </p:sp>
      <p:sp>
        <p:nvSpPr>
          <p:cNvPr id="216" name="Google Shape;216;p9"/>
          <p:cNvSpPr/>
          <p:nvPr/>
        </p:nvSpPr>
        <p:spPr>
          <a:xfrm>
            <a:off x="6172200" y="2414016"/>
            <a:ext cx="2670048" cy="1874520"/>
          </a:xfrm>
          <a:prstGeom prst="roundRect">
            <a:avLst>
              <a:gd fmla="val 4878" name="adj"/>
            </a:avLst>
          </a:prstGeom>
          <a:solidFill>
            <a:srgbClr val="FFFFFF"/>
          </a:solidFill>
          <a:ln cap="flat" cmpd="sng" w="12700">
            <a:solidFill>
              <a:srgbClr val="D2DBDA"/>
            </a:solidFill>
            <a:prstDash val="solid"/>
            <a:round/>
            <a:headEnd len="sm" w="sm" type="none"/>
            <a:tailEnd len="sm" w="sm" type="none"/>
          </a:ln>
          <a:effectLst>
            <a:outerShdw blurRad="88900" rotWithShape="0" algn="bl" dir="8100000" dist="25400">
              <a:srgbClr val="0D2434">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7" name="Google Shape;217;p9"/>
          <p:cNvSpPr/>
          <p:nvPr/>
        </p:nvSpPr>
        <p:spPr>
          <a:xfrm>
            <a:off x="6172200" y="2414016"/>
            <a:ext cx="2670048" cy="73152"/>
          </a:xfrm>
          <a:prstGeom prst="rect">
            <a:avLst/>
          </a:prstGeom>
          <a:solidFill>
            <a:srgbClr val="0F7A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218" name="Google Shape;218;p9"/>
          <p:cNvPicPr preferRelativeResize="0"/>
          <p:nvPr/>
        </p:nvPicPr>
        <p:blipFill rotWithShape="1">
          <a:blip r:embed="rId5">
            <a:alphaModFix/>
          </a:blip>
          <a:srcRect b="0" l="0" r="0" t="0"/>
          <a:stretch/>
        </p:blipFill>
        <p:spPr>
          <a:xfrm>
            <a:off x="6409944" y="2651760"/>
            <a:ext cx="402336" cy="402336"/>
          </a:xfrm>
          <a:prstGeom prst="rect">
            <a:avLst/>
          </a:prstGeom>
          <a:noFill/>
          <a:ln>
            <a:noFill/>
          </a:ln>
        </p:spPr>
      </p:pic>
      <p:sp>
        <p:nvSpPr>
          <p:cNvPr id="219" name="Google Shape;219;p9"/>
          <p:cNvSpPr/>
          <p:nvPr/>
        </p:nvSpPr>
        <p:spPr>
          <a:xfrm>
            <a:off x="6409944" y="3127248"/>
            <a:ext cx="2212848"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1150"/>
              <a:buFont typeface="Poppins SemiBold"/>
              <a:buNone/>
            </a:pPr>
            <a:r>
              <a:rPr lang="en-US" sz="1150">
                <a:solidFill>
                  <a:srgbClr val="0D2434"/>
                </a:solidFill>
                <a:latin typeface="Poppins SemiBold"/>
                <a:ea typeface="Poppins SemiBold"/>
                <a:cs typeface="Poppins SemiBold"/>
                <a:sym typeface="Poppins SemiBold"/>
              </a:rPr>
              <a:t>Money &amp; practical</a:t>
            </a:r>
            <a:endParaRPr sz="1150">
              <a:solidFill>
                <a:schemeClr val="dk1"/>
              </a:solidFill>
              <a:latin typeface="Calibri"/>
              <a:ea typeface="Calibri"/>
              <a:cs typeface="Calibri"/>
              <a:sym typeface="Calibri"/>
            </a:endParaRPr>
          </a:p>
        </p:txBody>
      </p:sp>
      <p:sp>
        <p:nvSpPr>
          <p:cNvPr id="220" name="Google Shape;220;p9"/>
          <p:cNvSpPr/>
          <p:nvPr/>
        </p:nvSpPr>
        <p:spPr>
          <a:xfrm>
            <a:off x="6409944" y="3511296"/>
            <a:ext cx="2249424" cy="676656"/>
          </a:xfrm>
          <a:prstGeom prst="rect">
            <a:avLst/>
          </a:prstGeom>
          <a:noFill/>
          <a:ln>
            <a:noFill/>
          </a:ln>
        </p:spPr>
        <p:txBody>
          <a:bodyPr anchorCtr="0" anchor="ctr" bIns="0" lIns="0" spcFirstLastPara="1" rIns="0" wrap="square" tIns="0">
            <a:noAutofit/>
          </a:bodyPr>
          <a:lstStyle/>
          <a:p>
            <a:pPr indent="0" lvl="0" marL="0" marR="0" rtl="0" algn="l">
              <a:lnSpc>
                <a:spcPct val="129032"/>
              </a:lnSpc>
              <a:spcBef>
                <a:spcPts val="0"/>
              </a:spcBef>
              <a:spcAft>
                <a:spcPts val="0"/>
              </a:spcAft>
              <a:buClr>
                <a:srgbClr val="5A6A6F"/>
              </a:buClr>
              <a:buSzPts val="930"/>
              <a:buFont typeface="Poppins"/>
              <a:buNone/>
            </a:pPr>
            <a:r>
              <a:rPr lang="en-US" sz="930">
                <a:solidFill>
                  <a:srgbClr val="5A6A6F"/>
                </a:solidFill>
                <a:latin typeface="Poppins"/>
                <a:ea typeface="Poppins"/>
                <a:cs typeface="Poppins"/>
                <a:sym typeface="Poppins"/>
              </a:rPr>
              <a:t>Bursary and practical support — still there for Year 2.</a:t>
            </a:r>
            <a:endParaRPr sz="930">
              <a:solidFill>
                <a:schemeClr val="dk1"/>
              </a:solidFill>
              <a:latin typeface="Calibri"/>
              <a:ea typeface="Calibri"/>
              <a:cs typeface="Calibri"/>
              <a:sym typeface="Calibri"/>
            </a:endParaRPr>
          </a:p>
        </p:txBody>
      </p:sp>
      <p:sp>
        <p:nvSpPr>
          <p:cNvPr id="221" name="Google Shape;221;p9"/>
          <p:cNvSpPr/>
          <p:nvPr/>
        </p:nvSpPr>
        <p:spPr>
          <a:xfrm>
            <a:off x="9006840" y="2414016"/>
            <a:ext cx="2670048" cy="1874520"/>
          </a:xfrm>
          <a:prstGeom prst="roundRect">
            <a:avLst>
              <a:gd fmla="val 4878" name="adj"/>
            </a:avLst>
          </a:prstGeom>
          <a:solidFill>
            <a:srgbClr val="FFFFFF"/>
          </a:solidFill>
          <a:ln cap="flat" cmpd="sng" w="12700">
            <a:solidFill>
              <a:srgbClr val="D2DBDA"/>
            </a:solidFill>
            <a:prstDash val="solid"/>
            <a:round/>
            <a:headEnd len="sm" w="sm" type="none"/>
            <a:tailEnd len="sm" w="sm" type="none"/>
          </a:ln>
          <a:effectLst>
            <a:outerShdw blurRad="88900" rotWithShape="0" algn="bl" dir="8100000" dist="25400">
              <a:srgbClr val="0D2434">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2" name="Google Shape;222;p9"/>
          <p:cNvSpPr/>
          <p:nvPr/>
        </p:nvSpPr>
        <p:spPr>
          <a:xfrm>
            <a:off x="9006840" y="2414016"/>
            <a:ext cx="2670048" cy="73152"/>
          </a:xfrm>
          <a:prstGeom prst="rect">
            <a:avLst/>
          </a:prstGeom>
          <a:solidFill>
            <a:srgbClr val="0F7A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223" name="Google Shape;223;p9"/>
          <p:cNvPicPr preferRelativeResize="0"/>
          <p:nvPr/>
        </p:nvPicPr>
        <p:blipFill rotWithShape="1">
          <a:blip r:embed="rId6">
            <a:alphaModFix/>
          </a:blip>
          <a:srcRect b="0" l="0" r="0" t="0"/>
          <a:stretch/>
        </p:blipFill>
        <p:spPr>
          <a:xfrm>
            <a:off x="9244584" y="2651760"/>
            <a:ext cx="402336" cy="402336"/>
          </a:xfrm>
          <a:prstGeom prst="rect">
            <a:avLst/>
          </a:prstGeom>
          <a:noFill/>
          <a:ln>
            <a:noFill/>
          </a:ln>
        </p:spPr>
      </p:pic>
      <p:sp>
        <p:nvSpPr>
          <p:cNvPr id="224" name="Google Shape;224;p9"/>
          <p:cNvSpPr/>
          <p:nvPr/>
        </p:nvSpPr>
        <p:spPr>
          <a:xfrm>
            <a:off x="9244584" y="3127248"/>
            <a:ext cx="2212848"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1150"/>
              <a:buFont typeface="Poppins SemiBold"/>
              <a:buNone/>
            </a:pPr>
            <a:r>
              <a:rPr lang="en-US" sz="1150">
                <a:solidFill>
                  <a:srgbClr val="0D2434"/>
                </a:solidFill>
                <a:latin typeface="Poppins SemiBold"/>
                <a:ea typeface="Poppins SemiBold"/>
                <a:cs typeface="Poppins SemiBold"/>
                <a:sym typeface="Poppins SemiBold"/>
              </a:rPr>
              <a:t>Academic support</a:t>
            </a:r>
            <a:endParaRPr sz="1150">
              <a:solidFill>
                <a:schemeClr val="dk1"/>
              </a:solidFill>
              <a:latin typeface="Calibri"/>
              <a:ea typeface="Calibri"/>
              <a:cs typeface="Calibri"/>
              <a:sym typeface="Calibri"/>
            </a:endParaRPr>
          </a:p>
        </p:txBody>
      </p:sp>
      <p:sp>
        <p:nvSpPr>
          <p:cNvPr id="225" name="Google Shape;225;p9"/>
          <p:cNvSpPr/>
          <p:nvPr/>
        </p:nvSpPr>
        <p:spPr>
          <a:xfrm>
            <a:off x="9244584" y="3511296"/>
            <a:ext cx="2249424" cy="676656"/>
          </a:xfrm>
          <a:prstGeom prst="rect">
            <a:avLst/>
          </a:prstGeom>
          <a:noFill/>
          <a:ln>
            <a:noFill/>
          </a:ln>
        </p:spPr>
        <p:txBody>
          <a:bodyPr anchorCtr="0" anchor="ctr" bIns="0" lIns="0" spcFirstLastPara="1" rIns="0" wrap="square" tIns="0">
            <a:noAutofit/>
          </a:bodyPr>
          <a:lstStyle/>
          <a:p>
            <a:pPr indent="0" lvl="0" marL="0" marR="0" rtl="0" algn="l">
              <a:lnSpc>
                <a:spcPct val="129032"/>
              </a:lnSpc>
              <a:spcBef>
                <a:spcPts val="0"/>
              </a:spcBef>
              <a:spcAft>
                <a:spcPts val="0"/>
              </a:spcAft>
              <a:buClr>
                <a:srgbClr val="5A6A6F"/>
              </a:buClr>
              <a:buSzPts val="930"/>
              <a:buFont typeface="Poppins"/>
              <a:buNone/>
            </a:pPr>
            <a:r>
              <a:rPr lang="en-US" sz="930">
                <a:solidFill>
                  <a:srgbClr val="5A6A6F"/>
                </a:solidFill>
                <a:latin typeface="Poppins"/>
                <a:ea typeface="Poppins"/>
                <a:cs typeface="Poppins"/>
                <a:sym typeface="Poppins"/>
              </a:rPr>
              <a:t>Stuck on coursework? Get help early, while it still makes a difference.</a:t>
            </a:r>
            <a:endParaRPr sz="930">
              <a:solidFill>
                <a:schemeClr val="dk1"/>
              </a:solidFill>
              <a:latin typeface="Calibri"/>
              <a:ea typeface="Calibri"/>
              <a:cs typeface="Calibri"/>
              <a:sym typeface="Calibri"/>
            </a:endParaRPr>
          </a:p>
        </p:txBody>
      </p:sp>
      <p:sp>
        <p:nvSpPr>
          <p:cNvPr id="226" name="Google Shape;226;p9"/>
          <p:cNvSpPr/>
          <p:nvPr/>
        </p:nvSpPr>
        <p:spPr>
          <a:xfrm>
            <a:off x="502920" y="4471416"/>
            <a:ext cx="11183112" cy="914400"/>
          </a:xfrm>
          <a:prstGeom prst="roundRect">
            <a:avLst>
              <a:gd fmla="val 9000" name="adj"/>
            </a:avLst>
          </a:prstGeom>
          <a:solidFill>
            <a:srgbClr val="F8E7E3"/>
          </a:solidFill>
          <a:ln cap="flat" cmpd="sng" w="12700">
            <a:solidFill>
              <a:srgbClr val="B23A2E"/>
            </a:solidFill>
            <a:prstDash val="dash"/>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227" name="Google Shape;227;p9"/>
          <p:cNvPicPr preferRelativeResize="0"/>
          <p:nvPr/>
        </p:nvPicPr>
        <p:blipFill rotWithShape="1">
          <a:blip r:embed="rId7">
            <a:alphaModFix/>
          </a:blip>
          <a:srcRect b="0" l="0" r="0" t="0"/>
          <a:stretch/>
        </p:blipFill>
        <p:spPr>
          <a:xfrm>
            <a:off x="676656" y="4636008"/>
            <a:ext cx="246888" cy="246888"/>
          </a:xfrm>
          <a:prstGeom prst="rect">
            <a:avLst/>
          </a:prstGeom>
          <a:noFill/>
          <a:ln>
            <a:noFill/>
          </a:ln>
        </p:spPr>
      </p:pic>
      <p:sp>
        <p:nvSpPr>
          <p:cNvPr id="228" name="Google Shape;228;p9"/>
          <p:cNvSpPr/>
          <p:nvPr/>
        </p:nvSpPr>
        <p:spPr>
          <a:xfrm>
            <a:off x="996696" y="4599432"/>
            <a:ext cx="10524744"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23A2E"/>
              </a:buClr>
              <a:buSzPts val="1050"/>
              <a:buFont typeface="Poppins SemiBold"/>
              <a:buNone/>
            </a:pPr>
            <a:r>
              <a:rPr lang="en-US" sz="1050">
                <a:solidFill>
                  <a:srgbClr val="B23A2E"/>
                </a:solidFill>
                <a:latin typeface="Poppins SemiBold"/>
                <a:ea typeface="Poppins SemiBold"/>
                <a:cs typeface="Poppins SemiBold"/>
                <a:sym typeface="Poppins SemiBold"/>
              </a:rPr>
              <a:t>ESCG TO CONFIRM</a:t>
            </a:r>
            <a:endParaRPr sz="1050">
              <a:solidFill>
                <a:schemeClr val="dk1"/>
              </a:solidFill>
              <a:latin typeface="Calibri"/>
              <a:ea typeface="Calibri"/>
              <a:cs typeface="Calibri"/>
              <a:sym typeface="Calibri"/>
            </a:endParaRPr>
          </a:p>
        </p:txBody>
      </p:sp>
      <p:sp>
        <p:nvSpPr>
          <p:cNvPr id="229" name="Google Shape;229;p9"/>
          <p:cNvSpPr/>
          <p:nvPr/>
        </p:nvSpPr>
        <p:spPr>
          <a:xfrm>
            <a:off x="996696" y="4873752"/>
            <a:ext cx="10469880" cy="384048"/>
          </a:xfrm>
          <a:prstGeom prst="rect">
            <a:avLst/>
          </a:prstGeom>
          <a:noFill/>
          <a:ln>
            <a:noFill/>
          </a:ln>
        </p:spPr>
        <p:txBody>
          <a:bodyPr anchorCtr="0" anchor="t" bIns="0" lIns="0" spcFirstLastPara="1" rIns="0" wrap="square" tIns="0">
            <a:noAutofit/>
          </a:bodyPr>
          <a:lstStyle/>
          <a:p>
            <a:pPr indent="0" lvl="0" marL="0" marR="0" rtl="0" algn="l">
              <a:lnSpc>
                <a:spcPct val="134020"/>
              </a:lnSpc>
              <a:spcBef>
                <a:spcPts val="0"/>
              </a:spcBef>
              <a:spcAft>
                <a:spcPts val="0"/>
              </a:spcAft>
              <a:buClr>
                <a:srgbClr val="1B2A30"/>
              </a:buClr>
              <a:buSzPts val="970"/>
              <a:buFont typeface="Poppins"/>
              <a:buNone/>
            </a:pPr>
            <a:r>
              <a:rPr lang="en-US" sz="970">
                <a:solidFill>
                  <a:srgbClr val="1B2A30"/>
                </a:solidFill>
                <a:latin typeface="Poppins"/>
                <a:ea typeface="Poppins"/>
                <a:cs typeface="Poppins"/>
                <a:sym typeface="Poppins"/>
              </a:rPr>
              <a:t>Add the real ESCG support detail for your campus — names, locations, how to access. For this group, put the strongest focus on CAREERS and PROGRESSION support: who they see, and how soon they should book in. Check all detail is current before teaching.</a:t>
            </a:r>
            <a:endParaRPr sz="970">
              <a:solidFill>
                <a:schemeClr val="dk1"/>
              </a:solidFill>
              <a:latin typeface="Calibri"/>
              <a:ea typeface="Calibri"/>
              <a:cs typeface="Calibri"/>
              <a:sym typeface="Calibri"/>
            </a:endParaRPr>
          </a:p>
        </p:txBody>
      </p:sp>
      <p:sp>
        <p:nvSpPr>
          <p:cNvPr id="230" name="Google Shape;230;p9"/>
          <p:cNvSpPr/>
          <p:nvPr/>
        </p:nvSpPr>
        <p:spPr>
          <a:xfrm>
            <a:off x="502920" y="6437376"/>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1A4"/>
              </a:buClr>
              <a:buSzPts val="850"/>
              <a:buFont typeface="Poppins"/>
              <a:buNone/>
            </a:pPr>
            <a:r>
              <a:rPr lang="en-US" sz="850">
                <a:solidFill>
                  <a:srgbClr val="94A1A4"/>
                </a:solidFill>
                <a:latin typeface="Poppins"/>
                <a:ea typeface="Poppins"/>
                <a:cs typeface="Poppins"/>
                <a:sym typeface="Poppins"/>
              </a:rPr>
              <a:t>ESCG Student Induction 2026–27</a:t>
            </a:r>
            <a:r>
              <a:rPr lang="en-US" sz="850">
                <a:solidFill>
                  <a:srgbClr val="D2DBDA"/>
                </a:solidFill>
                <a:latin typeface="Poppins"/>
                <a:ea typeface="Poppins"/>
                <a:cs typeface="Poppins"/>
                <a:sym typeface="Poppins"/>
              </a:rPr>
              <a:t>   ·   </a:t>
            </a:r>
            <a:r>
              <a:rPr lang="en-US" sz="850">
                <a:solidFill>
                  <a:srgbClr val="94A1A4"/>
                </a:solidFill>
                <a:latin typeface="Poppins"/>
                <a:ea typeface="Poppins"/>
                <a:cs typeface="Poppins"/>
                <a:sym typeface="Poppins"/>
              </a:rPr>
              <a:t>Module A — Welcome Back</a:t>
            </a:r>
            <a:endParaRPr sz="850">
              <a:solidFill>
                <a:schemeClr val="dk1"/>
              </a:solidFill>
              <a:latin typeface="Calibri"/>
              <a:ea typeface="Calibri"/>
              <a:cs typeface="Calibri"/>
              <a:sym typeface="Calibri"/>
            </a:endParaRPr>
          </a:p>
        </p:txBody>
      </p:sp>
      <p:sp>
        <p:nvSpPr>
          <p:cNvPr id="231" name="Google Shape;231;p9"/>
          <p:cNvSpPr/>
          <p:nvPr/>
        </p:nvSpPr>
        <p:spPr>
          <a:xfrm>
            <a:off x="9494215" y="6400800"/>
            <a:ext cx="2194560" cy="292608"/>
          </a:xfrm>
          <a:prstGeom prst="roundRect">
            <a:avLst>
              <a:gd fmla="val 50000" name="adj"/>
            </a:avLst>
          </a:prstGeom>
          <a:solidFill>
            <a:srgbClr val="E2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2" name="Google Shape;232;p9"/>
          <p:cNvSpPr/>
          <p:nvPr/>
        </p:nvSpPr>
        <p:spPr>
          <a:xfrm>
            <a:off x="9494215" y="6400800"/>
            <a:ext cx="2194560" cy="292608"/>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F7A54"/>
              </a:buClr>
              <a:buSzPts val="700"/>
              <a:buFont typeface="Poppins SemiBold"/>
              <a:buNone/>
            </a:pPr>
            <a:r>
              <a:rPr lang="en-US" sz="700">
                <a:solidFill>
                  <a:srgbClr val="0F7A54"/>
                </a:solidFill>
                <a:latin typeface="Poppins SemiBold"/>
                <a:ea typeface="Poppins SemiBold"/>
                <a:cs typeface="Poppins SemiBold"/>
                <a:sym typeface="Poppins SemiBold"/>
              </a:rPr>
              <a:t>L3/ T- Level  · YEAR 2 · FINAL YEAR</a:t>
            </a:r>
            <a:endParaRPr sz="700">
              <a:solidFill>
                <a:schemeClr val="dk1"/>
              </a:solidFill>
              <a:latin typeface="Calibri"/>
              <a:ea typeface="Calibri"/>
              <a:cs typeface="Calibri"/>
              <a:sym typeface="Calibri"/>
            </a:endParaRPr>
          </a:p>
        </p:txBody>
      </p:sp>
      <p:sp>
        <p:nvSpPr>
          <p:cNvPr id="233" name="Google Shape;233;p9"/>
          <p:cNvSpPr/>
          <p:nvPr/>
        </p:nvSpPr>
        <p:spPr>
          <a:xfrm>
            <a:off x="11734495" y="6400800"/>
            <a:ext cx="3657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1A4"/>
              </a:buClr>
              <a:buSzPts val="900"/>
              <a:buFont typeface="Poppins SemiBold"/>
              <a:buNone/>
            </a:pPr>
            <a:r>
              <a:rPr lang="en-US" sz="900">
                <a:solidFill>
                  <a:srgbClr val="94A1A4"/>
                </a:solidFill>
                <a:latin typeface="Poppins SemiBold"/>
                <a:ea typeface="Poppins SemiBold"/>
                <a:cs typeface="Poppins SemiBold"/>
                <a:sym typeface="Poppins SemiBold"/>
              </a:rPr>
              <a:t>7</a:t>
            </a:r>
            <a:endParaRPr sz="9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2434"/>
        </a:solidFill>
      </p:bgPr>
    </p:bg>
    <p:spTree>
      <p:nvGrpSpPr>
        <p:cNvPr id="238" name="Shape 238"/>
        <p:cNvGrpSpPr/>
        <p:nvPr/>
      </p:nvGrpSpPr>
      <p:grpSpPr>
        <a:xfrm>
          <a:off x="0" y="0"/>
          <a:ext cx="0" cy="0"/>
          <a:chOff x="0" y="0"/>
          <a:chExt cx="0" cy="0"/>
        </a:xfrm>
      </p:grpSpPr>
      <p:sp>
        <p:nvSpPr>
          <p:cNvPr id="239" name="Google Shape;239;p10"/>
          <p:cNvSpPr/>
          <p:nvPr/>
        </p:nvSpPr>
        <p:spPr>
          <a:xfrm>
            <a:off x="9494215" y="530352"/>
            <a:ext cx="2194560" cy="420624"/>
          </a:xfrm>
          <a:prstGeom prst="roundRect">
            <a:avLst>
              <a:gd fmla="val 50000" name="adj"/>
            </a:avLst>
          </a:prstGeom>
          <a:solidFill>
            <a:srgbClr val="0D2434"/>
          </a:solidFill>
          <a:ln>
            <a:noFill/>
          </a:ln>
          <a:effectLst>
            <a:outerShdw blurRad="88900" rotWithShape="0" algn="bl" dir="8100000" dist="25400">
              <a:srgbClr val="0D2434">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0" name="Google Shape;240;p10"/>
          <p:cNvSpPr/>
          <p:nvPr/>
        </p:nvSpPr>
        <p:spPr>
          <a:xfrm>
            <a:off x="9494215" y="530352"/>
            <a:ext cx="2194560"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Poppins SemiBold"/>
              <a:buNone/>
            </a:pPr>
            <a:r>
              <a:rPr lang="en-US" sz="950">
                <a:solidFill>
                  <a:srgbClr val="FFFFFF"/>
                </a:solidFill>
                <a:latin typeface="Poppins SemiBold"/>
                <a:ea typeface="Poppins SemiBold"/>
                <a:cs typeface="Poppins SemiBold"/>
                <a:sym typeface="Poppins SemiBold"/>
              </a:rPr>
              <a:t>STRAIGHT TALK</a:t>
            </a:r>
            <a:endParaRPr sz="950">
              <a:solidFill>
                <a:schemeClr val="dk1"/>
              </a:solidFill>
              <a:latin typeface="Calibri"/>
              <a:ea typeface="Calibri"/>
              <a:cs typeface="Calibri"/>
              <a:sym typeface="Calibri"/>
            </a:endParaRPr>
          </a:p>
        </p:txBody>
      </p:sp>
      <p:sp>
        <p:nvSpPr>
          <p:cNvPr id="241" name="Google Shape;241;p10"/>
          <p:cNvSpPr/>
          <p:nvPr/>
        </p:nvSpPr>
        <p:spPr>
          <a:xfrm>
            <a:off x="502920" y="576072"/>
            <a:ext cx="219456" cy="219456"/>
          </a:xfrm>
          <a:prstGeom prst="rect">
            <a:avLst/>
          </a:prstGeom>
          <a:solidFill>
            <a:srgbClr val="FFCF0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2" name="Google Shape;242;p10"/>
          <p:cNvSpPr/>
          <p:nvPr/>
        </p:nvSpPr>
        <p:spPr>
          <a:xfrm>
            <a:off x="850392" y="512064"/>
            <a:ext cx="548640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CF01"/>
              </a:buClr>
              <a:buSzPts val="1150"/>
              <a:buFont typeface="Poppins SemiBold"/>
              <a:buNone/>
            </a:pPr>
            <a:r>
              <a:rPr lang="en-US" sz="1150">
                <a:solidFill>
                  <a:srgbClr val="FFCF01"/>
                </a:solidFill>
                <a:latin typeface="Poppins SemiBold"/>
                <a:ea typeface="Poppins SemiBold"/>
                <a:cs typeface="Poppins SemiBold"/>
                <a:sym typeface="Poppins SemiBold"/>
              </a:rPr>
              <a:t>STRAIGHT TALK</a:t>
            </a:r>
            <a:endParaRPr sz="1150">
              <a:solidFill>
                <a:schemeClr val="dk1"/>
              </a:solidFill>
              <a:latin typeface="Calibri"/>
              <a:ea typeface="Calibri"/>
              <a:cs typeface="Calibri"/>
              <a:sym typeface="Calibri"/>
            </a:endParaRPr>
          </a:p>
        </p:txBody>
      </p:sp>
      <p:sp>
        <p:nvSpPr>
          <p:cNvPr id="243" name="Google Shape;243;p10"/>
          <p:cNvSpPr/>
          <p:nvPr/>
        </p:nvSpPr>
        <p:spPr>
          <a:xfrm>
            <a:off x="475488" y="841248"/>
            <a:ext cx="1115568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700"/>
              <a:buFont typeface="Poppins SemiBold"/>
              <a:buNone/>
            </a:pPr>
            <a:r>
              <a:rPr lang="en-US" sz="2700">
                <a:solidFill>
                  <a:srgbClr val="FFFFFF"/>
                </a:solidFill>
                <a:latin typeface="Poppins SemiBold"/>
                <a:ea typeface="Poppins SemiBold"/>
                <a:cs typeface="Poppins SemiBold"/>
                <a:sym typeface="Poppins SemiBold"/>
              </a:rPr>
              <a:t>Three ways to step out — all of them strong</a:t>
            </a:r>
            <a:endParaRPr sz="2700">
              <a:solidFill>
                <a:schemeClr val="dk1"/>
              </a:solidFill>
              <a:latin typeface="Calibri"/>
              <a:ea typeface="Calibri"/>
              <a:cs typeface="Calibri"/>
              <a:sym typeface="Calibri"/>
            </a:endParaRPr>
          </a:p>
        </p:txBody>
      </p:sp>
      <p:sp>
        <p:nvSpPr>
          <p:cNvPr id="244" name="Google Shape;244;p10"/>
          <p:cNvSpPr/>
          <p:nvPr/>
        </p:nvSpPr>
        <p:spPr>
          <a:xfrm>
            <a:off x="502920" y="1828800"/>
            <a:ext cx="3630168" cy="2468880"/>
          </a:xfrm>
          <a:prstGeom prst="roundRect">
            <a:avLst>
              <a:gd fmla="val 4444" name="adj"/>
            </a:avLst>
          </a:prstGeom>
          <a:solidFill>
            <a:srgbClr val="FFCF01"/>
          </a:solidFill>
          <a:ln>
            <a:noFill/>
          </a:ln>
          <a:effectLst>
            <a:outerShdw blurRad="88900" rotWithShape="0" algn="bl" dir="8100000" dist="25400">
              <a:srgbClr val="0D2434">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245" name="Google Shape;245;p10"/>
          <p:cNvPicPr preferRelativeResize="0"/>
          <p:nvPr/>
        </p:nvPicPr>
        <p:blipFill rotWithShape="1">
          <a:blip r:embed="rId3">
            <a:alphaModFix/>
          </a:blip>
          <a:srcRect b="0" l="0" r="0" t="0"/>
          <a:stretch/>
        </p:blipFill>
        <p:spPr>
          <a:xfrm>
            <a:off x="795528" y="2121408"/>
            <a:ext cx="548640" cy="548640"/>
          </a:xfrm>
          <a:prstGeom prst="rect">
            <a:avLst/>
          </a:prstGeom>
          <a:noFill/>
          <a:ln>
            <a:noFill/>
          </a:ln>
        </p:spPr>
      </p:pic>
      <p:sp>
        <p:nvSpPr>
          <p:cNvPr id="246" name="Google Shape;246;p10"/>
          <p:cNvSpPr/>
          <p:nvPr/>
        </p:nvSpPr>
        <p:spPr>
          <a:xfrm>
            <a:off x="795528" y="2779776"/>
            <a:ext cx="3044952"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1600"/>
              <a:buFont typeface="Poppins SemiBold"/>
              <a:buNone/>
            </a:pPr>
            <a:r>
              <a:rPr lang="en-US" sz="1600">
                <a:solidFill>
                  <a:srgbClr val="0D2434"/>
                </a:solidFill>
                <a:latin typeface="Poppins SemiBold"/>
                <a:ea typeface="Poppins SemiBold"/>
                <a:cs typeface="Poppins SemiBold"/>
                <a:sym typeface="Poppins SemiBold"/>
              </a:rPr>
              <a:t>Into work</a:t>
            </a:r>
            <a:endParaRPr sz="1600">
              <a:solidFill>
                <a:schemeClr val="dk1"/>
              </a:solidFill>
              <a:latin typeface="Calibri"/>
              <a:ea typeface="Calibri"/>
              <a:cs typeface="Calibri"/>
              <a:sym typeface="Calibri"/>
            </a:endParaRPr>
          </a:p>
        </p:txBody>
      </p:sp>
      <p:sp>
        <p:nvSpPr>
          <p:cNvPr id="247" name="Google Shape;247;p10"/>
          <p:cNvSpPr/>
          <p:nvPr/>
        </p:nvSpPr>
        <p:spPr>
          <a:xfrm>
            <a:off x="795528" y="3200400"/>
            <a:ext cx="3063240" cy="868680"/>
          </a:xfrm>
          <a:prstGeom prst="rect">
            <a:avLst/>
          </a:prstGeom>
          <a:noFill/>
          <a:ln>
            <a:noFill/>
          </a:ln>
        </p:spPr>
        <p:txBody>
          <a:bodyPr anchorCtr="0" anchor="ctr" bIns="0" lIns="0" spcFirstLastPara="1" rIns="0" wrap="square" tIns="0">
            <a:noAutofit/>
          </a:bodyPr>
          <a:lstStyle/>
          <a:p>
            <a:pPr indent="0" lvl="0" marL="0" marR="0" rtl="0" algn="l">
              <a:lnSpc>
                <a:spcPct val="131067"/>
              </a:lnSpc>
              <a:spcBef>
                <a:spcPts val="0"/>
              </a:spcBef>
              <a:spcAft>
                <a:spcPts val="0"/>
              </a:spcAft>
              <a:buClr>
                <a:srgbClr val="0D2434"/>
              </a:buClr>
              <a:buSzPts val="1030"/>
              <a:buFont typeface="Poppins"/>
              <a:buNone/>
            </a:pPr>
            <a:r>
              <a:rPr lang="en-US" sz="1030">
                <a:solidFill>
                  <a:srgbClr val="0D2434"/>
                </a:solidFill>
                <a:latin typeface="Poppins"/>
                <a:ea typeface="Poppins"/>
                <a:cs typeface="Poppins"/>
                <a:sym typeface="Poppins"/>
              </a:rPr>
              <a:t>Where many of you are headed — a genuine, ambitious choice. Content creator, production assistant, junior designer, social media co-ordinator — real careers, begun.</a:t>
            </a:r>
            <a:endParaRPr sz="1030">
              <a:solidFill>
                <a:schemeClr val="dk1"/>
              </a:solidFill>
              <a:latin typeface="Calibri"/>
              <a:ea typeface="Calibri"/>
              <a:cs typeface="Calibri"/>
              <a:sym typeface="Calibri"/>
            </a:endParaRPr>
          </a:p>
        </p:txBody>
      </p:sp>
      <p:sp>
        <p:nvSpPr>
          <p:cNvPr id="248" name="Google Shape;248;p10"/>
          <p:cNvSpPr/>
          <p:nvPr/>
        </p:nvSpPr>
        <p:spPr>
          <a:xfrm>
            <a:off x="502928" y="4398246"/>
            <a:ext cx="30450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800"/>
              <a:buFont typeface="Poppins SemiBold"/>
              <a:buNone/>
            </a:pPr>
            <a:r>
              <a:rPr lang="en-US" sz="800">
                <a:solidFill>
                  <a:srgbClr val="0D2434"/>
                </a:solidFill>
                <a:latin typeface="Poppins SemiBold"/>
                <a:ea typeface="Poppins SemiBold"/>
                <a:cs typeface="Poppins SemiBold"/>
                <a:sym typeface="Poppins SemiBold"/>
              </a:rPr>
              <a:t>MOST OF THIS ROOM</a:t>
            </a:r>
            <a:endParaRPr sz="800">
              <a:solidFill>
                <a:schemeClr val="dk1"/>
              </a:solidFill>
              <a:latin typeface="Calibri"/>
              <a:ea typeface="Calibri"/>
              <a:cs typeface="Calibri"/>
              <a:sym typeface="Calibri"/>
            </a:endParaRPr>
          </a:p>
        </p:txBody>
      </p:sp>
      <p:sp>
        <p:nvSpPr>
          <p:cNvPr id="249" name="Google Shape;249;p10"/>
          <p:cNvSpPr/>
          <p:nvPr/>
        </p:nvSpPr>
        <p:spPr>
          <a:xfrm>
            <a:off x="4297680" y="1828800"/>
            <a:ext cx="3630168" cy="2468880"/>
          </a:xfrm>
          <a:prstGeom prst="roundRect">
            <a:avLst>
              <a:gd fmla="val 4444" name="adj"/>
            </a:avLst>
          </a:prstGeom>
          <a:solidFill>
            <a:srgbClr val="1C3A4D"/>
          </a:solidFill>
          <a:ln>
            <a:noFill/>
          </a:ln>
          <a:effectLst>
            <a:outerShdw blurRad="88900" rotWithShape="0" algn="bl" dir="8100000" dist="25400">
              <a:srgbClr val="0D2434">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250" name="Google Shape;250;p10"/>
          <p:cNvPicPr preferRelativeResize="0"/>
          <p:nvPr/>
        </p:nvPicPr>
        <p:blipFill rotWithShape="1">
          <a:blip r:embed="rId4">
            <a:alphaModFix/>
          </a:blip>
          <a:srcRect b="0" l="0" r="0" t="0"/>
          <a:stretch/>
        </p:blipFill>
        <p:spPr>
          <a:xfrm>
            <a:off x="4590288" y="2121408"/>
            <a:ext cx="548640" cy="548640"/>
          </a:xfrm>
          <a:prstGeom prst="rect">
            <a:avLst/>
          </a:prstGeom>
          <a:noFill/>
          <a:ln>
            <a:noFill/>
          </a:ln>
        </p:spPr>
      </p:pic>
      <p:sp>
        <p:nvSpPr>
          <p:cNvPr id="251" name="Google Shape;251;p10"/>
          <p:cNvSpPr/>
          <p:nvPr/>
        </p:nvSpPr>
        <p:spPr>
          <a:xfrm>
            <a:off x="4590288" y="2779776"/>
            <a:ext cx="3044952"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600"/>
              <a:buFont typeface="Poppins SemiBold"/>
              <a:buNone/>
            </a:pPr>
            <a:r>
              <a:rPr lang="en-US" sz="1600">
                <a:solidFill>
                  <a:srgbClr val="FFFFFF"/>
                </a:solidFill>
                <a:latin typeface="Poppins SemiBold"/>
                <a:ea typeface="Poppins SemiBold"/>
                <a:cs typeface="Poppins SemiBold"/>
                <a:sym typeface="Poppins SemiBold"/>
              </a:rPr>
              <a:t>Apprenticeship</a:t>
            </a:r>
            <a:endParaRPr sz="1600">
              <a:solidFill>
                <a:schemeClr val="dk1"/>
              </a:solidFill>
              <a:latin typeface="Calibri"/>
              <a:ea typeface="Calibri"/>
              <a:cs typeface="Calibri"/>
              <a:sym typeface="Calibri"/>
            </a:endParaRPr>
          </a:p>
        </p:txBody>
      </p:sp>
      <p:sp>
        <p:nvSpPr>
          <p:cNvPr id="252" name="Google Shape;252;p10"/>
          <p:cNvSpPr/>
          <p:nvPr/>
        </p:nvSpPr>
        <p:spPr>
          <a:xfrm>
            <a:off x="4590288" y="3200400"/>
            <a:ext cx="3063240" cy="868680"/>
          </a:xfrm>
          <a:prstGeom prst="rect">
            <a:avLst/>
          </a:prstGeom>
          <a:noFill/>
          <a:ln>
            <a:noFill/>
          </a:ln>
        </p:spPr>
        <p:txBody>
          <a:bodyPr anchorCtr="0" anchor="ctr" bIns="0" lIns="0" spcFirstLastPara="1" rIns="0" wrap="square" tIns="0">
            <a:noAutofit/>
          </a:bodyPr>
          <a:lstStyle/>
          <a:p>
            <a:pPr indent="0" lvl="0" marL="0" marR="0" rtl="0" algn="l">
              <a:lnSpc>
                <a:spcPct val="131067"/>
              </a:lnSpc>
              <a:spcBef>
                <a:spcPts val="0"/>
              </a:spcBef>
              <a:spcAft>
                <a:spcPts val="0"/>
              </a:spcAft>
              <a:buClr>
                <a:srgbClr val="C7D0D3"/>
              </a:buClr>
              <a:buSzPts val="1030"/>
              <a:buFont typeface="Poppins"/>
              <a:buNone/>
            </a:pPr>
            <a:r>
              <a:rPr lang="en-US" sz="1030">
                <a:solidFill>
                  <a:srgbClr val="C7D0D3"/>
                </a:solidFill>
                <a:latin typeface="Poppins"/>
                <a:ea typeface="Poppins"/>
                <a:cs typeface="Poppins"/>
                <a:sym typeface="Poppins"/>
              </a:rPr>
              <a:t>Earn while you train. Real qualifications, real experience, no student debt.</a:t>
            </a:r>
            <a:endParaRPr sz="1030">
              <a:solidFill>
                <a:schemeClr val="dk1"/>
              </a:solidFill>
              <a:latin typeface="Calibri"/>
              <a:ea typeface="Calibri"/>
              <a:cs typeface="Calibri"/>
              <a:sym typeface="Calibri"/>
            </a:endParaRPr>
          </a:p>
        </p:txBody>
      </p:sp>
      <p:sp>
        <p:nvSpPr>
          <p:cNvPr id="253" name="Google Shape;253;p10"/>
          <p:cNvSpPr/>
          <p:nvPr/>
        </p:nvSpPr>
        <p:spPr>
          <a:xfrm>
            <a:off x="8092440" y="1828800"/>
            <a:ext cx="3630168" cy="2468880"/>
          </a:xfrm>
          <a:prstGeom prst="roundRect">
            <a:avLst>
              <a:gd fmla="val 4444" name="adj"/>
            </a:avLst>
          </a:prstGeom>
          <a:solidFill>
            <a:srgbClr val="1C3A4D"/>
          </a:solidFill>
          <a:ln>
            <a:noFill/>
          </a:ln>
          <a:effectLst>
            <a:outerShdw blurRad="88900" rotWithShape="0" algn="bl" dir="8100000" dist="25400">
              <a:srgbClr val="0D2434">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254" name="Google Shape;254;p10"/>
          <p:cNvPicPr preferRelativeResize="0"/>
          <p:nvPr/>
        </p:nvPicPr>
        <p:blipFill rotWithShape="1">
          <a:blip r:embed="rId5">
            <a:alphaModFix/>
          </a:blip>
          <a:srcRect b="0" l="0" r="0" t="0"/>
          <a:stretch/>
        </p:blipFill>
        <p:spPr>
          <a:xfrm>
            <a:off x="8385048" y="2121408"/>
            <a:ext cx="548640" cy="548640"/>
          </a:xfrm>
          <a:prstGeom prst="rect">
            <a:avLst/>
          </a:prstGeom>
          <a:noFill/>
          <a:ln>
            <a:noFill/>
          </a:ln>
        </p:spPr>
      </p:pic>
      <p:sp>
        <p:nvSpPr>
          <p:cNvPr id="255" name="Google Shape;255;p10"/>
          <p:cNvSpPr/>
          <p:nvPr/>
        </p:nvSpPr>
        <p:spPr>
          <a:xfrm>
            <a:off x="8385048" y="2779776"/>
            <a:ext cx="3044952"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600"/>
              <a:buFont typeface="Poppins SemiBold"/>
              <a:buNone/>
            </a:pPr>
            <a:r>
              <a:rPr lang="en-US" sz="1600">
                <a:solidFill>
                  <a:srgbClr val="FFFFFF"/>
                </a:solidFill>
                <a:latin typeface="Poppins SemiBold"/>
                <a:ea typeface="Poppins SemiBold"/>
                <a:cs typeface="Poppins SemiBold"/>
                <a:sym typeface="Poppins SemiBold"/>
              </a:rPr>
              <a:t>University / HE</a:t>
            </a:r>
            <a:endParaRPr sz="1600">
              <a:solidFill>
                <a:schemeClr val="dk1"/>
              </a:solidFill>
              <a:latin typeface="Calibri"/>
              <a:ea typeface="Calibri"/>
              <a:cs typeface="Calibri"/>
              <a:sym typeface="Calibri"/>
            </a:endParaRPr>
          </a:p>
        </p:txBody>
      </p:sp>
      <p:sp>
        <p:nvSpPr>
          <p:cNvPr id="256" name="Google Shape;256;p10"/>
          <p:cNvSpPr/>
          <p:nvPr/>
        </p:nvSpPr>
        <p:spPr>
          <a:xfrm>
            <a:off x="8385048" y="3200400"/>
            <a:ext cx="3063240" cy="868680"/>
          </a:xfrm>
          <a:prstGeom prst="rect">
            <a:avLst/>
          </a:prstGeom>
          <a:noFill/>
          <a:ln>
            <a:noFill/>
          </a:ln>
        </p:spPr>
        <p:txBody>
          <a:bodyPr anchorCtr="0" anchor="ctr" bIns="0" lIns="0" spcFirstLastPara="1" rIns="0" wrap="square" tIns="0">
            <a:noAutofit/>
          </a:bodyPr>
          <a:lstStyle/>
          <a:p>
            <a:pPr indent="0" lvl="0" marL="0" marR="0" rtl="0" algn="l">
              <a:lnSpc>
                <a:spcPct val="131067"/>
              </a:lnSpc>
              <a:spcBef>
                <a:spcPts val="0"/>
              </a:spcBef>
              <a:spcAft>
                <a:spcPts val="0"/>
              </a:spcAft>
              <a:buClr>
                <a:srgbClr val="C7D0D3"/>
              </a:buClr>
              <a:buSzPts val="1030"/>
              <a:buFont typeface="Poppins"/>
              <a:buNone/>
            </a:pPr>
            <a:r>
              <a:rPr lang="en-US" sz="1030">
                <a:solidFill>
                  <a:srgbClr val="C7D0D3"/>
                </a:solidFill>
                <a:latin typeface="Poppins"/>
                <a:ea typeface="Poppins"/>
                <a:cs typeface="Poppins"/>
                <a:sym typeface="Poppins"/>
              </a:rPr>
              <a:t>If a degree is the route — Media, Film, Games Art, Photography, Digital Design — the path is open. UCH Hastings offers BA degrees locally for Games Art students.</a:t>
            </a:r>
            <a:endParaRPr sz="1030">
              <a:solidFill>
                <a:schemeClr val="dk1"/>
              </a:solidFill>
              <a:latin typeface="Calibri"/>
              <a:ea typeface="Calibri"/>
              <a:cs typeface="Calibri"/>
              <a:sym typeface="Calibri"/>
            </a:endParaRPr>
          </a:p>
        </p:txBody>
      </p:sp>
      <p:sp>
        <p:nvSpPr>
          <p:cNvPr id="257" name="Google Shape;257;p10"/>
          <p:cNvSpPr/>
          <p:nvPr/>
        </p:nvSpPr>
        <p:spPr>
          <a:xfrm>
            <a:off x="502920" y="4553712"/>
            <a:ext cx="11155680" cy="548640"/>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C7D0D3"/>
              </a:buClr>
              <a:buSzPts val="1250"/>
              <a:buFont typeface="Poppins"/>
              <a:buNone/>
            </a:pPr>
            <a:r>
              <a:rPr lang="en-US" sz="1250">
                <a:solidFill>
                  <a:srgbClr val="C7D0D3"/>
                </a:solidFill>
                <a:latin typeface="Poppins"/>
                <a:ea typeface="Poppins"/>
                <a:cs typeface="Poppins"/>
                <a:sym typeface="Poppins"/>
              </a:rPr>
              <a:t>There is no 'second-best' route here. The best route is the one that gets YOU where you want to be — and this year is how you earn it.</a:t>
            </a:r>
            <a:endParaRPr sz="1250">
              <a:solidFill>
                <a:schemeClr val="dk1"/>
              </a:solidFill>
              <a:latin typeface="Calibri"/>
              <a:ea typeface="Calibri"/>
              <a:cs typeface="Calibri"/>
              <a:sym typeface="Calibri"/>
            </a:endParaRPr>
          </a:p>
        </p:txBody>
      </p:sp>
      <p:sp>
        <p:nvSpPr>
          <p:cNvPr id="258" name="Google Shape;258;p10"/>
          <p:cNvSpPr/>
          <p:nvPr/>
        </p:nvSpPr>
        <p:spPr>
          <a:xfrm>
            <a:off x="502920" y="6437376"/>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1A4"/>
              </a:buClr>
              <a:buSzPts val="850"/>
              <a:buFont typeface="Poppins"/>
              <a:buNone/>
            </a:pPr>
            <a:r>
              <a:rPr lang="en-US" sz="850">
                <a:solidFill>
                  <a:srgbClr val="94A1A4"/>
                </a:solidFill>
                <a:latin typeface="Poppins"/>
                <a:ea typeface="Poppins"/>
                <a:cs typeface="Poppins"/>
                <a:sym typeface="Poppins"/>
              </a:rPr>
              <a:t>ESCG Student Induction 2026–27</a:t>
            </a:r>
            <a:r>
              <a:rPr lang="en-US" sz="850">
                <a:solidFill>
                  <a:srgbClr val="D2DBDA"/>
                </a:solidFill>
                <a:latin typeface="Poppins"/>
                <a:ea typeface="Poppins"/>
                <a:cs typeface="Poppins"/>
                <a:sym typeface="Poppins"/>
              </a:rPr>
              <a:t>   ·   </a:t>
            </a:r>
            <a:r>
              <a:rPr lang="en-US" sz="850">
                <a:solidFill>
                  <a:srgbClr val="94A1A4"/>
                </a:solidFill>
                <a:latin typeface="Poppins"/>
                <a:ea typeface="Poppins"/>
                <a:cs typeface="Poppins"/>
                <a:sym typeface="Poppins"/>
              </a:rPr>
              <a:t>Module A — Welcome Back</a:t>
            </a:r>
            <a:endParaRPr sz="850">
              <a:solidFill>
                <a:schemeClr val="dk1"/>
              </a:solidFill>
              <a:latin typeface="Calibri"/>
              <a:ea typeface="Calibri"/>
              <a:cs typeface="Calibri"/>
              <a:sym typeface="Calibri"/>
            </a:endParaRPr>
          </a:p>
        </p:txBody>
      </p:sp>
      <p:sp>
        <p:nvSpPr>
          <p:cNvPr id="259" name="Google Shape;259;p10"/>
          <p:cNvSpPr/>
          <p:nvPr/>
        </p:nvSpPr>
        <p:spPr>
          <a:xfrm>
            <a:off x="9494215" y="6400800"/>
            <a:ext cx="2194560" cy="292608"/>
          </a:xfrm>
          <a:prstGeom prst="roundRect">
            <a:avLst>
              <a:gd fmla="val 50000" name="adj"/>
            </a:avLst>
          </a:prstGeom>
          <a:solidFill>
            <a:srgbClr val="E2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0" name="Google Shape;260;p10"/>
          <p:cNvSpPr/>
          <p:nvPr/>
        </p:nvSpPr>
        <p:spPr>
          <a:xfrm>
            <a:off x="9494215" y="6400800"/>
            <a:ext cx="2194560" cy="292608"/>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F7A54"/>
              </a:buClr>
              <a:buSzPts val="700"/>
              <a:buFont typeface="Poppins SemiBold"/>
              <a:buNone/>
            </a:pPr>
            <a:r>
              <a:rPr lang="en-US" sz="700">
                <a:solidFill>
                  <a:srgbClr val="0F7A54"/>
                </a:solidFill>
                <a:latin typeface="Poppins SemiBold"/>
                <a:ea typeface="Poppins SemiBold"/>
                <a:cs typeface="Poppins SemiBold"/>
                <a:sym typeface="Poppins SemiBold"/>
              </a:rPr>
              <a:t>L3/ T- Level  · YEAR 2 · FINAL YEAR</a:t>
            </a:r>
            <a:endParaRPr sz="700">
              <a:solidFill>
                <a:schemeClr val="dk1"/>
              </a:solidFill>
              <a:latin typeface="Calibri"/>
              <a:ea typeface="Calibri"/>
              <a:cs typeface="Calibri"/>
              <a:sym typeface="Calibri"/>
            </a:endParaRPr>
          </a:p>
        </p:txBody>
      </p:sp>
      <p:sp>
        <p:nvSpPr>
          <p:cNvPr id="261" name="Google Shape;261;p10"/>
          <p:cNvSpPr/>
          <p:nvPr/>
        </p:nvSpPr>
        <p:spPr>
          <a:xfrm>
            <a:off x="11734495" y="6400800"/>
            <a:ext cx="3657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1A4"/>
              </a:buClr>
              <a:buSzPts val="900"/>
              <a:buFont typeface="Poppins SemiBold"/>
              <a:buNone/>
            </a:pPr>
            <a:r>
              <a:rPr lang="en-US" sz="900">
                <a:solidFill>
                  <a:srgbClr val="94A1A4"/>
                </a:solidFill>
                <a:latin typeface="Poppins SemiBold"/>
                <a:ea typeface="Poppins SemiBold"/>
                <a:cs typeface="Poppins SemiBold"/>
                <a:sym typeface="Poppins SemiBold"/>
              </a:rPr>
              <a:t>8</a:t>
            </a:r>
            <a:endParaRPr sz="9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266" name="Shape 266"/>
        <p:cNvGrpSpPr/>
        <p:nvPr/>
      </p:nvGrpSpPr>
      <p:grpSpPr>
        <a:xfrm>
          <a:off x="0" y="0"/>
          <a:ext cx="0" cy="0"/>
          <a:chOff x="0" y="0"/>
          <a:chExt cx="0" cy="0"/>
        </a:xfrm>
      </p:grpSpPr>
      <p:sp>
        <p:nvSpPr>
          <p:cNvPr id="267" name="Google Shape;267;p11"/>
          <p:cNvSpPr/>
          <p:nvPr/>
        </p:nvSpPr>
        <p:spPr>
          <a:xfrm>
            <a:off x="502920" y="576072"/>
            <a:ext cx="219456" cy="219456"/>
          </a:xfrm>
          <a:prstGeom prst="rect">
            <a:avLst/>
          </a:prstGeom>
          <a:solidFill>
            <a:srgbClr val="FFCF0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8" name="Google Shape;268;p11"/>
          <p:cNvSpPr/>
          <p:nvPr/>
        </p:nvSpPr>
        <p:spPr>
          <a:xfrm>
            <a:off x="850392" y="512064"/>
            <a:ext cx="777240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7A54"/>
              </a:buClr>
              <a:buSzPts val="1150"/>
              <a:buFont typeface="Poppins SemiBold"/>
              <a:buNone/>
            </a:pPr>
            <a:r>
              <a:rPr lang="en-US" sz="1150">
                <a:solidFill>
                  <a:srgbClr val="0F7A54"/>
                </a:solidFill>
                <a:latin typeface="Poppins SemiBold"/>
                <a:ea typeface="Poppins SemiBold"/>
                <a:cs typeface="Poppins SemiBold"/>
                <a:sym typeface="Poppins SemiBold"/>
              </a:rPr>
              <a:t>MAKE IT COUNT</a:t>
            </a:r>
            <a:endParaRPr sz="1150">
              <a:solidFill>
                <a:schemeClr val="dk1"/>
              </a:solidFill>
              <a:latin typeface="Calibri"/>
              <a:ea typeface="Calibri"/>
              <a:cs typeface="Calibri"/>
              <a:sym typeface="Calibri"/>
            </a:endParaRPr>
          </a:p>
        </p:txBody>
      </p:sp>
      <p:sp>
        <p:nvSpPr>
          <p:cNvPr id="269" name="Google Shape;269;p11"/>
          <p:cNvSpPr/>
          <p:nvPr/>
        </p:nvSpPr>
        <p:spPr>
          <a:xfrm>
            <a:off x="475488" y="841248"/>
            <a:ext cx="10424160" cy="8412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D2434"/>
              </a:buClr>
              <a:buSzPts val="3200"/>
              <a:buFont typeface="Poppins SemiBold"/>
              <a:buNone/>
            </a:pPr>
            <a:r>
              <a:rPr lang="en-US" sz="3200">
                <a:solidFill>
                  <a:srgbClr val="0D2434"/>
                </a:solidFill>
                <a:latin typeface="Poppins SemiBold"/>
                <a:ea typeface="Poppins SemiBold"/>
                <a:cs typeface="Poppins SemiBold"/>
                <a:sym typeface="Poppins SemiBold"/>
              </a:rPr>
              <a:t>Squeeze everything out of this year</a:t>
            </a:r>
            <a:endParaRPr sz="3200">
              <a:solidFill>
                <a:schemeClr val="dk1"/>
              </a:solidFill>
              <a:latin typeface="Calibri"/>
              <a:ea typeface="Calibri"/>
              <a:cs typeface="Calibri"/>
              <a:sym typeface="Calibri"/>
            </a:endParaRPr>
          </a:p>
        </p:txBody>
      </p:sp>
      <p:sp>
        <p:nvSpPr>
          <p:cNvPr id="270" name="Google Shape;270;p11"/>
          <p:cNvSpPr/>
          <p:nvPr/>
        </p:nvSpPr>
        <p:spPr>
          <a:xfrm>
            <a:off x="9494215" y="530352"/>
            <a:ext cx="2194560" cy="420624"/>
          </a:xfrm>
          <a:prstGeom prst="roundRect">
            <a:avLst>
              <a:gd fmla="val 50000" name="adj"/>
            </a:avLst>
          </a:prstGeom>
          <a:solidFill>
            <a:srgbClr val="0D2434"/>
          </a:solidFill>
          <a:ln>
            <a:noFill/>
          </a:ln>
          <a:effectLst>
            <a:outerShdw blurRad="88900" rotWithShape="0" algn="bl" dir="8100000" dist="25400">
              <a:srgbClr val="0D2434">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1" name="Google Shape;271;p11"/>
          <p:cNvSpPr/>
          <p:nvPr/>
        </p:nvSpPr>
        <p:spPr>
          <a:xfrm>
            <a:off x="9494215" y="530352"/>
            <a:ext cx="2194560"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50"/>
              <a:buFont typeface="Poppins SemiBold"/>
              <a:buNone/>
            </a:pPr>
            <a:r>
              <a:rPr lang="en-US" sz="950">
                <a:solidFill>
                  <a:srgbClr val="FFFFFF"/>
                </a:solidFill>
                <a:latin typeface="Poppins SemiBold"/>
                <a:ea typeface="Poppins SemiBold"/>
                <a:cs typeface="Poppins SemiBold"/>
                <a:sym typeface="Poppins SemiBold"/>
              </a:rPr>
              <a:t>STRAIGHT TALK</a:t>
            </a:r>
            <a:endParaRPr sz="950">
              <a:solidFill>
                <a:schemeClr val="dk1"/>
              </a:solidFill>
              <a:latin typeface="Calibri"/>
              <a:ea typeface="Calibri"/>
              <a:cs typeface="Calibri"/>
              <a:sym typeface="Calibri"/>
            </a:endParaRPr>
          </a:p>
        </p:txBody>
      </p:sp>
      <p:sp>
        <p:nvSpPr>
          <p:cNvPr id="272" name="Google Shape;272;p11"/>
          <p:cNvSpPr/>
          <p:nvPr/>
        </p:nvSpPr>
        <p:spPr>
          <a:xfrm>
            <a:off x="502920" y="1810512"/>
            <a:ext cx="108813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6F"/>
              </a:buClr>
              <a:buSzPts val="1300"/>
              <a:buFont typeface="Poppins"/>
              <a:buNone/>
            </a:pPr>
            <a:r>
              <a:rPr lang="en-US" sz="1300">
                <a:solidFill>
                  <a:srgbClr val="5A6A6F"/>
                </a:solidFill>
                <a:latin typeface="Poppins"/>
                <a:ea typeface="Poppins"/>
                <a:cs typeface="Poppins"/>
                <a:sym typeface="Poppins"/>
              </a:rPr>
              <a:t>This is your last year here. Beyond the qualification, there's still a lot worth grabbing.</a:t>
            </a:r>
            <a:endParaRPr sz="1300">
              <a:solidFill>
                <a:schemeClr val="dk1"/>
              </a:solidFill>
              <a:latin typeface="Calibri"/>
              <a:ea typeface="Calibri"/>
              <a:cs typeface="Calibri"/>
              <a:sym typeface="Calibri"/>
            </a:endParaRPr>
          </a:p>
        </p:txBody>
      </p:sp>
      <p:sp>
        <p:nvSpPr>
          <p:cNvPr id="273" name="Google Shape;273;p11"/>
          <p:cNvSpPr/>
          <p:nvPr/>
        </p:nvSpPr>
        <p:spPr>
          <a:xfrm>
            <a:off x="502920" y="2377440"/>
            <a:ext cx="5532120" cy="3108960"/>
          </a:xfrm>
          <a:prstGeom prst="roundRect">
            <a:avLst>
              <a:gd fmla="val 3529" name="adj"/>
            </a:avLst>
          </a:prstGeom>
          <a:solidFill>
            <a:srgbClr val="FFFFFF"/>
          </a:solidFill>
          <a:ln cap="flat" cmpd="sng" w="12700">
            <a:solidFill>
              <a:srgbClr val="D2DBDA"/>
            </a:solidFill>
            <a:prstDash val="solid"/>
            <a:round/>
            <a:headEnd len="sm" w="sm" type="none"/>
            <a:tailEnd len="sm" w="sm" type="none"/>
          </a:ln>
          <a:effectLst>
            <a:outerShdw blurRad="88900" rotWithShape="0" algn="bl" dir="8100000" dist="25400">
              <a:srgbClr val="0D2434">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4" name="Google Shape;274;p11"/>
          <p:cNvSpPr/>
          <p:nvPr/>
        </p:nvSpPr>
        <p:spPr>
          <a:xfrm>
            <a:off x="502920" y="2377440"/>
            <a:ext cx="5532120" cy="457200"/>
          </a:xfrm>
          <a:prstGeom prst="rect">
            <a:avLst/>
          </a:prstGeom>
          <a:solidFill>
            <a:srgbClr val="0F7A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5" name="Google Shape;275;p11"/>
          <p:cNvSpPr/>
          <p:nvPr/>
        </p:nvSpPr>
        <p:spPr>
          <a:xfrm>
            <a:off x="777240" y="2377440"/>
            <a:ext cx="49834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50"/>
              <a:buFont typeface="Poppins SemiBold"/>
              <a:buNone/>
            </a:pPr>
            <a:r>
              <a:rPr lang="en-US" sz="1050">
                <a:solidFill>
                  <a:srgbClr val="FFFFFF"/>
                </a:solidFill>
                <a:latin typeface="Poppins SemiBold"/>
                <a:ea typeface="Poppins SemiBold"/>
                <a:cs typeface="Poppins SemiBold"/>
                <a:sym typeface="Poppins SemiBold"/>
              </a:rPr>
              <a:t>WORTH YOUR TIME THIS YEAR</a:t>
            </a:r>
            <a:endParaRPr sz="1050">
              <a:solidFill>
                <a:schemeClr val="dk1"/>
              </a:solidFill>
              <a:latin typeface="Calibri"/>
              <a:ea typeface="Calibri"/>
              <a:cs typeface="Calibri"/>
              <a:sym typeface="Calibri"/>
            </a:endParaRPr>
          </a:p>
        </p:txBody>
      </p:sp>
      <p:sp>
        <p:nvSpPr>
          <p:cNvPr id="276" name="Google Shape;276;p11"/>
          <p:cNvSpPr/>
          <p:nvPr/>
        </p:nvSpPr>
        <p:spPr>
          <a:xfrm>
            <a:off x="777240" y="3081528"/>
            <a:ext cx="146304" cy="146304"/>
          </a:xfrm>
          <a:prstGeom prst="ellipse">
            <a:avLst/>
          </a:prstGeom>
          <a:solidFill>
            <a:srgbClr val="0F7A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7" name="Google Shape;277;p11"/>
          <p:cNvSpPr/>
          <p:nvPr/>
        </p:nvSpPr>
        <p:spPr>
          <a:xfrm>
            <a:off x="1051560" y="2980944"/>
            <a:ext cx="4709160" cy="731520"/>
          </a:xfrm>
          <a:prstGeom prst="rect">
            <a:avLst/>
          </a:prstGeom>
          <a:noFill/>
          <a:ln>
            <a:noFill/>
          </a:ln>
        </p:spPr>
        <p:txBody>
          <a:bodyPr anchorCtr="0" anchor="t" bIns="0" lIns="0" spcFirstLastPara="1" rIns="0" wrap="square" tIns="0">
            <a:noAutofit/>
          </a:bodyPr>
          <a:lstStyle/>
          <a:p>
            <a:pPr indent="0" lvl="0" marL="0" marR="0" rtl="0" algn="l">
              <a:lnSpc>
                <a:spcPct val="128571"/>
              </a:lnSpc>
              <a:spcBef>
                <a:spcPts val="0"/>
              </a:spcBef>
              <a:spcAft>
                <a:spcPts val="0"/>
              </a:spcAft>
              <a:buClr>
                <a:srgbClr val="1B2A30"/>
              </a:buClr>
              <a:buSzPts val="1050"/>
              <a:buFont typeface="Poppins"/>
              <a:buNone/>
            </a:pPr>
            <a:r>
              <a:rPr lang="en-US" sz="1050">
                <a:solidFill>
                  <a:srgbClr val="1B2A30"/>
                </a:solidFill>
                <a:latin typeface="Poppins"/>
                <a:ea typeface="Poppins"/>
                <a:cs typeface="Poppins"/>
                <a:sym typeface="Poppins"/>
              </a:rPr>
              <a:t>Enrichment and activities — industry visits, live briefs, competitions — still build the portfolio and the experience employers ask about.</a:t>
            </a:r>
            <a:endParaRPr sz="1050">
              <a:solidFill>
                <a:schemeClr val="dk1"/>
              </a:solidFill>
              <a:latin typeface="Calibri"/>
              <a:ea typeface="Calibri"/>
              <a:cs typeface="Calibri"/>
              <a:sym typeface="Calibri"/>
            </a:endParaRPr>
          </a:p>
        </p:txBody>
      </p:sp>
      <p:sp>
        <p:nvSpPr>
          <p:cNvPr id="278" name="Google Shape;278;p11"/>
          <p:cNvSpPr/>
          <p:nvPr/>
        </p:nvSpPr>
        <p:spPr>
          <a:xfrm>
            <a:off x="777240" y="3867912"/>
            <a:ext cx="146304" cy="146304"/>
          </a:xfrm>
          <a:prstGeom prst="ellipse">
            <a:avLst/>
          </a:prstGeom>
          <a:solidFill>
            <a:srgbClr val="0F7A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9" name="Google Shape;279;p11"/>
          <p:cNvSpPr/>
          <p:nvPr/>
        </p:nvSpPr>
        <p:spPr>
          <a:xfrm>
            <a:off x="1051560" y="3767328"/>
            <a:ext cx="4709160" cy="731520"/>
          </a:xfrm>
          <a:prstGeom prst="rect">
            <a:avLst/>
          </a:prstGeom>
          <a:noFill/>
          <a:ln>
            <a:noFill/>
          </a:ln>
        </p:spPr>
        <p:txBody>
          <a:bodyPr anchorCtr="0" anchor="t" bIns="0" lIns="0" spcFirstLastPara="1" rIns="0" wrap="square" tIns="0">
            <a:noAutofit/>
          </a:bodyPr>
          <a:lstStyle/>
          <a:p>
            <a:pPr indent="0" lvl="0" marL="0" marR="0" rtl="0" algn="l">
              <a:lnSpc>
                <a:spcPct val="128571"/>
              </a:lnSpc>
              <a:spcBef>
                <a:spcPts val="0"/>
              </a:spcBef>
              <a:spcAft>
                <a:spcPts val="0"/>
              </a:spcAft>
              <a:buClr>
                <a:srgbClr val="1B2A30"/>
              </a:buClr>
              <a:buSzPts val="1050"/>
              <a:buFont typeface="Poppins"/>
              <a:buNone/>
            </a:pPr>
            <a:r>
              <a:rPr lang="en-US" sz="1050">
                <a:solidFill>
                  <a:srgbClr val="1B2A30"/>
                </a:solidFill>
                <a:latin typeface="Poppins"/>
                <a:ea typeface="Poppins"/>
                <a:cs typeface="Poppins"/>
                <a:sym typeface="Poppins"/>
              </a:rPr>
              <a:t>Anything that strengthens your application — a competition, a project, a responsibility.</a:t>
            </a:r>
            <a:endParaRPr sz="1050">
              <a:solidFill>
                <a:schemeClr val="dk1"/>
              </a:solidFill>
              <a:latin typeface="Calibri"/>
              <a:ea typeface="Calibri"/>
              <a:cs typeface="Calibri"/>
              <a:sym typeface="Calibri"/>
            </a:endParaRPr>
          </a:p>
        </p:txBody>
      </p:sp>
      <p:sp>
        <p:nvSpPr>
          <p:cNvPr id="280" name="Google Shape;280;p11"/>
          <p:cNvSpPr/>
          <p:nvPr/>
        </p:nvSpPr>
        <p:spPr>
          <a:xfrm>
            <a:off x="777240" y="4654296"/>
            <a:ext cx="146304" cy="146304"/>
          </a:xfrm>
          <a:prstGeom prst="ellipse">
            <a:avLst/>
          </a:prstGeom>
          <a:solidFill>
            <a:srgbClr val="0F7A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1" name="Google Shape;281;p11"/>
          <p:cNvSpPr/>
          <p:nvPr/>
        </p:nvSpPr>
        <p:spPr>
          <a:xfrm>
            <a:off x="1051560" y="4553712"/>
            <a:ext cx="4709160" cy="731520"/>
          </a:xfrm>
          <a:prstGeom prst="rect">
            <a:avLst/>
          </a:prstGeom>
          <a:noFill/>
          <a:ln>
            <a:noFill/>
          </a:ln>
        </p:spPr>
        <p:txBody>
          <a:bodyPr anchorCtr="0" anchor="t" bIns="0" lIns="0" spcFirstLastPara="1" rIns="0" wrap="square" tIns="0">
            <a:noAutofit/>
          </a:bodyPr>
          <a:lstStyle/>
          <a:p>
            <a:pPr indent="0" lvl="0" marL="0" marR="0" rtl="0" algn="l">
              <a:lnSpc>
                <a:spcPct val="128571"/>
              </a:lnSpc>
              <a:spcBef>
                <a:spcPts val="0"/>
              </a:spcBef>
              <a:spcAft>
                <a:spcPts val="0"/>
              </a:spcAft>
              <a:buClr>
                <a:srgbClr val="1B2A30"/>
              </a:buClr>
              <a:buSzPts val="1050"/>
              <a:buFont typeface="Poppins"/>
              <a:buNone/>
            </a:pPr>
            <a:r>
              <a:rPr lang="en-US" sz="1050">
                <a:solidFill>
                  <a:srgbClr val="1B2A30"/>
                </a:solidFill>
                <a:latin typeface="Poppins"/>
                <a:ea typeface="Poppins"/>
                <a:cs typeface="Poppins"/>
                <a:sym typeface="Poppins"/>
              </a:rPr>
              <a:t>Your placement or industry project — treat it as a long interview. Many students get their first paid work through placements.</a:t>
            </a:r>
            <a:endParaRPr sz="1050">
              <a:solidFill>
                <a:schemeClr val="dk1"/>
              </a:solidFill>
              <a:latin typeface="Calibri"/>
              <a:ea typeface="Calibri"/>
              <a:cs typeface="Calibri"/>
              <a:sym typeface="Calibri"/>
            </a:endParaRPr>
          </a:p>
        </p:txBody>
      </p:sp>
      <p:sp>
        <p:nvSpPr>
          <p:cNvPr id="282" name="Google Shape;282;p11"/>
          <p:cNvSpPr/>
          <p:nvPr/>
        </p:nvSpPr>
        <p:spPr>
          <a:xfrm>
            <a:off x="6309360" y="2377440"/>
            <a:ext cx="5376672" cy="3108960"/>
          </a:xfrm>
          <a:prstGeom prst="roundRect">
            <a:avLst>
              <a:gd fmla="val 3529" name="adj"/>
            </a:avLst>
          </a:prstGeom>
          <a:solidFill>
            <a:srgbClr val="FFCF01"/>
          </a:solidFill>
          <a:ln>
            <a:noFill/>
          </a:ln>
          <a:effectLst>
            <a:outerShdw blurRad="88900" rotWithShape="0" algn="bl" dir="8100000" dist="25400">
              <a:srgbClr val="0D2434">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283" name="Google Shape;283;p11"/>
          <p:cNvPicPr preferRelativeResize="0"/>
          <p:nvPr/>
        </p:nvPicPr>
        <p:blipFill rotWithShape="1">
          <a:blip r:embed="rId3">
            <a:alphaModFix/>
          </a:blip>
          <a:srcRect b="0" l="0" r="0" t="0"/>
          <a:stretch/>
        </p:blipFill>
        <p:spPr>
          <a:xfrm>
            <a:off x="6601968" y="2670048"/>
            <a:ext cx="475488" cy="475488"/>
          </a:xfrm>
          <a:prstGeom prst="rect">
            <a:avLst/>
          </a:prstGeom>
          <a:noFill/>
          <a:ln>
            <a:noFill/>
          </a:ln>
        </p:spPr>
      </p:pic>
      <p:sp>
        <p:nvSpPr>
          <p:cNvPr id="284" name="Google Shape;284;p11"/>
          <p:cNvSpPr/>
          <p:nvPr/>
        </p:nvSpPr>
        <p:spPr>
          <a:xfrm>
            <a:off x="6601968" y="3200400"/>
            <a:ext cx="4791456"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1700"/>
              <a:buFont typeface="Poppins SemiBold"/>
              <a:buNone/>
            </a:pPr>
            <a:r>
              <a:rPr lang="en-US" sz="1700">
                <a:solidFill>
                  <a:srgbClr val="0D2434"/>
                </a:solidFill>
                <a:latin typeface="Poppins SemiBold"/>
                <a:ea typeface="Poppins SemiBold"/>
                <a:cs typeface="Poppins SemiBold"/>
                <a:sym typeface="Poppins SemiBold"/>
              </a:rPr>
              <a:t>The CV test</a:t>
            </a:r>
            <a:endParaRPr sz="1700">
              <a:solidFill>
                <a:schemeClr val="dk1"/>
              </a:solidFill>
              <a:latin typeface="Calibri"/>
              <a:ea typeface="Calibri"/>
              <a:cs typeface="Calibri"/>
              <a:sym typeface="Calibri"/>
            </a:endParaRPr>
          </a:p>
        </p:txBody>
      </p:sp>
      <p:sp>
        <p:nvSpPr>
          <p:cNvPr id="285" name="Google Shape;285;p11"/>
          <p:cNvSpPr/>
          <p:nvPr/>
        </p:nvSpPr>
        <p:spPr>
          <a:xfrm>
            <a:off x="6601968" y="3621024"/>
            <a:ext cx="4791456" cy="1737360"/>
          </a:xfrm>
          <a:prstGeom prst="rect">
            <a:avLst/>
          </a:prstGeom>
          <a:noFill/>
          <a:ln>
            <a:noFill/>
          </a:ln>
        </p:spPr>
        <p:txBody>
          <a:bodyPr anchorCtr="0" anchor="ctr" bIns="0" lIns="0" spcFirstLastPara="1" rIns="0" wrap="square" tIns="0">
            <a:noAutofit/>
          </a:bodyPr>
          <a:lstStyle/>
          <a:p>
            <a:pPr indent="0" lvl="0" marL="0" marR="0" rtl="0" algn="l">
              <a:lnSpc>
                <a:spcPct val="136363"/>
              </a:lnSpc>
              <a:spcBef>
                <a:spcPts val="0"/>
              </a:spcBef>
              <a:spcAft>
                <a:spcPts val="0"/>
              </a:spcAft>
              <a:buClr>
                <a:srgbClr val="0D2434"/>
              </a:buClr>
              <a:buSzPts val="1100"/>
              <a:buFont typeface="Poppins"/>
              <a:buNone/>
            </a:pPr>
            <a:r>
              <a:rPr lang="en-US" sz="1100">
                <a:solidFill>
                  <a:srgbClr val="0D2434"/>
                </a:solidFill>
                <a:latin typeface="Poppins"/>
                <a:ea typeface="Poppins"/>
                <a:cs typeface="Poppins"/>
                <a:sym typeface="Poppins"/>
              </a:rPr>
              <a:t>Quick way to decide if something's worth your time this year:</a:t>
            </a:r>
            <a:endParaRPr sz="1100">
              <a:solidFill>
                <a:schemeClr val="dk1"/>
              </a:solidFill>
              <a:latin typeface="Calibri"/>
              <a:ea typeface="Calibri"/>
              <a:cs typeface="Calibri"/>
              <a:sym typeface="Calibri"/>
            </a:endParaRPr>
          </a:p>
          <a:p>
            <a:pPr indent="0" lvl="0" marL="0" marR="0" rtl="0" algn="l">
              <a:lnSpc>
                <a:spcPct val="136363"/>
              </a:lnSpc>
              <a:spcBef>
                <a:spcPts val="0"/>
              </a:spcBef>
              <a:spcAft>
                <a:spcPts val="0"/>
              </a:spcAft>
              <a:buClr>
                <a:schemeClr val="dk1"/>
              </a:buClr>
              <a:buSzPts val="1100"/>
              <a:buFont typeface="Calibri"/>
              <a:buNone/>
            </a:pPr>
            <a:r>
              <a:t/>
            </a:r>
            <a:endParaRPr sz="1100">
              <a:solidFill>
                <a:schemeClr val="dk1"/>
              </a:solidFill>
              <a:latin typeface="Calibri"/>
              <a:ea typeface="Calibri"/>
              <a:cs typeface="Calibri"/>
              <a:sym typeface="Calibri"/>
            </a:endParaRPr>
          </a:p>
          <a:p>
            <a:pPr indent="0" lvl="0" marL="0" marR="0" rtl="0" algn="l">
              <a:lnSpc>
                <a:spcPct val="136363"/>
              </a:lnSpc>
              <a:spcBef>
                <a:spcPts val="0"/>
              </a:spcBef>
              <a:spcAft>
                <a:spcPts val="0"/>
              </a:spcAft>
              <a:buClr>
                <a:srgbClr val="0D2434"/>
              </a:buClr>
              <a:buSzPts val="1100"/>
              <a:buFont typeface="Poppins"/>
              <a:buNone/>
            </a:pPr>
            <a:r>
              <a:rPr lang="en-US" sz="1100">
                <a:solidFill>
                  <a:srgbClr val="0D2434"/>
                </a:solidFill>
                <a:latin typeface="Poppins"/>
                <a:ea typeface="Poppins"/>
                <a:cs typeface="Poppins"/>
                <a:sym typeface="Poppins"/>
              </a:rPr>
              <a:t>"Will this give me something real to say in an interview or on an application?"</a:t>
            </a:r>
            <a:endParaRPr sz="1100">
              <a:solidFill>
                <a:schemeClr val="dk1"/>
              </a:solidFill>
              <a:latin typeface="Calibri"/>
              <a:ea typeface="Calibri"/>
              <a:cs typeface="Calibri"/>
              <a:sym typeface="Calibri"/>
            </a:endParaRPr>
          </a:p>
          <a:p>
            <a:pPr indent="0" lvl="0" marL="0" marR="0" rtl="0" algn="l">
              <a:lnSpc>
                <a:spcPct val="136363"/>
              </a:lnSpc>
              <a:spcBef>
                <a:spcPts val="0"/>
              </a:spcBef>
              <a:spcAft>
                <a:spcPts val="0"/>
              </a:spcAft>
              <a:buClr>
                <a:schemeClr val="dk1"/>
              </a:buClr>
              <a:buSzPts val="1100"/>
              <a:buFont typeface="Calibri"/>
              <a:buNone/>
            </a:pPr>
            <a:r>
              <a:t/>
            </a:r>
            <a:endParaRPr sz="1100">
              <a:solidFill>
                <a:schemeClr val="dk1"/>
              </a:solidFill>
              <a:latin typeface="Calibri"/>
              <a:ea typeface="Calibri"/>
              <a:cs typeface="Calibri"/>
              <a:sym typeface="Calibri"/>
            </a:endParaRPr>
          </a:p>
          <a:p>
            <a:pPr indent="0" lvl="0" marL="0" marR="0" rtl="0" algn="l">
              <a:lnSpc>
                <a:spcPct val="136363"/>
              </a:lnSpc>
              <a:spcBef>
                <a:spcPts val="0"/>
              </a:spcBef>
              <a:spcAft>
                <a:spcPts val="0"/>
              </a:spcAft>
              <a:buClr>
                <a:srgbClr val="0D2434"/>
              </a:buClr>
              <a:buSzPts val="1100"/>
              <a:buFont typeface="Poppins"/>
              <a:buNone/>
            </a:pPr>
            <a:r>
              <a:rPr lang="en-US" sz="1100">
                <a:solidFill>
                  <a:srgbClr val="0D2434"/>
                </a:solidFill>
                <a:latin typeface="Poppins"/>
                <a:ea typeface="Poppins"/>
                <a:cs typeface="Poppins"/>
                <a:sym typeface="Poppins"/>
              </a:rPr>
              <a:t>If yes — do it. This is the year that builds the story you'll tell about yourself.</a:t>
            </a:r>
            <a:endParaRPr sz="1100">
              <a:solidFill>
                <a:schemeClr val="dk1"/>
              </a:solidFill>
              <a:latin typeface="Calibri"/>
              <a:ea typeface="Calibri"/>
              <a:cs typeface="Calibri"/>
              <a:sym typeface="Calibri"/>
            </a:endParaRPr>
          </a:p>
        </p:txBody>
      </p:sp>
      <p:sp>
        <p:nvSpPr>
          <p:cNvPr id="286" name="Google Shape;286;p11"/>
          <p:cNvSpPr/>
          <p:nvPr/>
        </p:nvSpPr>
        <p:spPr>
          <a:xfrm>
            <a:off x="502920" y="6437376"/>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1A4"/>
              </a:buClr>
              <a:buSzPts val="850"/>
              <a:buFont typeface="Poppins"/>
              <a:buNone/>
            </a:pPr>
            <a:r>
              <a:rPr lang="en-US" sz="850">
                <a:solidFill>
                  <a:srgbClr val="94A1A4"/>
                </a:solidFill>
                <a:latin typeface="Poppins"/>
                <a:ea typeface="Poppins"/>
                <a:cs typeface="Poppins"/>
                <a:sym typeface="Poppins"/>
              </a:rPr>
              <a:t>ESCG Student Induction 2026–27</a:t>
            </a:r>
            <a:r>
              <a:rPr lang="en-US" sz="850">
                <a:solidFill>
                  <a:srgbClr val="D2DBDA"/>
                </a:solidFill>
                <a:latin typeface="Poppins"/>
                <a:ea typeface="Poppins"/>
                <a:cs typeface="Poppins"/>
                <a:sym typeface="Poppins"/>
              </a:rPr>
              <a:t>   ·   </a:t>
            </a:r>
            <a:r>
              <a:rPr lang="en-US" sz="850">
                <a:solidFill>
                  <a:srgbClr val="94A1A4"/>
                </a:solidFill>
                <a:latin typeface="Poppins"/>
                <a:ea typeface="Poppins"/>
                <a:cs typeface="Poppins"/>
                <a:sym typeface="Poppins"/>
              </a:rPr>
              <a:t>Module A — Welcome Back</a:t>
            </a:r>
            <a:endParaRPr sz="850">
              <a:solidFill>
                <a:schemeClr val="dk1"/>
              </a:solidFill>
              <a:latin typeface="Calibri"/>
              <a:ea typeface="Calibri"/>
              <a:cs typeface="Calibri"/>
              <a:sym typeface="Calibri"/>
            </a:endParaRPr>
          </a:p>
        </p:txBody>
      </p:sp>
      <p:sp>
        <p:nvSpPr>
          <p:cNvPr id="287" name="Google Shape;287;p11"/>
          <p:cNvSpPr/>
          <p:nvPr/>
        </p:nvSpPr>
        <p:spPr>
          <a:xfrm>
            <a:off x="9494215" y="6400800"/>
            <a:ext cx="2194560" cy="292608"/>
          </a:xfrm>
          <a:prstGeom prst="roundRect">
            <a:avLst>
              <a:gd fmla="val 50000" name="adj"/>
            </a:avLst>
          </a:prstGeom>
          <a:solidFill>
            <a:srgbClr val="E2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8" name="Google Shape;288;p11"/>
          <p:cNvSpPr/>
          <p:nvPr/>
        </p:nvSpPr>
        <p:spPr>
          <a:xfrm>
            <a:off x="9494215" y="6400800"/>
            <a:ext cx="2194560" cy="292608"/>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F7A54"/>
              </a:buClr>
              <a:buSzPts val="700"/>
              <a:buFont typeface="Poppins SemiBold"/>
              <a:buNone/>
            </a:pPr>
            <a:r>
              <a:rPr lang="en-US" sz="700">
                <a:solidFill>
                  <a:srgbClr val="0F7A54"/>
                </a:solidFill>
                <a:latin typeface="Poppins SemiBold"/>
                <a:ea typeface="Poppins SemiBold"/>
                <a:cs typeface="Poppins SemiBold"/>
                <a:sym typeface="Poppins SemiBold"/>
              </a:rPr>
              <a:t>L3/ T- Level  · YEAR 2 · FINAL YEAR</a:t>
            </a:r>
            <a:endParaRPr sz="700">
              <a:solidFill>
                <a:schemeClr val="dk1"/>
              </a:solidFill>
              <a:latin typeface="Calibri"/>
              <a:ea typeface="Calibri"/>
              <a:cs typeface="Calibri"/>
              <a:sym typeface="Calibri"/>
            </a:endParaRPr>
          </a:p>
        </p:txBody>
      </p:sp>
      <p:sp>
        <p:nvSpPr>
          <p:cNvPr id="289" name="Google Shape;289;p11"/>
          <p:cNvSpPr/>
          <p:nvPr/>
        </p:nvSpPr>
        <p:spPr>
          <a:xfrm>
            <a:off x="11734495" y="6400800"/>
            <a:ext cx="3657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1A4"/>
              </a:buClr>
              <a:buSzPts val="900"/>
              <a:buFont typeface="Poppins SemiBold"/>
              <a:buNone/>
            </a:pPr>
            <a:r>
              <a:rPr lang="en-US" sz="900">
                <a:solidFill>
                  <a:srgbClr val="94A1A4"/>
                </a:solidFill>
                <a:latin typeface="Poppins SemiBold"/>
                <a:ea typeface="Poppins SemiBold"/>
                <a:cs typeface="Poppins SemiBold"/>
                <a:sym typeface="Poppins SemiBold"/>
              </a:rPr>
              <a:t>9</a:t>
            </a:r>
            <a:endParaRPr sz="9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294" name="Shape 294"/>
        <p:cNvGrpSpPr/>
        <p:nvPr/>
      </p:nvGrpSpPr>
      <p:grpSpPr>
        <a:xfrm>
          <a:off x="0" y="0"/>
          <a:ext cx="0" cy="0"/>
          <a:chOff x="0" y="0"/>
          <a:chExt cx="0" cy="0"/>
        </a:xfrm>
      </p:grpSpPr>
      <p:sp>
        <p:nvSpPr>
          <p:cNvPr id="295" name="Google Shape;295;p12"/>
          <p:cNvSpPr/>
          <p:nvPr/>
        </p:nvSpPr>
        <p:spPr>
          <a:xfrm>
            <a:off x="502920" y="576072"/>
            <a:ext cx="219456" cy="219456"/>
          </a:xfrm>
          <a:prstGeom prst="rect">
            <a:avLst/>
          </a:prstGeom>
          <a:solidFill>
            <a:srgbClr val="FFCF0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6" name="Google Shape;296;p12"/>
          <p:cNvSpPr/>
          <p:nvPr/>
        </p:nvSpPr>
        <p:spPr>
          <a:xfrm>
            <a:off x="850392" y="512064"/>
            <a:ext cx="777240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7A54"/>
              </a:buClr>
              <a:buSzPts val="1150"/>
              <a:buFont typeface="Poppins SemiBold"/>
              <a:buNone/>
            </a:pPr>
            <a:r>
              <a:rPr lang="en-US" sz="1150">
                <a:solidFill>
                  <a:srgbClr val="0F7A54"/>
                </a:solidFill>
                <a:latin typeface="Poppins SemiBold"/>
                <a:ea typeface="Poppins SemiBold"/>
                <a:cs typeface="Poppins SemiBold"/>
                <a:sym typeface="Poppins SemiBold"/>
              </a:rPr>
              <a:t>BEFORE WE FINISH</a:t>
            </a:r>
            <a:endParaRPr sz="1150">
              <a:solidFill>
                <a:schemeClr val="dk1"/>
              </a:solidFill>
              <a:latin typeface="Calibri"/>
              <a:ea typeface="Calibri"/>
              <a:cs typeface="Calibri"/>
              <a:sym typeface="Calibri"/>
            </a:endParaRPr>
          </a:p>
        </p:txBody>
      </p:sp>
      <p:sp>
        <p:nvSpPr>
          <p:cNvPr id="297" name="Google Shape;297;p12"/>
          <p:cNvSpPr/>
          <p:nvPr/>
        </p:nvSpPr>
        <p:spPr>
          <a:xfrm>
            <a:off x="475488" y="841248"/>
            <a:ext cx="10424160" cy="84124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D2434"/>
              </a:buClr>
              <a:buSzPts val="3200"/>
              <a:buFont typeface="Poppins SemiBold"/>
              <a:buNone/>
            </a:pPr>
            <a:r>
              <a:rPr lang="en-US" sz="3200">
                <a:solidFill>
                  <a:srgbClr val="0D2434"/>
                </a:solidFill>
                <a:latin typeface="Poppins SemiBold"/>
                <a:ea typeface="Poppins SemiBold"/>
                <a:cs typeface="Poppins SemiBold"/>
                <a:sym typeface="Poppins SemiBold"/>
              </a:rPr>
              <a:t>My final-year focus</a:t>
            </a:r>
            <a:endParaRPr sz="3200">
              <a:solidFill>
                <a:schemeClr val="dk1"/>
              </a:solidFill>
              <a:latin typeface="Calibri"/>
              <a:ea typeface="Calibri"/>
              <a:cs typeface="Calibri"/>
              <a:sym typeface="Calibri"/>
            </a:endParaRPr>
          </a:p>
        </p:txBody>
      </p:sp>
      <p:sp>
        <p:nvSpPr>
          <p:cNvPr id="298" name="Google Shape;298;p12"/>
          <p:cNvSpPr/>
          <p:nvPr/>
        </p:nvSpPr>
        <p:spPr>
          <a:xfrm>
            <a:off x="9494215" y="530352"/>
            <a:ext cx="2194560" cy="420624"/>
          </a:xfrm>
          <a:prstGeom prst="roundRect">
            <a:avLst>
              <a:gd fmla="val 50000" name="adj"/>
            </a:avLst>
          </a:prstGeom>
          <a:solidFill>
            <a:srgbClr val="FFCF01"/>
          </a:solidFill>
          <a:ln>
            <a:noFill/>
          </a:ln>
          <a:effectLst>
            <a:outerShdw blurRad="88900" rotWithShape="0" algn="bl" dir="8100000" dist="25400">
              <a:srgbClr val="0D2434">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9" name="Google Shape;299;p12"/>
          <p:cNvSpPr/>
          <p:nvPr/>
        </p:nvSpPr>
        <p:spPr>
          <a:xfrm>
            <a:off x="9494215" y="530352"/>
            <a:ext cx="2194560"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2434"/>
              </a:buClr>
              <a:buSzPts val="950"/>
              <a:buFont typeface="Poppins SemiBold"/>
              <a:buNone/>
            </a:pPr>
            <a:r>
              <a:rPr lang="en-US" sz="950">
                <a:solidFill>
                  <a:srgbClr val="0D2434"/>
                </a:solidFill>
                <a:latin typeface="Poppins SemiBold"/>
                <a:ea typeface="Poppins SemiBold"/>
                <a:cs typeface="Poppins SemiBold"/>
                <a:sym typeface="Poppins SemiBold"/>
              </a:rPr>
              <a:t>OVER TO YOU</a:t>
            </a:r>
            <a:endParaRPr sz="950">
              <a:solidFill>
                <a:schemeClr val="dk1"/>
              </a:solidFill>
              <a:latin typeface="Calibri"/>
              <a:ea typeface="Calibri"/>
              <a:cs typeface="Calibri"/>
              <a:sym typeface="Calibri"/>
            </a:endParaRPr>
          </a:p>
        </p:txBody>
      </p:sp>
      <p:sp>
        <p:nvSpPr>
          <p:cNvPr id="300" name="Google Shape;300;p12"/>
          <p:cNvSpPr/>
          <p:nvPr/>
        </p:nvSpPr>
        <p:spPr>
          <a:xfrm>
            <a:off x="502920" y="1856232"/>
            <a:ext cx="5989320" cy="3520440"/>
          </a:xfrm>
          <a:prstGeom prst="roundRect">
            <a:avLst>
              <a:gd fmla="val 3117" name="adj"/>
            </a:avLst>
          </a:prstGeom>
          <a:solidFill>
            <a:srgbClr val="FFFFFF"/>
          </a:solidFill>
          <a:ln cap="flat" cmpd="sng" w="12700">
            <a:solidFill>
              <a:srgbClr val="D2DBDA"/>
            </a:solidFill>
            <a:prstDash val="solid"/>
            <a:round/>
            <a:headEnd len="sm" w="sm" type="none"/>
            <a:tailEnd len="sm" w="sm" type="none"/>
          </a:ln>
          <a:effectLst>
            <a:outerShdw blurRad="88900" rotWithShape="0" algn="bl" dir="8100000" dist="25400">
              <a:srgbClr val="0D2434">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1" name="Google Shape;301;p12"/>
          <p:cNvSpPr/>
          <p:nvPr/>
        </p:nvSpPr>
        <p:spPr>
          <a:xfrm>
            <a:off x="502920" y="1856232"/>
            <a:ext cx="5989320" cy="548640"/>
          </a:xfrm>
          <a:prstGeom prst="rect">
            <a:avLst/>
          </a:prstGeom>
          <a:solidFill>
            <a:srgbClr val="FFCF0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2" name="Google Shape;302;p12"/>
          <p:cNvSpPr/>
          <p:nvPr/>
        </p:nvSpPr>
        <p:spPr>
          <a:xfrm>
            <a:off x="795528" y="1856232"/>
            <a:ext cx="544068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1200"/>
              <a:buFont typeface="Poppins SemiBold"/>
              <a:buNone/>
            </a:pPr>
            <a:r>
              <a:rPr lang="en-US" sz="1200">
                <a:solidFill>
                  <a:srgbClr val="0D2434"/>
                </a:solidFill>
                <a:latin typeface="Poppins SemiBold"/>
                <a:ea typeface="Poppins SemiBold"/>
                <a:cs typeface="Poppins SemiBold"/>
                <a:sym typeface="Poppins SemiBold"/>
              </a:rPr>
              <a:t>ACTIVITY  ·  MY FOCUS CARD</a:t>
            </a:r>
            <a:endParaRPr sz="1200">
              <a:solidFill>
                <a:schemeClr val="dk1"/>
              </a:solidFill>
              <a:latin typeface="Calibri"/>
              <a:ea typeface="Calibri"/>
              <a:cs typeface="Calibri"/>
              <a:sym typeface="Calibri"/>
            </a:endParaRPr>
          </a:p>
        </p:txBody>
      </p:sp>
      <p:sp>
        <p:nvSpPr>
          <p:cNvPr id="303" name="Google Shape;303;p12"/>
          <p:cNvSpPr/>
          <p:nvPr/>
        </p:nvSpPr>
        <p:spPr>
          <a:xfrm>
            <a:off x="795528" y="2569464"/>
            <a:ext cx="5422392"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150"/>
              <a:buFont typeface="Poppins"/>
              <a:buNone/>
            </a:pPr>
            <a:r>
              <a:rPr lang="en-US" sz="1150">
                <a:solidFill>
                  <a:srgbClr val="1B2A30"/>
                </a:solidFill>
                <a:latin typeface="Poppins"/>
                <a:ea typeface="Poppins"/>
                <a:cs typeface="Poppins"/>
                <a:sym typeface="Poppins"/>
              </a:rPr>
              <a:t>On your card, write a straight answer to all three:</a:t>
            </a:r>
            <a:endParaRPr sz="1150">
              <a:solidFill>
                <a:schemeClr val="dk1"/>
              </a:solidFill>
              <a:latin typeface="Calibri"/>
              <a:ea typeface="Calibri"/>
              <a:cs typeface="Calibri"/>
              <a:sym typeface="Calibri"/>
            </a:endParaRPr>
          </a:p>
        </p:txBody>
      </p:sp>
      <p:sp>
        <p:nvSpPr>
          <p:cNvPr id="304" name="Google Shape;304;p12"/>
          <p:cNvSpPr/>
          <p:nvPr/>
        </p:nvSpPr>
        <p:spPr>
          <a:xfrm>
            <a:off x="813816" y="3099816"/>
            <a:ext cx="310896" cy="310896"/>
          </a:xfrm>
          <a:prstGeom prst="ellipse">
            <a:avLst/>
          </a:prstGeom>
          <a:solidFill>
            <a:srgbClr val="E2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305" name="Google Shape;305;p12"/>
          <p:cNvPicPr preferRelativeResize="0"/>
          <p:nvPr/>
        </p:nvPicPr>
        <p:blipFill rotWithShape="1">
          <a:blip r:embed="rId3">
            <a:alphaModFix/>
          </a:blip>
          <a:srcRect b="0" l="0" r="0" t="0"/>
          <a:stretch/>
        </p:blipFill>
        <p:spPr>
          <a:xfrm>
            <a:off x="841248" y="3127248"/>
            <a:ext cx="256032" cy="256032"/>
          </a:xfrm>
          <a:prstGeom prst="rect">
            <a:avLst/>
          </a:prstGeom>
          <a:noFill/>
          <a:ln>
            <a:noFill/>
          </a:ln>
        </p:spPr>
      </p:pic>
      <p:sp>
        <p:nvSpPr>
          <p:cNvPr id="306" name="Google Shape;306;p12"/>
          <p:cNvSpPr/>
          <p:nvPr/>
        </p:nvSpPr>
        <p:spPr>
          <a:xfrm>
            <a:off x="1271016" y="2990088"/>
            <a:ext cx="489204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150"/>
              <a:buFont typeface="Poppins"/>
              <a:buNone/>
            </a:pPr>
            <a:r>
              <a:rPr lang="en-US" sz="1150">
                <a:solidFill>
                  <a:srgbClr val="1B2A30"/>
                </a:solidFill>
                <a:latin typeface="Poppins"/>
                <a:ea typeface="Poppins"/>
                <a:cs typeface="Poppins"/>
                <a:sym typeface="Poppins"/>
              </a:rPr>
              <a:t>Where I want to be when this year ends.</a:t>
            </a:r>
            <a:endParaRPr sz="1150">
              <a:solidFill>
                <a:schemeClr val="dk1"/>
              </a:solidFill>
              <a:latin typeface="Calibri"/>
              <a:ea typeface="Calibri"/>
              <a:cs typeface="Calibri"/>
              <a:sym typeface="Calibri"/>
            </a:endParaRPr>
          </a:p>
        </p:txBody>
      </p:sp>
      <p:sp>
        <p:nvSpPr>
          <p:cNvPr id="307" name="Google Shape;307;p12"/>
          <p:cNvSpPr/>
          <p:nvPr/>
        </p:nvSpPr>
        <p:spPr>
          <a:xfrm>
            <a:off x="813816" y="3648456"/>
            <a:ext cx="310896" cy="310896"/>
          </a:xfrm>
          <a:prstGeom prst="ellipse">
            <a:avLst/>
          </a:prstGeom>
          <a:solidFill>
            <a:srgbClr val="E2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308" name="Google Shape;308;p12"/>
          <p:cNvPicPr preferRelativeResize="0"/>
          <p:nvPr/>
        </p:nvPicPr>
        <p:blipFill rotWithShape="1">
          <a:blip r:embed="rId3">
            <a:alphaModFix/>
          </a:blip>
          <a:srcRect b="0" l="0" r="0" t="0"/>
          <a:stretch/>
        </p:blipFill>
        <p:spPr>
          <a:xfrm>
            <a:off x="841248" y="3675888"/>
            <a:ext cx="256032" cy="256032"/>
          </a:xfrm>
          <a:prstGeom prst="rect">
            <a:avLst/>
          </a:prstGeom>
          <a:noFill/>
          <a:ln>
            <a:noFill/>
          </a:ln>
        </p:spPr>
      </p:pic>
      <p:sp>
        <p:nvSpPr>
          <p:cNvPr id="309" name="Google Shape;309;p12"/>
          <p:cNvSpPr/>
          <p:nvPr/>
        </p:nvSpPr>
        <p:spPr>
          <a:xfrm>
            <a:off x="1271016" y="3538728"/>
            <a:ext cx="489204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150"/>
              <a:buFont typeface="Poppins"/>
              <a:buNone/>
            </a:pPr>
            <a:r>
              <a:rPr lang="en-US" sz="1150">
                <a:solidFill>
                  <a:srgbClr val="1B2A30"/>
                </a:solidFill>
                <a:latin typeface="Poppins"/>
                <a:ea typeface="Poppins"/>
                <a:cs typeface="Poppins"/>
                <a:sym typeface="Poppins"/>
              </a:rPr>
              <a:t>The one habit that will get me there.</a:t>
            </a:r>
            <a:endParaRPr sz="1150">
              <a:solidFill>
                <a:schemeClr val="dk1"/>
              </a:solidFill>
              <a:latin typeface="Calibri"/>
              <a:ea typeface="Calibri"/>
              <a:cs typeface="Calibri"/>
              <a:sym typeface="Calibri"/>
            </a:endParaRPr>
          </a:p>
        </p:txBody>
      </p:sp>
      <p:sp>
        <p:nvSpPr>
          <p:cNvPr id="310" name="Google Shape;310;p12"/>
          <p:cNvSpPr/>
          <p:nvPr/>
        </p:nvSpPr>
        <p:spPr>
          <a:xfrm>
            <a:off x="813816" y="4197096"/>
            <a:ext cx="310896" cy="310896"/>
          </a:xfrm>
          <a:prstGeom prst="ellipse">
            <a:avLst/>
          </a:prstGeom>
          <a:solidFill>
            <a:srgbClr val="E2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311" name="Google Shape;311;p12"/>
          <p:cNvPicPr preferRelativeResize="0"/>
          <p:nvPr/>
        </p:nvPicPr>
        <p:blipFill rotWithShape="1">
          <a:blip r:embed="rId3">
            <a:alphaModFix/>
          </a:blip>
          <a:srcRect b="0" l="0" r="0" t="0"/>
          <a:stretch/>
        </p:blipFill>
        <p:spPr>
          <a:xfrm>
            <a:off x="841248" y="4224528"/>
            <a:ext cx="256032" cy="256032"/>
          </a:xfrm>
          <a:prstGeom prst="rect">
            <a:avLst/>
          </a:prstGeom>
          <a:noFill/>
          <a:ln>
            <a:noFill/>
          </a:ln>
        </p:spPr>
      </p:pic>
      <p:sp>
        <p:nvSpPr>
          <p:cNvPr id="312" name="Google Shape;312;p12"/>
          <p:cNvSpPr/>
          <p:nvPr/>
        </p:nvSpPr>
        <p:spPr>
          <a:xfrm>
            <a:off x="1271016" y="4087368"/>
            <a:ext cx="489204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150"/>
              <a:buFont typeface="Poppins"/>
              <a:buNone/>
            </a:pPr>
            <a:r>
              <a:rPr lang="en-US" sz="1150">
                <a:solidFill>
                  <a:srgbClr val="1B2A30"/>
                </a:solidFill>
                <a:latin typeface="Poppins"/>
                <a:ea typeface="Poppins"/>
                <a:cs typeface="Poppins"/>
                <a:sym typeface="Poppins"/>
              </a:rPr>
              <a:t>The one thing I need to sort early — and won't leave.</a:t>
            </a:r>
            <a:endParaRPr sz="1150">
              <a:solidFill>
                <a:schemeClr val="dk1"/>
              </a:solidFill>
              <a:latin typeface="Calibri"/>
              <a:ea typeface="Calibri"/>
              <a:cs typeface="Calibri"/>
              <a:sym typeface="Calibri"/>
            </a:endParaRPr>
          </a:p>
        </p:txBody>
      </p:sp>
      <p:cxnSp>
        <p:nvCxnSpPr>
          <p:cNvPr id="313" name="Google Shape;313;p12"/>
          <p:cNvCxnSpPr/>
          <p:nvPr/>
        </p:nvCxnSpPr>
        <p:spPr>
          <a:xfrm>
            <a:off x="813816" y="4764024"/>
            <a:ext cx="5367528" cy="0"/>
          </a:xfrm>
          <a:prstGeom prst="straightConnector1">
            <a:avLst/>
          </a:prstGeom>
          <a:noFill/>
          <a:ln cap="flat" cmpd="sng" w="12700">
            <a:solidFill>
              <a:srgbClr val="D2DBDA"/>
            </a:solidFill>
            <a:prstDash val="solid"/>
            <a:round/>
            <a:headEnd len="sm" w="sm" type="none"/>
            <a:tailEnd len="sm" w="sm" type="none"/>
          </a:ln>
        </p:spPr>
      </p:cxnSp>
      <p:sp>
        <p:nvSpPr>
          <p:cNvPr id="314" name="Google Shape;314;p12"/>
          <p:cNvSpPr/>
          <p:nvPr/>
        </p:nvSpPr>
        <p:spPr>
          <a:xfrm>
            <a:off x="813816" y="4873752"/>
            <a:ext cx="5367528" cy="4572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5A6A6F"/>
              </a:buClr>
              <a:buSzPts val="1000"/>
              <a:buFont typeface="Poppins"/>
              <a:buNone/>
            </a:pPr>
            <a:r>
              <a:rPr i="1" lang="en-US" sz="1000">
                <a:solidFill>
                  <a:srgbClr val="5A6A6F"/>
                </a:solidFill>
                <a:latin typeface="Poppins"/>
                <a:ea typeface="Poppins"/>
                <a:cs typeface="Poppins"/>
                <a:sym typeface="Poppins"/>
              </a:rPr>
              <a:t>Keep this somewhere you'll see it. It's your own marker for the year.</a:t>
            </a:r>
            <a:endParaRPr sz="1000">
              <a:solidFill>
                <a:schemeClr val="dk1"/>
              </a:solidFill>
              <a:latin typeface="Calibri"/>
              <a:ea typeface="Calibri"/>
              <a:cs typeface="Calibri"/>
              <a:sym typeface="Calibri"/>
            </a:endParaRPr>
          </a:p>
        </p:txBody>
      </p:sp>
      <p:sp>
        <p:nvSpPr>
          <p:cNvPr id="315" name="Google Shape;315;p12"/>
          <p:cNvSpPr/>
          <p:nvPr/>
        </p:nvSpPr>
        <p:spPr>
          <a:xfrm>
            <a:off x="6766560" y="1856232"/>
            <a:ext cx="4919472" cy="3520440"/>
          </a:xfrm>
          <a:prstGeom prst="roundRect">
            <a:avLst>
              <a:gd fmla="val 3117" name="adj"/>
            </a:avLst>
          </a:prstGeom>
          <a:solidFill>
            <a:srgbClr val="0F7A54"/>
          </a:solidFill>
          <a:ln>
            <a:noFill/>
          </a:ln>
          <a:effectLst>
            <a:outerShdw blurRad="88900" rotWithShape="0" algn="bl" dir="8100000" dist="25400">
              <a:srgbClr val="0D2434">
                <a:alpha val="12941"/>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316" name="Google Shape;316;p12"/>
          <p:cNvPicPr preferRelativeResize="0"/>
          <p:nvPr/>
        </p:nvPicPr>
        <p:blipFill rotWithShape="1">
          <a:blip r:embed="rId4">
            <a:alphaModFix/>
          </a:blip>
          <a:srcRect b="0" l="0" r="0" t="0"/>
          <a:stretch/>
        </p:blipFill>
        <p:spPr>
          <a:xfrm>
            <a:off x="7077456" y="2185416"/>
            <a:ext cx="457200" cy="457200"/>
          </a:xfrm>
          <a:prstGeom prst="rect">
            <a:avLst/>
          </a:prstGeom>
          <a:noFill/>
          <a:ln>
            <a:noFill/>
          </a:ln>
        </p:spPr>
      </p:pic>
      <p:sp>
        <p:nvSpPr>
          <p:cNvPr id="317" name="Google Shape;317;p12"/>
          <p:cNvSpPr/>
          <p:nvPr/>
        </p:nvSpPr>
        <p:spPr>
          <a:xfrm>
            <a:off x="7077456" y="2715768"/>
            <a:ext cx="42976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500"/>
              <a:buFont typeface="Poppins SemiBold"/>
              <a:buNone/>
            </a:pPr>
            <a:r>
              <a:rPr lang="en-US" sz="1500">
                <a:solidFill>
                  <a:srgbClr val="FFFFFF"/>
                </a:solidFill>
                <a:latin typeface="Poppins SemiBold"/>
                <a:ea typeface="Poppins SemiBold"/>
                <a:cs typeface="Poppins SemiBold"/>
                <a:sym typeface="Poppins SemiBold"/>
              </a:rPr>
              <a:t>Why bother writing it down?</a:t>
            </a:r>
            <a:endParaRPr sz="1500">
              <a:solidFill>
                <a:schemeClr val="dk1"/>
              </a:solidFill>
              <a:latin typeface="Calibri"/>
              <a:ea typeface="Calibri"/>
              <a:cs typeface="Calibri"/>
              <a:sym typeface="Calibri"/>
            </a:endParaRPr>
          </a:p>
        </p:txBody>
      </p:sp>
      <p:sp>
        <p:nvSpPr>
          <p:cNvPr id="318" name="Google Shape;318;p12"/>
          <p:cNvSpPr/>
          <p:nvPr/>
        </p:nvSpPr>
        <p:spPr>
          <a:xfrm>
            <a:off x="7077456" y="3172968"/>
            <a:ext cx="4297680" cy="2011680"/>
          </a:xfrm>
          <a:prstGeom prst="rect">
            <a:avLst/>
          </a:prstGeom>
          <a:noFill/>
          <a:ln>
            <a:noFill/>
          </a:ln>
        </p:spPr>
        <p:txBody>
          <a:bodyPr anchorCtr="0" anchor="ctr" bIns="0" lIns="0" spcFirstLastPara="1" rIns="0" wrap="square" tIns="0">
            <a:noAutofit/>
          </a:bodyPr>
          <a:lstStyle/>
          <a:p>
            <a:pPr indent="0" lvl="0" marL="0" marR="0" rtl="0" algn="l">
              <a:lnSpc>
                <a:spcPct val="136363"/>
              </a:lnSpc>
              <a:spcBef>
                <a:spcPts val="0"/>
              </a:spcBef>
              <a:spcAft>
                <a:spcPts val="0"/>
              </a:spcAft>
              <a:buClr>
                <a:srgbClr val="DCEAE3"/>
              </a:buClr>
              <a:buSzPts val="1100"/>
              <a:buFont typeface="Poppins"/>
              <a:buNone/>
            </a:pPr>
            <a:r>
              <a:rPr lang="en-US" sz="1100">
                <a:solidFill>
                  <a:srgbClr val="DCEAE3"/>
                </a:solidFill>
                <a:latin typeface="Poppins"/>
                <a:ea typeface="Poppins"/>
                <a:cs typeface="Poppins"/>
                <a:sym typeface="Poppins"/>
              </a:rPr>
              <a:t>A goal you've written down is a goal you're far more likely to hit. This isn't a school exercise — it's you, on day one of your final year, deciding what you're walking out with.</a:t>
            </a:r>
            <a:endParaRPr sz="1100">
              <a:solidFill>
                <a:schemeClr val="dk1"/>
              </a:solidFill>
              <a:latin typeface="Calibri"/>
              <a:ea typeface="Calibri"/>
              <a:cs typeface="Calibri"/>
              <a:sym typeface="Calibri"/>
            </a:endParaRPr>
          </a:p>
          <a:p>
            <a:pPr indent="0" lvl="0" marL="0" marR="0" rtl="0" algn="l">
              <a:lnSpc>
                <a:spcPct val="136363"/>
              </a:lnSpc>
              <a:spcBef>
                <a:spcPts val="0"/>
              </a:spcBef>
              <a:spcAft>
                <a:spcPts val="0"/>
              </a:spcAft>
              <a:buClr>
                <a:schemeClr val="dk1"/>
              </a:buClr>
              <a:buSzPts val="1100"/>
              <a:buFont typeface="Calibri"/>
              <a:buNone/>
            </a:pPr>
            <a:r>
              <a:t/>
            </a:r>
            <a:endParaRPr sz="1100">
              <a:solidFill>
                <a:schemeClr val="dk1"/>
              </a:solidFill>
              <a:latin typeface="Calibri"/>
              <a:ea typeface="Calibri"/>
              <a:cs typeface="Calibri"/>
              <a:sym typeface="Calibri"/>
            </a:endParaRPr>
          </a:p>
          <a:p>
            <a:pPr indent="0" lvl="0" marL="0" marR="0" rtl="0" algn="l">
              <a:lnSpc>
                <a:spcPct val="136363"/>
              </a:lnSpc>
              <a:spcBef>
                <a:spcPts val="0"/>
              </a:spcBef>
              <a:spcAft>
                <a:spcPts val="0"/>
              </a:spcAft>
              <a:buClr>
                <a:srgbClr val="DCEAE3"/>
              </a:buClr>
              <a:buSzPts val="1100"/>
              <a:buFont typeface="Poppins"/>
              <a:buNone/>
            </a:pPr>
            <a:r>
              <a:rPr lang="en-US" sz="1100">
                <a:solidFill>
                  <a:srgbClr val="DCEAE3"/>
                </a:solidFill>
                <a:latin typeface="Poppins"/>
                <a:ea typeface="Poppins"/>
                <a:cs typeface="Poppins"/>
                <a:sym typeface="Poppins"/>
              </a:rPr>
              <a:t>Your tutor will keep a copy. It's the reference point you'll come back to when the year gets busy.</a:t>
            </a:r>
            <a:endParaRPr sz="1100">
              <a:solidFill>
                <a:schemeClr val="dk1"/>
              </a:solidFill>
              <a:latin typeface="Calibri"/>
              <a:ea typeface="Calibri"/>
              <a:cs typeface="Calibri"/>
              <a:sym typeface="Calibri"/>
            </a:endParaRPr>
          </a:p>
        </p:txBody>
      </p:sp>
      <p:sp>
        <p:nvSpPr>
          <p:cNvPr id="319" name="Google Shape;319;p12"/>
          <p:cNvSpPr/>
          <p:nvPr/>
        </p:nvSpPr>
        <p:spPr>
          <a:xfrm>
            <a:off x="502920" y="6437376"/>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1A4"/>
              </a:buClr>
              <a:buSzPts val="850"/>
              <a:buFont typeface="Poppins"/>
              <a:buNone/>
            </a:pPr>
            <a:r>
              <a:rPr lang="en-US" sz="850">
                <a:solidFill>
                  <a:srgbClr val="94A1A4"/>
                </a:solidFill>
                <a:latin typeface="Poppins"/>
                <a:ea typeface="Poppins"/>
                <a:cs typeface="Poppins"/>
                <a:sym typeface="Poppins"/>
              </a:rPr>
              <a:t>ESCG Student Induction 2026–27</a:t>
            </a:r>
            <a:r>
              <a:rPr lang="en-US" sz="850">
                <a:solidFill>
                  <a:srgbClr val="D2DBDA"/>
                </a:solidFill>
                <a:latin typeface="Poppins"/>
                <a:ea typeface="Poppins"/>
                <a:cs typeface="Poppins"/>
                <a:sym typeface="Poppins"/>
              </a:rPr>
              <a:t>   ·   </a:t>
            </a:r>
            <a:r>
              <a:rPr lang="en-US" sz="850">
                <a:solidFill>
                  <a:srgbClr val="94A1A4"/>
                </a:solidFill>
                <a:latin typeface="Poppins"/>
                <a:ea typeface="Poppins"/>
                <a:cs typeface="Poppins"/>
                <a:sym typeface="Poppins"/>
              </a:rPr>
              <a:t>Module A — Welcome Back</a:t>
            </a:r>
            <a:endParaRPr sz="850">
              <a:solidFill>
                <a:schemeClr val="dk1"/>
              </a:solidFill>
              <a:latin typeface="Calibri"/>
              <a:ea typeface="Calibri"/>
              <a:cs typeface="Calibri"/>
              <a:sym typeface="Calibri"/>
            </a:endParaRPr>
          </a:p>
        </p:txBody>
      </p:sp>
      <p:sp>
        <p:nvSpPr>
          <p:cNvPr id="320" name="Google Shape;320;p12"/>
          <p:cNvSpPr/>
          <p:nvPr/>
        </p:nvSpPr>
        <p:spPr>
          <a:xfrm>
            <a:off x="9494215" y="6400800"/>
            <a:ext cx="2194560" cy="292608"/>
          </a:xfrm>
          <a:prstGeom prst="roundRect">
            <a:avLst>
              <a:gd fmla="val 50000" name="adj"/>
            </a:avLst>
          </a:prstGeom>
          <a:solidFill>
            <a:srgbClr val="E2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1" name="Google Shape;321;p12"/>
          <p:cNvSpPr/>
          <p:nvPr/>
        </p:nvSpPr>
        <p:spPr>
          <a:xfrm>
            <a:off x="9494215" y="6400800"/>
            <a:ext cx="2194560" cy="292608"/>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F7A54"/>
              </a:buClr>
              <a:buSzPts val="700"/>
              <a:buFont typeface="Poppins SemiBold"/>
              <a:buNone/>
            </a:pPr>
            <a:r>
              <a:rPr lang="en-US" sz="700">
                <a:solidFill>
                  <a:srgbClr val="0F7A54"/>
                </a:solidFill>
                <a:latin typeface="Poppins SemiBold"/>
                <a:ea typeface="Poppins SemiBold"/>
                <a:cs typeface="Poppins SemiBold"/>
                <a:sym typeface="Poppins SemiBold"/>
              </a:rPr>
              <a:t>L3/ T- Level  · YEAR 2 · FINAL YEAR</a:t>
            </a:r>
            <a:endParaRPr sz="700">
              <a:solidFill>
                <a:schemeClr val="dk1"/>
              </a:solidFill>
              <a:latin typeface="Calibri"/>
              <a:ea typeface="Calibri"/>
              <a:cs typeface="Calibri"/>
              <a:sym typeface="Calibri"/>
            </a:endParaRPr>
          </a:p>
        </p:txBody>
      </p:sp>
      <p:sp>
        <p:nvSpPr>
          <p:cNvPr id="322" name="Google Shape;322;p12"/>
          <p:cNvSpPr/>
          <p:nvPr/>
        </p:nvSpPr>
        <p:spPr>
          <a:xfrm>
            <a:off x="11734495" y="6400800"/>
            <a:ext cx="3657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1A4"/>
              </a:buClr>
              <a:buSzPts val="900"/>
              <a:buFont typeface="Poppins SemiBold"/>
              <a:buNone/>
            </a:pPr>
            <a:r>
              <a:rPr lang="en-US" sz="900">
                <a:solidFill>
                  <a:srgbClr val="94A1A4"/>
                </a:solidFill>
                <a:latin typeface="Poppins SemiBold"/>
                <a:ea typeface="Poppins SemiBold"/>
                <a:cs typeface="Poppins SemiBold"/>
                <a:sym typeface="Poppins SemiBold"/>
              </a:rPr>
              <a:t>10</a:t>
            </a:r>
            <a:endParaRPr sz="9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2434"/>
        </a:solidFill>
      </p:bgPr>
    </p:bg>
    <p:spTree>
      <p:nvGrpSpPr>
        <p:cNvPr id="327" name="Shape 327"/>
        <p:cNvGrpSpPr/>
        <p:nvPr/>
      </p:nvGrpSpPr>
      <p:grpSpPr>
        <a:xfrm>
          <a:off x="0" y="0"/>
          <a:ext cx="0" cy="0"/>
          <a:chOff x="0" y="0"/>
          <a:chExt cx="0" cy="0"/>
        </a:xfrm>
      </p:grpSpPr>
      <p:sp>
        <p:nvSpPr>
          <p:cNvPr id="328" name="Google Shape;328;p13"/>
          <p:cNvSpPr/>
          <p:nvPr/>
        </p:nvSpPr>
        <p:spPr>
          <a:xfrm>
            <a:off x="548640" y="585216"/>
            <a:ext cx="219456" cy="219456"/>
          </a:xfrm>
          <a:prstGeom prst="rect">
            <a:avLst/>
          </a:prstGeom>
          <a:solidFill>
            <a:srgbClr val="FFCF0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9" name="Google Shape;329;p13"/>
          <p:cNvSpPr/>
          <p:nvPr/>
        </p:nvSpPr>
        <p:spPr>
          <a:xfrm>
            <a:off x="914400" y="530352"/>
            <a:ext cx="54864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CF01"/>
              </a:buClr>
              <a:buSzPts val="1150"/>
              <a:buFont typeface="Poppins SemiBold"/>
              <a:buNone/>
            </a:pPr>
            <a:r>
              <a:rPr lang="en-US" sz="1150">
                <a:solidFill>
                  <a:srgbClr val="FFCF01"/>
                </a:solidFill>
                <a:latin typeface="Poppins SemiBold"/>
                <a:ea typeface="Poppins SemiBold"/>
                <a:cs typeface="Poppins SemiBold"/>
                <a:sym typeface="Poppins SemiBold"/>
              </a:rPr>
              <a:t>WRAPPING UP</a:t>
            </a:r>
            <a:endParaRPr sz="1150">
              <a:solidFill>
                <a:schemeClr val="dk1"/>
              </a:solidFill>
              <a:latin typeface="Calibri"/>
              <a:ea typeface="Calibri"/>
              <a:cs typeface="Calibri"/>
              <a:sym typeface="Calibri"/>
            </a:endParaRPr>
          </a:p>
        </p:txBody>
      </p:sp>
      <p:sp>
        <p:nvSpPr>
          <p:cNvPr id="330" name="Google Shape;330;p13"/>
          <p:cNvSpPr/>
          <p:nvPr/>
        </p:nvSpPr>
        <p:spPr>
          <a:xfrm>
            <a:off x="502920" y="896112"/>
            <a:ext cx="1097280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200"/>
              <a:buFont typeface="Poppins SemiBold"/>
              <a:buNone/>
            </a:pPr>
            <a:r>
              <a:rPr lang="en-US" sz="3200">
                <a:solidFill>
                  <a:srgbClr val="FFFFFF"/>
                </a:solidFill>
                <a:latin typeface="Poppins SemiBold"/>
                <a:ea typeface="Poppins SemiBold"/>
                <a:cs typeface="Poppins SemiBold"/>
                <a:sym typeface="Poppins SemiBold"/>
              </a:rPr>
              <a:t>One year. Make it land.</a:t>
            </a:r>
            <a:endParaRPr sz="3200">
              <a:solidFill>
                <a:schemeClr val="dk1"/>
              </a:solidFill>
              <a:latin typeface="Calibri"/>
              <a:ea typeface="Calibri"/>
              <a:cs typeface="Calibri"/>
              <a:sym typeface="Calibri"/>
            </a:endParaRPr>
          </a:p>
        </p:txBody>
      </p:sp>
      <p:sp>
        <p:nvSpPr>
          <p:cNvPr id="331" name="Google Shape;331;p13"/>
          <p:cNvSpPr/>
          <p:nvPr/>
        </p:nvSpPr>
        <p:spPr>
          <a:xfrm>
            <a:off x="502920" y="1874520"/>
            <a:ext cx="2715768" cy="1600200"/>
          </a:xfrm>
          <a:prstGeom prst="roundRect">
            <a:avLst>
              <a:gd fmla="val 6857" name="adj"/>
            </a:avLst>
          </a:prstGeom>
          <a:solidFill>
            <a:srgbClr val="1C3A4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2" name="Google Shape;332;p13"/>
          <p:cNvSpPr/>
          <p:nvPr/>
        </p:nvSpPr>
        <p:spPr>
          <a:xfrm>
            <a:off x="1604772" y="2093976"/>
            <a:ext cx="512064" cy="512064"/>
          </a:xfrm>
          <a:prstGeom prst="ellipse">
            <a:avLst/>
          </a:prstGeom>
          <a:solidFill>
            <a:srgbClr val="FFCF0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333" name="Google Shape;333;p13"/>
          <p:cNvPicPr preferRelativeResize="0"/>
          <p:nvPr/>
        </p:nvPicPr>
        <p:blipFill rotWithShape="1">
          <a:blip r:embed="rId3">
            <a:alphaModFix/>
          </a:blip>
          <a:srcRect b="0" l="0" r="0" t="0"/>
          <a:stretch/>
        </p:blipFill>
        <p:spPr>
          <a:xfrm>
            <a:off x="1687068" y="2176272"/>
            <a:ext cx="347472" cy="347472"/>
          </a:xfrm>
          <a:prstGeom prst="rect">
            <a:avLst/>
          </a:prstGeom>
          <a:noFill/>
          <a:ln>
            <a:noFill/>
          </a:ln>
        </p:spPr>
      </p:pic>
      <p:sp>
        <p:nvSpPr>
          <p:cNvPr id="334" name="Google Shape;334;p13"/>
          <p:cNvSpPr/>
          <p:nvPr/>
        </p:nvSpPr>
        <p:spPr>
          <a:xfrm>
            <a:off x="649224" y="2715768"/>
            <a:ext cx="2423160" cy="685800"/>
          </a:xfrm>
          <a:prstGeom prst="rect">
            <a:avLst/>
          </a:prstGeom>
          <a:noFill/>
          <a:ln>
            <a:noFill/>
          </a:ln>
        </p:spPr>
        <p:txBody>
          <a:bodyPr anchorCtr="0" anchor="t" bIns="0" lIns="0" spcFirstLastPara="1" rIns="0" wrap="square" tIns="0">
            <a:noAutofit/>
          </a:bodyPr>
          <a:lstStyle/>
          <a:p>
            <a:pPr indent="0" lvl="0" marL="0" marR="0" rtl="0" algn="ctr">
              <a:lnSpc>
                <a:spcPct val="123809"/>
              </a:lnSpc>
              <a:spcBef>
                <a:spcPts val="0"/>
              </a:spcBef>
              <a:spcAft>
                <a:spcPts val="0"/>
              </a:spcAft>
              <a:buClr>
                <a:srgbClr val="FFFFFF"/>
              </a:buClr>
              <a:buSzPts val="1050"/>
              <a:buFont typeface="Poppins"/>
              <a:buNone/>
            </a:pPr>
            <a:r>
              <a:rPr lang="en-US" sz="1050">
                <a:solidFill>
                  <a:srgbClr val="FFFFFF"/>
                </a:solidFill>
                <a:latin typeface="Poppins"/>
                <a:ea typeface="Poppins"/>
                <a:cs typeface="Poppins"/>
                <a:sym typeface="Poppins"/>
              </a:rPr>
              <a:t>Named where you're headed</a:t>
            </a:r>
            <a:endParaRPr sz="1050">
              <a:solidFill>
                <a:schemeClr val="dk1"/>
              </a:solidFill>
              <a:latin typeface="Calibri"/>
              <a:ea typeface="Calibri"/>
              <a:cs typeface="Calibri"/>
              <a:sym typeface="Calibri"/>
            </a:endParaRPr>
          </a:p>
        </p:txBody>
      </p:sp>
      <p:sp>
        <p:nvSpPr>
          <p:cNvPr id="335" name="Google Shape;335;p13"/>
          <p:cNvSpPr/>
          <p:nvPr/>
        </p:nvSpPr>
        <p:spPr>
          <a:xfrm>
            <a:off x="3383280" y="1874520"/>
            <a:ext cx="2715768" cy="1600200"/>
          </a:xfrm>
          <a:prstGeom prst="roundRect">
            <a:avLst>
              <a:gd fmla="val 6857" name="adj"/>
            </a:avLst>
          </a:prstGeom>
          <a:solidFill>
            <a:srgbClr val="1C3A4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6" name="Google Shape;336;p13"/>
          <p:cNvSpPr/>
          <p:nvPr/>
        </p:nvSpPr>
        <p:spPr>
          <a:xfrm>
            <a:off x="4485132" y="2093976"/>
            <a:ext cx="512064" cy="512064"/>
          </a:xfrm>
          <a:prstGeom prst="ellipse">
            <a:avLst/>
          </a:prstGeom>
          <a:solidFill>
            <a:srgbClr val="FFCF0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337" name="Google Shape;337;p13"/>
          <p:cNvPicPr preferRelativeResize="0"/>
          <p:nvPr/>
        </p:nvPicPr>
        <p:blipFill rotWithShape="1">
          <a:blip r:embed="rId3">
            <a:alphaModFix/>
          </a:blip>
          <a:srcRect b="0" l="0" r="0" t="0"/>
          <a:stretch/>
        </p:blipFill>
        <p:spPr>
          <a:xfrm>
            <a:off x="4567428" y="2176272"/>
            <a:ext cx="347472" cy="347472"/>
          </a:xfrm>
          <a:prstGeom prst="rect">
            <a:avLst/>
          </a:prstGeom>
          <a:noFill/>
          <a:ln>
            <a:noFill/>
          </a:ln>
        </p:spPr>
      </p:pic>
      <p:sp>
        <p:nvSpPr>
          <p:cNvPr id="338" name="Google Shape;338;p13"/>
          <p:cNvSpPr/>
          <p:nvPr/>
        </p:nvSpPr>
        <p:spPr>
          <a:xfrm>
            <a:off x="3529584" y="2715768"/>
            <a:ext cx="2423160" cy="685800"/>
          </a:xfrm>
          <a:prstGeom prst="rect">
            <a:avLst/>
          </a:prstGeom>
          <a:noFill/>
          <a:ln>
            <a:noFill/>
          </a:ln>
        </p:spPr>
        <p:txBody>
          <a:bodyPr anchorCtr="0" anchor="t" bIns="0" lIns="0" spcFirstLastPara="1" rIns="0" wrap="square" tIns="0">
            <a:noAutofit/>
          </a:bodyPr>
          <a:lstStyle/>
          <a:p>
            <a:pPr indent="0" lvl="0" marL="0" marR="0" rtl="0" algn="ctr">
              <a:lnSpc>
                <a:spcPct val="123809"/>
              </a:lnSpc>
              <a:spcBef>
                <a:spcPts val="0"/>
              </a:spcBef>
              <a:spcAft>
                <a:spcPts val="0"/>
              </a:spcAft>
              <a:buClr>
                <a:srgbClr val="FFFFFF"/>
              </a:buClr>
              <a:buSzPts val="1050"/>
              <a:buFont typeface="Poppins"/>
              <a:buNone/>
            </a:pPr>
            <a:r>
              <a:rPr lang="en-US" sz="1050">
                <a:solidFill>
                  <a:srgbClr val="FFFFFF"/>
                </a:solidFill>
                <a:latin typeface="Poppins"/>
                <a:ea typeface="Poppins"/>
                <a:cs typeface="Poppins"/>
                <a:sym typeface="Poppins"/>
              </a:rPr>
              <a:t>Faced what Year 2 demands</a:t>
            </a:r>
            <a:endParaRPr sz="1050">
              <a:solidFill>
                <a:schemeClr val="dk1"/>
              </a:solidFill>
              <a:latin typeface="Calibri"/>
              <a:ea typeface="Calibri"/>
              <a:cs typeface="Calibri"/>
              <a:sym typeface="Calibri"/>
            </a:endParaRPr>
          </a:p>
        </p:txBody>
      </p:sp>
      <p:sp>
        <p:nvSpPr>
          <p:cNvPr id="339" name="Google Shape;339;p13"/>
          <p:cNvSpPr/>
          <p:nvPr/>
        </p:nvSpPr>
        <p:spPr>
          <a:xfrm>
            <a:off x="6263640" y="1874520"/>
            <a:ext cx="2715768" cy="1600200"/>
          </a:xfrm>
          <a:prstGeom prst="roundRect">
            <a:avLst>
              <a:gd fmla="val 6857" name="adj"/>
            </a:avLst>
          </a:prstGeom>
          <a:solidFill>
            <a:srgbClr val="1C3A4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0" name="Google Shape;340;p13"/>
          <p:cNvSpPr/>
          <p:nvPr/>
        </p:nvSpPr>
        <p:spPr>
          <a:xfrm>
            <a:off x="7365492" y="2093976"/>
            <a:ext cx="512064" cy="512064"/>
          </a:xfrm>
          <a:prstGeom prst="ellipse">
            <a:avLst/>
          </a:prstGeom>
          <a:solidFill>
            <a:srgbClr val="FFCF0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341" name="Google Shape;341;p13"/>
          <p:cNvPicPr preferRelativeResize="0"/>
          <p:nvPr/>
        </p:nvPicPr>
        <p:blipFill rotWithShape="1">
          <a:blip r:embed="rId3">
            <a:alphaModFix/>
          </a:blip>
          <a:srcRect b="0" l="0" r="0" t="0"/>
          <a:stretch/>
        </p:blipFill>
        <p:spPr>
          <a:xfrm>
            <a:off x="7447788" y="2176272"/>
            <a:ext cx="347472" cy="347472"/>
          </a:xfrm>
          <a:prstGeom prst="rect">
            <a:avLst/>
          </a:prstGeom>
          <a:noFill/>
          <a:ln>
            <a:noFill/>
          </a:ln>
        </p:spPr>
      </p:pic>
      <p:sp>
        <p:nvSpPr>
          <p:cNvPr id="342" name="Google Shape;342;p13"/>
          <p:cNvSpPr/>
          <p:nvPr/>
        </p:nvSpPr>
        <p:spPr>
          <a:xfrm>
            <a:off x="6409944" y="2715768"/>
            <a:ext cx="2423160" cy="685800"/>
          </a:xfrm>
          <a:prstGeom prst="rect">
            <a:avLst/>
          </a:prstGeom>
          <a:noFill/>
          <a:ln>
            <a:noFill/>
          </a:ln>
        </p:spPr>
        <p:txBody>
          <a:bodyPr anchorCtr="0" anchor="t" bIns="0" lIns="0" spcFirstLastPara="1" rIns="0" wrap="square" tIns="0">
            <a:noAutofit/>
          </a:bodyPr>
          <a:lstStyle/>
          <a:p>
            <a:pPr indent="0" lvl="0" marL="0" marR="0" rtl="0" algn="ctr">
              <a:lnSpc>
                <a:spcPct val="123809"/>
              </a:lnSpc>
              <a:spcBef>
                <a:spcPts val="0"/>
              </a:spcBef>
              <a:spcAft>
                <a:spcPts val="0"/>
              </a:spcAft>
              <a:buClr>
                <a:srgbClr val="FFFFFF"/>
              </a:buClr>
              <a:buSzPts val="1050"/>
              <a:buFont typeface="Poppins"/>
              <a:buNone/>
            </a:pPr>
            <a:r>
              <a:rPr lang="en-US" sz="1050">
                <a:solidFill>
                  <a:srgbClr val="FFFFFF"/>
                </a:solidFill>
                <a:latin typeface="Poppins"/>
                <a:ea typeface="Poppins"/>
                <a:cs typeface="Poppins"/>
                <a:sym typeface="Poppins"/>
              </a:rPr>
              <a:t>Talked through staying on course</a:t>
            </a:r>
            <a:endParaRPr sz="1050">
              <a:solidFill>
                <a:schemeClr val="dk1"/>
              </a:solidFill>
              <a:latin typeface="Calibri"/>
              <a:ea typeface="Calibri"/>
              <a:cs typeface="Calibri"/>
              <a:sym typeface="Calibri"/>
            </a:endParaRPr>
          </a:p>
        </p:txBody>
      </p:sp>
      <p:sp>
        <p:nvSpPr>
          <p:cNvPr id="343" name="Google Shape;343;p13"/>
          <p:cNvSpPr/>
          <p:nvPr/>
        </p:nvSpPr>
        <p:spPr>
          <a:xfrm>
            <a:off x="9144000" y="1874520"/>
            <a:ext cx="2715768" cy="1600200"/>
          </a:xfrm>
          <a:prstGeom prst="roundRect">
            <a:avLst>
              <a:gd fmla="val 6857" name="adj"/>
            </a:avLst>
          </a:prstGeom>
          <a:solidFill>
            <a:srgbClr val="1C3A4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4" name="Google Shape;344;p13"/>
          <p:cNvSpPr/>
          <p:nvPr/>
        </p:nvSpPr>
        <p:spPr>
          <a:xfrm>
            <a:off x="10245852" y="2093976"/>
            <a:ext cx="512064" cy="512064"/>
          </a:xfrm>
          <a:prstGeom prst="ellipse">
            <a:avLst/>
          </a:prstGeom>
          <a:solidFill>
            <a:srgbClr val="FFCF0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345" name="Google Shape;345;p13"/>
          <p:cNvPicPr preferRelativeResize="0"/>
          <p:nvPr/>
        </p:nvPicPr>
        <p:blipFill rotWithShape="1">
          <a:blip r:embed="rId3">
            <a:alphaModFix/>
          </a:blip>
          <a:srcRect b="0" l="0" r="0" t="0"/>
          <a:stretch/>
        </p:blipFill>
        <p:spPr>
          <a:xfrm>
            <a:off x="10328148" y="2176272"/>
            <a:ext cx="347472" cy="347472"/>
          </a:xfrm>
          <a:prstGeom prst="rect">
            <a:avLst/>
          </a:prstGeom>
          <a:noFill/>
          <a:ln>
            <a:noFill/>
          </a:ln>
        </p:spPr>
      </p:pic>
      <p:sp>
        <p:nvSpPr>
          <p:cNvPr id="346" name="Google Shape;346;p13"/>
          <p:cNvSpPr/>
          <p:nvPr/>
        </p:nvSpPr>
        <p:spPr>
          <a:xfrm>
            <a:off x="9290304" y="2715768"/>
            <a:ext cx="2423160" cy="685800"/>
          </a:xfrm>
          <a:prstGeom prst="rect">
            <a:avLst/>
          </a:prstGeom>
          <a:noFill/>
          <a:ln>
            <a:noFill/>
          </a:ln>
        </p:spPr>
        <p:txBody>
          <a:bodyPr anchorCtr="0" anchor="t" bIns="0" lIns="0" spcFirstLastPara="1" rIns="0" wrap="square" tIns="0">
            <a:noAutofit/>
          </a:bodyPr>
          <a:lstStyle/>
          <a:p>
            <a:pPr indent="0" lvl="0" marL="0" marR="0" rtl="0" algn="ctr">
              <a:lnSpc>
                <a:spcPct val="123809"/>
              </a:lnSpc>
              <a:spcBef>
                <a:spcPts val="0"/>
              </a:spcBef>
              <a:spcAft>
                <a:spcPts val="0"/>
              </a:spcAft>
              <a:buClr>
                <a:srgbClr val="FFFFFF"/>
              </a:buClr>
              <a:buSzPts val="1050"/>
              <a:buFont typeface="Poppins"/>
              <a:buNone/>
            </a:pPr>
            <a:r>
              <a:rPr lang="en-US" sz="1050">
                <a:solidFill>
                  <a:srgbClr val="FFFFFF"/>
                </a:solidFill>
                <a:latin typeface="Poppins"/>
                <a:ea typeface="Poppins"/>
                <a:cs typeface="Poppins"/>
                <a:sym typeface="Poppins"/>
              </a:rPr>
              <a:t>Saw the routes out — and that they're all strong</a:t>
            </a:r>
            <a:endParaRPr sz="1050">
              <a:solidFill>
                <a:schemeClr val="dk1"/>
              </a:solidFill>
              <a:latin typeface="Calibri"/>
              <a:ea typeface="Calibri"/>
              <a:cs typeface="Calibri"/>
              <a:sym typeface="Calibri"/>
            </a:endParaRPr>
          </a:p>
        </p:txBody>
      </p:sp>
      <p:sp>
        <p:nvSpPr>
          <p:cNvPr id="347" name="Google Shape;347;p13"/>
          <p:cNvSpPr/>
          <p:nvPr/>
        </p:nvSpPr>
        <p:spPr>
          <a:xfrm>
            <a:off x="777240" y="3749040"/>
            <a:ext cx="10607040" cy="685800"/>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C7D0D3"/>
              </a:buClr>
              <a:buSzPts val="1250"/>
              <a:buFont typeface="Poppins"/>
              <a:buNone/>
            </a:pPr>
            <a:r>
              <a:rPr lang="en-US" sz="1250">
                <a:solidFill>
                  <a:srgbClr val="C7D0D3"/>
                </a:solidFill>
                <a:latin typeface="Poppins"/>
                <a:ea typeface="Poppins"/>
                <a:cs typeface="Poppins"/>
                <a:sym typeface="Poppins"/>
              </a:rPr>
              <a:t>Coming up: a few more short sessions over the next three weeks — staying safe, looking after yourself, and the careers and progression support that gets you out the door and into what's next.</a:t>
            </a:r>
            <a:endParaRPr sz="1250">
              <a:solidFill>
                <a:schemeClr val="dk1"/>
              </a:solidFill>
              <a:latin typeface="Calibri"/>
              <a:ea typeface="Calibri"/>
              <a:cs typeface="Calibri"/>
              <a:sym typeface="Calibri"/>
            </a:endParaRPr>
          </a:p>
        </p:txBody>
      </p:sp>
      <p:sp>
        <p:nvSpPr>
          <p:cNvPr id="348" name="Google Shape;348;p13"/>
          <p:cNvSpPr/>
          <p:nvPr/>
        </p:nvSpPr>
        <p:spPr>
          <a:xfrm>
            <a:off x="777240" y="4572000"/>
            <a:ext cx="10634472" cy="868680"/>
          </a:xfrm>
          <a:prstGeom prst="roundRect">
            <a:avLst>
              <a:gd fmla="val 12632" name="adj"/>
            </a:avLst>
          </a:prstGeom>
          <a:solidFill>
            <a:srgbClr val="FFCF0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9" name="Google Shape;349;p13"/>
          <p:cNvSpPr/>
          <p:nvPr/>
        </p:nvSpPr>
        <p:spPr>
          <a:xfrm>
            <a:off x="777240" y="4572000"/>
            <a:ext cx="10634472" cy="8686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2434"/>
              </a:buClr>
              <a:buSzPts val="1550"/>
              <a:buFont typeface="Poppins SemiBold"/>
              <a:buNone/>
            </a:pPr>
            <a:r>
              <a:rPr lang="en-US" sz="1550">
                <a:solidFill>
                  <a:srgbClr val="0D2434"/>
                </a:solidFill>
                <a:latin typeface="Poppins SemiBold"/>
                <a:ea typeface="Poppins SemiBold"/>
                <a:cs typeface="Poppins SemiBold"/>
                <a:sym typeface="Poppins SemiBold"/>
              </a:rPr>
              <a:t>You've done the hard part. Now finish it properly — and step into what's next.</a:t>
            </a:r>
            <a:endParaRPr sz="1550">
              <a:solidFill>
                <a:schemeClr val="dk1"/>
              </a:solidFill>
              <a:latin typeface="Calibri"/>
              <a:ea typeface="Calibri"/>
              <a:cs typeface="Calibri"/>
              <a:sym typeface="Calibri"/>
            </a:endParaRPr>
          </a:p>
        </p:txBody>
      </p:sp>
      <p:sp>
        <p:nvSpPr>
          <p:cNvPr id="350" name="Google Shape;350;p13"/>
          <p:cNvSpPr/>
          <p:nvPr/>
        </p:nvSpPr>
        <p:spPr>
          <a:xfrm>
            <a:off x="502920" y="6437376"/>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1A4"/>
              </a:buClr>
              <a:buSzPts val="850"/>
              <a:buFont typeface="Poppins"/>
              <a:buNone/>
            </a:pPr>
            <a:r>
              <a:rPr lang="en-US" sz="850">
                <a:solidFill>
                  <a:srgbClr val="94A1A4"/>
                </a:solidFill>
                <a:latin typeface="Poppins"/>
                <a:ea typeface="Poppins"/>
                <a:cs typeface="Poppins"/>
                <a:sym typeface="Poppins"/>
              </a:rPr>
              <a:t>ESCG Student Induction 2026–27</a:t>
            </a:r>
            <a:r>
              <a:rPr lang="en-US" sz="850">
                <a:solidFill>
                  <a:srgbClr val="D2DBDA"/>
                </a:solidFill>
                <a:latin typeface="Poppins"/>
                <a:ea typeface="Poppins"/>
                <a:cs typeface="Poppins"/>
                <a:sym typeface="Poppins"/>
              </a:rPr>
              <a:t>   ·   </a:t>
            </a:r>
            <a:r>
              <a:rPr lang="en-US" sz="850">
                <a:solidFill>
                  <a:srgbClr val="94A1A4"/>
                </a:solidFill>
                <a:latin typeface="Poppins"/>
                <a:ea typeface="Poppins"/>
                <a:cs typeface="Poppins"/>
                <a:sym typeface="Poppins"/>
              </a:rPr>
              <a:t>Module A — Welcome Back</a:t>
            </a:r>
            <a:endParaRPr sz="850">
              <a:solidFill>
                <a:schemeClr val="dk1"/>
              </a:solidFill>
              <a:latin typeface="Calibri"/>
              <a:ea typeface="Calibri"/>
              <a:cs typeface="Calibri"/>
              <a:sym typeface="Calibri"/>
            </a:endParaRPr>
          </a:p>
        </p:txBody>
      </p:sp>
      <p:sp>
        <p:nvSpPr>
          <p:cNvPr id="351" name="Google Shape;351;p13"/>
          <p:cNvSpPr/>
          <p:nvPr/>
        </p:nvSpPr>
        <p:spPr>
          <a:xfrm>
            <a:off x="9494215" y="6400800"/>
            <a:ext cx="2194560" cy="292608"/>
          </a:xfrm>
          <a:prstGeom prst="roundRect">
            <a:avLst>
              <a:gd fmla="val 50000" name="adj"/>
            </a:avLst>
          </a:prstGeom>
          <a:solidFill>
            <a:srgbClr val="E2F0E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2" name="Google Shape;352;p13"/>
          <p:cNvSpPr/>
          <p:nvPr/>
        </p:nvSpPr>
        <p:spPr>
          <a:xfrm>
            <a:off x="9494215" y="6400800"/>
            <a:ext cx="2194560" cy="292608"/>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0F7A54"/>
              </a:buClr>
              <a:buSzPts val="700"/>
              <a:buFont typeface="Poppins SemiBold"/>
              <a:buNone/>
            </a:pPr>
            <a:r>
              <a:rPr lang="en-US" sz="700">
                <a:solidFill>
                  <a:srgbClr val="0F7A54"/>
                </a:solidFill>
                <a:latin typeface="Poppins SemiBold"/>
                <a:ea typeface="Poppins SemiBold"/>
                <a:cs typeface="Poppins SemiBold"/>
                <a:sym typeface="Poppins SemiBold"/>
              </a:rPr>
              <a:t>L3/ T- Level  · YEAR 2 · FINAL YEAR</a:t>
            </a:r>
            <a:endParaRPr sz="700">
              <a:solidFill>
                <a:schemeClr val="dk1"/>
              </a:solidFill>
              <a:latin typeface="Calibri"/>
              <a:ea typeface="Calibri"/>
              <a:cs typeface="Calibri"/>
              <a:sym typeface="Calibri"/>
            </a:endParaRPr>
          </a:p>
        </p:txBody>
      </p:sp>
      <p:sp>
        <p:nvSpPr>
          <p:cNvPr id="353" name="Google Shape;353;p13"/>
          <p:cNvSpPr/>
          <p:nvPr/>
        </p:nvSpPr>
        <p:spPr>
          <a:xfrm>
            <a:off x="11734495" y="6400800"/>
            <a:ext cx="3657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1A4"/>
              </a:buClr>
              <a:buSzPts val="900"/>
              <a:buFont typeface="Poppins SemiBold"/>
              <a:buNone/>
            </a:pPr>
            <a:r>
              <a:rPr lang="en-US" sz="900">
                <a:solidFill>
                  <a:srgbClr val="94A1A4"/>
                </a:solidFill>
                <a:latin typeface="Poppins SemiBold"/>
                <a:ea typeface="Poppins SemiBold"/>
                <a:cs typeface="Poppins SemiBold"/>
                <a:sym typeface="Poppins SemiBold"/>
              </a:rPr>
              <a:t>11</a:t>
            </a:r>
            <a:endParaRPr sz="9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2434"/>
        </a:solidFill>
      </p:bgPr>
    </p:bg>
    <p:spTree>
      <p:nvGrpSpPr>
        <p:cNvPr id="358" name="Shape 358"/>
        <p:cNvGrpSpPr/>
        <p:nvPr/>
      </p:nvGrpSpPr>
      <p:grpSpPr>
        <a:xfrm>
          <a:off x="0" y="0"/>
          <a:ext cx="0" cy="0"/>
          <a:chOff x="0" y="0"/>
          <a:chExt cx="0" cy="0"/>
        </a:xfrm>
      </p:grpSpPr>
      <p:sp>
        <p:nvSpPr>
          <p:cNvPr id="359" name="Google Shape;359;p14"/>
          <p:cNvSpPr/>
          <p:nvPr/>
        </p:nvSpPr>
        <p:spPr>
          <a:xfrm>
            <a:off x="548640" y="566928"/>
            <a:ext cx="219456" cy="219456"/>
          </a:xfrm>
          <a:prstGeom prst="rect">
            <a:avLst/>
          </a:prstGeom>
          <a:solidFill>
            <a:srgbClr val="FFCF0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0" name="Google Shape;360;p14"/>
          <p:cNvSpPr/>
          <p:nvPr/>
        </p:nvSpPr>
        <p:spPr>
          <a:xfrm>
            <a:off x="914400" y="502920"/>
            <a:ext cx="100584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CF01"/>
              </a:buClr>
              <a:buSzPts val="1100"/>
              <a:buFont typeface="Poppins SemiBold"/>
              <a:buNone/>
            </a:pPr>
            <a:r>
              <a:rPr lang="en-US" sz="1100">
                <a:solidFill>
                  <a:srgbClr val="FFCF01"/>
                </a:solidFill>
                <a:latin typeface="Poppins SemiBold"/>
                <a:ea typeface="Poppins SemiBold"/>
                <a:cs typeface="Poppins SemiBold"/>
                <a:sym typeface="Poppins SemiBold"/>
              </a:rPr>
              <a:t>FOR THE TEACHER  ·  DO NOT DISPLAY TO STUDENTS</a:t>
            </a:r>
            <a:endParaRPr sz="1100">
              <a:solidFill>
                <a:schemeClr val="dk1"/>
              </a:solidFill>
              <a:latin typeface="Calibri"/>
              <a:ea typeface="Calibri"/>
              <a:cs typeface="Calibri"/>
              <a:sym typeface="Calibri"/>
            </a:endParaRPr>
          </a:p>
        </p:txBody>
      </p:sp>
      <p:sp>
        <p:nvSpPr>
          <p:cNvPr id="361" name="Google Shape;361;p14"/>
          <p:cNvSpPr/>
          <p:nvPr/>
        </p:nvSpPr>
        <p:spPr>
          <a:xfrm>
            <a:off x="475488" y="868680"/>
            <a:ext cx="105156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500"/>
              <a:buFont typeface="Poppins SemiBold"/>
              <a:buNone/>
            </a:pPr>
            <a:r>
              <a:rPr lang="en-US" sz="2500">
                <a:solidFill>
                  <a:srgbClr val="FFFFFF"/>
                </a:solidFill>
                <a:latin typeface="Poppins SemiBold"/>
                <a:ea typeface="Poppins SemiBold"/>
                <a:cs typeface="Poppins SemiBold"/>
                <a:sym typeface="Poppins SemiBold"/>
              </a:rPr>
              <a:t>Module A — facilitation summary</a:t>
            </a:r>
            <a:endParaRPr sz="2500">
              <a:solidFill>
                <a:schemeClr val="dk1"/>
              </a:solidFill>
              <a:latin typeface="Calibri"/>
              <a:ea typeface="Calibri"/>
              <a:cs typeface="Calibri"/>
              <a:sym typeface="Calibri"/>
            </a:endParaRPr>
          </a:p>
        </p:txBody>
      </p:sp>
      <p:sp>
        <p:nvSpPr>
          <p:cNvPr id="362" name="Google Shape;362;p14"/>
          <p:cNvSpPr/>
          <p:nvPr/>
        </p:nvSpPr>
        <p:spPr>
          <a:xfrm>
            <a:off x="493776" y="1344168"/>
            <a:ext cx="73152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FB0B5"/>
              </a:buClr>
              <a:buSzPts val="1200"/>
              <a:buFont typeface="Poppins"/>
              <a:buNone/>
            </a:pPr>
            <a:r>
              <a:rPr i="1" lang="en-US" sz="1200">
                <a:solidFill>
                  <a:srgbClr val="9FB0B5"/>
                </a:solidFill>
                <a:latin typeface="Poppins"/>
                <a:ea typeface="Poppins"/>
                <a:cs typeface="Poppins"/>
                <a:sym typeface="Poppins"/>
              </a:rPr>
              <a:t>Level 3, Year 2 variant</a:t>
            </a:r>
            <a:endParaRPr sz="1200">
              <a:solidFill>
                <a:schemeClr val="dk1"/>
              </a:solidFill>
              <a:latin typeface="Calibri"/>
              <a:ea typeface="Calibri"/>
              <a:cs typeface="Calibri"/>
              <a:sym typeface="Calibri"/>
            </a:endParaRPr>
          </a:p>
        </p:txBody>
      </p:sp>
      <p:sp>
        <p:nvSpPr>
          <p:cNvPr id="363" name="Google Shape;363;p14"/>
          <p:cNvSpPr/>
          <p:nvPr/>
        </p:nvSpPr>
        <p:spPr>
          <a:xfrm>
            <a:off x="502920" y="1783080"/>
            <a:ext cx="5212080" cy="3611880"/>
          </a:xfrm>
          <a:prstGeom prst="roundRect">
            <a:avLst>
              <a:gd fmla="val 3038" name="adj"/>
            </a:avLst>
          </a:prstGeom>
          <a:solidFill>
            <a:srgbClr val="1C3A4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4" name="Google Shape;364;p14"/>
          <p:cNvSpPr/>
          <p:nvPr/>
        </p:nvSpPr>
        <p:spPr>
          <a:xfrm>
            <a:off x="777240" y="1984248"/>
            <a:ext cx="466344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CF01"/>
              </a:buClr>
              <a:buSzPts val="1100"/>
              <a:buFont typeface="Poppins SemiBold"/>
              <a:buNone/>
            </a:pPr>
            <a:r>
              <a:rPr lang="en-US" sz="1100">
                <a:solidFill>
                  <a:srgbClr val="FFCF01"/>
                </a:solidFill>
                <a:latin typeface="Poppins SemiBold"/>
                <a:ea typeface="Poppins SemiBold"/>
                <a:cs typeface="Poppins SemiBold"/>
                <a:sym typeface="Poppins SemiBold"/>
              </a:rPr>
              <a:t>RUNNING ORDER &amp; TIMINGS</a:t>
            </a:r>
            <a:endParaRPr sz="1100">
              <a:solidFill>
                <a:schemeClr val="dk1"/>
              </a:solidFill>
              <a:latin typeface="Calibri"/>
              <a:ea typeface="Calibri"/>
              <a:cs typeface="Calibri"/>
              <a:sym typeface="Calibri"/>
            </a:endParaRPr>
          </a:p>
        </p:txBody>
      </p:sp>
      <p:sp>
        <p:nvSpPr>
          <p:cNvPr id="365" name="Google Shape;365;p14"/>
          <p:cNvSpPr/>
          <p:nvPr/>
        </p:nvSpPr>
        <p:spPr>
          <a:xfrm>
            <a:off x="722376" y="2313432"/>
            <a:ext cx="502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CF01"/>
              </a:buClr>
              <a:buSzPts val="950"/>
              <a:buFont typeface="Poppins SemiBold"/>
              <a:buNone/>
            </a:pPr>
            <a:r>
              <a:rPr lang="en-US" sz="950">
                <a:solidFill>
                  <a:srgbClr val="FFCF01"/>
                </a:solidFill>
                <a:latin typeface="Poppins SemiBold"/>
                <a:ea typeface="Poppins SemiBold"/>
                <a:cs typeface="Poppins SemiBold"/>
                <a:sym typeface="Poppins SemiBold"/>
              </a:rPr>
              <a:t>1</a:t>
            </a:r>
            <a:endParaRPr sz="950">
              <a:solidFill>
                <a:schemeClr val="dk1"/>
              </a:solidFill>
              <a:latin typeface="Calibri"/>
              <a:ea typeface="Calibri"/>
              <a:cs typeface="Calibri"/>
              <a:sym typeface="Calibri"/>
            </a:endParaRPr>
          </a:p>
        </p:txBody>
      </p:sp>
      <p:sp>
        <p:nvSpPr>
          <p:cNvPr id="366" name="Google Shape;366;p14"/>
          <p:cNvSpPr/>
          <p:nvPr/>
        </p:nvSpPr>
        <p:spPr>
          <a:xfrm>
            <a:off x="1234440" y="2313432"/>
            <a:ext cx="3429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20"/>
              <a:buFont typeface="Poppins"/>
              <a:buNone/>
            </a:pPr>
            <a:r>
              <a:rPr lang="en-US" sz="920">
                <a:solidFill>
                  <a:srgbClr val="FFFFFF"/>
                </a:solidFill>
                <a:latin typeface="Poppins"/>
                <a:ea typeface="Poppins"/>
                <a:cs typeface="Poppins"/>
                <a:sym typeface="Poppins"/>
              </a:rPr>
              <a:t>Welcome back — final year</a:t>
            </a:r>
            <a:endParaRPr sz="920">
              <a:solidFill>
                <a:schemeClr val="dk1"/>
              </a:solidFill>
              <a:latin typeface="Calibri"/>
              <a:ea typeface="Calibri"/>
              <a:cs typeface="Calibri"/>
              <a:sym typeface="Calibri"/>
            </a:endParaRPr>
          </a:p>
        </p:txBody>
      </p:sp>
      <p:sp>
        <p:nvSpPr>
          <p:cNvPr id="367" name="Google Shape;367;p14"/>
          <p:cNvSpPr/>
          <p:nvPr/>
        </p:nvSpPr>
        <p:spPr>
          <a:xfrm>
            <a:off x="4709160" y="2313432"/>
            <a:ext cx="841248"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FB0B5"/>
              </a:buClr>
              <a:buSzPts val="900"/>
              <a:buFont typeface="Poppins"/>
              <a:buNone/>
            </a:pPr>
            <a:r>
              <a:rPr lang="en-US" sz="900">
                <a:solidFill>
                  <a:srgbClr val="9FB0B5"/>
                </a:solidFill>
                <a:latin typeface="Poppins"/>
                <a:ea typeface="Poppins"/>
                <a:cs typeface="Poppins"/>
                <a:sym typeface="Poppins"/>
              </a:rPr>
              <a:t>~3 min</a:t>
            </a:r>
            <a:endParaRPr sz="900">
              <a:solidFill>
                <a:schemeClr val="dk1"/>
              </a:solidFill>
              <a:latin typeface="Calibri"/>
              <a:ea typeface="Calibri"/>
              <a:cs typeface="Calibri"/>
              <a:sym typeface="Calibri"/>
            </a:endParaRPr>
          </a:p>
        </p:txBody>
      </p:sp>
      <p:sp>
        <p:nvSpPr>
          <p:cNvPr id="368" name="Google Shape;368;p14"/>
          <p:cNvSpPr/>
          <p:nvPr/>
        </p:nvSpPr>
        <p:spPr>
          <a:xfrm>
            <a:off x="649224" y="2587752"/>
            <a:ext cx="4919472" cy="274320"/>
          </a:xfrm>
          <a:prstGeom prst="rect">
            <a:avLst/>
          </a:prstGeom>
          <a:solidFill>
            <a:srgbClr val="0D24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9" name="Google Shape;369;p14"/>
          <p:cNvSpPr/>
          <p:nvPr/>
        </p:nvSpPr>
        <p:spPr>
          <a:xfrm>
            <a:off x="722376" y="2587752"/>
            <a:ext cx="502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CF01"/>
              </a:buClr>
              <a:buSzPts val="950"/>
              <a:buFont typeface="Poppins SemiBold"/>
              <a:buNone/>
            </a:pPr>
            <a:r>
              <a:rPr lang="en-US" sz="950">
                <a:solidFill>
                  <a:srgbClr val="FFCF01"/>
                </a:solidFill>
                <a:latin typeface="Poppins SemiBold"/>
                <a:ea typeface="Poppins SemiBold"/>
                <a:cs typeface="Poppins SemiBold"/>
                <a:sym typeface="Poppins SemiBold"/>
              </a:rPr>
              <a:t>2</a:t>
            </a:r>
            <a:endParaRPr sz="950">
              <a:solidFill>
                <a:schemeClr val="dk1"/>
              </a:solidFill>
              <a:latin typeface="Calibri"/>
              <a:ea typeface="Calibri"/>
              <a:cs typeface="Calibri"/>
              <a:sym typeface="Calibri"/>
            </a:endParaRPr>
          </a:p>
        </p:txBody>
      </p:sp>
      <p:sp>
        <p:nvSpPr>
          <p:cNvPr id="370" name="Google Shape;370;p14"/>
          <p:cNvSpPr/>
          <p:nvPr/>
        </p:nvSpPr>
        <p:spPr>
          <a:xfrm>
            <a:off x="1234440" y="2587752"/>
            <a:ext cx="3429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20"/>
              <a:buFont typeface="Poppins"/>
              <a:buNone/>
            </a:pPr>
            <a:r>
              <a:rPr lang="en-US" sz="920">
                <a:solidFill>
                  <a:srgbClr val="FFFFFF"/>
                </a:solidFill>
                <a:latin typeface="Poppins"/>
                <a:ea typeface="Poppins"/>
                <a:cs typeface="Poppins"/>
                <a:sym typeface="Poppins"/>
              </a:rPr>
              <a:t>The year ahead</a:t>
            </a:r>
            <a:endParaRPr sz="920">
              <a:solidFill>
                <a:schemeClr val="dk1"/>
              </a:solidFill>
              <a:latin typeface="Calibri"/>
              <a:ea typeface="Calibri"/>
              <a:cs typeface="Calibri"/>
              <a:sym typeface="Calibri"/>
            </a:endParaRPr>
          </a:p>
        </p:txBody>
      </p:sp>
      <p:sp>
        <p:nvSpPr>
          <p:cNvPr id="371" name="Google Shape;371;p14"/>
          <p:cNvSpPr/>
          <p:nvPr/>
        </p:nvSpPr>
        <p:spPr>
          <a:xfrm>
            <a:off x="4709160" y="2587752"/>
            <a:ext cx="841248"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FB0B5"/>
              </a:buClr>
              <a:buSzPts val="900"/>
              <a:buFont typeface="Poppins"/>
              <a:buNone/>
            </a:pPr>
            <a:r>
              <a:rPr lang="en-US" sz="900">
                <a:solidFill>
                  <a:srgbClr val="9FB0B5"/>
                </a:solidFill>
                <a:latin typeface="Poppins"/>
                <a:ea typeface="Poppins"/>
                <a:cs typeface="Poppins"/>
                <a:sym typeface="Poppins"/>
              </a:rPr>
              <a:t>~2 min</a:t>
            </a:r>
            <a:endParaRPr sz="900">
              <a:solidFill>
                <a:schemeClr val="dk1"/>
              </a:solidFill>
              <a:latin typeface="Calibri"/>
              <a:ea typeface="Calibri"/>
              <a:cs typeface="Calibri"/>
              <a:sym typeface="Calibri"/>
            </a:endParaRPr>
          </a:p>
        </p:txBody>
      </p:sp>
      <p:sp>
        <p:nvSpPr>
          <p:cNvPr id="372" name="Google Shape;372;p14"/>
          <p:cNvSpPr/>
          <p:nvPr/>
        </p:nvSpPr>
        <p:spPr>
          <a:xfrm>
            <a:off x="722376" y="2862072"/>
            <a:ext cx="502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CF01"/>
              </a:buClr>
              <a:buSzPts val="950"/>
              <a:buFont typeface="Poppins SemiBold"/>
              <a:buNone/>
            </a:pPr>
            <a:r>
              <a:rPr lang="en-US" sz="950">
                <a:solidFill>
                  <a:srgbClr val="FFCF01"/>
                </a:solidFill>
                <a:latin typeface="Poppins SemiBold"/>
                <a:ea typeface="Poppins SemiBold"/>
                <a:cs typeface="Poppins SemiBold"/>
                <a:sym typeface="Poppins SemiBold"/>
              </a:rPr>
              <a:t>3</a:t>
            </a:r>
            <a:endParaRPr sz="950">
              <a:solidFill>
                <a:schemeClr val="dk1"/>
              </a:solidFill>
              <a:latin typeface="Calibri"/>
              <a:ea typeface="Calibri"/>
              <a:cs typeface="Calibri"/>
              <a:sym typeface="Calibri"/>
            </a:endParaRPr>
          </a:p>
        </p:txBody>
      </p:sp>
      <p:sp>
        <p:nvSpPr>
          <p:cNvPr id="373" name="Google Shape;373;p14"/>
          <p:cNvSpPr/>
          <p:nvPr/>
        </p:nvSpPr>
        <p:spPr>
          <a:xfrm>
            <a:off x="1234440" y="2862072"/>
            <a:ext cx="3429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20"/>
              <a:buFont typeface="Poppins"/>
              <a:buNone/>
            </a:pPr>
            <a:r>
              <a:rPr lang="en-US" sz="920">
                <a:solidFill>
                  <a:srgbClr val="FFFFFF"/>
                </a:solidFill>
                <a:latin typeface="Poppins"/>
                <a:ea typeface="Poppins"/>
                <a:cs typeface="Poppins"/>
                <a:sym typeface="Poppins"/>
              </a:rPr>
              <a:t>Where you're headed (activity)</a:t>
            </a:r>
            <a:endParaRPr sz="920">
              <a:solidFill>
                <a:schemeClr val="dk1"/>
              </a:solidFill>
              <a:latin typeface="Calibri"/>
              <a:ea typeface="Calibri"/>
              <a:cs typeface="Calibri"/>
              <a:sym typeface="Calibri"/>
            </a:endParaRPr>
          </a:p>
        </p:txBody>
      </p:sp>
      <p:sp>
        <p:nvSpPr>
          <p:cNvPr id="374" name="Google Shape;374;p14"/>
          <p:cNvSpPr/>
          <p:nvPr/>
        </p:nvSpPr>
        <p:spPr>
          <a:xfrm>
            <a:off x="4709160" y="2862072"/>
            <a:ext cx="841248"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FB0B5"/>
              </a:buClr>
              <a:buSzPts val="900"/>
              <a:buFont typeface="Poppins"/>
              <a:buNone/>
            </a:pPr>
            <a:r>
              <a:rPr lang="en-US" sz="900">
                <a:solidFill>
                  <a:srgbClr val="9FB0B5"/>
                </a:solidFill>
                <a:latin typeface="Poppins"/>
                <a:ea typeface="Poppins"/>
                <a:cs typeface="Poppins"/>
                <a:sym typeface="Poppins"/>
              </a:rPr>
              <a:t>~8 min</a:t>
            </a:r>
            <a:endParaRPr sz="900">
              <a:solidFill>
                <a:schemeClr val="dk1"/>
              </a:solidFill>
              <a:latin typeface="Calibri"/>
              <a:ea typeface="Calibri"/>
              <a:cs typeface="Calibri"/>
              <a:sym typeface="Calibri"/>
            </a:endParaRPr>
          </a:p>
        </p:txBody>
      </p:sp>
      <p:sp>
        <p:nvSpPr>
          <p:cNvPr id="375" name="Google Shape;375;p14"/>
          <p:cNvSpPr/>
          <p:nvPr/>
        </p:nvSpPr>
        <p:spPr>
          <a:xfrm>
            <a:off x="649224" y="3136392"/>
            <a:ext cx="4919472" cy="274320"/>
          </a:xfrm>
          <a:prstGeom prst="rect">
            <a:avLst/>
          </a:prstGeom>
          <a:solidFill>
            <a:srgbClr val="0D24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6" name="Google Shape;376;p14"/>
          <p:cNvSpPr/>
          <p:nvPr/>
        </p:nvSpPr>
        <p:spPr>
          <a:xfrm>
            <a:off x="722376" y="3136392"/>
            <a:ext cx="502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CF01"/>
              </a:buClr>
              <a:buSzPts val="950"/>
              <a:buFont typeface="Poppins SemiBold"/>
              <a:buNone/>
            </a:pPr>
            <a:r>
              <a:rPr lang="en-US" sz="950">
                <a:solidFill>
                  <a:srgbClr val="FFCF01"/>
                </a:solidFill>
                <a:latin typeface="Poppins SemiBold"/>
                <a:ea typeface="Poppins SemiBold"/>
                <a:cs typeface="Poppins SemiBold"/>
                <a:sym typeface="Poppins SemiBold"/>
              </a:rPr>
              <a:t>4</a:t>
            </a:r>
            <a:endParaRPr sz="950">
              <a:solidFill>
                <a:schemeClr val="dk1"/>
              </a:solidFill>
              <a:latin typeface="Calibri"/>
              <a:ea typeface="Calibri"/>
              <a:cs typeface="Calibri"/>
              <a:sym typeface="Calibri"/>
            </a:endParaRPr>
          </a:p>
        </p:txBody>
      </p:sp>
      <p:sp>
        <p:nvSpPr>
          <p:cNvPr id="377" name="Google Shape;377;p14"/>
          <p:cNvSpPr/>
          <p:nvPr/>
        </p:nvSpPr>
        <p:spPr>
          <a:xfrm>
            <a:off x="1234440" y="3136392"/>
            <a:ext cx="3429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20"/>
              <a:buFont typeface="Poppins"/>
              <a:buNone/>
            </a:pPr>
            <a:r>
              <a:rPr lang="en-US" sz="920">
                <a:solidFill>
                  <a:srgbClr val="FFFFFF"/>
                </a:solidFill>
                <a:latin typeface="Poppins"/>
                <a:ea typeface="Poppins"/>
                <a:cs typeface="Poppins"/>
                <a:sym typeface="Poppins"/>
              </a:rPr>
              <a:t>What Year 2 demands</a:t>
            </a:r>
            <a:endParaRPr sz="920">
              <a:solidFill>
                <a:schemeClr val="dk1"/>
              </a:solidFill>
              <a:latin typeface="Calibri"/>
              <a:ea typeface="Calibri"/>
              <a:cs typeface="Calibri"/>
              <a:sym typeface="Calibri"/>
            </a:endParaRPr>
          </a:p>
        </p:txBody>
      </p:sp>
      <p:sp>
        <p:nvSpPr>
          <p:cNvPr id="378" name="Google Shape;378;p14"/>
          <p:cNvSpPr/>
          <p:nvPr/>
        </p:nvSpPr>
        <p:spPr>
          <a:xfrm>
            <a:off x="4709160" y="3136392"/>
            <a:ext cx="841248"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FB0B5"/>
              </a:buClr>
              <a:buSzPts val="900"/>
              <a:buFont typeface="Poppins"/>
              <a:buNone/>
            </a:pPr>
            <a:r>
              <a:rPr lang="en-US" sz="900">
                <a:solidFill>
                  <a:srgbClr val="9FB0B5"/>
                </a:solidFill>
                <a:latin typeface="Poppins"/>
                <a:ea typeface="Poppins"/>
                <a:cs typeface="Poppins"/>
                <a:sym typeface="Poppins"/>
              </a:rPr>
              <a:t>~6 min</a:t>
            </a:r>
            <a:endParaRPr sz="900">
              <a:solidFill>
                <a:schemeClr val="dk1"/>
              </a:solidFill>
              <a:latin typeface="Calibri"/>
              <a:ea typeface="Calibri"/>
              <a:cs typeface="Calibri"/>
              <a:sym typeface="Calibri"/>
            </a:endParaRPr>
          </a:p>
        </p:txBody>
      </p:sp>
      <p:sp>
        <p:nvSpPr>
          <p:cNvPr id="379" name="Google Shape;379;p14"/>
          <p:cNvSpPr/>
          <p:nvPr/>
        </p:nvSpPr>
        <p:spPr>
          <a:xfrm>
            <a:off x="722376" y="3410712"/>
            <a:ext cx="502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CF01"/>
              </a:buClr>
              <a:buSzPts val="950"/>
              <a:buFont typeface="Poppins SemiBold"/>
              <a:buNone/>
            </a:pPr>
            <a:r>
              <a:rPr lang="en-US" sz="950">
                <a:solidFill>
                  <a:srgbClr val="FFCF01"/>
                </a:solidFill>
                <a:latin typeface="Poppins SemiBold"/>
                <a:ea typeface="Poppins SemiBold"/>
                <a:cs typeface="Poppins SemiBold"/>
                <a:sym typeface="Poppins SemiBold"/>
              </a:rPr>
              <a:t>5</a:t>
            </a:r>
            <a:endParaRPr sz="950">
              <a:solidFill>
                <a:schemeClr val="dk1"/>
              </a:solidFill>
              <a:latin typeface="Calibri"/>
              <a:ea typeface="Calibri"/>
              <a:cs typeface="Calibri"/>
              <a:sym typeface="Calibri"/>
            </a:endParaRPr>
          </a:p>
        </p:txBody>
      </p:sp>
      <p:sp>
        <p:nvSpPr>
          <p:cNvPr id="380" name="Google Shape;380;p14"/>
          <p:cNvSpPr/>
          <p:nvPr/>
        </p:nvSpPr>
        <p:spPr>
          <a:xfrm>
            <a:off x="1234440" y="3410712"/>
            <a:ext cx="3429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20"/>
              <a:buFont typeface="Poppins"/>
              <a:buNone/>
            </a:pPr>
            <a:r>
              <a:rPr lang="en-US" sz="920">
                <a:solidFill>
                  <a:srgbClr val="FFFFFF"/>
                </a:solidFill>
                <a:latin typeface="Poppins"/>
                <a:ea typeface="Poppins"/>
                <a:cs typeface="Poppins"/>
                <a:sym typeface="Poppins"/>
              </a:rPr>
              <a:t>Don't fumble the last lap</a:t>
            </a:r>
            <a:endParaRPr sz="920">
              <a:solidFill>
                <a:schemeClr val="dk1"/>
              </a:solidFill>
              <a:latin typeface="Calibri"/>
              <a:ea typeface="Calibri"/>
              <a:cs typeface="Calibri"/>
              <a:sym typeface="Calibri"/>
            </a:endParaRPr>
          </a:p>
        </p:txBody>
      </p:sp>
      <p:sp>
        <p:nvSpPr>
          <p:cNvPr id="381" name="Google Shape;381;p14"/>
          <p:cNvSpPr/>
          <p:nvPr/>
        </p:nvSpPr>
        <p:spPr>
          <a:xfrm>
            <a:off x="4709160" y="3410712"/>
            <a:ext cx="841248"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FB0B5"/>
              </a:buClr>
              <a:buSzPts val="900"/>
              <a:buFont typeface="Poppins"/>
              <a:buNone/>
            </a:pPr>
            <a:r>
              <a:rPr lang="en-US" sz="900">
                <a:solidFill>
                  <a:srgbClr val="9FB0B5"/>
                </a:solidFill>
                <a:latin typeface="Poppins"/>
                <a:ea typeface="Poppins"/>
                <a:cs typeface="Poppins"/>
                <a:sym typeface="Poppins"/>
              </a:rPr>
              <a:t>~9 min</a:t>
            </a:r>
            <a:endParaRPr sz="900">
              <a:solidFill>
                <a:schemeClr val="dk1"/>
              </a:solidFill>
              <a:latin typeface="Calibri"/>
              <a:ea typeface="Calibri"/>
              <a:cs typeface="Calibri"/>
              <a:sym typeface="Calibri"/>
            </a:endParaRPr>
          </a:p>
        </p:txBody>
      </p:sp>
      <p:sp>
        <p:nvSpPr>
          <p:cNvPr id="382" name="Google Shape;382;p14"/>
          <p:cNvSpPr/>
          <p:nvPr/>
        </p:nvSpPr>
        <p:spPr>
          <a:xfrm>
            <a:off x="649224" y="3685032"/>
            <a:ext cx="4919472" cy="274320"/>
          </a:xfrm>
          <a:prstGeom prst="rect">
            <a:avLst/>
          </a:prstGeom>
          <a:solidFill>
            <a:srgbClr val="0D24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3" name="Google Shape;383;p14"/>
          <p:cNvSpPr/>
          <p:nvPr/>
        </p:nvSpPr>
        <p:spPr>
          <a:xfrm>
            <a:off x="722376" y="3685032"/>
            <a:ext cx="502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CF01"/>
              </a:buClr>
              <a:buSzPts val="950"/>
              <a:buFont typeface="Poppins SemiBold"/>
              <a:buNone/>
            </a:pPr>
            <a:r>
              <a:rPr lang="en-US" sz="950">
                <a:solidFill>
                  <a:srgbClr val="FFCF01"/>
                </a:solidFill>
                <a:latin typeface="Poppins SemiBold"/>
                <a:ea typeface="Poppins SemiBold"/>
                <a:cs typeface="Poppins SemiBold"/>
                <a:sym typeface="Poppins SemiBold"/>
              </a:rPr>
              <a:t>6</a:t>
            </a:r>
            <a:endParaRPr sz="950">
              <a:solidFill>
                <a:schemeClr val="dk1"/>
              </a:solidFill>
              <a:latin typeface="Calibri"/>
              <a:ea typeface="Calibri"/>
              <a:cs typeface="Calibri"/>
              <a:sym typeface="Calibri"/>
            </a:endParaRPr>
          </a:p>
        </p:txBody>
      </p:sp>
      <p:sp>
        <p:nvSpPr>
          <p:cNvPr id="384" name="Google Shape;384;p14"/>
          <p:cNvSpPr/>
          <p:nvPr/>
        </p:nvSpPr>
        <p:spPr>
          <a:xfrm>
            <a:off x="1234440" y="3685032"/>
            <a:ext cx="3429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20"/>
              <a:buFont typeface="Poppins"/>
              <a:buNone/>
            </a:pPr>
            <a:r>
              <a:rPr lang="en-US" sz="920">
                <a:solidFill>
                  <a:srgbClr val="FFFFFF"/>
                </a:solidFill>
                <a:latin typeface="Poppins"/>
                <a:ea typeface="Poppins"/>
                <a:cs typeface="Poppins"/>
                <a:sym typeface="Poppins"/>
              </a:rPr>
              <a:t>Getting organised</a:t>
            </a:r>
            <a:endParaRPr sz="920">
              <a:solidFill>
                <a:schemeClr val="dk1"/>
              </a:solidFill>
              <a:latin typeface="Calibri"/>
              <a:ea typeface="Calibri"/>
              <a:cs typeface="Calibri"/>
              <a:sym typeface="Calibri"/>
            </a:endParaRPr>
          </a:p>
        </p:txBody>
      </p:sp>
      <p:sp>
        <p:nvSpPr>
          <p:cNvPr id="385" name="Google Shape;385;p14"/>
          <p:cNvSpPr/>
          <p:nvPr/>
        </p:nvSpPr>
        <p:spPr>
          <a:xfrm>
            <a:off x="4709160" y="3685032"/>
            <a:ext cx="841248"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FB0B5"/>
              </a:buClr>
              <a:buSzPts val="900"/>
              <a:buFont typeface="Poppins"/>
              <a:buNone/>
            </a:pPr>
            <a:r>
              <a:rPr lang="en-US" sz="900">
                <a:solidFill>
                  <a:srgbClr val="9FB0B5"/>
                </a:solidFill>
                <a:latin typeface="Poppins"/>
                <a:ea typeface="Poppins"/>
                <a:cs typeface="Poppins"/>
                <a:sym typeface="Poppins"/>
              </a:rPr>
              <a:t>~5 min</a:t>
            </a:r>
            <a:endParaRPr sz="900">
              <a:solidFill>
                <a:schemeClr val="dk1"/>
              </a:solidFill>
              <a:latin typeface="Calibri"/>
              <a:ea typeface="Calibri"/>
              <a:cs typeface="Calibri"/>
              <a:sym typeface="Calibri"/>
            </a:endParaRPr>
          </a:p>
        </p:txBody>
      </p:sp>
      <p:sp>
        <p:nvSpPr>
          <p:cNvPr id="386" name="Google Shape;386;p14"/>
          <p:cNvSpPr/>
          <p:nvPr/>
        </p:nvSpPr>
        <p:spPr>
          <a:xfrm>
            <a:off x="722376" y="3959352"/>
            <a:ext cx="502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CF01"/>
              </a:buClr>
              <a:buSzPts val="950"/>
              <a:buFont typeface="Poppins SemiBold"/>
              <a:buNone/>
            </a:pPr>
            <a:r>
              <a:rPr lang="en-US" sz="950">
                <a:solidFill>
                  <a:srgbClr val="FFCF01"/>
                </a:solidFill>
                <a:latin typeface="Poppins SemiBold"/>
                <a:ea typeface="Poppins SemiBold"/>
                <a:cs typeface="Poppins SemiBold"/>
                <a:sym typeface="Poppins SemiBold"/>
              </a:rPr>
              <a:t>7</a:t>
            </a:r>
            <a:endParaRPr sz="950">
              <a:solidFill>
                <a:schemeClr val="dk1"/>
              </a:solidFill>
              <a:latin typeface="Calibri"/>
              <a:ea typeface="Calibri"/>
              <a:cs typeface="Calibri"/>
              <a:sym typeface="Calibri"/>
            </a:endParaRPr>
          </a:p>
        </p:txBody>
      </p:sp>
      <p:sp>
        <p:nvSpPr>
          <p:cNvPr id="387" name="Google Shape;387;p14"/>
          <p:cNvSpPr/>
          <p:nvPr/>
        </p:nvSpPr>
        <p:spPr>
          <a:xfrm>
            <a:off x="1234440" y="3959352"/>
            <a:ext cx="3429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20"/>
              <a:buFont typeface="Poppins"/>
              <a:buNone/>
            </a:pPr>
            <a:r>
              <a:rPr lang="en-US" sz="920">
                <a:solidFill>
                  <a:srgbClr val="FFFFFF"/>
                </a:solidFill>
                <a:latin typeface="Poppins"/>
                <a:ea typeface="Poppins"/>
                <a:cs typeface="Poppins"/>
                <a:sym typeface="Poppins"/>
              </a:rPr>
              <a:t>Support still matters</a:t>
            </a:r>
            <a:endParaRPr sz="920">
              <a:solidFill>
                <a:schemeClr val="dk1"/>
              </a:solidFill>
              <a:latin typeface="Calibri"/>
              <a:ea typeface="Calibri"/>
              <a:cs typeface="Calibri"/>
              <a:sym typeface="Calibri"/>
            </a:endParaRPr>
          </a:p>
        </p:txBody>
      </p:sp>
      <p:sp>
        <p:nvSpPr>
          <p:cNvPr id="388" name="Google Shape;388;p14"/>
          <p:cNvSpPr/>
          <p:nvPr/>
        </p:nvSpPr>
        <p:spPr>
          <a:xfrm>
            <a:off x="4709160" y="3959352"/>
            <a:ext cx="841248"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FB0B5"/>
              </a:buClr>
              <a:buSzPts val="900"/>
              <a:buFont typeface="Poppins"/>
              <a:buNone/>
            </a:pPr>
            <a:r>
              <a:rPr lang="en-US" sz="900">
                <a:solidFill>
                  <a:srgbClr val="9FB0B5"/>
                </a:solidFill>
                <a:latin typeface="Poppins"/>
                <a:ea typeface="Poppins"/>
                <a:cs typeface="Poppins"/>
                <a:sym typeface="Poppins"/>
              </a:rPr>
              <a:t>~5 min</a:t>
            </a:r>
            <a:endParaRPr sz="900">
              <a:solidFill>
                <a:schemeClr val="dk1"/>
              </a:solidFill>
              <a:latin typeface="Calibri"/>
              <a:ea typeface="Calibri"/>
              <a:cs typeface="Calibri"/>
              <a:sym typeface="Calibri"/>
            </a:endParaRPr>
          </a:p>
        </p:txBody>
      </p:sp>
      <p:sp>
        <p:nvSpPr>
          <p:cNvPr id="389" name="Google Shape;389;p14"/>
          <p:cNvSpPr/>
          <p:nvPr/>
        </p:nvSpPr>
        <p:spPr>
          <a:xfrm>
            <a:off x="649224" y="4233672"/>
            <a:ext cx="4919472" cy="274320"/>
          </a:xfrm>
          <a:prstGeom prst="rect">
            <a:avLst/>
          </a:prstGeom>
          <a:solidFill>
            <a:srgbClr val="0D24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0" name="Google Shape;390;p14"/>
          <p:cNvSpPr/>
          <p:nvPr/>
        </p:nvSpPr>
        <p:spPr>
          <a:xfrm>
            <a:off x="722376" y="4233672"/>
            <a:ext cx="502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CF01"/>
              </a:buClr>
              <a:buSzPts val="950"/>
              <a:buFont typeface="Poppins SemiBold"/>
              <a:buNone/>
            </a:pPr>
            <a:r>
              <a:rPr lang="en-US" sz="950">
                <a:solidFill>
                  <a:srgbClr val="FFCF01"/>
                </a:solidFill>
                <a:latin typeface="Poppins SemiBold"/>
                <a:ea typeface="Poppins SemiBold"/>
                <a:cs typeface="Poppins SemiBold"/>
                <a:sym typeface="Poppins SemiBold"/>
              </a:rPr>
              <a:t>8</a:t>
            </a:r>
            <a:endParaRPr sz="950">
              <a:solidFill>
                <a:schemeClr val="dk1"/>
              </a:solidFill>
              <a:latin typeface="Calibri"/>
              <a:ea typeface="Calibri"/>
              <a:cs typeface="Calibri"/>
              <a:sym typeface="Calibri"/>
            </a:endParaRPr>
          </a:p>
        </p:txBody>
      </p:sp>
      <p:sp>
        <p:nvSpPr>
          <p:cNvPr id="391" name="Google Shape;391;p14"/>
          <p:cNvSpPr/>
          <p:nvPr/>
        </p:nvSpPr>
        <p:spPr>
          <a:xfrm>
            <a:off x="1234440" y="4233672"/>
            <a:ext cx="3429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20"/>
              <a:buFont typeface="Poppins"/>
              <a:buNone/>
            </a:pPr>
            <a:r>
              <a:rPr lang="en-US" sz="920">
                <a:solidFill>
                  <a:srgbClr val="FFFFFF"/>
                </a:solidFill>
                <a:latin typeface="Poppins"/>
                <a:ea typeface="Poppins"/>
                <a:cs typeface="Poppins"/>
                <a:sym typeface="Poppins"/>
              </a:rPr>
              <a:t>Landing it — three routes</a:t>
            </a:r>
            <a:endParaRPr sz="920">
              <a:solidFill>
                <a:schemeClr val="dk1"/>
              </a:solidFill>
              <a:latin typeface="Calibri"/>
              <a:ea typeface="Calibri"/>
              <a:cs typeface="Calibri"/>
              <a:sym typeface="Calibri"/>
            </a:endParaRPr>
          </a:p>
        </p:txBody>
      </p:sp>
      <p:sp>
        <p:nvSpPr>
          <p:cNvPr id="392" name="Google Shape;392;p14"/>
          <p:cNvSpPr/>
          <p:nvPr/>
        </p:nvSpPr>
        <p:spPr>
          <a:xfrm>
            <a:off x="4709160" y="4233672"/>
            <a:ext cx="841248"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FB0B5"/>
              </a:buClr>
              <a:buSzPts val="900"/>
              <a:buFont typeface="Poppins"/>
              <a:buNone/>
            </a:pPr>
            <a:r>
              <a:rPr lang="en-US" sz="900">
                <a:solidFill>
                  <a:srgbClr val="9FB0B5"/>
                </a:solidFill>
                <a:latin typeface="Poppins"/>
                <a:ea typeface="Poppins"/>
                <a:cs typeface="Poppins"/>
                <a:sym typeface="Poppins"/>
              </a:rPr>
              <a:t>~5 min</a:t>
            </a:r>
            <a:endParaRPr sz="900">
              <a:solidFill>
                <a:schemeClr val="dk1"/>
              </a:solidFill>
              <a:latin typeface="Calibri"/>
              <a:ea typeface="Calibri"/>
              <a:cs typeface="Calibri"/>
              <a:sym typeface="Calibri"/>
            </a:endParaRPr>
          </a:p>
        </p:txBody>
      </p:sp>
      <p:sp>
        <p:nvSpPr>
          <p:cNvPr id="393" name="Google Shape;393;p14"/>
          <p:cNvSpPr/>
          <p:nvPr/>
        </p:nvSpPr>
        <p:spPr>
          <a:xfrm>
            <a:off x="722376" y="4507992"/>
            <a:ext cx="502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CF01"/>
              </a:buClr>
              <a:buSzPts val="950"/>
              <a:buFont typeface="Poppins SemiBold"/>
              <a:buNone/>
            </a:pPr>
            <a:r>
              <a:rPr lang="en-US" sz="950">
                <a:solidFill>
                  <a:srgbClr val="FFCF01"/>
                </a:solidFill>
                <a:latin typeface="Poppins SemiBold"/>
                <a:ea typeface="Poppins SemiBold"/>
                <a:cs typeface="Poppins SemiBold"/>
                <a:sym typeface="Poppins SemiBold"/>
              </a:rPr>
              <a:t>9</a:t>
            </a:r>
            <a:endParaRPr sz="950">
              <a:solidFill>
                <a:schemeClr val="dk1"/>
              </a:solidFill>
              <a:latin typeface="Calibri"/>
              <a:ea typeface="Calibri"/>
              <a:cs typeface="Calibri"/>
              <a:sym typeface="Calibri"/>
            </a:endParaRPr>
          </a:p>
        </p:txBody>
      </p:sp>
      <p:sp>
        <p:nvSpPr>
          <p:cNvPr id="394" name="Google Shape;394;p14"/>
          <p:cNvSpPr/>
          <p:nvPr/>
        </p:nvSpPr>
        <p:spPr>
          <a:xfrm>
            <a:off x="1234440" y="4507992"/>
            <a:ext cx="3429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20"/>
              <a:buFont typeface="Poppins"/>
              <a:buNone/>
            </a:pPr>
            <a:r>
              <a:rPr lang="en-US" sz="920">
                <a:solidFill>
                  <a:srgbClr val="FFFFFF"/>
                </a:solidFill>
                <a:latin typeface="Poppins"/>
                <a:ea typeface="Poppins"/>
                <a:cs typeface="Poppins"/>
                <a:sym typeface="Poppins"/>
              </a:rPr>
              <a:t>Make it count</a:t>
            </a:r>
            <a:endParaRPr sz="920">
              <a:solidFill>
                <a:schemeClr val="dk1"/>
              </a:solidFill>
              <a:latin typeface="Calibri"/>
              <a:ea typeface="Calibri"/>
              <a:cs typeface="Calibri"/>
              <a:sym typeface="Calibri"/>
            </a:endParaRPr>
          </a:p>
        </p:txBody>
      </p:sp>
      <p:sp>
        <p:nvSpPr>
          <p:cNvPr id="395" name="Google Shape;395;p14"/>
          <p:cNvSpPr/>
          <p:nvPr/>
        </p:nvSpPr>
        <p:spPr>
          <a:xfrm>
            <a:off x="4709160" y="4507992"/>
            <a:ext cx="841248"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FB0B5"/>
              </a:buClr>
              <a:buSzPts val="900"/>
              <a:buFont typeface="Poppins"/>
              <a:buNone/>
            </a:pPr>
            <a:r>
              <a:rPr lang="en-US" sz="900">
                <a:solidFill>
                  <a:srgbClr val="9FB0B5"/>
                </a:solidFill>
                <a:latin typeface="Poppins"/>
                <a:ea typeface="Poppins"/>
                <a:cs typeface="Poppins"/>
                <a:sym typeface="Poppins"/>
              </a:rPr>
              <a:t>~5 min</a:t>
            </a:r>
            <a:endParaRPr sz="900">
              <a:solidFill>
                <a:schemeClr val="dk1"/>
              </a:solidFill>
              <a:latin typeface="Calibri"/>
              <a:ea typeface="Calibri"/>
              <a:cs typeface="Calibri"/>
              <a:sym typeface="Calibri"/>
            </a:endParaRPr>
          </a:p>
        </p:txBody>
      </p:sp>
      <p:sp>
        <p:nvSpPr>
          <p:cNvPr id="396" name="Google Shape;396;p14"/>
          <p:cNvSpPr/>
          <p:nvPr/>
        </p:nvSpPr>
        <p:spPr>
          <a:xfrm>
            <a:off x="649224" y="4782312"/>
            <a:ext cx="4919472" cy="274320"/>
          </a:xfrm>
          <a:prstGeom prst="rect">
            <a:avLst/>
          </a:prstGeom>
          <a:solidFill>
            <a:srgbClr val="0D24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7" name="Google Shape;397;p14"/>
          <p:cNvSpPr/>
          <p:nvPr/>
        </p:nvSpPr>
        <p:spPr>
          <a:xfrm>
            <a:off x="722376" y="4782312"/>
            <a:ext cx="502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CF01"/>
              </a:buClr>
              <a:buSzPts val="950"/>
              <a:buFont typeface="Poppins SemiBold"/>
              <a:buNone/>
            </a:pPr>
            <a:r>
              <a:rPr lang="en-US" sz="950">
                <a:solidFill>
                  <a:srgbClr val="FFCF01"/>
                </a:solidFill>
                <a:latin typeface="Poppins SemiBold"/>
                <a:ea typeface="Poppins SemiBold"/>
                <a:cs typeface="Poppins SemiBold"/>
                <a:sym typeface="Poppins SemiBold"/>
              </a:rPr>
              <a:t>10</a:t>
            </a:r>
            <a:endParaRPr sz="950">
              <a:solidFill>
                <a:schemeClr val="dk1"/>
              </a:solidFill>
              <a:latin typeface="Calibri"/>
              <a:ea typeface="Calibri"/>
              <a:cs typeface="Calibri"/>
              <a:sym typeface="Calibri"/>
            </a:endParaRPr>
          </a:p>
        </p:txBody>
      </p:sp>
      <p:sp>
        <p:nvSpPr>
          <p:cNvPr id="398" name="Google Shape;398;p14"/>
          <p:cNvSpPr/>
          <p:nvPr/>
        </p:nvSpPr>
        <p:spPr>
          <a:xfrm>
            <a:off x="1234440" y="4782312"/>
            <a:ext cx="3429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20"/>
              <a:buFont typeface="Poppins"/>
              <a:buNone/>
            </a:pPr>
            <a:r>
              <a:rPr lang="en-US" sz="920">
                <a:solidFill>
                  <a:srgbClr val="FFFFFF"/>
                </a:solidFill>
                <a:latin typeface="Poppins"/>
                <a:ea typeface="Poppins"/>
                <a:cs typeface="Poppins"/>
                <a:sym typeface="Poppins"/>
              </a:rPr>
              <a:t>My final-year focus (activity)</a:t>
            </a:r>
            <a:endParaRPr sz="920">
              <a:solidFill>
                <a:schemeClr val="dk1"/>
              </a:solidFill>
              <a:latin typeface="Calibri"/>
              <a:ea typeface="Calibri"/>
              <a:cs typeface="Calibri"/>
              <a:sym typeface="Calibri"/>
            </a:endParaRPr>
          </a:p>
        </p:txBody>
      </p:sp>
      <p:sp>
        <p:nvSpPr>
          <p:cNvPr id="399" name="Google Shape;399;p14"/>
          <p:cNvSpPr/>
          <p:nvPr/>
        </p:nvSpPr>
        <p:spPr>
          <a:xfrm>
            <a:off x="4709160" y="4782312"/>
            <a:ext cx="841248"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FB0B5"/>
              </a:buClr>
              <a:buSzPts val="900"/>
              <a:buFont typeface="Poppins"/>
              <a:buNone/>
            </a:pPr>
            <a:r>
              <a:rPr lang="en-US" sz="900">
                <a:solidFill>
                  <a:srgbClr val="9FB0B5"/>
                </a:solidFill>
                <a:latin typeface="Poppins"/>
                <a:ea typeface="Poppins"/>
                <a:cs typeface="Poppins"/>
                <a:sym typeface="Poppins"/>
              </a:rPr>
              <a:t>~6 min</a:t>
            </a:r>
            <a:endParaRPr sz="900">
              <a:solidFill>
                <a:schemeClr val="dk1"/>
              </a:solidFill>
              <a:latin typeface="Calibri"/>
              <a:ea typeface="Calibri"/>
              <a:cs typeface="Calibri"/>
              <a:sym typeface="Calibri"/>
            </a:endParaRPr>
          </a:p>
        </p:txBody>
      </p:sp>
      <p:sp>
        <p:nvSpPr>
          <p:cNvPr id="400" name="Google Shape;400;p14"/>
          <p:cNvSpPr/>
          <p:nvPr/>
        </p:nvSpPr>
        <p:spPr>
          <a:xfrm>
            <a:off x="722376" y="5056632"/>
            <a:ext cx="502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CF01"/>
              </a:buClr>
              <a:buSzPts val="950"/>
              <a:buFont typeface="Poppins SemiBold"/>
              <a:buNone/>
            </a:pPr>
            <a:r>
              <a:rPr lang="en-US" sz="950">
                <a:solidFill>
                  <a:srgbClr val="FFCF01"/>
                </a:solidFill>
                <a:latin typeface="Poppins SemiBold"/>
                <a:ea typeface="Poppins SemiBold"/>
                <a:cs typeface="Poppins SemiBold"/>
                <a:sym typeface="Poppins SemiBold"/>
              </a:rPr>
              <a:t>11</a:t>
            </a:r>
            <a:endParaRPr sz="950">
              <a:solidFill>
                <a:schemeClr val="dk1"/>
              </a:solidFill>
              <a:latin typeface="Calibri"/>
              <a:ea typeface="Calibri"/>
              <a:cs typeface="Calibri"/>
              <a:sym typeface="Calibri"/>
            </a:endParaRPr>
          </a:p>
        </p:txBody>
      </p:sp>
      <p:sp>
        <p:nvSpPr>
          <p:cNvPr id="401" name="Google Shape;401;p14"/>
          <p:cNvSpPr/>
          <p:nvPr/>
        </p:nvSpPr>
        <p:spPr>
          <a:xfrm>
            <a:off x="1234440" y="5056632"/>
            <a:ext cx="3429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20"/>
              <a:buFont typeface="Poppins"/>
              <a:buNone/>
            </a:pPr>
            <a:r>
              <a:rPr lang="en-US" sz="920">
                <a:solidFill>
                  <a:srgbClr val="FFFFFF"/>
                </a:solidFill>
                <a:latin typeface="Poppins"/>
                <a:ea typeface="Poppins"/>
                <a:cs typeface="Poppins"/>
                <a:sym typeface="Poppins"/>
              </a:rPr>
              <a:t>Close</a:t>
            </a:r>
            <a:endParaRPr sz="920">
              <a:solidFill>
                <a:schemeClr val="dk1"/>
              </a:solidFill>
              <a:latin typeface="Calibri"/>
              <a:ea typeface="Calibri"/>
              <a:cs typeface="Calibri"/>
              <a:sym typeface="Calibri"/>
            </a:endParaRPr>
          </a:p>
        </p:txBody>
      </p:sp>
      <p:sp>
        <p:nvSpPr>
          <p:cNvPr id="402" name="Google Shape;402;p14"/>
          <p:cNvSpPr/>
          <p:nvPr/>
        </p:nvSpPr>
        <p:spPr>
          <a:xfrm>
            <a:off x="4709160" y="5056632"/>
            <a:ext cx="841248"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FB0B5"/>
              </a:buClr>
              <a:buSzPts val="900"/>
              <a:buFont typeface="Poppins"/>
              <a:buNone/>
            </a:pPr>
            <a:r>
              <a:rPr lang="en-US" sz="900">
                <a:solidFill>
                  <a:srgbClr val="9FB0B5"/>
                </a:solidFill>
                <a:latin typeface="Poppins"/>
                <a:ea typeface="Poppins"/>
                <a:cs typeface="Poppins"/>
                <a:sym typeface="Poppins"/>
              </a:rPr>
              <a:t>~3 min</a:t>
            </a:r>
            <a:endParaRPr sz="900">
              <a:solidFill>
                <a:schemeClr val="dk1"/>
              </a:solidFill>
              <a:latin typeface="Calibri"/>
              <a:ea typeface="Calibri"/>
              <a:cs typeface="Calibri"/>
              <a:sym typeface="Calibri"/>
            </a:endParaRPr>
          </a:p>
        </p:txBody>
      </p:sp>
      <p:sp>
        <p:nvSpPr>
          <p:cNvPr id="403" name="Google Shape;403;p14"/>
          <p:cNvSpPr/>
          <p:nvPr/>
        </p:nvSpPr>
        <p:spPr>
          <a:xfrm>
            <a:off x="5989320" y="1783080"/>
            <a:ext cx="5696712" cy="1481328"/>
          </a:xfrm>
          <a:prstGeom prst="roundRect">
            <a:avLst>
              <a:gd fmla="val 6173" name="adj"/>
            </a:avLst>
          </a:prstGeom>
          <a:solidFill>
            <a:srgbClr val="0F7A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4" name="Google Shape;404;p14"/>
          <p:cNvSpPr/>
          <p:nvPr/>
        </p:nvSpPr>
        <p:spPr>
          <a:xfrm>
            <a:off x="6263665" y="1838010"/>
            <a:ext cx="51480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Poppins SemiBold"/>
              <a:buNone/>
            </a:pPr>
            <a:r>
              <a:rPr lang="en-US" sz="1100">
                <a:solidFill>
                  <a:srgbClr val="FFFFFF"/>
                </a:solidFill>
                <a:latin typeface="Poppins SemiBold"/>
                <a:ea typeface="Poppins SemiBold"/>
                <a:cs typeface="Poppins SemiBold"/>
                <a:sym typeface="Poppins SemiBold"/>
              </a:rPr>
              <a:t>TEACHING THIS GROUP</a:t>
            </a:r>
            <a:endParaRPr sz="1100">
              <a:solidFill>
                <a:schemeClr val="dk1"/>
              </a:solidFill>
              <a:latin typeface="Calibri"/>
              <a:ea typeface="Calibri"/>
              <a:cs typeface="Calibri"/>
              <a:sym typeface="Calibri"/>
            </a:endParaRPr>
          </a:p>
        </p:txBody>
      </p:sp>
      <p:sp>
        <p:nvSpPr>
          <p:cNvPr id="405" name="Google Shape;405;p14"/>
          <p:cNvSpPr/>
          <p:nvPr/>
        </p:nvSpPr>
        <p:spPr>
          <a:xfrm>
            <a:off x="6095675" y="2112200"/>
            <a:ext cx="5428800" cy="1088100"/>
          </a:xfrm>
          <a:prstGeom prst="rect">
            <a:avLst/>
          </a:prstGeom>
          <a:noFill/>
          <a:ln>
            <a:noFill/>
          </a:ln>
        </p:spPr>
        <p:txBody>
          <a:bodyPr anchorCtr="0" anchor="ctr" bIns="0" lIns="0" spcFirstLastPara="1" rIns="0" wrap="square" tIns="0">
            <a:noAutofit/>
          </a:bodyPr>
          <a:lstStyle/>
          <a:p>
            <a:pPr indent="0" lvl="0" marL="0" marR="0" rtl="0" algn="l">
              <a:lnSpc>
                <a:spcPct val="131578"/>
              </a:lnSpc>
              <a:spcBef>
                <a:spcPts val="0"/>
              </a:spcBef>
              <a:spcAft>
                <a:spcPts val="0"/>
              </a:spcAft>
              <a:buClr>
                <a:srgbClr val="DCEAE3"/>
              </a:buClr>
              <a:buSzPts val="950"/>
              <a:buFont typeface="Poppins"/>
              <a:buNone/>
            </a:pPr>
            <a:r>
              <a:rPr lang="en-US" sz="950">
                <a:solidFill>
                  <a:srgbClr val="DCEAE3"/>
                </a:solidFill>
                <a:latin typeface="Poppins"/>
                <a:ea typeface="Poppins"/>
                <a:cs typeface="Poppins"/>
                <a:sym typeface="Poppins"/>
              </a:rPr>
              <a:t>Adult, peer-to-peer, brisk — no hand-holding. Acknowledge they know the basics. The real job is re-focus, not induction. Watch for complacency; the risk is drift, not disengagement. Equal respect for ALL destinations — most go into creative work or apprenticeships. For Games Art students: UCH progression conversation should happen now. For T Level and Content Creation students: the Final Major Project and placement hours must be front of mind from Day 1.</a:t>
            </a:r>
            <a:endParaRPr sz="950">
              <a:solidFill>
                <a:schemeClr val="dk1"/>
              </a:solidFill>
              <a:latin typeface="Calibri"/>
              <a:ea typeface="Calibri"/>
              <a:cs typeface="Calibri"/>
              <a:sym typeface="Calibri"/>
            </a:endParaRPr>
          </a:p>
        </p:txBody>
      </p:sp>
      <p:sp>
        <p:nvSpPr>
          <p:cNvPr id="406" name="Google Shape;406;p14"/>
          <p:cNvSpPr/>
          <p:nvPr/>
        </p:nvSpPr>
        <p:spPr>
          <a:xfrm>
            <a:off x="5989320" y="3419856"/>
            <a:ext cx="5696712" cy="1298448"/>
          </a:xfrm>
          <a:prstGeom prst="roundRect">
            <a:avLst>
              <a:gd fmla="val 7042" name="adj"/>
            </a:avLst>
          </a:prstGeom>
          <a:solidFill>
            <a:srgbClr val="1C3A4D"/>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7" name="Google Shape;407;p14"/>
          <p:cNvSpPr/>
          <p:nvPr/>
        </p:nvSpPr>
        <p:spPr>
          <a:xfrm>
            <a:off x="6263640" y="3557016"/>
            <a:ext cx="5148072"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CF01"/>
              </a:buClr>
              <a:buSzPts val="1100"/>
              <a:buFont typeface="Poppins SemiBold"/>
              <a:buNone/>
            </a:pPr>
            <a:r>
              <a:rPr lang="en-US" sz="1100">
                <a:solidFill>
                  <a:srgbClr val="FFCF01"/>
                </a:solidFill>
                <a:latin typeface="Poppins SemiBold"/>
                <a:ea typeface="Poppins SemiBold"/>
                <a:cs typeface="Poppins SemiBold"/>
                <a:sym typeface="Poppins SemiBold"/>
              </a:rPr>
              <a:t>BEFORE YOU TEACH — CHECKLIST</a:t>
            </a:r>
            <a:endParaRPr sz="1100">
              <a:solidFill>
                <a:schemeClr val="dk1"/>
              </a:solidFill>
              <a:latin typeface="Calibri"/>
              <a:ea typeface="Calibri"/>
              <a:cs typeface="Calibri"/>
              <a:sym typeface="Calibri"/>
            </a:endParaRPr>
          </a:p>
        </p:txBody>
      </p:sp>
      <p:sp>
        <p:nvSpPr>
          <p:cNvPr id="408" name="Google Shape;408;p14"/>
          <p:cNvSpPr/>
          <p:nvPr/>
        </p:nvSpPr>
        <p:spPr>
          <a:xfrm>
            <a:off x="6263640" y="3886200"/>
            <a:ext cx="137160" cy="137160"/>
          </a:xfrm>
          <a:prstGeom prst="rect">
            <a:avLst/>
          </a:prstGeom>
          <a:solidFill>
            <a:srgbClr val="FFCF0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9" name="Google Shape;409;p14"/>
          <p:cNvSpPr/>
          <p:nvPr/>
        </p:nvSpPr>
        <p:spPr>
          <a:xfrm>
            <a:off x="6510528" y="3803904"/>
            <a:ext cx="4892040" cy="310896"/>
          </a:xfrm>
          <a:prstGeom prst="rect">
            <a:avLst/>
          </a:prstGeom>
          <a:noFill/>
          <a:ln>
            <a:noFill/>
          </a:ln>
        </p:spPr>
        <p:txBody>
          <a:bodyPr anchorCtr="0" anchor="t" bIns="0" lIns="0" spcFirstLastPara="1" rIns="0" wrap="square" tIns="0">
            <a:noAutofit/>
          </a:bodyPr>
          <a:lstStyle/>
          <a:p>
            <a:pPr indent="0" lvl="0" marL="0" marR="0" rtl="0" algn="l">
              <a:lnSpc>
                <a:spcPct val="127777"/>
              </a:lnSpc>
              <a:spcBef>
                <a:spcPts val="0"/>
              </a:spcBef>
              <a:spcAft>
                <a:spcPts val="0"/>
              </a:spcAft>
              <a:buClr>
                <a:srgbClr val="FFFFFF"/>
              </a:buClr>
              <a:buSzPts val="900"/>
              <a:buFont typeface="Poppins"/>
              <a:buNone/>
            </a:pPr>
            <a:r>
              <a:rPr lang="en-US" sz="900">
                <a:solidFill>
                  <a:srgbClr val="FFFFFF"/>
                </a:solidFill>
                <a:latin typeface="Poppins"/>
                <a:ea typeface="Poppins"/>
                <a:cs typeface="Poppins"/>
                <a:sym typeface="Poppins"/>
              </a:rPr>
              <a:t>Replace all three [ESCG TO CONFIRM] panels — especially the real Year 2 dates</a:t>
            </a:r>
            <a:endParaRPr sz="900">
              <a:solidFill>
                <a:schemeClr val="dk1"/>
              </a:solidFill>
              <a:latin typeface="Calibri"/>
              <a:ea typeface="Calibri"/>
              <a:cs typeface="Calibri"/>
              <a:sym typeface="Calibri"/>
            </a:endParaRPr>
          </a:p>
        </p:txBody>
      </p:sp>
      <p:sp>
        <p:nvSpPr>
          <p:cNvPr id="410" name="Google Shape;410;p14"/>
          <p:cNvSpPr/>
          <p:nvPr/>
        </p:nvSpPr>
        <p:spPr>
          <a:xfrm>
            <a:off x="6263640" y="4101084"/>
            <a:ext cx="137160" cy="137160"/>
          </a:xfrm>
          <a:prstGeom prst="rect">
            <a:avLst/>
          </a:prstGeom>
          <a:solidFill>
            <a:srgbClr val="FFCF0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1" name="Google Shape;411;p14"/>
          <p:cNvSpPr/>
          <p:nvPr/>
        </p:nvSpPr>
        <p:spPr>
          <a:xfrm>
            <a:off x="6510528" y="4018788"/>
            <a:ext cx="4892040" cy="310896"/>
          </a:xfrm>
          <a:prstGeom prst="rect">
            <a:avLst/>
          </a:prstGeom>
          <a:noFill/>
          <a:ln>
            <a:noFill/>
          </a:ln>
        </p:spPr>
        <p:txBody>
          <a:bodyPr anchorCtr="0" anchor="t" bIns="0" lIns="0" spcFirstLastPara="1" rIns="0" wrap="square" tIns="0">
            <a:noAutofit/>
          </a:bodyPr>
          <a:lstStyle/>
          <a:p>
            <a:pPr indent="0" lvl="0" marL="0" marR="0" rtl="0" algn="l">
              <a:lnSpc>
                <a:spcPct val="127777"/>
              </a:lnSpc>
              <a:spcBef>
                <a:spcPts val="0"/>
              </a:spcBef>
              <a:spcAft>
                <a:spcPts val="0"/>
              </a:spcAft>
              <a:buClr>
                <a:srgbClr val="FFFFFF"/>
              </a:buClr>
              <a:buSzPts val="900"/>
              <a:buFont typeface="Poppins"/>
              <a:buNone/>
            </a:pPr>
            <a:r>
              <a:rPr lang="en-US" sz="900">
                <a:solidFill>
                  <a:srgbClr val="FFFFFF"/>
                </a:solidFill>
                <a:latin typeface="Poppins"/>
                <a:ea typeface="Poppins"/>
                <a:cs typeface="Poppins"/>
                <a:sym typeface="Poppins"/>
              </a:rPr>
              <a:t>Bring cards + pens for the 'Focus' activity — and plan to keep them</a:t>
            </a:r>
            <a:endParaRPr sz="900">
              <a:solidFill>
                <a:schemeClr val="dk1"/>
              </a:solidFill>
              <a:latin typeface="Calibri"/>
              <a:ea typeface="Calibri"/>
              <a:cs typeface="Calibri"/>
              <a:sym typeface="Calibri"/>
            </a:endParaRPr>
          </a:p>
        </p:txBody>
      </p:sp>
      <p:sp>
        <p:nvSpPr>
          <p:cNvPr id="412" name="Google Shape;412;p14"/>
          <p:cNvSpPr/>
          <p:nvPr/>
        </p:nvSpPr>
        <p:spPr>
          <a:xfrm>
            <a:off x="6263640" y="4315968"/>
            <a:ext cx="137160" cy="137160"/>
          </a:xfrm>
          <a:prstGeom prst="rect">
            <a:avLst/>
          </a:prstGeom>
          <a:solidFill>
            <a:srgbClr val="FFCF0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3" name="Google Shape;413;p14"/>
          <p:cNvSpPr/>
          <p:nvPr/>
        </p:nvSpPr>
        <p:spPr>
          <a:xfrm>
            <a:off x="6510528" y="4233672"/>
            <a:ext cx="4892040" cy="310896"/>
          </a:xfrm>
          <a:prstGeom prst="rect">
            <a:avLst/>
          </a:prstGeom>
          <a:noFill/>
          <a:ln>
            <a:noFill/>
          </a:ln>
        </p:spPr>
        <p:txBody>
          <a:bodyPr anchorCtr="0" anchor="t" bIns="0" lIns="0" spcFirstLastPara="1" rIns="0" wrap="square" tIns="0">
            <a:noAutofit/>
          </a:bodyPr>
          <a:lstStyle/>
          <a:p>
            <a:pPr indent="0" lvl="0" marL="0" marR="0" rtl="0" algn="l">
              <a:lnSpc>
                <a:spcPct val="127777"/>
              </a:lnSpc>
              <a:spcBef>
                <a:spcPts val="0"/>
              </a:spcBef>
              <a:spcAft>
                <a:spcPts val="0"/>
              </a:spcAft>
              <a:buClr>
                <a:srgbClr val="FFFFFF"/>
              </a:buClr>
              <a:buSzPts val="900"/>
              <a:buFont typeface="Poppins"/>
              <a:buNone/>
            </a:pPr>
            <a:r>
              <a:rPr lang="en-US" sz="900">
                <a:solidFill>
                  <a:srgbClr val="FFFFFF"/>
                </a:solidFill>
                <a:latin typeface="Poppins"/>
                <a:ea typeface="Poppins"/>
                <a:cs typeface="Poppins"/>
                <a:sym typeface="Poppins"/>
              </a:rPr>
              <a:t>Know this group's progression / application deadlines (UCAS, apprenticeships)</a:t>
            </a:r>
            <a:endParaRPr sz="900">
              <a:solidFill>
                <a:schemeClr val="dk1"/>
              </a:solidFill>
              <a:latin typeface="Calibri"/>
              <a:ea typeface="Calibri"/>
              <a:cs typeface="Calibri"/>
              <a:sym typeface="Calibri"/>
            </a:endParaRPr>
          </a:p>
        </p:txBody>
      </p:sp>
      <p:sp>
        <p:nvSpPr>
          <p:cNvPr id="414" name="Google Shape;414;p14"/>
          <p:cNvSpPr/>
          <p:nvPr/>
        </p:nvSpPr>
        <p:spPr>
          <a:xfrm>
            <a:off x="6263640" y="4530852"/>
            <a:ext cx="137160" cy="137160"/>
          </a:xfrm>
          <a:prstGeom prst="rect">
            <a:avLst/>
          </a:prstGeom>
          <a:solidFill>
            <a:srgbClr val="FFCF0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5" name="Google Shape;415;p14"/>
          <p:cNvSpPr/>
          <p:nvPr/>
        </p:nvSpPr>
        <p:spPr>
          <a:xfrm>
            <a:off x="6510528" y="4448556"/>
            <a:ext cx="4892040" cy="310896"/>
          </a:xfrm>
          <a:prstGeom prst="rect">
            <a:avLst/>
          </a:prstGeom>
          <a:noFill/>
          <a:ln>
            <a:noFill/>
          </a:ln>
        </p:spPr>
        <p:txBody>
          <a:bodyPr anchorCtr="0" anchor="t" bIns="0" lIns="0" spcFirstLastPara="1" rIns="0" wrap="square" tIns="0">
            <a:noAutofit/>
          </a:bodyPr>
          <a:lstStyle/>
          <a:p>
            <a:pPr indent="0" lvl="0" marL="0" marR="0" rtl="0" algn="l">
              <a:lnSpc>
                <a:spcPct val="127777"/>
              </a:lnSpc>
              <a:spcBef>
                <a:spcPts val="0"/>
              </a:spcBef>
              <a:spcAft>
                <a:spcPts val="0"/>
              </a:spcAft>
              <a:buClr>
                <a:srgbClr val="FFFFFF"/>
              </a:buClr>
              <a:buSzPts val="900"/>
              <a:buFont typeface="Poppins"/>
              <a:buNone/>
            </a:pPr>
            <a:r>
              <a:rPr lang="en-US" sz="900">
                <a:solidFill>
                  <a:srgbClr val="FFFFFF"/>
                </a:solidFill>
                <a:latin typeface="Poppins"/>
                <a:ea typeface="Poppins"/>
                <a:cs typeface="Poppins"/>
                <a:sym typeface="Poppins"/>
              </a:rPr>
              <a:t>Know your campus Safeguarding lead's name and location</a:t>
            </a:r>
            <a:endParaRPr sz="900">
              <a:solidFill>
                <a:schemeClr val="dk1"/>
              </a:solidFill>
              <a:latin typeface="Calibri"/>
              <a:ea typeface="Calibri"/>
              <a:cs typeface="Calibri"/>
              <a:sym typeface="Calibri"/>
            </a:endParaRPr>
          </a:p>
        </p:txBody>
      </p:sp>
      <p:sp>
        <p:nvSpPr>
          <p:cNvPr id="416" name="Google Shape;416;p14"/>
          <p:cNvSpPr/>
          <p:nvPr/>
        </p:nvSpPr>
        <p:spPr>
          <a:xfrm>
            <a:off x="5989320" y="4864608"/>
            <a:ext cx="5696712" cy="1417320"/>
          </a:xfrm>
          <a:prstGeom prst="roundRect">
            <a:avLst>
              <a:gd fmla="val 6452" name="adj"/>
            </a:avLst>
          </a:prstGeom>
          <a:solidFill>
            <a:srgbClr val="FFCF0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7" name="Google Shape;417;p14"/>
          <p:cNvSpPr/>
          <p:nvPr/>
        </p:nvSpPr>
        <p:spPr>
          <a:xfrm>
            <a:off x="6263640" y="5010912"/>
            <a:ext cx="5148072"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1050"/>
              <a:buFont typeface="Poppins SemiBold"/>
              <a:buNone/>
            </a:pPr>
            <a:r>
              <a:rPr lang="en-US" sz="1050">
                <a:solidFill>
                  <a:srgbClr val="0D2434"/>
                </a:solidFill>
                <a:latin typeface="Poppins SemiBold"/>
                <a:ea typeface="Poppins SemiBold"/>
                <a:cs typeface="Poppins SemiBold"/>
                <a:sym typeface="Poppins SemiBold"/>
              </a:rPr>
              <a:t>IF A STUDENT DISCLOSES SOMETHING</a:t>
            </a:r>
            <a:endParaRPr sz="1050">
              <a:solidFill>
                <a:schemeClr val="dk1"/>
              </a:solidFill>
              <a:latin typeface="Calibri"/>
              <a:ea typeface="Calibri"/>
              <a:cs typeface="Calibri"/>
              <a:sym typeface="Calibri"/>
            </a:endParaRPr>
          </a:p>
        </p:txBody>
      </p:sp>
      <p:sp>
        <p:nvSpPr>
          <p:cNvPr id="418" name="Google Shape;418;p14"/>
          <p:cNvSpPr/>
          <p:nvPr/>
        </p:nvSpPr>
        <p:spPr>
          <a:xfrm>
            <a:off x="6263640" y="5321808"/>
            <a:ext cx="5148072" cy="914400"/>
          </a:xfrm>
          <a:prstGeom prst="rect">
            <a:avLst/>
          </a:prstGeom>
          <a:noFill/>
          <a:ln>
            <a:noFill/>
          </a:ln>
        </p:spPr>
        <p:txBody>
          <a:bodyPr anchorCtr="0" anchor="ctr" bIns="0" lIns="0" spcFirstLastPara="1" rIns="0" wrap="square" tIns="0">
            <a:noAutofit/>
          </a:bodyPr>
          <a:lstStyle/>
          <a:p>
            <a:pPr indent="0" lvl="0" marL="0" marR="0" rtl="0" algn="l">
              <a:lnSpc>
                <a:spcPct val="132258"/>
              </a:lnSpc>
              <a:spcBef>
                <a:spcPts val="0"/>
              </a:spcBef>
              <a:spcAft>
                <a:spcPts val="0"/>
              </a:spcAft>
              <a:buClr>
                <a:srgbClr val="0D2434"/>
              </a:buClr>
              <a:buSzPts val="930"/>
              <a:buFont typeface="Poppins"/>
              <a:buNone/>
            </a:pPr>
            <a:r>
              <a:rPr lang="en-US" sz="930">
                <a:solidFill>
                  <a:srgbClr val="0D2434"/>
                </a:solidFill>
                <a:latin typeface="Poppins"/>
                <a:ea typeface="Poppins"/>
                <a:cs typeface="Poppins"/>
                <a:sym typeface="Poppins"/>
              </a:rPr>
              <a:t>Listen calmly. Don't promise secrecy. Don't investigate or ask leading questions. Write down what was said in the student's own words, and report it the same day via the ESCG safeguarding route. Final-year students still disclose — don't assume otherwise. Unsure? Speak to your Safeguarding lead before you teach.</a:t>
            </a:r>
            <a:endParaRPr sz="93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