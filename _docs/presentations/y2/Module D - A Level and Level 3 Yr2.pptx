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8BA0C1E-C44B-4C86-982C-E0D8293A8DE9}">
  <a:tblStyle styleId="{C8BA0C1E-C44B-4C86-982C-E0D8293A8DE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Arial"/>
                <a:ea typeface="Arial"/>
                <a:cs typeface="Arial"/>
                <a:sym typeface="Arial"/>
              </a:rPr>
              <a:t>SLIDE 1 — TITLE</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Mode: TEACHER INPUT | Variant: L3 Year 2 / A-level Year 2</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Do not use this deck with new starters. This variant is calibrated for students who have been at ESCG for at least one year.</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The subtitle — 'You know how this works. Now decide what you do with that.' — sets the register. This isn't induction. It's a check-in and a decision point.</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Two subgroups to hold in mind:</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L3 Year 2: Last year of their Level 3. Don't fumble the last lap. They have enough institutional knowledge to stand for Rep or Governor with genuine credibility.</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A-level Year 2: UCAS is live or imminent. Time is finite. Rep role is still real and worth taking on; Governor election in November is less relevant (most will have left before they could serve a full term — flag this in speaker notes context on slide 7).</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PROUD value: Encourage Unity. The returner framing: 'You've seen collective voice work or not work. You're the ones who know how to make it work this year.'</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DEPARTMENT VERSION — this deck has been personalised for A Level and Level 3 Year 2 Media, Film, Photography and Digital (Media A Level at Eastbourne and Lewes, Media Studies A Level at Station Plaza, Film Studies at Lewes and Hastings, Photography A Level at Lewes, plus Year 2 Level 3 and T Level groups). Five things still need your local detail: campus and teaching group, the GCSE English and maths class times and teachers, where the Governor application link lives, who holds the Student Rep Register for your area, and one real example of something that changed here because students asked.</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NEW THIS YEAR: this group elects TWO reps — one for their subject group, and one for their GCSE English or maths class. Both go on the central Student Rep Register today.</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 name="Google Shape;2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2 — SESSION MAP</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Mode: SESSION MAP | Time: 1 min</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Returners don't need a detailed walkthrough — they know the format. Keep this to 30 seconds.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The one thing to flag: 'Today ends with an election. Whether or not you want to stand, pay attention to the earlier slides — you know what makes a good rep better than first-years do.'</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NOTE — two seats are filled in the election slot: the subject rep and the GCSE English/maths rep. Flag it here so returners know the election is not a repeat of last year's.</a:t>
            </a:r>
            <a:endParaRPr/>
          </a:p>
        </p:txBody>
      </p:sp>
      <p:sp>
        <p:nvSpPr>
          <p:cNvPr id="27" name="Google Shape;27;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3 — CHECK IN</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Mode: DISCUSSION | Time: 10 mins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Two questions, not one. The first is analytical — what actually happened? The second is forward-looking — what would you want to be different? Together they establish that this group has the experience to make the election today meaningful.</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Running it: 3 minutes paired, then invite 4–5 responses. Don't editorialise — note the themes briefly. The punchline: 'You've just described what a good rep looks like. Keep that in mind when you're voting — or standing — later.'</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What to watch for: students who say 'I never knew who our rep was' or 'they never fed back.' These are valid critiques. Acknowledge them directly — 'That's exactly the gap this year's election can fix.' Don't get defensive.</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L3Y2 specific: some may be genuinely energised by the start of a new year. Others may be coasting. The two-question format tends to surface both.</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A-level Y2 specific: UCAS pressure may be visible already. Acknowledge at close of discussion if relevant: 'I know some of you are already deep into applications. That's exactly why having a rep who understands the pressure you're under matters.'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Safeguarding: open questions occasionally surface concerns. Listen calmly, do not promise confidentiality, report same day. Module F covers full procedure.</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NOTE — both check-in questions now name this department's realities: deadlines and feedback turnaround, coursework against UCAS, and access to edit suites, studios and the darkroom. Returners answer a generic question generically; a question about their own subject produces the specific, evidenced feedback slide 4 then asks them to recognise as effective.</a:t>
            </a:r>
            <a:endParaRPr/>
          </a:p>
        </p:txBody>
      </p:sp>
      <p:sp>
        <p:nvSpPr>
          <p:cNvPr id="86" name="Google Shape;8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4 — STUDENTS' VOICE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Mode: TEACHER INPUT | Time: 10 mins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move the conversation from 'what is this' (which returners already know) to 'what makes it actually work.' This is a more sophisticated framing than Core's introductory slide.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left panel names the four conditions for effectiveness. Each one is worth a sentence — draw on what the check-in discussion surfaced. If the group said their rep 'never fed back,' that maps directly to the third bullet ('groups who tell their rep what matters').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honest case: 'Students' Voice doesn't work automatically. It works when the rep is genuinely plugged in, and when the group uses them. Both sides of that have to function.'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Don't over-promise outcomes — returners will call it out if you do. The 'visible outcomes' card is the important one: outcomes are documented and visible, even when they're partial or slow.</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Bridge: 'So — knowing all that — let's look at the roles available and which one might suit where you are this year.'</a:t>
            </a:r>
            <a:endParaRPr/>
          </a:p>
        </p:txBody>
      </p:sp>
      <p:sp>
        <p:nvSpPr>
          <p:cNvPr id="103" name="Google Shape;10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5 — WAYS TO GET INVOLVED</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Mode: TEACHER INPUT | Time: 10 mins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Returners don't need each option explained from scratch. The framing question — 'which one fits Year 2?' — is the right lens.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Student Rep: 'You've seen what a rep does, and you probably have views on what makes a good one. That knowledge is exactly what makes you a stronger candidate than you were last year.'</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Student Governor: note the forward flag — 'requires commitment beyond this year.' A-level Y2 students who are leaving after this year are not eligible to serve a full Governor term. Flag this without making it a barrier: 'If you're continuing at ESCG, this is worth looking at seriously in November.'</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Induction Survey: 'Three minutes, and it's how the college gets a picture of what Year 2 actually looks like from the inside. Worth doing even if you do nothing else today.'</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NOTE — the Student Rep card now names both seats. For students who resit GCSE English or maths, that class is often where they feel least represented; say plainly that it now has a rep of its own.</a:t>
            </a:r>
            <a:endParaRPr/>
          </a:p>
        </p:txBody>
      </p:sp>
      <p:sp>
        <p:nvSpPr>
          <p:cNvPr id="136" name="Google Shape;136;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6 — THE STUDENT REP ROLE</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Mode: TEACHER INPUT | Time: 10 mins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The returner-specific framing is in the green tinted strip: 'Year 2 advantage — you know the staff, the meetings, and what actually moves things.' Say this directly.</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Familiarity-as-risk is the thing to name honestly: 'The risk in Year 2 is that you know the system well enough to go through the motions. A rep who's coasting doesn't help anyone.' Pair it immediately with the positive: 'But knowing the system also means you can make it work faster than a first-year can. That's a genuine advantage.'</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Training note: even returners who have been reps before are expected to attend the 14 October training as newly elected reps. It's not optional — flag this clearly.</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A-level Y2 specific: for students with UCAS pressure, acknowledge the time cost honestly. 'Three meetings a year. If you're managing UCAS alongside this, it's manageable — but it requires being organised. Don't stand if you can't commit.'</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NOTE — the sixth bullet is new: the rep role now covers the group's GCSE English or maths class as well as the subject. Both reps attend the same 14 October training and the same Council meetings.</a:t>
            </a:r>
            <a:endParaRPr/>
          </a:p>
        </p:txBody>
      </p:sp>
      <p:sp>
        <p:nvSpPr>
          <p:cNvPr id="175" name="Google Shape;17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7 — STUDENT GOVERNOR ROLE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Mode: TEACHER INPUT | Time: 5 mins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A-level Y2 eligibility note is on-slide for this variant — it prevents students from investing enthusiasm in an option that isn't available to them. Say it directly: 'If you're finishing A-levels this year and not continuing at the college, the Governor role isn't open to you. That's not a criticism — it's just the requirement.'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For L3Y2 students who are progressing: this is worth pressing before the 16 October deadline. 'You've already got a year here. You know how this college works. That's exactly the kind of experience a Governor needs.'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Student Enrichment Co-ordinators for students who want to find out more: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Eastbourne: Chelsey King</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Lewes: Tessa Echalaz</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Station Plaza &amp; Ore Valley: Paige Baker-Carroll</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Bridge: 'One more thought before we get to the election.'</a:t>
            </a:r>
            <a:endParaRPr/>
          </a:p>
        </p:txBody>
      </p:sp>
      <p:sp>
        <p:nvSpPr>
          <p:cNvPr id="199" name="Google Shape;199;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8 — WHAT THE BOARD DOES</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Mode: TEACHER INPUT | Time: 4 mins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The distinction in the red box is the intellectual content of this slide, and returners will push on it: if a Student Governor doesn't represent students, what are they for? The honest answer is that governance appoints individuals for the perspective they bring, and accountability to a constituency sits with the Student Rep. Both are real; they are different mechanisms.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Worth naming: this is the same distinction as a non-executive director versus a union rep.</a:t>
            </a:r>
            <a:endParaRPr/>
          </a:p>
        </p:txBody>
      </p:sp>
      <p:sp>
        <p:nvSpPr>
          <p:cNvPr id="222" name="Google Shape;222;p8: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9 — WHAT IT TAKES</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Mode: TEACHER INPUT | Time: 4 mins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Don't soften the commitment for a Year 2 group mid-UCAS. 3–5 hours a month is real, and a student who withdraws in February has done themselves no favours.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Equally, don't oversell the CV line. It is genuinely distinctive — but only if they do the role properly, which is the point worth making.</a:t>
            </a:r>
            <a:endParaRPr/>
          </a:p>
        </p:txBody>
      </p:sp>
      <p:sp>
        <p:nvSpPr>
          <p:cNvPr id="245" name="Google Shape;245;p9: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10 — HOW TO APPLY</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Mode: TEACHER INPUT | Time: 4 mins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The deadline — midday, Friday 16 October — is the operative fact. Everything else on this deck can be revisited; this cannot.</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Note for A-level Y2: students not continuing at ESCG next year are not eligible to serve a full term (slide 7). Redirect them to the Rep role rather than letting them draft an application that can't proceed.</a:t>
            </a:r>
            <a:endParaRPr/>
          </a:p>
        </p:txBody>
      </p:sp>
      <p:sp>
        <p:nvSpPr>
          <p:cNvPr id="283" name="Google Shape;283;p10:notes"/>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8 — ENCOURAGE UNITY (PROUD)</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Mode: TEACHER INPUT | Time: 5 mins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returner-specific angle: 'You've been here long enough to know what collective voice looks like when it's working. That's exactly why this year is different — you're not starting from scratch.'</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three cards are talking points — use whichever lands: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Experience card: returners carry institutional knowledge that new students can't have. That knowledge is only useful if it's shared — through the rep, through the survey, through talking to the group.</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Rep card: you chose your rep today. That means they're accountable to you. Use that.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Legacy card: slightly different register — this group's engagement (or disengagement) shapes what the next cohort walks into. Worth saying once, briefly, without making it heavy.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Bridge: 'Right — election time.'</a:t>
            </a:r>
            <a:endParaRPr/>
          </a:p>
        </p:txBody>
      </p:sp>
      <p:sp>
        <p:nvSpPr>
          <p:cNvPr id="323" name="Google Shape;323;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9 — ELECTION ACTIVITY</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Mode: ACTIVITY | Time: 30–35 mins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Returner-specific framing for the pitches: 'You've seen a rep do this job. You know what good looks like — and what doesn't. If you're standing, say what you'd actually do. If you're voting, hold candidates to that.'</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STAGE 1 — NOMINATIONS: Returners are generally less hesitant to put themselves forward than first-years. Allow 2 minutes but don't be surprised if it moves faster. If nobody stands initially: 'Who in this room do you trust to take your feedback forward?' — redirect to character, not volunteering.</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STAGE 2 — PITCHES: The pitch slide copy says 'you've seen this done — say what you'd do differently.' That's the returner register. Credit experience without making it a condition: students who didn't engage much last year can still stand.</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STAGE 3 — VOTE: Returners often prefer to move quickly. Let them set the pace on voting method — they've done it before.</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STAGE 4 — CONFIRM AND REGISTER: Must happen before session closes. Add to central Student Rep Register: name, group, campus.</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MANDATORY: Elections must be completed by end of Week 2. This session is Week 3. Do not leave this unfinished. If nobody stands, flag immediately to Head of Department and Student Enrichment Co-ordinator.</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NOTE — run nominations once and elect both seats: subject rep first, then the GCSE English/maths rep. A student may hold both only if nobody else stands. Both names go on the central register before the session closes.</a:t>
            </a:r>
            <a:endParaRPr/>
          </a:p>
        </p:txBody>
      </p:sp>
      <p:sp>
        <p:nvSpPr>
          <p:cNvPr id="342" name="Google Shape;342;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0" name="Google Shape;38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10 — COMMITMENT CARD</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Mode: ACTIVITY | Time: 5 mins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Key returner differences from Core: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Option 2 — 'I'll brief my rep': upgraded from Core's 'I'll talk to my rep.' The returner version names a specific, accountable action: something from last year that still needs fixing, with a follow-up check. This credits their experience and sets a higher bar than the passive version.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Option 3 — 'I'll use what I know': the most distinctively returner option. Three routes — stand (for Rep today or Governor in November), advise (a friend, a new student, this year's rep), or pass on knowledge. Works for both L3Y2 (Governor route is available) and A-level Y2 (Governor route may not be, but the advising and passing-on routes still are).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Option 4 — safeguarding disclosure: identical to Core. Standard language, same structural purpose. Keep a note of who chooses this and check in individually before the week is out.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Running it: 2 minutes to choose, then 2–3 students share. Acknowledge without evaluating.</a:t>
            </a:r>
            <a:endParaRPr/>
          </a:p>
        </p:txBody>
      </p:sp>
      <p:sp>
        <p:nvSpPr>
          <p:cNvPr id="381" name="Google Shape;381;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SLIDE 11 — CLOSE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Mode: SESSION MAP | Time: 5 mins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Name the rep aloud — 'Your Student Rep is [name], elected just now.' Make it concrete.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Rep training note: even returners who have been reps before attend the 14 October training as newly elected reps. Say this explicitly — some will assume it doesn't apply to them.</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Governor note: the 'continuing at ESCG' qualifier is in the bullet for A-level Y2 visibility. Don't labour it — just let it land.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Close briskly. Returners don't need a warm wind-down — they need clear next steps and to get on with their day.</a:t>
            </a:r>
            <a:endParaRPr/>
          </a:p>
        </p:txBody>
      </p:sp>
      <p:sp>
        <p:nvSpPr>
          <p:cNvPr id="413" name="Google Shape;413;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Teacher appendix — not for student display.</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NOTE — teacher appendix. This deck has been personalised for A Level and Level 3 Year 2 Media, Film, Photography and Digital, and every adaptation marker has been completed. Still needs your local detail: campus and teaching group, GCSE English and maths class times and teachers, the Governor application link, who holds the Student Rep Register for your area, and one real local example of a change students asked for. Two rep seats are filled in this session: subject rep and GCSE English/maths rep.</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NOTE — the Governor block (slides 8–10) adds roughly 12 minutes. Protect the election: it is mandatory by end of Week 2.</a:t>
            </a:r>
            <a:endParaRPr/>
          </a:p>
        </p:txBody>
      </p:sp>
      <p:sp>
        <p:nvSpPr>
          <p:cNvPr id="443" name="Google Shape;443;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png"/><Relationship Id="rId10" Type="http://schemas.openxmlformats.org/officeDocument/2006/relationships/image" Target="../media/image5.png"/><Relationship Id="rId9"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11.png"/><Relationship Id="rId6" Type="http://schemas.openxmlformats.org/officeDocument/2006/relationships/image" Target="../media/image5.png"/><Relationship Id="rId7"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8.png"/><Relationship Id="rId5"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11.png"/><Relationship Id="rId6"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11" name="Shape 11"/>
        <p:cNvGrpSpPr/>
        <p:nvPr/>
      </p:nvGrpSpPr>
      <p:grpSpPr>
        <a:xfrm>
          <a:off x="0" y="0"/>
          <a:ext cx="0" cy="0"/>
          <a:chOff x="0" y="0"/>
          <a:chExt cx="0" cy="0"/>
        </a:xfrm>
      </p:grpSpPr>
      <p:sp>
        <p:nvSpPr>
          <p:cNvPr id="12" name="Google Shape;12;p3"/>
          <p:cNvSpPr/>
          <p:nvPr/>
        </p:nvSpPr>
        <p:spPr>
          <a:xfrm>
            <a:off x="0" y="0"/>
            <a:ext cx="411480" cy="5143500"/>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 name="Google Shape;13;p3"/>
          <p:cNvSpPr/>
          <p:nvPr/>
        </p:nvSpPr>
        <p:spPr>
          <a:xfrm>
            <a:off x="640080" y="777240"/>
            <a:ext cx="1463040" cy="347472"/>
          </a:xfrm>
          <a:prstGeom prst="rect">
            <a:avLst/>
          </a:prstGeom>
          <a:solidFill>
            <a:srgbClr val="FFCF01"/>
          </a:solidFill>
          <a:ln cap="flat" cmpd="sng" w="12700">
            <a:solidFill>
              <a:srgbClr val="FFCF0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Google Shape;14;p3"/>
          <p:cNvSpPr/>
          <p:nvPr/>
        </p:nvSpPr>
        <p:spPr>
          <a:xfrm>
            <a:off x="640080" y="777240"/>
            <a:ext cx="14630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2A30"/>
              </a:buClr>
              <a:buSzPts val="1000"/>
              <a:buFont typeface="Arial"/>
              <a:buNone/>
            </a:pPr>
            <a:r>
              <a:rPr b="1" i="0" lang="en-US" sz="1000" u="none" cap="none" strike="noStrike">
                <a:solidFill>
                  <a:srgbClr val="1B2A30"/>
                </a:solidFill>
                <a:latin typeface="Arial"/>
                <a:ea typeface="Arial"/>
                <a:cs typeface="Arial"/>
                <a:sym typeface="Arial"/>
              </a:rPr>
              <a:t>MODULE D</a:t>
            </a:r>
            <a:endParaRPr b="0" i="0" sz="1000" u="none" cap="none" strike="noStrike">
              <a:solidFill>
                <a:schemeClr val="dk1"/>
              </a:solidFill>
              <a:latin typeface="Calibri"/>
              <a:ea typeface="Calibri"/>
              <a:cs typeface="Calibri"/>
              <a:sym typeface="Calibri"/>
            </a:endParaRPr>
          </a:p>
        </p:txBody>
      </p:sp>
      <p:sp>
        <p:nvSpPr>
          <p:cNvPr id="15" name="Google Shape;15;p3"/>
          <p:cNvSpPr/>
          <p:nvPr/>
        </p:nvSpPr>
        <p:spPr>
          <a:xfrm>
            <a:off x="640080" y="1170432"/>
            <a:ext cx="598932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A54"/>
              </a:buClr>
              <a:buSzPts val="1000"/>
              <a:buFont typeface="Arial"/>
              <a:buNone/>
            </a:pPr>
            <a:r>
              <a:rPr b="0" i="1" lang="en-US" sz="1000" u="none" cap="none" strike="noStrike">
                <a:solidFill>
                  <a:srgbClr val="0F7A54"/>
                </a:solidFill>
                <a:latin typeface="Arial"/>
                <a:ea typeface="Arial"/>
                <a:cs typeface="Arial"/>
                <a:sym typeface="Arial"/>
              </a:rPr>
              <a:t>Group 1 — Settling In &amp; Belonging  |  A Level and Year 2 — Media, Film, Photography and Digital</a:t>
            </a:r>
            <a:endParaRPr b="0" i="0" sz="1000" u="none" cap="none" strike="noStrike">
              <a:solidFill>
                <a:schemeClr val="dk1"/>
              </a:solidFill>
              <a:latin typeface="Calibri"/>
              <a:ea typeface="Calibri"/>
              <a:cs typeface="Calibri"/>
              <a:sym typeface="Calibri"/>
            </a:endParaRPr>
          </a:p>
        </p:txBody>
      </p:sp>
      <p:sp>
        <p:nvSpPr>
          <p:cNvPr id="16" name="Google Shape;16;p3"/>
          <p:cNvSpPr/>
          <p:nvPr/>
        </p:nvSpPr>
        <p:spPr>
          <a:xfrm>
            <a:off x="640080" y="1508760"/>
            <a:ext cx="5943600" cy="1920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Arial"/>
                <a:ea typeface="Arial"/>
                <a:cs typeface="Arial"/>
                <a:sym typeface="Arial"/>
              </a:rPr>
              <a:t>Students' Voice</a:t>
            </a:r>
            <a:endParaRPr b="0" i="0" sz="4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Arial"/>
                <a:ea typeface="Arial"/>
                <a:cs typeface="Arial"/>
                <a:sym typeface="Arial"/>
              </a:rPr>
              <a:t>&amp; Student Rep</a:t>
            </a:r>
            <a:endParaRPr b="0" i="0" sz="4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4000"/>
              <a:buFont typeface="Arial"/>
              <a:buNone/>
            </a:pPr>
            <a:r>
              <a:rPr b="1" i="0" lang="en-US" sz="4000" u="none" cap="none" strike="noStrike">
                <a:solidFill>
                  <a:srgbClr val="FFFFFF"/>
                </a:solidFill>
                <a:latin typeface="Arial"/>
                <a:ea typeface="Arial"/>
                <a:cs typeface="Arial"/>
                <a:sym typeface="Arial"/>
              </a:rPr>
              <a:t>Elections</a:t>
            </a:r>
            <a:endParaRPr b="0" i="0" sz="4000" u="none" cap="none" strike="noStrike">
              <a:solidFill>
                <a:schemeClr val="dk1"/>
              </a:solidFill>
              <a:latin typeface="Calibri"/>
              <a:ea typeface="Calibri"/>
              <a:cs typeface="Calibri"/>
              <a:sym typeface="Calibri"/>
            </a:endParaRPr>
          </a:p>
        </p:txBody>
      </p:sp>
      <p:sp>
        <p:nvSpPr>
          <p:cNvPr id="17" name="Google Shape;17;p3"/>
          <p:cNvSpPr/>
          <p:nvPr/>
        </p:nvSpPr>
        <p:spPr>
          <a:xfrm>
            <a:off x="640080" y="3474720"/>
            <a:ext cx="59436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2DBDA"/>
              </a:buClr>
              <a:buSzPts val="1400"/>
              <a:buFont typeface="Arial"/>
              <a:buNone/>
            </a:pPr>
            <a:r>
              <a:rPr b="0" i="1" lang="en-US" sz="1400" u="none" cap="none" strike="noStrike">
                <a:solidFill>
                  <a:srgbClr val="D2DBDA"/>
                </a:solidFill>
                <a:latin typeface="Arial"/>
                <a:ea typeface="Arial"/>
                <a:cs typeface="Arial"/>
                <a:sym typeface="Arial"/>
              </a:rPr>
              <a:t>You've had a year of this department. Now decide what you do with what you know.</a:t>
            </a:r>
            <a:endParaRPr b="0" i="0" sz="1400" u="none" cap="none" strike="noStrike">
              <a:solidFill>
                <a:schemeClr val="dk1"/>
              </a:solidFill>
              <a:latin typeface="Calibri"/>
              <a:ea typeface="Calibri"/>
              <a:cs typeface="Calibri"/>
              <a:sym typeface="Calibri"/>
            </a:endParaRPr>
          </a:p>
        </p:txBody>
      </p:sp>
      <p:sp>
        <p:nvSpPr>
          <p:cNvPr id="18" name="Google Shape;18;p3"/>
          <p:cNvSpPr/>
          <p:nvPr/>
        </p:nvSpPr>
        <p:spPr>
          <a:xfrm>
            <a:off x="640080" y="4315968"/>
            <a:ext cx="1645920" cy="320040"/>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 name="Google Shape;19;p3"/>
          <p:cNvSpPr/>
          <p:nvPr/>
        </p:nvSpPr>
        <p:spPr>
          <a:xfrm>
            <a:off x="640080" y="4315968"/>
            <a:ext cx="164592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100 minutes</a:t>
            </a:r>
            <a:endParaRPr b="0" i="0" sz="1000" u="none" cap="none" strike="noStrike">
              <a:solidFill>
                <a:schemeClr val="dk1"/>
              </a:solidFill>
              <a:latin typeface="Calibri"/>
              <a:ea typeface="Calibri"/>
              <a:cs typeface="Calibri"/>
              <a:sym typeface="Calibri"/>
            </a:endParaRPr>
          </a:p>
        </p:txBody>
      </p:sp>
      <p:sp>
        <p:nvSpPr>
          <p:cNvPr id="20" name="Google Shape;20;p3"/>
          <p:cNvSpPr/>
          <p:nvPr/>
        </p:nvSpPr>
        <p:spPr>
          <a:xfrm>
            <a:off x="2423160" y="4315968"/>
            <a:ext cx="2011680" cy="320040"/>
          </a:xfrm>
          <a:prstGeom prst="rect">
            <a:avLst/>
          </a:prstGeom>
          <a:solidFill>
            <a:srgbClr val="0F7A54">
              <a:alpha val="40000"/>
            </a:srgbClr>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 name="Google Shape;21;p3"/>
          <p:cNvSpPr/>
          <p:nvPr/>
        </p:nvSpPr>
        <p:spPr>
          <a:xfrm>
            <a:off x="2423160" y="4315968"/>
            <a:ext cx="201168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L3 Year 2 / A-level Year 2</a:t>
            </a:r>
            <a:endParaRPr b="0" i="0" sz="900" u="none" cap="none" strike="noStrike">
              <a:solidFill>
                <a:schemeClr val="dk1"/>
              </a:solidFill>
              <a:latin typeface="Calibri"/>
              <a:ea typeface="Calibri"/>
              <a:cs typeface="Calibri"/>
              <a:sym typeface="Calibri"/>
            </a:endParaRPr>
          </a:p>
        </p:txBody>
      </p:sp>
      <p:sp>
        <p:nvSpPr>
          <p:cNvPr id="22" name="Google Shape;22;p3"/>
          <p:cNvSpPr/>
          <p:nvPr/>
        </p:nvSpPr>
        <p:spPr>
          <a:xfrm>
            <a:off x="640080" y="4700016"/>
            <a:ext cx="78638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900"/>
              <a:buFont typeface="Arial"/>
              <a:buNone/>
            </a:pPr>
            <a:r>
              <a:rPr b="0" i="0" lang="en-US" sz="900" u="none" cap="none" strike="noStrike">
                <a:solidFill>
                  <a:srgbClr val="5A6A6F"/>
                </a:solidFill>
                <a:latin typeface="Arial"/>
                <a:ea typeface="Arial"/>
                <a:cs typeface="Arial"/>
                <a:sym typeface="Arial"/>
              </a:rPr>
              <a:t>PROUD value: Encourage Unity  |  Eastbourne · Lewes · Hastings (Station Plaza)</a:t>
            </a:r>
            <a:endParaRPr b="0" i="0" sz="900" u="none" cap="none" strike="noStrike">
              <a:solidFill>
                <a:schemeClr val="dk1"/>
              </a:solidFill>
              <a:latin typeface="Calibri"/>
              <a:ea typeface="Calibri"/>
              <a:cs typeface="Calibri"/>
              <a:sym typeface="Calibri"/>
            </a:endParaRPr>
          </a:p>
        </p:txBody>
      </p:sp>
      <p:pic>
        <p:nvPicPr>
          <p:cNvPr descr="preencoded.png" id="23" name="Google Shape;23;p3"/>
          <p:cNvPicPr preferRelativeResize="0"/>
          <p:nvPr/>
        </p:nvPicPr>
        <p:blipFill rotWithShape="1">
          <a:blip r:embed="rId3">
            <a:alphaModFix/>
          </a:blip>
          <a:srcRect b="0" l="0" r="0" t="0"/>
          <a:stretch/>
        </p:blipFill>
        <p:spPr>
          <a:xfrm>
            <a:off x="6858000" y="914400"/>
            <a:ext cx="1828800" cy="1828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8" name="Shape 28"/>
        <p:cNvGrpSpPr/>
        <p:nvPr/>
      </p:nvGrpSpPr>
      <p:grpSpPr>
        <a:xfrm>
          <a:off x="0" y="0"/>
          <a:ext cx="0" cy="0"/>
          <a:chOff x="0" y="0"/>
          <a:chExt cx="0" cy="0"/>
        </a:xfrm>
      </p:grpSpPr>
      <p:sp>
        <p:nvSpPr>
          <p:cNvPr id="29" name="Google Shape;29;p4"/>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What we're doing today</a:t>
            </a:r>
            <a:endParaRPr b="0" i="0" sz="2200" u="none" cap="none" strike="noStrike">
              <a:solidFill>
                <a:schemeClr val="dk1"/>
              </a:solidFill>
              <a:latin typeface="Calibri"/>
              <a:ea typeface="Calibri"/>
              <a:cs typeface="Calibri"/>
              <a:sym typeface="Calibri"/>
            </a:endParaRPr>
          </a:p>
        </p:txBody>
      </p:sp>
      <p:sp>
        <p:nvSpPr>
          <p:cNvPr id="30" name="Google Shape;30;p4"/>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About 100 minutes — the shape of the session</a:t>
            </a:r>
            <a:endParaRPr b="0" i="0" sz="1100" u="none" cap="none" strike="noStrike">
              <a:solidFill>
                <a:schemeClr val="dk1"/>
              </a:solidFill>
              <a:latin typeface="Calibri"/>
              <a:ea typeface="Calibri"/>
              <a:cs typeface="Calibri"/>
              <a:sym typeface="Calibri"/>
            </a:endParaRPr>
          </a:p>
        </p:txBody>
      </p:sp>
      <p:sp>
        <p:nvSpPr>
          <p:cNvPr id="31" name="Google Shape;31;p4"/>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 name="Google Shape;32;p4"/>
          <p:cNvSpPr/>
          <p:nvPr/>
        </p:nvSpPr>
        <p:spPr>
          <a:xfrm>
            <a:off x="7498080" y="109728"/>
            <a:ext cx="1508760" cy="292608"/>
          </a:xfrm>
          <a:prstGeom prst="rect">
            <a:avLst/>
          </a:prstGeom>
          <a:solidFill>
            <a:srgbClr val="5A6A6F"/>
          </a:solidFill>
          <a:ln cap="flat" cmpd="sng" w="12700">
            <a:solidFill>
              <a:srgbClr val="5A6A6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 name="Google Shape;33;p4"/>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SESSION MAP</a:t>
            </a:r>
            <a:endParaRPr b="0" i="0" sz="750" u="none" cap="none" strike="noStrike">
              <a:solidFill>
                <a:schemeClr val="dk1"/>
              </a:solidFill>
              <a:latin typeface="Calibri"/>
              <a:ea typeface="Calibri"/>
              <a:cs typeface="Calibri"/>
              <a:sym typeface="Calibri"/>
            </a:endParaRPr>
          </a:p>
        </p:txBody>
      </p:sp>
      <p:sp>
        <p:nvSpPr>
          <p:cNvPr id="34" name="Google Shape;34;p4"/>
          <p:cNvSpPr/>
          <p:nvPr/>
        </p:nvSpPr>
        <p:spPr>
          <a:xfrm>
            <a:off x="411480" y="4892040"/>
            <a:ext cx="64008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A Level / Year 2 — Media, Film, Photography and Digital</a:t>
            </a:r>
            <a:endParaRPr b="0" i="0" sz="800" u="none" cap="none" strike="noStrike">
              <a:solidFill>
                <a:schemeClr val="dk1"/>
              </a:solidFill>
              <a:latin typeface="Calibri"/>
              <a:ea typeface="Calibri"/>
              <a:cs typeface="Calibri"/>
              <a:sym typeface="Calibri"/>
            </a:endParaRPr>
          </a:p>
        </p:txBody>
      </p:sp>
      <p:sp>
        <p:nvSpPr>
          <p:cNvPr id="35" name="Google Shape;35;p4"/>
          <p:cNvSpPr/>
          <p:nvPr/>
        </p:nvSpPr>
        <p:spPr>
          <a:xfrm>
            <a:off x="411480" y="1005840"/>
            <a:ext cx="1965960" cy="1463040"/>
          </a:xfrm>
          <a:prstGeom prst="rect">
            <a:avLst/>
          </a:prstGeom>
          <a:solidFill>
            <a:srgbClr val="FFFFFF"/>
          </a:solidFill>
          <a:ln cap="flat" cmpd="sng" w="12700">
            <a:solidFill>
              <a:srgbClr val="D2DBD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6" name="Google Shape;36;p4"/>
          <p:cNvCxnSpPr/>
          <p:nvPr/>
        </p:nvCxnSpPr>
        <p:spPr>
          <a:xfrm>
            <a:off x="521208" y="1115568"/>
            <a:ext cx="347472" cy="347472"/>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37" name="Google Shape;37;p4"/>
          <p:cNvSpPr/>
          <p:nvPr/>
        </p:nvSpPr>
        <p:spPr>
          <a:xfrm>
            <a:off x="521208" y="1115568"/>
            <a:ext cx="347472"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1</a:t>
            </a:r>
            <a:endParaRPr b="0" i="0" sz="1100" u="none" cap="none" strike="noStrike">
              <a:solidFill>
                <a:schemeClr val="dk1"/>
              </a:solidFill>
              <a:latin typeface="Calibri"/>
              <a:ea typeface="Calibri"/>
              <a:cs typeface="Calibri"/>
              <a:sym typeface="Calibri"/>
            </a:endParaRPr>
          </a:p>
        </p:txBody>
      </p:sp>
      <p:pic>
        <p:nvPicPr>
          <p:cNvPr descr="preencoded.png" id="38" name="Google Shape;38;p4"/>
          <p:cNvPicPr preferRelativeResize="0"/>
          <p:nvPr/>
        </p:nvPicPr>
        <p:blipFill rotWithShape="1">
          <a:blip r:embed="rId3">
            <a:alphaModFix/>
          </a:blip>
          <a:srcRect b="0" l="0" r="0" t="0"/>
          <a:stretch/>
        </p:blipFill>
        <p:spPr>
          <a:xfrm>
            <a:off x="1874520" y="1097280"/>
            <a:ext cx="347472" cy="347472"/>
          </a:xfrm>
          <a:prstGeom prst="rect">
            <a:avLst/>
          </a:prstGeom>
          <a:noFill/>
          <a:ln>
            <a:noFill/>
          </a:ln>
        </p:spPr>
      </p:pic>
      <p:sp>
        <p:nvSpPr>
          <p:cNvPr id="39" name="Google Shape;39;p4"/>
          <p:cNvSpPr/>
          <p:nvPr/>
        </p:nvSpPr>
        <p:spPr>
          <a:xfrm>
            <a:off x="521208" y="1536192"/>
            <a:ext cx="17465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Check in</a:t>
            </a:r>
            <a:endParaRPr b="0" i="0" sz="1200" u="none" cap="none" strike="noStrike">
              <a:solidFill>
                <a:schemeClr val="dk1"/>
              </a:solidFill>
              <a:latin typeface="Calibri"/>
              <a:ea typeface="Calibri"/>
              <a:cs typeface="Calibri"/>
              <a:sym typeface="Calibri"/>
            </a:endParaRPr>
          </a:p>
        </p:txBody>
      </p:sp>
      <p:sp>
        <p:nvSpPr>
          <p:cNvPr id="40" name="Google Shape;40;p4"/>
          <p:cNvSpPr/>
          <p:nvPr/>
        </p:nvSpPr>
        <p:spPr>
          <a:xfrm>
            <a:off x="521208" y="1901952"/>
            <a:ext cx="1746504"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What did Students' Voice actually achieve? (10 mins)</a:t>
            </a:r>
            <a:endParaRPr b="0" i="0" sz="950" u="none" cap="none" strike="noStrike">
              <a:solidFill>
                <a:schemeClr val="dk1"/>
              </a:solidFill>
              <a:latin typeface="Calibri"/>
              <a:ea typeface="Calibri"/>
              <a:cs typeface="Calibri"/>
              <a:sym typeface="Calibri"/>
            </a:endParaRPr>
          </a:p>
        </p:txBody>
      </p:sp>
      <p:sp>
        <p:nvSpPr>
          <p:cNvPr id="41" name="Google Shape;41;p4"/>
          <p:cNvSpPr/>
          <p:nvPr/>
        </p:nvSpPr>
        <p:spPr>
          <a:xfrm>
            <a:off x="2542032" y="1005840"/>
            <a:ext cx="1965960" cy="1463040"/>
          </a:xfrm>
          <a:prstGeom prst="rect">
            <a:avLst/>
          </a:prstGeom>
          <a:solidFill>
            <a:srgbClr val="FFFFFF"/>
          </a:solidFill>
          <a:ln cap="flat" cmpd="sng" w="12700">
            <a:solidFill>
              <a:srgbClr val="D2DBD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2" name="Google Shape;42;p4"/>
          <p:cNvCxnSpPr/>
          <p:nvPr/>
        </p:nvCxnSpPr>
        <p:spPr>
          <a:xfrm>
            <a:off x="2651760" y="1115568"/>
            <a:ext cx="347472" cy="347472"/>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43" name="Google Shape;43;p4"/>
          <p:cNvSpPr/>
          <p:nvPr/>
        </p:nvSpPr>
        <p:spPr>
          <a:xfrm>
            <a:off x="2651760" y="1115568"/>
            <a:ext cx="347472"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2</a:t>
            </a:r>
            <a:endParaRPr b="0" i="0" sz="1100" u="none" cap="none" strike="noStrike">
              <a:solidFill>
                <a:schemeClr val="dk1"/>
              </a:solidFill>
              <a:latin typeface="Calibri"/>
              <a:ea typeface="Calibri"/>
              <a:cs typeface="Calibri"/>
              <a:sym typeface="Calibri"/>
            </a:endParaRPr>
          </a:p>
        </p:txBody>
      </p:sp>
      <p:pic>
        <p:nvPicPr>
          <p:cNvPr descr="preencoded.png" id="44" name="Google Shape;44;p4"/>
          <p:cNvPicPr preferRelativeResize="0"/>
          <p:nvPr/>
        </p:nvPicPr>
        <p:blipFill rotWithShape="1">
          <a:blip r:embed="rId4">
            <a:alphaModFix/>
          </a:blip>
          <a:srcRect b="0" l="0" r="0" t="0"/>
          <a:stretch/>
        </p:blipFill>
        <p:spPr>
          <a:xfrm>
            <a:off x="4005072" y="1097280"/>
            <a:ext cx="347472" cy="347472"/>
          </a:xfrm>
          <a:prstGeom prst="rect">
            <a:avLst/>
          </a:prstGeom>
          <a:noFill/>
          <a:ln>
            <a:noFill/>
          </a:ln>
        </p:spPr>
      </p:pic>
      <p:sp>
        <p:nvSpPr>
          <p:cNvPr id="45" name="Google Shape;45;p4"/>
          <p:cNvSpPr/>
          <p:nvPr/>
        </p:nvSpPr>
        <p:spPr>
          <a:xfrm>
            <a:off x="2651760" y="1536192"/>
            <a:ext cx="17465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Students' Voice</a:t>
            </a:r>
            <a:endParaRPr b="0" i="0" sz="1200" u="none" cap="none" strike="noStrike">
              <a:solidFill>
                <a:schemeClr val="dk1"/>
              </a:solidFill>
              <a:latin typeface="Calibri"/>
              <a:ea typeface="Calibri"/>
              <a:cs typeface="Calibri"/>
              <a:sym typeface="Calibri"/>
            </a:endParaRPr>
          </a:p>
        </p:txBody>
      </p:sp>
      <p:sp>
        <p:nvSpPr>
          <p:cNvPr id="46" name="Google Shape;46;p4"/>
          <p:cNvSpPr/>
          <p:nvPr/>
        </p:nvSpPr>
        <p:spPr>
          <a:xfrm>
            <a:off x="2651760" y="1901952"/>
            <a:ext cx="1746504"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What makes it work — and what doesn't (10 mins)</a:t>
            </a:r>
            <a:endParaRPr b="0" i="0" sz="950" u="none" cap="none" strike="noStrike">
              <a:solidFill>
                <a:schemeClr val="dk1"/>
              </a:solidFill>
              <a:latin typeface="Calibri"/>
              <a:ea typeface="Calibri"/>
              <a:cs typeface="Calibri"/>
              <a:sym typeface="Calibri"/>
            </a:endParaRPr>
          </a:p>
        </p:txBody>
      </p:sp>
      <p:sp>
        <p:nvSpPr>
          <p:cNvPr id="47" name="Google Shape;47;p4"/>
          <p:cNvSpPr/>
          <p:nvPr/>
        </p:nvSpPr>
        <p:spPr>
          <a:xfrm>
            <a:off x="4672584" y="1005840"/>
            <a:ext cx="1965960" cy="1463040"/>
          </a:xfrm>
          <a:prstGeom prst="rect">
            <a:avLst/>
          </a:prstGeom>
          <a:solidFill>
            <a:srgbClr val="FFFFFF"/>
          </a:solidFill>
          <a:ln cap="flat" cmpd="sng" w="12700">
            <a:solidFill>
              <a:srgbClr val="D2DBD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8" name="Google Shape;48;p4"/>
          <p:cNvCxnSpPr/>
          <p:nvPr/>
        </p:nvCxnSpPr>
        <p:spPr>
          <a:xfrm>
            <a:off x="4782312" y="1115568"/>
            <a:ext cx="347472" cy="347472"/>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49" name="Google Shape;49;p4"/>
          <p:cNvSpPr/>
          <p:nvPr/>
        </p:nvSpPr>
        <p:spPr>
          <a:xfrm>
            <a:off x="4782312" y="1115568"/>
            <a:ext cx="347472"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3</a:t>
            </a:r>
            <a:endParaRPr b="0" i="0" sz="1100" u="none" cap="none" strike="noStrike">
              <a:solidFill>
                <a:schemeClr val="dk1"/>
              </a:solidFill>
              <a:latin typeface="Calibri"/>
              <a:ea typeface="Calibri"/>
              <a:cs typeface="Calibri"/>
              <a:sym typeface="Calibri"/>
            </a:endParaRPr>
          </a:p>
        </p:txBody>
      </p:sp>
      <p:pic>
        <p:nvPicPr>
          <p:cNvPr descr="preencoded.png" id="50" name="Google Shape;50;p4"/>
          <p:cNvPicPr preferRelativeResize="0"/>
          <p:nvPr/>
        </p:nvPicPr>
        <p:blipFill rotWithShape="1">
          <a:blip r:embed="rId5">
            <a:alphaModFix/>
          </a:blip>
          <a:srcRect b="0" l="0" r="0" t="0"/>
          <a:stretch/>
        </p:blipFill>
        <p:spPr>
          <a:xfrm>
            <a:off x="6135624" y="1097280"/>
            <a:ext cx="347472" cy="347472"/>
          </a:xfrm>
          <a:prstGeom prst="rect">
            <a:avLst/>
          </a:prstGeom>
          <a:noFill/>
          <a:ln>
            <a:noFill/>
          </a:ln>
        </p:spPr>
      </p:pic>
      <p:sp>
        <p:nvSpPr>
          <p:cNvPr id="51" name="Google Shape;51;p4"/>
          <p:cNvSpPr/>
          <p:nvPr/>
        </p:nvSpPr>
        <p:spPr>
          <a:xfrm>
            <a:off x="4782312" y="1536192"/>
            <a:ext cx="17465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Ways to get involved</a:t>
            </a:r>
            <a:endParaRPr b="0" i="0" sz="1200" u="none" cap="none" strike="noStrike">
              <a:solidFill>
                <a:schemeClr val="dk1"/>
              </a:solidFill>
              <a:latin typeface="Calibri"/>
              <a:ea typeface="Calibri"/>
              <a:cs typeface="Calibri"/>
              <a:sym typeface="Calibri"/>
            </a:endParaRPr>
          </a:p>
        </p:txBody>
      </p:sp>
      <p:sp>
        <p:nvSpPr>
          <p:cNvPr id="52" name="Google Shape;52;p4"/>
          <p:cNvSpPr/>
          <p:nvPr/>
        </p:nvSpPr>
        <p:spPr>
          <a:xfrm>
            <a:off x="4782312" y="1901952"/>
            <a:ext cx="1746504"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You know the options — which one now? (10 mins)</a:t>
            </a:r>
            <a:endParaRPr b="0" i="0" sz="950" u="none" cap="none" strike="noStrike">
              <a:solidFill>
                <a:schemeClr val="dk1"/>
              </a:solidFill>
              <a:latin typeface="Calibri"/>
              <a:ea typeface="Calibri"/>
              <a:cs typeface="Calibri"/>
              <a:sym typeface="Calibri"/>
            </a:endParaRPr>
          </a:p>
        </p:txBody>
      </p:sp>
      <p:sp>
        <p:nvSpPr>
          <p:cNvPr id="53" name="Google Shape;53;p4"/>
          <p:cNvSpPr/>
          <p:nvPr/>
        </p:nvSpPr>
        <p:spPr>
          <a:xfrm>
            <a:off x="6803136" y="1005840"/>
            <a:ext cx="1965960" cy="1463040"/>
          </a:xfrm>
          <a:prstGeom prst="rect">
            <a:avLst/>
          </a:prstGeom>
          <a:solidFill>
            <a:srgbClr val="FFFFFF"/>
          </a:solidFill>
          <a:ln cap="flat" cmpd="sng" w="12700">
            <a:solidFill>
              <a:srgbClr val="D2DBD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54" name="Google Shape;54;p4"/>
          <p:cNvCxnSpPr/>
          <p:nvPr/>
        </p:nvCxnSpPr>
        <p:spPr>
          <a:xfrm>
            <a:off x="6912864" y="1115568"/>
            <a:ext cx="347472" cy="347472"/>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55" name="Google Shape;55;p4"/>
          <p:cNvSpPr/>
          <p:nvPr/>
        </p:nvSpPr>
        <p:spPr>
          <a:xfrm>
            <a:off x="6912864" y="1115568"/>
            <a:ext cx="347472"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4</a:t>
            </a:r>
            <a:endParaRPr b="0" i="0" sz="1100" u="none" cap="none" strike="noStrike">
              <a:solidFill>
                <a:schemeClr val="dk1"/>
              </a:solidFill>
              <a:latin typeface="Calibri"/>
              <a:ea typeface="Calibri"/>
              <a:cs typeface="Calibri"/>
              <a:sym typeface="Calibri"/>
            </a:endParaRPr>
          </a:p>
        </p:txBody>
      </p:sp>
      <p:pic>
        <p:nvPicPr>
          <p:cNvPr descr="preencoded.png" id="56" name="Google Shape;56;p4"/>
          <p:cNvPicPr preferRelativeResize="0"/>
          <p:nvPr/>
        </p:nvPicPr>
        <p:blipFill rotWithShape="1">
          <a:blip r:embed="rId6">
            <a:alphaModFix/>
          </a:blip>
          <a:srcRect b="0" l="0" r="0" t="0"/>
          <a:stretch/>
        </p:blipFill>
        <p:spPr>
          <a:xfrm>
            <a:off x="8266176" y="1097280"/>
            <a:ext cx="347472" cy="347472"/>
          </a:xfrm>
          <a:prstGeom prst="rect">
            <a:avLst/>
          </a:prstGeom>
          <a:noFill/>
          <a:ln>
            <a:noFill/>
          </a:ln>
        </p:spPr>
      </p:pic>
      <p:sp>
        <p:nvSpPr>
          <p:cNvPr id="57" name="Google Shape;57;p4"/>
          <p:cNvSpPr/>
          <p:nvPr/>
        </p:nvSpPr>
        <p:spPr>
          <a:xfrm>
            <a:off x="6912864" y="1536192"/>
            <a:ext cx="17465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The Rep role</a:t>
            </a:r>
            <a:endParaRPr b="0" i="0" sz="1200" u="none" cap="none" strike="noStrike">
              <a:solidFill>
                <a:schemeClr val="dk1"/>
              </a:solidFill>
              <a:latin typeface="Calibri"/>
              <a:ea typeface="Calibri"/>
              <a:cs typeface="Calibri"/>
              <a:sym typeface="Calibri"/>
            </a:endParaRPr>
          </a:p>
        </p:txBody>
      </p:sp>
      <p:sp>
        <p:nvSpPr>
          <p:cNvPr id="58" name="Google Shape;58;p4"/>
          <p:cNvSpPr/>
          <p:nvPr/>
        </p:nvSpPr>
        <p:spPr>
          <a:xfrm>
            <a:off x="6912864" y="1901952"/>
            <a:ext cx="1746504"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What it takes in Year 2 (10 mins)</a:t>
            </a:r>
            <a:endParaRPr b="0" i="0" sz="950" u="none" cap="none" strike="noStrike">
              <a:solidFill>
                <a:schemeClr val="dk1"/>
              </a:solidFill>
              <a:latin typeface="Calibri"/>
              <a:ea typeface="Calibri"/>
              <a:cs typeface="Calibri"/>
              <a:sym typeface="Calibri"/>
            </a:endParaRPr>
          </a:p>
        </p:txBody>
      </p:sp>
      <p:sp>
        <p:nvSpPr>
          <p:cNvPr id="59" name="Google Shape;59;p4"/>
          <p:cNvSpPr/>
          <p:nvPr/>
        </p:nvSpPr>
        <p:spPr>
          <a:xfrm>
            <a:off x="411480" y="2670048"/>
            <a:ext cx="1965960" cy="1463040"/>
          </a:xfrm>
          <a:prstGeom prst="rect">
            <a:avLst/>
          </a:prstGeom>
          <a:solidFill>
            <a:srgbClr val="FFFFFF"/>
          </a:solidFill>
          <a:ln cap="flat" cmpd="sng" w="12700">
            <a:solidFill>
              <a:srgbClr val="D2DBD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60" name="Google Shape;60;p4"/>
          <p:cNvCxnSpPr/>
          <p:nvPr/>
        </p:nvCxnSpPr>
        <p:spPr>
          <a:xfrm>
            <a:off x="521208" y="2779776"/>
            <a:ext cx="347472" cy="347472"/>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61" name="Google Shape;61;p4"/>
          <p:cNvSpPr/>
          <p:nvPr/>
        </p:nvSpPr>
        <p:spPr>
          <a:xfrm>
            <a:off x="521208" y="2779776"/>
            <a:ext cx="347472"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5</a:t>
            </a:r>
            <a:endParaRPr b="0" i="0" sz="1100" u="none" cap="none" strike="noStrike">
              <a:solidFill>
                <a:schemeClr val="dk1"/>
              </a:solidFill>
              <a:latin typeface="Calibri"/>
              <a:ea typeface="Calibri"/>
              <a:cs typeface="Calibri"/>
              <a:sym typeface="Calibri"/>
            </a:endParaRPr>
          </a:p>
        </p:txBody>
      </p:sp>
      <p:pic>
        <p:nvPicPr>
          <p:cNvPr descr="preencoded.png" id="62" name="Google Shape;62;p4"/>
          <p:cNvPicPr preferRelativeResize="0"/>
          <p:nvPr/>
        </p:nvPicPr>
        <p:blipFill rotWithShape="1">
          <a:blip r:embed="rId7">
            <a:alphaModFix/>
          </a:blip>
          <a:srcRect b="0" l="0" r="0" t="0"/>
          <a:stretch/>
        </p:blipFill>
        <p:spPr>
          <a:xfrm>
            <a:off x="1874520" y="2761488"/>
            <a:ext cx="347472" cy="347472"/>
          </a:xfrm>
          <a:prstGeom prst="rect">
            <a:avLst/>
          </a:prstGeom>
          <a:noFill/>
          <a:ln>
            <a:noFill/>
          </a:ln>
        </p:spPr>
      </p:pic>
      <p:sp>
        <p:nvSpPr>
          <p:cNvPr id="63" name="Google Shape;63;p4"/>
          <p:cNvSpPr/>
          <p:nvPr/>
        </p:nvSpPr>
        <p:spPr>
          <a:xfrm>
            <a:off x="521208" y="3200400"/>
            <a:ext cx="17465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The Governor role</a:t>
            </a:r>
            <a:endParaRPr b="0" i="0" sz="1200" u="none" cap="none" strike="noStrike">
              <a:solidFill>
                <a:schemeClr val="dk1"/>
              </a:solidFill>
              <a:latin typeface="Calibri"/>
              <a:ea typeface="Calibri"/>
              <a:cs typeface="Calibri"/>
              <a:sym typeface="Calibri"/>
            </a:endParaRPr>
          </a:p>
        </p:txBody>
      </p:sp>
      <p:sp>
        <p:nvSpPr>
          <p:cNvPr id="64" name="Google Shape;64;p4"/>
          <p:cNvSpPr/>
          <p:nvPr/>
        </p:nvSpPr>
        <p:spPr>
          <a:xfrm>
            <a:off x="521208" y="3566160"/>
            <a:ext cx="1746504"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The Board, the commitment, how to apply (15 mins)</a:t>
            </a:r>
            <a:endParaRPr b="0" i="0" sz="950" u="none" cap="none" strike="noStrike">
              <a:solidFill>
                <a:schemeClr val="dk1"/>
              </a:solidFill>
              <a:latin typeface="Calibri"/>
              <a:ea typeface="Calibri"/>
              <a:cs typeface="Calibri"/>
              <a:sym typeface="Calibri"/>
            </a:endParaRPr>
          </a:p>
        </p:txBody>
      </p:sp>
      <p:sp>
        <p:nvSpPr>
          <p:cNvPr id="65" name="Google Shape;65;p4"/>
          <p:cNvSpPr/>
          <p:nvPr/>
        </p:nvSpPr>
        <p:spPr>
          <a:xfrm>
            <a:off x="2542032" y="2670048"/>
            <a:ext cx="1965960" cy="1463040"/>
          </a:xfrm>
          <a:prstGeom prst="rect">
            <a:avLst/>
          </a:prstGeom>
          <a:solidFill>
            <a:srgbClr val="FFFFFF"/>
          </a:solidFill>
          <a:ln cap="flat" cmpd="sng" w="12700">
            <a:solidFill>
              <a:srgbClr val="D2DBD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66" name="Google Shape;66;p4"/>
          <p:cNvCxnSpPr/>
          <p:nvPr/>
        </p:nvCxnSpPr>
        <p:spPr>
          <a:xfrm>
            <a:off x="2651760" y="2779776"/>
            <a:ext cx="347472" cy="347472"/>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67" name="Google Shape;67;p4"/>
          <p:cNvSpPr/>
          <p:nvPr/>
        </p:nvSpPr>
        <p:spPr>
          <a:xfrm>
            <a:off x="2651760" y="2779776"/>
            <a:ext cx="347472"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6</a:t>
            </a:r>
            <a:endParaRPr b="0" i="0" sz="1100" u="none" cap="none" strike="noStrike">
              <a:solidFill>
                <a:schemeClr val="dk1"/>
              </a:solidFill>
              <a:latin typeface="Calibri"/>
              <a:ea typeface="Calibri"/>
              <a:cs typeface="Calibri"/>
              <a:sym typeface="Calibri"/>
            </a:endParaRPr>
          </a:p>
        </p:txBody>
      </p:sp>
      <p:pic>
        <p:nvPicPr>
          <p:cNvPr descr="preencoded.png" id="68" name="Google Shape;68;p4"/>
          <p:cNvPicPr preferRelativeResize="0"/>
          <p:nvPr/>
        </p:nvPicPr>
        <p:blipFill rotWithShape="1">
          <a:blip r:embed="rId8">
            <a:alphaModFix/>
          </a:blip>
          <a:srcRect b="0" l="0" r="0" t="0"/>
          <a:stretch/>
        </p:blipFill>
        <p:spPr>
          <a:xfrm>
            <a:off x="4005072" y="2761488"/>
            <a:ext cx="347472" cy="347472"/>
          </a:xfrm>
          <a:prstGeom prst="rect">
            <a:avLst/>
          </a:prstGeom>
          <a:noFill/>
          <a:ln>
            <a:noFill/>
          </a:ln>
        </p:spPr>
      </p:pic>
      <p:sp>
        <p:nvSpPr>
          <p:cNvPr id="69" name="Google Shape;69;p4"/>
          <p:cNvSpPr/>
          <p:nvPr/>
        </p:nvSpPr>
        <p:spPr>
          <a:xfrm>
            <a:off x="2651760" y="3200400"/>
            <a:ext cx="17465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Encourage Unity</a:t>
            </a:r>
            <a:endParaRPr b="0" i="0" sz="1200" u="none" cap="none" strike="noStrike">
              <a:solidFill>
                <a:schemeClr val="dk1"/>
              </a:solidFill>
              <a:latin typeface="Calibri"/>
              <a:ea typeface="Calibri"/>
              <a:cs typeface="Calibri"/>
              <a:sym typeface="Calibri"/>
            </a:endParaRPr>
          </a:p>
        </p:txBody>
      </p:sp>
      <p:sp>
        <p:nvSpPr>
          <p:cNvPr id="70" name="Google Shape;70;p4"/>
          <p:cNvSpPr/>
          <p:nvPr/>
        </p:nvSpPr>
        <p:spPr>
          <a:xfrm>
            <a:off x="2651760" y="3566160"/>
            <a:ext cx="1746504"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PROUD value anchor (5 mins)</a:t>
            </a:r>
            <a:endParaRPr b="0" i="0" sz="950" u="none" cap="none" strike="noStrike">
              <a:solidFill>
                <a:schemeClr val="dk1"/>
              </a:solidFill>
              <a:latin typeface="Calibri"/>
              <a:ea typeface="Calibri"/>
              <a:cs typeface="Calibri"/>
              <a:sym typeface="Calibri"/>
            </a:endParaRPr>
          </a:p>
        </p:txBody>
      </p:sp>
      <p:sp>
        <p:nvSpPr>
          <p:cNvPr id="71" name="Google Shape;71;p4"/>
          <p:cNvSpPr/>
          <p:nvPr/>
        </p:nvSpPr>
        <p:spPr>
          <a:xfrm>
            <a:off x="4672584" y="2670048"/>
            <a:ext cx="1965960" cy="1463040"/>
          </a:xfrm>
          <a:prstGeom prst="rect">
            <a:avLst/>
          </a:prstGeom>
          <a:solidFill>
            <a:srgbClr val="FFFFFF"/>
          </a:solidFill>
          <a:ln cap="flat" cmpd="sng" w="12700">
            <a:solidFill>
              <a:srgbClr val="D2DBD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72" name="Google Shape;72;p4"/>
          <p:cNvCxnSpPr/>
          <p:nvPr/>
        </p:nvCxnSpPr>
        <p:spPr>
          <a:xfrm>
            <a:off x="4782312" y="2779776"/>
            <a:ext cx="347472" cy="347472"/>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73" name="Google Shape;73;p4"/>
          <p:cNvSpPr/>
          <p:nvPr/>
        </p:nvSpPr>
        <p:spPr>
          <a:xfrm>
            <a:off x="4782312" y="2779776"/>
            <a:ext cx="347472"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7</a:t>
            </a:r>
            <a:endParaRPr b="0" i="0" sz="1100" u="none" cap="none" strike="noStrike">
              <a:solidFill>
                <a:schemeClr val="dk1"/>
              </a:solidFill>
              <a:latin typeface="Calibri"/>
              <a:ea typeface="Calibri"/>
              <a:cs typeface="Calibri"/>
              <a:sym typeface="Calibri"/>
            </a:endParaRPr>
          </a:p>
        </p:txBody>
      </p:sp>
      <p:pic>
        <p:nvPicPr>
          <p:cNvPr descr="preencoded.png" id="74" name="Google Shape;74;p4"/>
          <p:cNvPicPr preferRelativeResize="0"/>
          <p:nvPr/>
        </p:nvPicPr>
        <p:blipFill rotWithShape="1">
          <a:blip r:embed="rId9">
            <a:alphaModFix/>
          </a:blip>
          <a:srcRect b="0" l="0" r="0" t="0"/>
          <a:stretch/>
        </p:blipFill>
        <p:spPr>
          <a:xfrm>
            <a:off x="6135624" y="2761488"/>
            <a:ext cx="347472" cy="347472"/>
          </a:xfrm>
          <a:prstGeom prst="rect">
            <a:avLst/>
          </a:prstGeom>
          <a:noFill/>
          <a:ln>
            <a:noFill/>
          </a:ln>
        </p:spPr>
      </p:pic>
      <p:sp>
        <p:nvSpPr>
          <p:cNvPr id="75" name="Google Shape;75;p4"/>
          <p:cNvSpPr/>
          <p:nvPr/>
        </p:nvSpPr>
        <p:spPr>
          <a:xfrm>
            <a:off x="4782312" y="3200400"/>
            <a:ext cx="17465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Election</a:t>
            </a:r>
            <a:endParaRPr b="0" i="0" sz="1200" u="none" cap="none" strike="noStrike">
              <a:solidFill>
                <a:schemeClr val="dk1"/>
              </a:solidFill>
              <a:latin typeface="Calibri"/>
              <a:ea typeface="Calibri"/>
              <a:cs typeface="Calibri"/>
              <a:sym typeface="Calibri"/>
            </a:endParaRPr>
          </a:p>
        </p:txBody>
      </p:sp>
      <p:sp>
        <p:nvSpPr>
          <p:cNvPr id="76" name="Google Shape;76;p4"/>
          <p:cNvSpPr/>
          <p:nvPr/>
        </p:nvSpPr>
        <p:spPr>
          <a:xfrm>
            <a:off x="4782312" y="3566160"/>
            <a:ext cx="1746504"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Nominations, pitches, vote — subject rep + English/maths rep (30–35 mins)</a:t>
            </a:r>
            <a:endParaRPr b="0" i="0" sz="950" u="none" cap="none" strike="noStrike">
              <a:solidFill>
                <a:schemeClr val="dk1"/>
              </a:solidFill>
              <a:latin typeface="Calibri"/>
              <a:ea typeface="Calibri"/>
              <a:cs typeface="Calibri"/>
              <a:sym typeface="Calibri"/>
            </a:endParaRPr>
          </a:p>
        </p:txBody>
      </p:sp>
      <p:sp>
        <p:nvSpPr>
          <p:cNvPr id="77" name="Google Shape;77;p4"/>
          <p:cNvSpPr/>
          <p:nvPr/>
        </p:nvSpPr>
        <p:spPr>
          <a:xfrm>
            <a:off x="6803136" y="2670048"/>
            <a:ext cx="1965960" cy="1463040"/>
          </a:xfrm>
          <a:prstGeom prst="rect">
            <a:avLst/>
          </a:prstGeom>
          <a:solidFill>
            <a:srgbClr val="FFFFFF"/>
          </a:solidFill>
          <a:ln cap="flat" cmpd="sng" w="12700">
            <a:solidFill>
              <a:srgbClr val="D2DBD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78" name="Google Shape;78;p4"/>
          <p:cNvCxnSpPr/>
          <p:nvPr/>
        </p:nvCxnSpPr>
        <p:spPr>
          <a:xfrm>
            <a:off x="6912864" y="2779776"/>
            <a:ext cx="347472" cy="347472"/>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79" name="Google Shape;79;p4"/>
          <p:cNvSpPr/>
          <p:nvPr/>
        </p:nvSpPr>
        <p:spPr>
          <a:xfrm>
            <a:off x="6912864" y="2779776"/>
            <a:ext cx="347472"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8</a:t>
            </a:r>
            <a:endParaRPr b="0" i="0" sz="1100" u="none" cap="none" strike="noStrike">
              <a:solidFill>
                <a:schemeClr val="dk1"/>
              </a:solidFill>
              <a:latin typeface="Calibri"/>
              <a:ea typeface="Calibri"/>
              <a:cs typeface="Calibri"/>
              <a:sym typeface="Calibri"/>
            </a:endParaRPr>
          </a:p>
        </p:txBody>
      </p:sp>
      <p:pic>
        <p:nvPicPr>
          <p:cNvPr descr="preencoded.png" id="80" name="Google Shape;80;p4"/>
          <p:cNvPicPr preferRelativeResize="0"/>
          <p:nvPr/>
        </p:nvPicPr>
        <p:blipFill rotWithShape="1">
          <a:blip r:embed="rId10">
            <a:alphaModFix/>
          </a:blip>
          <a:srcRect b="0" l="0" r="0" t="0"/>
          <a:stretch/>
        </p:blipFill>
        <p:spPr>
          <a:xfrm>
            <a:off x="8266176" y="2761488"/>
            <a:ext cx="347472" cy="347472"/>
          </a:xfrm>
          <a:prstGeom prst="rect">
            <a:avLst/>
          </a:prstGeom>
          <a:noFill/>
          <a:ln>
            <a:noFill/>
          </a:ln>
        </p:spPr>
      </p:pic>
      <p:sp>
        <p:nvSpPr>
          <p:cNvPr id="81" name="Google Shape;81;p4"/>
          <p:cNvSpPr/>
          <p:nvPr/>
        </p:nvSpPr>
        <p:spPr>
          <a:xfrm>
            <a:off x="6912864" y="3200400"/>
            <a:ext cx="17465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Close</a:t>
            </a:r>
            <a:endParaRPr b="0" i="0" sz="1200" u="none" cap="none" strike="noStrike">
              <a:solidFill>
                <a:schemeClr val="dk1"/>
              </a:solidFill>
              <a:latin typeface="Calibri"/>
              <a:ea typeface="Calibri"/>
              <a:cs typeface="Calibri"/>
              <a:sym typeface="Calibri"/>
            </a:endParaRPr>
          </a:p>
        </p:txBody>
      </p:sp>
      <p:sp>
        <p:nvSpPr>
          <p:cNvPr id="82" name="Google Shape;82;p4"/>
          <p:cNvSpPr/>
          <p:nvPr/>
        </p:nvSpPr>
        <p:spPr>
          <a:xfrm>
            <a:off x="6912864" y="3566160"/>
            <a:ext cx="1746504"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Your rep, what's next</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87" name="Shape 87"/>
        <p:cNvGrpSpPr/>
        <p:nvPr/>
      </p:nvGrpSpPr>
      <p:grpSpPr>
        <a:xfrm>
          <a:off x="0" y="0"/>
          <a:ext cx="0" cy="0"/>
          <a:chOff x="0" y="0"/>
          <a:chExt cx="0" cy="0"/>
        </a:xfrm>
      </p:grpSpPr>
      <p:sp>
        <p:nvSpPr>
          <p:cNvPr id="88" name="Google Shape;88;p5"/>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Check in</a:t>
            </a:r>
            <a:endParaRPr b="0" i="0" sz="2200" u="none" cap="none" strike="noStrike">
              <a:solidFill>
                <a:schemeClr val="dk1"/>
              </a:solidFill>
              <a:latin typeface="Calibri"/>
              <a:ea typeface="Calibri"/>
              <a:cs typeface="Calibri"/>
              <a:sym typeface="Calibri"/>
            </a:endParaRPr>
          </a:p>
        </p:txBody>
      </p:sp>
      <p:sp>
        <p:nvSpPr>
          <p:cNvPr id="89" name="Google Shape;89;p5"/>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Paired discussion — 10 minutes</a:t>
            </a:r>
            <a:endParaRPr b="0" i="0" sz="1100" u="none" cap="none" strike="noStrike">
              <a:solidFill>
                <a:schemeClr val="dk1"/>
              </a:solidFill>
              <a:latin typeface="Calibri"/>
              <a:ea typeface="Calibri"/>
              <a:cs typeface="Calibri"/>
              <a:sym typeface="Calibri"/>
            </a:endParaRPr>
          </a:p>
        </p:txBody>
      </p:sp>
      <p:sp>
        <p:nvSpPr>
          <p:cNvPr id="90" name="Google Shape;90;p5"/>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 name="Google Shape;91;p5"/>
          <p:cNvSpPr/>
          <p:nvPr/>
        </p:nvSpPr>
        <p:spPr>
          <a:xfrm>
            <a:off x="7498080" y="109728"/>
            <a:ext cx="1508760" cy="292608"/>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 name="Google Shape;92;p5"/>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DISCUSSION</a:t>
            </a:r>
            <a:endParaRPr b="0" i="0" sz="750" u="none" cap="none" strike="noStrike">
              <a:solidFill>
                <a:schemeClr val="dk1"/>
              </a:solidFill>
              <a:latin typeface="Calibri"/>
              <a:ea typeface="Calibri"/>
              <a:cs typeface="Calibri"/>
              <a:sym typeface="Calibri"/>
            </a:endParaRPr>
          </a:p>
        </p:txBody>
      </p:sp>
      <p:sp>
        <p:nvSpPr>
          <p:cNvPr id="93" name="Google Shape;93;p5"/>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A Level / Year 2 — Media, Film, Photography and Digital</a:t>
            </a:r>
            <a:endParaRPr b="0" i="0" sz="800" u="none" cap="none" strike="noStrike">
              <a:solidFill>
                <a:schemeClr val="dk1"/>
              </a:solidFill>
              <a:latin typeface="Calibri"/>
              <a:ea typeface="Calibri"/>
              <a:cs typeface="Calibri"/>
              <a:sym typeface="Calibri"/>
            </a:endParaRPr>
          </a:p>
        </p:txBody>
      </p:sp>
      <p:sp>
        <p:nvSpPr>
          <p:cNvPr id="94" name="Google Shape;94;p5"/>
          <p:cNvSpPr/>
          <p:nvPr/>
        </p:nvSpPr>
        <p:spPr>
          <a:xfrm>
            <a:off x="411480" y="1005840"/>
            <a:ext cx="4023360" cy="2468880"/>
          </a:xfrm>
          <a:prstGeom prst="rect">
            <a:avLst/>
          </a:prstGeom>
          <a:solidFill>
            <a:srgbClr val="0F7A54"/>
          </a:solidFill>
          <a:ln cap="flat" cmpd="sng" w="12700">
            <a:solidFill>
              <a:srgbClr val="0F7A54"/>
            </a:solidFill>
            <a:prstDash val="solid"/>
            <a:round/>
            <a:headEnd len="sm" w="sm" type="none"/>
            <a:tailEnd len="sm" w="sm" type="none"/>
          </a:ln>
          <a:effectLst>
            <a:outerShdw blurRad="101600" rotWithShape="0" algn="bl" dir="2700000" dist="25400">
              <a:srgbClr val="000000">
                <a:alpha val="12157"/>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5"/>
          <p:cNvSpPr/>
          <p:nvPr/>
        </p:nvSpPr>
        <p:spPr>
          <a:xfrm>
            <a:off x="640080" y="1097280"/>
            <a:ext cx="3611880" cy="2240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What did your rep actually do last year — about deadlines, kit, or how long feedback took to come back?</a:t>
            </a:r>
            <a:endParaRPr b="0" i="0" sz="1900" u="none" cap="none" strike="noStrike">
              <a:solidFill>
                <a:schemeClr val="dk1"/>
              </a:solidFill>
              <a:latin typeface="Calibri"/>
              <a:ea typeface="Calibri"/>
              <a:cs typeface="Calibri"/>
              <a:sym typeface="Calibri"/>
            </a:endParaRPr>
          </a:p>
        </p:txBody>
      </p:sp>
      <p:sp>
        <p:nvSpPr>
          <p:cNvPr id="96" name="Google Shape;96;p5"/>
          <p:cNvSpPr/>
          <p:nvPr/>
        </p:nvSpPr>
        <p:spPr>
          <a:xfrm>
            <a:off x="4709160" y="1005840"/>
            <a:ext cx="4023360" cy="2468880"/>
          </a:xfrm>
          <a:prstGeom prst="rect">
            <a:avLst/>
          </a:prstGeom>
          <a:solidFill>
            <a:srgbClr val="0D2434"/>
          </a:solidFill>
          <a:ln cap="flat" cmpd="sng" w="12700">
            <a:solidFill>
              <a:srgbClr val="0D2434"/>
            </a:solidFill>
            <a:prstDash val="solid"/>
            <a:round/>
            <a:headEnd len="sm" w="sm" type="none"/>
            <a:tailEnd len="sm" w="sm" type="none"/>
          </a:ln>
          <a:effectLst>
            <a:outerShdw blurRad="101600" rotWithShape="0" algn="bl" dir="2700000" dist="25400">
              <a:srgbClr val="000000">
                <a:alpha val="12157"/>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 name="Google Shape;97;p5"/>
          <p:cNvSpPr/>
          <p:nvPr/>
        </p:nvSpPr>
        <p:spPr>
          <a:xfrm>
            <a:off x="4937760" y="1097280"/>
            <a:ext cx="3611880" cy="2240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What would you want raised this year — coursework deadlines against UCAS, or access to edit suites, studios and the darkroom?</a:t>
            </a:r>
            <a:endParaRPr b="0" i="0" sz="1900" u="none" cap="none" strike="noStrike">
              <a:solidFill>
                <a:schemeClr val="dk1"/>
              </a:solidFill>
              <a:latin typeface="Calibri"/>
              <a:ea typeface="Calibri"/>
              <a:cs typeface="Calibri"/>
              <a:sym typeface="Calibri"/>
            </a:endParaRPr>
          </a:p>
        </p:txBody>
      </p:sp>
      <p:sp>
        <p:nvSpPr>
          <p:cNvPr id="98" name="Google Shape;98;p5"/>
          <p:cNvSpPr/>
          <p:nvPr/>
        </p:nvSpPr>
        <p:spPr>
          <a:xfrm>
            <a:off x="411480" y="3639312"/>
            <a:ext cx="8321040" cy="594360"/>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 name="Google Shape;99;p5"/>
          <p:cNvSpPr/>
          <p:nvPr/>
        </p:nvSpPr>
        <p:spPr>
          <a:xfrm>
            <a:off x="594360" y="3639312"/>
            <a:ext cx="79552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A30"/>
              </a:buClr>
              <a:buSzPts val="1200"/>
              <a:buFont typeface="Arial"/>
              <a:buNone/>
            </a:pPr>
            <a:r>
              <a:rPr b="0" i="0" lang="en-US" sz="1200" u="none" cap="none" strike="noStrike">
                <a:solidFill>
                  <a:srgbClr val="1B2A30"/>
                </a:solidFill>
                <a:latin typeface="Arial"/>
                <a:ea typeface="Arial"/>
                <a:cs typeface="Arial"/>
                <a:sym typeface="Arial"/>
              </a:rPr>
              <a:t>Talk to the person next to you — 3 minutes, then we'll hear a few thoughts from the room.</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04" name="Shape 104"/>
        <p:cNvGrpSpPr/>
        <p:nvPr/>
      </p:nvGrpSpPr>
      <p:grpSpPr>
        <a:xfrm>
          <a:off x="0" y="0"/>
          <a:ext cx="0" cy="0"/>
          <a:chOff x="0" y="0"/>
          <a:chExt cx="0" cy="0"/>
        </a:xfrm>
      </p:grpSpPr>
      <p:sp>
        <p:nvSpPr>
          <p:cNvPr id="105" name="Google Shape;105;p6"/>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Students' Voice — what makes it work</a:t>
            </a:r>
            <a:endParaRPr b="0" i="0" sz="2200" u="none" cap="none" strike="noStrike">
              <a:solidFill>
                <a:schemeClr val="dk1"/>
              </a:solidFill>
              <a:latin typeface="Calibri"/>
              <a:ea typeface="Calibri"/>
              <a:cs typeface="Calibri"/>
              <a:sym typeface="Calibri"/>
            </a:endParaRPr>
          </a:p>
        </p:txBody>
      </p:sp>
      <p:sp>
        <p:nvSpPr>
          <p:cNvPr id="106" name="Google Shape;106;p6"/>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You've seen a year of it. Here's the honest picture.</a:t>
            </a:r>
            <a:endParaRPr b="0" i="0" sz="1100" u="none" cap="none" strike="noStrike">
              <a:solidFill>
                <a:schemeClr val="dk1"/>
              </a:solidFill>
              <a:latin typeface="Calibri"/>
              <a:ea typeface="Calibri"/>
              <a:cs typeface="Calibri"/>
              <a:sym typeface="Calibri"/>
            </a:endParaRPr>
          </a:p>
        </p:txBody>
      </p:sp>
      <p:sp>
        <p:nvSpPr>
          <p:cNvPr id="107" name="Google Shape;107;p6"/>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6"/>
          <p:cNvSpPr/>
          <p:nvPr/>
        </p:nvSpPr>
        <p:spPr>
          <a:xfrm>
            <a:off x="7498080" y="109728"/>
            <a:ext cx="1508760" cy="292608"/>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 name="Google Shape;109;p6"/>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TEACHER INPUT</a:t>
            </a:r>
            <a:endParaRPr b="0" i="0" sz="750" u="none" cap="none" strike="noStrike">
              <a:solidFill>
                <a:schemeClr val="dk1"/>
              </a:solidFill>
              <a:latin typeface="Calibri"/>
              <a:ea typeface="Calibri"/>
              <a:cs typeface="Calibri"/>
              <a:sym typeface="Calibri"/>
            </a:endParaRPr>
          </a:p>
        </p:txBody>
      </p:sp>
      <p:sp>
        <p:nvSpPr>
          <p:cNvPr id="110" name="Google Shape;110;p6"/>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A Level / Year 2 — Media, Film, Photography and Digital</a:t>
            </a:r>
            <a:endParaRPr b="0" i="0" sz="800" u="none" cap="none" strike="noStrike">
              <a:solidFill>
                <a:schemeClr val="dk1"/>
              </a:solidFill>
              <a:latin typeface="Calibri"/>
              <a:ea typeface="Calibri"/>
              <a:cs typeface="Calibri"/>
              <a:sym typeface="Calibri"/>
            </a:endParaRPr>
          </a:p>
        </p:txBody>
      </p:sp>
      <p:sp>
        <p:nvSpPr>
          <p:cNvPr id="111" name="Google Shape;111;p6"/>
          <p:cNvSpPr/>
          <p:nvPr/>
        </p:nvSpPr>
        <p:spPr>
          <a:xfrm>
            <a:off x="411480" y="1005840"/>
            <a:ext cx="3931920" cy="3547872"/>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12" name="Google Shape;112;p6"/>
          <p:cNvPicPr preferRelativeResize="0"/>
          <p:nvPr/>
        </p:nvPicPr>
        <p:blipFill rotWithShape="1">
          <a:blip r:embed="rId3">
            <a:alphaModFix/>
          </a:blip>
          <a:srcRect b="0" l="0" r="0" t="0"/>
          <a:stretch/>
        </p:blipFill>
        <p:spPr>
          <a:xfrm>
            <a:off x="594360" y="1115568"/>
            <a:ext cx="457200" cy="457200"/>
          </a:xfrm>
          <a:prstGeom prst="rect">
            <a:avLst/>
          </a:prstGeom>
          <a:noFill/>
          <a:ln>
            <a:noFill/>
          </a:ln>
        </p:spPr>
      </p:pic>
      <p:sp>
        <p:nvSpPr>
          <p:cNvPr id="113" name="Google Shape;113;p6"/>
          <p:cNvSpPr/>
          <p:nvPr/>
        </p:nvSpPr>
        <p:spPr>
          <a:xfrm>
            <a:off x="1143000" y="1115568"/>
            <a:ext cx="30175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F01"/>
              </a:buClr>
              <a:buSzPts val="1400"/>
              <a:buFont typeface="Arial"/>
              <a:buNone/>
            </a:pPr>
            <a:r>
              <a:rPr b="1" i="0" lang="en-US" sz="1400" u="none" cap="none" strike="noStrike">
                <a:solidFill>
                  <a:srgbClr val="FFCF01"/>
                </a:solidFill>
                <a:latin typeface="Arial"/>
                <a:ea typeface="Arial"/>
                <a:cs typeface="Arial"/>
                <a:sym typeface="Arial"/>
              </a:rPr>
              <a:t>When it works</a:t>
            </a:r>
            <a:endParaRPr b="0" i="0" sz="1400" u="none" cap="none" strike="noStrike">
              <a:solidFill>
                <a:schemeClr val="dk1"/>
              </a:solidFill>
              <a:latin typeface="Calibri"/>
              <a:ea typeface="Calibri"/>
              <a:cs typeface="Calibri"/>
              <a:sym typeface="Calibri"/>
            </a:endParaRPr>
          </a:p>
        </p:txBody>
      </p:sp>
      <p:sp>
        <p:nvSpPr>
          <p:cNvPr id="114" name="Google Shape;114;p6"/>
          <p:cNvSpPr/>
          <p:nvPr/>
        </p:nvSpPr>
        <p:spPr>
          <a:xfrm>
            <a:off x="594360" y="1664208"/>
            <a:ext cx="3566160" cy="22402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Reps who actually consult their group — not just improvise at meetings</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Feedback that names the thing — “coursework feedback arrives too late to act on” beats “feedback is bad”</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Groups who tell their rep what matters — before the meeting, not after</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Students who follow up — checking the past papers appeared, or the darkroom hours actually changed</a:t>
            </a:r>
            <a:endParaRPr b="0" i="0" sz="1050" u="none" cap="none" strike="noStrike">
              <a:solidFill>
                <a:schemeClr val="dk1"/>
              </a:solidFill>
              <a:latin typeface="Calibri"/>
              <a:ea typeface="Calibri"/>
              <a:cs typeface="Calibri"/>
              <a:sym typeface="Calibri"/>
            </a:endParaRPr>
          </a:p>
        </p:txBody>
      </p:sp>
      <p:sp>
        <p:nvSpPr>
          <p:cNvPr id="115" name="Google Shape;115;p6"/>
          <p:cNvSpPr/>
          <p:nvPr/>
        </p:nvSpPr>
        <p:spPr>
          <a:xfrm>
            <a:off x="411480" y="3840480"/>
            <a:ext cx="3931920" cy="685800"/>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6"/>
          <p:cNvSpPr/>
          <p:nvPr/>
        </p:nvSpPr>
        <p:spPr>
          <a:xfrm>
            <a:off x="594360" y="3840480"/>
            <a:ext cx="374904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50"/>
              <a:buFont typeface="Arial"/>
              <a:buNone/>
            </a:pPr>
            <a:r>
              <a:rPr b="0" i="1" lang="en-US" sz="1050" u="none" cap="none" strike="noStrike">
                <a:solidFill>
                  <a:srgbClr val="FFFFFF"/>
                </a:solidFill>
                <a:latin typeface="Arial"/>
                <a:ea typeface="Arial"/>
                <a:cs typeface="Arial"/>
                <a:sym typeface="Arial"/>
              </a:rPr>
              <a:t>Collective voice is a shared responsibility — not just the rep's job</a:t>
            </a:r>
            <a:endParaRPr b="0" i="0" sz="1050" u="none" cap="none" strike="noStrike">
              <a:solidFill>
                <a:schemeClr val="dk1"/>
              </a:solidFill>
              <a:latin typeface="Calibri"/>
              <a:ea typeface="Calibri"/>
              <a:cs typeface="Calibri"/>
              <a:sym typeface="Calibri"/>
            </a:endParaRPr>
          </a:p>
        </p:txBody>
      </p:sp>
      <p:sp>
        <p:nvSpPr>
          <p:cNvPr id="117" name="Google Shape;117;p6"/>
          <p:cNvSpPr/>
          <p:nvPr/>
        </p:nvSpPr>
        <p:spPr>
          <a:xfrm>
            <a:off x="4526280" y="1005840"/>
            <a:ext cx="2011680" cy="1627632"/>
          </a:xfrm>
          <a:prstGeom prst="rect">
            <a:avLst/>
          </a:prstGeom>
          <a:solidFill>
            <a:srgbClr val="E8F4EF"/>
          </a:solidFill>
          <a:ln cap="flat" cmpd="sng" w="12700">
            <a:solidFill>
              <a:srgbClr val="D2DBDA"/>
            </a:solidFill>
            <a:prstDash val="solid"/>
            <a:round/>
            <a:headEnd len="sm" w="sm" type="none"/>
            <a:tailEnd len="sm" w="sm" type="none"/>
          </a:ln>
          <a:effectLst>
            <a:outerShdw blurRad="50800" rotWithShape="0" algn="bl" dir="2700000" dist="12700">
              <a:srgbClr val="000000">
                <a:alpha val="705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18" name="Google Shape;118;p6"/>
          <p:cNvPicPr preferRelativeResize="0"/>
          <p:nvPr/>
        </p:nvPicPr>
        <p:blipFill rotWithShape="1">
          <a:blip r:embed="rId4">
            <a:alphaModFix/>
          </a:blip>
          <a:srcRect b="0" l="0" r="0" t="0"/>
          <a:stretch/>
        </p:blipFill>
        <p:spPr>
          <a:xfrm>
            <a:off x="4636008" y="1143000"/>
            <a:ext cx="347472" cy="347472"/>
          </a:xfrm>
          <a:prstGeom prst="rect">
            <a:avLst/>
          </a:prstGeom>
          <a:noFill/>
          <a:ln>
            <a:noFill/>
          </a:ln>
        </p:spPr>
      </p:pic>
      <p:sp>
        <p:nvSpPr>
          <p:cNvPr id="119" name="Google Shape;119;p6"/>
          <p:cNvSpPr/>
          <p:nvPr/>
        </p:nvSpPr>
        <p:spPr>
          <a:xfrm>
            <a:off x="4636008" y="1554480"/>
            <a:ext cx="18288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050"/>
              <a:buFont typeface="Arial"/>
              <a:buNone/>
            </a:pPr>
            <a:r>
              <a:rPr b="1" i="0" lang="en-US" sz="1050" u="none" cap="none" strike="noStrike">
                <a:solidFill>
                  <a:srgbClr val="0D2434"/>
                </a:solidFill>
                <a:latin typeface="Arial"/>
                <a:ea typeface="Arial"/>
                <a:cs typeface="Arial"/>
                <a:sym typeface="Arial"/>
              </a:rPr>
              <a:t>Teaching &amp; Learning</a:t>
            </a:r>
            <a:endParaRPr b="0" i="0" sz="1050" u="none" cap="none" strike="noStrike">
              <a:solidFill>
                <a:schemeClr val="dk1"/>
              </a:solidFill>
              <a:latin typeface="Calibri"/>
              <a:ea typeface="Calibri"/>
              <a:cs typeface="Calibri"/>
              <a:sym typeface="Calibri"/>
            </a:endParaRPr>
          </a:p>
        </p:txBody>
      </p:sp>
      <p:sp>
        <p:nvSpPr>
          <p:cNvPr id="120" name="Google Shape;120;p6"/>
          <p:cNvSpPr/>
          <p:nvPr/>
        </p:nvSpPr>
        <p:spPr>
          <a:xfrm>
            <a:off x="4636008" y="1865376"/>
            <a:ext cx="182880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Curriculum and delivery shaped by what students report — how coursework and exam preparation are sequenced across Year 2</a:t>
            </a:r>
            <a:endParaRPr b="0" i="0" sz="950" u="none" cap="none" strike="noStrike">
              <a:solidFill>
                <a:schemeClr val="dk1"/>
              </a:solidFill>
              <a:latin typeface="Calibri"/>
              <a:ea typeface="Calibri"/>
              <a:cs typeface="Calibri"/>
              <a:sym typeface="Calibri"/>
            </a:endParaRPr>
          </a:p>
        </p:txBody>
      </p:sp>
      <p:sp>
        <p:nvSpPr>
          <p:cNvPr id="121" name="Google Shape;121;p6"/>
          <p:cNvSpPr/>
          <p:nvPr/>
        </p:nvSpPr>
        <p:spPr>
          <a:xfrm>
            <a:off x="6675120" y="1005840"/>
            <a:ext cx="2011680" cy="1627632"/>
          </a:xfrm>
          <a:prstGeom prst="rect">
            <a:avLst/>
          </a:prstGeom>
          <a:solidFill>
            <a:srgbClr val="E8F4EF"/>
          </a:solidFill>
          <a:ln cap="flat" cmpd="sng" w="12700">
            <a:solidFill>
              <a:srgbClr val="D2DBDA"/>
            </a:solidFill>
            <a:prstDash val="solid"/>
            <a:round/>
            <a:headEnd len="sm" w="sm" type="none"/>
            <a:tailEnd len="sm" w="sm" type="none"/>
          </a:ln>
          <a:effectLst>
            <a:outerShdw blurRad="50800" rotWithShape="0" algn="bl" dir="2700000" dist="12700">
              <a:srgbClr val="000000">
                <a:alpha val="705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22" name="Google Shape;122;p6"/>
          <p:cNvPicPr preferRelativeResize="0"/>
          <p:nvPr/>
        </p:nvPicPr>
        <p:blipFill rotWithShape="1">
          <a:blip r:embed="rId5">
            <a:alphaModFix/>
          </a:blip>
          <a:srcRect b="0" l="0" r="0" t="0"/>
          <a:stretch/>
        </p:blipFill>
        <p:spPr>
          <a:xfrm>
            <a:off x="6784848" y="1143000"/>
            <a:ext cx="347472" cy="347472"/>
          </a:xfrm>
          <a:prstGeom prst="rect">
            <a:avLst/>
          </a:prstGeom>
          <a:noFill/>
          <a:ln>
            <a:noFill/>
          </a:ln>
        </p:spPr>
      </p:pic>
      <p:sp>
        <p:nvSpPr>
          <p:cNvPr id="123" name="Google Shape;123;p6"/>
          <p:cNvSpPr/>
          <p:nvPr/>
        </p:nvSpPr>
        <p:spPr>
          <a:xfrm>
            <a:off x="6784848" y="1554480"/>
            <a:ext cx="18288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050"/>
              <a:buFont typeface="Arial"/>
              <a:buNone/>
            </a:pPr>
            <a:r>
              <a:rPr b="1" i="0" lang="en-US" sz="1050" u="none" cap="none" strike="noStrike">
                <a:solidFill>
                  <a:srgbClr val="0D2434"/>
                </a:solidFill>
                <a:latin typeface="Arial"/>
                <a:ea typeface="Arial"/>
                <a:cs typeface="Arial"/>
                <a:sym typeface="Arial"/>
              </a:rPr>
              <a:t>Student experience</a:t>
            </a:r>
            <a:endParaRPr b="0" i="0" sz="1050" u="none" cap="none" strike="noStrike">
              <a:solidFill>
                <a:schemeClr val="dk1"/>
              </a:solidFill>
              <a:latin typeface="Calibri"/>
              <a:ea typeface="Calibri"/>
              <a:cs typeface="Calibri"/>
              <a:sym typeface="Calibri"/>
            </a:endParaRPr>
          </a:p>
        </p:txBody>
      </p:sp>
      <p:sp>
        <p:nvSpPr>
          <p:cNvPr id="124" name="Google Shape;124;p6"/>
          <p:cNvSpPr/>
          <p:nvPr/>
        </p:nvSpPr>
        <p:spPr>
          <a:xfrm>
            <a:off x="6784848" y="1865376"/>
            <a:ext cx="182880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Campus life improved by evidenced feedback — studio, darkroom and edit-suite access outside lessons</a:t>
            </a:r>
            <a:endParaRPr b="0" i="0" sz="950" u="none" cap="none" strike="noStrike">
              <a:solidFill>
                <a:schemeClr val="dk1"/>
              </a:solidFill>
              <a:latin typeface="Calibri"/>
              <a:ea typeface="Calibri"/>
              <a:cs typeface="Calibri"/>
              <a:sym typeface="Calibri"/>
            </a:endParaRPr>
          </a:p>
        </p:txBody>
      </p:sp>
      <p:sp>
        <p:nvSpPr>
          <p:cNvPr id="125" name="Google Shape;125;p6"/>
          <p:cNvSpPr/>
          <p:nvPr/>
        </p:nvSpPr>
        <p:spPr>
          <a:xfrm>
            <a:off x="4526280" y="2770632"/>
            <a:ext cx="2011680" cy="1627632"/>
          </a:xfrm>
          <a:prstGeom prst="rect">
            <a:avLst/>
          </a:prstGeom>
          <a:solidFill>
            <a:srgbClr val="E8F4EF"/>
          </a:solidFill>
          <a:ln cap="flat" cmpd="sng" w="12700">
            <a:solidFill>
              <a:srgbClr val="D2DBDA"/>
            </a:solidFill>
            <a:prstDash val="solid"/>
            <a:round/>
            <a:headEnd len="sm" w="sm" type="none"/>
            <a:tailEnd len="sm" w="sm" type="none"/>
          </a:ln>
          <a:effectLst>
            <a:outerShdw blurRad="50800" rotWithShape="0" algn="bl" dir="2700000" dist="12700">
              <a:srgbClr val="000000">
                <a:alpha val="705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26" name="Google Shape;126;p6"/>
          <p:cNvPicPr preferRelativeResize="0"/>
          <p:nvPr/>
        </p:nvPicPr>
        <p:blipFill rotWithShape="1">
          <a:blip r:embed="rId6">
            <a:alphaModFix/>
          </a:blip>
          <a:srcRect b="0" l="0" r="0" t="0"/>
          <a:stretch/>
        </p:blipFill>
        <p:spPr>
          <a:xfrm>
            <a:off x="4636008" y="2907792"/>
            <a:ext cx="347472" cy="347472"/>
          </a:xfrm>
          <a:prstGeom prst="rect">
            <a:avLst/>
          </a:prstGeom>
          <a:noFill/>
          <a:ln>
            <a:noFill/>
          </a:ln>
        </p:spPr>
      </p:pic>
      <p:sp>
        <p:nvSpPr>
          <p:cNvPr id="127" name="Google Shape;127;p6"/>
          <p:cNvSpPr/>
          <p:nvPr/>
        </p:nvSpPr>
        <p:spPr>
          <a:xfrm>
            <a:off x="4636008" y="3319272"/>
            <a:ext cx="18288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050"/>
              <a:buFont typeface="Arial"/>
              <a:buNone/>
            </a:pPr>
            <a:r>
              <a:rPr b="1" i="0" lang="en-US" sz="1050" u="none" cap="none" strike="noStrike">
                <a:solidFill>
                  <a:srgbClr val="0D2434"/>
                </a:solidFill>
                <a:latin typeface="Arial"/>
                <a:ea typeface="Arial"/>
                <a:cs typeface="Arial"/>
                <a:sym typeface="Arial"/>
              </a:rPr>
              <a:t>Community</a:t>
            </a:r>
            <a:endParaRPr b="0" i="0" sz="1050" u="none" cap="none" strike="noStrike">
              <a:solidFill>
                <a:schemeClr val="dk1"/>
              </a:solidFill>
              <a:latin typeface="Calibri"/>
              <a:ea typeface="Calibri"/>
              <a:cs typeface="Calibri"/>
              <a:sym typeface="Calibri"/>
            </a:endParaRPr>
          </a:p>
        </p:txBody>
      </p:sp>
      <p:sp>
        <p:nvSpPr>
          <p:cNvPr id="128" name="Google Shape;128;p6"/>
          <p:cNvSpPr/>
          <p:nvPr/>
        </p:nvSpPr>
        <p:spPr>
          <a:xfrm>
            <a:off x="4636008" y="3630168"/>
            <a:ext cx="182880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Staff and students agreeing what “exam-ready” means, and by when</a:t>
            </a:r>
            <a:endParaRPr b="0" i="0" sz="950" u="none" cap="none" strike="noStrike">
              <a:solidFill>
                <a:schemeClr val="dk1"/>
              </a:solidFill>
              <a:latin typeface="Calibri"/>
              <a:ea typeface="Calibri"/>
              <a:cs typeface="Calibri"/>
              <a:sym typeface="Calibri"/>
            </a:endParaRPr>
          </a:p>
        </p:txBody>
      </p:sp>
      <p:sp>
        <p:nvSpPr>
          <p:cNvPr id="129" name="Google Shape;129;p6"/>
          <p:cNvSpPr/>
          <p:nvPr/>
        </p:nvSpPr>
        <p:spPr>
          <a:xfrm>
            <a:off x="6675120" y="2770632"/>
            <a:ext cx="2011680" cy="1627632"/>
          </a:xfrm>
          <a:prstGeom prst="rect">
            <a:avLst/>
          </a:prstGeom>
          <a:solidFill>
            <a:srgbClr val="E8F4EF"/>
          </a:solidFill>
          <a:ln cap="flat" cmpd="sng" w="12700">
            <a:solidFill>
              <a:srgbClr val="D2DBDA"/>
            </a:solidFill>
            <a:prstDash val="solid"/>
            <a:round/>
            <a:headEnd len="sm" w="sm" type="none"/>
            <a:tailEnd len="sm" w="sm" type="none"/>
          </a:ln>
          <a:effectLst>
            <a:outerShdw blurRad="50800" rotWithShape="0" algn="bl" dir="2700000" dist="12700">
              <a:srgbClr val="000000">
                <a:alpha val="705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30" name="Google Shape;130;p6"/>
          <p:cNvPicPr preferRelativeResize="0"/>
          <p:nvPr/>
        </p:nvPicPr>
        <p:blipFill rotWithShape="1">
          <a:blip r:embed="rId7">
            <a:alphaModFix/>
          </a:blip>
          <a:srcRect b="0" l="0" r="0" t="0"/>
          <a:stretch/>
        </p:blipFill>
        <p:spPr>
          <a:xfrm>
            <a:off x="6784848" y="2907792"/>
            <a:ext cx="347472" cy="347472"/>
          </a:xfrm>
          <a:prstGeom prst="rect">
            <a:avLst/>
          </a:prstGeom>
          <a:noFill/>
          <a:ln>
            <a:noFill/>
          </a:ln>
        </p:spPr>
      </p:pic>
      <p:sp>
        <p:nvSpPr>
          <p:cNvPr id="131" name="Google Shape;131;p6"/>
          <p:cNvSpPr/>
          <p:nvPr/>
        </p:nvSpPr>
        <p:spPr>
          <a:xfrm>
            <a:off x="6784848" y="3319272"/>
            <a:ext cx="18288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050"/>
              <a:buFont typeface="Arial"/>
              <a:buNone/>
            </a:pPr>
            <a:r>
              <a:rPr b="1" i="0" lang="en-US" sz="1050" u="none" cap="none" strike="noStrike">
                <a:solidFill>
                  <a:srgbClr val="0D2434"/>
                </a:solidFill>
                <a:latin typeface="Arial"/>
                <a:ea typeface="Arial"/>
                <a:cs typeface="Arial"/>
                <a:sym typeface="Arial"/>
              </a:rPr>
              <a:t>Visible outcomes</a:t>
            </a:r>
            <a:endParaRPr b="0" i="0" sz="1050" u="none" cap="none" strike="noStrike">
              <a:solidFill>
                <a:schemeClr val="dk1"/>
              </a:solidFill>
              <a:latin typeface="Calibri"/>
              <a:ea typeface="Calibri"/>
              <a:cs typeface="Calibri"/>
              <a:sym typeface="Calibri"/>
            </a:endParaRPr>
          </a:p>
        </p:txBody>
      </p:sp>
      <p:sp>
        <p:nvSpPr>
          <p:cNvPr id="132" name="Google Shape;132;p6"/>
          <p:cNvSpPr/>
          <p:nvPr/>
        </p:nvSpPr>
        <p:spPr>
          <a:xfrm>
            <a:off x="6784848" y="3630168"/>
            <a:ext cx="182880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You can see what changed — and what's still being worked on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37" name="Shape 137"/>
        <p:cNvGrpSpPr/>
        <p:nvPr/>
      </p:nvGrpSpPr>
      <p:grpSpPr>
        <a:xfrm>
          <a:off x="0" y="0"/>
          <a:ext cx="0" cy="0"/>
          <a:chOff x="0" y="0"/>
          <a:chExt cx="0" cy="0"/>
        </a:xfrm>
      </p:grpSpPr>
      <p:sp>
        <p:nvSpPr>
          <p:cNvPr id="138" name="Google Shape;138;p7"/>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Ways to get involved</a:t>
            </a:r>
            <a:endParaRPr b="0" i="0" sz="2200" u="none" cap="none" strike="noStrike">
              <a:solidFill>
                <a:schemeClr val="dk1"/>
              </a:solidFill>
              <a:latin typeface="Calibri"/>
              <a:ea typeface="Calibri"/>
              <a:cs typeface="Calibri"/>
              <a:sym typeface="Calibri"/>
            </a:endParaRPr>
          </a:p>
        </p:txBody>
      </p:sp>
      <p:sp>
        <p:nvSpPr>
          <p:cNvPr id="139" name="Google Shape;139;p7"/>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You know the options — which one fits Year 2?</a:t>
            </a:r>
            <a:endParaRPr b="0" i="0" sz="1100" u="none" cap="none" strike="noStrike">
              <a:solidFill>
                <a:schemeClr val="dk1"/>
              </a:solidFill>
              <a:latin typeface="Calibri"/>
              <a:ea typeface="Calibri"/>
              <a:cs typeface="Calibri"/>
              <a:sym typeface="Calibri"/>
            </a:endParaRPr>
          </a:p>
        </p:txBody>
      </p:sp>
      <p:sp>
        <p:nvSpPr>
          <p:cNvPr id="140" name="Google Shape;140;p7"/>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7"/>
          <p:cNvSpPr/>
          <p:nvPr/>
        </p:nvSpPr>
        <p:spPr>
          <a:xfrm>
            <a:off x="7498080" y="109728"/>
            <a:ext cx="1508760" cy="292608"/>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 name="Google Shape;142;p7"/>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TEACHER INPUT</a:t>
            </a:r>
            <a:endParaRPr b="0" i="0" sz="750" u="none" cap="none" strike="noStrike">
              <a:solidFill>
                <a:schemeClr val="dk1"/>
              </a:solidFill>
              <a:latin typeface="Calibri"/>
              <a:ea typeface="Calibri"/>
              <a:cs typeface="Calibri"/>
              <a:sym typeface="Calibri"/>
            </a:endParaRPr>
          </a:p>
        </p:txBody>
      </p:sp>
      <p:sp>
        <p:nvSpPr>
          <p:cNvPr id="143" name="Google Shape;143;p7"/>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A Level / Year 2 — Media, Film, Photography and Digital</a:t>
            </a:r>
            <a:endParaRPr b="0" i="0" sz="800" u="none" cap="none" strike="noStrike">
              <a:solidFill>
                <a:schemeClr val="dk1"/>
              </a:solidFill>
              <a:latin typeface="Calibri"/>
              <a:ea typeface="Calibri"/>
              <a:cs typeface="Calibri"/>
              <a:sym typeface="Calibri"/>
            </a:endParaRPr>
          </a:p>
        </p:txBody>
      </p:sp>
      <p:sp>
        <p:nvSpPr>
          <p:cNvPr id="144" name="Google Shape;144;p7"/>
          <p:cNvSpPr/>
          <p:nvPr/>
        </p:nvSpPr>
        <p:spPr>
          <a:xfrm>
            <a:off x="411480" y="1005840"/>
            <a:ext cx="4069080" cy="1664208"/>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12700">
              <a:srgbClr val="000000">
                <a:alpha val="902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45" name="Google Shape;145;p7"/>
          <p:cNvCxnSpPr/>
          <p:nvPr/>
        </p:nvCxnSpPr>
        <p:spPr>
          <a:xfrm>
            <a:off x="548640" y="1170432"/>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pic>
        <p:nvPicPr>
          <p:cNvPr descr="preencoded.png" id="146" name="Google Shape;146;p7"/>
          <p:cNvPicPr preferRelativeResize="0"/>
          <p:nvPr/>
        </p:nvPicPr>
        <p:blipFill rotWithShape="1">
          <a:blip r:embed="rId3">
            <a:alphaModFix/>
          </a:blip>
          <a:srcRect b="0" l="0" r="0" t="0"/>
          <a:stretch/>
        </p:blipFill>
        <p:spPr>
          <a:xfrm>
            <a:off x="566928" y="1188720"/>
            <a:ext cx="438912" cy="438912"/>
          </a:xfrm>
          <a:prstGeom prst="rect">
            <a:avLst/>
          </a:prstGeom>
          <a:noFill/>
          <a:ln>
            <a:noFill/>
          </a:ln>
        </p:spPr>
      </p:pic>
      <p:sp>
        <p:nvSpPr>
          <p:cNvPr id="147" name="Google Shape;147;p7"/>
          <p:cNvSpPr/>
          <p:nvPr/>
        </p:nvSpPr>
        <p:spPr>
          <a:xfrm>
            <a:off x="3154680" y="1170432"/>
            <a:ext cx="1188720" cy="256032"/>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8" name="Google Shape;148;p7"/>
          <p:cNvSpPr/>
          <p:nvPr/>
        </p:nvSpPr>
        <p:spPr>
          <a:xfrm>
            <a:off x="3154680" y="1170432"/>
            <a:ext cx="11887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A54"/>
              </a:buClr>
              <a:buSzPts val="800"/>
              <a:buFont typeface="Arial"/>
              <a:buNone/>
            </a:pPr>
            <a:r>
              <a:rPr b="1" i="0" lang="en-US" sz="800" u="none" cap="none" strike="noStrike">
                <a:solidFill>
                  <a:srgbClr val="0F7A54"/>
                </a:solidFill>
                <a:latin typeface="Arial"/>
                <a:ea typeface="Arial"/>
                <a:cs typeface="Arial"/>
                <a:sym typeface="Arial"/>
              </a:rPr>
              <a:t>Two elected today</a:t>
            </a:r>
            <a:endParaRPr b="0" i="0" sz="800" u="none" cap="none" strike="noStrike">
              <a:solidFill>
                <a:schemeClr val="dk1"/>
              </a:solidFill>
              <a:latin typeface="Calibri"/>
              <a:ea typeface="Calibri"/>
              <a:cs typeface="Calibri"/>
              <a:sym typeface="Calibri"/>
            </a:endParaRPr>
          </a:p>
        </p:txBody>
      </p:sp>
      <p:sp>
        <p:nvSpPr>
          <p:cNvPr id="149" name="Google Shape;149;p7"/>
          <p:cNvSpPr/>
          <p:nvPr/>
        </p:nvSpPr>
        <p:spPr>
          <a:xfrm>
            <a:off x="1161288" y="1170432"/>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Student Rep</a:t>
            </a:r>
            <a:endParaRPr b="0" i="0" sz="1200" u="none" cap="none" strike="noStrike">
              <a:solidFill>
                <a:schemeClr val="dk1"/>
              </a:solidFill>
              <a:latin typeface="Calibri"/>
              <a:ea typeface="Calibri"/>
              <a:cs typeface="Calibri"/>
              <a:sym typeface="Calibri"/>
            </a:endParaRPr>
          </a:p>
        </p:txBody>
      </p:sp>
      <p:sp>
        <p:nvSpPr>
          <p:cNvPr id="150" name="Google Shape;150;p7"/>
          <p:cNvSpPr/>
          <p:nvPr/>
        </p:nvSpPr>
        <p:spPr>
          <a:xfrm>
            <a:off x="548640" y="1719072"/>
            <a:ext cx="379476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Elected today. You know what the role involves — and what it looks like when it’s done well. You also elect a rep for your GCSE English or maths class.</a:t>
            </a:r>
            <a:endParaRPr b="0" i="0" sz="1050" u="none" cap="none" strike="noStrike">
              <a:solidFill>
                <a:schemeClr val="dk1"/>
              </a:solidFill>
              <a:latin typeface="Calibri"/>
              <a:ea typeface="Calibri"/>
              <a:cs typeface="Calibri"/>
              <a:sym typeface="Calibri"/>
            </a:endParaRPr>
          </a:p>
        </p:txBody>
      </p:sp>
      <p:sp>
        <p:nvSpPr>
          <p:cNvPr id="151" name="Google Shape;151;p7"/>
          <p:cNvSpPr/>
          <p:nvPr/>
        </p:nvSpPr>
        <p:spPr>
          <a:xfrm>
            <a:off x="4709160" y="1005840"/>
            <a:ext cx="4069080" cy="1664208"/>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12700">
              <a:srgbClr val="000000">
                <a:alpha val="902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52" name="Google Shape;152;p7"/>
          <p:cNvCxnSpPr/>
          <p:nvPr/>
        </p:nvCxnSpPr>
        <p:spPr>
          <a:xfrm>
            <a:off x="4846320" y="1170432"/>
            <a:ext cx="475488" cy="475488"/>
          </a:xfrm>
          <a:prstGeom prst="straightConnector1">
            <a:avLst/>
          </a:prstGeom>
          <a:solidFill>
            <a:srgbClr val="0D2434"/>
          </a:solidFill>
          <a:ln cap="flat" cmpd="sng" w="12700">
            <a:solidFill>
              <a:srgbClr val="0D2434"/>
            </a:solidFill>
            <a:prstDash val="solid"/>
            <a:round/>
            <a:headEnd len="sm" w="sm" type="none"/>
            <a:tailEnd len="sm" w="sm" type="none"/>
          </a:ln>
        </p:spPr>
      </p:cxnSp>
      <p:pic>
        <p:nvPicPr>
          <p:cNvPr descr="preencoded.png" id="153" name="Google Shape;153;p7"/>
          <p:cNvPicPr preferRelativeResize="0"/>
          <p:nvPr/>
        </p:nvPicPr>
        <p:blipFill rotWithShape="1">
          <a:blip r:embed="rId4">
            <a:alphaModFix/>
          </a:blip>
          <a:srcRect b="0" l="0" r="0" t="0"/>
          <a:stretch/>
        </p:blipFill>
        <p:spPr>
          <a:xfrm>
            <a:off x="4864608" y="1188720"/>
            <a:ext cx="438912" cy="438912"/>
          </a:xfrm>
          <a:prstGeom prst="rect">
            <a:avLst/>
          </a:prstGeom>
          <a:noFill/>
          <a:ln>
            <a:noFill/>
          </a:ln>
        </p:spPr>
      </p:pic>
      <p:sp>
        <p:nvSpPr>
          <p:cNvPr id="154" name="Google Shape;154;p7"/>
          <p:cNvSpPr/>
          <p:nvPr/>
        </p:nvSpPr>
        <p:spPr>
          <a:xfrm>
            <a:off x="7452360" y="1170432"/>
            <a:ext cx="1188720" cy="256032"/>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p7"/>
          <p:cNvSpPr/>
          <p:nvPr/>
        </p:nvSpPr>
        <p:spPr>
          <a:xfrm>
            <a:off x="7452360" y="1170432"/>
            <a:ext cx="11887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A54"/>
              </a:buClr>
              <a:buSzPts val="800"/>
              <a:buFont typeface="Arial"/>
              <a:buNone/>
            </a:pPr>
            <a:r>
              <a:rPr b="1" i="0" lang="en-US" sz="800" u="none" cap="none" strike="noStrike">
                <a:solidFill>
                  <a:srgbClr val="0F7A54"/>
                </a:solidFill>
                <a:latin typeface="Arial"/>
                <a:ea typeface="Arial"/>
                <a:cs typeface="Arial"/>
                <a:sym typeface="Arial"/>
              </a:rPr>
              <a:t>Apply by 16 Oct</a:t>
            </a:r>
            <a:endParaRPr b="0" i="0" sz="800" u="none" cap="none" strike="noStrike">
              <a:solidFill>
                <a:schemeClr val="dk1"/>
              </a:solidFill>
              <a:latin typeface="Calibri"/>
              <a:ea typeface="Calibri"/>
              <a:cs typeface="Calibri"/>
              <a:sym typeface="Calibri"/>
            </a:endParaRPr>
          </a:p>
        </p:txBody>
      </p:sp>
      <p:sp>
        <p:nvSpPr>
          <p:cNvPr id="156" name="Google Shape;156;p7"/>
          <p:cNvSpPr/>
          <p:nvPr/>
        </p:nvSpPr>
        <p:spPr>
          <a:xfrm>
            <a:off x="5458968" y="1170432"/>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Student Governor</a:t>
            </a:r>
            <a:endParaRPr b="0" i="0" sz="1200" u="none" cap="none" strike="noStrike">
              <a:solidFill>
                <a:schemeClr val="dk1"/>
              </a:solidFill>
              <a:latin typeface="Calibri"/>
              <a:ea typeface="Calibri"/>
              <a:cs typeface="Calibri"/>
              <a:sym typeface="Calibri"/>
            </a:endParaRPr>
          </a:p>
        </p:txBody>
      </p:sp>
      <p:sp>
        <p:nvSpPr>
          <p:cNvPr id="157" name="Google Shape;157;p7"/>
          <p:cNvSpPr/>
          <p:nvPr/>
        </p:nvSpPr>
        <p:spPr>
          <a:xfrm>
            <a:off x="4846320" y="1719072"/>
            <a:ext cx="379476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3 places on the Main Governing Board — where equipment, technician capacity and studio provision get decided. Applications close midday, Friday 16 October — see slides 7–10.</a:t>
            </a:r>
            <a:endParaRPr b="0" i="0" sz="1050" u="none" cap="none" strike="noStrike">
              <a:solidFill>
                <a:schemeClr val="dk1"/>
              </a:solidFill>
              <a:latin typeface="Calibri"/>
              <a:ea typeface="Calibri"/>
              <a:cs typeface="Calibri"/>
              <a:sym typeface="Calibri"/>
            </a:endParaRPr>
          </a:p>
        </p:txBody>
      </p:sp>
      <p:sp>
        <p:nvSpPr>
          <p:cNvPr id="158" name="Google Shape;158;p7"/>
          <p:cNvSpPr/>
          <p:nvPr/>
        </p:nvSpPr>
        <p:spPr>
          <a:xfrm>
            <a:off x="411480" y="2834640"/>
            <a:ext cx="4069080" cy="1664208"/>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12700">
              <a:srgbClr val="000000">
                <a:alpha val="902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59" name="Google Shape;159;p7"/>
          <p:cNvCxnSpPr/>
          <p:nvPr/>
        </p:nvCxnSpPr>
        <p:spPr>
          <a:xfrm>
            <a:off x="548640" y="2999232"/>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pic>
        <p:nvPicPr>
          <p:cNvPr descr="preencoded.png" id="160" name="Google Shape;160;p7"/>
          <p:cNvPicPr preferRelativeResize="0"/>
          <p:nvPr/>
        </p:nvPicPr>
        <p:blipFill rotWithShape="1">
          <a:blip r:embed="rId5">
            <a:alphaModFix/>
          </a:blip>
          <a:srcRect b="0" l="0" r="0" t="0"/>
          <a:stretch/>
        </p:blipFill>
        <p:spPr>
          <a:xfrm>
            <a:off x="566928" y="3017520"/>
            <a:ext cx="438912" cy="438912"/>
          </a:xfrm>
          <a:prstGeom prst="rect">
            <a:avLst/>
          </a:prstGeom>
          <a:noFill/>
          <a:ln>
            <a:noFill/>
          </a:ln>
        </p:spPr>
      </p:pic>
      <p:sp>
        <p:nvSpPr>
          <p:cNvPr id="161" name="Google Shape;161;p7"/>
          <p:cNvSpPr/>
          <p:nvPr/>
        </p:nvSpPr>
        <p:spPr>
          <a:xfrm>
            <a:off x="3154680" y="2999232"/>
            <a:ext cx="1188720" cy="256032"/>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 name="Google Shape;162;p7"/>
          <p:cNvSpPr/>
          <p:nvPr/>
        </p:nvSpPr>
        <p:spPr>
          <a:xfrm>
            <a:off x="3154680" y="2999232"/>
            <a:ext cx="11887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A54"/>
              </a:buClr>
              <a:buSzPts val="800"/>
              <a:buFont typeface="Arial"/>
              <a:buNone/>
            </a:pPr>
            <a:r>
              <a:rPr b="1" i="0" lang="en-US" sz="800" u="none" cap="none" strike="noStrike">
                <a:solidFill>
                  <a:srgbClr val="0F7A54"/>
                </a:solidFill>
                <a:latin typeface="Arial"/>
                <a:ea typeface="Arial"/>
                <a:cs typeface="Arial"/>
                <a:sym typeface="Arial"/>
              </a:rPr>
              <a:t>You're already in</a:t>
            </a:r>
            <a:endParaRPr b="0" i="0" sz="800" u="none" cap="none" strike="noStrike">
              <a:solidFill>
                <a:schemeClr val="dk1"/>
              </a:solidFill>
              <a:latin typeface="Calibri"/>
              <a:ea typeface="Calibri"/>
              <a:cs typeface="Calibri"/>
              <a:sym typeface="Calibri"/>
            </a:endParaRPr>
          </a:p>
        </p:txBody>
      </p:sp>
      <p:sp>
        <p:nvSpPr>
          <p:cNvPr id="163" name="Google Shape;163;p7"/>
          <p:cNvSpPr/>
          <p:nvPr/>
        </p:nvSpPr>
        <p:spPr>
          <a:xfrm>
            <a:off x="1161288" y="2999232"/>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NUS Membership</a:t>
            </a:r>
            <a:endParaRPr b="0" i="0" sz="1200" u="none" cap="none" strike="noStrike">
              <a:solidFill>
                <a:schemeClr val="dk1"/>
              </a:solidFill>
              <a:latin typeface="Calibri"/>
              <a:ea typeface="Calibri"/>
              <a:cs typeface="Calibri"/>
              <a:sym typeface="Calibri"/>
            </a:endParaRPr>
          </a:p>
        </p:txBody>
      </p:sp>
      <p:sp>
        <p:nvSpPr>
          <p:cNvPr id="164" name="Google Shape;164;p7"/>
          <p:cNvSpPr/>
          <p:nvPr/>
        </p:nvSpPr>
        <p:spPr>
          <a:xfrm>
            <a:off x="548640" y="3547872"/>
            <a:ext cx="379476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You're already a member. TOTUM card (£14.99/year) gives discounts across hundreds of retailers — worth checking before you buy set texts, materials or travel to open days.</a:t>
            </a:r>
            <a:endParaRPr b="0" i="0" sz="1050" u="none" cap="none" strike="noStrike">
              <a:solidFill>
                <a:schemeClr val="dk1"/>
              </a:solidFill>
              <a:latin typeface="Calibri"/>
              <a:ea typeface="Calibri"/>
              <a:cs typeface="Calibri"/>
              <a:sym typeface="Calibri"/>
            </a:endParaRPr>
          </a:p>
        </p:txBody>
      </p:sp>
      <p:sp>
        <p:nvSpPr>
          <p:cNvPr id="165" name="Google Shape;165;p7"/>
          <p:cNvSpPr/>
          <p:nvPr/>
        </p:nvSpPr>
        <p:spPr>
          <a:xfrm>
            <a:off x="4709160" y="2834640"/>
            <a:ext cx="4069080" cy="1664208"/>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12700">
              <a:srgbClr val="000000">
                <a:alpha val="902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66" name="Google Shape;166;p7"/>
          <p:cNvCxnSpPr/>
          <p:nvPr/>
        </p:nvCxnSpPr>
        <p:spPr>
          <a:xfrm>
            <a:off x="4846320" y="2999232"/>
            <a:ext cx="475488" cy="475488"/>
          </a:xfrm>
          <a:prstGeom prst="straightConnector1">
            <a:avLst/>
          </a:prstGeom>
          <a:solidFill>
            <a:srgbClr val="0D2434"/>
          </a:solidFill>
          <a:ln cap="flat" cmpd="sng" w="12700">
            <a:solidFill>
              <a:srgbClr val="0D2434"/>
            </a:solidFill>
            <a:prstDash val="solid"/>
            <a:round/>
            <a:headEnd len="sm" w="sm" type="none"/>
            <a:tailEnd len="sm" w="sm" type="none"/>
          </a:ln>
        </p:spPr>
      </p:cxnSp>
      <p:pic>
        <p:nvPicPr>
          <p:cNvPr descr="preencoded.png" id="167" name="Google Shape;167;p7"/>
          <p:cNvPicPr preferRelativeResize="0"/>
          <p:nvPr/>
        </p:nvPicPr>
        <p:blipFill rotWithShape="1">
          <a:blip r:embed="rId6">
            <a:alphaModFix/>
          </a:blip>
          <a:srcRect b="0" l="0" r="0" t="0"/>
          <a:stretch/>
        </p:blipFill>
        <p:spPr>
          <a:xfrm>
            <a:off x="4864608" y="3017520"/>
            <a:ext cx="438912" cy="438912"/>
          </a:xfrm>
          <a:prstGeom prst="rect">
            <a:avLst/>
          </a:prstGeom>
          <a:noFill/>
          <a:ln>
            <a:noFill/>
          </a:ln>
        </p:spPr>
      </p:pic>
      <p:sp>
        <p:nvSpPr>
          <p:cNvPr id="168" name="Google Shape;168;p7"/>
          <p:cNvSpPr/>
          <p:nvPr/>
        </p:nvSpPr>
        <p:spPr>
          <a:xfrm>
            <a:off x="7452360" y="2999232"/>
            <a:ext cx="1188720" cy="256032"/>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p7"/>
          <p:cNvSpPr/>
          <p:nvPr/>
        </p:nvSpPr>
        <p:spPr>
          <a:xfrm>
            <a:off x="7452360" y="2999232"/>
            <a:ext cx="11887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A54"/>
              </a:buClr>
              <a:buSzPts val="800"/>
              <a:buFont typeface="Arial"/>
              <a:buNone/>
            </a:pPr>
            <a:r>
              <a:rPr b="1" i="0" lang="en-US" sz="800" u="none" cap="none" strike="noStrike">
                <a:solidFill>
                  <a:srgbClr val="0F7A54"/>
                </a:solidFill>
                <a:latin typeface="Arial"/>
                <a:ea typeface="Arial"/>
                <a:cs typeface="Arial"/>
                <a:sym typeface="Arial"/>
              </a:rPr>
              <a:t>From 3 Nov</a:t>
            </a:r>
            <a:endParaRPr b="0" i="0" sz="800" u="none" cap="none" strike="noStrike">
              <a:solidFill>
                <a:schemeClr val="dk1"/>
              </a:solidFill>
              <a:latin typeface="Calibri"/>
              <a:ea typeface="Calibri"/>
              <a:cs typeface="Calibri"/>
              <a:sym typeface="Calibri"/>
            </a:endParaRPr>
          </a:p>
        </p:txBody>
      </p:sp>
      <p:sp>
        <p:nvSpPr>
          <p:cNvPr id="170" name="Google Shape;170;p7"/>
          <p:cNvSpPr/>
          <p:nvPr/>
        </p:nvSpPr>
        <p:spPr>
          <a:xfrm>
            <a:off x="5458968" y="2999232"/>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Surveys &amp; Forums</a:t>
            </a:r>
            <a:endParaRPr b="0" i="0" sz="1200" u="none" cap="none" strike="noStrike">
              <a:solidFill>
                <a:schemeClr val="dk1"/>
              </a:solidFill>
              <a:latin typeface="Calibri"/>
              <a:ea typeface="Calibri"/>
              <a:cs typeface="Calibri"/>
              <a:sym typeface="Calibri"/>
            </a:endParaRPr>
          </a:p>
        </p:txBody>
      </p:sp>
      <p:sp>
        <p:nvSpPr>
          <p:cNvPr id="171" name="Google Shape;171;p7"/>
          <p:cNvSpPr/>
          <p:nvPr/>
        </p:nvSpPr>
        <p:spPr>
          <a:xfrm>
            <a:off x="4846320" y="3547872"/>
            <a:ext cx="379476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Induction Survey opens 3 November. Three minutes — the place to say if coursework deadlines and UCAS are colliding.</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76" name="Shape 176"/>
        <p:cNvGrpSpPr/>
        <p:nvPr/>
      </p:nvGrpSpPr>
      <p:grpSpPr>
        <a:xfrm>
          <a:off x="0" y="0"/>
          <a:ext cx="0" cy="0"/>
          <a:chOff x="0" y="0"/>
          <a:chExt cx="0" cy="0"/>
        </a:xfrm>
      </p:grpSpPr>
      <p:sp>
        <p:nvSpPr>
          <p:cNvPr id="177" name="Google Shape;177;p8"/>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The Student Representative role</a:t>
            </a:r>
            <a:endParaRPr b="0" i="0" sz="2200" u="none" cap="none" strike="noStrike">
              <a:solidFill>
                <a:schemeClr val="dk1"/>
              </a:solidFill>
              <a:latin typeface="Calibri"/>
              <a:ea typeface="Calibri"/>
              <a:cs typeface="Calibri"/>
              <a:sym typeface="Calibri"/>
            </a:endParaRPr>
          </a:p>
        </p:txBody>
      </p:sp>
      <p:sp>
        <p:nvSpPr>
          <p:cNvPr id="178" name="Google Shape;178;p8"/>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Year 2: familiarity is an advantage — if you use it</a:t>
            </a:r>
            <a:endParaRPr b="0" i="0" sz="1100" u="none" cap="none" strike="noStrike">
              <a:solidFill>
                <a:schemeClr val="dk1"/>
              </a:solidFill>
              <a:latin typeface="Calibri"/>
              <a:ea typeface="Calibri"/>
              <a:cs typeface="Calibri"/>
              <a:sym typeface="Calibri"/>
            </a:endParaRPr>
          </a:p>
        </p:txBody>
      </p:sp>
      <p:sp>
        <p:nvSpPr>
          <p:cNvPr id="179" name="Google Shape;179;p8"/>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0" name="Google Shape;180;p8"/>
          <p:cNvSpPr/>
          <p:nvPr/>
        </p:nvSpPr>
        <p:spPr>
          <a:xfrm>
            <a:off x="7498080" y="109728"/>
            <a:ext cx="1508760" cy="292608"/>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1" name="Google Shape;181;p8"/>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TEACHER INPUT</a:t>
            </a:r>
            <a:endParaRPr b="0" i="0" sz="750" u="none" cap="none" strike="noStrike">
              <a:solidFill>
                <a:schemeClr val="dk1"/>
              </a:solidFill>
              <a:latin typeface="Calibri"/>
              <a:ea typeface="Calibri"/>
              <a:cs typeface="Calibri"/>
              <a:sym typeface="Calibri"/>
            </a:endParaRPr>
          </a:p>
        </p:txBody>
      </p:sp>
      <p:sp>
        <p:nvSpPr>
          <p:cNvPr id="182" name="Google Shape;182;p8"/>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A Level / Year 2 — Media, Film, Photography and Digital</a:t>
            </a:r>
            <a:endParaRPr b="0" i="0" sz="800" u="none" cap="none" strike="noStrike">
              <a:solidFill>
                <a:schemeClr val="dk1"/>
              </a:solidFill>
              <a:latin typeface="Calibri"/>
              <a:ea typeface="Calibri"/>
              <a:cs typeface="Calibri"/>
              <a:sym typeface="Calibri"/>
            </a:endParaRPr>
          </a:p>
        </p:txBody>
      </p:sp>
      <p:sp>
        <p:nvSpPr>
          <p:cNvPr id="183" name="Google Shape;183;p8"/>
          <p:cNvSpPr/>
          <p:nvPr/>
        </p:nvSpPr>
        <p:spPr>
          <a:xfrm>
            <a:off x="411480" y="1005840"/>
            <a:ext cx="4160520" cy="3749040"/>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4" name="Google Shape;184;p8"/>
          <p:cNvSpPr/>
          <p:nvPr/>
        </p:nvSpPr>
        <p:spPr>
          <a:xfrm>
            <a:off x="594360" y="1078992"/>
            <a:ext cx="37490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F01"/>
              </a:buClr>
              <a:buSzPts val="1300"/>
              <a:buFont typeface="Arial"/>
              <a:buNone/>
            </a:pPr>
            <a:r>
              <a:rPr b="1" i="0" lang="en-US" sz="1300" u="none" cap="none" strike="noStrike">
                <a:solidFill>
                  <a:srgbClr val="FFCF01"/>
                </a:solidFill>
                <a:latin typeface="Arial"/>
                <a:ea typeface="Arial"/>
                <a:cs typeface="Arial"/>
                <a:sym typeface="Arial"/>
              </a:rPr>
              <a:t>What reps do</a:t>
            </a:r>
            <a:endParaRPr b="0" i="0" sz="1300" u="none" cap="none" strike="noStrike">
              <a:solidFill>
                <a:schemeClr val="dk1"/>
              </a:solidFill>
              <a:latin typeface="Calibri"/>
              <a:ea typeface="Calibri"/>
              <a:cs typeface="Calibri"/>
              <a:sym typeface="Calibri"/>
            </a:endParaRPr>
          </a:p>
        </p:txBody>
      </p:sp>
      <p:sp>
        <p:nvSpPr>
          <p:cNvPr id="185" name="Google Shape;185;p8"/>
          <p:cNvSpPr/>
          <p:nvPr/>
        </p:nvSpPr>
        <p:spPr>
          <a:xfrm>
            <a:off x="594360" y="1481328"/>
            <a:ext cx="3749040" cy="210312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Gather and convey student opinions to college leadership</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Attend 3 Student Council meetings per year (dates on the right)</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Provide feedback on teaching, and on studio, darkroom and edit-suite access</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Work with staff to develop solutions — not just present problems</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Keep the group informed after every meeting</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Represent this group in your GCSE English or maths class as well as your subject</a:t>
            </a:r>
            <a:endParaRPr b="0" i="0" sz="1050" u="none" cap="none" strike="noStrike">
              <a:solidFill>
                <a:schemeClr val="dk1"/>
              </a:solidFill>
              <a:latin typeface="Calibri"/>
              <a:ea typeface="Calibri"/>
              <a:cs typeface="Calibri"/>
              <a:sym typeface="Calibri"/>
            </a:endParaRPr>
          </a:p>
        </p:txBody>
      </p:sp>
      <p:sp>
        <p:nvSpPr>
          <p:cNvPr id="186" name="Google Shape;186;p8"/>
          <p:cNvSpPr/>
          <p:nvPr/>
        </p:nvSpPr>
        <p:spPr>
          <a:xfrm>
            <a:off x="411480" y="3730752"/>
            <a:ext cx="4160520" cy="502920"/>
          </a:xfrm>
          <a:prstGeom prst="rect">
            <a:avLst/>
          </a:prstGeom>
          <a:solidFill>
            <a:srgbClr val="0F7A54">
              <a:alpha val="70196"/>
            </a:srgbClr>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7" name="Google Shape;187;p8"/>
          <p:cNvSpPr/>
          <p:nvPr/>
        </p:nvSpPr>
        <p:spPr>
          <a:xfrm>
            <a:off x="594360" y="3730752"/>
            <a:ext cx="38404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50"/>
              <a:buFont typeface="Arial"/>
              <a:buNone/>
            </a:pPr>
            <a:r>
              <a:rPr b="0" i="1" lang="en-US" sz="950" u="none" cap="none" strike="noStrike">
                <a:solidFill>
                  <a:srgbClr val="FFFFFF"/>
                </a:solidFill>
                <a:latin typeface="Arial"/>
                <a:ea typeface="Arial"/>
                <a:cs typeface="Arial"/>
                <a:sym typeface="Arial"/>
              </a:rPr>
              <a:t>Year 2 advantage: you know the staff, the meetings, and what actually moves things.</a:t>
            </a:r>
            <a:endParaRPr b="0" i="0" sz="950" u="none" cap="none" strike="noStrike">
              <a:solidFill>
                <a:schemeClr val="dk1"/>
              </a:solidFill>
              <a:latin typeface="Calibri"/>
              <a:ea typeface="Calibri"/>
              <a:cs typeface="Calibri"/>
              <a:sym typeface="Calibri"/>
            </a:endParaRPr>
          </a:p>
        </p:txBody>
      </p:sp>
      <p:sp>
        <p:nvSpPr>
          <p:cNvPr id="188" name="Google Shape;188;p8"/>
          <p:cNvSpPr/>
          <p:nvPr/>
        </p:nvSpPr>
        <p:spPr>
          <a:xfrm>
            <a:off x="411480" y="4261104"/>
            <a:ext cx="4160520" cy="493776"/>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9" name="Google Shape;189;p8"/>
          <p:cNvSpPr/>
          <p:nvPr/>
        </p:nvSpPr>
        <p:spPr>
          <a:xfrm>
            <a:off x="594360" y="4261104"/>
            <a:ext cx="384048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1" lang="en-US" sz="1000" u="none" cap="none" strike="noStrike">
                <a:solidFill>
                  <a:srgbClr val="FFFFFF"/>
                </a:solidFill>
                <a:latin typeface="Arial"/>
                <a:ea typeface="Arial"/>
                <a:cs typeface="Arial"/>
                <a:sym typeface="Arial"/>
              </a:rPr>
              <a:t>Develops: communication, leadership, problem-solving, and employability skills</a:t>
            </a:r>
            <a:endParaRPr b="0" i="0" sz="1000" u="none" cap="none" strike="noStrike">
              <a:solidFill>
                <a:schemeClr val="dk1"/>
              </a:solidFill>
              <a:latin typeface="Calibri"/>
              <a:ea typeface="Calibri"/>
              <a:cs typeface="Calibri"/>
              <a:sym typeface="Calibri"/>
            </a:endParaRPr>
          </a:p>
        </p:txBody>
      </p:sp>
      <p:sp>
        <p:nvSpPr>
          <p:cNvPr id="190" name="Google Shape;190;p8"/>
          <p:cNvSpPr/>
          <p:nvPr/>
        </p:nvSpPr>
        <p:spPr>
          <a:xfrm>
            <a:off x="4754880" y="1005840"/>
            <a:ext cx="39776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Student Council meetings 26/27</a:t>
            </a:r>
            <a:endParaRPr b="0" i="0" sz="1300" u="none" cap="none" strike="noStrike">
              <a:solidFill>
                <a:schemeClr val="dk1"/>
              </a:solidFill>
              <a:latin typeface="Calibri"/>
              <a:ea typeface="Calibri"/>
              <a:cs typeface="Calibri"/>
              <a:sym typeface="Calibri"/>
            </a:endParaRPr>
          </a:p>
        </p:txBody>
      </p:sp>
      <p:graphicFrame>
        <p:nvGraphicFramePr>
          <p:cNvPr id="191" name="Google Shape;191;p8"/>
          <p:cNvGraphicFramePr/>
          <p:nvPr/>
        </p:nvGraphicFramePr>
        <p:xfrm>
          <a:off x="4754880" y="1417320"/>
          <a:ext cx="3000000" cy="3000000"/>
        </p:xfrm>
        <a:graphic>
          <a:graphicData uri="http://schemas.openxmlformats.org/drawingml/2006/table">
            <a:tbl>
              <a:tblPr>
                <a:noFill/>
                <a:tableStyleId>{C8BA0C1E-C44B-4C86-982C-E0D8293A8DE9}</a:tableStyleId>
              </a:tblPr>
              <a:tblGrid>
                <a:gridCol w="1325875"/>
                <a:gridCol w="886975"/>
                <a:gridCol w="886975"/>
                <a:gridCol w="886975"/>
              </a:tblGrid>
              <a:tr h="365750">
                <a:tc>
                  <a:txBody>
                    <a:bodyPr/>
                    <a:lstStyle/>
                    <a:p>
                      <a:pPr indent="0" lvl="0" marL="0" marR="0" rtl="0" algn="l">
                        <a:lnSpc>
                          <a:spcPct val="100000"/>
                        </a:lnSpc>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Campus</a:t>
                      </a:r>
                      <a:endParaRPr sz="90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0F7A54"/>
                    </a:solidFill>
                  </a:tcPr>
                </a:tc>
                <a:tc>
                  <a:txBody>
                    <a:bodyPr/>
                    <a:lstStyle/>
                    <a:p>
                      <a:pPr indent="0" lvl="0" marL="0" marR="0" rtl="0" algn="ctr">
                        <a:lnSpc>
                          <a:spcPct val="100000"/>
                        </a:lnSpc>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Council 1</a:t>
                      </a:r>
                      <a:endParaRPr sz="90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0F7A54"/>
                    </a:solidFill>
                  </a:tcPr>
                </a:tc>
                <a:tc>
                  <a:txBody>
                    <a:bodyPr/>
                    <a:lstStyle/>
                    <a:p>
                      <a:pPr indent="0" lvl="0" marL="0" marR="0" rtl="0" algn="ctr">
                        <a:lnSpc>
                          <a:spcPct val="100000"/>
                        </a:lnSpc>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Council 2</a:t>
                      </a:r>
                      <a:endParaRPr sz="90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0F7A54"/>
                    </a:solidFill>
                  </a:tcPr>
                </a:tc>
                <a:tc>
                  <a:txBody>
                    <a:bodyPr/>
                    <a:lstStyle/>
                    <a:p>
                      <a:pPr indent="0" lvl="0" marL="0" marR="0" rtl="0" algn="ctr">
                        <a:lnSpc>
                          <a:spcPct val="100000"/>
                        </a:lnSpc>
                        <a:spcBef>
                          <a:spcPts val="0"/>
                        </a:spcBef>
                        <a:spcAft>
                          <a:spcPts val="0"/>
                        </a:spcAft>
                        <a:buClr>
                          <a:srgbClr val="FFFFFF"/>
                        </a:buClr>
                        <a:buSzPts val="900"/>
                        <a:buFont typeface="Arial"/>
                        <a:buNone/>
                      </a:pPr>
                      <a:r>
                        <a:rPr b="1" lang="en-US" sz="900" u="none" cap="none" strike="noStrike">
                          <a:solidFill>
                            <a:srgbClr val="FFFFFF"/>
                          </a:solidFill>
                          <a:latin typeface="Arial"/>
                          <a:ea typeface="Arial"/>
                          <a:cs typeface="Arial"/>
                          <a:sym typeface="Arial"/>
                        </a:rPr>
                        <a:t>Council 3</a:t>
                      </a:r>
                      <a:endParaRPr sz="90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0F7A54"/>
                    </a:solidFill>
                  </a:tcPr>
                </a:tc>
              </a:tr>
              <a:tr h="365750">
                <a:tc>
                  <a:txBody>
                    <a:bodyPr/>
                    <a:lstStyle/>
                    <a:p>
                      <a:pPr indent="0" lvl="0" marL="0" marR="0" rtl="0" algn="l">
                        <a:lnSpc>
                          <a:spcPct val="100000"/>
                        </a:lnSpc>
                        <a:spcBef>
                          <a:spcPts val="0"/>
                        </a:spcBef>
                        <a:spcAft>
                          <a:spcPts val="0"/>
                        </a:spcAft>
                        <a:buClr>
                          <a:srgbClr val="0D2434"/>
                        </a:buClr>
                        <a:buSzPts val="950"/>
                        <a:buFont typeface="Arial"/>
                        <a:buNone/>
                      </a:pPr>
                      <a:r>
                        <a:rPr b="1" lang="en-US" sz="950" u="none" cap="none" strike="noStrike">
                          <a:solidFill>
                            <a:srgbClr val="0D2434"/>
                          </a:solidFill>
                          <a:latin typeface="Arial"/>
                          <a:ea typeface="Arial"/>
                          <a:cs typeface="Arial"/>
                          <a:sym typeface="Arial"/>
                        </a:rPr>
                        <a:t>Eastbourne</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Wed 11 Nov</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Mon 15 Mar</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Wed 5 May</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0D2434"/>
                        </a:buClr>
                        <a:buSzPts val="950"/>
                        <a:buFont typeface="Arial"/>
                        <a:buNone/>
                      </a:pPr>
                      <a:r>
                        <a:rPr b="1" lang="en-US" sz="950" u="none" cap="none" strike="noStrike">
                          <a:solidFill>
                            <a:srgbClr val="0D2434"/>
                          </a:solidFill>
                          <a:latin typeface="Arial"/>
                          <a:ea typeface="Arial"/>
                          <a:cs typeface="Arial"/>
                          <a:sym typeface="Arial"/>
                        </a:rPr>
                        <a:t>Lewes</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E8F4E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Tue 10 Nov</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E8F4E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Wed 17 Mar</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E8F4E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Wed 5 May</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E8F4EF"/>
                    </a:solidFill>
                  </a:tcPr>
                </a:tc>
              </a:tr>
              <a:tr h="365750">
                <a:tc>
                  <a:txBody>
                    <a:bodyPr/>
                    <a:lstStyle/>
                    <a:p>
                      <a:pPr indent="0" lvl="0" marL="0" marR="0" rtl="0" algn="l">
                        <a:lnSpc>
                          <a:spcPct val="100000"/>
                        </a:lnSpc>
                        <a:spcBef>
                          <a:spcPts val="0"/>
                        </a:spcBef>
                        <a:spcAft>
                          <a:spcPts val="0"/>
                        </a:spcAft>
                        <a:buClr>
                          <a:srgbClr val="0D2434"/>
                        </a:buClr>
                        <a:buSzPts val="950"/>
                        <a:buFont typeface="Arial"/>
                        <a:buNone/>
                      </a:pPr>
                      <a:r>
                        <a:rPr b="1" lang="en-US" sz="950" u="none" cap="none" strike="noStrike">
                          <a:solidFill>
                            <a:srgbClr val="0D2434"/>
                          </a:solidFill>
                          <a:latin typeface="Arial"/>
                          <a:ea typeface="Arial"/>
                          <a:cs typeface="Arial"/>
                          <a:sym typeface="Arial"/>
                        </a:rPr>
                        <a:t>Station Plaza</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Thu 12 Nov</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Mon 15 Mar</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Tue 4 May</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0D2434"/>
                        </a:buClr>
                        <a:buSzPts val="950"/>
                        <a:buFont typeface="Arial"/>
                        <a:buNone/>
                      </a:pPr>
                      <a:r>
                        <a:rPr b="1" lang="en-US" sz="950" u="none" cap="none" strike="noStrike">
                          <a:solidFill>
                            <a:srgbClr val="0D2434"/>
                          </a:solidFill>
                          <a:latin typeface="Arial"/>
                          <a:ea typeface="Arial"/>
                          <a:cs typeface="Arial"/>
                          <a:sym typeface="Arial"/>
                        </a:rPr>
                        <a:t>Ore Valley &amp; ATIC</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E8F4E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Tue 10 Nov</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E8F4E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Wed 17 Mar</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E8F4EF"/>
                    </a:solidFill>
                  </a:tcPr>
                </a:tc>
                <a:tc>
                  <a:txBody>
                    <a:bodyPr/>
                    <a:lstStyle/>
                    <a:p>
                      <a:pPr indent="0" lvl="0" marL="0" marR="0" rtl="0" algn="ctr">
                        <a:lnSpc>
                          <a:spcPct val="100000"/>
                        </a:lnSpc>
                        <a:spcBef>
                          <a:spcPts val="0"/>
                        </a:spcBef>
                        <a:spcAft>
                          <a:spcPts val="0"/>
                        </a:spcAft>
                        <a:buClr>
                          <a:srgbClr val="1B2A30"/>
                        </a:buClr>
                        <a:buSzPts val="950"/>
                        <a:buFont typeface="Arial"/>
                        <a:buNone/>
                      </a:pPr>
                      <a:r>
                        <a:rPr lang="en-US" sz="950" u="none" cap="none" strike="noStrike">
                          <a:solidFill>
                            <a:srgbClr val="1B2A30"/>
                          </a:solidFill>
                          <a:latin typeface="Arial"/>
                          <a:ea typeface="Arial"/>
                          <a:cs typeface="Arial"/>
                          <a:sym typeface="Arial"/>
                        </a:rPr>
                        <a:t>Wed 5 May</a:t>
                      </a:r>
                      <a:endParaRPr sz="950" u="none" cap="none" strike="noStrike">
                        <a:latin typeface="Arial"/>
                        <a:ea typeface="Arial"/>
                        <a:cs typeface="Arial"/>
                        <a:sym typeface="Arial"/>
                      </a:endParaRPr>
                    </a:p>
                  </a:txBody>
                  <a:tcPr marT="38100" marB="38100" marR="50800" marL="50800" anchor="ctr">
                    <a:lnL cap="flat" cmpd="sng" w="9525">
                      <a:solidFill>
                        <a:srgbClr val="D2DBDA"/>
                      </a:solidFill>
                      <a:prstDash val="solid"/>
                      <a:round/>
                      <a:headEnd len="sm" w="sm" type="none"/>
                      <a:tailEnd len="sm" w="sm" type="none"/>
                    </a:lnL>
                    <a:lnR cap="flat" cmpd="sng" w="9525">
                      <a:solidFill>
                        <a:srgbClr val="D2DBDA"/>
                      </a:solidFill>
                      <a:prstDash val="solid"/>
                      <a:round/>
                      <a:headEnd len="sm" w="sm" type="none"/>
                      <a:tailEnd len="sm" w="sm" type="none"/>
                    </a:lnR>
                    <a:lnT cap="flat" cmpd="sng" w="9525">
                      <a:solidFill>
                        <a:srgbClr val="D2DBDA"/>
                      </a:solidFill>
                      <a:prstDash val="solid"/>
                      <a:round/>
                      <a:headEnd len="sm" w="sm" type="none"/>
                      <a:tailEnd len="sm" w="sm" type="none"/>
                    </a:lnT>
                    <a:lnB cap="flat" cmpd="sng" w="9525">
                      <a:solidFill>
                        <a:srgbClr val="D2DBDA"/>
                      </a:solidFill>
                      <a:prstDash val="solid"/>
                      <a:round/>
                      <a:headEnd len="sm" w="sm" type="none"/>
                      <a:tailEnd len="sm" w="sm" type="none"/>
                    </a:lnB>
                    <a:solidFill>
                      <a:srgbClr val="E8F4EF"/>
                    </a:solidFill>
                  </a:tcPr>
                </a:tc>
              </a:tr>
            </a:tbl>
          </a:graphicData>
        </a:graphic>
      </p:graphicFrame>
      <p:sp>
        <p:nvSpPr>
          <p:cNvPr id="192" name="Google Shape;192;p8"/>
          <p:cNvSpPr/>
          <p:nvPr/>
        </p:nvSpPr>
        <p:spPr>
          <a:xfrm>
            <a:off x="4754880" y="3337560"/>
            <a:ext cx="3977640" cy="1234440"/>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93" name="Google Shape;193;p8"/>
          <p:cNvPicPr preferRelativeResize="0"/>
          <p:nvPr/>
        </p:nvPicPr>
        <p:blipFill rotWithShape="1">
          <a:blip r:embed="rId3">
            <a:alphaModFix/>
          </a:blip>
          <a:srcRect b="0" l="0" r="0" t="0"/>
          <a:stretch/>
        </p:blipFill>
        <p:spPr>
          <a:xfrm>
            <a:off x="4892040" y="3401568"/>
            <a:ext cx="384048" cy="384048"/>
          </a:xfrm>
          <a:prstGeom prst="rect">
            <a:avLst/>
          </a:prstGeom>
          <a:noFill/>
          <a:ln>
            <a:noFill/>
          </a:ln>
        </p:spPr>
      </p:pic>
      <p:sp>
        <p:nvSpPr>
          <p:cNvPr id="194" name="Google Shape;194;p8"/>
          <p:cNvSpPr/>
          <p:nvPr/>
        </p:nvSpPr>
        <p:spPr>
          <a:xfrm>
            <a:off x="5349240" y="3364992"/>
            <a:ext cx="32461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100"/>
              <a:buFont typeface="Arial"/>
              <a:buNone/>
            </a:pPr>
            <a:r>
              <a:rPr b="1" i="0" lang="en-US" sz="1100" u="none" cap="none" strike="noStrike">
                <a:solidFill>
                  <a:srgbClr val="0D2434"/>
                </a:solidFill>
                <a:latin typeface="Arial"/>
                <a:ea typeface="Arial"/>
                <a:cs typeface="Arial"/>
                <a:sym typeface="Arial"/>
              </a:rPr>
              <a:t>Rep training: Wednesday 14 October (all campuses)</a:t>
            </a:r>
            <a:endParaRPr b="0" i="0" sz="1100" u="none" cap="none" strike="noStrike">
              <a:solidFill>
                <a:schemeClr val="dk1"/>
              </a:solidFill>
              <a:latin typeface="Calibri"/>
              <a:ea typeface="Calibri"/>
              <a:cs typeface="Calibri"/>
              <a:sym typeface="Calibri"/>
            </a:endParaRPr>
          </a:p>
        </p:txBody>
      </p:sp>
      <p:sp>
        <p:nvSpPr>
          <p:cNvPr id="195" name="Google Shape;195;p8"/>
          <p:cNvSpPr/>
          <p:nvPr/>
        </p:nvSpPr>
        <p:spPr>
          <a:xfrm>
            <a:off x="5349240" y="3767328"/>
            <a:ext cx="324612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950"/>
              <a:buFont typeface="Arial"/>
              <a:buNone/>
            </a:pPr>
            <a:r>
              <a:rPr b="0" i="0" lang="en-US" sz="950" u="none" cap="none" strike="noStrike">
                <a:solidFill>
                  <a:srgbClr val="5A6A6F"/>
                </a:solidFill>
                <a:latin typeface="Arial"/>
                <a:ea typeface="Arial"/>
                <a:cs typeface="Arial"/>
                <a:sym typeface="Arial"/>
              </a:rPr>
              <a:t>Even if you've done training before, attendance is expected for newly elected reps. Flag it now if 14 October clashes with a shoot, a study day or a coursework deadline.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00" name="Shape 200"/>
        <p:cNvGrpSpPr/>
        <p:nvPr/>
      </p:nvGrpSpPr>
      <p:grpSpPr>
        <a:xfrm>
          <a:off x="0" y="0"/>
          <a:ext cx="0" cy="0"/>
          <a:chOff x="0" y="0"/>
          <a:chExt cx="0" cy="0"/>
        </a:xfrm>
      </p:grpSpPr>
      <p:sp>
        <p:nvSpPr>
          <p:cNvPr id="201" name="Google Shape;201;p9"/>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The Student Governor role</a:t>
            </a:r>
            <a:endParaRPr b="0" i="0" sz="2200" u="none" cap="none" strike="noStrike">
              <a:solidFill>
                <a:schemeClr val="dk1"/>
              </a:solidFill>
              <a:latin typeface="Calibri"/>
              <a:ea typeface="Calibri"/>
              <a:cs typeface="Calibri"/>
              <a:sym typeface="Calibri"/>
            </a:endParaRPr>
          </a:p>
        </p:txBody>
      </p:sp>
      <p:sp>
        <p:nvSpPr>
          <p:cNvPr id="202" name="Google Shape;202;p9"/>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The case for standing — if you're staying</a:t>
            </a:r>
            <a:endParaRPr b="0" i="0" sz="1100" u="none" cap="none" strike="noStrike">
              <a:solidFill>
                <a:schemeClr val="dk1"/>
              </a:solidFill>
              <a:latin typeface="Calibri"/>
              <a:ea typeface="Calibri"/>
              <a:cs typeface="Calibri"/>
              <a:sym typeface="Calibri"/>
            </a:endParaRPr>
          </a:p>
        </p:txBody>
      </p:sp>
      <p:sp>
        <p:nvSpPr>
          <p:cNvPr id="203" name="Google Shape;203;p9"/>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4" name="Google Shape;204;p9"/>
          <p:cNvSpPr/>
          <p:nvPr/>
        </p:nvSpPr>
        <p:spPr>
          <a:xfrm>
            <a:off x="7498080" y="109728"/>
            <a:ext cx="1508760" cy="292608"/>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p9"/>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TEACHER INPUT</a:t>
            </a:r>
            <a:endParaRPr b="0" i="0" sz="750" u="none" cap="none" strike="noStrike">
              <a:solidFill>
                <a:schemeClr val="dk1"/>
              </a:solidFill>
              <a:latin typeface="Calibri"/>
              <a:ea typeface="Calibri"/>
              <a:cs typeface="Calibri"/>
              <a:sym typeface="Calibri"/>
            </a:endParaRPr>
          </a:p>
        </p:txBody>
      </p:sp>
      <p:sp>
        <p:nvSpPr>
          <p:cNvPr id="206" name="Google Shape;206;p9"/>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A Level / Year 2 — Media, Film, Photography and Digital</a:t>
            </a:r>
            <a:endParaRPr b="0" i="0" sz="800" u="none" cap="none" strike="noStrike">
              <a:solidFill>
                <a:schemeClr val="dk1"/>
              </a:solidFill>
              <a:latin typeface="Calibri"/>
              <a:ea typeface="Calibri"/>
              <a:cs typeface="Calibri"/>
              <a:sym typeface="Calibri"/>
            </a:endParaRPr>
          </a:p>
        </p:txBody>
      </p:sp>
      <p:sp>
        <p:nvSpPr>
          <p:cNvPr id="207" name="Google Shape;207;p9"/>
          <p:cNvSpPr/>
          <p:nvPr/>
        </p:nvSpPr>
        <p:spPr>
          <a:xfrm>
            <a:off x="411480" y="1005840"/>
            <a:ext cx="4160520" cy="3429000"/>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08" name="Google Shape;208;p9"/>
          <p:cNvPicPr preferRelativeResize="0"/>
          <p:nvPr/>
        </p:nvPicPr>
        <p:blipFill rotWithShape="1">
          <a:blip r:embed="rId3">
            <a:alphaModFix/>
          </a:blip>
          <a:srcRect b="0" l="0" r="0" t="0"/>
          <a:stretch/>
        </p:blipFill>
        <p:spPr>
          <a:xfrm>
            <a:off x="594360" y="1097280"/>
            <a:ext cx="457200" cy="457200"/>
          </a:xfrm>
          <a:prstGeom prst="rect">
            <a:avLst/>
          </a:prstGeom>
          <a:noFill/>
          <a:ln>
            <a:noFill/>
          </a:ln>
        </p:spPr>
      </p:pic>
      <p:sp>
        <p:nvSpPr>
          <p:cNvPr id="209" name="Google Shape;209;p9"/>
          <p:cNvSpPr/>
          <p:nvPr/>
        </p:nvSpPr>
        <p:spPr>
          <a:xfrm>
            <a:off x="1143000" y="1097280"/>
            <a:ext cx="32461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F01"/>
              </a:buClr>
              <a:buSzPts val="1300"/>
              <a:buFont typeface="Arial"/>
              <a:buNone/>
            </a:pPr>
            <a:r>
              <a:rPr b="1" i="0" lang="en-US" sz="1300" u="none" cap="none" strike="noStrike">
                <a:solidFill>
                  <a:srgbClr val="FFCF01"/>
                </a:solidFill>
                <a:latin typeface="Arial"/>
                <a:ea typeface="Arial"/>
                <a:cs typeface="Arial"/>
                <a:sym typeface="Arial"/>
              </a:rPr>
              <a:t>What Student Governors do</a:t>
            </a:r>
            <a:endParaRPr b="0" i="0" sz="1300" u="none" cap="none" strike="noStrike">
              <a:solidFill>
                <a:schemeClr val="dk1"/>
              </a:solidFill>
              <a:latin typeface="Calibri"/>
              <a:ea typeface="Calibri"/>
              <a:cs typeface="Calibri"/>
              <a:sym typeface="Calibri"/>
            </a:endParaRPr>
          </a:p>
        </p:txBody>
      </p:sp>
      <p:sp>
        <p:nvSpPr>
          <p:cNvPr id="210" name="Google Shape;210;p9"/>
          <p:cNvSpPr/>
          <p:nvPr/>
        </p:nvSpPr>
        <p:spPr>
          <a:xfrm>
            <a:off x="594360" y="1664208"/>
            <a:ext cx="3749040" cy="214884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3 places on the Main Governing Board — strategic decisions about the whole college</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Represent authentic student experience — what carrying a production alongside UCAS actually costs</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Contribute to decisions on curriculum and budget — technician capacity, camera and darkroom provision, software licences</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Exceptional leadership experience — genuinely CV-worthy at this level</a:t>
            </a:r>
            <a:endParaRPr b="0" i="0" sz="1050" u="none" cap="none" strike="noStrike">
              <a:solidFill>
                <a:schemeClr val="dk1"/>
              </a:solidFill>
              <a:latin typeface="Calibri"/>
              <a:ea typeface="Calibri"/>
              <a:cs typeface="Calibri"/>
              <a:sym typeface="Calibri"/>
            </a:endParaRPr>
          </a:p>
        </p:txBody>
      </p:sp>
      <p:sp>
        <p:nvSpPr>
          <p:cNvPr id="211" name="Google Shape;211;p9"/>
          <p:cNvSpPr/>
          <p:nvPr/>
        </p:nvSpPr>
        <p:spPr>
          <a:xfrm>
            <a:off x="411480" y="3749040"/>
            <a:ext cx="4160520" cy="685800"/>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p9"/>
          <p:cNvSpPr/>
          <p:nvPr/>
        </p:nvSpPr>
        <p:spPr>
          <a:xfrm>
            <a:off x="594360" y="3749040"/>
            <a:ext cx="384048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1" lang="en-US" sz="1000" u="none" cap="none" strike="noStrike">
                <a:solidFill>
                  <a:srgbClr val="FFFFFF"/>
                </a:solidFill>
                <a:latin typeface="Arial"/>
                <a:ea typeface="Arial"/>
                <a:cs typeface="Arial"/>
                <a:sym typeface="Arial"/>
              </a:rPr>
              <a:t>Different from Student Rep — strategic scope, institutional weight</a:t>
            </a:r>
            <a:endParaRPr b="0" i="0" sz="1000" u="none" cap="none" strike="noStrike">
              <a:solidFill>
                <a:schemeClr val="dk1"/>
              </a:solidFill>
              <a:latin typeface="Calibri"/>
              <a:ea typeface="Calibri"/>
              <a:cs typeface="Calibri"/>
              <a:sym typeface="Calibri"/>
            </a:endParaRPr>
          </a:p>
        </p:txBody>
      </p:sp>
      <p:sp>
        <p:nvSpPr>
          <p:cNvPr id="213" name="Google Shape;213;p9"/>
          <p:cNvSpPr/>
          <p:nvPr/>
        </p:nvSpPr>
        <p:spPr>
          <a:xfrm>
            <a:off x="4754880" y="1005840"/>
            <a:ext cx="39776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Who can apply</a:t>
            </a:r>
            <a:endParaRPr b="0" i="0" sz="1300" u="none" cap="none" strike="noStrike">
              <a:solidFill>
                <a:schemeClr val="dk1"/>
              </a:solidFill>
              <a:latin typeface="Calibri"/>
              <a:ea typeface="Calibri"/>
              <a:cs typeface="Calibri"/>
              <a:sym typeface="Calibri"/>
            </a:endParaRPr>
          </a:p>
        </p:txBody>
      </p:sp>
      <p:sp>
        <p:nvSpPr>
          <p:cNvPr id="214" name="Google Shape;214;p9"/>
          <p:cNvSpPr/>
          <p:nvPr/>
        </p:nvSpPr>
        <p:spPr>
          <a:xfrm>
            <a:off x="4754880" y="1417320"/>
            <a:ext cx="3977640" cy="15544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B2A30"/>
              </a:buClr>
              <a:buSzPts val="1050"/>
              <a:buFont typeface="Arial"/>
              <a:buChar char="•"/>
            </a:pPr>
            <a:r>
              <a:rPr b="0" i="0" lang="en-US" sz="1050" u="none" cap="none" strike="noStrike">
                <a:solidFill>
                  <a:srgbClr val="1B2A30"/>
                </a:solidFill>
                <a:latin typeface="Arial"/>
                <a:ea typeface="Arial"/>
                <a:cs typeface="Arial"/>
                <a:sym typeface="Arial"/>
              </a:rPr>
              <a:t>Full-time students and apprentices (part-time considered)</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1B2A30"/>
              </a:buClr>
              <a:buSzPts val="1050"/>
              <a:buFont typeface="Arial"/>
              <a:buChar char="•"/>
            </a:pPr>
            <a:r>
              <a:rPr b="0" i="0" lang="en-US" sz="1050" u="none" cap="none" strike="noStrike">
                <a:solidFill>
                  <a:srgbClr val="1B2A30"/>
                </a:solidFill>
                <a:latin typeface="Arial"/>
                <a:ea typeface="Arial"/>
                <a:cs typeface="Arial"/>
                <a:sym typeface="Arial"/>
              </a:rPr>
              <a:t>Planning to study at ESCG for at least one more year — Level 3 students progressing here qualify</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1B2A30"/>
              </a:buClr>
              <a:buSzPts val="1050"/>
              <a:buFont typeface="Arial"/>
              <a:buChar char="•"/>
            </a:pPr>
            <a:r>
              <a:rPr b="0" i="0" lang="en-US" sz="1050" u="none" cap="none" strike="noStrike">
                <a:solidFill>
                  <a:srgbClr val="1B2A30"/>
                </a:solidFill>
                <a:latin typeface="Arial"/>
                <a:ea typeface="Arial"/>
                <a:cs typeface="Arial"/>
                <a:sym typeface="Arial"/>
              </a:rPr>
              <a:t>Enthusiastic about sharing opinions on how the college is run</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1B2A30"/>
              </a:buClr>
              <a:buSzPts val="1050"/>
              <a:buFont typeface="Arial"/>
              <a:buChar char="•"/>
            </a:pPr>
            <a:r>
              <a:rPr b="0" i="0" lang="en-US" sz="1050" u="none" cap="none" strike="noStrike">
                <a:solidFill>
                  <a:srgbClr val="1B2A30"/>
                </a:solidFill>
                <a:latin typeface="Arial"/>
                <a:ea typeface="Arial"/>
                <a:cs typeface="Arial"/>
                <a:sym typeface="Arial"/>
              </a:rPr>
              <a:t>Willing to act as a link between the Board and the student body</a:t>
            </a:r>
            <a:endParaRPr b="0" i="0" sz="1050" u="none" cap="none" strike="noStrike">
              <a:solidFill>
                <a:schemeClr val="dk1"/>
              </a:solidFill>
              <a:latin typeface="Calibri"/>
              <a:ea typeface="Calibri"/>
              <a:cs typeface="Calibri"/>
              <a:sym typeface="Calibri"/>
            </a:endParaRPr>
          </a:p>
        </p:txBody>
      </p:sp>
      <p:sp>
        <p:nvSpPr>
          <p:cNvPr id="215" name="Google Shape;215;p9"/>
          <p:cNvSpPr/>
          <p:nvPr/>
        </p:nvSpPr>
        <p:spPr>
          <a:xfrm>
            <a:off x="4754880" y="3063240"/>
            <a:ext cx="3977640" cy="841248"/>
          </a:xfrm>
          <a:prstGeom prst="rect">
            <a:avLst/>
          </a:prstGeom>
          <a:solidFill>
            <a:srgbClr val="F8E7E3"/>
          </a:solidFill>
          <a:ln cap="flat" cmpd="sng" w="1270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6" name="Google Shape;216;p9"/>
          <p:cNvSpPr/>
          <p:nvPr/>
        </p:nvSpPr>
        <p:spPr>
          <a:xfrm>
            <a:off x="4892040" y="3081528"/>
            <a:ext cx="3703320" cy="8046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23A2E"/>
              </a:buClr>
              <a:buSzPts val="900"/>
              <a:buFont typeface="Arial"/>
              <a:buNone/>
            </a:pPr>
            <a:r>
              <a:rPr b="0" i="0" lang="en-US" sz="900" u="none" cap="none" strike="noStrike">
                <a:solidFill>
                  <a:srgbClr val="B23A2E"/>
                </a:solidFill>
                <a:latin typeface="Arial"/>
                <a:ea typeface="Arial"/>
                <a:cs typeface="Arial"/>
                <a:sym typeface="Arial"/>
              </a:rPr>
              <a:t>A-level Year 2: if you are not continuing at ESCG after this year, you will not be eligible to serve a full Governor term. Speak to your Student Enrichment Co-ordinator before applying.</a:t>
            </a:r>
            <a:endParaRPr b="0" i="0" sz="900" u="none" cap="none" strike="noStrike">
              <a:solidFill>
                <a:schemeClr val="dk1"/>
              </a:solidFill>
              <a:latin typeface="Calibri"/>
              <a:ea typeface="Calibri"/>
              <a:cs typeface="Calibri"/>
              <a:sym typeface="Calibri"/>
            </a:endParaRPr>
          </a:p>
        </p:txBody>
      </p:sp>
      <p:sp>
        <p:nvSpPr>
          <p:cNvPr id="217" name="Google Shape;217;p9"/>
          <p:cNvSpPr/>
          <p:nvPr/>
        </p:nvSpPr>
        <p:spPr>
          <a:xfrm>
            <a:off x="4754880" y="3995928"/>
            <a:ext cx="3977640" cy="594360"/>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18" name="Google Shape;218;p9"/>
          <p:cNvPicPr preferRelativeResize="0"/>
          <p:nvPr/>
        </p:nvPicPr>
        <p:blipFill rotWithShape="1">
          <a:blip r:embed="rId4">
            <a:alphaModFix/>
          </a:blip>
          <a:srcRect b="0" l="0" r="0" t="0"/>
          <a:stretch/>
        </p:blipFill>
        <p:spPr>
          <a:xfrm>
            <a:off x="4892040" y="4069080"/>
            <a:ext cx="347472" cy="347472"/>
          </a:xfrm>
          <a:prstGeom prst="rect">
            <a:avLst/>
          </a:prstGeom>
          <a:noFill/>
          <a:ln>
            <a:noFill/>
          </a:ln>
        </p:spPr>
      </p:pic>
      <p:sp>
        <p:nvSpPr>
          <p:cNvPr id="219" name="Google Shape;219;p9"/>
          <p:cNvSpPr/>
          <p:nvPr/>
        </p:nvSpPr>
        <p:spPr>
          <a:xfrm>
            <a:off x="5321808" y="4041648"/>
            <a:ext cx="324612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000"/>
              <a:buFont typeface="Arial"/>
              <a:buNone/>
            </a:pPr>
            <a:r>
              <a:rPr b="0" i="0" lang="en-US" sz="1000" u="none" cap="none" strike="noStrike">
                <a:solidFill>
                  <a:srgbClr val="0D2434"/>
                </a:solidFill>
                <a:latin typeface="Arial"/>
                <a:ea typeface="Arial"/>
                <a:cs typeface="Arial"/>
                <a:sym typeface="Arial"/>
              </a:rPr>
              <a:t>Applications close at midday on Friday 16 October — the next three slides show the process.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23" name="Shape 223"/>
        <p:cNvGrpSpPr/>
        <p:nvPr/>
      </p:nvGrpSpPr>
      <p:grpSpPr>
        <a:xfrm>
          <a:off x="0" y="0"/>
          <a:ext cx="0" cy="0"/>
          <a:chOff x="0" y="0"/>
          <a:chExt cx="0" cy="0"/>
        </a:xfrm>
      </p:grpSpPr>
      <p:sp>
        <p:nvSpPr>
          <p:cNvPr id="224" name="Google Shape;224;p10"/>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What the Board does — and where a Governor sits</a:t>
            </a:r>
            <a:endParaRPr b="0" i="0" sz="2200" u="none" cap="none" strike="noStrike">
              <a:solidFill>
                <a:schemeClr val="dk1"/>
              </a:solidFill>
              <a:latin typeface="Calibri"/>
              <a:ea typeface="Calibri"/>
              <a:cs typeface="Calibri"/>
              <a:sym typeface="Calibri"/>
            </a:endParaRPr>
          </a:p>
        </p:txBody>
      </p:sp>
      <p:sp>
        <p:nvSpPr>
          <p:cNvPr id="225" name="Google Shape;225;p10"/>
          <p:cNvSpPr/>
          <p:nvPr/>
        </p:nvSpPr>
        <p:spPr>
          <a:xfrm>
            <a:off x="411480" y="621792"/>
            <a:ext cx="83210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Strategic governance, not day-to-day management</a:t>
            </a:r>
            <a:endParaRPr b="0" i="0" sz="1100" u="none" cap="none" strike="noStrike">
              <a:solidFill>
                <a:schemeClr val="dk1"/>
              </a:solidFill>
              <a:latin typeface="Calibri"/>
              <a:ea typeface="Calibri"/>
              <a:cs typeface="Calibri"/>
              <a:sym typeface="Calibri"/>
            </a:endParaRPr>
          </a:p>
        </p:txBody>
      </p:sp>
      <p:sp>
        <p:nvSpPr>
          <p:cNvPr id="226" name="Google Shape;226;p10"/>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7" name="Google Shape;227;p10"/>
          <p:cNvSpPr/>
          <p:nvPr/>
        </p:nvSpPr>
        <p:spPr>
          <a:xfrm>
            <a:off x="7498080" y="109728"/>
            <a:ext cx="1508760" cy="292608"/>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8" name="Google Shape;228;p10"/>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TEACHER INPUT</a:t>
            </a:r>
            <a:endParaRPr b="0" i="0" sz="750" u="none" cap="none" strike="noStrike">
              <a:solidFill>
                <a:schemeClr val="dk1"/>
              </a:solidFill>
              <a:latin typeface="Calibri"/>
              <a:ea typeface="Calibri"/>
              <a:cs typeface="Calibri"/>
              <a:sym typeface="Calibri"/>
            </a:endParaRPr>
          </a:p>
        </p:txBody>
      </p:sp>
      <p:sp>
        <p:nvSpPr>
          <p:cNvPr id="229" name="Google Shape;229;p10"/>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A Level / Year 2 — Media, Film, Photography and Digital</a:t>
            </a:r>
            <a:endParaRPr b="0" i="0" sz="800" u="none" cap="none" strike="noStrike">
              <a:solidFill>
                <a:schemeClr val="dk1"/>
              </a:solidFill>
              <a:latin typeface="Calibri"/>
              <a:ea typeface="Calibri"/>
              <a:cs typeface="Calibri"/>
              <a:sym typeface="Calibri"/>
            </a:endParaRPr>
          </a:p>
        </p:txBody>
      </p:sp>
      <p:sp>
        <p:nvSpPr>
          <p:cNvPr id="230" name="Google Shape;230;p10"/>
          <p:cNvSpPr/>
          <p:nvPr/>
        </p:nvSpPr>
        <p:spPr>
          <a:xfrm>
            <a:off x="411480" y="1005840"/>
            <a:ext cx="4160520" cy="3429000"/>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31" name="Google Shape;231;p10"/>
          <p:cNvPicPr preferRelativeResize="0"/>
          <p:nvPr/>
        </p:nvPicPr>
        <p:blipFill rotWithShape="1">
          <a:blip r:embed="rId3">
            <a:alphaModFix/>
          </a:blip>
          <a:srcRect b="0" l="0" r="0" t="0"/>
          <a:stretch/>
        </p:blipFill>
        <p:spPr>
          <a:xfrm>
            <a:off x="594360" y="1097280"/>
            <a:ext cx="457200" cy="457200"/>
          </a:xfrm>
          <a:prstGeom prst="rect">
            <a:avLst/>
          </a:prstGeom>
          <a:noFill/>
          <a:ln>
            <a:noFill/>
          </a:ln>
        </p:spPr>
      </p:pic>
      <p:sp>
        <p:nvSpPr>
          <p:cNvPr id="232" name="Google Shape;232;p10"/>
          <p:cNvSpPr/>
          <p:nvPr/>
        </p:nvSpPr>
        <p:spPr>
          <a:xfrm>
            <a:off x="1143000" y="1097280"/>
            <a:ext cx="32461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F01"/>
              </a:buClr>
              <a:buSzPts val="1300"/>
              <a:buFont typeface="Arial"/>
              <a:buNone/>
            </a:pPr>
            <a:r>
              <a:rPr b="1" i="0" lang="en-US" sz="1300" u="none" cap="none" strike="noStrike">
                <a:solidFill>
                  <a:srgbClr val="FFCF01"/>
                </a:solidFill>
                <a:latin typeface="Arial"/>
                <a:ea typeface="Arial"/>
                <a:cs typeface="Arial"/>
                <a:sym typeface="Arial"/>
              </a:rPr>
              <a:t>What the Board is responsible for</a:t>
            </a:r>
            <a:endParaRPr b="0" i="0" sz="1300" u="none" cap="none" strike="noStrike">
              <a:solidFill>
                <a:schemeClr val="dk1"/>
              </a:solidFill>
              <a:latin typeface="Calibri"/>
              <a:ea typeface="Calibri"/>
              <a:cs typeface="Calibri"/>
              <a:sym typeface="Calibri"/>
            </a:endParaRPr>
          </a:p>
        </p:txBody>
      </p:sp>
      <p:sp>
        <p:nvSpPr>
          <p:cNvPr id="233" name="Google Shape;233;p10"/>
          <p:cNvSpPr/>
          <p:nvPr/>
        </p:nvSpPr>
        <p:spPr>
          <a:xfrm>
            <a:off x="594360" y="1664208"/>
            <a:ext cx="3749040" cy="214884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Setting the strategic direction of the College</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Monitoring performance and quality</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Overseeing finances, estates and resources — studios, darkrooms, cameras, edit suites and technician capacity</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Ensuring students receive an excellent experience</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FFFFFF"/>
              </a:buClr>
              <a:buSzPts val="1050"/>
              <a:buFont typeface="Arial"/>
              <a:buChar char="•"/>
            </a:pPr>
            <a:r>
              <a:rPr b="0" i="0" lang="en-US" sz="1050" u="none" cap="none" strike="noStrike">
                <a:solidFill>
                  <a:srgbClr val="FFFFFF"/>
                </a:solidFill>
                <a:latin typeface="Arial"/>
                <a:ea typeface="Arial"/>
                <a:cs typeface="Arial"/>
                <a:sym typeface="Arial"/>
              </a:rPr>
              <a:t>Holding senior leaders to account</a:t>
            </a:r>
            <a:endParaRPr b="0" i="0" sz="1050" u="none" cap="none" strike="noStrike">
              <a:solidFill>
                <a:schemeClr val="dk1"/>
              </a:solidFill>
              <a:latin typeface="Calibri"/>
              <a:ea typeface="Calibri"/>
              <a:cs typeface="Calibri"/>
              <a:sym typeface="Calibri"/>
            </a:endParaRPr>
          </a:p>
        </p:txBody>
      </p:sp>
      <p:sp>
        <p:nvSpPr>
          <p:cNvPr id="234" name="Google Shape;234;p10"/>
          <p:cNvSpPr/>
          <p:nvPr/>
        </p:nvSpPr>
        <p:spPr>
          <a:xfrm>
            <a:off x="411480" y="3749040"/>
            <a:ext cx="4160520" cy="685800"/>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5" name="Google Shape;235;p10"/>
          <p:cNvSpPr/>
          <p:nvPr/>
        </p:nvSpPr>
        <p:spPr>
          <a:xfrm>
            <a:off x="594360" y="3749040"/>
            <a:ext cx="384048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1" lang="en-US" sz="1000" u="none" cap="none" strike="noStrike">
                <a:solidFill>
                  <a:srgbClr val="FFFFFF"/>
                </a:solidFill>
                <a:latin typeface="Arial"/>
                <a:ea typeface="Arial"/>
                <a:cs typeface="Arial"/>
                <a:sym typeface="Arial"/>
              </a:rPr>
              <a:t>Governors do not manage the day-to-day running of the College.</a:t>
            </a:r>
            <a:endParaRPr b="0" i="0" sz="1000" u="none" cap="none" strike="noStrike">
              <a:solidFill>
                <a:schemeClr val="dk1"/>
              </a:solidFill>
              <a:latin typeface="Calibri"/>
              <a:ea typeface="Calibri"/>
              <a:cs typeface="Calibri"/>
              <a:sym typeface="Calibri"/>
            </a:endParaRPr>
          </a:p>
        </p:txBody>
      </p:sp>
      <p:sp>
        <p:nvSpPr>
          <p:cNvPr id="236" name="Google Shape;236;p10"/>
          <p:cNvSpPr/>
          <p:nvPr/>
        </p:nvSpPr>
        <p:spPr>
          <a:xfrm>
            <a:off x="4754880" y="1005840"/>
            <a:ext cx="39776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Where a Student Governor sits</a:t>
            </a:r>
            <a:endParaRPr b="0" i="0" sz="1300" u="none" cap="none" strike="noStrike">
              <a:solidFill>
                <a:schemeClr val="dk1"/>
              </a:solidFill>
              <a:latin typeface="Calibri"/>
              <a:ea typeface="Calibri"/>
              <a:cs typeface="Calibri"/>
              <a:sym typeface="Calibri"/>
            </a:endParaRPr>
          </a:p>
        </p:txBody>
      </p:sp>
      <p:sp>
        <p:nvSpPr>
          <p:cNvPr id="237" name="Google Shape;237;p10"/>
          <p:cNvSpPr/>
          <p:nvPr/>
        </p:nvSpPr>
        <p:spPr>
          <a:xfrm>
            <a:off x="4754880" y="1417320"/>
            <a:ext cx="3977640" cy="15544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B2A30"/>
              </a:buClr>
              <a:buSzPts val="1050"/>
              <a:buFont typeface="Arial"/>
              <a:buChar char="•"/>
            </a:pPr>
            <a:r>
              <a:rPr b="0" i="0" lang="en-US" sz="1050" u="none" cap="none" strike="noStrike">
                <a:solidFill>
                  <a:srgbClr val="1B2A30"/>
                </a:solidFill>
                <a:latin typeface="Arial"/>
                <a:ea typeface="Arial"/>
                <a:cs typeface="Arial"/>
                <a:sym typeface="Arial"/>
              </a:rPr>
              <a:t>Brings the student perspective into Board discussion — such as how assessment load stacks up across Year 2</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1B2A30"/>
              </a:buClr>
              <a:buSzPts val="1050"/>
              <a:buFont typeface="Arial"/>
              <a:buChar char="•"/>
            </a:pPr>
            <a:r>
              <a:rPr b="0" i="0" lang="en-US" sz="1050" u="none" cap="none" strike="noStrike">
                <a:solidFill>
                  <a:srgbClr val="1B2A30"/>
                </a:solidFill>
                <a:latin typeface="Arial"/>
                <a:ea typeface="Arial"/>
                <a:cs typeface="Arial"/>
                <a:sym typeface="Arial"/>
              </a:rPr>
              <a:t>Helps Governors understand lived student experience</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1B2A30"/>
              </a:buClr>
              <a:buSzPts val="1050"/>
              <a:buFont typeface="Arial"/>
              <a:buChar char="•"/>
            </a:pPr>
            <a:r>
              <a:rPr b="0" i="0" lang="en-US" sz="1050" u="none" cap="none" strike="noStrike">
                <a:solidFill>
                  <a:srgbClr val="1B2A30"/>
                </a:solidFill>
                <a:latin typeface="Arial"/>
                <a:ea typeface="Arial"/>
                <a:cs typeface="Arial"/>
                <a:sym typeface="Arial"/>
              </a:rPr>
              <a:t>Asks questions and offers constructive challenge</a:t>
            </a:r>
            <a:endParaRPr b="0" i="0" sz="105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1B2A30"/>
              </a:buClr>
              <a:buSzPts val="1050"/>
              <a:buFont typeface="Arial"/>
              <a:buChar char="•"/>
            </a:pPr>
            <a:r>
              <a:rPr b="0" i="0" lang="en-US" sz="1050" u="none" cap="none" strike="noStrike">
                <a:solidFill>
                  <a:srgbClr val="1B2A30"/>
                </a:solidFill>
                <a:latin typeface="Arial"/>
                <a:ea typeface="Arial"/>
                <a:cs typeface="Arial"/>
                <a:sym typeface="Arial"/>
              </a:rPr>
              <a:t>Acts in the interests of the whole College community</a:t>
            </a:r>
            <a:endParaRPr b="0" i="0" sz="1050" u="none" cap="none" strike="noStrike">
              <a:solidFill>
                <a:schemeClr val="dk1"/>
              </a:solidFill>
              <a:latin typeface="Calibri"/>
              <a:ea typeface="Calibri"/>
              <a:cs typeface="Calibri"/>
              <a:sym typeface="Calibri"/>
            </a:endParaRPr>
          </a:p>
        </p:txBody>
      </p:sp>
      <p:sp>
        <p:nvSpPr>
          <p:cNvPr id="238" name="Google Shape;238;p10"/>
          <p:cNvSpPr/>
          <p:nvPr/>
        </p:nvSpPr>
        <p:spPr>
          <a:xfrm>
            <a:off x="4754880" y="3063240"/>
            <a:ext cx="3977640" cy="841248"/>
          </a:xfrm>
          <a:prstGeom prst="rect">
            <a:avLst/>
          </a:prstGeom>
          <a:solidFill>
            <a:srgbClr val="F8E7E3"/>
          </a:solidFill>
          <a:ln cap="flat" cmpd="sng" w="1270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9" name="Google Shape;239;p10"/>
          <p:cNvSpPr/>
          <p:nvPr/>
        </p:nvSpPr>
        <p:spPr>
          <a:xfrm>
            <a:off x="4892040" y="3081528"/>
            <a:ext cx="3703320" cy="8046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23A2E"/>
              </a:buClr>
              <a:buSzPts val="900"/>
              <a:buFont typeface="Arial"/>
              <a:buNone/>
            </a:pPr>
            <a:r>
              <a:rPr b="0" i="0" lang="en-US" sz="900" u="none" cap="none" strike="noStrike">
                <a:solidFill>
                  <a:srgbClr val="B23A2E"/>
                </a:solidFill>
                <a:latin typeface="Arial"/>
                <a:ea typeface="Arial"/>
                <a:cs typeface="Arial"/>
                <a:sym typeface="Arial"/>
              </a:rPr>
              <a:t>Student Governors provide a student perspective — they are not elected to represent a course, campus or student group. That is the Student Rep's role.</a:t>
            </a:r>
            <a:endParaRPr b="0" i="0" sz="900" u="none" cap="none" strike="noStrike">
              <a:solidFill>
                <a:schemeClr val="dk1"/>
              </a:solidFill>
              <a:latin typeface="Calibri"/>
              <a:ea typeface="Calibri"/>
              <a:cs typeface="Calibri"/>
              <a:sym typeface="Calibri"/>
            </a:endParaRPr>
          </a:p>
        </p:txBody>
      </p:sp>
      <p:sp>
        <p:nvSpPr>
          <p:cNvPr id="240" name="Google Shape;240;p10"/>
          <p:cNvSpPr/>
          <p:nvPr/>
        </p:nvSpPr>
        <p:spPr>
          <a:xfrm>
            <a:off x="4754880" y="3995928"/>
            <a:ext cx="3977640" cy="822960"/>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41" name="Google Shape;241;p10"/>
          <p:cNvPicPr preferRelativeResize="0"/>
          <p:nvPr/>
        </p:nvPicPr>
        <p:blipFill rotWithShape="1">
          <a:blip r:embed="rId4">
            <a:alphaModFix/>
          </a:blip>
          <a:srcRect b="0" l="0" r="0" t="0"/>
          <a:stretch/>
        </p:blipFill>
        <p:spPr>
          <a:xfrm>
            <a:off x="4892040" y="4069080"/>
            <a:ext cx="347472" cy="347472"/>
          </a:xfrm>
          <a:prstGeom prst="rect">
            <a:avLst/>
          </a:prstGeom>
          <a:noFill/>
          <a:ln>
            <a:noFill/>
          </a:ln>
        </p:spPr>
      </p:pic>
      <p:sp>
        <p:nvSpPr>
          <p:cNvPr id="242" name="Google Shape;242;p10"/>
          <p:cNvSpPr/>
          <p:nvPr/>
        </p:nvSpPr>
        <p:spPr>
          <a:xfrm>
            <a:off x="5321808" y="4041648"/>
            <a:ext cx="324612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000"/>
              <a:buFont typeface="Arial"/>
              <a:buNone/>
            </a:pPr>
            <a:r>
              <a:rPr b="0" i="0" lang="en-US" sz="1000" u="none" cap="none" strike="noStrike">
                <a:solidFill>
                  <a:srgbClr val="0D2434"/>
                </a:solidFill>
                <a:latin typeface="Arial"/>
                <a:ea typeface="Arial"/>
                <a:cs typeface="Arial"/>
                <a:sym typeface="Arial"/>
              </a:rPr>
              <a:t>Three places: Eastbourne, Hastings &amp; Ore Valley, Lewes &amp; Newhaven. Open to FE, HE and Adult Learning students.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46" name="Shape 246"/>
        <p:cNvGrpSpPr/>
        <p:nvPr/>
      </p:nvGrpSpPr>
      <p:grpSpPr>
        <a:xfrm>
          <a:off x="0" y="0"/>
          <a:ext cx="0" cy="0"/>
          <a:chOff x="0" y="0"/>
          <a:chExt cx="0" cy="0"/>
        </a:xfrm>
      </p:grpSpPr>
      <p:sp>
        <p:nvSpPr>
          <p:cNvPr id="247" name="Google Shape;247;p11"/>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What it takes — and what you get</a:t>
            </a:r>
            <a:endParaRPr b="0" i="0" sz="2200" u="none" cap="none" strike="noStrike">
              <a:solidFill>
                <a:schemeClr val="dk1"/>
              </a:solidFill>
              <a:latin typeface="Calibri"/>
              <a:ea typeface="Calibri"/>
              <a:cs typeface="Calibri"/>
              <a:sym typeface="Calibri"/>
            </a:endParaRPr>
          </a:p>
        </p:txBody>
      </p:sp>
      <p:sp>
        <p:nvSpPr>
          <p:cNvPr id="248" name="Google Shape;248;p11"/>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Roughly 3–5 hours a month, across the academic year</a:t>
            </a:r>
            <a:endParaRPr b="0" i="0" sz="1100" u="none" cap="none" strike="noStrike">
              <a:solidFill>
                <a:schemeClr val="dk1"/>
              </a:solidFill>
              <a:latin typeface="Calibri"/>
              <a:ea typeface="Calibri"/>
              <a:cs typeface="Calibri"/>
              <a:sym typeface="Calibri"/>
            </a:endParaRPr>
          </a:p>
        </p:txBody>
      </p:sp>
      <p:sp>
        <p:nvSpPr>
          <p:cNvPr id="249" name="Google Shape;249;p11"/>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0" name="Google Shape;250;p11"/>
          <p:cNvSpPr/>
          <p:nvPr/>
        </p:nvSpPr>
        <p:spPr>
          <a:xfrm>
            <a:off x="7498080" y="109728"/>
            <a:ext cx="1508760" cy="292608"/>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1" name="Google Shape;251;p11"/>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TEACHER INPUT</a:t>
            </a:r>
            <a:endParaRPr b="0" i="0" sz="750" u="none" cap="none" strike="noStrike">
              <a:solidFill>
                <a:schemeClr val="dk1"/>
              </a:solidFill>
              <a:latin typeface="Calibri"/>
              <a:ea typeface="Calibri"/>
              <a:cs typeface="Calibri"/>
              <a:sym typeface="Calibri"/>
            </a:endParaRPr>
          </a:p>
        </p:txBody>
      </p:sp>
      <p:sp>
        <p:nvSpPr>
          <p:cNvPr id="252" name="Google Shape;252;p11"/>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A Level / Year 2 — Media, Film, Photography and Digital</a:t>
            </a:r>
            <a:endParaRPr b="0" i="0" sz="800" u="none" cap="none" strike="noStrike">
              <a:solidFill>
                <a:schemeClr val="dk1"/>
              </a:solidFill>
              <a:latin typeface="Calibri"/>
              <a:ea typeface="Calibri"/>
              <a:cs typeface="Calibri"/>
              <a:sym typeface="Calibri"/>
            </a:endParaRPr>
          </a:p>
        </p:txBody>
      </p:sp>
      <p:sp>
        <p:nvSpPr>
          <p:cNvPr id="253" name="Google Shape;253;p11"/>
          <p:cNvSpPr/>
          <p:nvPr/>
        </p:nvSpPr>
        <p:spPr>
          <a:xfrm>
            <a:off x="411480" y="1005840"/>
            <a:ext cx="4069080" cy="1801368"/>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12700">
              <a:srgbClr val="000000">
                <a:alpha val="902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54" name="Google Shape;254;p11"/>
          <p:cNvCxnSpPr/>
          <p:nvPr/>
        </p:nvCxnSpPr>
        <p:spPr>
          <a:xfrm>
            <a:off x="548640" y="1170432"/>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pic>
        <p:nvPicPr>
          <p:cNvPr descr="preencoded.png" id="255" name="Google Shape;255;p11"/>
          <p:cNvPicPr preferRelativeResize="0"/>
          <p:nvPr/>
        </p:nvPicPr>
        <p:blipFill rotWithShape="1">
          <a:blip r:embed="rId3">
            <a:alphaModFix/>
          </a:blip>
          <a:srcRect b="0" l="0" r="0" t="0"/>
          <a:stretch/>
        </p:blipFill>
        <p:spPr>
          <a:xfrm>
            <a:off x="566928" y="1188720"/>
            <a:ext cx="438912" cy="438912"/>
          </a:xfrm>
          <a:prstGeom prst="rect">
            <a:avLst/>
          </a:prstGeom>
          <a:noFill/>
          <a:ln>
            <a:noFill/>
          </a:ln>
        </p:spPr>
      </p:pic>
      <p:sp>
        <p:nvSpPr>
          <p:cNvPr id="256" name="Google Shape;256;p11"/>
          <p:cNvSpPr/>
          <p:nvPr/>
        </p:nvSpPr>
        <p:spPr>
          <a:xfrm>
            <a:off x="3154680" y="1170432"/>
            <a:ext cx="1188720" cy="256032"/>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7" name="Google Shape;257;p11"/>
          <p:cNvSpPr/>
          <p:nvPr/>
        </p:nvSpPr>
        <p:spPr>
          <a:xfrm>
            <a:off x="3154680" y="1170432"/>
            <a:ext cx="11887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A54"/>
              </a:buClr>
              <a:buSzPts val="800"/>
              <a:buFont typeface="Arial"/>
              <a:buNone/>
            </a:pPr>
            <a:r>
              <a:rPr b="1" i="0" lang="en-US" sz="800" u="none" cap="none" strike="noStrike">
                <a:solidFill>
                  <a:srgbClr val="0F7A54"/>
                </a:solidFill>
                <a:latin typeface="Arial"/>
                <a:ea typeface="Arial"/>
                <a:cs typeface="Arial"/>
                <a:sym typeface="Arial"/>
              </a:rPr>
              <a:t>3–5 hrs/month</a:t>
            </a:r>
            <a:endParaRPr b="0" i="0" sz="800" u="none" cap="none" strike="noStrike">
              <a:solidFill>
                <a:schemeClr val="dk1"/>
              </a:solidFill>
              <a:latin typeface="Calibri"/>
              <a:ea typeface="Calibri"/>
              <a:cs typeface="Calibri"/>
              <a:sym typeface="Calibri"/>
            </a:endParaRPr>
          </a:p>
        </p:txBody>
      </p:sp>
      <p:sp>
        <p:nvSpPr>
          <p:cNvPr id="258" name="Google Shape;258;p11"/>
          <p:cNvSpPr/>
          <p:nvPr/>
        </p:nvSpPr>
        <p:spPr>
          <a:xfrm>
            <a:off x="1161288" y="1170432"/>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The commitment</a:t>
            </a:r>
            <a:endParaRPr b="0" i="0" sz="1200" u="none" cap="none" strike="noStrike">
              <a:solidFill>
                <a:schemeClr val="dk1"/>
              </a:solidFill>
              <a:latin typeface="Calibri"/>
              <a:ea typeface="Calibri"/>
              <a:cs typeface="Calibri"/>
              <a:sym typeface="Calibri"/>
            </a:endParaRPr>
          </a:p>
        </p:txBody>
      </p:sp>
      <p:sp>
        <p:nvSpPr>
          <p:cNvPr id="259" name="Google Shape;259;p11"/>
          <p:cNvSpPr/>
          <p:nvPr/>
        </p:nvSpPr>
        <p:spPr>
          <a:xfrm>
            <a:off x="548640" y="1719072"/>
            <a:ext cx="3794760"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4 Board meetings a year (2–3 hours each), around 3 committee meetings, 2 strategy days, plus reading papers in advance. It has to fit around UCAS deadlines, mock season and coursework moderation.</a:t>
            </a:r>
            <a:endParaRPr b="0" i="0" sz="1050" u="none" cap="none" strike="noStrike">
              <a:solidFill>
                <a:schemeClr val="dk1"/>
              </a:solidFill>
              <a:latin typeface="Calibri"/>
              <a:ea typeface="Calibri"/>
              <a:cs typeface="Calibri"/>
              <a:sym typeface="Calibri"/>
            </a:endParaRPr>
          </a:p>
        </p:txBody>
      </p:sp>
      <p:sp>
        <p:nvSpPr>
          <p:cNvPr id="260" name="Google Shape;260;p11"/>
          <p:cNvSpPr/>
          <p:nvPr/>
        </p:nvSpPr>
        <p:spPr>
          <a:xfrm>
            <a:off x="4709160" y="1005840"/>
            <a:ext cx="4069080" cy="1801368"/>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12700">
              <a:srgbClr val="000000">
                <a:alpha val="902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61" name="Google Shape;261;p11"/>
          <p:cNvCxnSpPr/>
          <p:nvPr/>
        </p:nvCxnSpPr>
        <p:spPr>
          <a:xfrm>
            <a:off x="4846320" y="1170432"/>
            <a:ext cx="475488" cy="475488"/>
          </a:xfrm>
          <a:prstGeom prst="straightConnector1">
            <a:avLst/>
          </a:prstGeom>
          <a:solidFill>
            <a:srgbClr val="0D2434"/>
          </a:solidFill>
          <a:ln cap="flat" cmpd="sng" w="12700">
            <a:solidFill>
              <a:srgbClr val="0D2434"/>
            </a:solidFill>
            <a:prstDash val="solid"/>
            <a:round/>
            <a:headEnd len="sm" w="sm" type="none"/>
            <a:tailEnd len="sm" w="sm" type="none"/>
          </a:ln>
        </p:spPr>
      </p:cxnSp>
      <p:pic>
        <p:nvPicPr>
          <p:cNvPr descr="preencoded.png" id="262" name="Google Shape;262;p11"/>
          <p:cNvPicPr preferRelativeResize="0"/>
          <p:nvPr/>
        </p:nvPicPr>
        <p:blipFill rotWithShape="1">
          <a:blip r:embed="rId4">
            <a:alphaModFix/>
          </a:blip>
          <a:srcRect b="0" l="0" r="0" t="0"/>
          <a:stretch/>
        </p:blipFill>
        <p:spPr>
          <a:xfrm>
            <a:off x="4864608" y="1188720"/>
            <a:ext cx="438912" cy="438912"/>
          </a:xfrm>
          <a:prstGeom prst="rect">
            <a:avLst/>
          </a:prstGeom>
          <a:noFill/>
          <a:ln>
            <a:noFill/>
          </a:ln>
        </p:spPr>
      </p:pic>
      <p:sp>
        <p:nvSpPr>
          <p:cNvPr id="263" name="Google Shape;263;p11"/>
          <p:cNvSpPr/>
          <p:nvPr/>
        </p:nvSpPr>
        <p:spPr>
          <a:xfrm>
            <a:off x="7452360" y="1170432"/>
            <a:ext cx="1188720" cy="256032"/>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4" name="Google Shape;264;p11"/>
          <p:cNvSpPr/>
          <p:nvPr/>
        </p:nvSpPr>
        <p:spPr>
          <a:xfrm>
            <a:off x="7452360" y="1170432"/>
            <a:ext cx="11887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A54"/>
              </a:buClr>
              <a:buSzPts val="800"/>
              <a:buFont typeface="Arial"/>
              <a:buNone/>
            </a:pPr>
            <a:r>
              <a:rPr b="1" i="0" lang="en-US" sz="800" u="none" cap="none" strike="noStrike">
                <a:solidFill>
                  <a:srgbClr val="0F7A54"/>
                </a:solidFill>
                <a:latin typeface="Arial"/>
                <a:ea typeface="Arial"/>
                <a:cs typeface="Arial"/>
                <a:sym typeface="Arial"/>
              </a:rPr>
              <a:t>Real influence</a:t>
            </a:r>
            <a:endParaRPr b="0" i="0" sz="800" u="none" cap="none" strike="noStrike">
              <a:solidFill>
                <a:schemeClr val="dk1"/>
              </a:solidFill>
              <a:latin typeface="Calibri"/>
              <a:ea typeface="Calibri"/>
              <a:cs typeface="Calibri"/>
              <a:sym typeface="Calibri"/>
            </a:endParaRPr>
          </a:p>
        </p:txBody>
      </p:sp>
      <p:sp>
        <p:nvSpPr>
          <p:cNvPr id="265" name="Google Shape;265;p11"/>
          <p:cNvSpPr/>
          <p:nvPr/>
        </p:nvSpPr>
        <p:spPr>
          <a:xfrm>
            <a:off x="5458968" y="1170432"/>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The work itself</a:t>
            </a:r>
            <a:endParaRPr b="0" i="0" sz="1200" u="none" cap="none" strike="noStrike">
              <a:solidFill>
                <a:schemeClr val="dk1"/>
              </a:solidFill>
              <a:latin typeface="Calibri"/>
              <a:ea typeface="Calibri"/>
              <a:cs typeface="Calibri"/>
              <a:sym typeface="Calibri"/>
            </a:endParaRPr>
          </a:p>
        </p:txBody>
      </p:sp>
      <p:sp>
        <p:nvSpPr>
          <p:cNvPr id="266" name="Google Shape;266;p11"/>
          <p:cNvSpPr/>
          <p:nvPr/>
        </p:nvSpPr>
        <p:spPr>
          <a:xfrm>
            <a:off x="4846320" y="1719072"/>
            <a:ext cx="3794760"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Termly Student Governor reports to the Board and presentations to committee — on topics such as sustainability and green skills, AI, careers advice and College values. Equipment and technician capacity belong on that list too.</a:t>
            </a:r>
            <a:endParaRPr b="0" i="0" sz="1050" u="none" cap="none" strike="noStrike">
              <a:solidFill>
                <a:schemeClr val="dk1"/>
              </a:solidFill>
              <a:latin typeface="Calibri"/>
              <a:ea typeface="Calibri"/>
              <a:cs typeface="Calibri"/>
              <a:sym typeface="Calibri"/>
            </a:endParaRPr>
          </a:p>
        </p:txBody>
      </p:sp>
      <p:sp>
        <p:nvSpPr>
          <p:cNvPr id="267" name="Google Shape;267;p11"/>
          <p:cNvSpPr/>
          <p:nvPr/>
        </p:nvSpPr>
        <p:spPr>
          <a:xfrm>
            <a:off x="411480" y="2953512"/>
            <a:ext cx="4069080" cy="1801368"/>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12700">
              <a:srgbClr val="000000">
                <a:alpha val="902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68" name="Google Shape;268;p11"/>
          <p:cNvCxnSpPr/>
          <p:nvPr/>
        </p:nvCxnSpPr>
        <p:spPr>
          <a:xfrm>
            <a:off x="548640" y="3118104"/>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pic>
        <p:nvPicPr>
          <p:cNvPr descr="preencoded.png" id="269" name="Google Shape;269;p11"/>
          <p:cNvPicPr preferRelativeResize="0"/>
          <p:nvPr/>
        </p:nvPicPr>
        <p:blipFill rotWithShape="1">
          <a:blip r:embed="rId5">
            <a:alphaModFix/>
          </a:blip>
          <a:srcRect b="0" l="0" r="0" t="0"/>
          <a:stretch/>
        </p:blipFill>
        <p:spPr>
          <a:xfrm>
            <a:off x="566928" y="3136392"/>
            <a:ext cx="438912" cy="438912"/>
          </a:xfrm>
          <a:prstGeom prst="rect">
            <a:avLst/>
          </a:prstGeom>
          <a:noFill/>
          <a:ln>
            <a:noFill/>
          </a:ln>
        </p:spPr>
      </p:pic>
      <p:sp>
        <p:nvSpPr>
          <p:cNvPr id="270" name="Google Shape;270;p11"/>
          <p:cNvSpPr/>
          <p:nvPr/>
        </p:nvSpPr>
        <p:spPr>
          <a:xfrm>
            <a:off x="3154680" y="3118104"/>
            <a:ext cx="1188720" cy="256032"/>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1" name="Google Shape;271;p11"/>
          <p:cNvSpPr/>
          <p:nvPr/>
        </p:nvSpPr>
        <p:spPr>
          <a:xfrm>
            <a:off x="3154680" y="3118104"/>
            <a:ext cx="11887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A54"/>
              </a:buClr>
              <a:buSzPts val="800"/>
              <a:buFont typeface="Arial"/>
              <a:buNone/>
            </a:pPr>
            <a:r>
              <a:rPr b="1" i="0" lang="en-US" sz="800" u="none" cap="none" strike="noStrike">
                <a:solidFill>
                  <a:srgbClr val="0F7A54"/>
                </a:solidFill>
                <a:latin typeface="Arial"/>
                <a:ea typeface="Arial"/>
                <a:cs typeface="Arial"/>
                <a:sym typeface="Arial"/>
              </a:rPr>
              <a:t>Induction + training</a:t>
            </a:r>
            <a:endParaRPr b="0" i="0" sz="800" u="none" cap="none" strike="noStrike">
              <a:solidFill>
                <a:schemeClr val="dk1"/>
              </a:solidFill>
              <a:latin typeface="Calibri"/>
              <a:ea typeface="Calibri"/>
              <a:cs typeface="Calibri"/>
              <a:sym typeface="Calibri"/>
            </a:endParaRPr>
          </a:p>
        </p:txBody>
      </p:sp>
      <p:sp>
        <p:nvSpPr>
          <p:cNvPr id="272" name="Google Shape;272;p11"/>
          <p:cNvSpPr/>
          <p:nvPr/>
        </p:nvSpPr>
        <p:spPr>
          <a:xfrm>
            <a:off x="1161288" y="3118104"/>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Support provided</a:t>
            </a:r>
            <a:endParaRPr b="0" i="0" sz="1200" u="none" cap="none" strike="noStrike">
              <a:solidFill>
                <a:schemeClr val="dk1"/>
              </a:solidFill>
              <a:latin typeface="Calibri"/>
              <a:ea typeface="Calibri"/>
              <a:cs typeface="Calibri"/>
              <a:sym typeface="Calibri"/>
            </a:endParaRPr>
          </a:p>
        </p:txBody>
      </p:sp>
      <p:sp>
        <p:nvSpPr>
          <p:cNvPr id="273" name="Google Shape;273;p11"/>
          <p:cNvSpPr/>
          <p:nvPr/>
        </p:nvSpPr>
        <p:spPr>
          <a:xfrm>
            <a:off x="548640" y="3666744"/>
            <a:ext cx="3794760"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Induction with the Director of Governance, ongoing training, Governor portal and iPad, expenses reimbursed, an annual 1:1 with the Chair.</a:t>
            </a:r>
            <a:endParaRPr b="0" i="0" sz="1050" u="none" cap="none" strike="noStrike">
              <a:solidFill>
                <a:schemeClr val="dk1"/>
              </a:solidFill>
              <a:latin typeface="Calibri"/>
              <a:ea typeface="Calibri"/>
              <a:cs typeface="Calibri"/>
              <a:sym typeface="Calibri"/>
            </a:endParaRPr>
          </a:p>
        </p:txBody>
      </p:sp>
      <p:sp>
        <p:nvSpPr>
          <p:cNvPr id="274" name="Google Shape;274;p11"/>
          <p:cNvSpPr/>
          <p:nvPr/>
        </p:nvSpPr>
        <p:spPr>
          <a:xfrm>
            <a:off x="4709160" y="2953512"/>
            <a:ext cx="4069080" cy="1801368"/>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12700">
              <a:srgbClr val="000000">
                <a:alpha val="902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75" name="Google Shape;275;p11"/>
          <p:cNvCxnSpPr/>
          <p:nvPr/>
        </p:nvCxnSpPr>
        <p:spPr>
          <a:xfrm>
            <a:off x="4846320" y="3118104"/>
            <a:ext cx="475488" cy="475488"/>
          </a:xfrm>
          <a:prstGeom prst="straightConnector1">
            <a:avLst/>
          </a:prstGeom>
          <a:solidFill>
            <a:srgbClr val="0D2434"/>
          </a:solidFill>
          <a:ln cap="flat" cmpd="sng" w="12700">
            <a:solidFill>
              <a:srgbClr val="0D2434"/>
            </a:solidFill>
            <a:prstDash val="solid"/>
            <a:round/>
            <a:headEnd len="sm" w="sm" type="none"/>
            <a:tailEnd len="sm" w="sm" type="none"/>
          </a:ln>
        </p:spPr>
      </p:cxnSp>
      <p:pic>
        <p:nvPicPr>
          <p:cNvPr descr="preencoded.png" id="276" name="Google Shape;276;p11"/>
          <p:cNvPicPr preferRelativeResize="0"/>
          <p:nvPr/>
        </p:nvPicPr>
        <p:blipFill rotWithShape="1">
          <a:blip r:embed="rId6">
            <a:alphaModFix/>
          </a:blip>
          <a:srcRect b="0" l="0" r="0" t="0"/>
          <a:stretch/>
        </p:blipFill>
        <p:spPr>
          <a:xfrm>
            <a:off x="4864608" y="3136392"/>
            <a:ext cx="438912" cy="438912"/>
          </a:xfrm>
          <a:prstGeom prst="rect">
            <a:avLst/>
          </a:prstGeom>
          <a:noFill/>
          <a:ln>
            <a:noFill/>
          </a:ln>
        </p:spPr>
      </p:pic>
      <p:sp>
        <p:nvSpPr>
          <p:cNvPr id="277" name="Google Shape;277;p11"/>
          <p:cNvSpPr/>
          <p:nvPr/>
        </p:nvSpPr>
        <p:spPr>
          <a:xfrm>
            <a:off x="7452360" y="3118104"/>
            <a:ext cx="1188720" cy="256032"/>
          </a:xfrm>
          <a:prstGeom prst="rect">
            <a:avLst/>
          </a:prstGeom>
          <a:solidFill>
            <a:srgbClr val="E8F4E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8" name="Google Shape;278;p11"/>
          <p:cNvSpPr/>
          <p:nvPr/>
        </p:nvSpPr>
        <p:spPr>
          <a:xfrm>
            <a:off x="7452360" y="3118104"/>
            <a:ext cx="11887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A54"/>
              </a:buClr>
              <a:buSzPts val="800"/>
              <a:buFont typeface="Arial"/>
              <a:buNone/>
            </a:pPr>
            <a:r>
              <a:rPr b="1" i="0" lang="en-US" sz="800" u="none" cap="none" strike="noStrike">
                <a:solidFill>
                  <a:srgbClr val="0F7A54"/>
                </a:solidFill>
                <a:latin typeface="Arial"/>
                <a:ea typeface="Arial"/>
                <a:cs typeface="Arial"/>
                <a:sym typeface="Arial"/>
              </a:rPr>
              <a:t>No experience needed</a:t>
            </a:r>
            <a:endParaRPr b="0" i="0" sz="800" u="none" cap="none" strike="noStrike">
              <a:solidFill>
                <a:schemeClr val="dk1"/>
              </a:solidFill>
              <a:latin typeface="Calibri"/>
              <a:ea typeface="Calibri"/>
              <a:cs typeface="Calibri"/>
              <a:sym typeface="Calibri"/>
            </a:endParaRPr>
          </a:p>
        </p:txBody>
      </p:sp>
      <p:sp>
        <p:nvSpPr>
          <p:cNvPr id="279" name="Google Shape;279;p11"/>
          <p:cNvSpPr/>
          <p:nvPr/>
        </p:nvSpPr>
        <p:spPr>
          <a:xfrm>
            <a:off x="5458968" y="3118104"/>
            <a:ext cx="192024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Is it for you?</a:t>
            </a:r>
            <a:endParaRPr b="0" i="0" sz="1200" u="none" cap="none" strike="noStrike">
              <a:solidFill>
                <a:schemeClr val="dk1"/>
              </a:solidFill>
              <a:latin typeface="Calibri"/>
              <a:ea typeface="Calibri"/>
              <a:cs typeface="Calibri"/>
              <a:sym typeface="Calibri"/>
            </a:endParaRPr>
          </a:p>
        </p:txBody>
      </p:sp>
      <p:sp>
        <p:nvSpPr>
          <p:cNvPr id="280" name="Google Shape;280;p11"/>
          <p:cNvSpPr/>
          <p:nvPr/>
        </p:nvSpPr>
        <p:spPr>
          <a:xfrm>
            <a:off x="4846320" y="3666744"/>
            <a:ext cx="3794760"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Reliable, prepared, comfortable asking questions in a room of adults, able to handle confidential information — which you already do whenever you defend a creative decision in a critique. Genuinely CV-worthy, and strong evidence for UCAS.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84" name="Shape 284"/>
        <p:cNvGrpSpPr/>
        <p:nvPr/>
      </p:nvGrpSpPr>
      <p:grpSpPr>
        <a:xfrm>
          <a:off x="0" y="0"/>
          <a:ext cx="0" cy="0"/>
          <a:chOff x="0" y="0"/>
          <a:chExt cx="0" cy="0"/>
        </a:xfrm>
      </p:grpSpPr>
      <p:sp>
        <p:nvSpPr>
          <p:cNvPr id="285" name="Google Shape;285;p12"/>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How to apply</a:t>
            </a:r>
            <a:endParaRPr b="0" i="0" sz="2200" u="none" cap="none" strike="noStrike">
              <a:solidFill>
                <a:schemeClr val="dk1"/>
              </a:solidFill>
              <a:latin typeface="Calibri"/>
              <a:ea typeface="Calibri"/>
              <a:cs typeface="Calibri"/>
              <a:sym typeface="Calibri"/>
            </a:endParaRPr>
          </a:p>
        </p:txBody>
      </p:sp>
      <p:sp>
        <p:nvSpPr>
          <p:cNvPr id="286" name="Google Shape;286;p12"/>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Applications close at midday on Friday 16 October</a:t>
            </a:r>
            <a:endParaRPr b="0" i="0" sz="1100" u="none" cap="none" strike="noStrike">
              <a:solidFill>
                <a:schemeClr val="dk1"/>
              </a:solidFill>
              <a:latin typeface="Calibri"/>
              <a:ea typeface="Calibri"/>
              <a:cs typeface="Calibri"/>
              <a:sym typeface="Calibri"/>
            </a:endParaRPr>
          </a:p>
        </p:txBody>
      </p:sp>
      <p:sp>
        <p:nvSpPr>
          <p:cNvPr id="287" name="Google Shape;287;p12"/>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8" name="Google Shape;288;p12"/>
          <p:cNvSpPr/>
          <p:nvPr/>
        </p:nvSpPr>
        <p:spPr>
          <a:xfrm>
            <a:off x="7498080" y="109728"/>
            <a:ext cx="1508760" cy="292608"/>
          </a:xfrm>
          <a:prstGeom prst="rect">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9" name="Google Shape;289;p12"/>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TEACHER INPUT</a:t>
            </a:r>
            <a:endParaRPr b="0" i="0" sz="750" u="none" cap="none" strike="noStrike">
              <a:solidFill>
                <a:schemeClr val="dk1"/>
              </a:solidFill>
              <a:latin typeface="Calibri"/>
              <a:ea typeface="Calibri"/>
              <a:cs typeface="Calibri"/>
              <a:sym typeface="Calibri"/>
            </a:endParaRPr>
          </a:p>
        </p:txBody>
      </p:sp>
      <p:sp>
        <p:nvSpPr>
          <p:cNvPr id="290" name="Google Shape;290;p12"/>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A Level / Year 2 — Media, Film, Photography and Digital</a:t>
            </a:r>
            <a:endParaRPr b="0" i="0" sz="800" u="none" cap="none" strike="noStrike">
              <a:solidFill>
                <a:schemeClr val="dk1"/>
              </a:solidFill>
              <a:latin typeface="Calibri"/>
              <a:ea typeface="Calibri"/>
              <a:cs typeface="Calibri"/>
              <a:sym typeface="Calibri"/>
            </a:endParaRPr>
          </a:p>
        </p:txBody>
      </p:sp>
      <p:sp>
        <p:nvSpPr>
          <p:cNvPr id="291" name="Google Shape;291;p12"/>
          <p:cNvSpPr/>
          <p:nvPr/>
        </p:nvSpPr>
        <p:spPr>
          <a:xfrm>
            <a:off x="411480" y="987552"/>
            <a:ext cx="1965960" cy="3246120"/>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92" name="Google Shape;292;p12"/>
          <p:cNvCxnSpPr/>
          <p:nvPr/>
        </p:nvCxnSpPr>
        <p:spPr>
          <a:xfrm>
            <a:off x="521208" y="1097280"/>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293" name="Google Shape;293;p12"/>
          <p:cNvSpPr/>
          <p:nvPr/>
        </p:nvSpPr>
        <p:spPr>
          <a:xfrm>
            <a:off x="521208" y="109728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1</a:t>
            </a:r>
            <a:endParaRPr b="0" i="0" sz="1400" u="none" cap="none" strike="noStrike">
              <a:solidFill>
                <a:schemeClr val="dk1"/>
              </a:solidFill>
              <a:latin typeface="Calibri"/>
              <a:ea typeface="Calibri"/>
              <a:cs typeface="Calibri"/>
              <a:sym typeface="Calibri"/>
            </a:endParaRPr>
          </a:p>
        </p:txBody>
      </p:sp>
      <p:pic>
        <p:nvPicPr>
          <p:cNvPr descr="preencoded.png" id="294" name="Google Shape;294;p12"/>
          <p:cNvPicPr preferRelativeResize="0"/>
          <p:nvPr/>
        </p:nvPicPr>
        <p:blipFill rotWithShape="1">
          <a:blip r:embed="rId3">
            <a:alphaModFix/>
          </a:blip>
          <a:srcRect b="0" l="0" r="0" t="0"/>
          <a:stretch/>
        </p:blipFill>
        <p:spPr>
          <a:xfrm>
            <a:off x="1161288" y="1115568"/>
            <a:ext cx="438912" cy="438912"/>
          </a:xfrm>
          <a:prstGeom prst="rect">
            <a:avLst/>
          </a:prstGeom>
          <a:noFill/>
          <a:ln>
            <a:noFill/>
          </a:ln>
        </p:spPr>
      </p:pic>
      <p:sp>
        <p:nvSpPr>
          <p:cNvPr id="295" name="Google Shape;295;p12"/>
          <p:cNvSpPr/>
          <p:nvPr/>
        </p:nvSpPr>
        <p:spPr>
          <a:xfrm>
            <a:off x="521208" y="1664208"/>
            <a:ext cx="175564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Application</a:t>
            </a:r>
            <a:endParaRPr b="0" i="0" sz="1300" u="none" cap="none" strike="noStrike">
              <a:solidFill>
                <a:schemeClr val="dk1"/>
              </a:solidFill>
              <a:latin typeface="Calibri"/>
              <a:ea typeface="Calibri"/>
              <a:cs typeface="Calibri"/>
              <a:sym typeface="Calibri"/>
            </a:endParaRPr>
          </a:p>
        </p:txBody>
      </p:sp>
      <p:sp>
        <p:nvSpPr>
          <p:cNvPr id="296" name="Google Shape;296;p12"/>
          <p:cNvSpPr/>
          <p:nvPr/>
        </p:nvSpPr>
        <p:spPr>
          <a:xfrm>
            <a:off x="521208" y="2084832"/>
            <a:ext cx="1755648"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Submit the online nomination form. Deadline: midday, Friday 16 October.</a:t>
            </a:r>
            <a:endParaRPr b="0" i="1" sz="750" u="none" cap="none" strike="noStrike">
              <a:solidFill>
                <a:srgbClr val="9B1B6B"/>
              </a:solidFill>
              <a:latin typeface="Arial"/>
              <a:ea typeface="Arial"/>
              <a:cs typeface="Arial"/>
              <a:sym typeface="Arial"/>
            </a:endParaRPr>
          </a:p>
          <a:p>
            <a:pPr indent="0" lvl="0" marL="0" marR="0" rtl="0" algn="l">
              <a:lnSpc>
                <a:spcPct val="100000"/>
              </a:lnSpc>
              <a:spcBef>
                <a:spcPts val="0"/>
              </a:spcBef>
              <a:spcAft>
                <a:spcPts val="0"/>
              </a:spcAft>
              <a:buClr>
                <a:srgbClr val="1B2A30"/>
              </a:buClr>
              <a:buSzPts val="1050"/>
              <a:buFont typeface="Arial"/>
              <a:buNone/>
            </a:pPr>
            <a:r>
              <a:t/>
            </a:r>
            <a:endParaRPr b="0" i="1" sz="750" u="none" cap="none" strike="noStrike">
              <a:solidFill>
                <a:srgbClr val="9B1B6B"/>
              </a:solidFill>
              <a:latin typeface="Arial"/>
              <a:ea typeface="Arial"/>
              <a:cs typeface="Arial"/>
              <a:sym typeface="Arial"/>
            </a:endParaRPr>
          </a:p>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chemeClr val="dk1"/>
                </a:solidFill>
                <a:latin typeface="Arial"/>
                <a:ea typeface="Arial"/>
                <a:cs typeface="Arial"/>
                <a:sym typeface="Arial"/>
              </a:rPr>
              <a:t>Please scan to access the application form</a:t>
            </a:r>
            <a:endParaRPr b="0" i="1" sz="750" u="none" cap="none" strike="noStrike">
              <a:solidFill>
                <a:srgbClr val="9B1B6B"/>
              </a:solidFill>
              <a:latin typeface="Arial"/>
              <a:ea typeface="Arial"/>
              <a:cs typeface="Arial"/>
              <a:sym typeface="Arial"/>
            </a:endParaRPr>
          </a:p>
        </p:txBody>
      </p:sp>
      <p:sp>
        <p:nvSpPr>
          <p:cNvPr id="297" name="Google Shape;297;p12"/>
          <p:cNvSpPr/>
          <p:nvPr/>
        </p:nvSpPr>
        <p:spPr>
          <a:xfrm>
            <a:off x="2532888" y="987552"/>
            <a:ext cx="1965960" cy="3246120"/>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98" name="Google Shape;298;p12"/>
          <p:cNvCxnSpPr/>
          <p:nvPr/>
        </p:nvCxnSpPr>
        <p:spPr>
          <a:xfrm>
            <a:off x="2642616" y="1097280"/>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299" name="Google Shape;299;p12"/>
          <p:cNvSpPr/>
          <p:nvPr/>
        </p:nvSpPr>
        <p:spPr>
          <a:xfrm>
            <a:off x="2642616" y="109728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2</a:t>
            </a:r>
            <a:endParaRPr b="0" i="0" sz="1400" u="none" cap="none" strike="noStrike">
              <a:solidFill>
                <a:schemeClr val="dk1"/>
              </a:solidFill>
              <a:latin typeface="Calibri"/>
              <a:ea typeface="Calibri"/>
              <a:cs typeface="Calibri"/>
              <a:sym typeface="Calibri"/>
            </a:endParaRPr>
          </a:p>
        </p:txBody>
      </p:sp>
      <p:pic>
        <p:nvPicPr>
          <p:cNvPr descr="preencoded.png" id="300" name="Google Shape;300;p12"/>
          <p:cNvPicPr preferRelativeResize="0"/>
          <p:nvPr/>
        </p:nvPicPr>
        <p:blipFill rotWithShape="1">
          <a:blip r:embed="rId4">
            <a:alphaModFix/>
          </a:blip>
          <a:srcRect b="0" l="0" r="0" t="0"/>
          <a:stretch/>
        </p:blipFill>
        <p:spPr>
          <a:xfrm>
            <a:off x="3282696" y="1115568"/>
            <a:ext cx="438912" cy="438912"/>
          </a:xfrm>
          <a:prstGeom prst="rect">
            <a:avLst/>
          </a:prstGeom>
          <a:noFill/>
          <a:ln>
            <a:noFill/>
          </a:ln>
        </p:spPr>
      </p:pic>
      <p:sp>
        <p:nvSpPr>
          <p:cNvPr id="301" name="Google Shape;301;p12"/>
          <p:cNvSpPr/>
          <p:nvPr/>
        </p:nvSpPr>
        <p:spPr>
          <a:xfrm>
            <a:off x="2642616" y="1664208"/>
            <a:ext cx="175564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Governor discussion</a:t>
            </a:r>
            <a:endParaRPr b="0" i="0" sz="1300" u="none" cap="none" strike="noStrike">
              <a:solidFill>
                <a:schemeClr val="dk1"/>
              </a:solidFill>
              <a:latin typeface="Calibri"/>
              <a:ea typeface="Calibri"/>
              <a:cs typeface="Calibri"/>
              <a:sym typeface="Calibri"/>
            </a:endParaRPr>
          </a:p>
        </p:txBody>
      </p:sp>
      <p:sp>
        <p:nvSpPr>
          <p:cNvPr id="302" name="Google Shape;302;p12"/>
          <p:cNvSpPr/>
          <p:nvPr/>
        </p:nvSpPr>
        <p:spPr>
          <a:xfrm>
            <a:off x="2642616" y="2084832"/>
            <a:ext cx="1755648"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An informal conversation about your interest, the commitment and what you'd bring. 2–5 November. It is not an interview and does not need preparing for like one.</a:t>
            </a:r>
            <a:endParaRPr b="0" i="0" sz="1050" u="none" cap="none" strike="noStrike">
              <a:solidFill>
                <a:schemeClr val="dk1"/>
              </a:solidFill>
              <a:latin typeface="Calibri"/>
              <a:ea typeface="Calibri"/>
              <a:cs typeface="Calibri"/>
              <a:sym typeface="Calibri"/>
            </a:endParaRPr>
          </a:p>
        </p:txBody>
      </p:sp>
      <p:sp>
        <p:nvSpPr>
          <p:cNvPr id="303" name="Google Shape;303;p12"/>
          <p:cNvSpPr/>
          <p:nvPr/>
        </p:nvSpPr>
        <p:spPr>
          <a:xfrm>
            <a:off x="4654296" y="987552"/>
            <a:ext cx="1965960" cy="3246120"/>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04" name="Google Shape;304;p12"/>
          <p:cNvCxnSpPr/>
          <p:nvPr/>
        </p:nvCxnSpPr>
        <p:spPr>
          <a:xfrm>
            <a:off x="4764024" y="1097280"/>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305" name="Google Shape;305;p12"/>
          <p:cNvSpPr/>
          <p:nvPr/>
        </p:nvSpPr>
        <p:spPr>
          <a:xfrm>
            <a:off x="4764024" y="109728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3</a:t>
            </a:r>
            <a:endParaRPr b="0" i="0" sz="1400" u="none" cap="none" strike="noStrike">
              <a:solidFill>
                <a:schemeClr val="dk1"/>
              </a:solidFill>
              <a:latin typeface="Calibri"/>
              <a:ea typeface="Calibri"/>
              <a:cs typeface="Calibri"/>
              <a:sym typeface="Calibri"/>
            </a:endParaRPr>
          </a:p>
        </p:txBody>
      </p:sp>
      <p:pic>
        <p:nvPicPr>
          <p:cNvPr descr="preencoded.png" id="306" name="Google Shape;306;p12"/>
          <p:cNvPicPr preferRelativeResize="0"/>
          <p:nvPr/>
        </p:nvPicPr>
        <p:blipFill rotWithShape="1">
          <a:blip r:embed="rId5">
            <a:alphaModFix/>
          </a:blip>
          <a:srcRect b="0" l="0" r="0" t="0"/>
          <a:stretch/>
        </p:blipFill>
        <p:spPr>
          <a:xfrm>
            <a:off x="5404104" y="1115568"/>
            <a:ext cx="438912" cy="438912"/>
          </a:xfrm>
          <a:prstGeom prst="rect">
            <a:avLst/>
          </a:prstGeom>
          <a:noFill/>
          <a:ln>
            <a:noFill/>
          </a:ln>
        </p:spPr>
      </p:pic>
      <p:sp>
        <p:nvSpPr>
          <p:cNvPr id="307" name="Google Shape;307;p12"/>
          <p:cNvSpPr/>
          <p:nvPr/>
        </p:nvSpPr>
        <p:spPr>
          <a:xfrm>
            <a:off x="4764024" y="1664208"/>
            <a:ext cx="175564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Student ballot</a:t>
            </a:r>
            <a:endParaRPr b="0" i="0" sz="1300" u="none" cap="none" strike="noStrike">
              <a:solidFill>
                <a:schemeClr val="dk1"/>
              </a:solidFill>
              <a:latin typeface="Calibri"/>
              <a:ea typeface="Calibri"/>
              <a:cs typeface="Calibri"/>
              <a:sym typeface="Calibri"/>
            </a:endParaRPr>
          </a:p>
        </p:txBody>
      </p:sp>
      <p:sp>
        <p:nvSpPr>
          <p:cNvPr id="308" name="Google Shape;308;p12"/>
          <p:cNvSpPr/>
          <p:nvPr/>
        </p:nvSpPr>
        <p:spPr>
          <a:xfrm>
            <a:off x="4764024" y="2084832"/>
            <a:ext cx="1755648"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Held where more candidates apply than there are places. 9–23 November.</a:t>
            </a:r>
            <a:endParaRPr b="0" i="0" sz="1050" u="none" cap="none" strike="noStrike">
              <a:solidFill>
                <a:schemeClr val="dk1"/>
              </a:solidFill>
              <a:latin typeface="Calibri"/>
              <a:ea typeface="Calibri"/>
              <a:cs typeface="Calibri"/>
              <a:sym typeface="Calibri"/>
            </a:endParaRPr>
          </a:p>
        </p:txBody>
      </p:sp>
      <p:sp>
        <p:nvSpPr>
          <p:cNvPr id="309" name="Google Shape;309;p12"/>
          <p:cNvSpPr/>
          <p:nvPr/>
        </p:nvSpPr>
        <p:spPr>
          <a:xfrm>
            <a:off x="6775704" y="987552"/>
            <a:ext cx="1965960" cy="3246120"/>
          </a:xfrm>
          <a:prstGeom prst="rect">
            <a:avLst/>
          </a:prstGeom>
          <a:solidFill>
            <a:srgbClr val="FFFFFF"/>
          </a:solidFill>
          <a:ln cap="flat" cmpd="sng" w="25400">
            <a:solidFill>
              <a:srgbClr val="0F7A54"/>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10" name="Google Shape;310;p12"/>
          <p:cNvCxnSpPr/>
          <p:nvPr/>
        </p:nvCxnSpPr>
        <p:spPr>
          <a:xfrm>
            <a:off x="6885432" y="1097280"/>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311" name="Google Shape;311;p12"/>
          <p:cNvSpPr/>
          <p:nvPr/>
        </p:nvSpPr>
        <p:spPr>
          <a:xfrm>
            <a:off x="6885432" y="109728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4</a:t>
            </a:r>
            <a:endParaRPr b="0" i="0" sz="1400" u="none" cap="none" strike="noStrike">
              <a:solidFill>
                <a:schemeClr val="dk1"/>
              </a:solidFill>
              <a:latin typeface="Calibri"/>
              <a:ea typeface="Calibri"/>
              <a:cs typeface="Calibri"/>
              <a:sym typeface="Calibri"/>
            </a:endParaRPr>
          </a:p>
        </p:txBody>
      </p:sp>
      <p:pic>
        <p:nvPicPr>
          <p:cNvPr descr="preencoded.png" id="312" name="Google Shape;312;p12"/>
          <p:cNvPicPr preferRelativeResize="0"/>
          <p:nvPr/>
        </p:nvPicPr>
        <p:blipFill rotWithShape="1">
          <a:blip r:embed="rId6">
            <a:alphaModFix/>
          </a:blip>
          <a:srcRect b="0" l="0" r="0" t="0"/>
          <a:stretch/>
        </p:blipFill>
        <p:spPr>
          <a:xfrm>
            <a:off x="7525512" y="1115568"/>
            <a:ext cx="438912" cy="438912"/>
          </a:xfrm>
          <a:prstGeom prst="rect">
            <a:avLst/>
          </a:prstGeom>
          <a:noFill/>
          <a:ln>
            <a:noFill/>
          </a:ln>
        </p:spPr>
      </p:pic>
      <p:sp>
        <p:nvSpPr>
          <p:cNvPr id="313" name="Google Shape;313;p12"/>
          <p:cNvSpPr/>
          <p:nvPr/>
        </p:nvSpPr>
        <p:spPr>
          <a:xfrm>
            <a:off x="6885432" y="1664208"/>
            <a:ext cx="175564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Appointment</a:t>
            </a:r>
            <a:endParaRPr b="0" i="0" sz="1300" u="none" cap="none" strike="noStrike">
              <a:solidFill>
                <a:schemeClr val="dk1"/>
              </a:solidFill>
              <a:latin typeface="Calibri"/>
              <a:ea typeface="Calibri"/>
              <a:cs typeface="Calibri"/>
              <a:sym typeface="Calibri"/>
            </a:endParaRPr>
          </a:p>
        </p:txBody>
      </p:sp>
      <p:sp>
        <p:nvSpPr>
          <p:cNvPr id="314" name="Google Shape;314;p12"/>
          <p:cNvSpPr/>
          <p:nvPr/>
        </p:nvSpPr>
        <p:spPr>
          <a:xfrm>
            <a:off x="6885432" y="2084832"/>
            <a:ext cx="1755648"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Committee recommendation on 24 November; formal Board appointment on 14 December.</a:t>
            </a:r>
            <a:endParaRPr b="0" i="0" sz="1050" u="none" cap="none" strike="noStrike">
              <a:solidFill>
                <a:schemeClr val="dk1"/>
              </a:solidFill>
              <a:latin typeface="Calibri"/>
              <a:ea typeface="Calibri"/>
              <a:cs typeface="Calibri"/>
              <a:sym typeface="Calibri"/>
            </a:endParaRPr>
          </a:p>
        </p:txBody>
      </p:sp>
      <p:sp>
        <p:nvSpPr>
          <p:cNvPr id="315" name="Google Shape;315;p12"/>
          <p:cNvSpPr/>
          <p:nvPr/>
        </p:nvSpPr>
        <p:spPr>
          <a:xfrm>
            <a:off x="6885432" y="3547872"/>
            <a:ext cx="1755648" cy="475488"/>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6" name="Google Shape;316;p12"/>
          <p:cNvSpPr/>
          <p:nvPr/>
        </p:nvSpPr>
        <p:spPr>
          <a:xfrm>
            <a:off x="6885432" y="3547872"/>
            <a:ext cx="175564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Deadline</a:t>
            </a:r>
            <a:endParaRPr b="0" i="0" sz="9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midday, Fri 16 Oct</a:t>
            </a:r>
            <a:endParaRPr b="0" i="0" sz="900" u="none" cap="none" strike="noStrike">
              <a:solidFill>
                <a:schemeClr val="dk1"/>
              </a:solidFill>
              <a:latin typeface="Calibri"/>
              <a:ea typeface="Calibri"/>
              <a:cs typeface="Calibri"/>
              <a:sym typeface="Calibri"/>
            </a:endParaRPr>
          </a:p>
        </p:txBody>
      </p:sp>
      <p:sp>
        <p:nvSpPr>
          <p:cNvPr id="317" name="Google Shape;317;p12"/>
          <p:cNvSpPr/>
          <p:nvPr/>
        </p:nvSpPr>
        <p:spPr>
          <a:xfrm>
            <a:off x="411480" y="4261104"/>
            <a:ext cx="8321040" cy="603504"/>
          </a:xfrm>
          <a:prstGeom prst="rect">
            <a:avLst/>
          </a:prstGeom>
          <a:solidFill>
            <a:srgbClr val="E8F4EF"/>
          </a:solidFill>
          <a:ln cap="flat" cmpd="sng" w="19050">
            <a:solidFill>
              <a:srgbClr val="E8F4EF"/>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8" name="Google Shape;318;p12"/>
          <p:cNvSpPr/>
          <p:nvPr/>
        </p:nvSpPr>
        <p:spPr>
          <a:xfrm>
            <a:off x="548640" y="4261104"/>
            <a:ext cx="804672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A54"/>
              </a:buClr>
              <a:buSzPts val="950"/>
              <a:buFont typeface="Arial"/>
              <a:buNone/>
            </a:pPr>
            <a:r>
              <a:rPr b="1" i="0" lang="en-US" sz="950" u="none" cap="none" strike="noStrike">
                <a:solidFill>
                  <a:srgbClr val="0F7A54"/>
                </a:solidFill>
                <a:latin typeface="Arial"/>
                <a:ea typeface="Arial"/>
                <a:cs typeface="Arial"/>
                <a:sym typeface="Arial"/>
              </a:rPr>
              <a:t>Strong applications are specific: why improving the College matters to you, an example of leadership or influence — running a shoot crew, organising a Film Club night, leading a revision group — and evidence you will prepare and turn up.</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D2434"/>
              </a:buClr>
              <a:buSzPts val="950"/>
              <a:buFont typeface="Arial"/>
              <a:buNone/>
            </a:pPr>
            <a:r>
              <a:rPr b="1" i="0" lang="en-US" sz="950" u="none" cap="none" strike="noStrike">
                <a:solidFill>
                  <a:srgbClr val="0D2434"/>
                </a:solidFill>
                <a:latin typeface="Arial"/>
                <a:ea typeface="Arial"/>
                <a:cs typeface="Arial"/>
                <a:sym typeface="Arial"/>
              </a:rPr>
              <a:t>Questions? Belle Howard, Director of Governance — Belle.Howard@escg.ac.uk</a:t>
            </a:r>
            <a:endParaRPr b="0" i="0" sz="950" u="none" cap="none" strike="noStrike">
              <a:solidFill>
                <a:schemeClr val="dk1"/>
              </a:solidFill>
              <a:latin typeface="Calibri"/>
              <a:ea typeface="Calibri"/>
              <a:cs typeface="Calibri"/>
              <a:sym typeface="Calibri"/>
            </a:endParaRPr>
          </a:p>
        </p:txBody>
      </p:sp>
      <p:pic>
        <p:nvPicPr>
          <p:cNvPr id="319" name="Google Shape;319;p12"/>
          <p:cNvPicPr preferRelativeResize="0"/>
          <p:nvPr/>
        </p:nvPicPr>
        <p:blipFill rotWithShape="1">
          <a:blip r:embed="rId7">
            <a:alphaModFix/>
          </a:blip>
          <a:srcRect b="0" l="0" r="0" t="0"/>
          <a:stretch/>
        </p:blipFill>
        <p:spPr>
          <a:xfrm>
            <a:off x="1046563" y="3354976"/>
            <a:ext cx="668376" cy="6683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324" name="Shape 324"/>
        <p:cNvGrpSpPr/>
        <p:nvPr/>
      </p:nvGrpSpPr>
      <p:grpSpPr>
        <a:xfrm>
          <a:off x="0" y="0"/>
          <a:ext cx="0" cy="0"/>
          <a:chOff x="0" y="0"/>
          <a:chExt cx="0" cy="0"/>
        </a:xfrm>
      </p:grpSpPr>
      <p:sp>
        <p:nvSpPr>
          <p:cNvPr id="325" name="Google Shape;325;p13"/>
          <p:cNvSpPr/>
          <p:nvPr/>
        </p:nvSpPr>
        <p:spPr>
          <a:xfrm>
            <a:off x="0" y="0"/>
            <a:ext cx="411480" cy="5143500"/>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6" name="Google Shape;326;p13"/>
          <p:cNvSpPr/>
          <p:nvPr/>
        </p:nvSpPr>
        <p:spPr>
          <a:xfrm>
            <a:off x="640080" y="201168"/>
            <a:ext cx="1280160" cy="292608"/>
          </a:xfrm>
          <a:prstGeom prst="rect">
            <a:avLst/>
          </a:prstGeom>
          <a:solidFill>
            <a:srgbClr val="FFCF01"/>
          </a:solidFill>
          <a:ln cap="flat" cmpd="sng" w="12700">
            <a:solidFill>
              <a:srgbClr val="FFCF0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13"/>
          <p:cNvSpPr/>
          <p:nvPr/>
        </p:nvSpPr>
        <p:spPr>
          <a:xfrm>
            <a:off x="640080" y="201168"/>
            <a:ext cx="12801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2A30"/>
              </a:buClr>
              <a:buSzPts val="800"/>
              <a:buFont typeface="Arial"/>
              <a:buNone/>
            </a:pPr>
            <a:r>
              <a:rPr b="1" i="0" lang="en-US" sz="800" u="none" cap="none" strike="noStrike">
                <a:solidFill>
                  <a:srgbClr val="1B2A30"/>
                </a:solidFill>
                <a:latin typeface="Arial"/>
                <a:ea typeface="Arial"/>
                <a:cs typeface="Arial"/>
                <a:sym typeface="Arial"/>
              </a:rPr>
              <a:t>PROUD VALUE</a:t>
            </a:r>
            <a:endParaRPr b="0" i="0" sz="800" u="none" cap="none" strike="noStrike">
              <a:solidFill>
                <a:schemeClr val="dk1"/>
              </a:solidFill>
              <a:latin typeface="Calibri"/>
              <a:ea typeface="Calibri"/>
              <a:cs typeface="Calibri"/>
              <a:sym typeface="Calibri"/>
            </a:endParaRPr>
          </a:p>
        </p:txBody>
      </p:sp>
      <p:sp>
        <p:nvSpPr>
          <p:cNvPr id="328" name="Google Shape;328;p13"/>
          <p:cNvSpPr/>
          <p:nvPr/>
        </p:nvSpPr>
        <p:spPr>
          <a:xfrm>
            <a:off x="640080" y="594360"/>
            <a:ext cx="77724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Arial"/>
                <a:ea typeface="Arial"/>
                <a:cs typeface="Arial"/>
                <a:sym typeface="Arial"/>
              </a:rPr>
              <a:t>Encourage Unity</a:t>
            </a:r>
            <a:endParaRPr b="0" i="0" sz="3600" u="none" cap="none" strike="noStrike">
              <a:solidFill>
                <a:schemeClr val="dk1"/>
              </a:solidFill>
              <a:latin typeface="Calibri"/>
              <a:ea typeface="Calibri"/>
              <a:cs typeface="Calibri"/>
              <a:sym typeface="Calibri"/>
            </a:endParaRPr>
          </a:p>
        </p:txBody>
      </p:sp>
      <p:sp>
        <p:nvSpPr>
          <p:cNvPr id="329" name="Google Shape;329;p13"/>
          <p:cNvSpPr/>
          <p:nvPr/>
        </p:nvSpPr>
        <p:spPr>
          <a:xfrm>
            <a:off x="640080" y="1325880"/>
            <a:ext cx="5943600" cy="960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2DBDA"/>
              </a:buClr>
              <a:buSzPts val="1400"/>
              <a:buFont typeface="Arial"/>
              <a:buNone/>
            </a:pPr>
            <a:r>
              <a:rPr b="0" i="0" lang="en-US" sz="1400" u="none" cap="none" strike="noStrike">
                <a:solidFill>
                  <a:srgbClr val="D2DBDA"/>
                </a:solidFill>
                <a:latin typeface="Arial"/>
                <a:ea typeface="Arial"/>
                <a:cs typeface="Arial"/>
                <a:sym typeface="Arial"/>
              </a:rPr>
              <a:t>You've seen what collective voice looks like when it works — and when it doesn't. Year 2 is when you can drive it. One person short of darkroom time is bad luck. A whole set short of it is evidence.</a:t>
            </a:r>
            <a:endParaRPr b="0" i="0" sz="1400" u="none" cap="none" strike="noStrike">
              <a:solidFill>
                <a:schemeClr val="dk1"/>
              </a:solidFill>
              <a:latin typeface="Calibri"/>
              <a:ea typeface="Calibri"/>
              <a:cs typeface="Calibri"/>
              <a:sym typeface="Calibri"/>
            </a:endParaRPr>
          </a:p>
        </p:txBody>
      </p:sp>
      <p:sp>
        <p:nvSpPr>
          <p:cNvPr id="330" name="Google Shape;330;p13"/>
          <p:cNvSpPr/>
          <p:nvPr/>
        </p:nvSpPr>
        <p:spPr>
          <a:xfrm>
            <a:off x="640080" y="2331720"/>
            <a:ext cx="2606040" cy="1572768"/>
          </a:xfrm>
          <a:prstGeom prst="rect">
            <a:avLst/>
          </a:prstGeom>
          <a:solidFill>
            <a:srgbClr val="0F7A54"/>
          </a:solidFill>
          <a:ln cap="flat" cmpd="sng" w="12700">
            <a:solidFill>
              <a:srgbClr val="0F7A54"/>
            </a:solidFill>
            <a:prstDash val="solid"/>
            <a:round/>
            <a:headEnd len="sm" w="sm" type="none"/>
            <a:tailEnd len="sm" w="sm" type="none"/>
          </a:ln>
          <a:effectLst>
            <a:outerShdw blurRad="76200" rotWithShape="0" algn="bl" dir="2700000" dist="25400">
              <a:srgbClr val="000000">
                <a:alpha val="1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331" name="Google Shape;331;p13"/>
          <p:cNvPicPr preferRelativeResize="0"/>
          <p:nvPr/>
        </p:nvPicPr>
        <p:blipFill rotWithShape="1">
          <a:blip r:embed="rId3">
            <a:alphaModFix/>
          </a:blip>
          <a:srcRect b="0" l="0" r="0" t="0"/>
          <a:stretch/>
        </p:blipFill>
        <p:spPr>
          <a:xfrm>
            <a:off x="777240" y="2441448"/>
            <a:ext cx="365760" cy="365760"/>
          </a:xfrm>
          <a:prstGeom prst="rect">
            <a:avLst/>
          </a:prstGeom>
          <a:noFill/>
          <a:ln>
            <a:noFill/>
          </a:ln>
        </p:spPr>
      </p:pic>
      <p:sp>
        <p:nvSpPr>
          <p:cNvPr id="332" name="Google Shape;332;p13"/>
          <p:cNvSpPr/>
          <p:nvPr/>
        </p:nvSpPr>
        <p:spPr>
          <a:xfrm>
            <a:off x="777240" y="2880360"/>
            <a:ext cx="233172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Experience is only useful if you share it. Year 1 can't know how coursework and exam preparation collide in the spring. You do.</a:t>
            </a:r>
            <a:endParaRPr b="0" i="0" sz="1000" u="none" cap="none" strike="noStrike">
              <a:solidFill>
                <a:schemeClr val="dk1"/>
              </a:solidFill>
              <a:latin typeface="Calibri"/>
              <a:ea typeface="Calibri"/>
              <a:cs typeface="Calibri"/>
              <a:sym typeface="Calibri"/>
            </a:endParaRPr>
          </a:p>
        </p:txBody>
      </p:sp>
      <p:sp>
        <p:nvSpPr>
          <p:cNvPr id="333" name="Google Shape;333;p13"/>
          <p:cNvSpPr/>
          <p:nvPr/>
        </p:nvSpPr>
        <p:spPr>
          <a:xfrm>
            <a:off x="3474720" y="2331720"/>
            <a:ext cx="2606040" cy="1572768"/>
          </a:xfrm>
          <a:prstGeom prst="rect">
            <a:avLst/>
          </a:prstGeom>
          <a:solidFill>
            <a:srgbClr val="0F7A54"/>
          </a:solidFill>
          <a:ln cap="flat" cmpd="sng" w="12700">
            <a:solidFill>
              <a:srgbClr val="0F7A54"/>
            </a:solidFill>
            <a:prstDash val="solid"/>
            <a:round/>
            <a:headEnd len="sm" w="sm" type="none"/>
            <a:tailEnd len="sm" w="sm" type="none"/>
          </a:ln>
          <a:effectLst>
            <a:outerShdw blurRad="76200" rotWithShape="0" algn="bl" dir="2700000" dist="25400">
              <a:srgbClr val="000000">
                <a:alpha val="1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334" name="Google Shape;334;p13"/>
          <p:cNvPicPr preferRelativeResize="0"/>
          <p:nvPr/>
        </p:nvPicPr>
        <p:blipFill rotWithShape="1">
          <a:blip r:embed="rId4">
            <a:alphaModFix/>
          </a:blip>
          <a:srcRect b="0" l="0" r="0" t="0"/>
          <a:stretch/>
        </p:blipFill>
        <p:spPr>
          <a:xfrm>
            <a:off x="3611880" y="2441448"/>
            <a:ext cx="365760" cy="365760"/>
          </a:xfrm>
          <a:prstGeom prst="rect">
            <a:avLst/>
          </a:prstGeom>
          <a:noFill/>
          <a:ln>
            <a:noFill/>
          </a:ln>
        </p:spPr>
      </p:pic>
      <p:sp>
        <p:nvSpPr>
          <p:cNvPr id="335" name="Google Shape;335;p13"/>
          <p:cNvSpPr/>
          <p:nvPr/>
        </p:nvSpPr>
        <p:spPr>
          <a:xfrm>
            <a:off x="3611880" y="2880360"/>
            <a:ext cx="233172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A rep you helped choose is a rep who'll listen when you tell them what matters — like past-paper access before mocks, or edit time before a hand-in.</a:t>
            </a:r>
            <a:endParaRPr b="0" i="0" sz="1000" u="none" cap="none" strike="noStrike">
              <a:solidFill>
                <a:schemeClr val="dk1"/>
              </a:solidFill>
              <a:latin typeface="Calibri"/>
              <a:ea typeface="Calibri"/>
              <a:cs typeface="Calibri"/>
              <a:sym typeface="Calibri"/>
            </a:endParaRPr>
          </a:p>
        </p:txBody>
      </p:sp>
      <p:sp>
        <p:nvSpPr>
          <p:cNvPr id="336" name="Google Shape;336;p13"/>
          <p:cNvSpPr/>
          <p:nvPr/>
        </p:nvSpPr>
        <p:spPr>
          <a:xfrm>
            <a:off x="6309360" y="2331720"/>
            <a:ext cx="2606040" cy="1572768"/>
          </a:xfrm>
          <a:prstGeom prst="rect">
            <a:avLst/>
          </a:prstGeom>
          <a:solidFill>
            <a:srgbClr val="0F7A54"/>
          </a:solidFill>
          <a:ln cap="flat" cmpd="sng" w="12700">
            <a:solidFill>
              <a:srgbClr val="0F7A54"/>
            </a:solidFill>
            <a:prstDash val="solid"/>
            <a:round/>
            <a:headEnd len="sm" w="sm" type="none"/>
            <a:tailEnd len="sm" w="sm" type="none"/>
          </a:ln>
          <a:effectLst>
            <a:outerShdw blurRad="76200" rotWithShape="0" algn="bl" dir="2700000" dist="25400">
              <a:srgbClr val="000000">
                <a:alpha val="1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337" name="Google Shape;337;p13"/>
          <p:cNvPicPr preferRelativeResize="0"/>
          <p:nvPr/>
        </p:nvPicPr>
        <p:blipFill rotWithShape="1">
          <a:blip r:embed="rId5">
            <a:alphaModFix/>
          </a:blip>
          <a:srcRect b="0" l="0" r="0" t="0"/>
          <a:stretch/>
        </p:blipFill>
        <p:spPr>
          <a:xfrm>
            <a:off x="6446520" y="2441448"/>
            <a:ext cx="365760" cy="365760"/>
          </a:xfrm>
          <a:prstGeom prst="rect">
            <a:avLst/>
          </a:prstGeom>
          <a:noFill/>
          <a:ln>
            <a:noFill/>
          </a:ln>
        </p:spPr>
      </p:pic>
      <p:sp>
        <p:nvSpPr>
          <p:cNvPr id="338" name="Google Shape;338;p13"/>
          <p:cNvSpPr/>
          <p:nvPr/>
        </p:nvSpPr>
        <p:spPr>
          <a:xfrm>
            <a:off x="6446520" y="2880360"/>
            <a:ext cx="233172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The group that engages this year sets the standard for the one that comes after. Next year's Year 2 inherit whatever routine you leave behind.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343" name="Shape 343"/>
        <p:cNvGrpSpPr/>
        <p:nvPr/>
      </p:nvGrpSpPr>
      <p:grpSpPr>
        <a:xfrm>
          <a:off x="0" y="0"/>
          <a:ext cx="0" cy="0"/>
          <a:chOff x="0" y="0"/>
          <a:chExt cx="0" cy="0"/>
        </a:xfrm>
      </p:grpSpPr>
      <p:sp>
        <p:nvSpPr>
          <p:cNvPr id="344" name="Google Shape;344;p14"/>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Election time</a:t>
            </a:r>
            <a:endParaRPr b="0" i="0" sz="2200" u="none" cap="none" strike="noStrike">
              <a:solidFill>
                <a:schemeClr val="dk1"/>
              </a:solidFill>
              <a:latin typeface="Calibri"/>
              <a:ea typeface="Calibri"/>
              <a:cs typeface="Calibri"/>
              <a:sym typeface="Calibri"/>
            </a:endParaRPr>
          </a:p>
        </p:txBody>
      </p:sp>
      <p:sp>
        <p:nvSpPr>
          <p:cNvPr id="345" name="Google Shape;345;p14"/>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Nominations · Pitches · Vote · Confirm — 30–35 minutes</a:t>
            </a:r>
            <a:endParaRPr b="0" i="0" sz="1100" u="none" cap="none" strike="noStrike">
              <a:solidFill>
                <a:schemeClr val="dk1"/>
              </a:solidFill>
              <a:latin typeface="Calibri"/>
              <a:ea typeface="Calibri"/>
              <a:cs typeface="Calibri"/>
              <a:sym typeface="Calibri"/>
            </a:endParaRPr>
          </a:p>
        </p:txBody>
      </p:sp>
      <p:sp>
        <p:nvSpPr>
          <p:cNvPr id="346" name="Google Shape;346;p14"/>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7" name="Google Shape;347;p14"/>
          <p:cNvSpPr/>
          <p:nvPr/>
        </p:nvSpPr>
        <p:spPr>
          <a:xfrm>
            <a:off x="7498080" y="109728"/>
            <a:ext cx="1508760" cy="292608"/>
          </a:xfrm>
          <a:prstGeom prst="rect">
            <a:avLst/>
          </a:prstGeom>
          <a:solidFill>
            <a:srgbClr val="FFCF01"/>
          </a:solidFill>
          <a:ln cap="flat" cmpd="sng" w="12700">
            <a:solidFill>
              <a:srgbClr val="FFCF0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8" name="Google Shape;348;p14"/>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2A30"/>
              </a:buClr>
              <a:buSzPts val="750"/>
              <a:buFont typeface="Arial"/>
              <a:buNone/>
            </a:pPr>
            <a:r>
              <a:rPr b="1" i="0" lang="en-US" sz="750" u="none" cap="none" strike="noStrike">
                <a:solidFill>
                  <a:srgbClr val="1B2A30"/>
                </a:solidFill>
                <a:latin typeface="Arial"/>
                <a:ea typeface="Arial"/>
                <a:cs typeface="Arial"/>
                <a:sym typeface="Arial"/>
              </a:rPr>
              <a:t>ACTIVITY</a:t>
            </a:r>
            <a:endParaRPr b="0" i="0" sz="750" u="none" cap="none" strike="noStrike">
              <a:solidFill>
                <a:schemeClr val="dk1"/>
              </a:solidFill>
              <a:latin typeface="Calibri"/>
              <a:ea typeface="Calibri"/>
              <a:cs typeface="Calibri"/>
              <a:sym typeface="Calibri"/>
            </a:endParaRPr>
          </a:p>
        </p:txBody>
      </p:sp>
      <p:sp>
        <p:nvSpPr>
          <p:cNvPr id="349" name="Google Shape;349;p14"/>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A Level / Year 2 — Media, Film, Photography and Digital</a:t>
            </a:r>
            <a:endParaRPr b="0" i="0" sz="800" u="none" cap="none" strike="noStrike">
              <a:solidFill>
                <a:schemeClr val="dk1"/>
              </a:solidFill>
              <a:latin typeface="Calibri"/>
              <a:ea typeface="Calibri"/>
              <a:cs typeface="Calibri"/>
              <a:sym typeface="Calibri"/>
            </a:endParaRPr>
          </a:p>
        </p:txBody>
      </p:sp>
      <p:sp>
        <p:nvSpPr>
          <p:cNvPr id="350" name="Google Shape;350;p14"/>
          <p:cNvSpPr/>
          <p:nvPr/>
        </p:nvSpPr>
        <p:spPr>
          <a:xfrm>
            <a:off x="411480" y="987552"/>
            <a:ext cx="1965960" cy="3246120"/>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51" name="Google Shape;351;p14"/>
          <p:cNvCxnSpPr/>
          <p:nvPr/>
        </p:nvCxnSpPr>
        <p:spPr>
          <a:xfrm>
            <a:off x="521208" y="1097280"/>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352" name="Google Shape;352;p14"/>
          <p:cNvSpPr/>
          <p:nvPr/>
        </p:nvSpPr>
        <p:spPr>
          <a:xfrm>
            <a:off x="521208" y="109728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1</a:t>
            </a:r>
            <a:endParaRPr b="0" i="0" sz="1400" u="none" cap="none" strike="noStrike">
              <a:solidFill>
                <a:schemeClr val="dk1"/>
              </a:solidFill>
              <a:latin typeface="Calibri"/>
              <a:ea typeface="Calibri"/>
              <a:cs typeface="Calibri"/>
              <a:sym typeface="Calibri"/>
            </a:endParaRPr>
          </a:p>
        </p:txBody>
      </p:sp>
      <p:pic>
        <p:nvPicPr>
          <p:cNvPr descr="preencoded.png" id="353" name="Google Shape;353;p14"/>
          <p:cNvPicPr preferRelativeResize="0"/>
          <p:nvPr/>
        </p:nvPicPr>
        <p:blipFill rotWithShape="1">
          <a:blip r:embed="rId3">
            <a:alphaModFix/>
          </a:blip>
          <a:srcRect b="0" l="0" r="0" t="0"/>
          <a:stretch/>
        </p:blipFill>
        <p:spPr>
          <a:xfrm>
            <a:off x="1161288" y="1115568"/>
            <a:ext cx="438912" cy="438912"/>
          </a:xfrm>
          <a:prstGeom prst="rect">
            <a:avLst/>
          </a:prstGeom>
          <a:noFill/>
          <a:ln>
            <a:noFill/>
          </a:ln>
        </p:spPr>
      </p:pic>
      <p:sp>
        <p:nvSpPr>
          <p:cNvPr id="354" name="Google Shape;354;p14"/>
          <p:cNvSpPr/>
          <p:nvPr/>
        </p:nvSpPr>
        <p:spPr>
          <a:xfrm>
            <a:off x="521208" y="1664208"/>
            <a:ext cx="175564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Nominations</a:t>
            </a:r>
            <a:endParaRPr b="0" i="0" sz="1300" u="none" cap="none" strike="noStrike">
              <a:solidFill>
                <a:schemeClr val="dk1"/>
              </a:solidFill>
              <a:latin typeface="Calibri"/>
              <a:ea typeface="Calibri"/>
              <a:cs typeface="Calibri"/>
              <a:sym typeface="Calibri"/>
            </a:endParaRPr>
          </a:p>
        </p:txBody>
      </p:sp>
      <p:sp>
        <p:nvSpPr>
          <p:cNvPr id="355" name="Google Shape;355;p14"/>
          <p:cNvSpPr/>
          <p:nvPr/>
        </p:nvSpPr>
        <p:spPr>
          <a:xfrm>
            <a:off x="521208" y="2084832"/>
            <a:ext cx="1755648"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Any student may put themselves forward. Two seats are elected today: subject rep, and GCSE English/maths rep. Allow 2 minutes.</a:t>
            </a:r>
            <a:endParaRPr b="0" i="0" sz="1050" u="none" cap="none" strike="noStrike">
              <a:solidFill>
                <a:schemeClr val="dk1"/>
              </a:solidFill>
              <a:latin typeface="Calibri"/>
              <a:ea typeface="Calibri"/>
              <a:cs typeface="Calibri"/>
              <a:sym typeface="Calibri"/>
            </a:endParaRPr>
          </a:p>
        </p:txBody>
      </p:sp>
      <p:sp>
        <p:nvSpPr>
          <p:cNvPr id="356" name="Google Shape;356;p14"/>
          <p:cNvSpPr/>
          <p:nvPr/>
        </p:nvSpPr>
        <p:spPr>
          <a:xfrm>
            <a:off x="2532888" y="987552"/>
            <a:ext cx="1965960" cy="3246120"/>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57" name="Google Shape;357;p14"/>
          <p:cNvCxnSpPr/>
          <p:nvPr/>
        </p:nvCxnSpPr>
        <p:spPr>
          <a:xfrm>
            <a:off x="2642616" y="1097280"/>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358" name="Google Shape;358;p14"/>
          <p:cNvSpPr/>
          <p:nvPr/>
        </p:nvSpPr>
        <p:spPr>
          <a:xfrm>
            <a:off x="2642616" y="109728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2</a:t>
            </a:r>
            <a:endParaRPr b="0" i="0" sz="1400" u="none" cap="none" strike="noStrike">
              <a:solidFill>
                <a:schemeClr val="dk1"/>
              </a:solidFill>
              <a:latin typeface="Calibri"/>
              <a:ea typeface="Calibri"/>
              <a:cs typeface="Calibri"/>
              <a:sym typeface="Calibri"/>
            </a:endParaRPr>
          </a:p>
        </p:txBody>
      </p:sp>
      <p:pic>
        <p:nvPicPr>
          <p:cNvPr descr="preencoded.png" id="359" name="Google Shape;359;p14"/>
          <p:cNvPicPr preferRelativeResize="0"/>
          <p:nvPr/>
        </p:nvPicPr>
        <p:blipFill rotWithShape="1">
          <a:blip r:embed="rId4">
            <a:alphaModFix/>
          </a:blip>
          <a:srcRect b="0" l="0" r="0" t="0"/>
          <a:stretch/>
        </p:blipFill>
        <p:spPr>
          <a:xfrm>
            <a:off x="3282696" y="1115568"/>
            <a:ext cx="438912" cy="438912"/>
          </a:xfrm>
          <a:prstGeom prst="rect">
            <a:avLst/>
          </a:prstGeom>
          <a:noFill/>
          <a:ln>
            <a:noFill/>
          </a:ln>
        </p:spPr>
      </p:pic>
      <p:sp>
        <p:nvSpPr>
          <p:cNvPr id="360" name="Google Shape;360;p14"/>
          <p:cNvSpPr/>
          <p:nvPr/>
        </p:nvSpPr>
        <p:spPr>
          <a:xfrm>
            <a:off x="2642616" y="1664208"/>
            <a:ext cx="175564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Candidate pitches</a:t>
            </a:r>
            <a:endParaRPr b="0" i="0" sz="1300" u="none" cap="none" strike="noStrike">
              <a:solidFill>
                <a:schemeClr val="dk1"/>
              </a:solidFill>
              <a:latin typeface="Calibri"/>
              <a:ea typeface="Calibri"/>
              <a:cs typeface="Calibri"/>
              <a:sym typeface="Calibri"/>
            </a:endParaRPr>
          </a:p>
        </p:txBody>
      </p:sp>
      <p:sp>
        <p:nvSpPr>
          <p:cNvPr id="361" name="Google Shape;361;p14"/>
          <p:cNvSpPr/>
          <p:nvPr/>
        </p:nvSpPr>
        <p:spPr>
          <a:xfrm>
            <a:off x="2642616" y="2084832"/>
            <a:ext cx="1755648"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Each nominee takes 1 minute. You've seen this done — say what you'd do differently. “I'd get the coursework and mock dates published together at the start of term.” Tutor keeps time.</a:t>
            </a:r>
            <a:endParaRPr b="0" i="0" sz="1050" u="none" cap="none" strike="noStrike">
              <a:solidFill>
                <a:schemeClr val="dk1"/>
              </a:solidFill>
              <a:latin typeface="Calibri"/>
              <a:ea typeface="Calibri"/>
              <a:cs typeface="Calibri"/>
              <a:sym typeface="Calibri"/>
            </a:endParaRPr>
          </a:p>
        </p:txBody>
      </p:sp>
      <p:sp>
        <p:nvSpPr>
          <p:cNvPr id="362" name="Google Shape;362;p14"/>
          <p:cNvSpPr/>
          <p:nvPr/>
        </p:nvSpPr>
        <p:spPr>
          <a:xfrm>
            <a:off x="4654296" y="987552"/>
            <a:ext cx="1965960" cy="3246120"/>
          </a:xfrm>
          <a:prstGeom prst="rect">
            <a:avLst/>
          </a:prstGeom>
          <a:solidFill>
            <a:srgbClr val="FFFFFF"/>
          </a:solidFill>
          <a:ln cap="flat" cmpd="sng" w="12700">
            <a:solidFill>
              <a:srgbClr val="D2DBDA"/>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63" name="Google Shape;363;p14"/>
          <p:cNvCxnSpPr/>
          <p:nvPr/>
        </p:nvCxnSpPr>
        <p:spPr>
          <a:xfrm>
            <a:off x="4764024" y="1097280"/>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364" name="Google Shape;364;p14"/>
          <p:cNvSpPr/>
          <p:nvPr/>
        </p:nvSpPr>
        <p:spPr>
          <a:xfrm>
            <a:off x="4764024" y="109728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3</a:t>
            </a:r>
            <a:endParaRPr b="0" i="0" sz="1400" u="none" cap="none" strike="noStrike">
              <a:solidFill>
                <a:schemeClr val="dk1"/>
              </a:solidFill>
              <a:latin typeface="Calibri"/>
              <a:ea typeface="Calibri"/>
              <a:cs typeface="Calibri"/>
              <a:sym typeface="Calibri"/>
            </a:endParaRPr>
          </a:p>
        </p:txBody>
      </p:sp>
      <p:pic>
        <p:nvPicPr>
          <p:cNvPr descr="preencoded.png" id="365" name="Google Shape;365;p14"/>
          <p:cNvPicPr preferRelativeResize="0"/>
          <p:nvPr/>
        </p:nvPicPr>
        <p:blipFill rotWithShape="1">
          <a:blip r:embed="rId5">
            <a:alphaModFix/>
          </a:blip>
          <a:srcRect b="0" l="0" r="0" t="0"/>
          <a:stretch/>
        </p:blipFill>
        <p:spPr>
          <a:xfrm>
            <a:off x="5404104" y="1115568"/>
            <a:ext cx="438912" cy="438912"/>
          </a:xfrm>
          <a:prstGeom prst="rect">
            <a:avLst/>
          </a:prstGeom>
          <a:noFill/>
          <a:ln>
            <a:noFill/>
          </a:ln>
        </p:spPr>
      </p:pic>
      <p:sp>
        <p:nvSpPr>
          <p:cNvPr id="366" name="Google Shape;366;p14"/>
          <p:cNvSpPr/>
          <p:nvPr/>
        </p:nvSpPr>
        <p:spPr>
          <a:xfrm>
            <a:off x="4764024" y="1664208"/>
            <a:ext cx="175564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The vote</a:t>
            </a:r>
            <a:endParaRPr b="0" i="0" sz="1300" u="none" cap="none" strike="noStrike">
              <a:solidFill>
                <a:schemeClr val="dk1"/>
              </a:solidFill>
              <a:latin typeface="Calibri"/>
              <a:ea typeface="Calibri"/>
              <a:cs typeface="Calibri"/>
              <a:sym typeface="Calibri"/>
            </a:endParaRPr>
          </a:p>
        </p:txBody>
      </p:sp>
      <p:sp>
        <p:nvSpPr>
          <p:cNvPr id="367" name="Google Shape;367;p14"/>
          <p:cNvSpPr/>
          <p:nvPr/>
        </p:nvSpPr>
        <p:spPr>
          <a:xfrm>
            <a:off x="4764024" y="2084832"/>
            <a:ext cx="1755648"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Group decides the fairest method. Tutor facilitates agreement then runs the vote. Anonymous slips work well where students are split across teaching groups.</a:t>
            </a:r>
            <a:endParaRPr b="0" i="0" sz="1050" u="none" cap="none" strike="noStrike">
              <a:solidFill>
                <a:schemeClr val="dk1"/>
              </a:solidFill>
              <a:latin typeface="Calibri"/>
              <a:ea typeface="Calibri"/>
              <a:cs typeface="Calibri"/>
              <a:sym typeface="Calibri"/>
            </a:endParaRPr>
          </a:p>
        </p:txBody>
      </p:sp>
      <p:sp>
        <p:nvSpPr>
          <p:cNvPr id="368" name="Google Shape;368;p14"/>
          <p:cNvSpPr/>
          <p:nvPr/>
        </p:nvSpPr>
        <p:spPr>
          <a:xfrm>
            <a:off x="6775704" y="987552"/>
            <a:ext cx="1965960" cy="3246120"/>
          </a:xfrm>
          <a:prstGeom prst="rect">
            <a:avLst/>
          </a:prstGeom>
          <a:solidFill>
            <a:srgbClr val="FFFFFF"/>
          </a:solidFill>
          <a:ln cap="flat" cmpd="sng" w="25400">
            <a:solidFill>
              <a:srgbClr val="0F7A54"/>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69" name="Google Shape;369;p14"/>
          <p:cNvCxnSpPr/>
          <p:nvPr/>
        </p:nvCxnSpPr>
        <p:spPr>
          <a:xfrm>
            <a:off x="6885432" y="1097280"/>
            <a:ext cx="475488" cy="475488"/>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370" name="Google Shape;370;p14"/>
          <p:cNvSpPr/>
          <p:nvPr/>
        </p:nvSpPr>
        <p:spPr>
          <a:xfrm>
            <a:off x="6885432" y="1097280"/>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4</a:t>
            </a:r>
            <a:endParaRPr b="0" i="0" sz="1400" u="none" cap="none" strike="noStrike">
              <a:solidFill>
                <a:schemeClr val="dk1"/>
              </a:solidFill>
              <a:latin typeface="Calibri"/>
              <a:ea typeface="Calibri"/>
              <a:cs typeface="Calibri"/>
              <a:sym typeface="Calibri"/>
            </a:endParaRPr>
          </a:p>
        </p:txBody>
      </p:sp>
      <p:pic>
        <p:nvPicPr>
          <p:cNvPr descr="preencoded.png" id="371" name="Google Shape;371;p14"/>
          <p:cNvPicPr preferRelativeResize="0"/>
          <p:nvPr/>
        </p:nvPicPr>
        <p:blipFill rotWithShape="1">
          <a:blip r:embed="rId6">
            <a:alphaModFix/>
          </a:blip>
          <a:srcRect b="0" l="0" r="0" t="0"/>
          <a:stretch/>
        </p:blipFill>
        <p:spPr>
          <a:xfrm>
            <a:off x="7525512" y="1115568"/>
            <a:ext cx="438912" cy="438912"/>
          </a:xfrm>
          <a:prstGeom prst="rect">
            <a:avLst/>
          </a:prstGeom>
          <a:noFill/>
          <a:ln>
            <a:noFill/>
          </a:ln>
        </p:spPr>
      </p:pic>
      <p:sp>
        <p:nvSpPr>
          <p:cNvPr id="372" name="Google Shape;372;p14"/>
          <p:cNvSpPr/>
          <p:nvPr/>
        </p:nvSpPr>
        <p:spPr>
          <a:xfrm>
            <a:off x="6885432" y="1664208"/>
            <a:ext cx="175564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300"/>
              <a:buFont typeface="Arial"/>
              <a:buNone/>
            </a:pPr>
            <a:r>
              <a:rPr b="1" i="0" lang="en-US" sz="1300" u="none" cap="none" strike="noStrike">
                <a:solidFill>
                  <a:srgbClr val="0D2434"/>
                </a:solidFill>
                <a:latin typeface="Arial"/>
                <a:ea typeface="Arial"/>
                <a:cs typeface="Arial"/>
                <a:sym typeface="Arial"/>
              </a:rPr>
              <a:t>Confirm &amp; register</a:t>
            </a:r>
            <a:endParaRPr b="0" i="0" sz="1300" u="none" cap="none" strike="noStrike">
              <a:solidFill>
                <a:schemeClr val="dk1"/>
              </a:solidFill>
              <a:latin typeface="Calibri"/>
              <a:ea typeface="Calibri"/>
              <a:cs typeface="Calibri"/>
              <a:sym typeface="Calibri"/>
            </a:endParaRPr>
          </a:p>
        </p:txBody>
      </p:sp>
      <p:sp>
        <p:nvSpPr>
          <p:cNvPr id="373" name="Google Shape;373;p14"/>
          <p:cNvSpPr/>
          <p:nvPr/>
        </p:nvSpPr>
        <p:spPr>
          <a:xfrm>
            <a:off x="6885432" y="2084832"/>
            <a:ext cx="1755648"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Announce both results. Add the subject rep and the English/maths rep to the central Student Rep Register before this session closes.</a:t>
            </a:r>
            <a:endParaRPr b="0" i="0" sz="1050" u="none" cap="none" strike="noStrike">
              <a:solidFill>
                <a:schemeClr val="dk1"/>
              </a:solidFill>
              <a:latin typeface="Calibri"/>
              <a:ea typeface="Calibri"/>
              <a:cs typeface="Calibri"/>
              <a:sym typeface="Calibri"/>
            </a:endParaRPr>
          </a:p>
        </p:txBody>
      </p:sp>
      <p:sp>
        <p:nvSpPr>
          <p:cNvPr id="374" name="Google Shape;374;p14"/>
          <p:cNvSpPr/>
          <p:nvPr/>
        </p:nvSpPr>
        <p:spPr>
          <a:xfrm>
            <a:off x="6885432" y="3547872"/>
            <a:ext cx="1755648" cy="475488"/>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5" name="Google Shape;375;p14"/>
          <p:cNvSpPr/>
          <p:nvPr/>
        </p:nvSpPr>
        <p:spPr>
          <a:xfrm>
            <a:off x="6885432" y="3547872"/>
            <a:ext cx="175564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Must complete</a:t>
            </a:r>
            <a:endParaRPr b="0" i="0" sz="9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before session ends</a:t>
            </a:r>
            <a:endParaRPr b="0" i="0" sz="900" u="none" cap="none" strike="noStrike">
              <a:solidFill>
                <a:schemeClr val="dk1"/>
              </a:solidFill>
              <a:latin typeface="Calibri"/>
              <a:ea typeface="Calibri"/>
              <a:cs typeface="Calibri"/>
              <a:sym typeface="Calibri"/>
            </a:endParaRPr>
          </a:p>
        </p:txBody>
      </p:sp>
      <p:sp>
        <p:nvSpPr>
          <p:cNvPr id="376" name="Google Shape;376;p14"/>
          <p:cNvSpPr/>
          <p:nvPr/>
        </p:nvSpPr>
        <p:spPr>
          <a:xfrm>
            <a:off x="411480" y="4315968"/>
            <a:ext cx="8321040" cy="457200"/>
          </a:xfrm>
          <a:prstGeom prst="rect">
            <a:avLst/>
          </a:prstGeom>
          <a:solidFill>
            <a:srgbClr val="F8E7E3"/>
          </a:solidFill>
          <a:ln cap="flat" cmpd="sng" w="1905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7" name="Google Shape;377;p14"/>
          <p:cNvSpPr/>
          <p:nvPr/>
        </p:nvSpPr>
        <p:spPr>
          <a:xfrm>
            <a:off x="548640" y="4315968"/>
            <a:ext cx="80467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23A2E"/>
              </a:buClr>
              <a:buSzPts val="950"/>
              <a:buFont typeface="Arial"/>
              <a:buNone/>
            </a:pPr>
            <a:r>
              <a:rPr b="1" i="0" lang="en-US" sz="950" u="none" cap="none" strike="noStrike">
                <a:solidFill>
                  <a:srgbClr val="B23A2E"/>
                </a:solidFill>
                <a:latin typeface="Arial"/>
                <a:ea typeface="Arial"/>
                <a:cs typeface="Arial"/>
                <a:sym typeface="Arial"/>
              </a:rPr>
              <a:t>MANDATORY: Student Rep elections must be completed and the rep confirmed no later than the end of Week 2 of the academic year.</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382" name="Shape 382"/>
        <p:cNvGrpSpPr/>
        <p:nvPr/>
      </p:nvGrpSpPr>
      <p:grpSpPr>
        <a:xfrm>
          <a:off x="0" y="0"/>
          <a:ext cx="0" cy="0"/>
          <a:chOff x="0" y="0"/>
          <a:chExt cx="0" cy="0"/>
        </a:xfrm>
      </p:grpSpPr>
      <p:sp>
        <p:nvSpPr>
          <p:cNvPr id="383" name="Google Shape;383;p15"/>
          <p:cNvSpPr/>
          <p:nvPr/>
        </p:nvSpPr>
        <p:spPr>
          <a:xfrm>
            <a:off x="411480" y="164592"/>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2200"/>
              <a:buFont typeface="Arial"/>
              <a:buNone/>
            </a:pPr>
            <a:r>
              <a:rPr b="1" i="0" lang="en-US" sz="2200" u="none" cap="none" strike="noStrike">
                <a:solidFill>
                  <a:srgbClr val="0D2434"/>
                </a:solidFill>
                <a:latin typeface="Arial"/>
                <a:ea typeface="Arial"/>
                <a:cs typeface="Arial"/>
                <a:sym typeface="Arial"/>
              </a:rPr>
              <a:t>Before you go</a:t>
            </a:r>
            <a:endParaRPr b="0" i="0" sz="2200" u="none" cap="none" strike="noStrike">
              <a:solidFill>
                <a:schemeClr val="dk1"/>
              </a:solidFill>
              <a:latin typeface="Calibri"/>
              <a:ea typeface="Calibri"/>
              <a:cs typeface="Calibri"/>
              <a:sym typeface="Calibri"/>
            </a:endParaRPr>
          </a:p>
        </p:txBody>
      </p:sp>
      <p:sp>
        <p:nvSpPr>
          <p:cNvPr id="384" name="Google Shape;384;p15"/>
          <p:cNvSpPr/>
          <p:nvPr/>
        </p:nvSpPr>
        <p:spPr>
          <a:xfrm>
            <a:off x="411480" y="621792"/>
            <a:ext cx="69494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00"/>
              <a:buFont typeface="Arial"/>
              <a:buNone/>
            </a:pPr>
            <a:r>
              <a:rPr b="0" i="1" lang="en-US" sz="1100" u="none" cap="none" strike="noStrike">
                <a:solidFill>
                  <a:srgbClr val="5A6A6F"/>
                </a:solidFill>
                <a:latin typeface="Arial"/>
                <a:ea typeface="Arial"/>
                <a:cs typeface="Arial"/>
                <a:sym typeface="Arial"/>
              </a:rPr>
              <a:t>One thing to take from today</a:t>
            </a:r>
            <a:endParaRPr b="0" i="0" sz="1100" u="none" cap="none" strike="noStrike">
              <a:solidFill>
                <a:schemeClr val="dk1"/>
              </a:solidFill>
              <a:latin typeface="Calibri"/>
              <a:ea typeface="Calibri"/>
              <a:cs typeface="Calibri"/>
              <a:sym typeface="Calibri"/>
            </a:endParaRPr>
          </a:p>
        </p:txBody>
      </p:sp>
      <p:sp>
        <p:nvSpPr>
          <p:cNvPr id="385" name="Google Shape;385;p15"/>
          <p:cNvSpPr/>
          <p:nvPr/>
        </p:nvSpPr>
        <p:spPr>
          <a:xfrm>
            <a:off x="411480" y="868680"/>
            <a:ext cx="8321040" cy="27432"/>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15"/>
          <p:cNvSpPr/>
          <p:nvPr/>
        </p:nvSpPr>
        <p:spPr>
          <a:xfrm>
            <a:off x="7498080" y="109728"/>
            <a:ext cx="1508760" cy="292608"/>
          </a:xfrm>
          <a:prstGeom prst="rect">
            <a:avLst/>
          </a:prstGeom>
          <a:solidFill>
            <a:srgbClr val="FFCF01"/>
          </a:solidFill>
          <a:ln cap="flat" cmpd="sng" w="12700">
            <a:solidFill>
              <a:srgbClr val="FFCF0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7" name="Google Shape;387;p15"/>
          <p:cNvSpPr/>
          <p:nvPr/>
        </p:nvSpPr>
        <p:spPr>
          <a:xfrm>
            <a:off x="7498080" y="109728"/>
            <a:ext cx="150876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B2A30"/>
              </a:buClr>
              <a:buSzPts val="750"/>
              <a:buFont typeface="Arial"/>
              <a:buNone/>
            </a:pPr>
            <a:r>
              <a:rPr b="1" i="0" lang="en-US" sz="750" u="none" cap="none" strike="noStrike">
                <a:solidFill>
                  <a:srgbClr val="1B2A30"/>
                </a:solidFill>
                <a:latin typeface="Arial"/>
                <a:ea typeface="Arial"/>
                <a:cs typeface="Arial"/>
                <a:sym typeface="Arial"/>
              </a:rPr>
              <a:t>ACTIVITY</a:t>
            </a:r>
            <a:endParaRPr b="0" i="0" sz="750" u="none" cap="none" strike="noStrike">
              <a:solidFill>
                <a:schemeClr val="dk1"/>
              </a:solidFill>
              <a:latin typeface="Calibri"/>
              <a:ea typeface="Calibri"/>
              <a:cs typeface="Calibri"/>
              <a:sym typeface="Calibri"/>
            </a:endParaRPr>
          </a:p>
        </p:txBody>
      </p:sp>
      <p:sp>
        <p:nvSpPr>
          <p:cNvPr id="388" name="Google Shape;388;p15"/>
          <p:cNvSpPr/>
          <p:nvPr/>
        </p:nvSpPr>
        <p:spPr>
          <a:xfrm>
            <a:off x="411480" y="4892040"/>
            <a:ext cx="8321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800"/>
              <a:buFont typeface="Arial"/>
              <a:buNone/>
            </a:pPr>
            <a:r>
              <a:rPr b="0" i="0" lang="en-US" sz="800" u="none" cap="none" strike="noStrike">
                <a:solidFill>
                  <a:srgbClr val="5A6A6F"/>
                </a:solidFill>
                <a:latin typeface="Arial"/>
                <a:ea typeface="Arial"/>
                <a:cs typeface="Arial"/>
                <a:sym typeface="Arial"/>
              </a:rPr>
              <a:t>Module D — Students' Voice &amp; Student Rep Elections  |  A Level / Year 2 — Media, Film, Photography and Digital</a:t>
            </a:r>
            <a:endParaRPr b="0" i="0" sz="800" u="none" cap="none" strike="noStrike">
              <a:solidFill>
                <a:schemeClr val="dk1"/>
              </a:solidFill>
              <a:latin typeface="Calibri"/>
              <a:ea typeface="Calibri"/>
              <a:cs typeface="Calibri"/>
              <a:sym typeface="Calibri"/>
            </a:endParaRPr>
          </a:p>
        </p:txBody>
      </p:sp>
      <p:sp>
        <p:nvSpPr>
          <p:cNvPr id="389" name="Google Shape;389;p15"/>
          <p:cNvSpPr/>
          <p:nvPr/>
        </p:nvSpPr>
        <p:spPr>
          <a:xfrm>
            <a:off x="411480" y="932688"/>
            <a:ext cx="83210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1150"/>
              <a:buFont typeface="Arial"/>
              <a:buNone/>
            </a:pPr>
            <a:r>
              <a:rPr b="0" i="0" lang="en-US" sz="1150" u="none" cap="none" strike="noStrike">
                <a:solidFill>
                  <a:srgbClr val="5A6A6F"/>
                </a:solidFill>
                <a:latin typeface="Arial"/>
                <a:ea typeface="Arial"/>
                <a:cs typeface="Arial"/>
                <a:sym typeface="Arial"/>
              </a:rPr>
              <a:t>Choose one — write it down, or tell the person next to you:</a:t>
            </a:r>
            <a:endParaRPr b="0" i="0" sz="1150" u="none" cap="none" strike="noStrike">
              <a:solidFill>
                <a:schemeClr val="dk1"/>
              </a:solidFill>
              <a:latin typeface="Calibri"/>
              <a:ea typeface="Calibri"/>
              <a:cs typeface="Calibri"/>
              <a:sym typeface="Calibri"/>
            </a:endParaRPr>
          </a:p>
        </p:txBody>
      </p:sp>
      <p:sp>
        <p:nvSpPr>
          <p:cNvPr id="390" name="Google Shape;390;p15"/>
          <p:cNvSpPr/>
          <p:nvPr/>
        </p:nvSpPr>
        <p:spPr>
          <a:xfrm>
            <a:off x="411480" y="1298448"/>
            <a:ext cx="4069080" cy="1572768"/>
          </a:xfrm>
          <a:prstGeom prst="rect">
            <a:avLst/>
          </a:prstGeom>
          <a:solidFill>
            <a:srgbClr val="0F7A54"/>
          </a:solidFill>
          <a:ln cap="flat" cmpd="sng" w="12700">
            <a:solidFill>
              <a:srgbClr val="0F7A54"/>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91" name="Google Shape;391;p15"/>
          <p:cNvCxnSpPr/>
          <p:nvPr/>
        </p:nvCxnSpPr>
        <p:spPr>
          <a:xfrm>
            <a:off x="548640" y="1435608"/>
            <a:ext cx="384048" cy="384048"/>
          </a:xfrm>
          <a:prstGeom prst="straightConnector1">
            <a:avLst/>
          </a:prstGeom>
          <a:solidFill>
            <a:srgbClr val="FFFFFF"/>
          </a:solidFill>
          <a:ln cap="flat" cmpd="sng" w="12700">
            <a:solidFill>
              <a:srgbClr val="FFFFFF"/>
            </a:solidFill>
            <a:prstDash val="solid"/>
            <a:round/>
            <a:headEnd len="sm" w="sm" type="none"/>
            <a:tailEnd len="sm" w="sm" type="none"/>
          </a:ln>
        </p:spPr>
      </p:cxnSp>
      <p:sp>
        <p:nvSpPr>
          <p:cNvPr id="392" name="Google Shape;392;p15"/>
          <p:cNvSpPr/>
          <p:nvPr/>
        </p:nvSpPr>
        <p:spPr>
          <a:xfrm>
            <a:off x="548640" y="1435608"/>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1</a:t>
            </a:r>
            <a:endParaRPr b="0" i="0" sz="1200" u="none" cap="none" strike="noStrike">
              <a:solidFill>
                <a:schemeClr val="dk1"/>
              </a:solidFill>
              <a:latin typeface="Calibri"/>
              <a:ea typeface="Calibri"/>
              <a:cs typeface="Calibri"/>
              <a:sym typeface="Calibri"/>
            </a:endParaRPr>
          </a:p>
        </p:txBody>
      </p:sp>
      <p:sp>
        <p:nvSpPr>
          <p:cNvPr id="393" name="Google Shape;393;p15"/>
          <p:cNvSpPr/>
          <p:nvPr/>
        </p:nvSpPr>
        <p:spPr>
          <a:xfrm>
            <a:off x="1051560" y="1435608"/>
            <a:ext cx="329184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50"/>
              <a:buFont typeface="Arial"/>
              <a:buNone/>
            </a:pPr>
            <a:r>
              <a:rPr b="1" i="0" lang="en-US" sz="1250" u="none" cap="none" strike="noStrike">
                <a:solidFill>
                  <a:srgbClr val="FFFFFF"/>
                </a:solidFill>
                <a:latin typeface="Arial"/>
                <a:ea typeface="Arial"/>
                <a:cs typeface="Arial"/>
                <a:sym typeface="Arial"/>
              </a:rPr>
              <a:t>I'll use my vote</a:t>
            </a:r>
            <a:endParaRPr b="0" i="0" sz="1250" u="none" cap="none" strike="noStrike">
              <a:solidFill>
                <a:schemeClr val="dk1"/>
              </a:solidFill>
              <a:latin typeface="Calibri"/>
              <a:ea typeface="Calibri"/>
              <a:cs typeface="Calibri"/>
              <a:sym typeface="Calibri"/>
            </a:endParaRPr>
          </a:p>
        </p:txBody>
      </p:sp>
      <p:sp>
        <p:nvSpPr>
          <p:cNvPr id="394" name="Google Shape;394;p15"/>
          <p:cNvSpPr/>
          <p:nvPr/>
        </p:nvSpPr>
        <p:spPr>
          <a:xfrm>
            <a:off x="548640" y="1920240"/>
            <a:ext cx="379476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I'll vote in any college elections or surveys this year — and I'll actually think about who or what I'm voting for. Like which brief or final piece the group takes on.</a:t>
            </a:r>
            <a:endParaRPr b="0" i="0" sz="1050" u="none" cap="none" strike="noStrike">
              <a:solidFill>
                <a:schemeClr val="dk1"/>
              </a:solidFill>
              <a:latin typeface="Calibri"/>
              <a:ea typeface="Calibri"/>
              <a:cs typeface="Calibri"/>
              <a:sym typeface="Calibri"/>
            </a:endParaRPr>
          </a:p>
        </p:txBody>
      </p:sp>
      <p:sp>
        <p:nvSpPr>
          <p:cNvPr id="395" name="Google Shape;395;p15"/>
          <p:cNvSpPr/>
          <p:nvPr/>
        </p:nvSpPr>
        <p:spPr>
          <a:xfrm>
            <a:off x="4663440" y="1298448"/>
            <a:ext cx="4069080" cy="1572768"/>
          </a:xfrm>
          <a:prstGeom prst="rect">
            <a:avLst/>
          </a:prstGeom>
          <a:solidFill>
            <a:srgbClr val="0D2434"/>
          </a:solidFill>
          <a:ln cap="flat" cmpd="sng" w="12700">
            <a:solidFill>
              <a:srgbClr val="0D2434"/>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96" name="Google Shape;396;p15"/>
          <p:cNvCxnSpPr/>
          <p:nvPr/>
        </p:nvCxnSpPr>
        <p:spPr>
          <a:xfrm>
            <a:off x="4800600" y="1435608"/>
            <a:ext cx="384048" cy="384048"/>
          </a:xfrm>
          <a:prstGeom prst="straightConnector1">
            <a:avLst/>
          </a:prstGeom>
          <a:solidFill>
            <a:srgbClr val="FFFFFF"/>
          </a:solidFill>
          <a:ln cap="flat" cmpd="sng" w="12700">
            <a:solidFill>
              <a:srgbClr val="FFFFFF"/>
            </a:solidFill>
            <a:prstDash val="solid"/>
            <a:round/>
            <a:headEnd len="sm" w="sm" type="none"/>
            <a:tailEnd len="sm" w="sm" type="none"/>
          </a:ln>
        </p:spPr>
      </p:cxnSp>
      <p:sp>
        <p:nvSpPr>
          <p:cNvPr id="397" name="Google Shape;397;p15"/>
          <p:cNvSpPr/>
          <p:nvPr/>
        </p:nvSpPr>
        <p:spPr>
          <a:xfrm>
            <a:off x="4800600" y="1435608"/>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2434"/>
              </a:buClr>
              <a:buSzPts val="1200"/>
              <a:buFont typeface="Arial"/>
              <a:buNone/>
            </a:pPr>
            <a:r>
              <a:rPr b="1" i="0" lang="en-US" sz="1200" u="none" cap="none" strike="noStrike">
                <a:solidFill>
                  <a:srgbClr val="0D2434"/>
                </a:solidFill>
                <a:latin typeface="Arial"/>
                <a:ea typeface="Arial"/>
                <a:cs typeface="Arial"/>
                <a:sym typeface="Arial"/>
              </a:rPr>
              <a:t>2</a:t>
            </a:r>
            <a:endParaRPr b="0" i="0" sz="1200" u="none" cap="none" strike="noStrike">
              <a:solidFill>
                <a:schemeClr val="dk1"/>
              </a:solidFill>
              <a:latin typeface="Calibri"/>
              <a:ea typeface="Calibri"/>
              <a:cs typeface="Calibri"/>
              <a:sym typeface="Calibri"/>
            </a:endParaRPr>
          </a:p>
        </p:txBody>
      </p:sp>
      <p:sp>
        <p:nvSpPr>
          <p:cNvPr id="398" name="Google Shape;398;p15"/>
          <p:cNvSpPr/>
          <p:nvPr/>
        </p:nvSpPr>
        <p:spPr>
          <a:xfrm>
            <a:off x="5303520" y="1435608"/>
            <a:ext cx="329184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50"/>
              <a:buFont typeface="Arial"/>
              <a:buNone/>
            </a:pPr>
            <a:r>
              <a:rPr b="1" i="0" lang="en-US" sz="1250" u="none" cap="none" strike="noStrike">
                <a:solidFill>
                  <a:srgbClr val="FFFFFF"/>
                </a:solidFill>
                <a:latin typeface="Arial"/>
                <a:ea typeface="Arial"/>
                <a:cs typeface="Arial"/>
                <a:sym typeface="Arial"/>
              </a:rPr>
              <a:t>I'll brief my rep</a:t>
            </a:r>
            <a:endParaRPr b="0" i="0" sz="1250" u="none" cap="none" strike="noStrike">
              <a:solidFill>
                <a:schemeClr val="dk1"/>
              </a:solidFill>
              <a:latin typeface="Calibri"/>
              <a:ea typeface="Calibri"/>
              <a:cs typeface="Calibri"/>
              <a:sym typeface="Calibri"/>
            </a:endParaRPr>
          </a:p>
        </p:txBody>
      </p:sp>
      <p:sp>
        <p:nvSpPr>
          <p:cNvPr id="399" name="Google Shape;399;p15"/>
          <p:cNvSpPr/>
          <p:nvPr/>
        </p:nvSpPr>
        <p:spPr>
          <a:xfrm>
            <a:off x="4800600" y="1920240"/>
            <a:ext cx="379476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I'll tell my Student Rep something specific from last year that still needs fixing — like feedback arriving too late in the coursework cycle to use — and brief my English/maths rep on that class too.</a:t>
            </a:r>
            <a:endParaRPr b="0" i="0" sz="1050" u="none" cap="none" strike="noStrike">
              <a:solidFill>
                <a:schemeClr val="dk1"/>
              </a:solidFill>
              <a:latin typeface="Calibri"/>
              <a:ea typeface="Calibri"/>
              <a:cs typeface="Calibri"/>
              <a:sym typeface="Calibri"/>
            </a:endParaRPr>
          </a:p>
        </p:txBody>
      </p:sp>
      <p:sp>
        <p:nvSpPr>
          <p:cNvPr id="400" name="Google Shape;400;p15"/>
          <p:cNvSpPr/>
          <p:nvPr/>
        </p:nvSpPr>
        <p:spPr>
          <a:xfrm>
            <a:off x="411480" y="3017520"/>
            <a:ext cx="4069080" cy="1755648"/>
          </a:xfrm>
          <a:prstGeom prst="rect">
            <a:avLst/>
          </a:prstGeom>
          <a:solidFill>
            <a:srgbClr val="E8F4EF"/>
          </a:solidFill>
          <a:ln cap="flat" cmpd="sng" w="12700">
            <a:solidFill>
              <a:srgbClr val="E8F4EF"/>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01" name="Google Shape;401;p15"/>
          <p:cNvCxnSpPr/>
          <p:nvPr/>
        </p:nvCxnSpPr>
        <p:spPr>
          <a:xfrm>
            <a:off x="548640" y="3154680"/>
            <a:ext cx="384048" cy="384048"/>
          </a:xfrm>
          <a:prstGeom prst="straightConnector1">
            <a:avLst/>
          </a:prstGeom>
          <a:solidFill>
            <a:srgbClr val="0F7A54"/>
          </a:solidFill>
          <a:ln cap="flat" cmpd="sng" w="12700">
            <a:solidFill>
              <a:srgbClr val="0F7A54"/>
            </a:solidFill>
            <a:prstDash val="solid"/>
            <a:round/>
            <a:headEnd len="sm" w="sm" type="none"/>
            <a:tailEnd len="sm" w="sm" type="none"/>
          </a:ln>
        </p:spPr>
      </p:cxnSp>
      <p:sp>
        <p:nvSpPr>
          <p:cNvPr id="402" name="Google Shape;402;p15"/>
          <p:cNvSpPr/>
          <p:nvPr/>
        </p:nvSpPr>
        <p:spPr>
          <a:xfrm>
            <a:off x="548640" y="3154680"/>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3</a:t>
            </a:r>
            <a:endParaRPr b="0" i="0" sz="1200" u="none" cap="none" strike="noStrike">
              <a:solidFill>
                <a:schemeClr val="dk1"/>
              </a:solidFill>
              <a:latin typeface="Calibri"/>
              <a:ea typeface="Calibri"/>
              <a:cs typeface="Calibri"/>
              <a:sym typeface="Calibri"/>
            </a:endParaRPr>
          </a:p>
        </p:txBody>
      </p:sp>
      <p:sp>
        <p:nvSpPr>
          <p:cNvPr id="403" name="Google Shape;403;p15"/>
          <p:cNvSpPr/>
          <p:nvPr/>
        </p:nvSpPr>
        <p:spPr>
          <a:xfrm>
            <a:off x="1051560" y="3154680"/>
            <a:ext cx="329184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250"/>
              <a:buFont typeface="Arial"/>
              <a:buNone/>
            </a:pPr>
            <a:r>
              <a:rPr b="1" i="0" lang="en-US" sz="1250" u="none" cap="none" strike="noStrike">
                <a:solidFill>
                  <a:srgbClr val="0D2434"/>
                </a:solidFill>
                <a:latin typeface="Arial"/>
                <a:ea typeface="Arial"/>
                <a:cs typeface="Arial"/>
                <a:sym typeface="Arial"/>
              </a:rPr>
              <a:t>I'll use what I know</a:t>
            </a:r>
            <a:endParaRPr b="0" i="0" sz="1250" u="none" cap="none" strike="noStrike">
              <a:solidFill>
                <a:schemeClr val="dk1"/>
              </a:solidFill>
              <a:latin typeface="Calibri"/>
              <a:ea typeface="Calibri"/>
              <a:cs typeface="Calibri"/>
              <a:sym typeface="Calibri"/>
            </a:endParaRPr>
          </a:p>
        </p:txBody>
      </p:sp>
      <p:sp>
        <p:nvSpPr>
          <p:cNvPr id="404" name="Google Shape;404;p15"/>
          <p:cNvSpPr/>
          <p:nvPr/>
        </p:nvSpPr>
        <p:spPr>
          <a:xfrm>
            <a:off x="548640" y="3639312"/>
            <a:ext cx="3794760"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D2434"/>
              </a:buClr>
              <a:buSzPts val="1050"/>
              <a:buFont typeface="Arial"/>
              <a:buNone/>
            </a:pPr>
            <a:r>
              <a:rPr b="0" i="0" lang="en-US" sz="1050" u="none" cap="none" strike="noStrike">
                <a:solidFill>
                  <a:srgbClr val="0D2434"/>
                </a:solidFill>
                <a:latin typeface="Arial"/>
                <a:ea typeface="Arial"/>
                <a:cs typeface="Arial"/>
                <a:sym typeface="Arial"/>
              </a:rPr>
              <a:t>I'll stand, advise, or pass on what I've learned — to a rep, a Year 1 about to start their first production unit, or through a Governor application by 16 October.</a:t>
            </a:r>
            <a:endParaRPr b="0" i="0" sz="1050" u="none" cap="none" strike="noStrike">
              <a:solidFill>
                <a:schemeClr val="dk1"/>
              </a:solidFill>
              <a:latin typeface="Calibri"/>
              <a:ea typeface="Calibri"/>
              <a:cs typeface="Calibri"/>
              <a:sym typeface="Calibri"/>
            </a:endParaRPr>
          </a:p>
        </p:txBody>
      </p:sp>
      <p:sp>
        <p:nvSpPr>
          <p:cNvPr id="405" name="Google Shape;405;p15"/>
          <p:cNvSpPr/>
          <p:nvPr/>
        </p:nvSpPr>
        <p:spPr>
          <a:xfrm>
            <a:off x="4663440" y="3017520"/>
            <a:ext cx="4069080" cy="1755648"/>
          </a:xfrm>
          <a:prstGeom prst="rect">
            <a:avLst/>
          </a:prstGeom>
          <a:solidFill>
            <a:srgbClr val="FFCF01"/>
          </a:solidFill>
          <a:ln cap="flat" cmpd="sng" w="25400">
            <a:solidFill>
              <a:srgbClr val="B23A2E"/>
            </a:solidFill>
            <a:prstDash val="solid"/>
            <a:round/>
            <a:headEnd len="sm" w="sm" type="none"/>
            <a:tailEnd len="sm" w="sm" type="none"/>
          </a:ln>
          <a:effectLst>
            <a:outerShdw blurRad="63500" rotWithShape="0" algn="bl" dir="27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06" name="Google Shape;406;p15"/>
          <p:cNvCxnSpPr/>
          <p:nvPr/>
        </p:nvCxnSpPr>
        <p:spPr>
          <a:xfrm>
            <a:off x="4800600" y="3154680"/>
            <a:ext cx="384048" cy="384048"/>
          </a:xfrm>
          <a:prstGeom prst="straightConnector1">
            <a:avLst/>
          </a:prstGeom>
          <a:solidFill>
            <a:srgbClr val="0D2434"/>
          </a:solidFill>
          <a:ln cap="flat" cmpd="sng" w="12700">
            <a:solidFill>
              <a:srgbClr val="0D2434"/>
            </a:solidFill>
            <a:prstDash val="solid"/>
            <a:round/>
            <a:headEnd len="sm" w="sm" type="none"/>
            <a:tailEnd len="sm" w="sm" type="none"/>
          </a:ln>
        </p:spPr>
      </p:cxnSp>
      <p:sp>
        <p:nvSpPr>
          <p:cNvPr id="407" name="Google Shape;407;p15"/>
          <p:cNvSpPr/>
          <p:nvPr/>
        </p:nvSpPr>
        <p:spPr>
          <a:xfrm>
            <a:off x="4800600" y="3154680"/>
            <a:ext cx="384048"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4</a:t>
            </a:r>
            <a:endParaRPr b="0" i="0" sz="1200" u="none" cap="none" strike="noStrike">
              <a:solidFill>
                <a:schemeClr val="dk1"/>
              </a:solidFill>
              <a:latin typeface="Calibri"/>
              <a:ea typeface="Calibri"/>
              <a:cs typeface="Calibri"/>
              <a:sym typeface="Calibri"/>
            </a:endParaRPr>
          </a:p>
        </p:txBody>
      </p:sp>
      <p:sp>
        <p:nvSpPr>
          <p:cNvPr id="408" name="Google Shape;408;p15"/>
          <p:cNvSpPr/>
          <p:nvPr/>
        </p:nvSpPr>
        <p:spPr>
          <a:xfrm>
            <a:off x="5303520" y="3154680"/>
            <a:ext cx="329184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2A30"/>
              </a:buClr>
              <a:buSzPts val="1250"/>
              <a:buFont typeface="Arial"/>
              <a:buNone/>
            </a:pPr>
            <a:r>
              <a:rPr b="1" i="0" lang="en-US" sz="1250" u="none" cap="none" strike="noStrike">
                <a:solidFill>
                  <a:srgbClr val="1B2A30"/>
                </a:solidFill>
                <a:latin typeface="Arial"/>
                <a:ea typeface="Arial"/>
                <a:cs typeface="Arial"/>
                <a:sym typeface="Arial"/>
              </a:rPr>
              <a:t>I'll tell someone about a barrier</a:t>
            </a:r>
            <a:endParaRPr b="0" i="0" sz="1250" u="none" cap="none" strike="noStrike">
              <a:solidFill>
                <a:schemeClr val="dk1"/>
              </a:solidFill>
              <a:latin typeface="Calibri"/>
              <a:ea typeface="Calibri"/>
              <a:cs typeface="Calibri"/>
              <a:sym typeface="Calibri"/>
            </a:endParaRPr>
          </a:p>
        </p:txBody>
      </p:sp>
      <p:sp>
        <p:nvSpPr>
          <p:cNvPr id="409" name="Google Shape;409;p15"/>
          <p:cNvSpPr/>
          <p:nvPr/>
        </p:nvSpPr>
        <p:spPr>
          <a:xfrm>
            <a:off x="4800600" y="3639312"/>
            <a:ext cx="3794760"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1050"/>
              <a:buFont typeface="Arial"/>
              <a:buNone/>
            </a:pPr>
            <a:r>
              <a:rPr b="0" i="0" lang="en-US" sz="1050" u="none" cap="none" strike="noStrike">
                <a:solidFill>
                  <a:srgbClr val="1B2A30"/>
                </a:solidFill>
                <a:latin typeface="Arial"/>
                <a:ea typeface="Arial"/>
                <a:cs typeface="Arial"/>
                <a:sym typeface="Arial"/>
              </a:rPr>
              <a:t>There's something affecting my experience here that I haven't said yet. I'll tell my subject teacher, my personal tutor, my rep or my Student Enrichment Co-ordinator this week.</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414" name="Shape 414"/>
        <p:cNvGrpSpPr/>
        <p:nvPr/>
      </p:nvGrpSpPr>
      <p:grpSpPr>
        <a:xfrm>
          <a:off x="0" y="0"/>
          <a:ext cx="0" cy="0"/>
          <a:chOff x="0" y="0"/>
          <a:chExt cx="0" cy="0"/>
        </a:xfrm>
      </p:grpSpPr>
      <p:sp>
        <p:nvSpPr>
          <p:cNvPr id="415" name="Google Shape;415;p16"/>
          <p:cNvSpPr/>
          <p:nvPr/>
        </p:nvSpPr>
        <p:spPr>
          <a:xfrm>
            <a:off x="0" y="0"/>
            <a:ext cx="411480" cy="5143500"/>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6" name="Google Shape;416;p16"/>
          <p:cNvSpPr/>
          <p:nvPr/>
        </p:nvSpPr>
        <p:spPr>
          <a:xfrm>
            <a:off x="640080" y="228600"/>
            <a:ext cx="77724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F01"/>
              </a:buClr>
              <a:buSzPts val="2000"/>
              <a:buFont typeface="Arial"/>
              <a:buNone/>
            </a:pPr>
            <a:r>
              <a:rPr b="1" i="0" lang="en-US" sz="2000" u="none" cap="none" strike="noStrike">
                <a:solidFill>
                  <a:srgbClr val="FFCF01"/>
                </a:solidFill>
                <a:latin typeface="Arial"/>
                <a:ea typeface="Arial"/>
                <a:cs typeface="Arial"/>
                <a:sym typeface="Arial"/>
              </a:rPr>
              <a:t>Your Students' Voice team</a:t>
            </a:r>
            <a:endParaRPr b="0" i="0" sz="2000" u="none" cap="none" strike="noStrike">
              <a:solidFill>
                <a:schemeClr val="dk1"/>
              </a:solidFill>
              <a:latin typeface="Calibri"/>
              <a:ea typeface="Calibri"/>
              <a:cs typeface="Calibri"/>
              <a:sym typeface="Calibri"/>
            </a:endParaRPr>
          </a:p>
        </p:txBody>
      </p:sp>
      <p:sp>
        <p:nvSpPr>
          <p:cNvPr id="417" name="Google Shape;417;p16"/>
          <p:cNvSpPr/>
          <p:nvPr/>
        </p:nvSpPr>
        <p:spPr>
          <a:xfrm>
            <a:off x="640080" y="777240"/>
            <a:ext cx="3840480" cy="1463040"/>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418" name="Google Shape;418;p16"/>
          <p:cNvPicPr preferRelativeResize="0"/>
          <p:nvPr/>
        </p:nvPicPr>
        <p:blipFill rotWithShape="1">
          <a:blip r:embed="rId3">
            <a:alphaModFix/>
          </a:blip>
          <a:srcRect b="0" l="0" r="0" t="0"/>
          <a:stretch/>
        </p:blipFill>
        <p:spPr>
          <a:xfrm>
            <a:off x="804672" y="896112"/>
            <a:ext cx="384048" cy="384048"/>
          </a:xfrm>
          <a:prstGeom prst="rect">
            <a:avLst/>
          </a:prstGeom>
          <a:noFill/>
          <a:ln>
            <a:noFill/>
          </a:ln>
        </p:spPr>
      </p:pic>
      <p:sp>
        <p:nvSpPr>
          <p:cNvPr id="419" name="Google Shape;419;p16"/>
          <p:cNvSpPr/>
          <p:nvPr/>
        </p:nvSpPr>
        <p:spPr>
          <a:xfrm>
            <a:off x="1280160" y="868680"/>
            <a:ext cx="301752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Your Student Rep</a:t>
            </a:r>
            <a:endParaRPr b="0" i="0" sz="1300" u="none" cap="none" strike="noStrike">
              <a:solidFill>
                <a:schemeClr val="dk1"/>
              </a:solidFill>
              <a:latin typeface="Calibri"/>
              <a:ea typeface="Calibri"/>
              <a:cs typeface="Calibri"/>
              <a:sym typeface="Calibri"/>
            </a:endParaRPr>
          </a:p>
        </p:txBody>
      </p:sp>
      <p:sp>
        <p:nvSpPr>
          <p:cNvPr id="420" name="Google Shape;420;p16"/>
          <p:cNvSpPr/>
          <p:nvPr/>
        </p:nvSpPr>
        <p:spPr>
          <a:xfrm>
            <a:off x="804672" y="1298448"/>
            <a:ext cx="3520440" cy="960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Elected today — confirmed on the central register.</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They represent this group at Student Council.</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Your English/maths rep represents this group in that class.</a:t>
            </a:r>
            <a:endParaRPr b="0" i="0" sz="1000" u="none" cap="none" strike="noStrike">
              <a:solidFill>
                <a:schemeClr val="dk1"/>
              </a:solidFill>
              <a:latin typeface="Calibri"/>
              <a:ea typeface="Calibri"/>
              <a:cs typeface="Calibri"/>
              <a:sym typeface="Calibri"/>
            </a:endParaRPr>
          </a:p>
        </p:txBody>
      </p:sp>
      <p:sp>
        <p:nvSpPr>
          <p:cNvPr id="421" name="Google Shape;421;p16"/>
          <p:cNvSpPr/>
          <p:nvPr/>
        </p:nvSpPr>
        <p:spPr>
          <a:xfrm>
            <a:off x="4663440" y="777240"/>
            <a:ext cx="4069080" cy="1463040"/>
          </a:xfrm>
          <a:prstGeom prst="rect">
            <a:avLst/>
          </a:prstGeom>
          <a:solidFill>
            <a:srgbClr val="1A3A4A"/>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422" name="Google Shape;422;p16"/>
          <p:cNvPicPr preferRelativeResize="0"/>
          <p:nvPr/>
        </p:nvPicPr>
        <p:blipFill rotWithShape="1">
          <a:blip r:embed="rId4">
            <a:alphaModFix/>
          </a:blip>
          <a:srcRect b="0" l="0" r="0" t="0"/>
          <a:stretch/>
        </p:blipFill>
        <p:spPr>
          <a:xfrm>
            <a:off x="4828032" y="896112"/>
            <a:ext cx="384048" cy="384048"/>
          </a:xfrm>
          <a:prstGeom prst="rect">
            <a:avLst/>
          </a:prstGeom>
          <a:noFill/>
          <a:ln>
            <a:noFill/>
          </a:ln>
        </p:spPr>
      </p:pic>
      <p:sp>
        <p:nvSpPr>
          <p:cNvPr id="423" name="Google Shape;423;p16"/>
          <p:cNvSpPr/>
          <p:nvPr/>
        </p:nvSpPr>
        <p:spPr>
          <a:xfrm>
            <a:off x="5303520" y="868680"/>
            <a:ext cx="324612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F01"/>
              </a:buClr>
              <a:buSzPts val="1200"/>
              <a:buFont typeface="Arial"/>
              <a:buNone/>
            </a:pPr>
            <a:r>
              <a:rPr b="1" i="0" lang="en-US" sz="1200" u="none" cap="none" strike="noStrike">
                <a:solidFill>
                  <a:srgbClr val="FFCF01"/>
                </a:solidFill>
                <a:latin typeface="Arial"/>
                <a:ea typeface="Arial"/>
                <a:cs typeface="Arial"/>
                <a:sym typeface="Arial"/>
              </a:rPr>
              <a:t>Student Enrichment Co-ordinators</a:t>
            </a:r>
            <a:endParaRPr b="0" i="0" sz="1200" u="none" cap="none" strike="noStrike">
              <a:solidFill>
                <a:schemeClr val="dk1"/>
              </a:solidFill>
              <a:latin typeface="Calibri"/>
              <a:ea typeface="Calibri"/>
              <a:cs typeface="Calibri"/>
              <a:sym typeface="Calibri"/>
            </a:endParaRPr>
          </a:p>
        </p:txBody>
      </p:sp>
      <p:sp>
        <p:nvSpPr>
          <p:cNvPr id="424" name="Google Shape;424;p16"/>
          <p:cNvSpPr/>
          <p:nvPr/>
        </p:nvSpPr>
        <p:spPr>
          <a:xfrm>
            <a:off x="4828032" y="1298448"/>
            <a:ext cx="3749040" cy="960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Eastbourne: Chelsey King</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Lewes: Tessa Echalaz</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Station Plaza &amp; Ore Valley: Paige Baker-Carroll</a:t>
            </a:r>
            <a:endParaRPr b="0" i="0" sz="1000" u="none" cap="none" strike="noStrike">
              <a:solidFill>
                <a:schemeClr val="dk1"/>
              </a:solidFill>
              <a:latin typeface="Calibri"/>
              <a:ea typeface="Calibri"/>
              <a:cs typeface="Calibri"/>
              <a:sym typeface="Calibri"/>
            </a:endParaRPr>
          </a:p>
        </p:txBody>
      </p:sp>
      <p:sp>
        <p:nvSpPr>
          <p:cNvPr id="425" name="Google Shape;425;p16"/>
          <p:cNvSpPr/>
          <p:nvPr/>
        </p:nvSpPr>
        <p:spPr>
          <a:xfrm>
            <a:off x="640080" y="2350008"/>
            <a:ext cx="80467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F01"/>
              </a:buClr>
              <a:buSzPts val="1150"/>
              <a:buFont typeface="Arial"/>
              <a:buNone/>
            </a:pPr>
            <a:r>
              <a:rPr b="1" i="0" lang="en-US" sz="1150" u="none" cap="none" strike="noStrike">
                <a:solidFill>
                  <a:srgbClr val="FFCF01"/>
                </a:solidFill>
                <a:latin typeface="Arial"/>
                <a:ea typeface="Arial"/>
                <a:cs typeface="Arial"/>
                <a:sym typeface="Arial"/>
              </a:rPr>
              <a:t>Your first Student Council meeting:</a:t>
            </a:r>
            <a:endParaRPr b="0" i="0" sz="1150" u="none" cap="none" strike="noStrike">
              <a:solidFill>
                <a:schemeClr val="dk1"/>
              </a:solidFill>
              <a:latin typeface="Calibri"/>
              <a:ea typeface="Calibri"/>
              <a:cs typeface="Calibri"/>
              <a:sym typeface="Calibri"/>
            </a:endParaRPr>
          </a:p>
        </p:txBody>
      </p:sp>
      <p:sp>
        <p:nvSpPr>
          <p:cNvPr id="426" name="Google Shape;426;p16"/>
          <p:cNvSpPr/>
          <p:nvPr/>
        </p:nvSpPr>
        <p:spPr>
          <a:xfrm>
            <a:off x="640080" y="2770632"/>
            <a:ext cx="2011680" cy="749808"/>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7" name="Google Shape;427;p16"/>
          <p:cNvSpPr/>
          <p:nvPr/>
        </p:nvSpPr>
        <p:spPr>
          <a:xfrm>
            <a:off x="640080" y="2798064"/>
            <a:ext cx="201168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Eastbourne</a:t>
            </a:r>
            <a:endParaRPr b="0" i="0" sz="950" u="none" cap="none" strike="noStrike">
              <a:solidFill>
                <a:schemeClr val="dk1"/>
              </a:solidFill>
              <a:latin typeface="Calibri"/>
              <a:ea typeface="Calibri"/>
              <a:cs typeface="Calibri"/>
              <a:sym typeface="Calibri"/>
            </a:endParaRPr>
          </a:p>
        </p:txBody>
      </p:sp>
      <p:sp>
        <p:nvSpPr>
          <p:cNvPr id="428" name="Google Shape;428;p16"/>
          <p:cNvSpPr/>
          <p:nvPr/>
        </p:nvSpPr>
        <p:spPr>
          <a:xfrm>
            <a:off x="640080" y="3090672"/>
            <a:ext cx="201168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CF01"/>
              </a:buClr>
              <a:buSzPts val="1000"/>
              <a:buFont typeface="Arial"/>
              <a:buNone/>
            </a:pPr>
            <a:r>
              <a:rPr b="0" i="0" lang="en-US" sz="1000" u="none" cap="none" strike="noStrike">
                <a:solidFill>
                  <a:srgbClr val="FFCF01"/>
                </a:solidFill>
                <a:latin typeface="Arial"/>
                <a:ea typeface="Arial"/>
                <a:cs typeface="Arial"/>
                <a:sym typeface="Arial"/>
              </a:rPr>
              <a:t>Wed 11 Nov 2026</a:t>
            </a:r>
            <a:endParaRPr b="0" i="0" sz="1000" u="none" cap="none" strike="noStrike">
              <a:solidFill>
                <a:schemeClr val="dk1"/>
              </a:solidFill>
              <a:latin typeface="Calibri"/>
              <a:ea typeface="Calibri"/>
              <a:cs typeface="Calibri"/>
              <a:sym typeface="Calibri"/>
            </a:endParaRPr>
          </a:p>
        </p:txBody>
      </p:sp>
      <p:sp>
        <p:nvSpPr>
          <p:cNvPr id="429" name="Google Shape;429;p16"/>
          <p:cNvSpPr/>
          <p:nvPr/>
        </p:nvSpPr>
        <p:spPr>
          <a:xfrm>
            <a:off x="2788920" y="2770632"/>
            <a:ext cx="2011680" cy="749808"/>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0" name="Google Shape;430;p16"/>
          <p:cNvSpPr/>
          <p:nvPr/>
        </p:nvSpPr>
        <p:spPr>
          <a:xfrm>
            <a:off x="2788920" y="2798064"/>
            <a:ext cx="201168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Lewes</a:t>
            </a:r>
            <a:endParaRPr b="0" i="0" sz="950" u="none" cap="none" strike="noStrike">
              <a:solidFill>
                <a:schemeClr val="dk1"/>
              </a:solidFill>
              <a:latin typeface="Calibri"/>
              <a:ea typeface="Calibri"/>
              <a:cs typeface="Calibri"/>
              <a:sym typeface="Calibri"/>
            </a:endParaRPr>
          </a:p>
        </p:txBody>
      </p:sp>
      <p:sp>
        <p:nvSpPr>
          <p:cNvPr id="431" name="Google Shape;431;p16"/>
          <p:cNvSpPr/>
          <p:nvPr/>
        </p:nvSpPr>
        <p:spPr>
          <a:xfrm>
            <a:off x="2788920" y="3090672"/>
            <a:ext cx="201168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CF01"/>
              </a:buClr>
              <a:buSzPts val="1000"/>
              <a:buFont typeface="Arial"/>
              <a:buNone/>
            </a:pPr>
            <a:r>
              <a:rPr b="0" i="0" lang="en-US" sz="1000" u="none" cap="none" strike="noStrike">
                <a:solidFill>
                  <a:srgbClr val="FFCF01"/>
                </a:solidFill>
                <a:latin typeface="Arial"/>
                <a:ea typeface="Arial"/>
                <a:cs typeface="Arial"/>
                <a:sym typeface="Arial"/>
              </a:rPr>
              <a:t>Tue 10 Nov 2026</a:t>
            </a:r>
            <a:endParaRPr b="0" i="0" sz="1000" u="none" cap="none" strike="noStrike">
              <a:solidFill>
                <a:schemeClr val="dk1"/>
              </a:solidFill>
              <a:latin typeface="Calibri"/>
              <a:ea typeface="Calibri"/>
              <a:cs typeface="Calibri"/>
              <a:sym typeface="Calibri"/>
            </a:endParaRPr>
          </a:p>
        </p:txBody>
      </p:sp>
      <p:sp>
        <p:nvSpPr>
          <p:cNvPr id="432" name="Google Shape;432;p16"/>
          <p:cNvSpPr/>
          <p:nvPr/>
        </p:nvSpPr>
        <p:spPr>
          <a:xfrm>
            <a:off x="4937760" y="2770632"/>
            <a:ext cx="2011680" cy="749808"/>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3" name="Google Shape;433;p16"/>
          <p:cNvSpPr/>
          <p:nvPr/>
        </p:nvSpPr>
        <p:spPr>
          <a:xfrm>
            <a:off x="4937760" y="2798064"/>
            <a:ext cx="201168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Station Plaza</a:t>
            </a:r>
            <a:endParaRPr b="0" i="0" sz="950" u="none" cap="none" strike="noStrike">
              <a:solidFill>
                <a:schemeClr val="dk1"/>
              </a:solidFill>
              <a:latin typeface="Calibri"/>
              <a:ea typeface="Calibri"/>
              <a:cs typeface="Calibri"/>
              <a:sym typeface="Calibri"/>
            </a:endParaRPr>
          </a:p>
        </p:txBody>
      </p:sp>
      <p:sp>
        <p:nvSpPr>
          <p:cNvPr id="434" name="Google Shape;434;p16"/>
          <p:cNvSpPr/>
          <p:nvPr/>
        </p:nvSpPr>
        <p:spPr>
          <a:xfrm>
            <a:off x="4937760" y="3090672"/>
            <a:ext cx="201168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CF01"/>
              </a:buClr>
              <a:buSzPts val="1000"/>
              <a:buFont typeface="Arial"/>
              <a:buNone/>
            </a:pPr>
            <a:r>
              <a:rPr b="0" i="0" lang="en-US" sz="1000" u="none" cap="none" strike="noStrike">
                <a:solidFill>
                  <a:srgbClr val="FFCF01"/>
                </a:solidFill>
                <a:latin typeface="Arial"/>
                <a:ea typeface="Arial"/>
                <a:cs typeface="Arial"/>
                <a:sym typeface="Arial"/>
              </a:rPr>
              <a:t>Thu 12 Nov 2026</a:t>
            </a:r>
            <a:endParaRPr b="0" i="0" sz="1000" u="none" cap="none" strike="noStrike">
              <a:solidFill>
                <a:schemeClr val="dk1"/>
              </a:solidFill>
              <a:latin typeface="Calibri"/>
              <a:ea typeface="Calibri"/>
              <a:cs typeface="Calibri"/>
              <a:sym typeface="Calibri"/>
            </a:endParaRPr>
          </a:p>
        </p:txBody>
      </p:sp>
      <p:sp>
        <p:nvSpPr>
          <p:cNvPr id="435" name="Google Shape;435;p16"/>
          <p:cNvSpPr/>
          <p:nvPr/>
        </p:nvSpPr>
        <p:spPr>
          <a:xfrm>
            <a:off x="7086600" y="2770632"/>
            <a:ext cx="2011680" cy="749808"/>
          </a:xfrm>
          <a:prstGeom prst="rect">
            <a:avLst/>
          </a:prstGeom>
          <a:solidFill>
            <a:srgbClr val="0F7A54"/>
          </a:solidFill>
          <a:ln cap="flat" cmpd="sng" w="12700">
            <a:solidFill>
              <a:srgbClr val="0F7A5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6" name="Google Shape;436;p16"/>
          <p:cNvSpPr/>
          <p:nvPr/>
        </p:nvSpPr>
        <p:spPr>
          <a:xfrm>
            <a:off x="7086600" y="2798064"/>
            <a:ext cx="201168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Arial"/>
              <a:buNone/>
            </a:pPr>
            <a:r>
              <a:rPr b="1" i="0" lang="en-US" sz="950" u="none" cap="none" strike="noStrike">
                <a:solidFill>
                  <a:srgbClr val="FFFFFF"/>
                </a:solidFill>
                <a:latin typeface="Arial"/>
                <a:ea typeface="Arial"/>
                <a:cs typeface="Arial"/>
                <a:sym typeface="Arial"/>
              </a:rPr>
              <a:t>Ore Valley &amp; ATIC</a:t>
            </a:r>
            <a:endParaRPr b="0" i="0" sz="950" u="none" cap="none" strike="noStrike">
              <a:solidFill>
                <a:schemeClr val="dk1"/>
              </a:solidFill>
              <a:latin typeface="Calibri"/>
              <a:ea typeface="Calibri"/>
              <a:cs typeface="Calibri"/>
              <a:sym typeface="Calibri"/>
            </a:endParaRPr>
          </a:p>
        </p:txBody>
      </p:sp>
      <p:sp>
        <p:nvSpPr>
          <p:cNvPr id="437" name="Google Shape;437;p16"/>
          <p:cNvSpPr/>
          <p:nvPr/>
        </p:nvSpPr>
        <p:spPr>
          <a:xfrm>
            <a:off x="7086600" y="3090672"/>
            <a:ext cx="201168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CF01"/>
              </a:buClr>
              <a:buSzPts val="1000"/>
              <a:buFont typeface="Arial"/>
              <a:buNone/>
            </a:pPr>
            <a:r>
              <a:rPr b="0" i="0" lang="en-US" sz="1000" u="none" cap="none" strike="noStrike">
                <a:solidFill>
                  <a:srgbClr val="FFCF01"/>
                </a:solidFill>
                <a:latin typeface="Arial"/>
                <a:ea typeface="Arial"/>
                <a:cs typeface="Arial"/>
                <a:sym typeface="Arial"/>
              </a:rPr>
              <a:t>Tue 10 Nov 2026</a:t>
            </a:r>
            <a:endParaRPr b="0" i="0" sz="1000" u="none" cap="none" strike="noStrike">
              <a:solidFill>
                <a:schemeClr val="dk1"/>
              </a:solidFill>
              <a:latin typeface="Calibri"/>
              <a:ea typeface="Calibri"/>
              <a:cs typeface="Calibri"/>
              <a:sym typeface="Calibri"/>
            </a:endParaRPr>
          </a:p>
        </p:txBody>
      </p:sp>
      <p:sp>
        <p:nvSpPr>
          <p:cNvPr id="438" name="Google Shape;438;p16"/>
          <p:cNvSpPr/>
          <p:nvPr/>
        </p:nvSpPr>
        <p:spPr>
          <a:xfrm>
            <a:off x="640080" y="3657600"/>
            <a:ext cx="80467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F01"/>
              </a:buClr>
              <a:buSzPts val="1050"/>
              <a:buFont typeface="Arial"/>
              <a:buNone/>
            </a:pPr>
            <a:r>
              <a:rPr b="1" i="0" lang="en-US" sz="1050" u="none" cap="none" strike="noStrike">
                <a:solidFill>
                  <a:srgbClr val="FFCF01"/>
                </a:solidFill>
                <a:latin typeface="Arial"/>
                <a:ea typeface="Arial"/>
                <a:cs typeface="Arial"/>
                <a:sym typeface="Arial"/>
              </a:rPr>
              <a:t>Next steps:</a:t>
            </a:r>
            <a:endParaRPr b="0" i="0" sz="1050" u="none" cap="none" strike="noStrike">
              <a:solidFill>
                <a:schemeClr val="dk1"/>
              </a:solidFill>
              <a:latin typeface="Calibri"/>
              <a:ea typeface="Calibri"/>
              <a:cs typeface="Calibri"/>
              <a:sym typeface="Calibri"/>
            </a:endParaRPr>
          </a:p>
        </p:txBody>
      </p:sp>
      <p:sp>
        <p:nvSpPr>
          <p:cNvPr id="439" name="Google Shape;439;p16"/>
          <p:cNvSpPr/>
          <p:nvPr/>
        </p:nvSpPr>
        <p:spPr>
          <a:xfrm>
            <a:off x="640080" y="3931920"/>
            <a:ext cx="8046720" cy="10972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D2DBDA"/>
              </a:buClr>
              <a:buSzPts val="950"/>
              <a:buFont typeface="Arial"/>
              <a:buChar char="•"/>
            </a:pPr>
            <a:r>
              <a:rPr b="0" i="0" lang="en-US" sz="950" u="none" cap="none" strike="noStrike">
                <a:solidFill>
                  <a:srgbClr val="D2DBDA"/>
                </a:solidFill>
                <a:latin typeface="Arial"/>
                <a:ea typeface="Arial"/>
                <a:cs typeface="Arial"/>
                <a:sym typeface="Arial"/>
              </a:rPr>
              <a:t>Rep training: Wednesday 14 October — newly elected reps must attend (all campuses)</a:t>
            </a:r>
            <a:endParaRPr b="0" i="0" sz="95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D2DBDA"/>
              </a:buClr>
              <a:buSzPts val="950"/>
              <a:buFont typeface="Arial"/>
              <a:buChar char="•"/>
            </a:pPr>
            <a:r>
              <a:rPr b="0" i="0" lang="en-US" sz="950" u="none" cap="none" strike="noStrike">
                <a:solidFill>
                  <a:srgbClr val="D2DBDA"/>
                </a:solidFill>
                <a:latin typeface="Arial"/>
                <a:ea typeface="Arial"/>
                <a:cs typeface="Arial"/>
                <a:sym typeface="Arial"/>
              </a:rPr>
              <a:t>Induction Survey opens: Monday 3 November — three minutes, worth doing</a:t>
            </a:r>
            <a:endParaRPr b="0" i="0" sz="95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D2DBDA"/>
              </a:buClr>
              <a:buSzPts val="950"/>
              <a:buFont typeface="Arial"/>
              <a:buChar char="•"/>
            </a:pPr>
            <a:r>
              <a:rPr b="0" i="0" lang="en-US" sz="950" u="none" cap="none" strike="noStrike">
                <a:solidFill>
                  <a:srgbClr val="D2DBDA"/>
                </a:solidFill>
                <a:latin typeface="Arial"/>
                <a:ea typeface="Arial"/>
                <a:cs typeface="Arial"/>
                <a:sym typeface="Arial"/>
              </a:rPr>
              <a:t>Student Governor applications: close midday, Friday 16 October — speak to your Student Enrichment Co-ordinator if you're continuing at ESCG</a:t>
            </a:r>
            <a:endParaRPr b="0" i="0" sz="95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D2DBDA"/>
              </a:buClr>
              <a:buSzPts val="950"/>
              <a:buFont typeface="Arial"/>
              <a:buChar char="•"/>
            </a:pPr>
            <a:r>
              <a:rPr b="0" i="0" lang="en-US" sz="950" u="none" cap="none" strike="noStrike">
                <a:solidFill>
                  <a:srgbClr val="D2DBDA"/>
                </a:solidFill>
                <a:latin typeface="Arial"/>
                <a:ea typeface="Arial"/>
                <a:cs typeface="Arial"/>
                <a:sym typeface="Arial"/>
              </a:rPr>
              <a:t>English/maths rep: elected today too — same training, same Council meetings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444" name="Shape 444"/>
        <p:cNvGrpSpPr/>
        <p:nvPr/>
      </p:nvGrpSpPr>
      <p:grpSpPr>
        <a:xfrm>
          <a:off x="0" y="0"/>
          <a:ext cx="0" cy="0"/>
          <a:chOff x="0" y="0"/>
          <a:chExt cx="0" cy="0"/>
        </a:xfrm>
      </p:grpSpPr>
      <p:sp>
        <p:nvSpPr>
          <p:cNvPr id="445" name="Google Shape;445;p17"/>
          <p:cNvSpPr/>
          <p:nvPr/>
        </p:nvSpPr>
        <p:spPr>
          <a:xfrm>
            <a:off x="0" y="0"/>
            <a:ext cx="9144000" cy="384048"/>
          </a:xfrm>
          <a:prstGeom prst="rect">
            <a:avLst/>
          </a:prstGeom>
          <a:solidFill>
            <a:srgbClr val="B23A2E"/>
          </a:solidFill>
          <a:ln cap="flat" cmpd="sng" w="12700">
            <a:solidFill>
              <a:srgbClr val="B23A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6" name="Google Shape;446;p17"/>
          <p:cNvSpPr/>
          <p:nvPr/>
        </p:nvSpPr>
        <p:spPr>
          <a:xfrm>
            <a:off x="0" y="0"/>
            <a:ext cx="914400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DO NOT DISPLAY TO STUDENTS — TEACHER APPENDIX</a:t>
            </a:r>
            <a:endParaRPr b="0" i="0" sz="1100" u="none" cap="none" strike="noStrike">
              <a:solidFill>
                <a:schemeClr val="dk1"/>
              </a:solidFill>
              <a:latin typeface="Calibri"/>
              <a:ea typeface="Calibri"/>
              <a:cs typeface="Calibri"/>
              <a:sym typeface="Calibri"/>
            </a:endParaRPr>
          </a:p>
        </p:txBody>
      </p:sp>
      <p:sp>
        <p:nvSpPr>
          <p:cNvPr id="447" name="Google Shape;447;p17"/>
          <p:cNvSpPr/>
          <p:nvPr/>
        </p:nvSpPr>
        <p:spPr>
          <a:xfrm>
            <a:off x="274320" y="438912"/>
            <a:ext cx="859536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A6F"/>
              </a:buClr>
              <a:buSzPts val="900"/>
              <a:buFont typeface="Arial"/>
              <a:buNone/>
            </a:pPr>
            <a:r>
              <a:rPr b="0" i="0" lang="en-US" sz="900" u="none" cap="none" strike="noStrike">
                <a:solidFill>
                  <a:srgbClr val="5A6A6F"/>
                </a:solidFill>
                <a:latin typeface="Arial"/>
                <a:ea typeface="Arial"/>
                <a:cs typeface="Arial"/>
                <a:sym typeface="Arial"/>
              </a:rPr>
              <a:t>Module D — Students' Voice &amp; Student Rep Elections  |  A Level / L3 Year 2 — Media, Film, Photography and Digital  |  100 minutes  |  Group 1: Settling In &amp; Belonging</a:t>
            </a:r>
            <a:endParaRPr b="0" i="0" sz="900" u="none" cap="none" strike="noStrike">
              <a:solidFill>
                <a:schemeClr val="dk1"/>
              </a:solidFill>
              <a:latin typeface="Calibri"/>
              <a:ea typeface="Calibri"/>
              <a:cs typeface="Calibri"/>
              <a:sym typeface="Calibri"/>
            </a:endParaRPr>
          </a:p>
        </p:txBody>
      </p:sp>
      <p:sp>
        <p:nvSpPr>
          <p:cNvPr id="448" name="Google Shape;448;p17"/>
          <p:cNvSpPr/>
          <p:nvPr/>
        </p:nvSpPr>
        <p:spPr>
          <a:xfrm>
            <a:off x="274320" y="749808"/>
            <a:ext cx="4160520" cy="2148840"/>
          </a:xfrm>
          <a:prstGeom prst="rect">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9" name="Google Shape;449;p17"/>
          <p:cNvSpPr/>
          <p:nvPr/>
        </p:nvSpPr>
        <p:spPr>
          <a:xfrm>
            <a:off x="411480" y="804672"/>
            <a:ext cx="3886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100"/>
              <a:buFont typeface="Arial"/>
              <a:buNone/>
            </a:pPr>
            <a:r>
              <a:rPr b="1" i="0" lang="en-US" sz="1100" u="none" cap="none" strike="noStrike">
                <a:solidFill>
                  <a:srgbClr val="0D2434"/>
                </a:solidFill>
                <a:latin typeface="Arial"/>
                <a:ea typeface="Arial"/>
                <a:cs typeface="Arial"/>
                <a:sym typeface="Arial"/>
              </a:rPr>
              <a:t>Running order</a:t>
            </a:r>
            <a:endParaRPr b="0" i="0" sz="1100" u="none" cap="none" strike="noStrike">
              <a:solidFill>
                <a:schemeClr val="dk1"/>
              </a:solidFill>
              <a:latin typeface="Calibri"/>
              <a:ea typeface="Calibri"/>
              <a:cs typeface="Calibri"/>
              <a:sym typeface="Calibri"/>
            </a:endParaRPr>
          </a:p>
        </p:txBody>
      </p:sp>
      <p:sp>
        <p:nvSpPr>
          <p:cNvPr id="450" name="Google Shape;450;p17"/>
          <p:cNvSpPr/>
          <p:nvPr/>
        </p:nvSpPr>
        <p:spPr>
          <a:xfrm>
            <a:off x="411480" y="1115568"/>
            <a:ext cx="3886200" cy="1691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0–10 min   Slide 3   Check-in: two questions, returner frame</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10–20 min  Slide 4   Students' Voice — what makes it work</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20–30 min  Slide 5   Ways to get involved (Year 2 lens)</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30–40 min  Slide 6   The Rep role + familiarity-as-risk</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40–45 min  Slide 7   The Governor role + eligibility note</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45–57 min  Slides 8–10  Governor: the Board, the commitment, how to apply</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57–62 min  Slide 11  Encourage Unity (PROUD)</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62–94 min  Slide 12  Election: subject rep + English/maths rep</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94–99 min  Slide 13  Commitment card</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99–102 min Slide 14  Close + next steps</a:t>
            </a:r>
            <a:endParaRPr b="0" i="0" sz="850" u="none" cap="none" strike="noStrike">
              <a:solidFill>
                <a:schemeClr val="dk1"/>
              </a:solidFill>
              <a:latin typeface="Calibri"/>
              <a:ea typeface="Calibri"/>
              <a:cs typeface="Calibri"/>
              <a:sym typeface="Calibri"/>
            </a:endParaRPr>
          </a:p>
        </p:txBody>
      </p:sp>
      <p:sp>
        <p:nvSpPr>
          <p:cNvPr id="451" name="Google Shape;451;p17"/>
          <p:cNvSpPr/>
          <p:nvPr/>
        </p:nvSpPr>
        <p:spPr>
          <a:xfrm>
            <a:off x="4663440" y="749808"/>
            <a:ext cx="4160520" cy="2148840"/>
          </a:xfrm>
          <a:prstGeom prst="rect">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2" name="Google Shape;452;p17"/>
          <p:cNvSpPr/>
          <p:nvPr/>
        </p:nvSpPr>
        <p:spPr>
          <a:xfrm>
            <a:off x="4800600" y="804672"/>
            <a:ext cx="3886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100"/>
              <a:buFont typeface="Arial"/>
              <a:buNone/>
            </a:pPr>
            <a:r>
              <a:rPr b="1" i="0" lang="en-US" sz="1100" u="none" cap="none" strike="noStrike">
                <a:solidFill>
                  <a:srgbClr val="0D2434"/>
                </a:solidFill>
                <a:latin typeface="Arial"/>
                <a:ea typeface="Arial"/>
                <a:cs typeface="Arial"/>
                <a:sym typeface="Arial"/>
              </a:rPr>
              <a:t>Teaching this group — L3 Year 2 / A-level Year 2</a:t>
            </a:r>
            <a:endParaRPr b="0" i="0" sz="1100" u="none" cap="none" strike="noStrike">
              <a:solidFill>
                <a:schemeClr val="dk1"/>
              </a:solidFill>
              <a:latin typeface="Calibri"/>
              <a:ea typeface="Calibri"/>
              <a:cs typeface="Calibri"/>
              <a:sym typeface="Calibri"/>
            </a:endParaRPr>
          </a:p>
        </p:txBody>
      </p:sp>
      <p:sp>
        <p:nvSpPr>
          <p:cNvPr id="453" name="Google Shape;453;p17"/>
          <p:cNvSpPr/>
          <p:nvPr/>
        </p:nvSpPr>
        <p:spPr>
          <a:xfrm>
            <a:off x="4800600" y="1115568"/>
            <a:ext cx="3886200" cy="1691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Returners have institutional knowledge first-years lack. The risk is that familiarity breeds disengagement — they've 'done' induction. Name this directly and use their experience as the argument for standing, not just participating.</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L3Y2: 'last lap' register. Don't fumble what you've built. Governor route is open.</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A-level Y2: UCAS pressure is real and imminent. Don't minimise it. The rep commitment is manageable alongside applications if the student is organised — say so honestly. Governor route may not be available (see slide 7). This room mixes A Level Media, Film and Photography with Level 3 Extended Diploma and T Level students. Most met heavier written and exam demand than they expected. Several carry one high-stakes assessment a rep can raise in November but not fix in May. Inferred — please review.</a:t>
            </a:r>
            <a:endParaRPr b="0" i="0" sz="850" u="none" cap="none" strike="noStrike">
              <a:solidFill>
                <a:schemeClr val="dk1"/>
              </a:solidFill>
              <a:latin typeface="Calibri"/>
              <a:ea typeface="Calibri"/>
              <a:cs typeface="Calibri"/>
              <a:sym typeface="Calibri"/>
            </a:endParaRPr>
          </a:p>
        </p:txBody>
      </p:sp>
      <p:sp>
        <p:nvSpPr>
          <p:cNvPr id="454" name="Google Shape;454;p17"/>
          <p:cNvSpPr/>
          <p:nvPr/>
        </p:nvSpPr>
        <p:spPr>
          <a:xfrm>
            <a:off x="274320" y="2999232"/>
            <a:ext cx="4160520" cy="2075688"/>
          </a:xfrm>
          <a:prstGeom prst="rect">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5" name="Google Shape;455;p17"/>
          <p:cNvSpPr/>
          <p:nvPr/>
        </p:nvSpPr>
        <p:spPr>
          <a:xfrm>
            <a:off x="411480" y="3054096"/>
            <a:ext cx="3886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2434"/>
              </a:buClr>
              <a:buSzPts val="1100"/>
              <a:buFont typeface="Arial"/>
              <a:buNone/>
            </a:pPr>
            <a:r>
              <a:rPr b="1" i="0" lang="en-US" sz="1100" u="none" cap="none" strike="noStrike">
                <a:solidFill>
                  <a:srgbClr val="0D2434"/>
                </a:solidFill>
                <a:latin typeface="Arial"/>
                <a:ea typeface="Arial"/>
                <a:cs typeface="Arial"/>
                <a:sym typeface="Arial"/>
              </a:rPr>
              <a:t>Pre-flight checklist</a:t>
            </a:r>
            <a:endParaRPr b="0" i="0" sz="1100" u="none" cap="none" strike="noStrike">
              <a:solidFill>
                <a:schemeClr val="dk1"/>
              </a:solidFill>
              <a:latin typeface="Calibri"/>
              <a:ea typeface="Calibri"/>
              <a:cs typeface="Calibri"/>
              <a:sym typeface="Calibri"/>
            </a:endParaRPr>
          </a:p>
        </p:txBody>
      </p:sp>
      <p:sp>
        <p:nvSpPr>
          <p:cNvPr id="456" name="Google Shape;456;p17"/>
          <p:cNvSpPr/>
          <p:nvPr/>
        </p:nvSpPr>
        <p:spPr>
          <a:xfrm>
            <a:off x="411480" y="3364992"/>
            <a:ext cx="38862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  Know your campus's Student Council 1 date (slide 6 table)</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  Access to the central Student Rep Register</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  Know which students are A-level Y2 (Governor eligibility flag, slide 7)</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  Student Enrichment Co-ordinator contacts:</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      Eastbourne: Chelsey King</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      Lewes: Tessa Echalaz</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      Station Plaza &amp; Ore Valley: Paige Baker-Carroll</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  Rep training noted: Wednesday 14 October (all campuses)</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  English/maths rep seat confirmed — both names on the register</a:t>
            </a:r>
            <a:endParaRPr b="0" i="0" sz="850" u="none" cap="none" strike="noStrike">
              <a:solidFill>
                <a:schemeClr val="dk1"/>
              </a:solidFill>
              <a:latin typeface="Calibri"/>
              <a:ea typeface="Calibri"/>
              <a:cs typeface="Calibri"/>
              <a:sym typeface="Calibri"/>
            </a:endParaRPr>
          </a:p>
        </p:txBody>
      </p:sp>
      <p:sp>
        <p:nvSpPr>
          <p:cNvPr id="457" name="Google Shape;457;p17"/>
          <p:cNvSpPr/>
          <p:nvPr/>
        </p:nvSpPr>
        <p:spPr>
          <a:xfrm>
            <a:off x="4663440" y="2999232"/>
            <a:ext cx="4160520" cy="2075688"/>
          </a:xfrm>
          <a:prstGeom prst="rect">
            <a:avLst/>
          </a:prstGeom>
          <a:solidFill>
            <a:srgbClr val="F8E7E3"/>
          </a:solidFill>
          <a:ln cap="flat" cmpd="sng" w="1905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8" name="Google Shape;458;p17"/>
          <p:cNvSpPr/>
          <p:nvPr/>
        </p:nvSpPr>
        <p:spPr>
          <a:xfrm>
            <a:off x="4800600" y="3054096"/>
            <a:ext cx="3886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23A2E"/>
              </a:buClr>
              <a:buSzPts val="1100"/>
              <a:buFont typeface="Arial"/>
              <a:buNone/>
            </a:pPr>
            <a:r>
              <a:rPr b="1" i="0" lang="en-US" sz="1100" u="none" cap="none" strike="noStrike">
                <a:solidFill>
                  <a:srgbClr val="B23A2E"/>
                </a:solidFill>
                <a:latin typeface="Arial"/>
                <a:ea typeface="Arial"/>
                <a:cs typeface="Arial"/>
                <a:sym typeface="Arial"/>
              </a:rPr>
              <a:t>Safeguarding alert</a:t>
            </a:r>
            <a:endParaRPr b="0" i="0" sz="1100" u="none" cap="none" strike="noStrike">
              <a:solidFill>
                <a:schemeClr val="dk1"/>
              </a:solidFill>
              <a:latin typeface="Calibri"/>
              <a:ea typeface="Calibri"/>
              <a:cs typeface="Calibri"/>
              <a:sym typeface="Calibri"/>
            </a:endParaRPr>
          </a:p>
        </p:txBody>
      </p:sp>
      <p:sp>
        <p:nvSpPr>
          <p:cNvPr id="459" name="Google Shape;459;p17"/>
          <p:cNvSpPr/>
          <p:nvPr/>
        </p:nvSpPr>
        <p:spPr>
          <a:xfrm>
            <a:off x="4800600" y="3364992"/>
            <a:ext cx="388620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Highest-risk surfaces: check-in discussion (slide 3) and commitment card option 4 (slide 13).</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A-level Y2 UCAS pressure may mask wellbeing concerns — watch for signs of stress, anxiety, or isolation framed as 'just busy.' These students are less likely to disclose than to simply disengage.</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B2A30"/>
              </a:buClr>
              <a:buSzPts val="850"/>
              <a:buFont typeface="Arial"/>
              <a:buNone/>
            </a:pPr>
            <a:r>
              <a:rPr b="0" i="0" lang="en-US" sz="850" u="none" cap="none" strike="noStrike">
                <a:solidFill>
                  <a:srgbClr val="1B2A30"/>
                </a:solidFill>
                <a:latin typeface="Arial"/>
                <a:ea typeface="Arial"/>
                <a:cs typeface="Arial"/>
                <a:sym typeface="Arial"/>
              </a:rPr>
              <a:t>Standard procedure: listen calmly, do not promise confidentiality, do not investigate. Report same day via ESCG safeguarding procedure. Module F covers full detail. Two department surfaces: content guidance before a challenging screening is a safeguarding step, and self-directed studio work gives distress somewhere to hide. Inferred — please review.</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