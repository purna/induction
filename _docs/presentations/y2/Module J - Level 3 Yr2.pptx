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Poppins"/>
      <p:regular r:id="rId17"/>
      <p:bold r:id="rId18"/>
      <p:italic r:id="rId19"/>
      <p:boldItalic r:id="rId20"/>
    </p:embeddedFont>
    <p:embeddedFont>
      <p:font typeface="Poppi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11" Type="http://schemas.openxmlformats.org/officeDocument/2006/relationships/slide" Target="slides/slide7.xml"/><Relationship Id="rId22" Type="http://schemas.openxmlformats.org/officeDocument/2006/relationships/font" Target="fonts/PoppinsSemiBold-bold.fntdata"/><Relationship Id="rId10" Type="http://schemas.openxmlformats.org/officeDocument/2006/relationships/slide" Target="slides/slide6.xml"/><Relationship Id="rId21" Type="http://schemas.openxmlformats.org/officeDocument/2006/relationships/font" Target="fonts/PoppinsSemiBold-regular.fntdata"/><Relationship Id="rId13" Type="http://schemas.openxmlformats.org/officeDocument/2006/relationships/slide" Target="slides/slide9.xml"/><Relationship Id="rId24" Type="http://schemas.openxmlformats.org/officeDocument/2006/relationships/font" Target="fonts/PoppinsSemiBold-boldItalic.fntdata"/><Relationship Id="rId12" Type="http://schemas.openxmlformats.org/officeDocument/2006/relationships/slide" Target="slides/slide8.xml"/><Relationship Id="rId23" Type="http://schemas.openxmlformats.org/officeDocument/2006/relationships/font" Target="fonts/Poppins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italic.fntdata"/><Relationship Id="rId6" Type="http://schemas.openxmlformats.org/officeDocument/2006/relationships/slide" Target="slides/slide2.xml"/><Relationship Id="rId18"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2 minutes. Mode: session map (orientation only, no discussion yet).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give students the shape of the hour before you start, so the "why now" of work experience doesn't land as a surprise topic change from whatever came before.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talk through the six cards briefly — you don't need to explain each one in depth, just name them. Point out that today is about understanding the process, not doing the process; they'll actually use Navigate in Module H.</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"By the end of this session you'll know why work experience matters for your course, what your options are, the two dates you need to know, and exactly who to go to if you get stuck."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some students will already have opinions about work experience (positive or negative, from school or a job). Don't open the discussion yet — this is just the map. The discussion slide is next.</a:t>
            </a:r>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8-10 minutes. Mode: paired/small group discussion.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this group has already done a placement cycle, so start from their actual experience rather than a generic icebreaker — it's faster, more honest, and respects that they're not new to this.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pair students up (or threes if numbers are odd). Put the four questions up and let them talk without heavy steering — the value here is peer comparison ("you got a placement, I didn't — how did you find yours?").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"You've done this once already — so this time we're building on what you know, not starting from zero."</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students who had a flat or disappointing Year 1 experience (couldn't find a placement, had a placement fall through, or stayed in college) may need reassurance that this year is a genuine fresh attempt, not a continuation of last year's outcome. A student who goes quiet or seems discouraged is worth a gentle, private check-in later in the session. If a student discloses a barrier, don't solve it here — note it and follow up individually; the commitment card at the end gives them a formal route to flag it too.</a:t>
            </a:r>
            <a:endParaRPr/>
          </a:p>
        </p:txBody>
      </p:sp>
      <p:sp>
        <p:nvSpPr>
          <p:cNvPr id="66" name="Google Shape;6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5 minutes.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this group doesn't need convincing that work experience matters — they've done it. The job here is to raise the stakes slightly: this year's round counts more because it compounds with last year's, and because applications (UCAS, apprenticeships) are getting closer.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keep this brisk — a couple of minutes per point, not the full unpacking a fresh Year 1 group would need. Lean on their own Year 1 experience from the discussion slide as the reference point rather than re-explaining from scratch.</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"You already know the basic case for this. What's different this year is that it starts to add up — two placements looks very different to one on an application."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PROUD anchor: name Seek Opportunity once, briefly — the returner framing (habit, not one-off) is the natural hook here.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the real risk with this group is complacency, not resistance — "I did this last year, I don't need to try as hard this time." Naming that directly, lightly, can be more effective than a longer pitch on why it matters.</a:t>
            </a:r>
            <a:endParaRPr/>
          </a:p>
        </p:txBody>
      </p:sp>
      <p:sp>
        <p:nvSpPr>
          <p:cNvPr id="86" name="Google Shape;8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5 minutes.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quick refresher, not a re-introduction — this group already knows what block placements, employer visits, volunteering, live briefs, and industry partnerships look like. The one genuinely new piece of information is that the 30-hour requirement resets: last year's hours don't carry forward.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run through the five types quickly as a visual reminder rather than explaining each — spend your time instead on the "resets each year" point, since some students may assume (incorrectly) that having done it once means they're exempt this year.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"Quick reminder of what's on offer — the bit that actually matters today is that this is a fresh 30 hours, not a top-up of last year's."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students who assume last year's placement satisfies this year's requirement need a direct, unambiguous correction — don't let that misunderstanding survive the session. Students who had a difficult time finding a placement last year may need the in-college fallback reinforced early rather than as an afterthought.</a:t>
            </a:r>
            <a:endParaRPr/>
          </a:p>
        </p:txBody>
      </p:sp>
      <p:sp>
        <p:nvSpPr>
          <p:cNvPr id="113" name="Google Shape;11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5 minutes.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ESCG TO CONFIRM: this slide assumes Level 3 Year 2 shares the same college-wide Skills Week (WB 8 March 2027) and 4-week deadline (Fri 5 Feb 2027) as Year 1. If Year 2 runs a separate window, update both date cards before delivery.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land the two dates that actually matter as hard, memorable facts — this slide is what students should be able to recall afterwards even if nothing else sticks.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say both dates out loud slowly and get students to write them down or add them to their phone calendar there and then — don't just leave them on the slide.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"If you remember nothing else from today, remember these two dates. Miss the 5th of February and you risk not having an approved placement in time."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Explain the 4-week gap honestly rather than as arbitrary bureaucracy — it exists because employers get properly checked, which is what makes the placement safe.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this is a good moment to check who's already anxious about the timeline versus who hasn't engaged with it at all. Both groups benefit from writing the date down now rather than trusting themselves to remember it later.</a:t>
            </a:r>
            <a:endParaRPr/>
          </a:p>
        </p:txBody>
      </p:sp>
      <p:sp>
        <p:nvSpPr>
          <p:cNvPr id="148" name="Google Shape;14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6 minutes. Mode: activity — keep this brisk; it's a refresher, not a first pass. If anyone looks unsure, that's useful signal that Module H is worth prioritising for them specifically.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confirm the process hasn't changed and reactivate what they already know, rather than re-teaching it. This group requested a placement successfully at least once already.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run through the information checklist quickly as a "you know this" recap. Point to Module H only as an optional refresher for anyone who wants it, not as a required next step the way it is for a fresh Year 1 group.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"You've done this bit before — quick recap of what you'll need, and then it's the same Navigate process as last time."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Access route: Navigate sits inside My Student Life, same as last year. Direct login is login.navigate.uk.com for anyone who wants to bookmark it.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don't assume total fluency — some students found a placement last year mainly through classmates or a family contact rather than actually using Navigate's search themselves, so the platform may still be semi-unfamiliar to them.</a:t>
            </a:r>
            <a:endParaRPr/>
          </a:p>
        </p:txBody>
      </p:sp>
      <p:sp>
        <p:nvSpPr>
          <p:cNvPr id="173" name="Google Shape;17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 name="Google Shape;20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5 minutes.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make sure every student leaves knowing exactly who to contact and how, at their own campus — this is a named, concrete route, not a vague "speak to someone."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point to the row for your own campus specifically rather than reading the whole table — students only need their own. Emphasise the email addresses are shared team inboxes, not one individual, so there's always someone able to help even if a named contact is away.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"This isn't one person you have to track down — it's a team, and they cover for each other. If you're at [this campus], this is your door and this is your email."</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escalation line matters as much as the contact details: repeat that "not progressing" or "doesn't feel right" are both valid reasons to go to this team, not just logistical problems.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this is a natural point for a safeguarding disclosure to surface, given the framing around "doesn't feel right." If a student discloses something here or shortly after, follow standard safeguarding practice: listen calmly, don't promise confidentiality, don't investigate yourself, and report the same day via the ESCG safeguarding route. Full safeguarding procedure is covered in Module F — this slide only signposts.</a:t>
            </a:r>
            <a:endParaRPr/>
          </a:p>
        </p:txBody>
      </p:sp>
      <p:sp>
        <p:nvSpPr>
          <p:cNvPr id="206" name="Google Shape;20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6 minutes. Mode: discussion — this list should be familiar; move through it briskly as a checklist, and spend the time on the paired prompt instead.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this group already knows the basic standards. The register shift here is raising expectations rather than introducing them — professionalism this time round has a longer shadow (references, repeat contact with the same industries, reputation).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run through the five rows quickly. Don't over-explain any of them — if something needs real unpacking, that's worth a private word rather than slowing the whole room. Then give 2-3 minutes for the paired discussion prompt, which asks them to be specific about one thing rather than agreeing vaguely with all five.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"You know the basics already — this time it's about doing them consistently, because employers and the people writing your references remember you."</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the discussion prompt is a soft opportunity for a concern to surface, particularly from students whose Year 1 placement had a rough patch. Listen for students who seem unsure who their "first call" actually is — that's worth a direct follow-up before Skills Week, not just at the point something goes wrong.</a:t>
            </a:r>
            <a:endParaRPr/>
          </a:p>
        </p:txBody>
      </p:sp>
      <p:sp>
        <p:nvSpPr>
          <p:cNvPr id="245" name="Google Shape;24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2" name="Google Shape;27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6 minutes. Mode: activity.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close on something concrete and personal rather than ending on logistics — every ESCG session ends with a specific, low-stakes commitment students write or draw, which tutors keep for follow-up.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give students 2-3 minutes of quiet time to choose and write/draw their option. Collect the cards at the end of the session — don't skip this, the follow-up is the point, not the card itself.</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"Pick whichever of these feels most true for you right now — there's no right answer, and no one else will see what you write unless you want them to."</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 4 is a structural safeguarding-disclosure route, consistent across every module's commitment card — flag any option-4 cards for individual follow-up rather than treating them as routine. A student choosing option 4 is not necessarily in crisis, but it is always worth a private, low-key check-in.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students who rush through without genuinely engaging (writing something generic just to be done) — a light personal prompt ("go on, be specific — which organisation?") often gets a more honest answer than leaving it open.</a:t>
            </a:r>
            <a:endParaRPr/>
          </a:p>
        </p:txBody>
      </p:sp>
      <p:sp>
        <p:nvSpPr>
          <p:cNvPr id="273" name="Google Shape;27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5" name="Google Shape;30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2 minutes. Mode: close.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send students out with the two dates and the help route freshly repeated, plus a short, non-cheesy final line that ties back to the Seek Opportunity anchor from earlier — don't introduce anything new here.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read the three recap lines aloud once more, slowly. Collect commitment cards if you haven't already.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"Two dates, one team to go to if you need them. That's genuinely all you need to hold onto from today."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nothing new should surface here — if a student raises a concern or question at this point, note it and follow up individually rather than reopening the session for the whole room.</a:t>
            </a:r>
            <a:endParaRPr/>
          </a:p>
        </p:txBody>
      </p:sp>
      <p:sp>
        <p:nvSpPr>
          <p:cNvPr id="306" name="Google Shape;30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2" name="Google Shape;32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5.png"/><Relationship Id="rId7"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hyperlink" Target="https://login.navigate.uk.com/" TargetMode="External"/><Relationship Id="rId6" Type="http://schemas.openxmlformats.org/officeDocument/2006/relationships/hyperlink" Target="https://login.navigate.uk.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92C82"/>
        </a:solidFill>
      </p:bgPr>
    </p:bg>
    <p:spTree>
      <p:nvGrpSpPr>
        <p:cNvPr id="11" name="Shape 11"/>
        <p:cNvGrpSpPr/>
        <p:nvPr/>
      </p:nvGrpSpPr>
      <p:grpSpPr>
        <a:xfrm>
          <a:off x="0" y="0"/>
          <a:ext cx="0" cy="0"/>
          <a:chOff x="0" y="0"/>
          <a:chExt cx="0" cy="0"/>
        </a:xfrm>
      </p:grpSpPr>
      <p:sp>
        <p:nvSpPr>
          <p:cNvPr id="12" name="Google Shape;12;p3"/>
          <p:cNvSpPr/>
          <p:nvPr/>
        </p:nvSpPr>
        <p:spPr>
          <a:xfrm>
            <a:off x="0" y="0"/>
            <a:ext cx="12191695" cy="685800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731520" y="137160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550"/>
              <a:buFont typeface="Poppins SemiBold"/>
              <a:buNone/>
            </a:pPr>
            <a:r>
              <a:rPr lang="en-US" sz="1550">
                <a:solidFill>
                  <a:srgbClr val="FFCF01"/>
                </a:solidFill>
                <a:latin typeface="Poppins SemiBold"/>
                <a:ea typeface="Poppins SemiBold"/>
                <a:cs typeface="Poppins SemiBold"/>
                <a:sym typeface="Poppins SemiBold"/>
              </a:rPr>
              <a:t>GROUP 2  ·  EMPLOYABILITY</a:t>
            </a:r>
            <a:endParaRPr sz="1550">
              <a:solidFill>
                <a:schemeClr val="dk1"/>
              </a:solidFill>
              <a:latin typeface="Calibri"/>
              <a:ea typeface="Calibri"/>
              <a:cs typeface="Calibri"/>
              <a:sym typeface="Calibri"/>
            </a:endParaRPr>
          </a:p>
        </p:txBody>
      </p:sp>
      <p:sp>
        <p:nvSpPr>
          <p:cNvPr id="14" name="Google Shape;14;p3"/>
          <p:cNvSpPr/>
          <p:nvPr/>
        </p:nvSpPr>
        <p:spPr>
          <a:xfrm>
            <a:off x="731520" y="1828800"/>
            <a:ext cx="91440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700"/>
              <a:buFont typeface="Poppins SemiBold"/>
              <a:buNone/>
            </a:pPr>
            <a:r>
              <a:rPr lang="en-US" sz="4700">
                <a:solidFill>
                  <a:srgbClr val="FFFFFF"/>
                </a:solidFill>
                <a:latin typeface="Poppins SemiBold"/>
                <a:ea typeface="Poppins SemiBold"/>
                <a:cs typeface="Poppins SemiBold"/>
                <a:sym typeface="Poppins SemiBold"/>
              </a:rPr>
              <a:t>Module J</a:t>
            </a:r>
            <a:endParaRPr sz="4700">
              <a:solidFill>
                <a:schemeClr val="dk1"/>
              </a:solidFill>
              <a:latin typeface="Calibri"/>
              <a:ea typeface="Calibri"/>
              <a:cs typeface="Calibri"/>
              <a:sym typeface="Calibri"/>
            </a:endParaRPr>
          </a:p>
        </p:txBody>
      </p:sp>
      <p:sp>
        <p:nvSpPr>
          <p:cNvPr id="15" name="Google Shape;15;p3"/>
          <p:cNvSpPr/>
          <p:nvPr/>
        </p:nvSpPr>
        <p:spPr>
          <a:xfrm>
            <a:off x="731520" y="2514600"/>
            <a:ext cx="9144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550"/>
              <a:buFont typeface="Poppins SemiBold"/>
              <a:buNone/>
            </a:pPr>
            <a:r>
              <a:rPr lang="en-US" sz="3550">
                <a:solidFill>
                  <a:srgbClr val="FFFFFF"/>
                </a:solidFill>
                <a:latin typeface="Poppins SemiBold"/>
                <a:ea typeface="Poppins SemiBold"/>
                <a:cs typeface="Poppins SemiBold"/>
                <a:sym typeface="Poppins SemiBold"/>
              </a:rPr>
              <a:t>Work Experience</a:t>
            </a:r>
            <a:endParaRPr sz="3550">
              <a:solidFill>
                <a:schemeClr val="dk1"/>
              </a:solidFill>
              <a:latin typeface="Calibri"/>
              <a:ea typeface="Calibri"/>
              <a:cs typeface="Calibri"/>
              <a:sym typeface="Calibri"/>
            </a:endParaRPr>
          </a:p>
        </p:txBody>
      </p:sp>
      <p:sp>
        <p:nvSpPr>
          <p:cNvPr id="16" name="Google Shape;16;p3"/>
          <p:cNvSpPr/>
          <p:nvPr/>
        </p:nvSpPr>
        <p:spPr>
          <a:xfrm>
            <a:off x="731520" y="3337560"/>
            <a:ext cx="9286875" cy="723900"/>
          </a:xfrm>
          <a:prstGeom prst="roundRect">
            <a:avLst>
              <a:gd fmla="val 18182" name="adj"/>
            </a:avLst>
          </a:prstGeom>
          <a:solidFill>
            <a:srgbClr val="4624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3"/>
          <p:cNvSpPr/>
          <p:nvPr/>
        </p:nvSpPr>
        <p:spPr>
          <a:xfrm>
            <a:off x="822960" y="3337560"/>
            <a:ext cx="9096375" cy="723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750"/>
              <a:buFont typeface="Poppins"/>
              <a:buNone/>
            </a:pPr>
            <a:r>
              <a:rPr i="1" lang="en-US" sz="1750">
                <a:solidFill>
                  <a:srgbClr val="FFCF01"/>
                </a:solidFill>
                <a:latin typeface="Poppins"/>
                <a:ea typeface="Poppins"/>
                <a:cs typeface="Poppins"/>
                <a:sym typeface="Poppins"/>
              </a:rPr>
              <a:t>Skills Week — your second placement, aimed at your specialism</a:t>
            </a:r>
            <a:endParaRPr sz="1750">
              <a:solidFill>
                <a:schemeClr val="dk1"/>
              </a:solidFill>
              <a:latin typeface="Calibri"/>
              <a:ea typeface="Calibri"/>
              <a:cs typeface="Calibri"/>
              <a:sym typeface="Calibri"/>
            </a:endParaRPr>
          </a:p>
        </p:txBody>
      </p:sp>
      <p:sp>
        <p:nvSpPr>
          <p:cNvPr id="18" name="Google Shape;18;p3"/>
          <p:cNvSpPr/>
          <p:nvPr/>
        </p:nvSpPr>
        <p:spPr>
          <a:xfrm>
            <a:off x="731520" y="4114800"/>
            <a:ext cx="108585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50"/>
              <a:buFont typeface="Poppins SemiBold"/>
              <a:buNone/>
            </a:pPr>
            <a:r>
              <a:rPr lang="en-US" sz="1650">
                <a:solidFill>
                  <a:srgbClr val="FFFFFF"/>
                </a:solidFill>
                <a:latin typeface="Poppins SemiBold"/>
                <a:ea typeface="Poppins SemiBold"/>
                <a:cs typeface="Poppins SemiBold"/>
                <a:sym typeface="Poppins SemiBold"/>
              </a:rPr>
              <a:t>Level 3, Year 2 — Digital, Media, Film and Computing</a:t>
            </a:r>
            <a:endParaRPr sz="1650">
              <a:solidFill>
                <a:schemeClr val="dk1"/>
              </a:solidFill>
              <a:latin typeface="Calibri"/>
              <a:ea typeface="Calibri"/>
              <a:cs typeface="Calibri"/>
              <a:sym typeface="Calibri"/>
            </a:endParaRPr>
          </a:p>
        </p:txBody>
      </p:sp>
      <p:sp>
        <p:nvSpPr>
          <p:cNvPr id="19" name="Google Shape;19;p3"/>
          <p:cNvSpPr/>
          <p:nvPr/>
        </p:nvSpPr>
        <p:spPr>
          <a:xfrm>
            <a:off x="731520" y="448056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CBE8"/>
              </a:buClr>
              <a:buSzPts val="1550"/>
              <a:buFont typeface="Poppins"/>
              <a:buNone/>
            </a:pPr>
            <a:r>
              <a:rPr lang="en-US" sz="1550">
                <a:solidFill>
                  <a:srgbClr val="D9CBE8"/>
                </a:solidFill>
                <a:latin typeface="Poppins"/>
                <a:ea typeface="Poppins"/>
                <a:cs typeface="Poppins"/>
                <a:sym typeface="Poppins"/>
              </a:rPr>
              <a:t>Duration: 1 hour</a:t>
            </a:r>
            <a:endParaRPr sz="1550">
              <a:solidFill>
                <a:schemeClr val="dk1"/>
              </a:solidFill>
              <a:latin typeface="Calibri"/>
              <a:ea typeface="Calibri"/>
              <a:cs typeface="Calibri"/>
              <a:sym typeface="Calibri"/>
            </a:endParaRPr>
          </a:p>
        </p:txBody>
      </p:sp>
      <p:pic>
        <p:nvPicPr>
          <p:cNvPr descr="/home/claude/moduleJ/icons/seek_opportunity.png" id="20" name="Google Shape;20;p3"/>
          <p:cNvPicPr preferRelativeResize="0"/>
          <p:nvPr/>
        </p:nvPicPr>
        <p:blipFill rotWithShape="1">
          <a:blip r:embed="rId3">
            <a:alphaModFix/>
          </a:blip>
          <a:srcRect b="0" l="0" r="0" t="0"/>
          <a:stretch/>
        </p:blipFill>
        <p:spPr>
          <a:xfrm>
            <a:off x="9692640" y="2103120"/>
            <a:ext cx="1554480" cy="15544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5" name="Shape 25"/>
        <p:cNvGrpSpPr/>
        <p:nvPr/>
      </p:nvGrpSpPr>
      <p:grpSpPr>
        <a:xfrm>
          <a:off x="0" y="0"/>
          <a:ext cx="0" cy="0"/>
          <a:chOff x="0" y="0"/>
          <a:chExt cx="0" cy="0"/>
        </a:xfrm>
      </p:grpSpPr>
      <p:sp>
        <p:nvSpPr>
          <p:cNvPr id="26" name="Google Shape;26;p4"/>
          <p:cNvSpPr/>
          <p:nvPr/>
        </p:nvSpPr>
        <p:spPr>
          <a:xfrm>
            <a:off x="548640" y="29260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400"/>
              <a:buFont typeface="Poppins SemiBold"/>
              <a:buNone/>
            </a:pPr>
            <a:r>
              <a:rPr lang="en-US" sz="1400">
                <a:solidFill>
                  <a:srgbClr val="592C82"/>
                </a:solidFill>
                <a:latin typeface="Poppins SemiBold"/>
                <a:ea typeface="Poppins SemiBold"/>
                <a:cs typeface="Poppins SemiBold"/>
                <a:sym typeface="Poppins SemiBold"/>
              </a:rPr>
              <a:t>MODULE J — WORK EXPERIENCE</a:t>
            </a:r>
            <a:endParaRPr sz="1400">
              <a:solidFill>
                <a:schemeClr val="dk1"/>
              </a:solidFill>
              <a:latin typeface="Calibri"/>
              <a:ea typeface="Calibri"/>
              <a:cs typeface="Calibri"/>
              <a:sym typeface="Calibri"/>
            </a:endParaRPr>
          </a:p>
        </p:txBody>
      </p:sp>
      <p:sp>
        <p:nvSpPr>
          <p:cNvPr id="27" name="Google Shape;27;p4"/>
          <p:cNvSpPr/>
          <p:nvPr/>
        </p:nvSpPr>
        <p:spPr>
          <a:xfrm>
            <a:off x="548640" y="548640"/>
            <a:ext cx="8961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Today’s session</a:t>
            </a:r>
            <a:endParaRPr sz="3050">
              <a:solidFill>
                <a:schemeClr val="dk1"/>
              </a:solidFill>
              <a:latin typeface="Calibri"/>
              <a:ea typeface="Calibri"/>
              <a:cs typeface="Calibri"/>
              <a:sym typeface="Calibri"/>
            </a:endParaRPr>
          </a:p>
        </p:txBody>
      </p:sp>
      <p:sp>
        <p:nvSpPr>
          <p:cNvPr id="28" name="Google Shape;28;p4"/>
          <p:cNvSpPr/>
          <p:nvPr/>
        </p:nvSpPr>
        <p:spPr>
          <a:xfrm>
            <a:off x="10166299" y="292608"/>
            <a:ext cx="1659636"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4"/>
          <p:cNvSpPr/>
          <p:nvPr/>
        </p:nvSpPr>
        <p:spPr>
          <a:xfrm>
            <a:off x="10166299" y="292608"/>
            <a:ext cx="1659636"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SESSION MAP</a:t>
            </a:r>
            <a:endParaRPr sz="1200">
              <a:solidFill>
                <a:schemeClr val="dk1"/>
              </a:solidFill>
              <a:latin typeface="Calibri"/>
              <a:ea typeface="Calibri"/>
              <a:cs typeface="Calibri"/>
              <a:sym typeface="Calibri"/>
            </a:endParaRPr>
          </a:p>
        </p:txBody>
      </p:sp>
      <p:cxnSp>
        <p:nvCxnSpPr>
          <p:cNvPr id="30" name="Google Shape;30;p4"/>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31" name="Google Shape;31;p4"/>
          <p:cNvSpPr/>
          <p:nvPr/>
        </p:nvSpPr>
        <p:spPr>
          <a:xfrm>
            <a:off x="548640" y="160020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4"/>
          <p:cNvSpPr/>
          <p:nvPr/>
        </p:nvSpPr>
        <p:spPr>
          <a:xfrm>
            <a:off x="768096" y="181965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768096" y="181965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1</a:t>
            </a:r>
            <a:endParaRPr sz="2000">
              <a:solidFill>
                <a:schemeClr val="dk1"/>
              </a:solidFill>
              <a:latin typeface="Calibri"/>
              <a:ea typeface="Calibri"/>
              <a:cs typeface="Calibri"/>
              <a:sym typeface="Calibri"/>
            </a:endParaRPr>
          </a:p>
        </p:txBody>
      </p:sp>
      <p:sp>
        <p:nvSpPr>
          <p:cNvPr id="34" name="Google Shape;34;p4"/>
          <p:cNvSpPr/>
          <p:nvPr/>
        </p:nvSpPr>
        <p:spPr>
          <a:xfrm>
            <a:off x="768096" y="246888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Why it matters</a:t>
            </a:r>
            <a:endParaRPr sz="1800">
              <a:solidFill>
                <a:schemeClr val="dk1"/>
              </a:solidFill>
              <a:latin typeface="Calibri"/>
              <a:ea typeface="Calibri"/>
              <a:cs typeface="Calibri"/>
              <a:sym typeface="Calibri"/>
            </a:endParaRPr>
          </a:p>
        </p:txBody>
      </p:sp>
      <p:sp>
        <p:nvSpPr>
          <p:cNvPr id="35" name="Google Shape;35;p4"/>
          <p:cNvSpPr/>
          <p:nvPr/>
        </p:nvSpPr>
        <p:spPr>
          <a:xfrm>
            <a:off x="768096" y="288036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Why it counts for even more this year</a:t>
            </a:r>
            <a:endParaRPr sz="1400">
              <a:solidFill>
                <a:schemeClr val="dk1"/>
              </a:solidFill>
              <a:latin typeface="Calibri"/>
              <a:ea typeface="Calibri"/>
              <a:cs typeface="Calibri"/>
              <a:sym typeface="Calibri"/>
            </a:endParaRPr>
          </a:p>
        </p:txBody>
      </p:sp>
      <p:sp>
        <p:nvSpPr>
          <p:cNvPr id="36" name="Google Shape;36;p4"/>
          <p:cNvSpPr/>
          <p:nvPr/>
        </p:nvSpPr>
        <p:spPr>
          <a:xfrm>
            <a:off x="4353458" y="160020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4"/>
          <p:cNvSpPr/>
          <p:nvPr/>
        </p:nvSpPr>
        <p:spPr>
          <a:xfrm>
            <a:off x="4572914" y="181965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4"/>
          <p:cNvSpPr/>
          <p:nvPr/>
        </p:nvSpPr>
        <p:spPr>
          <a:xfrm>
            <a:off x="4572914" y="181965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2</a:t>
            </a:r>
            <a:endParaRPr sz="2000">
              <a:solidFill>
                <a:schemeClr val="dk1"/>
              </a:solidFill>
              <a:latin typeface="Calibri"/>
              <a:ea typeface="Calibri"/>
              <a:cs typeface="Calibri"/>
              <a:sym typeface="Calibri"/>
            </a:endParaRPr>
          </a:p>
        </p:txBody>
      </p:sp>
      <p:sp>
        <p:nvSpPr>
          <p:cNvPr id="39" name="Google Shape;39;p4"/>
          <p:cNvSpPr/>
          <p:nvPr/>
        </p:nvSpPr>
        <p:spPr>
          <a:xfrm>
            <a:off x="4572914" y="246888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What’s available</a:t>
            </a:r>
            <a:endParaRPr sz="1800">
              <a:solidFill>
                <a:schemeClr val="dk1"/>
              </a:solidFill>
              <a:latin typeface="Calibri"/>
              <a:ea typeface="Calibri"/>
              <a:cs typeface="Calibri"/>
              <a:sym typeface="Calibri"/>
            </a:endParaRPr>
          </a:p>
        </p:txBody>
      </p:sp>
      <p:sp>
        <p:nvSpPr>
          <p:cNvPr id="40" name="Google Shape;40;p4"/>
          <p:cNvSpPr/>
          <p:nvPr/>
        </p:nvSpPr>
        <p:spPr>
          <a:xfrm>
            <a:off x="4572914" y="288036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Same options — plus room to target your specialism</a:t>
            </a:r>
            <a:endParaRPr sz="1400">
              <a:solidFill>
                <a:schemeClr val="dk1"/>
              </a:solidFill>
              <a:latin typeface="Calibri"/>
              <a:ea typeface="Calibri"/>
              <a:cs typeface="Calibri"/>
              <a:sym typeface="Calibri"/>
            </a:endParaRPr>
          </a:p>
        </p:txBody>
      </p:sp>
      <p:sp>
        <p:nvSpPr>
          <p:cNvPr id="41" name="Google Shape;41;p4"/>
          <p:cNvSpPr/>
          <p:nvPr/>
        </p:nvSpPr>
        <p:spPr>
          <a:xfrm>
            <a:off x="8158277" y="160020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4"/>
          <p:cNvSpPr/>
          <p:nvPr/>
        </p:nvSpPr>
        <p:spPr>
          <a:xfrm>
            <a:off x="8377733" y="181965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4"/>
          <p:cNvSpPr/>
          <p:nvPr/>
        </p:nvSpPr>
        <p:spPr>
          <a:xfrm>
            <a:off x="8377733" y="181965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3</a:t>
            </a:r>
            <a:endParaRPr sz="2000">
              <a:solidFill>
                <a:schemeClr val="dk1"/>
              </a:solidFill>
              <a:latin typeface="Calibri"/>
              <a:ea typeface="Calibri"/>
              <a:cs typeface="Calibri"/>
              <a:sym typeface="Calibri"/>
            </a:endParaRPr>
          </a:p>
        </p:txBody>
      </p:sp>
      <p:sp>
        <p:nvSpPr>
          <p:cNvPr id="44" name="Google Shape;44;p4"/>
          <p:cNvSpPr/>
          <p:nvPr/>
        </p:nvSpPr>
        <p:spPr>
          <a:xfrm>
            <a:off x="8377733" y="246888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Key dates</a:t>
            </a:r>
            <a:endParaRPr sz="1800">
              <a:solidFill>
                <a:schemeClr val="dk1"/>
              </a:solidFill>
              <a:latin typeface="Calibri"/>
              <a:ea typeface="Calibri"/>
              <a:cs typeface="Calibri"/>
              <a:sym typeface="Calibri"/>
            </a:endParaRPr>
          </a:p>
        </p:txBody>
      </p:sp>
      <p:sp>
        <p:nvSpPr>
          <p:cNvPr id="45" name="Google Shape;45;p4"/>
          <p:cNvSpPr/>
          <p:nvPr/>
        </p:nvSpPr>
        <p:spPr>
          <a:xfrm>
            <a:off x="8377733" y="288036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This year’s Skills Week and your deadline</a:t>
            </a:r>
            <a:endParaRPr sz="1400">
              <a:solidFill>
                <a:schemeClr val="dk1"/>
              </a:solidFill>
              <a:latin typeface="Calibri"/>
              <a:ea typeface="Calibri"/>
              <a:cs typeface="Calibri"/>
              <a:sym typeface="Calibri"/>
            </a:endParaRPr>
          </a:p>
        </p:txBody>
      </p:sp>
      <p:sp>
        <p:nvSpPr>
          <p:cNvPr id="46" name="Google Shape;46;p4"/>
          <p:cNvSpPr/>
          <p:nvPr/>
        </p:nvSpPr>
        <p:spPr>
          <a:xfrm>
            <a:off x="548640" y="393192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4"/>
          <p:cNvSpPr/>
          <p:nvPr/>
        </p:nvSpPr>
        <p:spPr>
          <a:xfrm>
            <a:off x="768096" y="415137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4"/>
          <p:cNvSpPr/>
          <p:nvPr/>
        </p:nvSpPr>
        <p:spPr>
          <a:xfrm>
            <a:off x="768096" y="415137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4</a:t>
            </a:r>
            <a:endParaRPr sz="2000">
              <a:solidFill>
                <a:schemeClr val="dk1"/>
              </a:solidFill>
              <a:latin typeface="Calibri"/>
              <a:ea typeface="Calibri"/>
              <a:cs typeface="Calibri"/>
              <a:sym typeface="Calibri"/>
            </a:endParaRPr>
          </a:p>
        </p:txBody>
      </p:sp>
      <p:sp>
        <p:nvSpPr>
          <p:cNvPr id="49" name="Google Shape;49;p4"/>
          <p:cNvSpPr/>
          <p:nvPr/>
        </p:nvSpPr>
        <p:spPr>
          <a:xfrm>
            <a:off x="768096" y="480060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Finding a placement</a:t>
            </a:r>
            <a:endParaRPr sz="1800">
              <a:solidFill>
                <a:schemeClr val="dk1"/>
              </a:solidFill>
              <a:latin typeface="Calibri"/>
              <a:ea typeface="Calibri"/>
              <a:cs typeface="Calibri"/>
              <a:sym typeface="Calibri"/>
            </a:endParaRPr>
          </a:p>
        </p:txBody>
      </p:sp>
      <p:sp>
        <p:nvSpPr>
          <p:cNvPr id="50" name="Google Shape;50;p4"/>
          <p:cNvSpPr/>
          <p:nvPr/>
        </p:nvSpPr>
        <p:spPr>
          <a:xfrm>
            <a:off x="768096" y="521208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Navigate refresher &amp; Module H</a:t>
            </a:r>
            <a:endParaRPr sz="1400">
              <a:solidFill>
                <a:schemeClr val="dk1"/>
              </a:solidFill>
              <a:latin typeface="Calibri"/>
              <a:ea typeface="Calibri"/>
              <a:cs typeface="Calibri"/>
              <a:sym typeface="Calibri"/>
            </a:endParaRPr>
          </a:p>
        </p:txBody>
      </p:sp>
      <p:sp>
        <p:nvSpPr>
          <p:cNvPr id="51" name="Google Shape;51;p4"/>
          <p:cNvSpPr/>
          <p:nvPr/>
        </p:nvSpPr>
        <p:spPr>
          <a:xfrm>
            <a:off x="4353458" y="393192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4"/>
          <p:cNvSpPr/>
          <p:nvPr/>
        </p:nvSpPr>
        <p:spPr>
          <a:xfrm>
            <a:off x="4572914" y="415137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4"/>
          <p:cNvSpPr/>
          <p:nvPr/>
        </p:nvSpPr>
        <p:spPr>
          <a:xfrm>
            <a:off x="4572914" y="415137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5</a:t>
            </a:r>
            <a:endParaRPr sz="2000">
              <a:solidFill>
                <a:schemeClr val="dk1"/>
              </a:solidFill>
              <a:latin typeface="Calibri"/>
              <a:ea typeface="Calibri"/>
              <a:cs typeface="Calibri"/>
              <a:sym typeface="Calibri"/>
            </a:endParaRPr>
          </a:p>
        </p:txBody>
      </p:sp>
      <p:sp>
        <p:nvSpPr>
          <p:cNvPr id="54" name="Google Shape;54;p4"/>
          <p:cNvSpPr/>
          <p:nvPr/>
        </p:nvSpPr>
        <p:spPr>
          <a:xfrm>
            <a:off x="4572914" y="480060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Who to ask</a:t>
            </a:r>
            <a:endParaRPr sz="1800">
              <a:solidFill>
                <a:schemeClr val="dk1"/>
              </a:solidFill>
              <a:latin typeface="Calibri"/>
              <a:ea typeface="Calibri"/>
              <a:cs typeface="Calibri"/>
              <a:sym typeface="Calibri"/>
            </a:endParaRPr>
          </a:p>
        </p:txBody>
      </p:sp>
      <p:sp>
        <p:nvSpPr>
          <p:cNvPr id="55" name="Google Shape;55;p4"/>
          <p:cNvSpPr/>
          <p:nvPr/>
        </p:nvSpPr>
        <p:spPr>
          <a:xfrm>
            <a:off x="4572914" y="521208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Your Careers &amp; Employability team</a:t>
            </a:r>
            <a:endParaRPr sz="1400">
              <a:solidFill>
                <a:schemeClr val="dk1"/>
              </a:solidFill>
              <a:latin typeface="Calibri"/>
              <a:ea typeface="Calibri"/>
              <a:cs typeface="Calibri"/>
              <a:sym typeface="Calibri"/>
            </a:endParaRPr>
          </a:p>
        </p:txBody>
      </p:sp>
      <p:sp>
        <p:nvSpPr>
          <p:cNvPr id="56" name="Google Shape;56;p4"/>
          <p:cNvSpPr/>
          <p:nvPr/>
        </p:nvSpPr>
        <p:spPr>
          <a:xfrm>
            <a:off x="8158277" y="393192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4"/>
          <p:cNvSpPr/>
          <p:nvPr/>
        </p:nvSpPr>
        <p:spPr>
          <a:xfrm>
            <a:off x="8377733" y="415137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4"/>
          <p:cNvSpPr/>
          <p:nvPr/>
        </p:nvSpPr>
        <p:spPr>
          <a:xfrm>
            <a:off x="8377733" y="415137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6</a:t>
            </a:r>
            <a:endParaRPr sz="2000">
              <a:solidFill>
                <a:schemeClr val="dk1"/>
              </a:solidFill>
              <a:latin typeface="Calibri"/>
              <a:ea typeface="Calibri"/>
              <a:cs typeface="Calibri"/>
              <a:sym typeface="Calibri"/>
            </a:endParaRPr>
          </a:p>
        </p:txBody>
      </p:sp>
      <p:sp>
        <p:nvSpPr>
          <p:cNvPr id="59" name="Google Shape;59;p4"/>
          <p:cNvSpPr/>
          <p:nvPr/>
        </p:nvSpPr>
        <p:spPr>
          <a:xfrm>
            <a:off x="8377733" y="480060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On placement</a:t>
            </a:r>
            <a:endParaRPr sz="1800">
              <a:solidFill>
                <a:schemeClr val="dk1"/>
              </a:solidFill>
              <a:latin typeface="Calibri"/>
              <a:ea typeface="Calibri"/>
              <a:cs typeface="Calibri"/>
              <a:sym typeface="Calibri"/>
            </a:endParaRPr>
          </a:p>
        </p:txBody>
      </p:sp>
      <p:sp>
        <p:nvSpPr>
          <p:cNvPr id="60" name="Google Shape;60;p4"/>
          <p:cNvSpPr/>
          <p:nvPr/>
        </p:nvSpPr>
        <p:spPr>
          <a:xfrm>
            <a:off x="8377733" y="521208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Conduct, consent, logging hours — you know the drill</a:t>
            </a:r>
            <a:endParaRPr sz="1400">
              <a:solidFill>
                <a:schemeClr val="dk1"/>
              </a:solidFill>
              <a:latin typeface="Calibri"/>
              <a:ea typeface="Calibri"/>
              <a:cs typeface="Calibri"/>
              <a:sym typeface="Calibri"/>
            </a:endParaRPr>
          </a:p>
        </p:txBody>
      </p:sp>
      <p:sp>
        <p:nvSpPr>
          <p:cNvPr id="61" name="Google Shape;61;p4"/>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62" name="Google Shape;62;p4"/>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2</a:t>
            </a:r>
            <a:endParaRPr sz="10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7" name="Shape 67"/>
        <p:cNvGrpSpPr/>
        <p:nvPr/>
      </p:nvGrpSpPr>
      <p:grpSpPr>
        <a:xfrm>
          <a:off x="0" y="0"/>
          <a:ext cx="0" cy="0"/>
          <a:chOff x="0" y="0"/>
          <a:chExt cx="0" cy="0"/>
        </a:xfrm>
      </p:grpSpPr>
      <p:sp>
        <p:nvSpPr>
          <p:cNvPr id="68" name="Google Shape;68;p5"/>
          <p:cNvSpPr/>
          <p:nvPr/>
        </p:nvSpPr>
        <p:spPr>
          <a:xfrm>
            <a:off x="548640" y="29260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400"/>
              <a:buFont typeface="Poppins SemiBold"/>
              <a:buNone/>
            </a:pPr>
            <a:r>
              <a:rPr lang="en-US" sz="1400">
                <a:solidFill>
                  <a:srgbClr val="592C82"/>
                </a:solidFill>
                <a:latin typeface="Poppins SemiBold"/>
                <a:ea typeface="Poppins SemiBold"/>
                <a:cs typeface="Poppins SemiBold"/>
                <a:sym typeface="Poppins SemiBold"/>
              </a:rPr>
              <a:t>SETTLING IN</a:t>
            </a:r>
            <a:endParaRPr sz="1400">
              <a:solidFill>
                <a:schemeClr val="dk1"/>
              </a:solidFill>
              <a:latin typeface="Calibri"/>
              <a:ea typeface="Calibri"/>
              <a:cs typeface="Calibri"/>
              <a:sym typeface="Calibri"/>
            </a:endParaRPr>
          </a:p>
        </p:txBody>
      </p:sp>
      <p:sp>
        <p:nvSpPr>
          <p:cNvPr id="69" name="Google Shape;69;p5"/>
          <p:cNvSpPr/>
          <p:nvPr/>
        </p:nvSpPr>
        <p:spPr>
          <a:xfrm>
            <a:off x="548640" y="548640"/>
            <a:ext cx="8961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Before we start</a:t>
            </a:r>
            <a:endParaRPr sz="3050">
              <a:solidFill>
                <a:schemeClr val="dk1"/>
              </a:solidFill>
              <a:latin typeface="Calibri"/>
              <a:ea typeface="Calibri"/>
              <a:cs typeface="Calibri"/>
              <a:sym typeface="Calibri"/>
            </a:endParaRPr>
          </a:p>
        </p:txBody>
      </p:sp>
      <p:sp>
        <p:nvSpPr>
          <p:cNvPr id="70" name="Google Shape;70;p5"/>
          <p:cNvSpPr/>
          <p:nvPr/>
        </p:nvSpPr>
        <p:spPr>
          <a:xfrm>
            <a:off x="10271455" y="292608"/>
            <a:ext cx="1554480"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5"/>
          <p:cNvSpPr/>
          <p:nvPr/>
        </p:nvSpPr>
        <p:spPr>
          <a:xfrm>
            <a:off x="10271455" y="292608"/>
            <a:ext cx="15544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DISCUSSION</a:t>
            </a:r>
            <a:endParaRPr sz="1200">
              <a:solidFill>
                <a:schemeClr val="dk1"/>
              </a:solidFill>
              <a:latin typeface="Calibri"/>
              <a:ea typeface="Calibri"/>
              <a:cs typeface="Calibri"/>
              <a:sym typeface="Calibri"/>
            </a:endParaRPr>
          </a:p>
        </p:txBody>
      </p:sp>
      <p:cxnSp>
        <p:nvCxnSpPr>
          <p:cNvPr id="72" name="Google Shape;72;p5"/>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73" name="Google Shape;73;p5"/>
          <p:cNvSpPr/>
          <p:nvPr/>
        </p:nvSpPr>
        <p:spPr>
          <a:xfrm>
            <a:off x="548640" y="1600200"/>
            <a:ext cx="11094415" cy="3566160"/>
          </a:xfrm>
          <a:prstGeom prst="roundRect">
            <a:avLst>
              <a:gd fmla="val 2564"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comments.png" id="74" name="Google Shape;74;p5"/>
          <p:cNvPicPr preferRelativeResize="0"/>
          <p:nvPr/>
        </p:nvPicPr>
        <p:blipFill rotWithShape="1">
          <a:blip r:embed="rId3">
            <a:alphaModFix/>
          </a:blip>
          <a:srcRect b="0" l="0" r="0" t="0"/>
          <a:stretch/>
        </p:blipFill>
        <p:spPr>
          <a:xfrm>
            <a:off x="868680" y="1920240"/>
            <a:ext cx="640080" cy="640080"/>
          </a:xfrm>
          <a:prstGeom prst="rect">
            <a:avLst/>
          </a:prstGeom>
          <a:noFill/>
          <a:ln>
            <a:noFill/>
          </a:ln>
        </p:spPr>
      </p:pic>
      <p:sp>
        <p:nvSpPr>
          <p:cNvPr id="75" name="Google Shape;75;p5"/>
          <p:cNvSpPr/>
          <p:nvPr/>
        </p:nvSpPr>
        <p:spPr>
          <a:xfrm>
            <a:off x="1691640" y="1874520"/>
            <a:ext cx="990569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900"/>
              <a:buFont typeface="Poppins SemiBold"/>
              <a:buNone/>
            </a:pPr>
            <a:r>
              <a:rPr lang="en-US" sz="1900">
                <a:solidFill>
                  <a:srgbClr val="1B2A30"/>
                </a:solidFill>
                <a:latin typeface="Poppins SemiBold"/>
                <a:ea typeface="Poppins SemiBold"/>
                <a:cs typeface="Poppins SemiBold"/>
                <a:sym typeface="Poppins SemiBold"/>
              </a:rPr>
              <a:t>Turn to the person next to you — compare notes on last year’s placement or in-college brief.</a:t>
            </a:r>
            <a:endParaRPr sz="1900">
              <a:solidFill>
                <a:schemeClr val="dk1"/>
              </a:solidFill>
              <a:latin typeface="Calibri"/>
              <a:ea typeface="Calibri"/>
              <a:cs typeface="Calibri"/>
              <a:sym typeface="Calibri"/>
            </a:endParaRPr>
          </a:p>
        </p:txBody>
      </p:sp>
      <p:sp>
        <p:nvSpPr>
          <p:cNvPr id="76" name="Google Shape;76;p5"/>
          <p:cNvSpPr/>
          <p:nvPr/>
        </p:nvSpPr>
        <p:spPr>
          <a:xfrm>
            <a:off x="914400" y="2560320"/>
            <a:ext cx="10088575"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B2A30"/>
              </a:buClr>
              <a:buSzPts val="1500"/>
              <a:buFont typeface="Poppins"/>
              <a:buNone/>
            </a:pPr>
            <a:r>
              <a:rPr lang="en-US" sz="1500">
                <a:solidFill>
                  <a:srgbClr val="1B2A30"/>
                </a:solidFill>
                <a:latin typeface="Poppins"/>
                <a:ea typeface="Poppins"/>
                <a:cs typeface="Poppins"/>
                <a:sym typeface="Poppins"/>
              </a:rPr>
              <a:t>•  What did you do for Skills Week last year — a placement, or an in-college project?</a:t>
            </a:r>
            <a:endParaRPr sz="1500">
              <a:solidFill>
                <a:schemeClr val="dk1"/>
              </a:solidFill>
              <a:latin typeface="Calibri"/>
              <a:ea typeface="Calibri"/>
              <a:cs typeface="Calibri"/>
              <a:sym typeface="Calibri"/>
            </a:endParaRPr>
          </a:p>
        </p:txBody>
      </p:sp>
      <p:sp>
        <p:nvSpPr>
          <p:cNvPr id="77" name="Google Shape;77;p5"/>
          <p:cNvSpPr/>
          <p:nvPr/>
        </p:nvSpPr>
        <p:spPr>
          <a:xfrm>
            <a:off x="914400" y="3017520"/>
            <a:ext cx="10088575"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B2A30"/>
              </a:buClr>
              <a:buSzPts val="1500"/>
              <a:buFont typeface="Poppins"/>
              <a:buNone/>
            </a:pPr>
            <a:r>
              <a:rPr lang="en-US" sz="1500">
                <a:solidFill>
                  <a:srgbClr val="1B2A30"/>
                </a:solidFill>
                <a:latin typeface="Poppins"/>
                <a:ea typeface="Poppins"/>
                <a:cs typeface="Poppins"/>
                <a:sym typeface="Poppins"/>
              </a:rPr>
              <a:t>•  What went well, and what would you do differently this time?</a:t>
            </a:r>
            <a:endParaRPr sz="1500">
              <a:solidFill>
                <a:schemeClr val="dk1"/>
              </a:solidFill>
              <a:latin typeface="Calibri"/>
              <a:ea typeface="Calibri"/>
              <a:cs typeface="Calibri"/>
              <a:sym typeface="Calibri"/>
            </a:endParaRPr>
          </a:p>
        </p:txBody>
      </p:sp>
      <p:sp>
        <p:nvSpPr>
          <p:cNvPr id="78" name="Google Shape;78;p5"/>
          <p:cNvSpPr/>
          <p:nvPr/>
        </p:nvSpPr>
        <p:spPr>
          <a:xfrm>
            <a:off x="914400" y="3474720"/>
            <a:ext cx="10088575"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B2A30"/>
              </a:buClr>
              <a:buSzPts val="1500"/>
              <a:buFont typeface="Poppins"/>
              <a:buNone/>
            </a:pPr>
            <a:r>
              <a:rPr lang="en-US" sz="1500">
                <a:solidFill>
                  <a:srgbClr val="1B2A30"/>
                </a:solidFill>
                <a:latin typeface="Poppins"/>
                <a:ea typeface="Poppins"/>
                <a:cs typeface="Poppins"/>
                <a:sym typeface="Poppins"/>
              </a:rPr>
              <a:t>•  Have you got an idea this year — something closer to your specialism — or are you starting from scratch?</a:t>
            </a:r>
            <a:endParaRPr sz="1500">
              <a:solidFill>
                <a:schemeClr val="dk1"/>
              </a:solidFill>
              <a:latin typeface="Calibri"/>
              <a:ea typeface="Calibri"/>
              <a:cs typeface="Calibri"/>
              <a:sym typeface="Calibri"/>
            </a:endParaRPr>
          </a:p>
        </p:txBody>
      </p:sp>
      <p:sp>
        <p:nvSpPr>
          <p:cNvPr id="79" name="Google Shape;79;p5"/>
          <p:cNvSpPr/>
          <p:nvPr/>
        </p:nvSpPr>
        <p:spPr>
          <a:xfrm>
            <a:off x="914400" y="3931920"/>
            <a:ext cx="10088575"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B2A30"/>
              </a:buClr>
              <a:buSzPts val="1500"/>
              <a:buFont typeface="Poppins"/>
              <a:buNone/>
            </a:pPr>
            <a:r>
              <a:rPr lang="en-US" sz="1500">
                <a:solidFill>
                  <a:srgbClr val="1B2A30"/>
                </a:solidFill>
                <a:latin typeface="Poppins"/>
                <a:ea typeface="Poppins"/>
                <a:cs typeface="Poppins"/>
                <a:sym typeface="Poppins"/>
              </a:rPr>
              <a:t>•  What’s the one thing that would make this year easier than last?</a:t>
            </a:r>
            <a:endParaRPr sz="1500">
              <a:solidFill>
                <a:schemeClr val="dk1"/>
              </a:solidFill>
              <a:latin typeface="Calibri"/>
              <a:ea typeface="Calibri"/>
              <a:cs typeface="Calibri"/>
              <a:sym typeface="Calibri"/>
            </a:endParaRPr>
          </a:p>
        </p:txBody>
      </p:sp>
      <p:sp>
        <p:nvSpPr>
          <p:cNvPr id="80" name="Google Shape;80;p5"/>
          <p:cNvSpPr/>
          <p:nvPr/>
        </p:nvSpPr>
        <p:spPr>
          <a:xfrm>
            <a:off x="914400" y="4526280"/>
            <a:ext cx="1008857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400"/>
              <a:buFont typeface="Poppins"/>
              <a:buNone/>
            </a:pPr>
            <a:r>
              <a:rPr i="1" lang="en-US" sz="1400">
                <a:solidFill>
                  <a:srgbClr val="5A6A6F"/>
                </a:solidFill>
                <a:latin typeface="Poppins"/>
                <a:ea typeface="Poppins"/>
                <a:cs typeface="Poppins"/>
                <a:sym typeface="Poppins"/>
              </a:rPr>
              <a:t>However last year went, this is a fresh run at it — not a repeat test.</a:t>
            </a:r>
            <a:endParaRPr sz="1400">
              <a:solidFill>
                <a:schemeClr val="dk1"/>
              </a:solidFill>
              <a:latin typeface="Calibri"/>
              <a:ea typeface="Calibri"/>
              <a:cs typeface="Calibri"/>
              <a:sym typeface="Calibri"/>
            </a:endParaRPr>
          </a:p>
        </p:txBody>
      </p:sp>
      <p:sp>
        <p:nvSpPr>
          <p:cNvPr id="81" name="Google Shape;81;p5"/>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82" name="Google Shape;82;p5"/>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3</a:t>
            </a:r>
            <a:endParaRPr sz="10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7" name="Shape 87"/>
        <p:cNvGrpSpPr/>
        <p:nvPr/>
      </p:nvGrpSpPr>
      <p:grpSpPr>
        <a:xfrm>
          <a:off x="0" y="0"/>
          <a:ext cx="0" cy="0"/>
          <a:chOff x="0" y="0"/>
          <a:chExt cx="0" cy="0"/>
        </a:xfrm>
      </p:grpSpPr>
      <p:sp>
        <p:nvSpPr>
          <p:cNvPr id="88" name="Google Shape;88;p6"/>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Why work experience matters</a:t>
            </a:r>
            <a:endParaRPr sz="3050">
              <a:solidFill>
                <a:schemeClr val="dk1"/>
              </a:solidFill>
              <a:latin typeface="Calibri"/>
              <a:ea typeface="Calibri"/>
              <a:cs typeface="Calibri"/>
              <a:sym typeface="Calibri"/>
            </a:endParaRPr>
          </a:p>
        </p:txBody>
      </p:sp>
      <p:sp>
        <p:nvSpPr>
          <p:cNvPr id="89" name="Google Shape;89;p6"/>
          <p:cNvSpPr/>
          <p:nvPr/>
        </p:nvSpPr>
        <p:spPr>
          <a:xfrm>
            <a:off x="9955987" y="292608"/>
            <a:ext cx="186994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6"/>
          <p:cNvSpPr/>
          <p:nvPr/>
        </p:nvSpPr>
        <p:spPr>
          <a:xfrm>
            <a:off x="9955987" y="292608"/>
            <a:ext cx="18699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TEACHER INPUT</a:t>
            </a:r>
            <a:endParaRPr sz="1200">
              <a:solidFill>
                <a:schemeClr val="dk1"/>
              </a:solidFill>
              <a:latin typeface="Calibri"/>
              <a:ea typeface="Calibri"/>
              <a:cs typeface="Calibri"/>
              <a:sym typeface="Calibri"/>
            </a:endParaRPr>
          </a:p>
        </p:txBody>
      </p:sp>
      <p:cxnSp>
        <p:nvCxnSpPr>
          <p:cNvPr id="91" name="Google Shape;91;p6"/>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92" name="Google Shape;92;p6"/>
          <p:cNvSpPr/>
          <p:nvPr/>
        </p:nvSpPr>
        <p:spPr>
          <a:xfrm>
            <a:off x="548640" y="1417320"/>
            <a:ext cx="110944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You know why it matters. Here’s why a second, sharper placement counts for more.</a:t>
            </a:r>
            <a:endParaRPr sz="2000">
              <a:solidFill>
                <a:schemeClr val="dk1"/>
              </a:solidFill>
              <a:latin typeface="Calibri"/>
              <a:ea typeface="Calibri"/>
              <a:cs typeface="Calibri"/>
              <a:sym typeface="Calibri"/>
            </a:endParaRPr>
          </a:p>
        </p:txBody>
      </p:sp>
      <p:sp>
        <p:nvSpPr>
          <p:cNvPr id="93" name="Google Shape;93;p6"/>
          <p:cNvSpPr/>
          <p:nvPr/>
        </p:nvSpPr>
        <p:spPr>
          <a:xfrm>
            <a:off x="548640" y="2057400"/>
            <a:ext cx="3515258" cy="2423160"/>
          </a:xfrm>
          <a:prstGeom prst="roundRect">
            <a:avLst>
              <a:gd fmla="val 3019"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6"/>
          <p:cNvSpPr/>
          <p:nvPr/>
        </p:nvSpPr>
        <p:spPr>
          <a:xfrm>
            <a:off x="548640" y="2057400"/>
            <a:ext cx="3515258" cy="82296"/>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6"/>
          <p:cNvSpPr/>
          <p:nvPr/>
        </p:nvSpPr>
        <p:spPr>
          <a:xfrm>
            <a:off x="786384" y="2331720"/>
            <a:ext cx="303977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50"/>
              <a:buFont typeface="Poppins SemiBold"/>
              <a:buNone/>
            </a:pPr>
            <a:r>
              <a:rPr lang="en-US" sz="1850">
                <a:solidFill>
                  <a:srgbClr val="1B2A30"/>
                </a:solidFill>
                <a:latin typeface="Poppins SemiBold"/>
                <a:ea typeface="Poppins SemiBold"/>
                <a:cs typeface="Poppins SemiBold"/>
                <a:sym typeface="Poppins SemiBold"/>
              </a:rPr>
              <a:t>Employability</a:t>
            </a:r>
            <a:endParaRPr sz="1850">
              <a:solidFill>
                <a:schemeClr val="dk1"/>
              </a:solidFill>
              <a:latin typeface="Calibri"/>
              <a:ea typeface="Calibri"/>
              <a:cs typeface="Calibri"/>
              <a:sym typeface="Calibri"/>
            </a:endParaRPr>
          </a:p>
        </p:txBody>
      </p:sp>
      <p:sp>
        <p:nvSpPr>
          <p:cNvPr id="96" name="Google Shape;96;p6"/>
          <p:cNvSpPr/>
          <p:nvPr/>
        </p:nvSpPr>
        <p:spPr>
          <a:xfrm>
            <a:off x="786384" y="2788920"/>
            <a:ext cx="3039770" cy="185737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5A6A6F"/>
              </a:buClr>
              <a:buSzPts val="1500"/>
              <a:buFont typeface="Poppins"/>
              <a:buNone/>
            </a:pPr>
            <a:r>
              <a:rPr lang="en-US" sz="1500">
                <a:solidFill>
                  <a:srgbClr val="5A6A6F"/>
                </a:solidFill>
                <a:latin typeface="Poppins"/>
                <a:ea typeface="Poppins"/>
                <a:cs typeface="Poppins"/>
                <a:sym typeface="Poppins"/>
              </a:rPr>
              <a:t>Two placements beat one: two entries on a CV, two referees, and a portfolio that shows range as well as skill.</a:t>
            </a:r>
            <a:endParaRPr sz="1500">
              <a:solidFill>
                <a:schemeClr val="dk1"/>
              </a:solidFill>
              <a:latin typeface="Calibri"/>
              <a:ea typeface="Calibri"/>
              <a:cs typeface="Calibri"/>
              <a:sym typeface="Calibri"/>
            </a:endParaRPr>
          </a:p>
        </p:txBody>
      </p:sp>
      <p:sp>
        <p:nvSpPr>
          <p:cNvPr id="97" name="Google Shape;97;p6"/>
          <p:cNvSpPr/>
          <p:nvPr/>
        </p:nvSpPr>
        <p:spPr>
          <a:xfrm>
            <a:off x="4338218" y="2057400"/>
            <a:ext cx="3515258" cy="2423160"/>
          </a:xfrm>
          <a:prstGeom prst="roundRect">
            <a:avLst>
              <a:gd fmla="val 3019"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6"/>
          <p:cNvSpPr/>
          <p:nvPr/>
        </p:nvSpPr>
        <p:spPr>
          <a:xfrm>
            <a:off x="4338218" y="2057400"/>
            <a:ext cx="3515258" cy="82296"/>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p:nvPr/>
        </p:nvSpPr>
        <p:spPr>
          <a:xfrm>
            <a:off x="4575962" y="2331720"/>
            <a:ext cx="303977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50"/>
              <a:buFont typeface="Poppins SemiBold"/>
              <a:buNone/>
            </a:pPr>
            <a:r>
              <a:rPr lang="en-US" sz="1850">
                <a:solidFill>
                  <a:srgbClr val="1B2A30"/>
                </a:solidFill>
                <a:latin typeface="Poppins SemiBold"/>
                <a:ea typeface="Poppins SemiBold"/>
                <a:cs typeface="Poppins SemiBold"/>
                <a:sym typeface="Poppins SemiBold"/>
              </a:rPr>
              <a:t>Progression</a:t>
            </a:r>
            <a:endParaRPr sz="1850">
              <a:solidFill>
                <a:schemeClr val="dk1"/>
              </a:solidFill>
              <a:latin typeface="Calibri"/>
              <a:ea typeface="Calibri"/>
              <a:cs typeface="Calibri"/>
              <a:sym typeface="Calibri"/>
            </a:endParaRPr>
          </a:p>
        </p:txBody>
      </p:sp>
      <p:sp>
        <p:nvSpPr>
          <p:cNvPr id="100" name="Google Shape;100;p6"/>
          <p:cNvSpPr/>
          <p:nvPr/>
        </p:nvSpPr>
        <p:spPr>
          <a:xfrm>
            <a:off x="4575962" y="2788920"/>
            <a:ext cx="3039770" cy="185737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5A6A6F"/>
              </a:buClr>
              <a:buSzPts val="1500"/>
              <a:buFont typeface="Poppins"/>
              <a:buNone/>
            </a:pPr>
            <a:r>
              <a:rPr lang="en-US" sz="1500">
                <a:solidFill>
                  <a:srgbClr val="5A6A6F"/>
                </a:solidFill>
                <a:latin typeface="Poppins"/>
                <a:ea typeface="Poppins"/>
                <a:cs typeface="Poppins"/>
                <a:sym typeface="Poppins"/>
              </a:rPr>
              <a:t>UCAS and apprenticeship applications open soon. A recent, relevant placement is stronger evidence than last year’s alone.</a:t>
            </a:r>
            <a:endParaRPr sz="1500">
              <a:solidFill>
                <a:schemeClr val="dk1"/>
              </a:solidFill>
              <a:latin typeface="Calibri"/>
              <a:ea typeface="Calibri"/>
              <a:cs typeface="Calibri"/>
              <a:sym typeface="Calibri"/>
            </a:endParaRPr>
          </a:p>
        </p:txBody>
      </p:sp>
      <p:sp>
        <p:nvSpPr>
          <p:cNvPr id="101" name="Google Shape;101;p6"/>
          <p:cNvSpPr/>
          <p:nvPr/>
        </p:nvSpPr>
        <p:spPr>
          <a:xfrm>
            <a:off x="8127797" y="2057400"/>
            <a:ext cx="3515258" cy="2423160"/>
          </a:xfrm>
          <a:prstGeom prst="roundRect">
            <a:avLst>
              <a:gd fmla="val 3019"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8127797" y="2057400"/>
            <a:ext cx="3515258" cy="82296"/>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6"/>
          <p:cNvSpPr/>
          <p:nvPr/>
        </p:nvSpPr>
        <p:spPr>
          <a:xfrm>
            <a:off x="8365541" y="2331720"/>
            <a:ext cx="303977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50"/>
              <a:buFont typeface="Poppins SemiBold"/>
              <a:buNone/>
            </a:pPr>
            <a:r>
              <a:rPr lang="en-US" sz="1850">
                <a:solidFill>
                  <a:srgbClr val="1B2A30"/>
                </a:solidFill>
                <a:latin typeface="Poppins SemiBold"/>
                <a:ea typeface="Poppins SemiBold"/>
                <a:cs typeface="Poppins SemiBold"/>
                <a:sym typeface="Poppins SemiBold"/>
              </a:rPr>
              <a:t>Professional identity</a:t>
            </a:r>
            <a:endParaRPr sz="1850">
              <a:solidFill>
                <a:schemeClr val="dk1"/>
              </a:solidFill>
              <a:latin typeface="Calibri"/>
              <a:ea typeface="Calibri"/>
              <a:cs typeface="Calibri"/>
              <a:sym typeface="Calibri"/>
            </a:endParaRPr>
          </a:p>
        </p:txBody>
      </p:sp>
      <p:sp>
        <p:nvSpPr>
          <p:cNvPr id="104" name="Google Shape;104;p6"/>
          <p:cNvSpPr/>
          <p:nvPr/>
        </p:nvSpPr>
        <p:spPr>
          <a:xfrm>
            <a:off x="8365541" y="2788920"/>
            <a:ext cx="3039770" cy="185737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5A6A6F"/>
              </a:buClr>
              <a:buSzPts val="1500"/>
              <a:buFont typeface="Poppins"/>
              <a:buNone/>
            </a:pPr>
            <a:r>
              <a:rPr lang="en-US" sz="1500">
                <a:solidFill>
                  <a:srgbClr val="5A6A6F"/>
                </a:solidFill>
                <a:latin typeface="Poppins"/>
                <a:ea typeface="Poppins"/>
                <a:cs typeface="Poppins"/>
                <a:sym typeface="Poppins"/>
              </a:rPr>
              <a:t>Aim it at your Final Major Project or specialism — the work you want to be known for after college.</a:t>
            </a:r>
            <a:endParaRPr sz="1500">
              <a:solidFill>
                <a:schemeClr val="dk1"/>
              </a:solidFill>
              <a:latin typeface="Calibri"/>
              <a:ea typeface="Calibri"/>
              <a:cs typeface="Calibri"/>
              <a:sym typeface="Calibri"/>
            </a:endParaRPr>
          </a:p>
        </p:txBody>
      </p:sp>
      <p:sp>
        <p:nvSpPr>
          <p:cNvPr id="105" name="Google Shape;105;p6"/>
          <p:cNvSpPr/>
          <p:nvPr/>
        </p:nvSpPr>
        <p:spPr>
          <a:xfrm>
            <a:off x="548640" y="4709160"/>
            <a:ext cx="11094415" cy="1051560"/>
          </a:xfrm>
          <a:prstGeom prst="roundRect">
            <a:avLst>
              <a:gd fmla="val 6957" name="adj"/>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seek_opportunity.png" id="106" name="Google Shape;106;p6"/>
          <p:cNvPicPr preferRelativeResize="0"/>
          <p:nvPr/>
        </p:nvPicPr>
        <p:blipFill rotWithShape="1">
          <a:blip r:embed="rId3">
            <a:alphaModFix/>
          </a:blip>
          <a:srcRect b="0" l="0" r="0" t="0"/>
          <a:stretch/>
        </p:blipFill>
        <p:spPr>
          <a:xfrm>
            <a:off x="822960" y="4937760"/>
            <a:ext cx="594360" cy="594360"/>
          </a:xfrm>
          <a:prstGeom prst="rect">
            <a:avLst/>
          </a:prstGeom>
          <a:noFill/>
          <a:ln>
            <a:noFill/>
          </a:ln>
        </p:spPr>
      </p:pic>
      <p:sp>
        <p:nvSpPr>
          <p:cNvPr id="107" name="Google Shape;107;p6"/>
          <p:cNvSpPr/>
          <p:nvPr/>
        </p:nvSpPr>
        <p:spPr>
          <a:xfrm>
            <a:off x="1600200" y="4709160"/>
            <a:ext cx="9905695" cy="105156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CF01"/>
              </a:buClr>
              <a:buSzPts val="1500"/>
              <a:buFont typeface="Poppins"/>
              <a:buNone/>
            </a:pPr>
            <a:r>
              <a:rPr b="1" lang="en-US" sz="1500">
                <a:solidFill>
                  <a:srgbClr val="FFCF01"/>
                </a:solidFill>
                <a:latin typeface="Poppins"/>
                <a:ea typeface="Poppins"/>
                <a:cs typeface="Poppins"/>
                <a:sym typeface="Poppins"/>
              </a:rPr>
              <a:t>Seek Opportunity: </a:t>
            </a:r>
            <a:r>
              <a:rPr lang="en-US" sz="1500">
                <a:solidFill>
                  <a:srgbClr val="FFFFFF"/>
                </a:solidFill>
                <a:latin typeface="Poppins"/>
                <a:ea typeface="Poppins"/>
                <a:cs typeface="Poppins"/>
                <a:sym typeface="Poppins"/>
              </a:rPr>
              <a:t>doing this once was practising the value. Doing it again, deliberately, is what turns it into a habit.</a:t>
            </a:r>
            <a:endParaRPr sz="1500">
              <a:solidFill>
                <a:schemeClr val="dk1"/>
              </a:solidFill>
              <a:latin typeface="Calibri"/>
              <a:ea typeface="Calibri"/>
              <a:cs typeface="Calibri"/>
              <a:sym typeface="Calibri"/>
            </a:endParaRPr>
          </a:p>
        </p:txBody>
      </p:sp>
      <p:sp>
        <p:nvSpPr>
          <p:cNvPr id="108" name="Google Shape;108;p6"/>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109" name="Google Shape;109;p6"/>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4</a:t>
            </a:r>
            <a:endParaRPr sz="10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14" name="Shape 114"/>
        <p:cNvGrpSpPr/>
        <p:nvPr/>
      </p:nvGrpSpPr>
      <p:grpSpPr>
        <a:xfrm>
          <a:off x="0" y="0"/>
          <a:ext cx="0" cy="0"/>
          <a:chOff x="0" y="0"/>
          <a:chExt cx="0" cy="0"/>
        </a:xfrm>
      </p:grpSpPr>
      <p:sp>
        <p:nvSpPr>
          <p:cNvPr id="115" name="Google Shape;115;p7"/>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What’s on offer this year</a:t>
            </a:r>
            <a:endParaRPr sz="3050">
              <a:solidFill>
                <a:schemeClr val="dk1"/>
              </a:solidFill>
              <a:latin typeface="Calibri"/>
              <a:ea typeface="Calibri"/>
              <a:cs typeface="Calibri"/>
              <a:sym typeface="Calibri"/>
            </a:endParaRPr>
          </a:p>
        </p:txBody>
      </p:sp>
      <p:sp>
        <p:nvSpPr>
          <p:cNvPr id="116" name="Google Shape;116;p7"/>
          <p:cNvSpPr/>
          <p:nvPr/>
        </p:nvSpPr>
        <p:spPr>
          <a:xfrm>
            <a:off x="9955987" y="292608"/>
            <a:ext cx="186994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7"/>
          <p:cNvSpPr/>
          <p:nvPr/>
        </p:nvSpPr>
        <p:spPr>
          <a:xfrm>
            <a:off x="9955987" y="292608"/>
            <a:ext cx="18699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TEACHER INPUT</a:t>
            </a:r>
            <a:endParaRPr sz="1200">
              <a:solidFill>
                <a:schemeClr val="dk1"/>
              </a:solidFill>
              <a:latin typeface="Calibri"/>
              <a:ea typeface="Calibri"/>
              <a:cs typeface="Calibri"/>
              <a:sym typeface="Calibri"/>
            </a:endParaRPr>
          </a:p>
        </p:txBody>
      </p:sp>
      <p:cxnSp>
        <p:nvCxnSpPr>
          <p:cNvPr id="118" name="Google Shape;118;p7"/>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119" name="Google Shape;119;p7"/>
          <p:cNvSpPr/>
          <p:nvPr/>
        </p:nvSpPr>
        <p:spPr>
          <a:xfrm>
            <a:off x="548640"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building.png" id="120" name="Google Shape;120;p7"/>
          <p:cNvPicPr preferRelativeResize="0"/>
          <p:nvPr/>
        </p:nvPicPr>
        <p:blipFill rotWithShape="1">
          <a:blip r:embed="rId3">
            <a:alphaModFix/>
          </a:blip>
          <a:srcRect b="0" l="0" r="0" t="0"/>
          <a:stretch/>
        </p:blipFill>
        <p:spPr>
          <a:xfrm>
            <a:off x="1285006" y="1755648"/>
            <a:ext cx="585216" cy="585216"/>
          </a:xfrm>
          <a:prstGeom prst="rect">
            <a:avLst/>
          </a:prstGeom>
          <a:noFill/>
          <a:ln>
            <a:noFill/>
          </a:ln>
        </p:spPr>
      </p:pic>
      <p:sp>
        <p:nvSpPr>
          <p:cNvPr id="121" name="Google Shape;121;p7"/>
          <p:cNvSpPr/>
          <p:nvPr/>
        </p:nvSpPr>
        <p:spPr>
          <a:xfrm>
            <a:off x="640080"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Block placement</a:t>
            </a:r>
            <a:endParaRPr sz="1350">
              <a:solidFill>
                <a:schemeClr val="dk1"/>
              </a:solidFill>
              <a:latin typeface="Calibri"/>
              <a:ea typeface="Calibri"/>
              <a:cs typeface="Calibri"/>
              <a:sym typeface="Calibri"/>
            </a:endParaRPr>
          </a:p>
        </p:txBody>
      </p:sp>
      <p:sp>
        <p:nvSpPr>
          <p:cNvPr id="122" name="Google Shape;122;p7"/>
          <p:cNvSpPr/>
          <p:nvPr/>
        </p:nvSpPr>
        <p:spPr>
          <a:xfrm>
            <a:off x="640080"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A set period with one employer</a:t>
            </a:r>
            <a:endParaRPr sz="1050">
              <a:solidFill>
                <a:schemeClr val="dk1"/>
              </a:solidFill>
              <a:latin typeface="Calibri"/>
              <a:ea typeface="Calibri"/>
              <a:cs typeface="Calibri"/>
              <a:sym typeface="Calibri"/>
            </a:endParaRPr>
          </a:p>
        </p:txBody>
      </p:sp>
      <p:sp>
        <p:nvSpPr>
          <p:cNvPr id="123" name="Google Shape;123;p7"/>
          <p:cNvSpPr/>
          <p:nvPr/>
        </p:nvSpPr>
        <p:spPr>
          <a:xfrm>
            <a:off x="2807757"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handshake.png" id="124" name="Google Shape;124;p7"/>
          <p:cNvPicPr preferRelativeResize="0"/>
          <p:nvPr/>
        </p:nvPicPr>
        <p:blipFill rotWithShape="1">
          <a:blip r:embed="rId4">
            <a:alphaModFix/>
          </a:blip>
          <a:srcRect b="0" l="0" r="0" t="0"/>
          <a:stretch/>
        </p:blipFill>
        <p:spPr>
          <a:xfrm>
            <a:off x="3544123" y="1755648"/>
            <a:ext cx="585216" cy="585216"/>
          </a:xfrm>
          <a:prstGeom prst="rect">
            <a:avLst/>
          </a:prstGeom>
          <a:noFill/>
          <a:ln>
            <a:noFill/>
          </a:ln>
        </p:spPr>
      </p:pic>
      <p:sp>
        <p:nvSpPr>
          <p:cNvPr id="125" name="Google Shape;125;p7"/>
          <p:cNvSpPr/>
          <p:nvPr/>
        </p:nvSpPr>
        <p:spPr>
          <a:xfrm>
            <a:off x="2899197"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Employer visits</a:t>
            </a:r>
            <a:endParaRPr sz="1350">
              <a:solidFill>
                <a:schemeClr val="dk1"/>
              </a:solidFill>
              <a:latin typeface="Calibri"/>
              <a:ea typeface="Calibri"/>
              <a:cs typeface="Calibri"/>
              <a:sym typeface="Calibri"/>
            </a:endParaRPr>
          </a:p>
        </p:txBody>
      </p:sp>
      <p:sp>
        <p:nvSpPr>
          <p:cNvPr id="126" name="Google Shape;126;p7"/>
          <p:cNvSpPr/>
          <p:nvPr/>
        </p:nvSpPr>
        <p:spPr>
          <a:xfrm>
            <a:off x="2899197"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Shorter, structured visits to a workplace</a:t>
            </a:r>
            <a:endParaRPr sz="1050">
              <a:solidFill>
                <a:schemeClr val="dk1"/>
              </a:solidFill>
              <a:latin typeface="Calibri"/>
              <a:ea typeface="Calibri"/>
              <a:cs typeface="Calibri"/>
              <a:sym typeface="Calibri"/>
            </a:endParaRPr>
          </a:p>
        </p:txBody>
      </p:sp>
      <p:sp>
        <p:nvSpPr>
          <p:cNvPr id="127" name="Google Shape;127;p7"/>
          <p:cNvSpPr/>
          <p:nvPr/>
        </p:nvSpPr>
        <p:spPr>
          <a:xfrm>
            <a:off x="5066873"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heart.png" id="128" name="Google Shape;128;p7"/>
          <p:cNvPicPr preferRelativeResize="0"/>
          <p:nvPr/>
        </p:nvPicPr>
        <p:blipFill rotWithShape="1">
          <a:blip r:embed="rId5">
            <a:alphaModFix/>
          </a:blip>
          <a:srcRect b="0" l="0" r="0" t="0"/>
          <a:stretch/>
        </p:blipFill>
        <p:spPr>
          <a:xfrm>
            <a:off x="5803240" y="1755648"/>
            <a:ext cx="585216" cy="585216"/>
          </a:xfrm>
          <a:prstGeom prst="rect">
            <a:avLst/>
          </a:prstGeom>
          <a:noFill/>
          <a:ln>
            <a:noFill/>
          </a:ln>
        </p:spPr>
      </p:pic>
      <p:sp>
        <p:nvSpPr>
          <p:cNvPr id="129" name="Google Shape;129;p7"/>
          <p:cNvSpPr/>
          <p:nvPr/>
        </p:nvSpPr>
        <p:spPr>
          <a:xfrm>
            <a:off x="5158313"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Volunteering</a:t>
            </a:r>
            <a:endParaRPr sz="1350">
              <a:solidFill>
                <a:schemeClr val="dk1"/>
              </a:solidFill>
              <a:latin typeface="Calibri"/>
              <a:ea typeface="Calibri"/>
              <a:cs typeface="Calibri"/>
              <a:sym typeface="Calibri"/>
            </a:endParaRPr>
          </a:p>
        </p:txBody>
      </p:sp>
      <p:sp>
        <p:nvSpPr>
          <p:cNvPr id="130" name="Google Shape;130;p7"/>
          <p:cNvSpPr/>
          <p:nvPr/>
        </p:nvSpPr>
        <p:spPr>
          <a:xfrm>
            <a:off x="5158313"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Unpaid work with a genuine organisational need</a:t>
            </a:r>
            <a:endParaRPr sz="1050">
              <a:solidFill>
                <a:schemeClr val="dk1"/>
              </a:solidFill>
              <a:latin typeface="Calibri"/>
              <a:ea typeface="Calibri"/>
              <a:cs typeface="Calibri"/>
              <a:sym typeface="Calibri"/>
            </a:endParaRPr>
          </a:p>
        </p:txBody>
      </p:sp>
      <p:sp>
        <p:nvSpPr>
          <p:cNvPr id="131" name="Google Shape;131;p7"/>
          <p:cNvSpPr/>
          <p:nvPr/>
        </p:nvSpPr>
        <p:spPr>
          <a:xfrm>
            <a:off x="7325990"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project.png" id="132" name="Google Shape;132;p7"/>
          <p:cNvPicPr preferRelativeResize="0"/>
          <p:nvPr/>
        </p:nvPicPr>
        <p:blipFill rotWithShape="1">
          <a:blip r:embed="rId6">
            <a:alphaModFix/>
          </a:blip>
          <a:srcRect b="0" l="0" r="0" t="0"/>
          <a:stretch/>
        </p:blipFill>
        <p:spPr>
          <a:xfrm>
            <a:off x="8062356" y="1755648"/>
            <a:ext cx="585216" cy="585216"/>
          </a:xfrm>
          <a:prstGeom prst="rect">
            <a:avLst/>
          </a:prstGeom>
          <a:noFill/>
          <a:ln>
            <a:noFill/>
          </a:ln>
        </p:spPr>
      </p:pic>
      <p:sp>
        <p:nvSpPr>
          <p:cNvPr id="133" name="Google Shape;133;p7"/>
          <p:cNvSpPr/>
          <p:nvPr/>
        </p:nvSpPr>
        <p:spPr>
          <a:xfrm>
            <a:off x="7417430"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Live project briefs</a:t>
            </a:r>
            <a:endParaRPr sz="1350">
              <a:solidFill>
                <a:schemeClr val="dk1"/>
              </a:solidFill>
              <a:latin typeface="Calibri"/>
              <a:ea typeface="Calibri"/>
              <a:cs typeface="Calibri"/>
              <a:sym typeface="Calibri"/>
            </a:endParaRPr>
          </a:p>
        </p:txBody>
      </p:sp>
      <p:sp>
        <p:nvSpPr>
          <p:cNvPr id="134" name="Google Shape;134;p7"/>
          <p:cNvSpPr/>
          <p:nvPr/>
        </p:nvSpPr>
        <p:spPr>
          <a:xfrm>
            <a:off x="7417430"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Real employer problems, worked on in college</a:t>
            </a:r>
            <a:endParaRPr sz="1050">
              <a:solidFill>
                <a:schemeClr val="dk1"/>
              </a:solidFill>
              <a:latin typeface="Calibri"/>
              <a:ea typeface="Calibri"/>
              <a:cs typeface="Calibri"/>
              <a:sym typeface="Calibri"/>
            </a:endParaRPr>
          </a:p>
        </p:txBody>
      </p:sp>
      <p:sp>
        <p:nvSpPr>
          <p:cNvPr id="135" name="Google Shape;135;p7"/>
          <p:cNvSpPr/>
          <p:nvPr/>
        </p:nvSpPr>
        <p:spPr>
          <a:xfrm>
            <a:off x="9585107"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network.png" id="136" name="Google Shape;136;p7"/>
          <p:cNvPicPr preferRelativeResize="0"/>
          <p:nvPr/>
        </p:nvPicPr>
        <p:blipFill rotWithShape="1">
          <a:blip r:embed="rId7">
            <a:alphaModFix/>
          </a:blip>
          <a:srcRect b="0" l="0" r="0" t="0"/>
          <a:stretch/>
        </p:blipFill>
        <p:spPr>
          <a:xfrm>
            <a:off x="10321473" y="1755648"/>
            <a:ext cx="585216" cy="585216"/>
          </a:xfrm>
          <a:prstGeom prst="rect">
            <a:avLst/>
          </a:prstGeom>
          <a:noFill/>
          <a:ln>
            <a:noFill/>
          </a:ln>
        </p:spPr>
      </p:pic>
      <p:sp>
        <p:nvSpPr>
          <p:cNvPr id="137" name="Google Shape;137;p7"/>
          <p:cNvSpPr/>
          <p:nvPr/>
        </p:nvSpPr>
        <p:spPr>
          <a:xfrm>
            <a:off x="9676547"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Industry partnerships</a:t>
            </a:r>
            <a:endParaRPr sz="1350">
              <a:solidFill>
                <a:schemeClr val="dk1"/>
              </a:solidFill>
              <a:latin typeface="Calibri"/>
              <a:ea typeface="Calibri"/>
              <a:cs typeface="Calibri"/>
              <a:sym typeface="Calibri"/>
            </a:endParaRPr>
          </a:p>
        </p:txBody>
      </p:sp>
      <p:sp>
        <p:nvSpPr>
          <p:cNvPr id="138" name="Google Shape;138;p7"/>
          <p:cNvSpPr/>
          <p:nvPr/>
        </p:nvSpPr>
        <p:spPr>
          <a:xfrm>
            <a:off x="9676547"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Activity run through ESCG’s employer links</a:t>
            </a:r>
            <a:endParaRPr sz="1050">
              <a:solidFill>
                <a:schemeClr val="dk1"/>
              </a:solidFill>
              <a:latin typeface="Calibri"/>
              <a:ea typeface="Calibri"/>
              <a:cs typeface="Calibri"/>
              <a:sym typeface="Calibri"/>
            </a:endParaRPr>
          </a:p>
        </p:txBody>
      </p:sp>
      <p:sp>
        <p:nvSpPr>
          <p:cNvPr id="139" name="Google Shape;139;p7"/>
          <p:cNvSpPr/>
          <p:nvPr/>
        </p:nvSpPr>
        <p:spPr>
          <a:xfrm>
            <a:off x="548640" y="374904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350"/>
              <a:buFont typeface="Poppins"/>
              <a:buNone/>
            </a:pPr>
            <a:r>
              <a:rPr i="1" lang="en-US" sz="1350">
                <a:solidFill>
                  <a:srgbClr val="5A6A6F"/>
                </a:solidFill>
                <a:latin typeface="Poppins"/>
                <a:ea typeface="Poppins"/>
                <a:cs typeface="Poppins"/>
                <a:sym typeface="Poppins"/>
              </a:rPr>
              <a:t>Same options as last year — your tutor will confirm any changes. This time, choose the one closest to the specialism you are heading into.</a:t>
            </a:r>
            <a:endParaRPr sz="1350">
              <a:solidFill>
                <a:schemeClr val="dk1"/>
              </a:solidFill>
              <a:latin typeface="Calibri"/>
              <a:ea typeface="Calibri"/>
              <a:cs typeface="Calibri"/>
              <a:sym typeface="Calibri"/>
            </a:endParaRPr>
          </a:p>
        </p:txBody>
      </p:sp>
      <p:sp>
        <p:nvSpPr>
          <p:cNvPr id="140" name="Google Shape;140;p7"/>
          <p:cNvSpPr/>
          <p:nvPr/>
        </p:nvSpPr>
        <p:spPr>
          <a:xfrm>
            <a:off x="548640" y="4251960"/>
            <a:ext cx="11094415" cy="1661160"/>
          </a:xfrm>
          <a:prstGeom prst="roundRect">
            <a:avLst>
              <a:gd fmla="val 5714"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7"/>
          <p:cNvSpPr/>
          <p:nvPr/>
        </p:nvSpPr>
        <p:spPr>
          <a:xfrm>
            <a:off x="777240" y="4389120"/>
            <a:ext cx="106372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600"/>
              <a:buFont typeface="Poppins SemiBold"/>
              <a:buNone/>
            </a:pPr>
            <a:r>
              <a:rPr lang="en-US" sz="1600">
                <a:solidFill>
                  <a:srgbClr val="1B2A30"/>
                </a:solidFill>
                <a:latin typeface="Poppins SemiBold"/>
                <a:ea typeface="Poppins SemiBold"/>
                <a:cs typeface="Poppins SemiBold"/>
                <a:sym typeface="Poppins SemiBold"/>
              </a:rPr>
              <a:t>Yes, it’s another 30 hours</a:t>
            </a:r>
            <a:endParaRPr sz="1600">
              <a:solidFill>
                <a:schemeClr val="dk1"/>
              </a:solidFill>
              <a:latin typeface="Calibri"/>
              <a:ea typeface="Calibri"/>
              <a:cs typeface="Calibri"/>
              <a:sym typeface="Calibri"/>
            </a:endParaRPr>
          </a:p>
        </p:txBody>
      </p:sp>
      <p:sp>
        <p:nvSpPr>
          <p:cNvPr id="142" name="Google Shape;142;p7"/>
          <p:cNvSpPr/>
          <p:nvPr/>
        </p:nvSpPr>
        <p:spPr>
          <a:xfrm>
            <a:off x="777240" y="4709160"/>
            <a:ext cx="10637215" cy="11582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The requirement resets each academic year — last year’s hours don’t carry over. On a T Level, this sits inside your larger industry placement. No placement by Skills Week? You come into college for an employer-set brief and employer talks instead. It still counts.</a:t>
            </a:r>
            <a:endParaRPr sz="1350">
              <a:solidFill>
                <a:schemeClr val="dk1"/>
              </a:solidFill>
              <a:latin typeface="Calibri"/>
              <a:ea typeface="Calibri"/>
              <a:cs typeface="Calibri"/>
              <a:sym typeface="Calibri"/>
            </a:endParaRPr>
          </a:p>
        </p:txBody>
      </p:sp>
      <p:sp>
        <p:nvSpPr>
          <p:cNvPr id="143" name="Google Shape;143;p7"/>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144" name="Google Shape;144;p7"/>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5</a:t>
            </a:r>
            <a:endParaRPr sz="10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49" name="Shape 149"/>
        <p:cNvGrpSpPr/>
        <p:nvPr/>
      </p:nvGrpSpPr>
      <p:grpSpPr>
        <a:xfrm>
          <a:off x="0" y="0"/>
          <a:ext cx="0" cy="0"/>
          <a:chOff x="0" y="0"/>
          <a:chExt cx="0" cy="0"/>
        </a:xfrm>
      </p:grpSpPr>
      <p:sp>
        <p:nvSpPr>
          <p:cNvPr id="150" name="Google Shape;150;p8"/>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This year’s dates</a:t>
            </a:r>
            <a:endParaRPr sz="3050">
              <a:solidFill>
                <a:schemeClr val="dk1"/>
              </a:solidFill>
              <a:latin typeface="Calibri"/>
              <a:ea typeface="Calibri"/>
              <a:cs typeface="Calibri"/>
              <a:sym typeface="Calibri"/>
            </a:endParaRPr>
          </a:p>
        </p:txBody>
      </p:sp>
      <p:sp>
        <p:nvSpPr>
          <p:cNvPr id="151" name="Google Shape;151;p8"/>
          <p:cNvSpPr/>
          <p:nvPr/>
        </p:nvSpPr>
        <p:spPr>
          <a:xfrm>
            <a:off x="9955987" y="292608"/>
            <a:ext cx="186994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8"/>
          <p:cNvSpPr/>
          <p:nvPr/>
        </p:nvSpPr>
        <p:spPr>
          <a:xfrm>
            <a:off x="9955987" y="292608"/>
            <a:ext cx="18699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TEACHER INPUT</a:t>
            </a:r>
            <a:endParaRPr sz="1200">
              <a:solidFill>
                <a:schemeClr val="dk1"/>
              </a:solidFill>
              <a:latin typeface="Calibri"/>
              <a:ea typeface="Calibri"/>
              <a:cs typeface="Calibri"/>
              <a:sym typeface="Calibri"/>
            </a:endParaRPr>
          </a:p>
        </p:txBody>
      </p:sp>
      <p:cxnSp>
        <p:nvCxnSpPr>
          <p:cNvPr id="153" name="Google Shape;153;p8"/>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154" name="Google Shape;154;p8"/>
          <p:cNvSpPr/>
          <p:nvPr/>
        </p:nvSpPr>
        <p:spPr>
          <a:xfrm>
            <a:off x="548640" y="1600200"/>
            <a:ext cx="5364328" cy="2103120"/>
          </a:xfrm>
          <a:prstGeom prst="roundRect">
            <a:avLst>
              <a:gd fmla="val 4348"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calendar.png" id="155" name="Google Shape;155;p8"/>
          <p:cNvPicPr preferRelativeResize="0"/>
          <p:nvPr/>
        </p:nvPicPr>
        <p:blipFill rotWithShape="1">
          <a:blip r:embed="rId3">
            <a:alphaModFix/>
          </a:blip>
          <a:srcRect b="0" l="0" r="0" t="0"/>
          <a:stretch/>
        </p:blipFill>
        <p:spPr>
          <a:xfrm>
            <a:off x="822960" y="1828800"/>
            <a:ext cx="502920" cy="502920"/>
          </a:xfrm>
          <a:prstGeom prst="rect">
            <a:avLst/>
          </a:prstGeom>
          <a:noFill/>
          <a:ln>
            <a:noFill/>
          </a:ln>
        </p:spPr>
      </p:pic>
      <p:sp>
        <p:nvSpPr>
          <p:cNvPr id="156" name="Google Shape;156;p8"/>
          <p:cNvSpPr/>
          <p:nvPr/>
        </p:nvSpPr>
        <p:spPr>
          <a:xfrm>
            <a:off x="1463040" y="1847088"/>
            <a:ext cx="444992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500"/>
              <a:buFont typeface="Poppins SemiBold"/>
              <a:buNone/>
            </a:pPr>
            <a:r>
              <a:rPr lang="en-US" sz="1500">
                <a:solidFill>
                  <a:srgbClr val="FFCF01"/>
                </a:solidFill>
                <a:latin typeface="Poppins SemiBold"/>
                <a:ea typeface="Poppins SemiBold"/>
                <a:cs typeface="Poppins SemiBold"/>
                <a:sym typeface="Poppins SemiBold"/>
              </a:rPr>
              <a:t>SKILLS WEEK</a:t>
            </a:r>
            <a:endParaRPr sz="1500">
              <a:solidFill>
                <a:schemeClr val="dk1"/>
              </a:solidFill>
              <a:latin typeface="Calibri"/>
              <a:ea typeface="Calibri"/>
              <a:cs typeface="Calibri"/>
              <a:sym typeface="Calibri"/>
            </a:endParaRPr>
          </a:p>
        </p:txBody>
      </p:sp>
      <p:sp>
        <p:nvSpPr>
          <p:cNvPr id="157" name="Google Shape;157;p8"/>
          <p:cNvSpPr/>
          <p:nvPr/>
        </p:nvSpPr>
        <p:spPr>
          <a:xfrm>
            <a:off x="822960" y="2514600"/>
            <a:ext cx="4815688"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Monday 8 March 2027</a:t>
            </a:r>
            <a:endParaRPr sz="2600">
              <a:solidFill>
                <a:schemeClr val="dk1"/>
              </a:solidFill>
              <a:latin typeface="Calibri"/>
              <a:ea typeface="Calibri"/>
              <a:cs typeface="Calibri"/>
              <a:sym typeface="Calibri"/>
            </a:endParaRPr>
          </a:p>
        </p:txBody>
      </p:sp>
      <p:sp>
        <p:nvSpPr>
          <p:cNvPr id="158" name="Google Shape;158;p8"/>
          <p:cNvSpPr/>
          <p:nvPr/>
        </p:nvSpPr>
        <p:spPr>
          <a:xfrm>
            <a:off x="822960" y="3063240"/>
            <a:ext cx="4815688"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E4D6EE"/>
              </a:buClr>
              <a:buSzPts val="1350"/>
              <a:buFont typeface="Poppins"/>
              <a:buNone/>
            </a:pPr>
            <a:r>
              <a:rPr lang="en-US" sz="1350">
                <a:solidFill>
                  <a:srgbClr val="E4D6EE"/>
                </a:solidFill>
                <a:latin typeface="Poppins"/>
                <a:ea typeface="Poppins"/>
                <a:cs typeface="Poppins"/>
                <a:sym typeface="Poppins"/>
              </a:rPr>
              <a:t>This is your Work Experience week — the placement itself happens here.</a:t>
            </a:r>
            <a:endParaRPr sz="1350">
              <a:solidFill>
                <a:schemeClr val="dk1"/>
              </a:solidFill>
              <a:latin typeface="Calibri"/>
              <a:ea typeface="Calibri"/>
              <a:cs typeface="Calibri"/>
              <a:sym typeface="Calibri"/>
            </a:endParaRPr>
          </a:p>
        </p:txBody>
      </p:sp>
      <p:sp>
        <p:nvSpPr>
          <p:cNvPr id="159" name="Google Shape;159;p8"/>
          <p:cNvSpPr/>
          <p:nvPr/>
        </p:nvSpPr>
        <p:spPr>
          <a:xfrm>
            <a:off x="6278728" y="1600200"/>
            <a:ext cx="5364328" cy="2103120"/>
          </a:xfrm>
          <a:prstGeom prst="roundRect">
            <a:avLst>
              <a:gd fmla="val 4348" name="adj"/>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clock.png" id="160" name="Google Shape;160;p8"/>
          <p:cNvPicPr preferRelativeResize="0"/>
          <p:nvPr/>
        </p:nvPicPr>
        <p:blipFill rotWithShape="1">
          <a:blip r:embed="rId4">
            <a:alphaModFix/>
          </a:blip>
          <a:srcRect b="0" l="0" r="0" t="0"/>
          <a:stretch/>
        </p:blipFill>
        <p:spPr>
          <a:xfrm>
            <a:off x="6553048" y="1828800"/>
            <a:ext cx="502920" cy="502920"/>
          </a:xfrm>
          <a:prstGeom prst="rect">
            <a:avLst/>
          </a:prstGeom>
          <a:noFill/>
          <a:ln>
            <a:noFill/>
          </a:ln>
        </p:spPr>
      </p:pic>
      <p:sp>
        <p:nvSpPr>
          <p:cNvPr id="161" name="Google Shape;161;p8"/>
          <p:cNvSpPr/>
          <p:nvPr/>
        </p:nvSpPr>
        <p:spPr>
          <a:xfrm>
            <a:off x="7193128" y="1847088"/>
            <a:ext cx="444992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500"/>
              <a:buFont typeface="Poppins SemiBold"/>
              <a:buNone/>
            </a:pPr>
            <a:r>
              <a:rPr lang="en-US" sz="1500">
                <a:solidFill>
                  <a:srgbClr val="FFCF01"/>
                </a:solidFill>
                <a:latin typeface="Poppins SemiBold"/>
                <a:ea typeface="Poppins SemiBold"/>
                <a:cs typeface="Poppins SemiBold"/>
                <a:sym typeface="Poppins SemiBold"/>
              </a:rPr>
              <a:t>REQUEST DEADLINE</a:t>
            </a:r>
            <a:endParaRPr sz="1500">
              <a:solidFill>
                <a:schemeClr val="dk1"/>
              </a:solidFill>
              <a:latin typeface="Calibri"/>
              <a:ea typeface="Calibri"/>
              <a:cs typeface="Calibri"/>
              <a:sym typeface="Calibri"/>
            </a:endParaRPr>
          </a:p>
        </p:txBody>
      </p:sp>
      <p:sp>
        <p:nvSpPr>
          <p:cNvPr id="162" name="Google Shape;162;p8"/>
          <p:cNvSpPr/>
          <p:nvPr/>
        </p:nvSpPr>
        <p:spPr>
          <a:xfrm>
            <a:off x="6553048" y="2514600"/>
            <a:ext cx="4815688"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Friday 5 February 2027</a:t>
            </a:r>
            <a:endParaRPr sz="2600">
              <a:solidFill>
                <a:schemeClr val="dk1"/>
              </a:solidFill>
              <a:latin typeface="Calibri"/>
              <a:ea typeface="Calibri"/>
              <a:cs typeface="Calibri"/>
              <a:sym typeface="Calibri"/>
            </a:endParaRPr>
          </a:p>
        </p:txBody>
      </p:sp>
      <p:sp>
        <p:nvSpPr>
          <p:cNvPr id="163" name="Google Shape;163;p8"/>
          <p:cNvSpPr/>
          <p:nvPr/>
        </p:nvSpPr>
        <p:spPr>
          <a:xfrm>
            <a:off x="6553048" y="3063240"/>
            <a:ext cx="4815688"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D9E4E8"/>
              </a:buClr>
              <a:buSzPts val="1350"/>
              <a:buFont typeface="Poppins"/>
              <a:buNone/>
            </a:pPr>
            <a:r>
              <a:rPr lang="en-US" sz="1350">
                <a:solidFill>
                  <a:srgbClr val="D9E4E8"/>
                </a:solidFill>
                <a:latin typeface="Poppins"/>
                <a:ea typeface="Poppins"/>
                <a:cs typeface="Poppins"/>
                <a:sym typeface="Poppins"/>
              </a:rPr>
              <a:t>Your placement must be requested on Navigate by this date — at least 4 weeks before Skills Week.</a:t>
            </a:r>
            <a:endParaRPr sz="1350">
              <a:solidFill>
                <a:schemeClr val="dk1"/>
              </a:solidFill>
              <a:latin typeface="Calibri"/>
              <a:ea typeface="Calibri"/>
              <a:cs typeface="Calibri"/>
              <a:sym typeface="Calibri"/>
            </a:endParaRPr>
          </a:p>
        </p:txBody>
      </p:sp>
      <p:sp>
        <p:nvSpPr>
          <p:cNvPr id="164" name="Google Shape;164;p8"/>
          <p:cNvSpPr/>
          <p:nvPr/>
        </p:nvSpPr>
        <p:spPr>
          <a:xfrm>
            <a:off x="548640" y="393192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600"/>
              <a:buFont typeface="Poppins SemiBold"/>
              <a:buNone/>
            </a:pPr>
            <a:r>
              <a:rPr lang="en-US" sz="1600">
                <a:solidFill>
                  <a:srgbClr val="1B2A30"/>
                </a:solidFill>
                <a:latin typeface="Poppins SemiBold"/>
                <a:ea typeface="Poppins SemiBold"/>
                <a:cs typeface="Poppins SemiBold"/>
                <a:sym typeface="Poppins SemiBold"/>
              </a:rPr>
              <a:t>Why 4 weeks?</a:t>
            </a:r>
            <a:endParaRPr sz="1600">
              <a:solidFill>
                <a:schemeClr val="dk1"/>
              </a:solidFill>
              <a:latin typeface="Calibri"/>
              <a:ea typeface="Calibri"/>
              <a:cs typeface="Calibri"/>
              <a:sym typeface="Calibri"/>
            </a:endParaRPr>
          </a:p>
        </p:txBody>
      </p:sp>
      <p:sp>
        <p:nvSpPr>
          <p:cNvPr id="165" name="Google Shape;165;p8"/>
          <p:cNvSpPr/>
          <p:nvPr/>
        </p:nvSpPr>
        <p:spPr>
          <a:xfrm>
            <a:off x="548640" y="4297680"/>
            <a:ext cx="1109441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It gives the Careers &amp; Employability team time to check your employer — health &amp; safety, insurance and safeguarding checks — before you’re allowed to start. Miss the deadline and there may not be time to approve your placement before Skills Week. Some placements also need a DBS check, or the employer’s own IT and confidentiality rules.</a:t>
            </a:r>
            <a:endParaRPr sz="1350">
              <a:solidFill>
                <a:schemeClr val="dk1"/>
              </a:solidFill>
              <a:latin typeface="Calibri"/>
              <a:ea typeface="Calibri"/>
              <a:cs typeface="Calibri"/>
              <a:sym typeface="Calibri"/>
            </a:endParaRPr>
          </a:p>
        </p:txBody>
      </p:sp>
      <p:sp>
        <p:nvSpPr>
          <p:cNvPr id="166" name="Google Shape;166;p8"/>
          <p:cNvSpPr/>
          <p:nvPr/>
        </p:nvSpPr>
        <p:spPr>
          <a:xfrm>
            <a:off x="548640" y="4983480"/>
            <a:ext cx="11094415" cy="712470"/>
          </a:xfrm>
          <a:prstGeom prst="roundRect">
            <a:avLst>
              <a:gd fmla="val 10909" name="adj"/>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8"/>
          <p:cNvSpPr/>
          <p:nvPr/>
        </p:nvSpPr>
        <p:spPr>
          <a:xfrm>
            <a:off x="713232" y="5056632"/>
            <a:ext cx="10765231" cy="566166"/>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chemeClr val="dk1"/>
              </a:buClr>
              <a:buSzPts val="1300"/>
              <a:buFont typeface="Calibri"/>
              <a:buNone/>
            </a:pPr>
            <a:r>
              <a:t/>
            </a:r>
            <a:endParaRPr sz="1300">
              <a:solidFill>
                <a:schemeClr val="dk1"/>
              </a:solidFill>
              <a:latin typeface="Calibri"/>
              <a:ea typeface="Calibri"/>
              <a:cs typeface="Calibri"/>
              <a:sym typeface="Calibri"/>
            </a:endParaRPr>
          </a:p>
        </p:txBody>
      </p:sp>
      <p:sp>
        <p:nvSpPr>
          <p:cNvPr id="168" name="Google Shape;168;p8"/>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169" name="Google Shape;169;p8"/>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6</a:t>
            </a:r>
            <a:endParaRPr sz="10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74" name="Shape 174"/>
        <p:cNvGrpSpPr/>
        <p:nvPr/>
      </p:nvGrpSpPr>
      <p:grpSpPr>
        <a:xfrm>
          <a:off x="0" y="0"/>
          <a:ext cx="0" cy="0"/>
          <a:chOff x="0" y="0"/>
          <a:chExt cx="0" cy="0"/>
        </a:xfrm>
      </p:grpSpPr>
      <p:sp>
        <p:nvSpPr>
          <p:cNvPr id="175" name="Google Shape;175;p9"/>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Requesting your placement — the refresher</a:t>
            </a:r>
            <a:endParaRPr sz="3050">
              <a:solidFill>
                <a:schemeClr val="dk1"/>
              </a:solidFill>
              <a:latin typeface="Calibri"/>
              <a:ea typeface="Calibri"/>
              <a:cs typeface="Calibri"/>
              <a:sym typeface="Calibri"/>
            </a:endParaRPr>
          </a:p>
        </p:txBody>
      </p:sp>
      <p:sp>
        <p:nvSpPr>
          <p:cNvPr id="176" name="Google Shape;176;p9"/>
          <p:cNvSpPr/>
          <p:nvPr/>
        </p:nvSpPr>
        <p:spPr>
          <a:xfrm>
            <a:off x="10481767" y="292608"/>
            <a:ext cx="134416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9"/>
          <p:cNvSpPr/>
          <p:nvPr/>
        </p:nvSpPr>
        <p:spPr>
          <a:xfrm>
            <a:off x="10481767" y="292608"/>
            <a:ext cx="134416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ACTIVITY</a:t>
            </a:r>
            <a:endParaRPr sz="1200">
              <a:solidFill>
                <a:schemeClr val="dk1"/>
              </a:solidFill>
              <a:latin typeface="Calibri"/>
              <a:ea typeface="Calibri"/>
              <a:cs typeface="Calibri"/>
              <a:sym typeface="Calibri"/>
            </a:endParaRPr>
          </a:p>
        </p:txBody>
      </p:sp>
      <p:cxnSp>
        <p:nvCxnSpPr>
          <p:cNvPr id="178" name="Google Shape;178;p9"/>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179" name="Google Shape;179;p9"/>
          <p:cNvSpPr/>
          <p:nvPr/>
        </p:nvSpPr>
        <p:spPr>
          <a:xfrm>
            <a:off x="548640" y="1508760"/>
            <a:ext cx="11094415" cy="822960"/>
          </a:xfrm>
          <a:prstGeom prst="roundRect">
            <a:avLst>
              <a:gd fmla="val 8889"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navigate.png" id="180" name="Google Shape;180;p9"/>
          <p:cNvPicPr preferRelativeResize="0"/>
          <p:nvPr/>
        </p:nvPicPr>
        <p:blipFill rotWithShape="1">
          <a:blip r:embed="rId3">
            <a:alphaModFix/>
          </a:blip>
          <a:srcRect b="0" l="0" r="0" t="0"/>
          <a:stretch/>
        </p:blipFill>
        <p:spPr>
          <a:xfrm>
            <a:off x="777240" y="1691640"/>
            <a:ext cx="457200" cy="457200"/>
          </a:xfrm>
          <a:prstGeom prst="rect">
            <a:avLst/>
          </a:prstGeom>
          <a:noFill/>
          <a:ln>
            <a:noFill/>
          </a:ln>
        </p:spPr>
      </p:pic>
      <p:sp>
        <p:nvSpPr>
          <p:cNvPr id="181" name="Google Shape;181;p9"/>
          <p:cNvSpPr/>
          <p:nvPr/>
        </p:nvSpPr>
        <p:spPr>
          <a:xfrm>
            <a:off x="1417320" y="1572768"/>
            <a:ext cx="9997135"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B2A30"/>
              </a:buClr>
              <a:buSzPts val="1550"/>
              <a:buFont typeface="Poppins"/>
              <a:buNone/>
            </a:pPr>
            <a:r>
              <a:rPr b="1" lang="en-US" sz="1550">
                <a:solidFill>
                  <a:srgbClr val="1B2A30"/>
                </a:solidFill>
                <a:latin typeface="Poppins"/>
                <a:ea typeface="Poppins"/>
                <a:cs typeface="Poppins"/>
                <a:sym typeface="Poppins"/>
              </a:rPr>
              <a:t>Same process as last year — you’ll source and request your placement through Navigate. </a:t>
            </a:r>
            <a:r>
              <a:rPr lang="en-US" sz="1550">
                <a:solidFill>
                  <a:srgbClr val="1B2A30"/>
                </a:solidFill>
                <a:latin typeface="Poppins"/>
                <a:ea typeface="Poppins"/>
                <a:cs typeface="Poppins"/>
                <a:sym typeface="Poppins"/>
              </a:rPr>
              <a:t>Need a refresher? See </a:t>
            </a:r>
            <a:r>
              <a:rPr b="1" lang="en-US" sz="1550">
                <a:solidFill>
                  <a:srgbClr val="592C82"/>
                </a:solidFill>
                <a:latin typeface="Poppins"/>
                <a:ea typeface="Poppins"/>
                <a:cs typeface="Poppins"/>
                <a:sym typeface="Poppins"/>
              </a:rPr>
              <a:t>Module H — How to Use Navigate.</a:t>
            </a:r>
            <a:endParaRPr sz="1550">
              <a:solidFill>
                <a:schemeClr val="dk1"/>
              </a:solidFill>
              <a:latin typeface="Calibri"/>
              <a:ea typeface="Calibri"/>
              <a:cs typeface="Calibri"/>
              <a:sym typeface="Calibri"/>
            </a:endParaRPr>
          </a:p>
        </p:txBody>
      </p:sp>
      <p:sp>
        <p:nvSpPr>
          <p:cNvPr id="182" name="Google Shape;182;p9"/>
          <p:cNvSpPr/>
          <p:nvPr/>
        </p:nvSpPr>
        <p:spPr>
          <a:xfrm>
            <a:off x="548640" y="251460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600"/>
              <a:buFont typeface="Poppins SemiBold"/>
              <a:buNone/>
            </a:pPr>
            <a:r>
              <a:rPr lang="en-US" sz="1600">
                <a:solidFill>
                  <a:srgbClr val="1B2A30"/>
                </a:solidFill>
                <a:latin typeface="Poppins SemiBold"/>
                <a:ea typeface="Poppins SemiBold"/>
                <a:cs typeface="Poppins SemiBold"/>
                <a:sym typeface="Poppins SemiBold"/>
              </a:rPr>
              <a:t>You’ll need this information ready before you request a placement:</a:t>
            </a:r>
            <a:endParaRPr sz="1600">
              <a:solidFill>
                <a:schemeClr val="dk1"/>
              </a:solidFill>
              <a:latin typeface="Calibri"/>
              <a:ea typeface="Calibri"/>
              <a:cs typeface="Calibri"/>
              <a:sym typeface="Calibri"/>
            </a:endParaRPr>
          </a:p>
        </p:txBody>
      </p:sp>
      <p:sp>
        <p:nvSpPr>
          <p:cNvPr id="183" name="Google Shape;183;p9"/>
          <p:cNvSpPr/>
          <p:nvPr/>
        </p:nvSpPr>
        <p:spPr>
          <a:xfrm>
            <a:off x="548640" y="29718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9"/>
          <p:cNvSpPr/>
          <p:nvPr/>
        </p:nvSpPr>
        <p:spPr>
          <a:xfrm>
            <a:off x="841248" y="29260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Company name &amp; full address</a:t>
            </a:r>
            <a:endParaRPr sz="1400">
              <a:solidFill>
                <a:schemeClr val="dk1"/>
              </a:solidFill>
              <a:latin typeface="Calibri"/>
              <a:ea typeface="Calibri"/>
              <a:cs typeface="Calibri"/>
              <a:sym typeface="Calibri"/>
            </a:endParaRPr>
          </a:p>
        </p:txBody>
      </p:sp>
      <p:sp>
        <p:nvSpPr>
          <p:cNvPr id="185" name="Google Shape;185;p9"/>
          <p:cNvSpPr/>
          <p:nvPr/>
        </p:nvSpPr>
        <p:spPr>
          <a:xfrm>
            <a:off x="6278728" y="29718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9"/>
          <p:cNvSpPr/>
          <p:nvPr/>
        </p:nvSpPr>
        <p:spPr>
          <a:xfrm>
            <a:off x="6571336" y="29260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Employer contact name, phone &amp; email</a:t>
            </a:r>
            <a:endParaRPr sz="1400">
              <a:solidFill>
                <a:schemeClr val="dk1"/>
              </a:solidFill>
              <a:latin typeface="Calibri"/>
              <a:ea typeface="Calibri"/>
              <a:cs typeface="Calibri"/>
              <a:sym typeface="Calibri"/>
            </a:endParaRPr>
          </a:p>
        </p:txBody>
      </p:sp>
      <p:sp>
        <p:nvSpPr>
          <p:cNvPr id="187" name="Google Shape;187;p9"/>
          <p:cNvSpPr/>
          <p:nvPr/>
        </p:nvSpPr>
        <p:spPr>
          <a:xfrm>
            <a:off x="548640" y="34290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9"/>
          <p:cNvSpPr/>
          <p:nvPr/>
        </p:nvSpPr>
        <p:spPr>
          <a:xfrm>
            <a:off x="841248" y="33832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Start and end dates</a:t>
            </a:r>
            <a:endParaRPr sz="1400">
              <a:solidFill>
                <a:schemeClr val="dk1"/>
              </a:solidFill>
              <a:latin typeface="Calibri"/>
              <a:ea typeface="Calibri"/>
              <a:cs typeface="Calibri"/>
              <a:sym typeface="Calibri"/>
            </a:endParaRPr>
          </a:p>
        </p:txBody>
      </p:sp>
      <p:sp>
        <p:nvSpPr>
          <p:cNvPr id="189" name="Google Shape;189;p9"/>
          <p:cNvSpPr/>
          <p:nvPr/>
        </p:nvSpPr>
        <p:spPr>
          <a:xfrm>
            <a:off x="6278728" y="34290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6571336" y="33832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The days and times you’ve agreed</a:t>
            </a:r>
            <a:endParaRPr sz="1400">
              <a:solidFill>
                <a:schemeClr val="dk1"/>
              </a:solidFill>
              <a:latin typeface="Calibri"/>
              <a:ea typeface="Calibri"/>
              <a:cs typeface="Calibri"/>
              <a:sym typeface="Calibri"/>
            </a:endParaRPr>
          </a:p>
        </p:txBody>
      </p:sp>
      <p:sp>
        <p:nvSpPr>
          <p:cNvPr id="191" name="Google Shape;191;p9"/>
          <p:cNvSpPr/>
          <p:nvPr/>
        </p:nvSpPr>
        <p:spPr>
          <a:xfrm>
            <a:off x="548640" y="38862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9"/>
          <p:cNvSpPr/>
          <p:nvPr/>
        </p:nvSpPr>
        <p:spPr>
          <a:xfrm>
            <a:off x="841248" y="38404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Your tutor’s name</a:t>
            </a:r>
            <a:endParaRPr sz="1400">
              <a:solidFill>
                <a:schemeClr val="dk1"/>
              </a:solidFill>
              <a:latin typeface="Calibri"/>
              <a:ea typeface="Calibri"/>
              <a:cs typeface="Calibri"/>
              <a:sym typeface="Calibri"/>
            </a:endParaRPr>
          </a:p>
        </p:txBody>
      </p:sp>
      <p:sp>
        <p:nvSpPr>
          <p:cNvPr id="193" name="Google Shape;193;p9"/>
          <p:cNvSpPr/>
          <p:nvPr/>
        </p:nvSpPr>
        <p:spPr>
          <a:xfrm>
            <a:off x="6278728" y="38862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9"/>
          <p:cNvSpPr/>
          <p:nvPr/>
        </p:nvSpPr>
        <p:spPr>
          <a:xfrm>
            <a:off x="6571336" y="38404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What tasks/role you’ll be doing</a:t>
            </a:r>
            <a:endParaRPr sz="1400">
              <a:solidFill>
                <a:schemeClr val="dk1"/>
              </a:solidFill>
              <a:latin typeface="Calibri"/>
              <a:ea typeface="Calibri"/>
              <a:cs typeface="Calibri"/>
              <a:sym typeface="Calibri"/>
            </a:endParaRPr>
          </a:p>
        </p:txBody>
      </p:sp>
      <p:sp>
        <p:nvSpPr>
          <p:cNvPr id="195" name="Google Shape;195;p9"/>
          <p:cNvSpPr/>
          <p:nvPr/>
        </p:nvSpPr>
        <p:spPr>
          <a:xfrm>
            <a:off x="548640" y="434340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300"/>
              <a:buFont typeface="Poppins"/>
              <a:buNone/>
            </a:pPr>
            <a:r>
              <a:rPr i="1" lang="en-US" sz="1300">
                <a:solidFill>
                  <a:srgbClr val="5A6A6F"/>
                </a:solidFill>
                <a:latin typeface="Poppins"/>
                <a:ea typeface="Poppins"/>
                <a:cs typeface="Poppins"/>
                <a:sym typeface="Poppins"/>
              </a:rPr>
              <a:t>Placements must fit within college hours (8.30am–5.30pm), max 8-hour day. Agency, studio and IT support hours fit easily; shoots, events and live broadcasts may not — agree your times in writing before you request.</a:t>
            </a:r>
            <a:endParaRPr sz="1300">
              <a:solidFill>
                <a:schemeClr val="dk1"/>
              </a:solidFill>
              <a:latin typeface="Calibri"/>
              <a:ea typeface="Calibri"/>
              <a:cs typeface="Calibri"/>
              <a:sym typeface="Calibri"/>
            </a:endParaRPr>
          </a:p>
        </p:txBody>
      </p:sp>
      <p:sp>
        <p:nvSpPr>
          <p:cNvPr id="196" name="Google Shape;196;p9"/>
          <p:cNvSpPr/>
          <p:nvPr/>
        </p:nvSpPr>
        <p:spPr>
          <a:xfrm>
            <a:off x="548640" y="4754880"/>
            <a:ext cx="11094415" cy="1554480"/>
          </a:xfrm>
          <a:prstGeom prst="roundRect">
            <a:avLst>
              <a:gd fmla="val 5882"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mystudentlife.png" id="197" name="Google Shape;197;p9"/>
          <p:cNvPicPr preferRelativeResize="0"/>
          <p:nvPr/>
        </p:nvPicPr>
        <p:blipFill rotWithShape="1">
          <a:blip r:embed="rId4">
            <a:alphaModFix/>
          </a:blip>
          <a:srcRect b="0" l="0" r="0" t="0"/>
          <a:stretch/>
        </p:blipFill>
        <p:spPr>
          <a:xfrm>
            <a:off x="777240" y="4956048"/>
            <a:ext cx="2103120" cy="1207008"/>
          </a:xfrm>
          <a:prstGeom prst="rect">
            <a:avLst/>
          </a:prstGeom>
          <a:noFill/>
          <a:ln>
            <a:noFill/>
          </a:ln>
        </p:spPr>
      </p:pic>
      <p:sp>
        <p:nvSpPr>
          <p:cNvPr id="198" name="Google Shape;198;p9"/>
          <p:cNvSpPr/>
          <p:nvPr/>
        </p:nvSpPr>
        <p:spPr>
          <a:xfrm>
            <a:off x="3108960" y="4937760"/>
            <a:ext cx="844265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600"/>
              <a:buFont typeface="Poppins SemiBold"/>
              <a:buNone/>
            </a:pPr>
            <a:r>
              <a:rPr lang="en-US" sz="1600">
                <a:solidFill>
                  <a:srgbClr val="1B2A30"/>
                </a:solidFill>
                <a:latin typeface="Poppins SemiBold"/>
                <a:ea typeface="Poppins SemiBold"/>
                <a:cs typeface="Poppins SemiBold"/>
                <a:sym typeface="Poppins SemiBold"/>
              </a:rPr>
              <a:t>Same place as last year: My Student Life</a:t>
            </a:r>
            <a:endParaRPr sz="1600">
              <a:solidFill>
                <a:schemeClr val="dk1"/>
              </a:solidFill>
              <a:latin typeface="Calibri"/>
              <a:ea typeface="Calibri"/>
              <a:cs typeface="Calibri"/>
              <a:sym typeface="Calibri"/>
            </a:endParaRPr>
          </a:p>
        </p:txBody>
      </p:sp>
      <p:sp>
        <p:nvSpPr>
          <p:cNvPr id="199" name="Google Shape;199;p9"/>
          <p:cNvSpPr/>
          <p:nvPr/>
        </p:nvSpPr>
        <p:spPr>
          <a:xfrm>
            <a:off x="3108960" y="5285232"/>
            <a:ext cx="8442655"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Find it via My Student Life — the College’s student hub on the intranet. Or go straight to the login:</a:t>
            </a:r>
            <a:endParaRPr sz="1350">
              <a:solidFill>
                <a:schemeClr val="dk1"/>
              </a:solidFill>
              <a:latin typeface="Calibri"/>
              <a:ea typeface="Calibri"/>
              <a:cs typeface="Calibri"/>
              <a:sym typeface="Calibri"/>
            </a:endParaRPr>
          </a:p>
        </p:txBody>
      </p:sp>
      <p:sp>
        <p:nvSpPr>
          <p:cNvPr id="200" name="Google Shape;200;p9">
            <a:hlinkClick r:id="rId5"/>
          </p:cNvPr>
          <p:cNvSpPr/>
          <p:nvPr/>
        </p:nvSpPr>
        <p:spPr>
          <a:xfrm>
            <a:off x="3108960" y="5779008"/>
            <a:ext cx="844265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500"/>
              <a:buFont typeface="Poppins SemiBold"/>
              <a:buNone/>
            </a:pPr>
            <a:r>
              <a:rPr lang="en-US" sz="1500" u="sng">
                <a:solidFill>
                  <a:srgbClr val="592C82"/>
                </a:solidFill>
                <a:latin typeface="Poppins SemiBold"/>
                <a:ea typeface="Poppins SemiBold"/>
                <a:cs typeface="Poppins SemiBold"/>
                <a:sym typeface="Poppins SemiBold"/>
                <a:hlinkClick r:id="rId6">
                  <a:extLst>
                    <a:ext uri="{A12FA001-AC4F-418D-AE19-62706E023703}">
                      <ahyp:hlinkClr val="tx"/>
                    </a:ext>
                  </a:extLst>
                </a:hlinkClick>
              </a:rPr>
              <a:t>login.navigate.uk.com</a:t>
            </a:r>
            <a:endParaRPr sz="1500">
              <a:solidFill>
                <a:schemeClr val="dk1"/>
              </a:solidFill>
              <a:latin typeface="Calibri"/>
              <a:ea typeface="Calibri"/>
              <a:cs typeface="Calibri"/>
              <a:sym typeface="Calibri"/>
            </a:endParaRPr>
          </a:p>
        </p:txBody>
      </p:sp>
      <p:sp>
        <p:nvSpPr>
          <p:cNvPr id="201" name="Google Shape;201;p9"/>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202" name="Google Shape;202;p9"/>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7</a:t>
            </a:r>
            <a:endParaRPr sz="10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7" name="Shape 207"/>
        <p:cNvGrpSpPr/>
        <p:nvPr/>
      </p:nvGrpSpPr>
      <p:grpSpPr>
        <a:xfrm>
          <a:off x="0" y="0"/>
          <a:ext cx="0" cy="0"/>
          <a:chOff x="0" y="0"/>
          <a:chExt cx="0" cy="0"/>
        </a:xfrm>
      </p:grpSpPr>
      <p:sp>
        <p:nvSpPr>
          <p:cNvPr id="208" name="Google Shape;208;p10"/>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Who to go to — same team as before</a:t>
            </a:r>
            <a:endParaRPr sz="3050">
              <a:solidFill>
                <a:schemeClr val="dk1"/>
              </a:solidFill>
              <a:latin typeface="Calibri"/>
              <a:ea typeface="Calibri"/>
              <a:cs typeface="Calibri"/>
              <a:sym typeface="Calibri"/>
            </a:endParaRPr>
          </a:p>
        </p:txBody>
      </p:sp>
      <p:sp>
        <p:nvSpPr>
          <p:cNvPr id="209" name="Google Shape;209;p10"/>
          <p:cNvSpPr/>
          <p:nvPr/>
        </p:nvSpPr>
        <p:spPr>
          <a:xfrm>
            <a:off x="9955987" y="292608"/>
            <a:ext cx="186994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0" name="Google Shape;210;p10"/>
          <p:cNvSpPr/>
          <p:nvPr/>
        </p:nvSpPr>
        <p:spPr>
          <a:xfrm>
            <a:off x="9955987" y="292608"/>
            <a:ext cx="18699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TEACHER INPUT</a:t>
            </a:r>
            <a:endParaRPr sz="1200">
              <a:solidFill>
                <a:schemeClr val="dk1"/>
              </a:solidFill>
              <a:latin typeface="Calibri"/>
              <a:ea typeface="Calibri"/>
              <a:cs typeface="Calibri"/>
              <a:sym typeface="Calibri"/>
            </a:endParaRPr>
          </a:p>
        </p:txBody>
      </p:sp>
      <p:cxnSp>
        <p:nvCxnSpPr>
          <p:cNvPr id="211" name="Google Shape;211;p10"/>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212" name="Google Shape;212;p10"/>
          <p:cNvSpPr/>
          <p:nvPr/>
        </p:nvSpPr>
        <p:spPr>
          <a:xfrm>
            <a:off x="548640" y="141732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550"/>
              <a:buFont typeface="Poppins"/>
              <a:buNone/>
            </a:pPr>
            <a:r>
              <a:rPr lang="en-US" sz="1550">
                <a:solidFill>
                  <a:srgbClr val="5A6A6F"/>
                </a:solidFill>
                <a:latin typeface="Poppins"/>
                <a:ea typeface="Poppins"/>
                <a:cs typeface="Poppins"/>
                <a:sym typeface="Poppins"/>
              </a:rPr>
              <a:t>Same team, same campuses — pop in, or email. This department runs at Eastbourne, Hastings (Station Plaza), Hastings (Ore) and Lewes.</a:t>
            </a:r>
            <a:endParaRPr sz="1550">
              <a:solidFill>
                <a:schemeClr val="dk1"/>
              </a:solidFill>
              <a:latin typeface="Calibri"/>
              <a:ea typeface="Calibri"/>
              <a:cs typeface="Calibri"/>
              <a:sym typeface="Calibri"/>
            </a:endParaRPr>
          </a:p>
        </p:txBody>
      </p:sp>
      <p:sp>
        <p:nvSpPr>
          <p:cNvPr id="213" name="Google Shape;213;p10"/>
          <p:cNvSpPr/>
          <p:nvPr/>
        </p:nvSpPr>
        <p:spPr>
          <a:xfrm>
            <a:off x="548640" y="1965960"/>
            <a:ext cx="11094415" cy="384048"/>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10"/>
          <p:cNvSpPr/>
          <p:nvPr/>
        </p:nvSpPr>
        <p:spPr>
          <a:xfrm>
            <a:off x="777240" y="1965960"/>
            <a:ext cx="23774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Campus</a:t>
            </a:r>
            <a:endParaRPr sz="1350">
              <a:solidFill>
                <a:schemeClr val="dk1"/>
              </a:solidFill>
              <a:latin typeface="Calibri"/>
              <a:ea typeface="Calibri"/>
              <a:cs typeface="Calibri"/>
              <a:sym typeface="Calibri"/>
            </a:endParaRPr>
          </a:p>
        </p:txBody>
      </p:sp>
      <p:sp>
        <p:nvSpPr>
          <p:cNvPr id="215" name="Google Shape;215;p10"/>
          <p:cNvSpPr/>
          <p:nvPr/>
        </p:nvSpPr>
        <p:spPr>
          <a:xfrm>
            <a:off x="3291840" y="1965960"/>
            <a:ext cx="32918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Base room</a:t>
            </a:r>
            <a:endParaRPr sz="1350">
              <a:solidFill>
                <a:schemeClr val="dk1"/>
              </a:solidFill>
              <a:latin typeface="Calibri"/>
              <a:ea typeface="Calibri"/>
              <a:cs typeface="Calibri"/>
              <a:sym typeface="Calibri"/>
            </a:endParaRPr>
          </a:p>
        </p:txBody>
      </p:sp>
      <p:sp>
        <p:nvSpPr>
          <p:cNvPr id="216" name="Google Shape;216;p10"/>
          <p:cNvSpPr/>
          <p:nvPr/>
        </p:nvSpPr>
        <p:spPr>
          <a:xfrm>
            <a:off x="6766560" y="1965960"/>
            <a:ext cx="45720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Email</a:t>
            </a:r>
            <a:endParaRPr sz="1350">
              <a:solidFill>
                <a:schemeClr val="dk1"/>
              </a:solidFill>
              <a:latin typeface="Calibri"/>
              <a:ea typeface="Calibri"/>
              <a:cs typeface="Calibri"/>
              <a:sym typeface="Calibri"/>
            </a:endParaRPr>
          </a:p>
        </p:txBody>
      </p:sp>
      <p:sp>
        <p:nvSpPr>
          <p:cNvPr id="217" name="Google Shape;217;p10"/>
          <p:cNvSpPr/>
          <p:nvPr/>
        </p:nvSpPr>
        <p:spPr>
          <a:xfrm>
            <a:off x="548640" y="2350008"/>
            <a:ext cx="11094415" cy="457200"/>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10"/>
          <p:cNvSpPr/>
          <p:nvPr/>
        </p:nvSpPr>
        <p:spPr>
          <a:xfrm>
            <a:off x="777240" y="23500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Eastbourne</a:t>
            </a:r>
            <a:endParaRPr sz="1400">
              <a:solidFill>
                <a:schemeClr val="dk1"/>
              </a:solidFill>
              <a:latin typeface="Calibri"/>
              <a:ea typeface="Calibri"/>
              <a:cs typeface="Calibri"/>
              <a:sym typeface="Calibri"/>
            </a:endParaRPr>
          </a:p>
        </p:txBody>
      </p:sp>
      <p:sp>
        <p:nvSpPr>
          <p:cNvPr id="219" name="Google Shape;219;p10"/>
          <p:cNvSpPr/>
          <p:nvPr/>
        </p:nvSpPr>
        <p:spPr>
          <a:xfrm>
            <a:off x="3291840" y="23500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ECAT House, room 101</a:t>
            </a:r>
            <a:endParaRPr sz="1350">
              <a:solidFill>
                <a:schemeClr val="dk1"/>
              </a:solidFill>
              <a:latin typeface="Calibri"/>
              <a:ea typeface="Calibri"/>
              <a:cs typeface="Calibri"/>
              <a:sym typeface="Calibri"/>
            </a:endParaRPr>
          </a:p>
        </p:txBody>
      </p:sp>
      <p:sp>
        <p:nvSpPr>
          <p:cNvPr id="220" name="Google Shape;220;p10"/>
          <p:cNvSpPr/>
          <p:nvPr/>
        </p:nvSpPr>
        <p:spPr>
          <a:xfrm>
            <a:off x="6766560" y="23500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Eastbourne.Careers@escg.ac.uk</a:t>
            </a:r>
            <a:endParaRPr sz="1300">
              <a:solidFill>
                <a:schemeClr val="dk1"/>
              </a:solidFill>
              <a:latin typeface="Calibri"/>
              <a:ea typeface="Calibri"/>
              <a:cs typeface="Calibri"/>
              <a:sym typeface="Calibri"/>
            </a:endParaRPr>
          </a:p>
        </p:txBody>
      </p:sp>
      <p:sp>
        <p:nvSpPr>
          <p:cNvPr id="221" name="Google Shape;221;p10"/>
          <p:cNvSpPr/>
          <p:nvPr/>
        </p:nvSpPr>
        <p:spPr>
          <a:xfrm>
            <a:off x="548640" y="2807208"/>
            <a:ext cx="11094415" cy="457200"/>
          </a:xfrm>
          <a:prstGeom prst="rect">
            <a:avLst/>
          </a:prstGeom>
          <a:solidFill>
            <a:srgbClr val="EDE6F3"/>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0"/>
          <p:cNvSpPr/>
          <p:nvPr/>
        </p:nvSpPr>
        <p:spPr>
          <a:xfrm>
            <a:off x="777240" y="28072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Hastings</a:t>
            </a:r>
            <a:endParaRPr sz="1400">
              <a:solidFill>
                <a:schemeClr val="dk1"/>
              </a:solidFill>
              <a:latin typeface="Calibri"/>
              <a:ea typeface="Calibri"/>
              <a:cs typeface="Calibri"/>
              <a:sym typeface="Calibri"/>
            </a:endParaRPr>
          </a:p>
        </p:txBody>
      </p:sp>
      <p:sp>
        <p:nvSpPr>
          <p:cNvPr id="223" name="Google Shape;223;p10"/>
          <p:cNvSpPr/>
          <p:nvPr/>
        </p:nvSpPr>
        <p:spPr>
          <a:xfrm>
            <a:off x="3291840" y="28072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Careers Hub, Ground Floor</a:t>
            </a:r>
            <a:endParaRPr sz="1350">
              <a:solidFill>
                <a:schemeClr val="dk1"/>
              </a:solidFill>
              <a:latin typeface="Calibri"/>
              <a:ea typeface="Calibri"/>
              <a:cs typeface="Calibri"/>
              <a:sym typeface="Calibri"/>
            </a:endParaRPr>
          </a:p>
        </p:txBody>
      </p:sp>
      <p:sp>
        <p:nvSpPr>
          <p:cNvPr id="224" name="Google Shape;224;p10"/>
          <p:cNvSpPr/>
          <p:nvPr/>
        </p:nvSpPr>
        <p:spPr>
          <a:xfrm>
            <a:off x="6766560" y="28072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Hastings.Careers@escg.ac.uk</a:t>
            </a:r>
            <a:endParaRPr sz="1300">
              <a:solidFill>
                <a:schemeClr val="dk1"/>
              </a:solidFill>
              <a:latin typeface="Calibri"/>
              <a:ea typeface="Calibri"/>
              <a:cs typeface="Calibri"/>
              <a:sym typeface="Calibri"/>
            </a:endParaRPr>
          </a:p>
        </p:txBody>
      </p:sp>
      <p:sp>
        <p:nvSpPr>
          <p:cNvPr id="225" name="Google Shape;225;p10"/>
          <p:cNvSpPr/>
          <p:nvPr/>
        </p:nvSpPr>
        <p:spPr>
          <a:xfrm>
            <a:off x="548640" y="3264408"/>
            <a:ext cx="11094415" cy="457200"/>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0"/>
          <p:cNvSpPr/>
          <p:nvPr/>
        </p:nvSpPr>
        <p:spPr>
          <a:xfrm>
            <a:off x="777240" y="32644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Ore</a:t>
            </a:r>
            <a:endParaRPr sz="1400">
              <a:solidFill>
                <a:schemeClr val="dk1"/>
              </a:solidFill>
              <a:latin typeface="Calibri"/>
              <a:ea typeface="Calibri"/>
              <a:cs typeface="Calibri"/>
              <a:sym typeface="Calibri"/>
            </a:endParaRPr>
          </a:p>
        </p:txBody>
      </p:sp>
      <p:sp>
        <p:nvSpPr>
          <p:cNvPr id="227" name="Google Shape;227;p10"/>
          <p:cNvSpPr/>
          <p:nvPr/>
        </p:nvSpPr>
        <p:spPr>
          <a:xfrm>
            <a:off x="3291840" y="32644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Ask at reception</a:t>
            </a:r>
            <a:endParaRPr sz="1350">
              <a:solidFill>
                <a:schemeClr val="dk1"/>
              </a:solidFill>
              <a:latin typeface="Calibri"/>
              <a:ea typeface="Calibri"/>
              <a:cs typeface="Calibri"/>
              <a:sym typeface="Calibri"/>
            </a:endParaRPr>
          </a:p>
        </p:txBody>
      </p:sp>
      <p:sp>
        <p:nvSpPr>
          <p:cNvPr id="228" name="Google Shape;228;p10"/>
          <p:cNvSpPr/>
          <p:nvPr/>
        </p:nvSpPr>
        <p:spPr>
          <a:xfrm>
            <a:off x="6766560" y="32644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Hastings.Careers@escg.ac.uk</a:t>
            </a:r>
            <a:endParaRPr sz="1300">
              <a:solidFill>
                <a:schemeClr val="dk1"/>
              </a:solidFill>
              <a:latin typeface="Calibri"/>
              <a:ea typeface="Calibri"/>
              <a:cs typeface="Calibri"/>
              <a:sym typeface="Calibri"/>
            </a:endParaRPr>
          </a:p>
        </p:txBody>
      </p:sp>
      <p:sp>
        <p:nvSpPr>
          <p:cNvPr id="229" name="Google Shape;229;p10"/>
          <p:cNvSpPr/>
          <p:nvPr/>
        </p:nvSpPr>
        <p:spPr>
          <a:xfrm>
            <a:off x="548640" y="3721608"/>
            <a:ext cx="11094415" cy="457200"/>
          </a:xfrm>
          <a:prstGeom prst="rect">
            <a:avLst/>
          </a:prstGeom>
          <a:solidFill>
            <a:srgbClr val="EDE6F3"/>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0"/>
          <p:cNvSpPr/>
          <p:nvPr/>
        </p:nvSpPr>
        <p:spPr>
          <a:xfrm>
            <a:off x="777240" y="37216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Lewes</a:t>
            </a:r>
            <a:endParaRPr sz="1400">
              <a:solidFill>
                <a:schemeClr val="dk1"/>
              </a:solidFill>
              <a:latin typeface="Calibri"/>
              <a:ea typeface="Calibri"/>
              <a:cs typeface="Calibri"/>
              <a:sym typeface="Calibri"/>
            </a:endParaRPr>
          </a:p>
        </p:txBody>
      </p:sp>
      <p:sp>
        <p:nvSpPr>
          <p:cNvPr id="231" name="Google Shape;231;p10"/>
          <p:cNvSpPr/>
          <p:nvPr/>
        </p:nvSpPr>
        <p:spPr>
          <a:xfrm>
            <a:off x="3291840" y="37216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Cliffe Building, room 134</a:t>
            </a:r>
            <a:endParaRPr sz="1350">
              <a:solidFill>
                <a:schemeClr val="dk1"/>
              </a:solidFill>
              <a:latin typeface="Calibri"/>
              <a:ea typeface="Calibri"/>
              <a:cs typeface="Calibri"/>
              <a:sym typeface="Calibri"/>
            </a:endParaRPr>
          </a:p>
        </p:txBody>
      </p:sp>
      <p:sp>
        <p:nvSpPr>
          <p:cNvPr id="232" name="Google Shape;232;p10"/>
          <p:cNvSpPr/>
          <p:nvPr/>
        </p:nvSpPr>
        <p:spPr>
          <a:xfrm>
            <a:off x="6766560" y="37216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Lewes.Careers@escg.ac.uk</a:t>
            </a:r>
            <a:endParaRPr sz="1300">
              <a:solidFill>
                <a:schemeClr val="dk1"/>
              </a:solidFill>
              <a:latin typeface="Calibri"/>
              <a:ea typeface="Calibri"/>
              <a:cs typeface="Calibri"/>
              <a:sym typeface="Calibri"/>
            </a:endParaRPr>
          </a:p>
        </p:txBody>
      </p:sp>
      <p:sp>
        <p:nvSpPr>
          <p:cNvPr id="233" name="Google Shape;233;p10"/>
          <p:cNvSpPr/>
          <p:nvPr/>
        </p:nvSpPr>
        <p:spPr>
          <a:xfrm>
            <a:off x="548640" y="4178808"/>
            <a:ext cx="11094415" cy="457200"/>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0"/>
          <p:cNvSpPr/>
          <p:nvPr/>
        </p:nvSpPr>
        <p:spPr>
          <a:xfrm>
            <a:off x="777240" y="41788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Newhaven</a:t>
            </a:r>
            <a:endParaRPr sz="1400">
              <a:solidFill>
                <a:schemeClr val="dk1"/>
              </a:solidFill>
              <a:latin typeface="Calibri"/>
              <a:ea typeface="Calibri"/>
              <a:cs typeface="Calibri"/>
              <a:sym typeface="Calibri"/>
            </a:endParaRPr>
          </a:p>
        </p:txBody>
      </p:sp>
      <p:sp>
        <p:nvSpPr>
          <p:cNvPr id="235" name="Google Shape;235;p10"/>
          <p:cNvSpPr/>
          <p:nvPr/>
        </p:nvSpPr>
        <p:spPr>
          <a:xfrm>
            <a:off x="3291840" y="41788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Ask at reception</a:t>
            </a:r>
            <a:endParaRPr sz="1350">
              <a:solidFill>
                <a:schemeClr val="dk1"/>
              </a:solidFill>
              <a:latin typeface="Calibri"/>
              <a:ea typeface="Calibri"/>
              <a:cs typeface="Calibri"/>
              <a:sym typeface="Calibri"/>
            </a:endParaRPr>
          </a:p>
        </p:txBody>
      </p:sp>
      <p:sp>
        <p:nvSpPr>
          <p:cNvPr id="236" name="Google Shape;236;p10"/>
          <p:cNvSpPr/>
          <p:nvPr/>
        </p:nvSpPr>
        <p:spPr>
          <a:xfrm>
            <a:off x="6766560" y="41788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Lewes.Careers@escg.ac.uk</a:t>
            </a:r>
            <a:endParaRPr sz="1300">
              <a:solidFill>
                <a:schemeClr val="dk1"/>
              </a:solidFill>
              <a:latin typeface="Calibri"/>
              <a:ea typeface="Calibri"/>
              <a:cs typeface="Calibri"/>
              <a:sym typeface="Calibri"/>
            </a:endParaRPr>
          </a:p>
        </p:txBody>
      </p:sp>
      <p:sp>
        <p:nvSpPr>
          <p:cNvPr id="237" name="Google Shape;237;p10"/>
          <p:cNvSpPr/>
          <p:nvPr/>
        </p:nvSpPr>
        <p:spPr>
          <a:xfrm>
            <a:off x="548640" y="4864608"/>
            <a:ext cx="11094415" cy="777240"/>
          </a:xfrm>
          <a:prstGeom prst="roundRect">
            <a:avLst>
              <a:gd fmla="val 9412" name="adj"/>
            </a:avLst>
          </a:prstGeom>
          <a:solidFill>
            <a:srgbClr val="F8E7E3"/>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warning.png" id="238" name="Google Shape;238;p10"/>
          <p:cNvPicPr preferRelativeResize="0"/>
          <p:nvPr/>
        </p:nvPicPr>
        <p:blipFill rotWithShape="1">
          <a:blip r:embed="rId3">
            <a:alphaModFix/>
          </a:blip>
          <a:srcRect b="0" l="0" r="0" t="0"/>
          <a:stretch/>
        </p:blipFill>
        <p:spPr>
          <a:xfrm>
            <a:off x="777240" y="5020056"/>
            <a:ext cx="457200" cy="457200"/>
          </a:xfrm>
          <a:prstGeom prst="rect">
            <a:avLst/>
          </a:prstGeom>
          <a:noFill/>
          <a:ln>
            <a:noFill/>
          </a:ln>
        </p:spPr>
      </p:pic>
      <p:sp>
        <p:nvSpPr>
          <p:cNvPr id="239" name="Google Shape;239;p10"/>
          <p:cNvSpPr/>
          <p:nvPr/>
        </p:nvSpPr>
        <p:spPr>
          <a:xfrm>
            <a:off x="1417320" y="4864608"/>
            <a:ext cx="10088575"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If a placement isn’t progressing, or something doesn’t feel right, don’t wait — go to your campus Careers &amp; Employability team, or tell your tutor.</a:t>
            </a:r>
            <a:endParaRPr sz="1400">
              <a:solidFill>
                <a:schemeClr val="dk1"/>
              </a:solidFill>
              <a:latin typeface="Calibri"/>
              <a:ea typeface="Calibri"/>
              <a:cs typeface="Calibri"/>
              <a:sym typeface="Calibri"/>
            </a:endParaRPr>
          </a:p>
        </p:txBody>
      </p:sp>
      <p:sp>
        <p:nvSpPr>
          <p:cNvPr id="240" name="Google Shape;240;p10"/>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241" name="Google Shape;241;p10"/>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8</a:t>
            </a:r>
            <a:endParaRPr sz="10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46" name="Shape 246"/>
        <p:cNvGrpSpPr/>
        <p:nvPr/>
      </p:nvGrpSpPr>
      <p:grpSpPr>
        <a:xfrm>
          <a:off x="0" y="0"/>
          <a:ext cx="0" cy="0"/>
          <a:chOff x="0" y="0"/>
          <a:chExt cx="0" cy="0"/>
        </a:xfrm>
      </p:grpSpPr>
      <p:sp>
        <p:nvSpPr>
          <p:cNvPr id="247" name="Google Shape;247;p11"/>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On placement — raising the bar</a:t>
            </a:r>
            <a:endParaRPr sz="3050">
              <a:solidFill>
                <a:schemeClr val="dk1"/>
              </a:solidFill>
              <a:latin typeface="Calibri"/>
              <a:ea typeface="Calibri"/>
              <a:cs typeface="Calibri"/>
              <a:sym typeface="Calibri"/>
            </a:endParaRPr>
          </a:p>
        </p:txBody>
      </p:sp>
      <p:sp>
        <p:nvSpPr>
          <p:cNvPr id="248" name="Google Shape;248;p11"/>
          <p:cNvSpPr/>
          <p:nvPr/>
        </p:nvSpPr>
        <p:spPr>
          <a:xfrm>
            <a:off x="10271455" y="292608"/>
            <a:ext cx="1554480"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11"/>
          <p:cNvSpPr/>
          <p:nvPr/>
        </p:nvSpPr>
        <p:spPr>
          <a:xfrm>
            <a:off x="10271455" y="292608"/>
            <a:ext cx="15544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DISCUSSION</a:t>
            </a:r>
            <a:endParaRPr sz="1200">
              <a:solidFill>
                <a:schemeClr val="dk1"/>
              </a:solidFill>
              <a:latin typeface="Calibri"/>
              <a:ea typeface="Calibri"/>
              <a:cs typeface="Calibri"/>
              <a:sym typeface="Calibri"/>
            </a:endParaRPr>
          </a:p>
        </p:txBody>
      </p:sp>
      <p:cxnSp>
        <p:nvCxnSpPr>
          <p:cNvPr id="250" name="Google Shape;250;p11"/>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251" name="Google Shape;251;p11"/>
          <p:cNvSpPr/>
          <p:nvPr/>
        </p:nvSpPr>
        <p:spPr>
          <a:xfrm>
            <a:off x="548640" y="1554480"/>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11"/>
          <p:cNvSpPr/>
          <p:nvPr/>
        </p:nvSpPr>
        <p:spPr>
          <a:xfrm>
            <a:off x="777240" y="1536192"/>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Timekeeping</a:t>
            </a:r>
            <a:endParaRPr sz="1500">
              <a:solidFill>
                <a:schemeClr val="dk1"/>
              </a:solidFill>
              <a:latin typeface="Calibri"/>
              <a:ea typeface="Calibri"/>
              <a:cs typeface="Calibri"/>
              <a:sym typeface="Calibri"/>
            </a:endParaRPr>
          </a:p>
        </p:txBody>
      </p:sp>
      <p:sp>
        <p:nvSpPr>
          <p:cNvPr id="253" name="Google Shape;253;p11"/>
          <p:cNvSpPr/>
          <p:nvPr/>
        </p:nvSpPr>
        <p:spPr>
          <a:xfrm>
            <a:off x="3611880" y="1536192"/>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Be on time, every day. Running late or unwell? Contact the employer AND the college.</a:t>
            </a:r>
            <a:endParaRPr sz="1350">
              <a:solidFill>
                <a:schemeClr val="dk1"/>
              </a:solidFill>
              <a:latin typeface="Calibri"/>
              <a:ea typeface="Calibri"/>
              <a:cs typeface="Calibri"/>
              <a:sym typeface="Calibri"/>
            </a:endParaRPr>
          </a:p>
        </p:txBody>
      </p:sp>
      <p:sp>
        <p:nvSpPr>
          <p:cNvPr id="254" name="Google Shape;254;p11"/>
          <p:cNvSpPr/>
          <p:nvPr/>
        </p:nvSpPr>
        <p:spPr>
          <a:xfrm>
            <a:off x="548640" y="2157984"/>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11"/>
          <p:cNvSpPr/>
          <p:nvPr/>
        </p:nvSpPr>
        <p:spPr>
          <a:xfrm>
            <a:off x="777240" y="2139696"/>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Dress &amp; conduct</a:t>
            </a:r>
            <a:endParaRPr sz="1500">
              <a:solidFill>
                <a:schemeClr val="dk1"/>
              </a:solidFill>
              <a:latin typeface="Calibri"/>
              <a:ea typeface="Calibri"/>
              <a:cs typeface="Calibri"/>
              <a:sym typeface="Calibri"/>
            </a:endParaRPr>
          </a:p>
        </p:txBody>
      </p:sp>
      <p:sp>
        <p:nvSpPr>
          <p:cNvPr id="256" name="Google Shape;256;p11"/>
          <p:cNvSpPr/>
          <p:nvPr/>
        </p:nvSpPr>
        <p:spPr>
          <a:xfrm>
            <a:off x="3611880" y="2139696"/>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Check the dress code before you start. Most studios, agencies and IT teams are smart casual — on a shoot or an install, wear something you can actually work in.</a:t>
            </a:r>
            <a:endParaRPr sz="1350">
              <a:solidFill>
                <a:schemeClr val="dk1"/>
              </a:solidFill>
              <a:latin typeface="Calibri"/>
              <a:ea typeface="Calibri"/>
              <a:cs typeface="Calibri"/>
              <a:sym typeface="Calibri"/>
            </a:endParaRPr>
          </a:p>
        </p:txBody>
      </p:sp>
      <p:sp>
        <p:nvSpPr>
          <p:cNvPr id="257" name="Google Shape;257;p11"/>
          <p:cNvSpPr/>
          <p:nvPr/>
        </p:nvSpPr>
        <p:spPr>
          <a:xfrm>
            <a:off x="548640" y="2761488"/>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11"/>
          <p:cNvSpPr/>
          <p:nvPr/>
        </p:nvSpPr>
        <p:spPr>
          <a:xfrm>
            <a:off x="777240" y="274320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Communication</a:t>
            </a:r>
            <a:endParaRPr sz="1500">
              <a:solidFill>
                <a:schemeClr val="dk1"/>
              </a:solidFill>
              <a:latin typeface="Calibri"/>
              <a:ea typeface="Calibri"/>
              <a:cs typeface="Calibri"/>
              <a:sym typeface="Calibri"/>
            </a:endParaRPr>
          </a:p>
        </p:txBody>
      </p:sp>
      <p:sp>
        <p:nvSpPr>
          <p:cNvPr id="259" name="Google Shape;259;p11"/>
          <p:cNvSpPr/>
          <p:nvPr/>
        </p:nvSpPr>
        <p:spPr>
          <a:xfrm>
            <a:off x="3611880" y="2743200"/>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Keep in touch with your placement provider — don’t go quiet if plans change.</a:t>
            </a:r>
            <a:endParaRPr sz="1350">
              <a:solidFill>
                <a:schemeClr val="dk1"/>
              </a:solidFill>
              <a:latin typeface="Calibri"/>
              <a:ea typeface="Calibri"/>
              <a:cs typeface="Calibri"/>
              <a:sym typeface="Calibri"/>
            </a:endParaRPr>
          </a:p>
        </p:txBody>
      </p:sp>
      <p:sp>
        <p:nvSpPr>
          <p:cNvPr id="260" name="Google Shape;260;p11"/>
          <p:cNvSpPr/>
          <p:nvPr/>
        </p:nvSpPr>
        <p:spPr>
          <a:xfrm>
            <a:off x="548640" y="3364992"/>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1"/>
          <p:cNvSpPr/>
          <p:nvPr/>
        </p:nvSpPr>
        <p:spPr>
          <a:xfrm>
            <a:off x="777240" y="3346704"/>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Logging hours</a:t>
            </a:r>
            <a:endParaRPr sz="1500">
              <a:solidFill>
                <a:schemeClr val="dk1"/>
              </a:solidFill>
              <a:latin typeface="Calibri"/>
              <a:ea typeface="Calibri"/>
              <a:cs typeface="Calibri"/>
              <a:sym typeface="Calibri"/>
            </a:endParaRPr>
          </a:p>
        </p:txBody>
      </p:sp>
      <p:sp>
        <p:nvSpPr>
          <p:cNvPr id="262" name="Google Shape;262;p11"/>
          <p:cNvSpPr/>
          <p:nvPr/>
        </p:nvSpPr>
        <p:spPr>
          <a:xfrm>
            <a:off x="3611880" y="3346704"/>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Complete your Navigate journal and timesheet every day you attend. Record what you actually did — your reference will be written from it.</a:t>
            </a:r>
            <a:endParaRPr sz="1350">
              <a:solidFill>
                <a:schemeClr val="dk1"/>
              </a:solidFill>
              <a:latin typeface="Calibri"/>
              <a:ea typeface="Calibri"/>
              <a:cs typeface="Calibri"/>
              <a:sym typeface="Calibri"/>
            </a:endParaRPr>
          </a:p>
        </p:txBody>
      </p:sp>
      <p:sp>
        <p:nvSpPr>
          <p:cNvPr id="263" name="Google Shape;263;p11"/>
          <p:cNvSpPr/>
          <p:nvPr/>
        </p:nvSpPr>
        <p:spPr>
          <a:xfrm>
            <a:off x="548640" y="3968496"/>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1"/>
          <p:cNvSpPr/>
          <p:nvPr/>
        </p:nvSpPr>
        <p:spPr>
          <a:xfrm>
            <a:off x="777240" y="3950208"/>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Raising concerns</a:t>
            </a:r>
            <a:endParaRPr sz="1500">
              <a:solidFill>
                <a:schemeClr val="dk1"/>
              </a:solidFill>
              <a:latin typeface="Calibri"/>
              <a:ea typeface="Calibri"/>
              <a:cs typeface="Calibri"/>
              <a:sym typeface="Calibri"/>
            </a:endParaRPr>
          </a:p>
        </p:txBody>
      </p:sp>
      <p:sp>
        <p:nvSpPr>
          <p:cNvPr id="265" name="Google Shape;265;p11"/>
          <p:cNvSpPr/>
          <p:nvPr/>
        </p:nvSpPr>
        <p:spPr>
          <a:xfrm>
            <a:off x="3611880" y="3950208"/>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Something wrong? Speak to your employer contact first if it’s minor — or your tutor / Careers &amp; Employability team if it isn’t.</a:t>
            </a:r>
            <a:endParaRPr sz="1350">
              <a:solidFill>
                <a:schemeClr val="dk1"/>
              </a:solidFill>
              <a:latin typeface="Calibri"/>
              <a:ea typeface="Calibri"/>
              <a:cs typeface="Calibri"/>
              <a:sym typeface="Calibri"/>
            </a:endParaRPr>
          </a:p>
        </p:txBody>
      </p:sp>
      <p:sp>
        <p:nvSpPr>
          <p:cNvPr id="266" name="Google Shape;266;p11"/>
          <p:cNvSpPr/>
          <p:nvPr/>
        </p:nvSpPr>
        <p:spPr>
          <a:xfrm>
            <a:off x="548640" y="4617720"/>
            <a:ext cx="11094415" cy="912495"/>
          </a:xfrm>
          <a:prstGeom prst="roundRect">
            <a:avLst>
              <a:gd fmla="val 14545" name="adj"/>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1"/>
          <p:cNvSpPr/>
          <p:nvPr/>
        </p:nvSpPr>
        <p:spPr>
          <a:xfrm>
            <a:off x="777240" y="4617720"/>
            <a:ext cx="10637215" cy="91249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00"/>
              <a:buFont typeface="Poppins"/>
              <a:buNone/>
            </a:pPr>
            <a:r>
              <a:rPr i="1" lang="en-US" sz="1300">
                <a:solidFill>
                  <a:srgbClr val="FFFFFF"/>
                </a:solidFill>
                <a:latin typeface="Poppins"/>
                <a:ea typeface="Poppins"/>
                <a:cs typeface="Poppins"/>
                <a:sym typeface="Poppins"/>
              </a:rPr>
              <a:t>Discuss in pairs: professionalism compounds — employers and referees remember you. Which habit do you want automatic this time — consent before filming, daily backups, or asking before you touch a system?</a:t>
            </a:r>
            <a:endParaRPr sz="1300">
              <a:solidFill>
                <a:schemeClr val="dk1"/>
              </a:solidFill>
              <a:latin typeface="Calibri"/>
              <a:ea typeface="Calibri"/>
              <a:cs typeface="Calibri"/>
              <a:sym typeface="Calibri"/>
            </a:endParaRPr>
          </a:p>
        </p:txBody>
      </p:sp>
      <p:sp>
        <p:nvSpPr>
          <p:cNvPr id="268" name="Google Shape;268;p11"/>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269" name="Google Shape;269;p11"/>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9</a:t>
            </a:r>
            <a:endParaRPr sz="10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74" name="Shape 274"/>
        <p:cNvGrpSpPr/>
        <p:nvPr/>
      </p:nvGrpSpPr>
      <p:grpSpPr>
        <a:xfrm>
          <a:off x="0" y="0"/>
          <a:ext cx="0" cy="0"/>
          <a:chOff x="0" y="0"/>
          <a:chExt cx="0" cy="0"/>
        </a:xfrm>
      </p:grpSpPr>
      <p:sp>
        <p:nvSpPr>
          <p:cNvPr id="275" name="Google Shape;275;p12"/>
          <p:cNvSpPr/>
          <p:nvPr/>
        </p:nvSpPr>
        <p:spPr>
          <a:xfrm>
            <a:off x="548640" y="41148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400"/>
              <a:buFont typeface="Poppins SemiBold"/>
              <a:buNone/>
            </a:pPr>
            <a:r>
              <a:rPr lang="en-US" sz="1400">
                <a:solidFill>
                  <a:srgbClr val="FFCF01"/>
                </a:solidFill>
                <a:latin typeface="Poppins SemiBold"/>
                <a:ea typeface="Poppins SemiBold"/>
                <a:cs typeface="Poppins SemiBold"/>
                <a:sym typeface="Poppins SemiBold"/>
              </a:rPr>
              <a:t>BEFORE WE FINISH</a:t>
            </a:r>
            <a:endParaRPr sz="1400">
              <a:solidFill>
                <a:schemeClr val="dk1"/>
              </a:solidFill>
              <a:latin typeface="Calibri"/>
              <a:ea typeface="Calibri"/>
              <a:cs typeface="Calibri"/>
              <a:sym typeface="Calibri"/>
            </a:endParaRPr>
          </a:p>
        </p:txBody>
      </p:sp>
      <p:sp>
        <p:nvSpPr>
          <p:cNvPr id="276" name="Google Shape;276;p12"/>
          <p:cNvSpPr/>
          <p:nvPr/>
        </p:nvSpPr>
        <p:spPr>
          <a:xfrm>
            <a:off x="548640" y="713232"/>
            <a:ext cx="9144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50"/>
              <a:buFont typeface="Poppins SemiBold"/>
              <a:buNone/>
            </a:pPr>
            <a:r>
              <a:rPr lang="en-US" sz="2850">
                <a:solidFill>
                  <a:srgbClr val="FFFFFF"/>
                </a:solidFill>
                <a:latin typeface="Poppins SemiBold"/>
                <a:ea typeface="Poppins SemiBold"/>
                <a:cs typeface="Poppins SemiBold"/>
                <a:sym typeface="Poppins SemiBold"/>
              </a:rPr>
              <a:t>One thing I’ll do this week</a:t>
            </a:r>
            <a:endParaRPr sz="2850">
              <a:solidFill>
                <a:schemeClr val="dk1"/>
              </a:solidFill>
              <a:latin typeface="Calibri"/>
              <a:ea typeface="Calibri"/>
              <a:cs typeface="Calibri"/>
              <a:sym typeface="Calibri"/>
            </a:endParaRPr>
          </a:p>
        </p:txBody>
      </p:sp>
      <p:sp>
        <p:nvSpPr>
          <p:cNvPr id="277" name="Google Shape;277;p12"/>
          <p:cNvSpPr/>
          <p:nvPr/>
        </p:nvSpPr>
        <p:spPr>
          <a:xfrm>
            <a:off x="10481767" y="292608"/>
            <a:ext cx="134416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2"/>
          <p:cNvSpPr/>
          <p:nvPr/>
        </p:nvSpPr>
        <p:spPr>
          <a:xfrm>
            <a:off x="10481767" y="292608"/>
            <a:ext cx="134416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ACTIVITY</a:t>
            </a:r>
            <a:endParaRPr sz="1200">
              <a:solidFill>
                <a:schemeClr val="dk1"/>
              </a:solidFill>
              <a:latin typeface="Calibri"/>
              <a:ea typeface="Calibri"/>
              <a:cs typeface="Calibri"/>
              <a:sym typeface="Calibri"/>
            </a:endParaRPr>
          </a:p>
        </p:txBody>
      </p:sp>
      <p:sp>
        <p:nvSpPr>
          <p:cNvPr id="279" name="Google Shape;279;p12"/>
          <p:cNvSpPr/>
          <p:nvPr/>
        </p:nvSpPr>
        <p:spPr>
          <a:xfrm>
            <a:off x="548640" y="1417320"/>
            <a:ext cx="11094415" cy="4709160"/>
          </a:xfrm>
          <a:prstGeom prst="roundRect">
            <a:avLst>
              <a:gd fmla="val 2330"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2"/>
          <p:cNvSpPr/>
          <p:nvPr/>
        </p:nvSpPr>
        <p:spPr>
          <a:xfrm>
            <a:off x="868680" y="1645920"/>
            <a:ext cx="10454335"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400"/>
              <a:buFont typeface="Poppins"/>
              <a:buNone/>
            </a:pPr>
            <a:r>
              <a:rPr i="1" lang="en-US" sz="1400">
                <a:solidFill>
                  <a:srgbClr val="5A6A6F"/>
                </a:solidFill>
                <a:latin typeface="Poppins"/>
                <a:ea typeface="Poppins"/>
                <a:cs typeface="Poppins"/>
                <a:sym typeface="Poppins"/>
              </a:rPr>
              <a:t>Pick one option below. Write or draw it on your card. Your tutor keeps it and will check in with you.</a:t>
            </a:r>
            <a:endParaRPr sz="1400">
              <a:solidFill>
                <a:schemeClr val="dk1"/>
              </a:solidFill>
              <a:latin typeface="Calibri"/>
              <a:ea typeface="Calibri"/>
              <a:cs typeface="Calibri"/>
              <a:sym typeface="Calibri"/>
            </a:endParaRPr>
          </a:p>
        </p:txBody>
      </p:sp>
      <p:sp>
        <p:nvSpPr>
          <p:cNvPr id="281" name="Google Shape;281;p12"/>
          <p:cNvSpPr/>
          <p:nvPr/>
        </p:nvSpPr>
        <p:spPr>
          <a:xfrm>
            <a:off x="868680" y="2240280"/>
            <a:ext cx="5067148" cy="1645920"/>
          </a:xfrm>
          <a:prstGeom prst="roundRect">
            <a:avLst>
              <a:gd fmla="val 4444" name="adj"/>
            </a:avLst>
          </a:prstGeom>
          <a:solidFill>
            <a:srgbClr val="EDE6F3"/>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12"/>
          <p:cNvSpPr/>
          <p:nvPr/>
        </p:nvSpPr>
        <p:spPr>
          <a:xfrm>
            <a:off x="1051560" y="2423160"/>
            <a:ext cx="384048" cy="384048"/>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12"/>
          <p:cNvSpPr/>
          <p:nvPr/>
        </p:nvSpPr>
        <p:spPr>
          <a:xfrm>
            <a:off x="1051560" y="24231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50"/>
              <a:buFont typeface="Poppins SemiBold"/>
              <a:buNone/>
            </a:pPr>
            <a:r>
              <a:rPr lang="en-US" sz="1750">
                <a:solidFill>
                  <a:srgbClr val="FFFFFF"/>
                </a:solidFill>
                <a:latin typeface="Poppins SemiBold"/>
                <a:ea typeface="Poppins SemiBold"/>
                <a:cs typeface="Poppins SemiBold"/>
                <a:sym typeface="Poppins SemiBold"/>
              </a:rPr>
              <a:t>1</a:t>
            </a:r>
            <a:endParaRPr sz="1750">
              <a:solidFill>
                <a:schemeClr val="dk1"/>
              </a:solidFill>
              <a:latin typeface="Calibri"/>
              <a:ea typeface="Calibri"/>
              <a:cs typeface="Calibri"/>
              <a:sym typeface="Calibri"/>
            </a:endParaRPr>
          </a:p>
        </p:txBody>
      </p:sp>
      <p:sp>
        <p:nvSpPr>
          <p:cNvPr id="284" name="Google Shape;284;p12"/>
          <p:cNvSpPr/>
          <p:nvPr/>
        </p:nvSpPr>
        <p:spPr>
          <a:xfrm>
            <a:off x="1554480" y="2441448"/>
            <a:ext cx="41984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50"/>
              <a:buFont typeface="Poppins SemiBold"/>
              <a:buNone/>
            </a:pPr>
            <a:r>
              <a:rPr lang="en-US" sz="1550">
                <a:solidFill>
                  <a:srgbClr val="1B2A30"/>
                </a:solidFill>
                <a:latin typeface="Poppins SemiBold"/>
                <a:ea typeface="Poppins SemiBold"/>
                <a:cs typeface="Poppins SemiBold"/>
                <a:sym typeface="Poppins SemiBold"/>
              </a:rPr>
              <a:t>Build on last time</a:t>
            </a:r>
            <a:endParaRPr sz="1550">
              <a:solidFill>
                <a:schemeClr val="dk1"/>
              </a:solidFill>
              <a:latin typeface="Calibri"/>
              <a:ea typeface="Calibri"/>
              <a:cs typeface="Calibri"/>
              <a:sym typeface="Calibri"/>
            </a:endParaRPr>
          </a:p>
        </p:txBody>
      </p:sp>
      <p:sp>
        <p:nvSpPr>
          <p:cNvPr id="285" name="Google Shape;285;p12"/>
          <p:cNvSpPr/>
          <p:nvPr/>
        </p:nvSpPr>
        <p:spPr>
          <a:xfrm>
            <a:off x="1051560" y="2862072"/>
            <a:ext cx="470138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I’ll decide whether to go somewhere new or go deeper with the same employer — and which is closer to my specialism.</a:t>
            </a:r>
            <a:endParaRPr sz="1250">
              <a:solidFill>
                <a:schemeClr val="dk1"/>
              </a:solidFill>
              <a:latin typeface="Calibri"/>
              <a:ea typeface="Calibri"/>
              <a:cs typeface="Calibri"/>
              <a:sym typeface="Calibri"/>
            </a:endParaRPr>
          </a:p>
        </p:txBody>
      </p:sp>
      <p:sp>
        <p:nvSpPr>
          <p:cNvPr id="286" name="Google Shape;286;p12"/>
          <p:cNvSpPr/>
          <p:nvPr/>
        </p:nvSpPr>
        <p:spPr>
          <a:xfrm>
            <a:off x="6255868" y="2240280"/>
            <a:ext cx="5067148" cy="1645920"/>
          </a:xfrm>
          <a:prstGeom prst="roundRect">
            <a:avLst>
              <a:gd fmla="val 4444" name="adj"/>
            </a:avLst>
          </a:prstGeom>
          <a:solidFill>
            <a:srgbClr val="EDE6F3"/>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12"/>
          <p:cNvSpPr/>
          <p:nvPr/>
        </p:nvSpPr>
        <p:spPr>
          <a:xfrm>
            <a:off x="6438748" y="2423160"/>
            <a:ext cx="384048" cy="384048"/>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2"/>
          <p:cNvSpPr/>
          <p:nvPr/>
        </p:nvSpPr>
        <p:spPr>
          <a:xfrm>
            <a:off x="6438748" y="24231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50"/>
              <a:buFont typeface="Poppins SemiBold"/>
              <a:buNone/>
            </a:pPr>
            <a:r>
              <a:rPr lang="en-US" sz="1750">
                <a:solidFill>
                  <a:srgbClr val="FFFFFF"/>
                </a:solidFill>
                <a:latin typeface="Poppins SemiBold"/>
                <a:ea typeface="Poppins SemiBold"/>
                <a:cs typeface="Poppins SemiBold"/>
                <a:sym typeface="Poppins SemiBold"/>
              </a:rPr>
              <a:t>2</a:t>
            </a:r>
            <a:endParaRPr sz="1750">
              <a:solidFill>
                <a:schemeClr val="dk1"/>
              </a:solidFill>
              <a:latin typeface="Calibri"/>
              <a:ea typeface="Calibri"/>
              <a:cs typeface="Calibri"/>
              <a:sym typeface="Calibri"/>
            </a:endParaRPr>
          </a:p>
        </p:txBody>
      </p:sp>
      <p:sp>
        <p:nvSpPr>
          <p:cNvPr id="289" name="Google Shape;289;p12"/>
          <p:cNvSpPr/>
          <p:nvPr/>
        </p:nvSpPr>
        <p:spPr>
          <a:xfrm>
            <a:off x="6941668" y="2441448"/>
            <a:ext cx="41984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50"/>
              <a:buFont typeface="Poppins SemiBold"/>
              <a:buNone/>
            </a:pPr>
            <a:r>
              <a:rPr lang="en-US" sz="1550">
                <a:solidFill>
                  <a:srgbClr val="1B2A30"/>
                </a:solidFill>
                <a:latin typeface="Poppins SemiBold"/>
                <a:ea typeface="Poppins SemiBold"/>
                <a:cs typeface="Poppins SemiBold"/>
                <a:sym typeface="Poppins SemiBold"/>
              </a:rPr>
              <a:t>Note the dates</a:t>
            </a:r>
            <a:endParaRPr sz="1550">
              <a:solidFill>
                <a:schemeClr val="dk1"/>
              </a:solidFill>
              <a:latin typeface="Calibri"/>
              <a:ea typeface="Calibri"/>
              <a:cs typeface="Calibri"/>
              <a:sym typeface="Calibri"/>
            </a:endParaRPr>
          </a:p>
        </p:txBody>
      </p:sp>
      <p:sp>
        <p:nvSpPr>
          <p:cNvPr id="290" name="Google Shape;290;p12"/>
          <p:cNvSpPr/>
          <p:nvPr/>
        </p:nvSpPr>
        <p:spPr>
          <a:xfrm>
            <a:off x="6438748" y="2862072"/>
            <a:ext cx="470138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I’ll write 5 Feb and 8 March somewhere I’ll actually see them.</a:t>
            </a:r>
            <a:endParaRPr sz="1250">
              <a:solidFill>
                <a:schemeClr val="dk1"/>
              </a:solidFill>
              <a:latin typeface="Calibri"/>
              <a:ea typeface="Calibri"/>
              <a:cs typeface="Calibri"/>
              <a:sym typeface="Calibri"/>
            </a:endParaRPr>
          </a:p>
        </p:txBody>
      </p:sp>
      <p:sp>
        <p:nvSpPr>
          <p:cNvPr id="291" name="Google Shape;291;p12"/>
          <p:cNvSpPr/>
          <p:nvPr/>
        </p:nvSpPr>
        <p:spPr>
          <a:xfrm>
            <a:off x="868680" y="4069080"/>
            <a:ext cx="5067148" cy="1645920"/>
          </a:xfrm>
          <a:prstGeom prst="roundRect">
            <a:avLst>
              <a:gd fmla="val 4444" name="adj"/>
            </a:avLst>
          </a:prstGeom>
          <a:solidFill>
            <a:srgbClr val="EDE6F3"/>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2"/>
          <p:cNvSpPr/>
          <p:nvPr/>
        </p:nvSpPr>
        <p:spPr>
          <a:xfrm>
            <a:off x="1051560" y="4251960"/>
            <a:ext cx="384048" cy="384048"/>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3" name="Google Shape;293;p12"/>
          <p:cNvSpPr/>
          <p:nvPr/>
        </p:nvSpPr>
        <p:spPr>
          <a:xfrm>
            <a:off x="1051560" y="42519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50"/>
              <a:buFont typeface="Poppins SemiBold"/>
              <a:buNone/>
            </a:pPr>
            <a:r>
              <a:rPr lang="en-US" sz="1750">
                <a:solidFill>
                  <a:srgbClr val="FFFFFF"/>
                </a:solidFill>
                <a:latin typeface="Poppins SemiBold"/>
                <a:ea typeface="Poppins SemiBold"/>
                <a:cs typeface="Poppins SemiBold"/>
                <a:sym typeface="Poppins SemiBold"/>
              </a:rPr>
              <a:t>3</a:t>
            </a:r>
            <a:endParaRPr sz="1750">
              <a:solidFill>
                <a:schemeClr val="dk1"/>
              </a:solidFill>
              <a:latin typeface="Calibri"/>
              <a:ea typeface="Calibri"/>
              <a:cs typeface="Calibri"/>
              <a:sym typeface="Calibri"/>
            </a:endParaRPr>
          </a:p>
        </p:txBody>
      </p:sp>
      <p:sp>
        <p:nvSpPr>
          <p:cNvPr id="294" name="Google Shape;294;p12"/>
          <p:cNvSpPr/>
          <p:nvPr/>
        </p:nvSpPr>
        <p:spPr>
          <a:xfrm>
            <a:off x="1554480" y="4270248"/>
            <a:ext cx="41984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50"/>
              <a:buFont typeface="Poppins SemiBold"/>
              <a:buNone/>
            </a:pPr>
            <a:r>
              <a:rPr lang="en-US" sz="1550">
                <a:solidFill>
                  <a:srgbClr val="1B2A30"/>
                </a:solidFill>
                <a:latin typeface="Poppins SemiBold"/>
                <a:ea typeface="Poppins SemiBold"/>
                <a:cs typeface="Poppins SemiBold"/>
                <a:sym typeface="Poppins SemiBold"/>
              </a:rPr>
              <a:t>Refresh on Navigate</a:t>
            </a:r>
            <a:endParaRPr sz="1550">
              <a:solidFill>
                <a:schemeClr val="dk1"/>
              </a:solidFill>
              <a:latin typeface="Calibri"/>
              <a:ea typeface="Calibri"/>
              <a:cs typeface="Calibri"/>
              <a:sym typeface="Calibri"/>
            </a:endParaRPr>
          </a:p>
        </p:txBody>
      </p:sp>
      <p:sp>
        <p:nvSpPr>
          <p:cNvPr id="295" name="Google Shape;295;p12"/>
          <p:cNvSpPr/>
          <p:nvPr/>
        </p:nvSpPr>
        <p:spPr>
          <a:xfrm>
            <a:off x="1051560" y="4690872"/>
            <a:ext cx="470138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I’ll check I remember what information I’ll need before I request a placement.</a:t>
            </a:r>
            <a:endParaRPr sz="1250">
              <a:solidFill>
                <a:schemeClr val="dk1"/>
              </a:solidFill>
              <a:latin typeface="Calibri"/>
              <a:ea typeface="Calibri"/>
              <a:cs typeface="Calibri"/>
              <a:sym typeface="Calibri"/>
            </a:endParaRPr>
          </a:p>
        </p:txBody>
      </p:sp>
      <p:sp>
        <p:nvSpPr>
          <p:cNvPr id="296" name="Google Shape;296;p12"/>
          <p:cNvSpPr/>
          <p:nvPr/>
        </p:nvSpPr>
        <p:spPr>
          <a:xfrm>
            <a:off x="6255868" y="4069080"/>
            <a:ext cx="5067148" cy="1645920"/>
          </a:xfrm>
          <a:prstGeom prst="roundRect">
            <a:avLst>
              <a:gd fmla="val 4444" name="adj"/>
            </a:avLst>
          </a:prstGeom>
          <a:solidFill>
            <a:srgbClr val="F8E7E3"/>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2"/>
          <p:cNvSpPr/>
          <p:nvPr/>
        </p:nvSpPr>
        <p:spPr>
          <a:xfrm>
            <a:off x="6438748" y="4251960"/>
            <a:ext cx="384048" cy="384048"/>
          </a:xfrm>
          <a:prstGeom prst="ellipse">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12"/>
          <p:cNvSpPr/>
          <p:nvPr/>
        </p:nvSpPr>
        <p:spPr>
          <a:xfrm>
            <a:off x="6438748" y="42519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50"/>
              <a:buFont typeface="Poppins SemiBold"/>
              <a:buNone/>
            </a:pPr>
            <a:r>
              <a:rPr lang="en-US" sz="1750">
                <a:solidFill>
                  <a:srgbClr val="FFFFFF"/>
                </a:solidFill>
                <a:latin typeface="Poppins SemiBold"/>
                <a:ea typeface="Poppins SemiBold"/>
                <a:cs typeface="Poppins SemiBold"/>
                <a:sym typeface="Poppins SemiBold"/>
              </a:rPr>
              <a:t>4</a:t>
            </a:r>
            <a:endParaRPr sz="1750">
              <a:solidFill>
                <a:schemeClr val="dk1"/>
              </a:solidFill>
              <a:latin typeface="Calibri"/>
              <a:ea typeface="Calibri"/>
              <a:cs typeface="Calibri"/>
              <a:sym typeface="Calibri"/>
            </a:endParaRPr>
          </a:p>
        </p:txBody>
      </p:sp>
      <p:sp>
        <p:nvSpPr>
          <p:cNvPr id="299" name="Google Shape;299;p12"/>
          <p:cNvSpPr/>
          <p:nvPr/>
        </p:nvSpPr>
        <p:spPr>
          <a:xfrm>
            <a:off x="6941668" y="4270248"/>
            <a:ext cx="41984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50"/>
              <a:buFont typeface="Poppins SemiBold"/>
              <a:buNone/>
            </a:pPr>
            <a:r>
              <a:rPr lang="en-US" sz="1550">
                <a:solidFill>
                  <a:srgbClr val="1B2A30"/>
                </a:solidFill>
                <a:latin typeface="Poppins SemiBold"/>
                <a:ea typeface="Poppins SemiBold"/>
                <a:cs typeface="Poppins SemiBold"/>
                <a:sym typeface="Poppins SemiBold"/>
              </a:rPr>
              <a:t>Tell someone</a:t>
            </a:r>
            <a:endParaRPr sz="1550">
              <a:solidFill>
                <a:schemeClr val="dk1"/>
              </a:solidFill>
              <a:latin typeface="Calibri"/>
              <a:ea typeface="Calibri"/>
              <a:cs typeface="Calibri"/>
              <a:sym typeface="Calibri"/>
            </a:endParaRPr>
          </a:p>
        </p:txBody>
      </p:sp>
      <p:sp>
        <p:nvSpPr>
          <p:cNvPr id="300" name="Google Shape;300;p12"/>
          <p:cNvSpPr/>
          <p:nvPr/>
        </p:nvSpPr>
        <p:spPr>
          <a:xfrm>
            <a:off x="6438748" y="4690872"/>
            <a:ext cx="470138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I’ll tell my tutor or the Careers &amp; Employability team if I’m unsure about something, or a placement concern comes up.</a:t>
            </a:r>
            <a:endParaRPr sz="1250">
              <a:solidFill>
                <a:schemeClr val="dk1"/>
              </a:solidFill>
              <a:latin typeface="Calibri"/>
              <a:ea typeface="Calibri"/>
              <a:cs typeface="Calibri"/>
              <a:sym typeface="Calibri"/>
            </a:endParaRPr>
          </a:p>
        </p:txBody>
      </p:sp>
      <p:sp>
        <p:nvSpPr>
          <p:cNvPr id="301" name="Google Shape;301;p12"/>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302" name="Google Shape;302;p12"/>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10</a:t>
            </a:r>
            <a:endParaRPr sz="10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92C82"/>
        </a:solidFill>
      </p:bgPr>
    </p:bg>
    <p:spTree>
      <p:nvGrpSpPr>
        <p:cNvPr id="307" name="Shape 307"/>
        <p:cNvGrpSpPr/>
        <p:nvPr/>
      </p:nvGrpSpPr>
      <p:grpSpPr>
        <a:xfrm>
          <a:off x="0" y="0"/>
          <a:ext cx="0" cy="0"/>
          <a:chOff x="0" y="0"/>
          <a:chExt cx="0" cy="0"/>
        </a:xfrm>
      </p:grpSpPr>
      <p:sp>
        <p:nvSpPr>
          <p:cNvPr id="308" name="Google Shape;308;p13"/>
          <p:cNvSpPr/>
          <p:nvPr/>
        </p:nvSpPr>
        <p:spPr>
          <a:xfrm>
            <a:off x="731520" y="640080"/>
            <a:ext cx="7315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50"/>
              <a:buFont typeface="Poppins SemiBold"/>
              <a:buNone/>
            </a:pPr>
            <a:r>
              <a:rPr lang="en-US" sz="3050">
                <a:solidFill>
                  <a:srgbClr val="FFFFFF"/>
                </a:solidFill>
                <a:latin typeface="Poppins SemiBold"/>
                <a:ea typeface="Poppins SemiBold"/>
                <a:cs typeface="Poppins SemiBold"/>
                <a:sym typeface="Poppins SemiBold"/>
              </a:rPr>
              <a:t>Before you go</a:t>
            </a:r>
            <a:endParaRPr sz="3050">
              <a:solidFill>
                <a:schemeClr val="dk1"/>
              </a:solidFill>
              <a:latin typeface="Calibri"/>
              <a:ea typeface="Calibri"/>
              <a:cs typeface="Calibri"/>
              <a:sym typeface="Calibri"/>
            </a:endParaRPr>
          </a:p>
        </p:txBody>
      </p:sp>
      <p:pic>
        <p:nvPicPr>
          <p:cNvPr descr="/home/claude/moduleJ/icons/check.png" id="309" name="Google Shape;309;p13"/>
          <p:cNvPicPr preferRelativeResize="0"/>
          <p:nvPr/>
        </p:nvPicPr>
        <p:blipFill rotWithShape="1">
          <a:blip r:embed="rId3">
            <a:alphaModFix/>
          </a:blip>
          <a:srcRect b="0" l="0" r="0" t="0"/>
          <a:stretch/>
        </p:blipFill>
        <p:spPr>
          <a:xfrm>
            <a:off x="731520" y="1627632"/>
            <a:ext cx="365760" cy="365760"/>
          </a:xfrm>
          <a:prstGeom prst="rect">
            <a:avLst/>
          </a:prstGeom>
          <a:noFill/>
          <a:ln>
            <a:noFill/>
          </a:ln>
        </p:spPr>
      </p:pic>
      <p:sp>
        <p:nvSpPr>
          <p:cNvPr id="310" name="Google Shape;310;p13"/>
          <p:cNvSpPr/>
          <p:nvPr/>
        </p:nvSpPr>
        <p:spPr>
          <a:xfrm>
            <a:off x="1234440" y="1600200"/>
            <a:ext cx="101800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900"/>
              <a:buFont typeface="Poppins"/>
              <a:buNone/>
            </a:pPr>
            <a:r>
              <a:rPr b="1" lang="en-US" sz="1900">
                <a:solidFill>
                  <a:srgbClr val="FFCF01"/>
                </a:solidFill>
                <a:latin typeface="Poppins"/>
                <a:ea typeface="Poppins"/>
                <a:cs typeface="Poppins"/>
                <a:sym typeface="Poppins"/>
              </a:rPr>
              <a:t>Skills Week:  </a:t>
            </a:r>
            <a:r>
              <a:rPr lang="en-US" sz="1900">
                <a:solidFill>
                  <a:srgbClr val="FFFFFF"/>
                </a:solidFill>
                <a:latin typeface="Poppins"/>
                <a:ea typeface="Poppins"/>
                <a:cs typeface="Poppins"/>
                <a:sym typeface="Poppins"/>
              </a:rPr>
              <a:t>Monday 8 March 2027</a:t>
            </a:r>
            <a:endParaRPr sz="1900">
              <a:solidFill>
                <a:schemeClr val="dk1"/>
              </a:solidFill>
              <a:latin typeface="Calibri"/>
              <a:ea typeface="Calibri"/>
              <a:cs typeface="Calibri"/>
              <a:sym typeface="Calibri"/>
            </a:endParaRPr>
          </a:p>
        </p:txBody>
      </p:sp>
      <p:pic>
        <p:nvPicPr>
          <p:cNvPr descr="/home/claude/moduleJ/icons/check.png" id="311" name="Google Shape;311;p13"/>
          <p:cNvPicPr preferRelativeResize="0"/>
          <p:nvPr/>
        </p:nvPicPr>
        <p:blipFill rotWithShape="1">
          <a:blip r:embed="rId3">
            <a:alphaModFix/>
          </a:blip>
          <a:srcRect b="0" l="0" r="0" t="0"/>
          <a:stretch/>
        </p:blipFill>
        <p:spPr>
          <a:xfrm>
            <a:off x="731520" y="2221992"/>
            <a:ext cx="365760" cy="365760"/>
          </a:xfrm>
          <a:prstGeom prst="rect">
            <a:avLst/>
          </a:prstGeom>
          <a:noFill/>
          <a:ln>
            <a:noFill/>
          </a:ln>
        </p:spPr>
      </p:pic>
      <p:sp>
        <p:nvSpPr>
          <p:cNvPr id="312" name="Google Shape;312;p13"/>
          <p:cNvSpPr/>
          <p:nvPr/>
        </p:nvSpPr>
        <p:spPr>
          <a:xfrm>
            <a:off x="1234440" y="2194560"/>
            <a:ext cx="101800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900"/>
              <a:buFont typeface="Poppins"/>
              <a:buNone/>
            </a:pPr>
            <a:r>
              <a:rPr b="1" lang="en-US" sz="1900">
                <a:solidFill>
                  <a:srgbClr val="FFCF01"/>
                </a:solidFill>
                <a:latin typeface="Poppins"/>
                <a:ea typeface="Poppins"/>
                <a:cs typeface="Poppins"/>
                <a:sym typeface="Poppins"/>
              </a:rPr>
              <a:t>Your deadline:  </a:t>
            </a:r>
            <a:r>
              <a:rPr lang="en-US" sz="1900">
                <a:solidFill>
                  <a:srgbClr val="FFFFFF"/>
                </a:solidFill>
                <a:latin typeface="Poppins"/>
                <a:ea typeface="Poppins"/>
                <a:cs typeface="Poppins"/>
                <a:sym typeface="Poppins"/>
              </a:rPr>
              <a:t>Friday 5 February 2027, on Navigate</a:t>
            </a:r>
            <a:endParaRPr sz="1900">
              <a:solidFill>
                <a:schemeClr val="dk1"/>
              </a:solidFill>
              <a:latin typeface="Calibri"/>
              <a:ea typeface="Calibri"/>
              <a:cs typeface="Calibri"/>
              <a:sym typeface="Calibri"/>
            </a:endParaRPr>
          </a:p>
        </p:txBody>
      </p:sp>
      <p:pic>
        <p:nvPicPr>
          <p:cNvPr descr="/home/claude/moduleJ/icons/check.png" id="313" name="Google Shape;313;p13"/>
          <p:cNvPicPr preferRelativeResize="0"/>
          <p:nvPr/>
        </p:nvPicPr>
        <p:blipFill rotWithShape="1">
          <a:blip r:embed="rId3">
            <a:alphaModFix/>
          </a:blip>
          <a:srcRect b="0" l="0" r="0" t="0"/>
          <a:stretch/>
        </p:blipFill>
        <p:spPr>
          <a:xfrm>
            <a:off x="731520" y="2816352"/>
            <a:ext cx="365760" cy="365760"/>
          </a:xfrm>
          <a:prstGeom prst="rect">
            <a:avLst/>
          </a:prstGeom>
          <a:noFill/>
          <a:ln>
            <a:noFill/>
          </a:ln>
        </p:spPr>
      </p:pic>
      <p:sp>
        <p:nvSpPr>
          <p:cNvPr id="314" name="Google Shape;314;p13"/>
          <p:cNvSpPr/>
          <p:nvPr/>
        </p:nvSpPr>
        <p:spPr>
          <a:xfrm>
            <a:off x="1234440" y="2788920"/>
            <a:ext cx="101800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900"/>
              <a:buFont typeface="Poppins"/>
              <a:buNone/>
            </a:pPr>
            <a:r>
              <a:rPr b="1" lang="en-US" sz="1900">
                <a:solidFill>
                  <a:srgbClr val="FFCF01"/>
                </a:solidFill>
                <a:latin typeface="Poppins"/>
                <a:ea typeface="Poppins"/>
                <a:cs typeface="Poppins"/>
                <a:sym typeface="Poppins"/>
              </a:rPr>
              <a:t>Stuck, or need help?:  </a:t>
            </a:r>
            <a:r>
              <a:rPr lang="en-US" sz="1900">
                <a:solidFill>
                  <a:srgbClr val="FFFFFF"/>
                </a:solidFill>
                <a:latin typeface="Poppins"/>
                <a:ea typeface="Poppins"/>
                <a:cs typeface="Poppins"/>
                <a:sym typeface="Poppins"/>
              </a:rPr>
              <a:t>Your campus Careers &amp; Employability team</a:t>
            </a:r>
            <a:endParaRPr sz="1900">
              <a:solidFill>
                <a:schemeClr val="dk1"/>
              </a:solidFill>
              <a:latin typeface="Calibri"/>
              <a:ea typeface="Calibri"/>
              <a:cs typeface="Calibri"/>
              <a:sym typeface="Calibri"/>
            </a:endParaRPr>
          </a:p>
        </p:txBody>
      </p:sp>
      <p:sp>
        <p:nvSpPr>
          <p:cNvPr id="315" name="Google Shape;315;p13"/>
          <p:cNvSpPr/>
          <p:nvPr/>
        </p:nvSpPr>
        <p:spPr>
          <a:xfrm>
            <a:off x="731520" y="3749040"/>
            <a:ext cx="10728655" cy="1188720"/>
          </a:xfrm>
          <a:prstGeom prst="roundRect">
            <a:avLst>
              <a:gd fmla="val 7692" name="adj"/>
            </a:avLst>
          </a:prstGeom>
          <a:solidFill>
            <a:srgbClr val="4624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3"/>
          <p:cNvSpPr/>
          <p:nvPr/>
        </p:nvSpPr>
        <p:spPr>
          <a:xfrm>
            <a:off x="1005840" y="3749040"/>
            <a:ext cx="10180015" cy="11887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1650"/>
              <a:buFont typeface="Poppins"/>
              <a:buNone/>
            </a:pPr>
            <a:r>
              <a:rPr i="1" lang="en-US" sz="1650">
                <a:solidFill>
                  <a:srgbClr val="FFFFFF"/>
                </a:solidFill>
                <a:latin typeface="Poppins"/>
                <a:ea typeface="Poppins"/>
                <a:cs typeface="Poppins"/>
                <a:sym typeface="Poppins"/>
              </a:rPr>
              <a:t>This is round two — use what you already know, and go further than last time. In this industry the people who get taken on are the ones who came back sharper. Seek the opportunity — again.</a:t>
            </a:r>
            <a:endParaRPr sz="1650">
              <a:solidFill>
                <a:schemeClr val="dk1"/>
              </a:solidFill>
              <a:latin typeface="Calibri"/>
              <a:ea typeface="Calibri"/>
              <a:cs typeface="Calibri"/>
              <a:sym typeface="Calibri"/>
            </a:endParaRPr>
          </a:p>
        </p:txBody>
      </p:sp>
      <p:sp>
        <p:nvSpPr>
          <p:cNvPr id="317" name="Google Shape;317;p13"/>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2</a:t>
            </a:r>
            <a:endParaRPr sz="1050">
              <a:solidFill>
                <a:schemeClr val="dk1"/>
              </a:solidFill>
              <a:latin typeface="Calibri"/>
              <a:ea typeface="Calibri"/>
              <a:cs typeface="Calibri"/>
              <a:sym typeface="Calibri"/>
            </a:endParaRPr>
          </a:p>
        </p:txBody>
      </p:sp>
      <p:sp>
        <p:nvSpPr>
          <p:cNvPr id="318" name="Google Shape;318;p13"/>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11</a:t>
            </a:r>
            <a:endParaRPr sz="10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323" name="Shape 323"/>
        <p:cNvGrpSpPr/>
        <p:nvPr/>
      </p:nvGrpSpPr>
      <p:grpSpPr>
        <a:xfrm>
          <a:off x="0" y="0"/>
          <a:ext cx="0" cy="0"/>
          <a:chOff x="0" y="0"/>
          <a:chExt cx="0" cy="0"/>
        </a:xfrm>
      </p:grpSpPr>
      <p:sp>
        <p:nvSpPr>
          <p:cNvPr id="324" name="Google Shape;324;p14"/>
          <p:cNvSpPr/>
          <p:nvPr/>
        </p:nvSpPr>
        <p:spPr>
          <a:xfrm>
            <a:off x="0" y="0"/>
            <a:ext cx="12191695" cy="502920"/>
          </a:xfrm>
          <a:prstGeom prst="rect">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14"/>
          <p:cNvSpPr/>
          <p:nvPr/>
        </p:nvSpPr>
        <p:spPr>
          <a:xfrm>
            <a:off x="365760" y="0"/>
            <a:ext cx="1146017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50"/>
              <a:buFont typeface="Poppins SemiBold"/>
              <a:buNone/>
            </a:pPr>
            <a:r>
              <a:rPr lang="en-US" sz="1650">
                <a:solidFill>
                  <a:srgbClr val="FFFFFF"/>
                </a:solidFill>
                <a:latin typeface="Poppins SemiBold"/>
                <a:ea typeface="Poppins SemiBold"/>
                <a:cs typeface="Poppins SemiBold"/>
                <a:sym typeface="Poppins SemiBold"/>
              </a:rPr>
              <a:t>DO NOT DISPLAY TO STUDENTS  ·  TEACHER APPENDIX</a:t>
            </a:r>
            <a:endParaRPr sz="1650">
              <a:solidFill>
                <a:schemeClr val="dk1"/>
              </a:solidFill>
              <a:latin typeface="Calibri"/>
              <a:ea typeface="Calibri"/>
              <a:cs typeface="Calibri"/>
              <a:sym typeface="Calibri"/>
            </a:endParaRPr>
          </a:p>
        </p:txBody>
      </p:sp>
      <p:sp>
        <p:nvSpPr>
          <p:cNvPr id="326" name="Google Shape;326;p14"/>
          <p:cNvSpPr/>
          <p:nvPr/>
        </p:nvSpPr>
        <p:spPr>
          <a:xfrm>
            <a:off x="365760" y="594360"/>
            <a:ext cx="1146017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50"/>
              <a:buFont typeface="Poppins SemiBold"/>
              <a:buNone/>
            </a:pPr>
            <a:r>
              <a:rPr lang="en-US" sz="1550">
                <a:solidFill>
                  <a:srgbClr val="FFFFFF"/>
                </a:solidFill>
                <a:latin typeface="Poppins SemiBold"/>
                <a:ea typeface="Poppins SemiBold"/>
                <a:cs typeface="Poppins SemiBold"/>
                <a:sym typeface="Poppins SemiBold"/>
              </a:rPr>
              <a:t>Module J — Work Experience  ·  Level 3, Year 2</a:t>
            </a:r>
            <a:endParaRPr sz="1550">
              <a:solidFill>
                <a:schemeClr val="dk1"/>
              </a:solidFill>
              <a:latin typeface="Calibri"/>
              <a:ea typeface="Calibri"/>
              <a:cs typeface="Calibri"/>
              <a:sym typeface="Calibri"/>
            </a:endParaRPr>
          </a:p>
        </p:txBody>
      </p:sp>
      <p:sp>
        <p:nvSpPr>
          <p:cNvPr id="327" name="Google Shape;327;p14"/>
          <p:cNvSpPr/>
          <p:nvPr/>
        </p:nvSpPr>
        <p:spPr>
          <a:xfrm>
            <a:off x="365760" y="1051560"/>
            <a:ext cx="5120640" cy="5715000"/>
          </a:xfrm>
          <a:prstGeom prst="roundRect">
            <a:avLst>
              <a:gd fmla="val 1429" name="adj"/>
            </a:avLst>
          </a:prstGeom>
          <a:solidFill>
            <a:srgbClr val="3A3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14"/>
          <p:cNvSpPr/>
          <p:nvPr/>
        </p:nvSpPr>
        <p:spPr>
          <a:xfrm>
            <a:off x="594360" y="1216152"/>
            <a:ext cx="4663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400"/>
              <a:buFont typeface="Poppins SemiBold"/>
              <a:buNone/>
            </a:pPr>
            <a:r>
              <a:rPr lang="en-US" sz="1400">
                <a:solidFill>
                  <a:srgbClr val="FFCF01"/>
                </a:solidFill>
                <a:latin typeface="Poppins SemiBold"/>
                <a:ea typeface="Poppins SemiBold"/>
                <a:cs typeface="Poppins SemiBold"/>
                <a:sym typeface="Poppins SemiBold"/>
              </a:rPr>
              <a:t>RUNNING ORDER</a:t>
            </a:r>
            <a:endParaRPr sz="1400">
              <a:solidFill>
                <a:schemeClr val="dk1"/>
              </a:solidFill>
              <a:latin typeface="Calibri"/>
              <a:ea typeface="Calibri"/>
              <a:cs typeface="Calibri"/>
              <a:sym typeface="Calibri"/>
            </a:endParaRPr>
          </a:p>
        </p:txBody>
      </p:sp>
      <p:sp>
        <p:nvSpPr>
          <p:cNvPr id="329" name="Google Shape;329;p14"/>
          <p:cNvSpPr/>
          <p:nvPr/>
        </p:nvSpPr>
        <p:spPr>
          <a:xfrm>
            <a:off x="594360" y="160020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Session map</a:t>
            </a:r>
            <a:endParaRPr sz="1350">
              <a:solidFill>
                <a:schemeClr val="dk1"/>
              </a:solidFill>
              <a:latin typeface="Calibri"/>
              <a:ea typeface="Calibri"/>
              <a:cs typeface="Calibri"/>
              <a:sym typeface="Calibri"/>
            </a:endParaRPr>
          </a:p>
        </p:txBody>
      </p:sp>
      <p:sp>
        <p:nvSpPr>
          <p:cNvPr id="330" name="Google Shape;330;p14"/>
          <p:cNvSpPr/>
          <p:nvPr/>
        </p:nvSpPr>
        <p:spPr>
          <a:xfrm>
            <a:off x="4251960" y="160020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2 min</a:t>
            </a:r>
            <a:endParaRPr sz="1300">
              <a:solidFill>
                <a:schemeClr val="dk1"/>
              </a:solidFill>
              <a:latin typeface="Calibri"/>
              <a:ea typeface="Calibri"/>
              <a:cs typeface="Calibri"/>
              <a:sym typeface="Calibri"/>
            </a:endParaRPr>
          </a:p>
        </p:txBody>
      </p:sp>
      <p:sp>
        <p:nvSpPr>
          <p:cNvPr id="331" name="Google Shape;331;p14"/>
          <p:cNvSpPr/>
          <p:nvPr/>
        </p:nvSpPr>
        <p:spPr>
          <a:xfrm>
            <a:off x="594360" y="196596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Settled discussion</a:t>
            </a:r>
            <a:endParaRPr sz="1350">
              <a:solidFill>
                <a:schemeClr val="dk1"/>
              </a:solidFill>
              <a:latin typeface="Calibri"/>
              <a:ea typeface="Calibri"/>
              <a:cs typeface="Calibri"/>
              <a:sym typeface="Calibri"/>
            </a:endParaRPr>
          </a:p>
        </p:txBody>
      </p:sp>
      <p:sp>
        <p:nvSpPr>
          <p:cNvPr id="332" name="Google Shape;332;p14"/>
          <p:cNvSpPr/>
          <p:nvPr/>
        </p:nvSpPr>
        <p:spPr>
          <a:xfrm>
            <a:off x="4251960" y="196596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8-10 min</a:t>
            </a:r>
            <a:endParaRPr sz="1300">
              <a:solidFill>
                <a:schemeClr val="dk1"/>
              </a:solidFill>
              <a:latin typeface="Calibri"/>
              <a:ea typeface="Calibri"/>
              <a:cs typeface="Calibri"/>
              <a:sym typeface="Calibri"/>
            </a:endParaRPr>
          </a:p>
        </p:txBody>
      </p:sp>
      <p:sp>
        <p:nvSpPr>
          <p:cNvPr id="333" name="Google Shape;333;p14"/>
          <p:cNvSpPr/>
          <p:nvPr/>
        </p:nvSpPr>
        <p:spPr>
          <a:xfrm>
            <a:off x="594360" y="233172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Why it matters</a:t>
            </a:r>
            <a:endParaRPr sz="1350">
              <a:solidFill>
                <a:schemeClr val="dk1"/>
              </a:solidFill>
              <a:latin typeface="Calibri"/>
              <a:ea typeface="Calibri"/>
              <a:cs typeface="Calibri"/>
              <a:sym typeface="Calibri"/>
            </a:endParaRPr>
          </a:p>
        </p:txBody>
      </p:sp>
      <p:sp>
        <p:nvSpPr>
          <p:cNvPr id="334" name="Google Shape;334;p14"/>
          <p:cNvSpPr/>
          <p:nvPr/>
        </p:nvSpPr>
        <p:spPr>
          <a:xfrm>
            <a:off x="4251960" y="233172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5 min</a:t>
            </a:r>
            <a:endParaRPr sz="1300">
              <a:solidFill>
                <a:schemeClr val="dk1"/>
              </a:solidFill>
              <a:latin typeface="Calibri"/>
              <a:ea typeface="Calibri"/>
              <a:cs typeface="Calibri"/>
              <a:sym typeface="Calibri"/>
            </a:endParaRPr>
          </a:p>
        </p:txBody>
      </p:sp>
      <p:sp>
        <p:nvSpPr>
          <p:cNvPr id="335" name="Google Shape;335;p14"/>
          <p:cNvSpPr/>
          <p:nvPr/>
        </p:nvSpPr>
        <p:spPr>
          <a:xfrm>
            <a:off x="594360" y="269748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What’s on offer</a:t>
            </a:r>
            <a:endParaRPr sz="1350">
              <a:solidFill>
                <a:schemeClr val="dk1"/>
              </a:solidFill>
              <a:latin typeface="Calibri"/>
              <a:ea typeface="Calibri"/>
              <a:cs typeface="Calibri"/>
              <a:sym typeface="Calibri"/>
            </a:endParaRPr>
          </a:p>
        </p:txBody>
      </p:sp>
      <p:sp>
        <p:nvSpPr>
          <p:cNvPr id="336" name="Google Shape;336;p14"/>
          <p:cNvSpPr/>
          <p:nvPr/>
        </p:nvSpPr>
        <p:spPr>
          <a:xfrm>
            <a:off x="4251960" y="269748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5 min</a:t>
            </a:r>
            <a:endParaRPr sz="1300">
              <a:solidFill>
                <a:schemeClr val="dk1"/>
              </a:solidFill>
              <a:latin typeface="Calibri"/>
              <a:ea typeface="Calibri"/>
              <a:cs typeface="Calibri"/>
              <a:sym typeface="Calibri"/>
            </a:endParaRPr>
          </a:p>
        </p:txBody>
      </p:sp>
      <p:sp>
        <p:nvSpPr>
          <p:cNvPr id="337" name="Google Shape;337;p14"/>
          <p:cNvSpPr/>
          <p:nvPr/>
        </p:nvSpPr>
        <p:spPr>
          <a:xfrm>
            <a:off x="594360" y="306324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This year’s dates</a:t>
            </a:r>
            <a:endParaRPr sz="1350">
              <a:solidFill>
                <a:schemeClr val="dk1"/>
              </a:solidFill>
              <a:latin typeface="Calibri"/>
              <a:ea typeface="Calibri"/>
              <a:cs typeface="Calibri"/>
              <a:sym typeface="Calibri"/>
            </a:endParaRPr>
          </a:p>
        </p:txBody>
      </p:sp>
      <p:sp>
        <p:nvSpPr>
          <p:cNvPr id="338" name="Google Shape;338;p14"/>
          <p:cNvSpPr/>
          <p:nvPr/>
        </p:nvSpPr>
        <p:spPr>
          <a:xfrm>
            <a:off x="4251960" y="306324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5 min</a:t>
            </a:r>
            <a:endParaRPr sz="1300">
              <a:solidFill>
                <a:schemeClr val="dk1"/>
              </a:solidFill>
              <a:latin typeface="Calibri"/>
              <a:ea typeface="Calibri"/>
              <a:cs typeface="Calibri"/>
              <a:sym typeface="Calibri"/>
            </a:endParaRPr>
          </a:p>
        </p:txBody>
      </p:sp>
      <p:sp>
        <p:nvSpPr>
          <p:cNvPr id="339" name="Google Shape;339;p14"/>
          <p:cNvSpPr/>
          <p:nvPr/>
        </p:nvSpPr>
        <p:spPr>
          <a:xfrm>
            <a:off x="594360" y="342900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Navigate refresher</a:t>
            </a:r>
            <a:endParaRPr sz="1350">
              <a:solidFill>
                <a:schemeClr val="dk1"/>
              </a:solidFill>
              <a:latin typeface="Calibri"/>
              <a:ea typeface="Calibri"/>
              <a:cs typeface="Calibri"/>
              <a:sym typeface="Calibri"/>
            </a:endParaRPr>
          </a:p>
        </p:txBody>
      </p:sp>
      <p:sp>
        <p:nvSpPr>
          <p:cNvPr id="340" name="Google Shape;340;p14"/>
          <p:cNvSpPr/>
          <p:nvPr/>
        </p:nvSpPr>
        <p:spPr>
          <a:xfrm>
            <a:off x="4251960" y="342900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6 min</a:t>
            </a:r>
            <a:endParaRPr sz="1300">
              <a:solidFill>
                <a:schemeClr val="dk1"/>
              </a:solidFill>
              <a:latin typeface="Calibri"/>
              <a:ea typeface="Calibri"/>
              <a:cs typeface="Calibri"/>
              <a:sym typeface="Calibri"/>
            </a:endParaRPr>
          </a:p>
        </p:txBody>
      </p:sp>
      <p:sp>
        <p:nvSpPr>
          <p:cNvPr id="341" name="Google Shape;341;p14"/>
          <p:cNvSpPr/>
          <p:nvPr/>
        </p:nvSpPr>
        <p:spPr>
          <a:xfrm>
            <a:off x="594360" y="379476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Who to go to</a:t>
            </a:r>
            <a:endParaRPr sz="1350">
              <a:solidFill>
                <a:schemeClr val="dk1"/>
              </a:solidFill>
              <a:latin typeface="Calibri"/>
              <a:ea typeface="Calibri"/>
              <a:cs typeface="Calibri"/>
              <a:sym typeface="Calibri"/>
            </a:endParaRPr>
          </a:p>
        </p:txBody>
      </p:sp>
      <p:sp>
        <p:nvSpPr>
          <p:cNvPr id="342" name="Google Shape;342;p14"/>
          <p:cNvSpPr/>
          <p:nvPr/>
        </p:nvSpPr>
        <p:spPr>
          <a:xfrm>
            <a:off x="4251960" y="379476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5 min</a:t>
            </a:r>
            <a:endParaRPr sz="1300">
              <a:solidFill>
                <a:schemeClr val="dk1"/>
              </a:solidFill>
              <a:latin typeface="Calibri"/>
              <a:ea typeface="Calibri"/>
              <a:cs typeface="Calibri"/>
              <a:sym typeface="Calibri"/>
            </a:endParaRPr>
          </a:p>
        </p:txBody>
      </p:sp>
      <p:sp>
        <p:nvSpPr>
          <p:cNvPr id="343" name="Google Shape;343;p14"/>
          <p:cNvSpPr/>
          <p:nvPr/>
        </p:nvSpPr>
        <p:spPr>
          <a:xfrm>
            <a:off x="594360" y="416052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On placement</a:t>
            </a:r>
            <a:endParaRPr sz="1350">
              <a:solidFill>
                <a:schemeClr val="dk1"/>
              </a:solidFill>
              <a:latin typeface="Calibri"/>
              <a:ea typeface="Calibri"/>
              <a:cs typeface="Calibri"/>
              <a:sym typeface="Calibri"/>
            </a:endParaRPr>
          </a:p>
        </p:txBody>
      </p:sp>
      <p:sp>
        <p:nvSpPr>
          <p:cNvPr id="344" name="Google Shape;344;p14"/>
          <p:cNvSpPr/>
          <p:nvPr/>
        </p:nvSpPr>
        <p:spPr>
          <a:xfrm>
            <a:off x="4251960" y="416052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6 min</a:t>
            </a:r>
            <a:endParaRPr sz="1300">
              <a:solidFill>
                <a:schemeClr val="dk1"/>
              </a:solidFill>
              <a:latin typeface="Calibri"/>
              <a:ea typeface="Calibri"/>
              <a:cs typeface="Calibri"/>
              <a:sym typeface="Calibri"/>
            </a:endParaRPr>
          </a:p>
        </p:txBody>
      </p:sp>
      <p:sp>
        <p:nvSpPr>
          <p:cNvPr id="345" name="Google Shape;345;p14"/>
          <p:cNvSpPr/>
          <p:nvPr/>
        </p:nvSpPr>
        <p:spPr>
          <a:xfrm>
            <a:off x="594360" y="452628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Commitment activity</a:t>
            </a:r>
            <a:endParaRPr sz="1350">
              <a:solidFill>
                <a:schemeClr val="dk1"/>
              </a:solidFill>
              <a:latin typeface="Calibri"/>
              <a:ea typeface="Calibri"/>
              <a:cs typeface="Calibri"/>
              <a:sym typeface="Calibri"/>
            </a:endParaRPr>
          </a:p>
        </p:txBody>
      </p:sp>
      <p:sp>
        <p:nvSpPr>
          <p:cNvPr id="346" name="Google Shape;346;p14"/>
          <p:cNvSpPr/>
          <p:nvPr/>
        </p:nvSpPr>
        <p:spPr>
          <a:xfrm>
            <a:off x="4251960" y="452628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6 min</a:t>
            </a:r>
            <a:endParaRPr sz="1300">
              <a:solidFill>
                <a:schemeClr val="dk1"/>
              </a:solidFill>
              <a:latin typeface="Calibri"/>
              <a:ea typeface="Calibri"/>
              <a:cs typeface="Calibri"/>
              <a:sym typeface="Calibri"/>
            </a:endParaRPr>
          </a:p>
        </p:txBody>
      </p:sp>
      <p:sp>
        <p:nvSpPr>
          <p:cNvPr id="347" name="Google Shape;347;p14"/>
          <p:cNvSpPr/>
          <p:nvPr/>
        </p:nvSpPr>
        <p:spPr>
          <a:xfrm>
            <a:off x="594360" y="489204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Close</a:t>
            </a:r>
            <a:endParaRPr sz="1350">
              <a:solidFill>
                <a:schemeClr val="dk1"/>
              </a:solidFill>
              <a:latin typeface="Calibri"/>
              <a:ea typeface="Calibri"/>
              <a:cs typeface="Calibri"/>
              <a:sym typeface="Calibri"/>
            </a:endParaRPr>
          </a:p>
        </p:txBody>
      </p:sp>
      <p:sp>
        <p:nvSpPr>
          <p:cNvPr id="348" name="Google Shape;348;p14"/>
          <p:cNvSpPr/>
          <p:nvPr/>
        </p:nvSpPr>
        <p:spPr>
          <a:xfrm>
            <a:off x="4251960" y="489204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2 min</a:t>
            </a:r>
            <a:endParaRPr sz="1300">
              <a:solidFill>
                <a:schemeClr val="dk1"/>
              </a:solidFill>
              <a:latin typeface="Calibri"/>
              <a:ea typeface="Calibri"/>
              <a:cs typeface="Calibri"/>
              <a:sym typeface="Calibri"/>
            </a:endParaRPr>
          </a:p>
        </p:txBody>
      </p:sp>
      <p:sp>
        <p:nvSpPr>
          <p:cNvPr id="349" name="Google Shape;349;p14"/>
          <p:cNvSpPr/>
          <p:nvPr/>
        </p:nvSpPr>
        <p:spPr>
          <a:xfrm>
            <a:off x="594360" y="5349240"/>
            <a:ext cx="4663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300"/>
              <a:buFont typeface="Poppins SemiBold"/>
              <a:buNone/>
            </a:pPr>
            <a:r>
              <a:rPr lang="en-US" sz="1300">
                <a:solidFill>
                  <a:srgbClr val="FFCF01"/>
                </a:solidFill>
                <a:latin typeface="Poppins SemiBold"/>
                <a:ea typeface="Poppins SemiBold"/>
                <a:cs typeface="Poppins SemiBold"/>
                <a:sym typeface="Poppins SemiBold"/>
              </a:rPr>
              <a:t>Total: approx. 49-53 minutes</a:t>
            </a:r>
            <a:endParaRPr sz="1300">
              <a:solidFill>
                <a:schemeClr val="dk1"/>
              </a:solidFill>
              <a:latin typeface="Calibri"/>
              <a:ea typeface="Calibri"/>
              <a:cs typeface="Calibri"/>
              <a:sym typeface="Calibri"/>
            </a:endParaRPr>
          </a:p>
        </p:txBody>
      </p:sp>
      <p:sp>
        <p:nvSpPr>
          <p:cNvPr id="350" name="Google Shape;350;p14"/>
          <p:cNvSpPr/>
          <p:nvPr/>
        </p:nvSpPr>
        <p:spPr>
          <a:xfrm>
            <a:off x="5715000" y="1051560"/>
            <a:ext cx="6110935" cy="1828800"/>
          </a:xfrm>
          <a:prstGeom prst="roundRect">
            <a:avLst>
              <a:gd fmla="val 4000" name="adj"/>
            </a:avLst>
          </a:prstGeom>
          <a:solidFill>
            <a:srgbClr val="3A3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14"/>
          <p:cNvSpPr/>
          <p:nvPr/>
        </p:nvSpPr>
        <p:spPr>
          <a:xfrm>
            <a:off x="5916168" y="1188720"/>
            <a:ext cx="5708599"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350"/>
              <a:buFont typeface="Poppins SemiBold"/>
              <a:buNone/>
            </a:pPr>
            <a:r>
              <a:rPr lang="en-US" sz="1350">
                <a:solidFill>
                  <a:srgbClr val="FFCF01"/>
                </a:solidFill>
                <a:latin typeface="Poppins SemiBold"/>
                <a:ea typeface="Poppins SemiBold"/>
                <a:cs typeface="Poppins SemiBold"/>
                <a:sym typeface="Poppins SemiBold"/>
              </a:rPr>
              <a:t>TEACHING THIS GROUP</a:t>
            </a:r>
            <a:endParaRPr sz="1350">
              <a:solidFill>
                <a:schemeClr val="dk1"/>
              </a:solidFill>
              <a:latin typeface="Calibri"/>
              <a:ea typeface="Calibri"/>
              <a:cs typeface="Calibri"/>
              <a:sym typeface="Calibri"/>
            </a:endParaRPr>
          </a:p>
        </p:txBody>
      </p:sp>
      <p:sp>
        <p:nvSpPr>
          <p:cNvPr id="352" name="Google Shape;352;p14"/>
          <p:cNvSpPr/>
          <p:nvPr/>
        </p:nvSpPr>
        <p:spPr>
          <a:xfrm>
            <a:off x="5916168" y="1490472"/>
            <a:ext cx="5708599" cy="1468755"/>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Level 3, Year 2 students have done one placement cycle and need a further min. 30hr placement (except A2 equivalents) — it resets annually. Keep pace brisk; the real risk is complacency, not unfamiliarity — name it directly. Push them to aim this placement at the Final Major Project or Occupational Specialism they already work toward. T Levels also carry a separate placement of around 315 hours. Confirm dates (slide 6).</a:t>
            </a:r>
            <a:endParaRPr sz="1150">
              <a:solidFill>
                <a:schemeClr val="dk1"/>
              </a:solidFill>
              <a:latin typeface="Calibri"/>
              <a:ea typeface="Calibri"/>
              <a:cs typeface="Calibri"/>
              <a:sym typeface="Calibri"/>
            </a:endParaRPr>
          </a:p>
        </p:txBody>
      </p:sp>
      <p:sp>
        <p:nvSpPr>
          <p:cNvPr id="353" name="Google Shape;353;p14"/>
          <p:cNvSpPr/>
          <p:nvPr/>
        </p:nvSpPr>
        <p:spPr>
          <a:xfrm>
            <a:off x="5715000" y="3017520"/>
            <a:ext cx="6110935" cy="1828800"/>
          </a:xfrm>
          <a:prstGeom prst="roundRect">
            <a:avLst>
              <a:gd fmla="val 4000" name="adj"/>
            </a:avLst>
          </a:prstGeom>
          <a:solidFill>
            <a:srgbClr val="3A3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4" name="Google Shape;354;p14"/>
          <p:cNvSpPr/>
          <p:nvPr/>
        </p:nvSpPr>
        <p:spPr>
          <a:xfrm>
            <a:off x="5916168" y="3154680"/>
            <a:ext cx="5708599"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350"/>
              <a:buFont typeface="Poppins SemiBold"/>
              <a:buNone/>
            </a:pPr>
            <a:r>
              <a:rPr lang="en-US" sz="1350">
                <a:solidFill>
                  <a:srgbClr val="FFCF01"/>
                </a:solidFill>
                <a:latin typeface="Poppins SemiBold"/>
                <a:ea typeface="Poppins SemiBold"/>
                <a:cs typeface="Poppins SemiBold"/>
                <a:sym typeface="Poppins SemiBold"/>
              </a:rPr>
              <a:t>PRE-FLIGHT CHECKLIST</a:t>
            </a:r>
            <a:endParaRPr sz="1350">
              <a:solidFill>
                <a:schemeClr val="dk1"/>
              </a:solidFill>
              <a:latin typeface="Calibri"/>
              <a:ea typeface="Calibri"/>
              <a:cs typeface="Calibri"/>
              <a:sym typeface="Calibri"/>
            </a:endParaRPr>
          </a:p>
        </p:txBody>
      </p:sp>
      <p:sp>
        <p:nvSpPr>
          <p:cNvPr id="355" name="Google Shape;355;p14"/>
          <p:cNvSpPr/>
          <p:nvPr/>
        </p:nvSpPr>
        <p:spPr>
          <a:xfrm>
            <a:off x="5916168" y="3493008"/>
            <a:ext cx="5708599"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 Confirm Year 2 shares L3Y1's Skills Week date/deadline before delivery (slide 6)</a:t>
            </a:r>
            <a:endParaRPr sz="1150">
              <a:solidFill>
                <a:schemeClr val="dk1"/>
              </a:solidFill>
              <a:latin typeface="Calibri"/>
              <a:ea typeface="Calibri"/>
              <a:cs typeface="Calibri"/>
              <a:sym typeface="Calibri"/>
            </a:endParaRPr>
          </a:p>
        </p:txBody>
      </p:sp>
      <p:sp>
        <p:nvSpPr>
          <p:cNvPr id="356" name="Google Shape;356;p14"/>
          <p:cNvSpPr/>
          <p:nvPr/>
        </p:nvSpPr>
        <p:spPr>
          <a:xfrm>
            <a:off x="5916168" y="3822192"/>
            <a:ext cx="5708599"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 Print or prepare commitment cards</a:t>
            </a:r>
            <a:endParaRPr sz="1150">
              <a:solidFill>
                <a:schemeClr val="dk1"/>
              </a:solidFill>
              <a:latin typeface="Calibri"/>
              <a:ea typeface="Calibri"/>
              <a:cs typeface="Calibri"/>
              <a:sym typeface="Calibri"/>
            </a:endParaRPr>
          </a:p>
        </p:txBody>
      </p:sp>
      <p:sp>
        <p:nvSpPr>
          <p:cNvPr id="357" name="Google Shape;357;p14"/>
          <p:cNvSpPr/>
          <p:nvPr/>
        </p:nvSpPr>
        <p:spPr>
          <a:xfrm>
            <a:off x="5916168" y="4151376"/>
            <a:ext cx="5708599"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 Know your campus Careers team; delete unused campus rows on slide 8</a:t>
            </a:r>
            <a:endParaRPr sz="1150">
              <a:solidFill>
                <a:schemeClr val="dk1"/>
              </a:solidFill>
              <a:latin typeface="Calibri"/>
              <a:ea typeface="Calibri"/>
              <a:cs typeface="Calibri"/>
              <a:sym typeface="Calibri"/>
            </a:endParaRPr>
          </a:p>
        </p:txBody>
      </p:sp>
      <p:sp>
        <p:nvSpPr>
          <p:cNvPr id="358" name="Google Shape;358;p14"/>
          <p:cNvSpPr/>
          <p:nvPr/>
        </p:nvSpPr>
        <p:spPr>
          <a:xfrm>
            <a:off x="5916168" y="4480560"/>
            <a:ext cx="5708599"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 Be ready to correct any "last year's hours carry over" assumptions directly</a:t>
            </a:r>
            <a:endParaRPr sz="1150">
              <a:solidFill>
                <a:schemeClr val="dk1"/>
              </a:solidFill>
              <a:latin typeface="Calibri"/>
              <a:ea typeface="Calibri"/>
              <a:cs typeface="Calibri"/>
              <a:sym typeface="Calibri"/>
            </a:endParaRPr>
          </a:p>
        </p:txBody>
      </p:sp>
      <p:sp>
        <p:nvSpPr>
          <p:cNvPr id="359" name="Google Shape;359;p14"/>
          <p:cNvSpPr/>
          <p:nvPr/>
        </p:nvSpPr>
        <p:spPr>
          <a:xfrm>
            <a:off x="5715000" y="4983480"/>
            <a:ext cx="6110935" cy="1783080"/>
          </a:xfrm>
          <a:prstGeom prst="roundRect">
            <a:avLst>
              <a:gd fmla="val 4103" name="adj"/>
            </a:avLst>
          </a:prstGeom>
          <a:solidFill>
            <a:srgbClr val="F8E7E3"/>
          </a:solidFill>
          <a:ln cap="flat" cmpd="sng" w="1905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4"/>
          <p:cNvSpPr/>
          <p:nvPr/>
        </p:nvSpPr>
        <p:spPr>
          <a:xfrm>
            <a:off x="5916168" y="5120640"/>
            <a:ext cx="5708599"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3A2E"/>
              </a:buClr>
              <a:buSzPts val="1350"/>
              <a:buFont typeface="Poppins SemiBold"/>
              <a:buNone/>
            </a:pPr>
            <a:r>
              <a:rPr lang="en-US" sz="1350">
                <a:solidFill>
                  <a:srgbClr val="B23A2E"/>
                </a:solidFill>
                <a:latin typeface="Poppins SemiBold"/>
                <a:ea typeface="Poppins SemiBold"/>
                <a:cs typeface="Poppins SemiBold"/>
                <a:sym typeface="Poppins SemiBold"/>
              </a:rPr>
              <a:t>SAFEGUARDING ALERT</a:t>
            </a:r>
            <a:endParaRPr sz="1350">
              <a:solidFill>
                <a:schemeClr val="dk1"/>
              </a:solidFill>
              <a:latin typeface="Calibri"/>
              <a:ea typeface="Calibri"/>
              <a:cs typeface="Calibri"/>
              <a:sym typeface="Calibri"/>
            </a:endParaRPr>
          </a:p>
        </p:txBody>
      </p:sp>
      <p:sp>
        <p:nvSpPr>
          <p:cNvPr id="361" name="Google Shape;361;p14"/>
          <p:cNvSpPr/>
          <p:nvPr/>
        </p:nvSpPr>
        <p:spPr>
          <a:xfrm>
            <a:off x="5916168" y="5422392"/>
            <a:ext cx="5708599" cy="144018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The "who to go to" and "on placement" slides are likely disclosure points; here, a difficult Year 1 resurfacing is a realistic trigger. Watch also for image-based harm: students asked to film, photograph or post content involving themselves or others. If a student discloses: listen calmly, don’t promise confidentiality, don’t investigate, report the same day via the ESCG safeguarding route. Module F holds the full procedure.</a:t>
            </a:r>
            <a:endParaRPr sz="11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