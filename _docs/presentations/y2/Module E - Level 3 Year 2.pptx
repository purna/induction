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48f101f26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g3f48f101f26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48f101f26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1F5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592C82">
              <a:alpha val="45098"/>
            </a:srgbClr>
          </a:solidFill>
          <a:ln cap="flat" cmpd="sng" w="12700">
            <a:solidFill>
              <a:srgbClr val="592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7589520" y="-365760"/>
            <a:ext cx="2194560" cy="2194560"/>
          </a:xfrm>
          <a:prstGeom prst="ellipse">
            <a:avLst/>
          </a:prstGeom>
          <a:solidFill>
            <a:srgbClr val="F5A623">
              <a:alpha val="30196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fmla="val 14286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MODULE 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960120"/>
            <a:ext cx="6400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Respect, Relationships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College Values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651760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8E8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C9B8E8"/>
                </a:solidFill>
                <a:latin typeface="Arial"/>
                <a:ea typeface="Arial"/>
                <a:cs typeface="Arial"/>
                <a:sym typeface="Arial"/>
              </a:rPr>
              <a:t>Group 2: Safeguarding, Wellbeing &amp; Respect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E/proud_logo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743200"/>
            <a:ext cx="384048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365760" y="914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we're revisiting today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65760" y="58521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You've seen this content before. This session is about how you apply it in Year 2.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097280"/>
            <a:ext cx="256032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533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1143000" y="129844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PROUD Values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143000" y="167335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Consistency, not just awareness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291840" y="1097280"/>
            <a:ext cx="256032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0" y="13533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3977640" y="129844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British Values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977640" y="167335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Application, not just knowledge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126480" y="1097280"/>
            <a:ext cx="256032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3533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6812280" y="129844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Equality Act 2010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812280" y="167335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Your obligations, not just rights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770632"/>
            <a:ext cx="256032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02666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1143000" y="297180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Behaviour Standards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43000" y="334670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Familiarity is not an excuse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291840" y="2770632"/>
            <a:ext cx="256032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4720" y="302666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3977640" y="297180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Zero Tolerance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977640" y="334670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Inaction is also a choice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126480" y="2770632"/>
            <a:ext cx="256032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9360" y="302666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6812280" y="297180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How to Report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812280" y="334670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Your responsibility — not just an option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65760" y="914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Let's start here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65760" y="58521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You know this place — which is exactly why this matters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1097280"/>
            <a:ext cx="8412480" cy="1188720"/>
          </a:xfrm>
          <a:prstGeom prst="roundRect">
            <a:avLst>
              <a:gd fmla="val 6154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11430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How has your thinking about respect changed since Year 1?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170992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Think for 2 minutes — then discuss with the person next to you. We'll take some responses as a group.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2423160"/>
            <a:ext cx="260604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65760" y="2423160"/>
            <a:ext cx="260604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65760" y="2423160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college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02920" y="2898648"/>
            <a:ext cx="2331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Are there habits or group dynamics that have formed that you wouldn't have accepted in Year 1?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23260" y="2423160"/>
            <a:ext cx="260604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23260" y="2423160"/>
            <a:ext cx="260604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23260" y="2423160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 your media or digital industry placement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360420" y="2898648"/>
            <a:ext cx="2331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Has familiarity with a workplace setting changed how carefully you apply professional standards?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080760" y="2423160"/>
            <a:ext cx="260604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080760" y="2423160"/>
            <a:ext cx="260604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080760" y="2423160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217920" y="2898648"/>
            <a:ext cx="2331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Has anything shifted in how your course group communicates online — for better or worse?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5760" y="914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PROUD Values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65760" y="58521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You've seen these before — the question is whether you're still living them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E/proud_logo.pn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320040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274320" y="278892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Year 2 means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setting the standard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for others.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749040" y="1078992"/>
            <a:ext cx="5120640" cy="667512"/>
          </a:xfrm>
          <a:prstGeom prst="roundRect">
            <a:avLst>
              <a:gd fmla="val 10959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877056" y="1216152"/>
            <a:ext cx="402336" cy="402336"/>
          </a:xfrm>
          <a:prstGeom prst="ellipse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877056" y="12161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389120" y="11430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Bring Positivity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389120" y="142646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Familiarity can breed indifference. Are you still actively creating a welcoming environment?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749040" y="1810512"/>
            <a:ext cx="5120640" cy="667512"/>
          </a:xfrm>
          <a:prstGeom prst="roundRect">
            <a:avLst>
              <a:gd fmla="val 10959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877056" y="1947672"/>
            <a:ext cx="402336" cy="402336"/>
          </a:xfrm>
          <a:prstGeom prst="ellipse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877056" y="19476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389120" y="187452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Show Respect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389120" y="215798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Comfort with colleagues isn't a reason to lower your standards of conduct.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749040" y="2542032"/>
            <a:ext cx="5120640" cy="667512"/>
          </a:xfrm>
          <a:prstGeom prst="roundRect">
            <a:avLst>
              <a:gd fmla="val 10959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877056" y="2679192"/>
            <a:ext cx="402336" cy="402336"/>
          </a:xfrm>
          <a:prstGeom prst="ellipse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877056" y="26791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389120" y="260604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Seek Opportunity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389120" y="288950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In Year 2, opportunity includes developing others — not just yourself.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749040" y="3273552"/>
            <a:ext cx="5120640" cy="667512"/>
          </a:xfrm>
          <a:prstGeom prst="roundRect">
            <a:avLst>
              <a:gd fmla="val 10959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877056" y="3410712"/>
            <a:ext cx="402336" cy="402336"/>
          </a:xfrm>
          <a:prstGeom prst="ellipse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877056" y="34107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389120" y="333756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Encourage Unity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389120" y="362102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Established groups can become exclusive. Are you still including people?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749040" y="4005072"/>
            <a:ext cx="5120640" cy="667512"/>
          </a:xfrm>
          <a:prstGeom prst="roundRect">
            <a:avLst>
              <a:gd fmla="val 10959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877056" y="4142232"/>
            <a:ext cx="402336" cy="402336"/>
          </a:xfrm>
          <a:prstGeom prst="ellipse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877056" y="41422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389120" y="406908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Celebrate Diversity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389120" y="435254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Differences don't disappear because you know people better. Keep noticing them.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914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British Values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" y="58521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Not just what you know — but how you apply them in Year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28600" y="1078992"/>
            <a:ext cx="411480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28600" y="1078992"/>
            <a:ext cx="4114800" cy="365760"/>
          </a:xfrm>
          <a:prstGeom prst="roundRect">
            <a:avLst>
              <a:gd fmla="val 12500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28600" y="107899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Democracy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65760" y="149961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You've had a year to see how student voice works at ESCG. How effectively do you think it operates — and what would you do differently?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663440" y="1078992"/>
            <a:ext cx="411480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663440" y="1078992"/>
            <a:ext cx="4114800" cy="365760"/>
          </a:xfrm>
          <a:prstGeom prst="roundRect">
            <a:avLst>
              <a:gd fmla="val 12500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663440" y="107899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 of Law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00600" y="149961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In Year 2, you understand the rules. The question is whether you're upholding them — and whether you're challenging it when others don't.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28600" y="2633472"/>
            <a:ext cx="411480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28600" y="2633472"/>
            <a:ext cx="4114800" cy="365760"/>
          </a:xfrm>
          <a:prstGeom prst="roundRect">
            <a:avLst>
              <a:gd fmla="val 12500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28600" y="26334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Individual Liberty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65760" y="305409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Your own choices are more visible now — to peers, staff, and placement providers. How consciously are you exercising that freedom?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663440" y="2633472"/>
            <a:ext cx="4114800" cy="1417320"/>
          </a:xfrm>
          <a:prstGeom prst="roundRect">
            <a:avLst>
              <a:gd fmla="val 5161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663440" y="2633472"/>
            <a:ext cx="4114800" cy="365760"/>
          </a:xfrm>
          <a:prstGeom prst="roundRect">
            <a:avLst>
              <a:gd fmla="val 12500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663440" y="26334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Mutual Respect &amp; Tolerance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00600" y="305409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Established friendships can make it harder to challenge poor behaviour. Year 2 is when you find out whether your values hold under social pressure.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274320" y="4407408"/>
            <a:ext cx="8595360" cy="594360"/>
          </a:xfrm>
          <a:prstGeom prst="roundRect">
            <a:avLst>
              <a:gd fmla="val 10769" name="adj"/>
            </a:avLst>
          </a:prstGeom>
          <a:solidFill>
            <a:srgbClr val="F5A623">
              <a:alpha val="9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💬  Discuss: Where have you seen one of these values tested or broken down in Year 1? What made it difficult to uphold?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65760" y="914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Equality Act 2010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65760" y="58521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You know the law — now apply it to more complex situations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28600" y="1078992"/>
            <a:ext cx="3474720" cy="3017520"/>
          </a:xfrm>
          <a:prstGeom prst="roundRect">
            <a:avLst>
              <a:gd fmla="val 2424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228600" y="1078992"/>
            <a:ext cx="3474720" cy="384048"/>
          </a:xfrm>
          <a:prstGeom prst="roundRect">
            <a:avLst>
              <a:gd fmla="val 11905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228600" y="1078992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 Protected Characteristics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1536192"/>
            <a:ext cx="30175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Disability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Gender reassignment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Marriage &amp; civil partnership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Pregnancy &amp; maternity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Religion or belief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Sexual orientation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931920" y="1078992"/>
            <a:ext cx="498348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096512" y="117043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Discrimination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096512" y="14630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Treating someone unfairly because of a protected characteristic — including through inaction or allowing it to happen.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931920" y="1993392"/>
            <a:ext cx="498348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096512" y="208483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Harassment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096512" y="23774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Unwanted behaviour that violates dignity or creates a hostile environment — including between people who know each other well.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931920" y="2907792"/>
            <a:ext cx="498348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096512" y="299923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Victimisation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096512" y="32918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Treating someone unfairly because they raised a concern — or because they didn't join in with behaviour that targeted someone else.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931920" y="3822192"/>
            <a:ext cx="4983480" cy="384048"/>
          </a:xfrm>
          <a:prstGeom prst="roundRect">
            <a:avLst>
              <a:gd fmla="val 14286" name="adj"/>
            </a:avLst>
          </a:prstGeom>
          <a:solidFill>
            <a:srgbClr val="F5A623">
              <a:alpha val="8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069080" y="3822192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Knowing the law and applying it are two different things.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74320" y="4407408"/>
            <a:ext cx="8595360" cy="594360"/>
          </a:xfrm>
          <a:prstGeom prst="roundRect">
            <a:avLst>
              <a:gd fmla="val 10769" name="adj"/>
            </a:avLst>
          </a:prstGeom>
          <a:solidFill>
            <a:srgbClr val="F5A623">
              <a:alpha val="9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💬  Scenario: A student makes the same offensive joke repeatedly in your group. Everyone laughs along. Is anyone else liable here — and why?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65760" y="914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Behaviour Standards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65760" y="58521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Familiarity is where standards slip — and where you're most accountable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56025" y="1097275"/>
            <a:ext cx="2697600" cy="3217800"/>
          </a:xfrm>
          <a:prstGeom prst="roundRect">
            <a:avLst>
              <a:gd fmla="val 2712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256032" y="1097280"/>
            <a:ext cx="269748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256032" y="1097280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College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20624" y="1572768"/>
            <a:ext cx="2368296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Knowing someone well doesn't lower the standard — it raises your responsibility to them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Group dynamics that formed in Year 1 may need to be challenged in Year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Your conduct is visible to teachers assessing your readiness for progression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168400" y="1097275"/>
            <a:ext cx="2697600" cy="3217800"/>
          </a:xfrm>
          <a:prstGeom prst="roundRect">
            <a:avLst>
              <a:gd fmla="val 2712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168396" y="1097280"/>
            <a:ext cx="269748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168396" y="1097280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 Industry Placement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332988" y="1572768"/>
            <a:ext cx="2368296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Returning to a familiar placement is where professional standards are most at risk — particularly in a media production company, digital agency, or creative studio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Familiarity with staff is not permission to relax your conduct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Your Year 2 behaviour shapes the reference your placement provider gives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080750" y="1097275"/>
            <a:ext cx="2697600" cy="3196200"/>
          </a:xfrm>
          <a:prstGeom prst="roundRect">
            <a:avLst>
              <a:gd fmla="val 2712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080760" y="1097280"/>
            <a:ext cx="269748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080760" y="1097280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245352" y="1572768"/>
            <a:ext cx="2368296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Your digital footprint is now more developed — and more visible to future employers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Content from Year 1 may still be findable — now is the time to audit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Online group dynamics within the year group should meet the same standards as in person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274320" y="4407408"/>
            <a:ext cx="8595360" cy="594360"/>
          </a:xfrm>
          <a:prstGeom prst="roundRect">
            <a:avLst>
              <a:gd fmla="val 10769" name="adj"/>
            </a:avLst>
          </a:prstGeom>
          <a:solidFill>
            <a:srgbClr val="F5A623">
              <a:alpha val="9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💬  Spot it: Your teacher will share three scenarios rooted in Year 2 dynamics. What's gone wrong and what should happen?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F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365760" y="9144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TEACHER SLIDE — Spot It Scenarios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5760" y="585216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Read each scenario aloud. Ask students: what's gone wrong, and what should happen?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B0A0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256032" y="11430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256032" y="1143000"/>
            <a:ext cx="260604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256032" y="1143000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College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20624" y="1627632"/>
            <a:ext cx="2276856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 Year 2 group has developed an in-joke that mocks the way one student speaks. It started in Year 1 and has become so normalised that the student laughs along — but a new teacher notices they seem withdrawn.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20624" y="4041648"/>
            <a:ext cx="2276856" cy="320040"/>
          </a:xfrm>
          <a:prstGeom prst="roundRect">
            <a:avLst>
              <a:gd fmla="val 14286" name="adj"/>
            </a:avLst>
          </a:prstGeom>
          <a:solidFill>
            <a:srgbClr val="F5A623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20624" y="4041648"/>
            <a:ext cx="2276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What's wrong? Who is responsible — and what should happen?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076956" y="11430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076956" y="1143000"/>
            <a:ext cx="260604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076956" y="1143000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 Placement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241548" y="1627632"/>
            <a:ext cx="2276856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 student returning to the same media production company in Year 2 has become close with the team. They start sharing client footage and project details in the college group chat — thinking it’s fine because ‘we’re nearly qualified and everyone does it.’ What’s wrong? What are the consequences if this continues?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241548" y="4041648"/>
            <a:ext cx="2276856" cy="320040"/>
          </a:xfrm>
          <a:prstGeom prst="roundRect">
            <a:avLst>
              <a:gd fmla="val 14286" name="adj"/>
            </a:avLst>
          </a:prstGeom>
          <a:solidFill>
            <a:srgbClr val="F5A623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241548" y="4041648"/>
            <a:ext cx="2276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What's the risk here? What should the student do?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897880" y="114300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897880" y="1143000"/>
            <a:ext cx="2606040" cy="402336"/>
          </a:xfrm>
          <a:prstGeom prst="roundRect">
            <a:avLst>
              <a:gd fmla="val 11364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897880" y="1143000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062472" y="1627632"/>
            <a:ext cx="2276856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 Year 2 group chat has gradually shifted from sharing notes to posting comments about other students' work and appearance. Nobody challenges it because 'everyone does it' and 'it's just between us.'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062472" y="4041648"/>
            <a:ext cx="2276856" cy="320040"/>
          </a:xfrm>
          <a:prstGeom prst="roundRect">
            <a:avLst>
              <a:gd fmla="val 14286" name="adj"/>
            </a:avLst>
          </a:prstGeom>
          <a:solidFill>
            <a:srgbClr val="F5A623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062472" y="4041648"/>
            <a:ext cx="2276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What's wrong? What should someone in that group do?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1F5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7818120" y="18288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818120" y="18288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Zero Tolerance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8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9B8E8"/>
                </a:solidFill>
                <a:latin typeface="Arial"/>
                <a:ea typeface="Arial"/>
                <a:cs typeface="Arial"/>
                <a:sym typeface="Arial"/>
              </a:rPr>
              <a:t>This hasn't changed. And in Year 2, allowing it to happen makes you part of it.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57200" y="1389888"/>
            <a:ext cx="1920240" cy="1691640"/>
          </a:xfrm>
          <a:prstGeom prst="roundRect">
            <a:avLst>
              <a:gd fmla="val 4324" name="adj"/>
            </a:avLst>
          </a:prstGeom>
          <a:solidFill>
            <a:srgbClr val="592C82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30352" y="1481328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Harassment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548640" y="1883664"/>
            <a:ext cx="17373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Unwanted behaviour targeting identity, dignity, or wellbeing — including behaviour that has 'always been like this'.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2715768" y="1389888"/>
            <a:ext cx="1920240" cy="1691640"/>
          </a:xfrm>
          <a:prstGeom prst="roundRect">
            <a:avLst>
              <a:gd fmla="val 4324" name="adj"/>
            </a:avLst>
          </a:prstGeom>
          <a:solidFill>
            <a:srgbClr val="592C82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2788920" y="1481328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Discrimination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2807208" y="1883664"/>
            <a:ext cx="17373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Treating someone worse because of who they are — including through group dynamics that single people out.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974336" y="1389888"/>
            <a:ext cx="1920240" cy="1691640"/>
          </a:xfrm>
          <a:prstGeom prst="roundRect">
            <a:avLst>
              <a:gd fmla="val 4324" name="adj"/>
            </a:avLst>
          </a:prstGeom>
          <a:solidFill>
            <a:srgbClr val="592C82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047488" y="1481328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Bullying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5065776" y="1883664"/>
            <a:ext cx="17373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Repeated targeting — including normalised 'jokes' that only one person doesn't find funny.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7232904" y="1389888"/>
            <a:ext cx="1920240" cy="1691640"/>
          </a:xfrm>
          <a:prstGeom prst="roundRect">
            <a:avLst>
              <a:gd fmla="val 4324" name="adj"/>
            </a:avLst>
          </a:prstGeom>
          <a:solidFill>
            <a:srgbClr val="592C82"/>
          </a:solidFill>
          <a:ln>
            <a:noFill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306056" y="1481328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Abuse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324344" y="1883664"/>
            <a:ext cx="17373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Physical, verbal, or emotional — including online behaviour within closed groups.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57200" y="3218688"/>
            <a:ext cx="8229600" cy="594360"/>
          </a:xfrm>
          <a:prstGeom prst="roundRect">
            <a:avLst>
              <a:gd fmla="val 12308" name="adj"/>
            </a:avLst>
          </a:prstGeom>
          <a:solidFill>
            <a:srgbClr val="F5A623">
              <a:alpha val="8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94360" y="3218688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Formal disciplinary procedures apply — including for students who witnessed behaviour and did nothing.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365760" y="914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to Report a Concern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65760" y="58521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In Year 2, reporting isn't just an option — it's part of your responsibility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274320" y="1097280"/>
            <a:ext cx="2651760" cy="3749040"/>
          </a:xfrm>
          <a:prstGeom prst="roundRect">
            <a:avLst>
              <a:gd fmla="val 2759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1252728" y="1234440"/>
            <a:ext cx="694944" cy="694944"/>
          </a:xfrm>
          <a:prstGeom prst="ellipse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312" y="133502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/>
          <p:nvPr/>
        </p:nvSpPr>
        <p:spPr>
          <a:xfrm>
            <a:off x="411480" y="202996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Tell Your Teacher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11480" y="2487168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Still the fastest route. Your teacher can act immediately, make a referral, or escalate. Don't assume someone else has already reported 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11480" y="4370832"/>
            <a:ext cx="2377440" cy="347472"/>
          </a:xfrm>
          <a:prstGeom prst="roundRect">
            <a:avLst>
              <a:gd fmla="val 13158" name="adj"/>
            </a:avLst>
          </a:prstGeom>
          <a:solidFill>
            <a:srgbClr val="F5A623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11480" y="437083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Available every session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3154680" y="1097280"/>
            <a:ext cx="2651760" cy="3749040"/>
          </a:xfrm>
          <a:prstGeom prst="roundRect">
            <a:avLst>
              <a:gd fmla="val 2759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4133088" y="1234440"/>
            <a:ext cx="694944" cy="694944"/>
          </a:xfrm>
          <a:prstGeom prst="ellipse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3672" y="133502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2"/>
          <p:cNvSpPr/>
          <p:nvPr/>
        </p:nvSpPr>
        <p:spPr>
          <a:xfrm>
            <a:off x="3291840" y="202996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Formal Reporting System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3291840" y="2487168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ESCG has a formal process for reporting concerns about discrimination, harassment, bullying, or abuse. The formal route creates a documented record that protects everyone.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291840" y="4370832"/>
            <a:ext cx="2377440" cy="347472"/>
          </a:xfrm>
          <a:prstGeom prst="roundRect">
            <a:avLst>
              <a:gd fmla="val 13158" name="adj"/>
            </a:avLst>
          </a:prstGeom>
          <a:solidFill>
            <a:srgbClr val="F5A623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3291840" y="437083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Creates a documented record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035040" y="1097280"/>
            <a:ext cx="2651760" cy="3749040"/>
          </a:xfrm>
          <a:prstGeom prst="roundRect">
            <a:avLst>
              <a:gd fmla="val 2759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013448" y="1234440"/>
            <a:ext cx="694944" cy="694944"/>
          </a:xfrm>
          <a:prstGeom prst="ellipse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1" name="Google Shape;27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4032" y="133502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2"/>
          <p:cNvSpPr/>
          <p:nvPr/>
        </p:nvSpPr>
        <p:spPr>
          <a:xfrm>
            <a:off x="6172200" y="202996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Anonymous Reporting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172200" y="2487168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You can report without giving your name — and it will still be investigated. In Year 2, social pressure to stay quiet is real. Anonymous reporting exists precisely for that.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172200" y="4370832"/>
            <a:ext cx="2377440" cy="347472"/>
          </a:xfrm>
          <a:prstGeom prst="roundRect">
            <a:avLst>
              <a:gd fmla="val 13158" name="adj"/>
            </a:avLst>
          </a:prstGeom>
          <a:solidFill>
            <a:srgbClr val="F5A623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172200" y="437083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Your name stays private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365760" y="914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Commitment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365760" y="58521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One thing you'll do — and one thing you'll challenge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7818120" y="22860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7818120" y="2286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C7A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C5C7A"/>
                </a:solidFill>
                <a:latin typeface="Arial"/>
                <a:ea typeface="Arial"/>
                <a:cs typeface="Arial"/>
                <a:sym typeface="Arial"/>
              </a:rPr>
              <a:t>Pick one from each column. Your tutor will keep this card and may check in with you.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274320" y="1536192"/>
            <a:ext cx="4160520" cy="3383280"/>
          </a:xfrm>
          <a:prstGeom prst="roundRect">
            <a:avLst>
              <a:gd fmla="val 2162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274320" y="1536192"/>
            <a:ext cx="4160520" cy="438912"/>
          </a:xfrm>
          <a:prstGeom prst="roundRect">
            <a:avLst>
              <a:gd fmla="val 10417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274320" y="1536192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 will...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75488" y="2057400"/>
            <a:ext cx="375818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1. Actively challenge a group dynamic I've been letting slide since Year 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2. Review my online presence and make sure it reflects the professional I'm becoming.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3. Find out where to report a concern and use that route if I need 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4. If I'm worried about myself or someone else, I'll speak to my tutor or the safeguarding team.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754880" y="1536192"/>
            <a:ext cx="4160520" cy="3383280"/>
          </a:xfrm>
          <a:prstGeom prst="roundRect">
            <a:avLst>
              <a:gd fmla="val 2162" name="adj"/>
            </a:avLst>
          </a:prstGeom>
          <a:solidFill>
            <a:srgbClr val="EDE7F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754880" y="1536192"/>
            <a:ext cx="4160520" cy="438912"/>
          </a:xfrm>
          <a:prstGeom prst="roundRect">
            <a:avLst>
              <a:gd fmla="val 10417" name="adj"/>
            </a:avLst>
          </a:prstGeom>
          <a:solidFill>
            <a:srgbClr val="592C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754880" y="1536192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 will challenge...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4956048" y="2057400"/>
            <a:ext cx="375818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A. A joke or comment that's become normalised in my group but that I know isn't acceptable.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B. A situation where someone is being excluded or treated badly — even if everyone else ignores it.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C. Behaviour in a group chat or online space that wouldn't be acceptable face-to-face.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D. The assumption that because we've been together a year, anything goes.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1F5C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/>
          <p:nvPr/>
        </p:nvSpPr>
        <p:spPr>
          <a:xfrm>
            <a:off x="6583680" y="2103120"/>
            <a:ext cx="3840480" cy="3840480"/>
          </a:xfrm>
          <a:prstGeom prst="ellipse">
            <a:avLst/>
          </a:prstGeom>
          <a:solidFill>
            <a:srgbClr val="592C82">
              <a:alpha val="45098"/>
            </a:srgbClr>
          </a:solidFill>
          <a:ln cap="flat" cmpd="sng" w="12700">
            <a:solidFill>
              <a:srgbClr val="592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7818120" y="18288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7818120" y="18288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Year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57200" y="3657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Module E — complete.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57200" y="1188720"/>
            <a:ext cx="6217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C8F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PROUD Values — consistency and accountability in Year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C8F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British Values — knowing them isn't enough; applying them 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C8F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Equality Act 2010 — your obligations, not just your rights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C8F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Behaviour standards — familiarity is not an excuse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C8F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Zero tolerance — inaction makes you part of 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C8F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D8C8F0"/>
                </a:solidFill>
                <a:latin typeface="Arial"/>
                <a:ea typeface="Arial"/>
                <a:cs typeface="Arial"/>
                <a:sym typeface="Arial"/>
              </a:rPr>
              <a:t>How to report — your responsibility, not just an option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7200" y="3977640"/>
            <a:ext cx="5943600" cy="594360"/>
          </a:xfrm>
          <a:prstGeom prst="roundRect">
            <a:avLst>
              <a:gd fmla="val 12308" name="adj"/>
            </a:avLst>
          </a:prstGeom>
          <a:solidFill>
            <a:srgbClr val="F5A623">
              <a:alpha val="9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594360" y="3977640"/>
            <a:ext cx="5669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Next: Module F — Safeguarding: Staying Safe at College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C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3D1F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365760" y="109728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Teacher Appendix — Module E (L3 Year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65750" y="868668"/>
            <a:ext cx="84126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Variant: L3 Year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365750" y="1336311"/>
            <a:ext cx="8412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Core lens is familiarity-as-risk. Students know the environment and each other — the risk is complacency, normalised behaviour, and social pressure to overlook things. The register is peer-level and direct, not introductory.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5500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CC5500"/>
                </a:solidFill>
                <a:latin typeface="Arial"/>
                <a:ea typeface="Arial"/>
                <a:cs typeface="Arial"/>
                <a:sym typeface="Arial"/>
              </a:rPr>
              <a:t>Level 3 Year 2 Digital and Media students often have well-established industry placement relationships that need challenge rather than reinforcement — particularly around client confidentiality, copyright, and data handling. Students completing Final Major Projects or Employer Set Projects carry real intellectual property responsibilities they may not have fully understood. T Level students completing their second year of placement may have developed complacency about professional conduct because the environment has become familiar.</a:t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365750" y="2207828"/>
            <a:ext cx="84126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Slide 3 — activator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365750" y="2675471"/>
            <a:ext cx="8412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The 'how has your thinking changed' framing is deliberate. It signals that this isn't a repeat of Year 1 content — it's a more demanding application of it. Allow 3–4 minutes. Be ready to probe surface-level responses.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5500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CC5500"/>
                </a:solidFill>
                <a:latin typeface="Arial"/>
                <a:ea typeface="Arial"/>
                <a:cs typeface="Arial"/>
                <a:sym typeface="Arial"/>
              </a:rPr>
              <a:t>Year 2 burnout and creative block can appear as disengagement; students producing personally significant FMP or portfolio work may surface distress through the content itself. Industry placement students may surface employer conduct concerns — escalate these promptly via the placement welfare route.</a:t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365750" y="3546987"/>
            <a:ext cx="84126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Slide 5 — British Values task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365750" y="4014630"/>
            <a:ext cx="8412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The task asks where values have been tested or broken down. This is more challenging than Year 1 — students are being asked to reflect critically on their own group. Normalise honest responses.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F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1F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Teacher Appendix — Module E (L3 Year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365750" y="957233"/>
            <a:ext cx="84126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Slide 6 — Equality Act scenario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365750" y="1304446"/>
            <a:ext cx="84126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The repeated offensive joke scenario directly addresses collective liability. The key question is not just 'is this wrong' but 'who is responsible when a group normalises it'. Push students past the obvious answer.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365750" y="1951523"/>
            <a:ext cx="84126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Slide 7b — Spot it scenarios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65750" y="2298736"/>
            <a:ext cx="84126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All three scenarios are rooted in Year 2 dynamics: normalised group behaviour, familiar placement, closed online group. The prompts ask 'who is responsible' and 'what should someone do' — not just 'what's wrong'.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5500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CC5500"/>
                </a:solidFill>
                <a:latin typeface="Arial"/>
                <a:ea typeface="Arial"/>
                <a:cs typeface="Arial"/>
                <a:sym typeface="Arial"/>
              </a:rPr>
              <a:t>In these teacher notes, "placement" refers to industry placement, production placement, Employer Set Project, live client brief, or Final Major Project.</a:t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65750" y="2945814"/>
            <a:ext cx="84126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Slide 8 — zero tolerance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365750" y="3293027"/>
            <a:ext cx="84126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The key addition for Year 2: 'allowing it to happen makes you part of it.' This is not an exaggeration — disciplinary procedures can include bystanders. Deliver this clearly and without softening.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365750" y="3940104"/>
            <a:ext cx="84126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2C8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92C82"/>
                </a:solidFill>
                <a:latin typeface="Arial"/>
                <a:ea typeface="Arial"/>
                <a:cs typeface="Arial"/>
                <a:sym typeface="Arial"/>
              </a:rPr>
              <a:t>Slide 10 — commitment card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365750" y="4287317"/>
            <a:ext cx="84126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The Year 2 commitments are more demanding — they ask students to actively challenge, not just be aware. Option 4 is the safeguarding signal; keep all cards and follow up individually if selected.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