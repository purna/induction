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 minute. MODE: Teacher input.</a:t>
            </a:r>
            <a:br>
              <a:rPr lang="en-US"/>
            </a:br>
            <a:br>
              <a:rPr lang="en-US"/>
            </a:br>
            <a:r>
              <a:rPr lang="en-US"/>
              <a:t>PURPOSE: Frame the session before anyone has a chance to decide it's an assembly. The register you set in the first sixty seconds decides whether this session works.</a:t>
            </a:r>
            <a:br>
              <a:rPr lang="en-US"/>
            </a:br>
            <a:br>
              <a:rPr lang="en-US"/>
            </a:br>
            <a:r>
              <a:rPr lang="en-US"/>
              <a:t>HOW TO RUN: Have this slide up as students arrive. Open plainly and without ceremony. SAY SOMETHING LIKE: "Today isn't a lecture about eating vegetables. It's ninety minutes on the things that actually decide whether this year goes well — sleep, stress, money, and knowing where the doors are when something's getting in the way. Some of it you'll already know. Some of it you'll be glad you heard now rather than in January."</a:t>
            </a:r>
            <a:br>
              <a:rPr lang="en-US"/>
            </a:br>
            <a:br>
              <a:rPr lang="en-US"/>
            </a:br>
            <a:r>
              <a:rPr lang="en-US"/>
              <a:t>WHAT TO WATCH FOR: Eye-rolling is normal at the top of a wellbeing session — students have sat through versions of this at school that talked down to them. Don't fight it; the session earns its credibility through honesty, not through you promising it will.</a:t>
            </a:r>
            <a:br>
              <a:rPr lang="en-US"/>
            </a:br>
            <a:br>
              <a:rPr lang="en-US"/>
            </a:br>
            <a:r>
              <a:rPr lang="en-US"/>
              <a:t>SAFEGUARDING: This module is a disclosure surface from the first minute. Before you deliver it, re-read the safeguarding quadrant on slide 12 and know your same-day reporting route.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 name="Google Shape;2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4 minutes. MODE: Session map.</a:t>
            </a:r>
            <a:br>
              <a:rPr lang="en-US"/>
            </a:br>
            <a:br>
              <a:rPr lang="en-US"/>
            </a:br>
            <a:r>
              <a:rPr lang="en-US"/>
              <a:t>PURPOSE: Give the session a visible spine and make one promise explicit: this is signposting and honesty, not therapy and not preaching.</a:t>
            </a:r>
            <a:br>
              <a:rPr lang="en-US"/>
            </a:br>
            <a:br>
              <a:rPr lang="en-US"/>
            </a:br>
            <a:r>
              <a:rPr lang="en-US"/>
              <a:t>HOW TO RUN: Walk the eight rows briskly — twenty seconds each at most. Land on the italic line at the bottom and read it aloud; it is the scope-honesty contract for the whole session. SAY SOMETHING LIKE: "I'm not going to pretend ninety minutes fixes anything. What it does is make sure that in week seven, when something bites, you already know what works and who to go to — so you're not working it out from scratch on your worst day."</a:t>
            </a:r>
            <a:br>
              <a:rPr lang="en-US"/>
            </a:br>
            <a:br>
              <a:rPr lang="en-US"/>
            </a:br>
            <a:r>
              <a:rPr lang="en-US"/>
              <a:t>WHAT TO WATCH FOR: Don't apologise for the topic ("I know you've heard all this before...") — it undermines the session before it starts. Equally, don't oversell it. Matter-of-fact is the register.</a:t>
            </a:r>
            <a:br>
              <a:rPr lang="en-US"/>
            </a:br>
            <a:br>
              <a:rPr lang="en-US"/>
            </a:br>
            <a:r>
              <a:rPr lang="en-US"/>
              <a:t>SAFEGUARDING: None specific to this slide, but note the mandatory requirement covered on slide 9: students must leave with support contacts in a form they can keep. Check now that you have the printed cards or QR code ready (pre-flight checklist, slide 12).</a:t>
            </a:r>
            <a:endParaRPr/>
          </a:p>
        </p:txBody>
      </p:sp>
      <p:sp>
        <p:nvSpPr>
          <p:cNvPr id="24" name="Google Shape;2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 6 in pairs/threes, 4 taking the temperature of the room. MODE: Discussion.</a:t>
            </a:r>
            <a:br>
              <a:rPr lang="en-US"/>
            </a:br>
            <a:br>
              <a:rPr lang="en-US"/>
            </a:br>
            <a:r>
              <a:rPr lang="en-US"/>
              <a:t>PURPOSE: Settle the group, surface the real state of play three weeks in, and model the session's core move: saying how things actually are, out loud, without consequence.</a:t>
            </a:r>
            <a:br>
              <a:rPr lang="en-US"/>
            </a:br>
            <a:br>
              <a:rPr lang="en-US"/>
            </a:br>
            <a:r>
              <a:rPr lang="en-US"/>
              <a:t>HOW TO RUN: Set the pairs, give the three prompts, and step back. Circulate and listen rather than lead. When you pull it back, ask for volunteered answers to the middle card first — "heavier this year" — because normalising the Year 2 load is the point of the next slide. SAY SOMETHING LIKE: "Hands up if Year 2 already feels heavier than Year 1 did. Look around — that's most of the room, and it's supposed to. Hold that thought."</a:t>
            </a:r>
            <a:br>
              <a:rPr lang="en-US"/>
            </a:br>
            <a:br>
              <a:rPr lang="en-US"/>
            </a:br>
            <a:r>
              <a:rPr lang="en-US"/>
              <a:t>WHAT TO WATCH FOR: The student who deflects everything with a joke, and the student who says nothing at all. Neither needs calling out — but both are worth a quiet word during the activity on slide 10. Also watch for genuinely heavy answers surfacing early (home, money, health); acknowledge calmly and park them for the support beat: "That's exactly the kind of thing today is for — we'll get to who can help with that in about half an hour."</a:t>
            </a:r>
            <a:br>
              <a:rPr lang="en-US"/>
            </a:br>
            <a:br>
              <a:rPr lang="en-US"/>
            </a:br>
            <a:r>
              <a:rPr lang="en-US"/>
              <a:t>SAFEGUARDING: If anything disclosed suggests risk or harm, follow the slide 12 protocol — calm acknowledgement in the moment, same-day report. Do not probe in front of peers.</a:t>
            </a:r>
            <a:endParaRPr/>
          </a:p>
        </p:txBody>
      </p:sp>
      <p:sp>
        <p:nvSpPr>
          <p:cNvPr id="66" name="Google Shape;6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MODE: Teacher input, with one discussion pause.</a:t>
            </a:r>
            <a:br>
              <a:rPr lang="en-US"/>
            </a:br>
            <a:br>
              <a:rPr lang="en-US"/>
            </a:br>
            <a:r>
              <a:rPr lang="en-US"/>
              <a:t>PURPOSE: Establish the module's foundation — mental health as a spectrum everyone sits on and moves along, not a diagnosis some people have. Kill the weakness framing early and explicitly.</a:t>
            </a:r>
            <a:br>
              <a:rPr lang="en-US"/>
            </a:br>
            <a:br>
              <a:rPr lang="en-US"/>
            </a:br>
            <a:r>
              <a:rPr lang="en-US"/>
              <a:t>HOW TO RUN: Walk the spectrum left to right, then make the key move: point out that everyone in the room, including you, is somewhere on it and has been somewhere else on it. The factors row is the practical heart — pause on it and ask the room which factor they think moves the line most for students their age (sleep and money usually win, which sets up the next three slides). SAY SOMETHING LIKE: "Notice what's on that list. Not one of those six things is a character flaw. They're conditions — and most of them can be worked on, especially if you say something early."</a:t>
            </a:r>
            <a:br>
              <a:rPr lang="en-US"/>
            </a:br>
            <a:br>
              <a:rPr lang="en-US"/>
            </a:br>
            <a:r>
              <a:rPr lang="en-US"/>
              <a:t>WHAT TO WATCH FOR: Do not medicalise. This slide names no conditions and diagnoses nobody — if students raise specific conditions, acknowledge respectfully and signpost to slide 8's disclosure route. Avoid "toxic positivity" corrections if a student is cynical; cynicism about wellbeing talk is usually earned, and honesty disarms it better than enthusiasm.</a:t>
            </a:r>
            <a:br>
              <a:rPr lang="en-US"/>
            </a:br>
            <a:br>
              <a:rPr lang="en-US"/>
            </a:br>
            <a:r>
              <a:rPr lang="en-US"/>
              <a:t>SAFEGUARDING: A student placing themselves publicly at the far right of the spectrum, even jokingly, is worth a quiet follow-up the same day.</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 the longest beat. MODE: Teacher input with discussion woven in.</a:t>
            </a:r>
            <a:br>
              <a:rPr lang="en-US"/>
            </a:br>
            <a:br>
              <a:rPr lang="en-US"/>
            </a:br>
            <a:r>
              <a:rPr lang="en-US"/>
              <a:t>PURPOSE: Two jobs. First, make stress recognisable — students routinely fail to connect irritability, avoidance and sleep change to stress until someone lists them. Second, replace vague "self-care" advice with the four things the evidence base consistently supports: movement, connection, sleep, talking.</a:t>
            </a:r>
            <a:br>
              <a:rPr lang="en-US"/>
            </a:br>
            <a:br>
              <a:rPr lang="en-US"/>
            </a:br>
            <a:r>
              <a:rPr lang="en-US"/>
              <a:t>HOW TO RUN: Start with the left panel and ask the room to spot themselves — "Which of those four have you done in the last fortnight?" gets rueful laughter and buy-in. Then reframe: stress itself isn't the enemy; unswitched-off stress is. Walk the four cards on the right without preaching — the register is mechanic, not motivational speaker. SAY SOMETHING LIKE: "I'm not telling you to join a gym. I'm telling you that a twenty-minute walk, a proper conversation, a night's sleep and saying the thing out loud are the four highest-return moves available to you — and all four are free."</a:t>
            </a:r>
            <a:br>
              <a:rPr lang="en-US"/>
            </a:br>
            <a:br>
              <a:rPr lang="en-US"/>
            </a:br>
            <a:r>
              <a:rPr lang="en-US"/>
              <a:t>WHAT TO WATCH FOR: The trap on this slide is moralising. Every one of the four is framed as available, not as a duty. Students working evening jobs or caring for family will hear "you should exercise more" as a reproach — pre-empt it by acknowledging that fitting these in is genuinely hard for some lives, which is exactly what slide 8's support routes are for.</a:t>
            </a:r>
            <a:br>
              <a:rPr lang="en-US"/>
            </a:br>
            <a:br>
              <a:rPr lang="en-US"/>
            </a:br>
            <a:r>
              <a:rPr lang="en-US"/>
              <a:t>SAFEGUARDING: Descriptions of stress that tip into hopelessness, self-harm references or panic symptoms go beyond this slide's scope — quiet same-day referral, per slide 12.</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a:t>
            </a:r>
            <a:br>
              <a:rPr lang="en-US"/>
            </a:br>
            <a:br>
              <a:rPr lang="en-US"/>
            </a:br>
            <a:r>
              <a:rPr lang="en-US"/>
              <a:t>PURPOSE: Reframe sleep from a lifestyle nag into a study tool with a mechanism. The persuasive move is the science, not the instruction — memory consolidation during sleep is concrete, surprising to most students, and directly linked to the grades they care about.</a:t>
            </a:r>
            <a:br>
              <a:rPr lang="en-US"/>
            </a:br>
            <a:br>
              <a:rPr lang="en-US"/>
            </a:br>
            <a:r>
              <a:rPr lang="en-US"/>
              <a:t>HOW TO RUN: Lead with the cracked-jug line — it lands. Then the three control moves, presented as engineering rather than virtue: the wake-time anchor is the single highest-leverage change and costs nothing. Explain the vocabulary chip explicitly; 'sleep hygiene' is a term students will meet and half-understand, so give it to them plainly (closing the vocabulary gap matters more here than anywhere else in the deck). SAY SOMETHING LIKE: "You can revise until two in the morning, but the saving-to-disk happens while you're asleep. Pull the plug before the save finishes and the work's gone. That's not a metaphor I made up to scare you — that's what the memory research shows."</a:t>
            </a:r>
            <a:br>
              <a:rPr lang="en-US"/>
            </a:br>
            <a:br>
              <a:rPr lang="en-US"/>
            </a:br>
            <a:r>
              <a:rPr lang="en-US"/>
              <a:t>WHAT TO WATCH FOR: The mustard panel is the slide's conscience — read it aloud, every time. Some students in this room share bedrooms, work until ten, or are up in the night caring for someone. If the slide lands as "try harder at sleeping," it has failed. The honest version is: control what's controllable, and tell us about what isn't.</a:t>
            </a:r>
            <a:br>
              <a:rPr lang="en-US"/>
            </a:br>
            <a:br>
              <a:rPr lang="en-US"/>
            </a:br>
            <a:r>
              <a:rPr lang="en-US"/>
              <a:t>SAFEGUARDING: A student describing chronic sleeplessness tied to home circumstances may be disclosing more than a habit — listen for it, and follow up quietly.</a:t>
            </a:r>
            <a:endParaRPr/>
          </a:p>
        </p:txBody>
      </p:sp>
      <p:sp>
        <p:nvSpPr>
          <p:cNvPr id="159" name="Google Shape;1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MODE: Teacher input. Short beat, heavy consequence.</a:t>
            </a:r>
            <a:br>
              <a:rPr lang="en-US"/>
            </a:br>
            <a:br>
              <a:rPr lang="en-US"/>
            </a:br>
            <a:r>
              <a:rPr lang="en-US"/>
              <a:t>PURPOSE: Name the link between money and mental health, and make sure every student leaves knowing the Hardship Fund exists and that asking is confidential. On this campus, this may be the most consequential eight minutes of the entire induction programme — treat it that way.</a:t>
            </a:r>
            <a:br>
              <a:rPr lang="en-US"/>
            </a:br>
            <a:br>
              <a:rPr lang="en-US"/>
            </a:br>
            <a:r>
              <a:rPr lang="en-US"/>
              <a:t>HOW TO RUN: Deliver the opening framing plainly and without drama. The critical sentence is "circumstance, not character" — shame, not ignorance, is why students don't ask, so the slide's whole job is dismantling shame. Give the confirm-block details as fact, not as a plea. SAY SOMETHING LIKE: "Nobody in that office is judging anyone. They've seen everything, they move fast, and it stays between you and them. If money is the thing between you and getting here, that is exactly what the fund is for."</a:t>
            </a:r>
            <a:br>
              <a:rPr lang="en-US"/>
            </a:br>
            <a:br>
              <a:rPr lang="en-US"/>
            </a:br>
            <a:r>
              <a:rPr lang="en-US"/>
              <a:t>WHAT TO WATCH FOR: Do not ask for hands, examples, or eye contact on this slide — money is the topic students least want visibility on. Deliver it to the whole room and let it land privately. Watch for students who go still or look away; no action needed in the moment, but they may be the ones who come to find you afterwards. Leave a door open: "Catch me after if you want the details without an audience."</a:t>
            </a:r>
            <a:br>
              <a:rPr lang="en-US"/>
            </a:br>
            <a:br>
              <a:rPr lang="en-US"/>
            </a:br>
            <a:r>
              <a:rPr lang="en-US"/>
              <a:t>SAFEGUARDING: Financial disclosure sometimes carries safeguarding weight — sudden homelessness, financial abuse, exploitation. If what a student describes goes beyond hardship into harm, it follows the slide 12 route the same day.</a:t>
            </a:r>
            <a:endParaRPr/>
          </a:p>
        </p:txBody>
      </p:sp>
      <p:sp>
        <p:nvSpPr>
          <p:cNvPr id="189" name="Google Shape;18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MODE: Teacher input, with space for questions.</a:t>
            </a:r>
            <a:br>
              <a:rPr lang="en-US"/>
            </a:br>
            <a:br>
              <a:rPr lang="en-US"/>
            </a:br>
            <a:r>
              <a:rPr lang="en-US"/>
              <a:t>PURPOSE: Two connected jobs. First, make the referral pathway concrete and unfrightening — three steps, any door works, you stay informed. Second, make the case for self-disclosure: students who tell us about a disability, condition or learning need get support arranged; students who don't, don't — and the ones who most need it are often the ones most reluctant to say so.</a:t>
            </a:r>
            <a:br>
              <a:rPr lang="en-US"/>
            </a:br>
            <a:br>
              <a:rPr lang="en-US"/>
            </a:br>
            <a:r>
              <a:rPr lang="en-US"/>
              <a:t>HOW TO RUN: Open with the paradox on the slide: support use drops in Year 2 exactly when need peaks — usually because students feel they should be able to handle it by now. Say that plainly; it gives permission. Then walk the three steps as a reminder, not a lesson; the details live in your confirm block, which you must have localised before delivery — vague support signposting is worse than none, because it teaches students the doors aren't real. On disclosure, be direct about the exchange: SAY SOMETHING LIKE: "This is a trade, and it's a good one. You tell us what's going on; we arrange what you're entitled to — extra time, adjustments, the right support. What we can't do is arrange support for something we don't know about. Nobody is going to treat you differently, and it isn't broadcast to your class."</a:t>
            </a:r>
            <a:br>
              <a:rPr lang="en-US"/>
            </a:br>
            <a:br>
              <a:rPr lang="en-US"/>
            </a:br>
            <a:r>
              <a:rPr lang="en-US"/>
              <a:t>WHAT TO WATCH FOR: The phrase 'confidential wherever possible' is deliberate and honest — do not promise absolute secrecy, because safeguarding concerns must be passed on. If a student asks "so is it actually confidential?", the truthful answer is: "Between you and the people arranging your support, yes. The one exception is if you're at risk — then we involve the people who keep you safe, and we'd tell you we were doing it."</a:t>
            </a:r>
            <a:br>
              <a:rPr lang="en-US"/>
            </a:br>
            <a:br>
              <a:rPr lang="en-US"/>
            </a:br>
            <a:r>
              <a:rPr lang="en-US"/>
              <a:t>SAFEGUARDING: This slide invites disclosure by design. Re-read the slide 12 protocol before the session. Anything indicating risk or harm: calm, no secrecy promises, same-day report.</a:t>
            </a:r>
            <a:endParaRPr/>
          </a:p>
        </p:txBody>
      </p:sp>
      <p:sp>
        <p:nvSpPr>
          <p:cNvPr id="207" name="Google Shape;20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MODE: Teacher input.</a:t>
            </a:r>
            <a:br>
              <a:rPr lang="en-US"/>
            </a:br>
            <a:br>
              <a:rPr lang="en-US"/>
            </a:br>
            <a:r>
              <a:rPr lang="en-US"/>
              <a:t>PURPOSE: Equip students to act on concern for a friend — notice, ask, tell — and put the support contacts physically into their possession. The contacts element is a MANDATORY requirement of this module: students must leave with these details in a form they can keep.</a:t>
            </a:r>
            <a:br>
              <a:rPr lang="en-US"/>
            </a:br>
            <a:br>
              <a:rPr lang="en-US"/>
            </a:br>
            <a:r>
              <a:rPr lang="en-US"/>
              <a:t>HOW TO RUN: The peer-support sequence first. The hardest idea is the third step — students believe telling an adult betrays a friend, so name the tension and resolve it honestly using the italic line at the bottom left: loyalty and telling someone are not opposites. This is the one place in the session the PROUD anchor gets named; name it once and move on — the content carries it. Then the card: pause, tell them to photograph the slide, and actually wait while they do. Hand out the physical cards or QR code as they leave. SAY SOMETHING LIKE: "Phones out — genuinely, this is the one time I'm asking you to get them out. Photograph this. You'll probably never need it. Someone near you might, and you'll be the one holding the number."</a:t>
            </a:r>
            <a:br>
              <a:rPr lang="en-US"/>
            </a:br>
            <a:br>
              <a:rPr lang="en-US"/>
            </a:br>
            <a:r>
              <a:rPr lang="en-US"/>
              <a:t>WHAT TO WATCH FOR: Do not rush the photograph moment; a hurried gesture reads as box-ticking and undoes the message. If a student asks what happens when they tell staff about a friend, be honest: staff will act on it, kindly, and the friend will usually never know who spoke up.</a:t>
            </a:r>
            <a:br>
              <a:rPr lang="en-US"/>
            </a:br>
            <a:br>
              <a:rPr lang="en-US"/>
            </a:br>
            <a:r>
              <a:rPr lang="en-US"/>
              <a:t>SAFEGUARDING: Confirm before delivery that every contact on this card is current — numbers and services change, and an out-of-date crisis number is worse than none. This is on the pre-flight checklist.</a:t>
            </a:r>
            <a:endParaRPr/>
          </a:p>
        </p:txBody>
      </p:sp>
      <p:sp>
        <p:nvSpPr>
          <p:cNvPr id="233" name="Google Shape;23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 4 to choose and write, 4 to collect and close the loop. MODE: Activity.</a:t>
            </a:r>
            <a:br>
              <a:rPr lang="en-US"/>
            </a:br>
            <a:br>
              <a:rPr lang="en-US"/>
            </a:br>
            <a:r>
              <a:rPr lang="en-US"/>
              <a:t>PURPOSE: Convert ninety minutes of input into one concrete, self-chosen commitment. One thing, because one thing gets done. The four options map onto the session's four practical beats — sleep, stress management, contacts, and the disclosure route.</a:t>
            </a:r>
            <a:br>
              <a:rPr lang="en-US"/>
            </a:br>
            <a:br>
              <a:rPr lang="en-US"/>
            </a:br>
            <a:r>
              <a:rPr lang="en-US"/>
              <a:t>HOW TO RUN: Cards or slips out; students write their name and one option, made specific ("same wake time" becomes an actual time). Circulate while they write. Collect every card — you keep them, and that fact must be said out loud, because it's what turns this from a gesture into a commitment. Follow up in tutorial in a fortnight. SAY SOMETHING LIKE: "Pick the one that's actually yours. Not the one that looks good — the one that's true. I'll be asking you about it in two weeks, so pick something you're willing to be asked about."</a:t>
            </a:r>
            <a:br>
              <a:rPr lang="en-US"/>
            </a:br>
            <a:br>
              <a:rPr lang="en-US"/>
            </a:br>
            <a:r>
              <a:rPr lang="en-US"/>
              <a:t>WHAT TO WATCH FOR: Option 4 is the safeguarding-disclosure route in plain clothes. Any card carrying option 4 gets a follow-up conversation THIS WEEK, initiated by you, in private — that's the promise the slide makes and you are the one keeping it. Read the option 4 cards before the students leave the room if you can. Also watch for students who can't choose: offer option 3, the lowest-stakes entry point.</a:t>
            </a:r>
            <a:br>
              <a:rPr lang="en-US"/>
            </a:br>
            <a:br>
              <a:rPr lang="en-US"/>
            </a:br>
            <a:r>
              <a:rPr lang="en-US"/>
              <a:t>SAFEGUARDING: If an option 4 card, or anything written on any card, indicates risk or harm, it goes through the same-day safeguarding route on slide 12 — not just the tutorial follow-up.</a:t>
            </a:r>
            <a:endParaRPr/>
          </a:p>
        </p:txBody>
      </p:sp>
      <p:sp>
        <p:nvSpPr>
          <p:cNvPr id="263" name="Google Shape;2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MODE: Teacher input.</a:t>
            </a:r>
            <a:br>
              <a:rPr lang="en-US"/>
            </a:br>
            <a:br>
              <a:rPr lang="en-US"/>
            </a:br>
            <a:r>
              <a:rPr lang="en-US"/>
              <a:t>PURPOSE: Land the four messages and finish warm but unsentimental. This close matters more than most — for some students, this session is the first time an educational institution has spoken to them about mental health without flinching.</a:t>
            </a:r>
            <a:br>
              <a:rPr lang="en-US"/>
            </a:br>
            <a:br>
              <a:rPr lang="en-US"/>
            </a:br>
            <a:r>
              <a:rPr lang="en-US"/>
              <a:t>HOW TO RUN: Read the four takeaways or paraphrase them in your own voice — your own voice is better. Do not add new content. Signpost Module H briefly. Then the most important part of the close: physically station yourself somewhere approachable as students leave. The students this session reached most will not have said a word during it. SAY SOMETHING LIKE: "That's the session. One last thing — I'm here for a few minutes after, no queue, no appointment. If anything today landed close to home and you want the five-minute version of what to do about it, come and find me."</a:t>
            </a:r>
            <a:br>
              <a:rPr lang="en-US"/>
            </a:br>
            <a:br>
              <a:rPr lang="en-US"/>
            </a:br>
            <a:r>
              <a:rPr lang="en-US"/>
              <a:t>WHAT TO WATCH FOR: The after-session lingerers. Someone slow packing their bag while the room empties is often waiting for privacy. Give it to them.</a:t>
            </a:r>
            <a:br>
              <a:rPr lang="en-US"/>
            </a:br>
            <a:br>
              <a:rPr lang="en-US"/>
            </a:br>
            <a:r>
              <a:rPr lang="en-US"/>
              <a:t>SAFEGUARDING: Anything disclosed in the after-session window follows the same rules as everything else: calm, honest about confidentiality limits, reported same-day where there is risk. Have the slide 12 route fresh in your mind before you invite the conversation — and do invite it.</a:t>
            </a:r>
            <a:endParaRPr/>
          </a:p>
        </p:txBody>
      </p:sp>
      <p:sp>
        <p:nvSpPr>
          <p:cNvPr id="287" name="Google Shape;28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not for student display. Running order, group guidance, pre-flight checklist and safeguarding protocol for Module G (L3 Year 2).</a:t>
            </a:r>
            <a:endParaRPr/>
          </a:p>
        </p:txBody>
      </p:sp>
      <p:sp>
        <p:nvSpPr>
          <p:cNvPr id="303" name="Google Shape;30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21.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16.png"/><Relationship Id="rId6"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5" name="Shape 15"/>
        <p:cNvGrpSpPr/>
        <p:nvPr/>
      </p:nvGrpSpPr>
      <p:grpSpPr>
        <a:xfrm>
          <a:off x="0" y="0"/>
          <a:ext cx="0" cy="0"/>
          <a:chOff x="0" y="0"/>
          <a:chExt cx="0" cy="0"/>
        </a:xfrm>
      </p:grpSpPr>
      <p:sp>
        <p:nvSpPr>
          <p:cNvPr id="16" name="Google Shape;16;p3"/>
          <p:cNvSpPr/>
          <p:nvPr/>
        </p:nvSpPr>
        <p:spPr>
          <a:xfrm>
            <a:off x="502920" y="932688"/>
            <a:ext cx="502920" cy="82296"/>
          </a:xfrm>
          <a:prstGeom prst="rect">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502920" y="1170432"/>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00"/>
              <a:buFont typeface="Poppins SemiBold"/>
              <a:buNone/>
            </a:pPr>
            <a:r>
              <a:rPr b="0" i="0" lang="en-US" sz="1200" u="none" cap="none" strike="noStrike">
                <a:solidFill>
                  <a:srgbClr val="FFCF01"/>
                </a:solidFill>
                <a:latin typeface="Poppins SemiBold"/>
                <a:ea typeface="Poppins SemiBold"/>
                <a:cs typeface="Poppins SemiBold"/>
                <a:sym typeface="Poppins SemiBold"/>
              </a:rPr>
              <a:t>MODULE G · STUDENT INDUCTION 2026–27</a:t>
            </a:r>
            <a:endParaRPr b="0" i="0" sz="1200" u="none" cap="none" strike="noStrike">
              <a:solidFill>
                <a:schemeClr val="dk1"/>
              </a:solidFill>
              <a:latin typeface="Calibri"/>
              <a:ea typeface="Calibri"/>
              <a:cs typeface="Calibri"/>
              <a:sym typeface="Calibri"/>
            </a:endParaRPr>
          </a:p>
        </p:txBody>
      </p:sp>
      <p:sp>
        <p:nvSpPr>
          <p:cNvPr id="18" name="Google Shape;18;p3"/>
          <p:cNvSpPr/>
          <p:nvPr/>
        </p:nvSpPr>
        <p:spPr>
          <a:xfrm>
            <a:off x="502920" y="1572768"/>
            <a:ext cx="813816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Poppins SemiBold"/>
              <a:buNone/>
            </a:pPr>
            <a:r>
              <a:rPr b="0" i="0" lang="en-US" sz="4400" u="none" cap="none" strike="noStrike">
                <a:solidFill>
                  <a:srgbClr val="FFFFFF"/>
                </a:solidFill>
                <a:latin typeface="Poppins SemiBold"/>
                <a:ea typeface="Poppins SemiBold"/>
                <a:cs typeface="Poppins SemiBold"/>
                <a:sym typeface="Poppins SemiBold"/>
              </a:rPr>
              <a:t>Looking After Myself</a:t>
            </a:r>
            <a:endParaRPr b="0" i="0" sz="4400" u="none" cap="none" strike="noStrike">
              <a:solidFill>
                <a:schemeClr val="dk1"/>
              </a:solidFill>
              <a:latin typeface="Calibri"/>
              <a:ea typeface="Calibri"/>
              <a:cs typeface="Calibri"/>
              <a:sym typeface="Calibri"/>
            </a:endParaRPr>
          </a:p>
        </p:txBody>
      </p:sp>
      <p:sp>
        <p:nvSpPr>
          <p:cNvPr id="19" name="Google Shape;19;p3"/>
          <p:cNvSpPr/>
          <p:nvPr/>
        </p:nvSpPr>
        <p:spPr>
          <a:xfrm>
            <a:off x="502920" y="2606040"/>
            <a:ext cx="73152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6"/>
              </a:buClr>
              <a:buSzPts val="1600"/>
              <a:buFont typeface="Poppins"/>
              <a:buNone/>
            </a:pPr>
            <a:r>
              <a:rPr b="0" i="0" lang="en-US" sz="1600" u="none" cap="none" strike="noStrike">
                <a:solidFill>
                  <a:srgbClr val="C9D2D6"/>
                </a:solidFill>
                <a:latin typeface="Poppins"/>
                <a:ea typeface="Poppins"/>
                <a:cs typeface="Poppins"/>
                <a:sym typeface="Poppins"/>
              </a:rPr>
              <a:t>Year 2 Digital Media, Film and Computing asks more of you. Same tools, same doors — higher stakes.</a:t>
            </a:r>
            <a:endParaRPr b="0" i="0" sz="1600" u="none" cap="none" strike="noStrike">
              <a:solidFill>
                <a:schemeClr val="dk1"/>
              </a:solidFill>
              <a:latin typeface="Calibri"/>
              <a:ea typeface="Calibri"/>
              <a:cs typeface="Calibri"/>
              <a:sym typeface="Calibri"/>
            </a:endParaRPr>
          </a:p>
        </p:txBody>
      </p:sp>
      <p:sp>
        <p:nvSpPr>
          <p:cNvPr id="20" name="Google Shape;20;p3"/>
          <p:cNvSpPr/>
          <p:nvPr/>
        </p:nvSpPr>
        <p:spPr>
          <a:xfrm>
            <a:off x="502920" y="4224528"/>
            <a:ext cx="7772400" cy="50292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East Sussex College</a:t>
            </a:r>
            <a:endParaRPr b="0" i="0" sz="11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9AA7AC"/>
              </a:buClr>
              <a:buSzPts val="1050"/>
              <a:buFont typeface="Poppins"/>
              <a:buNone/>
            </a:pPr>
            <a:r>
              <a:rPr b="0" i="0" lang="en-US" sz="1050" u="none" cap="none" strike="noStrike">
                <a:solidFill>
                  <a:srgbClr val="9AA7AC"/>
                </a:solidFill>
                <a:latin typeface="Poppins"/>
                <a:ea typeface="Poppins"/>
                <a:cs typeface="Poppins"/>
                <a:sym typeface="Poppins"/>
              </a:rPr>
              <a:t>Group 2 — Safeguarding, Wellbeing &amp; Respect · Level 3 Year 2 · 90 minutes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 name="Shape 25"/>
        <p:cNvGrpSpPr/>
        <p:nvPr/>
      </p:nvGrpSpPr>
      <p:grpSpPr>
        <a:xfrm>
          <a:off x="0" y="0"/>
          <a:ext cx="0" cy="0"/>
          <a:chOff x="0" y="0"/>
          <a:chExt cx="0" cy="0"/>
        </a:xfrm>
      </p:grpSpPr>
      <p:sp>
        <p:nvSpPr>
          <p:cNvPr id="26" name="Google Shape;26;p4"/>
          <p:cNvSpPr/>
          <p:nvPr/>
        </p:nvSpPr>
        <p:spPr>
          <a:xfrm>
            <a:off x="7798003" y="256032"/>
            <a:ext cx="1025957"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7798003" y="256032"/>
            <a:ext cx="1025957"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SESSION MAP</a:t>
            </a:r>
            <a:endParaRPr b="0" i="0" sz="900" u="none" cap="none" strike="noStrike">
              <a:solidFill>
                <a:schemeClr val="dk1"/>
              </a:solidFill>
              <a:latin typeface="Calibri"/>
              <a:ea typeface="Calibri"/>
              <a:cs typeface="Calibri"/>
              <a:sym typeface="Calibri"/>
            </a:endParaRPr>
          </a:p>
        </p:txBody>
      </p:sp>
      <p:sp>
        <p:nvSpPr>
          <p:cNvPr id="28" name="Google Shape;28;p4"/>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The next 90 minutes</a:t>
            </a:r>
            <a:endParaRPr b="0" i="0" sz="2600" u="none" cap="none" strike="noStrike">
              <a:solidFill>
                <a:schemeClr val="dk1"/>
              </a:solidFill>
              <a:latin typeface="Calibri"/>
              <a:ea typeface="Calibri"/>
              <a:cs typeface="Calibri"/>
              <a:sym typeface="Calibri"/>
            </a:endParaRPr>
          </a:p>
        </p:txBody>
      </p:sp>
      <p:sp>
        <p:nvSpPr>
          <p:cNvPr id="29" name="Google Shape;29;p4"/>
          <p:cNvSpPr/>
          <p:nvPr/>
        </p:nvSpPr>
        <p:spPr>
          <a:xfrm>
            <a:off x="502920" y="110642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4"/>
          <p:cNvSpPr/>
          <p:nvPr/>
        </p:nvSpPr>
        <p:spPr>
          <a:xfrm>
            <a:off x="502920" y="11064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1</a:t>
            </a:r>
            <a:endParaRPr b="0" i="0" sz="1100" u="none" cap="none" strike="noStrike">
              <a:solidFill>
                <a:schemeClr val="dk1"/>
              </a:solidFill>
              <a:latin typeface="Calibri"/>
              <a:ea typeface="Calibri"/>
              <a:cs typeface="Calibri"/>
              <a:sym typeface="Calibri"/>
            </a:endParaRPr>
          </a:p>
        </p:txBody>
      </p:sp>
      <p:sp>
        <p:nvSpPr>
          <p:cNvPr id="31" name="Google Shape;31;p4"/>
          <p:cNvSpPr/>
          <p:nvPr/>
        </p:nvSpPr>
        <p:spPr>
          <a:xfrm>
            <a:off x="914400" y="107899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Year 2, three weeks in — what's different this time</a:t>
            </a:r>
            <a:endParaRPr b="0" i="0" sz="1150" u="none" cap="none" strike="noStrike">
              <a:solidFill>
                <a:schemeClr val="dk1"/>
              </a:solidFill>
              <a:latin typeface="Calibri"/>
              <a:ea typeface="Calibri"/>
              <a:cs typeface="Calibri"/>
              <a:sym typeface="Calibri"/>
            </a:endParaRPr>
          </a:p>
        </p:txBody>
      </p:sp>
      <p:sp>
        <p:nvSpPr>
          <p:cNvPr id="32" name="Google Shape;32;p4"/>
          <p:cNvSpPr/>
          <p:nvPr/>
        </p:nvSpPr>
        <p:spPr>
          <a:xfrm>
            <a:off x="7589520" y="107899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10 min</a:t>
            </a:r>
            <a:endParaRPr b="0" i="0" sz="1050" u="none" cap="none" strike="noStrike">
              <a:solidFill>
                <a:schemeClr val="dk1"/>
              </a:solidFill>
              <a:latin typeface="Calibri"/>
              <a:ea typeface="Calibri"/>
              <a:cs typeface="Calibri"/>
              <a:sym typeface="Calibri"/>
            </a:endParaRPr>
          </a:p>
        </p:txBody>
      </p:sp>
      <p:sp>
        <p:nvSpPr>
          <p:cNvPr id="33" name="Google Shape;33;p4"/>
          <p:cNvSpPr/>
          <p:nvPr/>
        </p:nvSpPr>
        <p:spPr>
          <a:xfrm>
            <a:off x="502920" y="149504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502920" y="14950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2</a:t>
            </a:r>
            <a:endParaRPr b="0" i="0" sz="1100" u="none" cap="none" strike="noStrike">
              <a:solidFill>
                <a:schemeClr val="dk1"/>
              </a:solidFill>
              <a:latin typeface="Calibri"/>
              <a:ea typeface="Calibri"/>
              <a:cs typeface="Calibri"/>
              <a:sym typeface="Calibri"/>
            </a:endParaRPr>
          </a:p>
        </p:txBody>
      </p:sp>
      <p:sp>
        <p:nvSpPr>
          <p:cNvPr id="35" name="Google Shape;35;p4"/>
          <p:cNvSpPr/>
          <p:nvPr/>
        </p:nvSpPr>
        <p:spPr>
          <a:xfrm>
            <a:off x="914400" y="146761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Mental health is health — you watched the line move last year</a:t>
            </a:r>
            <a:endParaRPr b="0" i="0" sz="1150" u="none" cap="none" strike="noStrike">
              <a:solidFill>
                <a:schemeClr val="dk1"/>
              </a:solidFill>
              <a:latin typeface="Calibri"/>
              <a:ea typeface="Calibri"/>
              <a:cs typeface="Calibri"/>
              <a:sym typeface="Calibri"/>
            </a:endParaRPr>
          </a:p>
        </p:txBody>
      </p:sp>
      <p:sp>
        <p:nvSpPr>
          <p:cNvPr id="36" name="Google Shape;36;p4"/>
          <p:cNvSpPr/>
          <p:nvPr/>
        </p:nvSpPr>
        <p:spPr>
          <a:xfrm>
            <a:off x="7589520" y="146761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12 min</a:t>
            </a:r>
            <a:endParaRPr b="0" i="0" sz="1050" u="none" cap="none" strike="noStrike">
              <a:solidFill>
                <a:schemeClr val="dk1"/>
              </a:solidFill>
              <a:latin typeface="Calibri"/>
              <a:ea typeface="Calibri"/>
              <a:cs typeface="Calibri"/>
              <a:sym typeface="Calibri"/>
            </a:endParaRPr>
          </a:p>
        </p:txBody>
      </p:sp>
      <p:sp>
        <p:nvSpPr>
          <p:cNvPr id="37" name="Google Shape;37;p4"/>
          <p:cNvSpPr/>
          <p:nvPr/>
        </p:nvSpPr>
        <p:spPr>
          <a:xfrm>
            <a:off x="502920" y="188366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a:off x="502920" y="18836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3</a:t>
            </a:r>
            <a:endParaRPr b="0" i="0" sz="1100" u="none" cap="none" strike="noStrike">
              <a:solidFill>
                <a:schemeClr val="dk1"/>
              </a:solidFill>
              <a:latin typeface="Calibri"/>
              <a:ea typeface="Calibri"/>
              <a:cs typeface="Calibri"/>
              <a:sym typeface="Calibri"/>
            </a:endParaRPr>
          </a:p>
        </p:txBody>
      </p:sp>
      <p:sp>
        <p:nvSpPr>
          <p:cNvPr id="39" name="Google Shape;39;p4"/>
          <p:cNvSpPr/>
          <p:nvPr/>
        </p:nvSpPr>
        <p:spPr>
          <a:xfrm>
            <a:off x="914400" y="185623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Stress — what final-year digital production, media and computing looks like when every portfolio piece and every placement hour counts, and what actually works</a:t>
            </a:r>
            <a:endParaRPr b="0" i="0" sz="1150" u="none" cap="none" strike="noStrike">
              <a:solidFill>
                <a:schemeClr val="dk1"/>
              </a:solidFill>
              <a:latin typeface="Calibri"/>
              <a:ea typeface="Calibri"/>
              <a:cs typeface="Calibri"/>
              <a:sym typeface="Calibri"/>
            </a:endParaRPr>
          </a:p>
        </p:txBody>
      </p:sp>
      <p:sp>
        <p:nvSpPr>
          <p:cNvPr id="40" name="Google Shape;40;p4"/>
          <p:cNvSpPr/>
          <p:nvPr/>
        </p:nvSpPr>
        <p:spPr>
          <a:xfrm>
            <a:off x="7589520" y="185623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15 min</a:t>
            </a:r>
            <a:endParaRPr b="0" i="0" sz="1050" u="none" cap="none" strike="noStrike">
              <a:solidFill>
                <a:schemeClr val="dk1"/>
              </a:solidFill>
              <a:latin typeface="Calibri"/>
              <a:ea typeface="Calibri"/>
              <a:cs typeface="Calibri"/>
              <a:sym typeface="Calibri"/>
            </a:endParaRPr>
          </a:p>
        </p:txBody>
      </p:sp>
      <p:sp>
        <p:nvSpPr>
          <p:cNvPr id="41" name="Google Shape;41;p4"/>
          <p:cNvSpPr/>
          <p:nvPr/>
        </p:nvSpPr>
        <p:spPr>
          <a:xfrm>
            <a:off x="502920" y="227228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502920" y="227228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4</a:t>
            </a:r>
            <a:endParaRPr b="0" i="0" sz="1100" u="none" cap="none" strike="noStrike">
              <a:solidFill>
                <a:schemeClr val="dk1"/>
              </a:solidFill>
              <a:latin typeface="Calibri"/>
              <a:ea typeface="Calibri"/>
              <a:cs typeface="Calibri"/>
              <a:sym typeface="Calibri"/>
            </a:endParaRPr>
          </a:p>
        </p:txBody>
      </p:sp>
      <p:sp>
        <p:nvSpPr>
          <p:cNvPr id="43" name="Google Shape;43;p4"/>
          <p:cNvSpPr/>
          <p:nvPr/>
        </p:nvSpPr>
        <p:spPr>
          <a:xfrm>
            <a:off x="914400" y="224485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Sleep — the study tool most students ignore</a:t>
            </a:r>
            <a:endParaRPr b="0" i="0" sz="1150" u="none" cap="none" strike="noStrike">
              <a:solidFill>
                <a:schemeClr val="dk1"/>
              </a:solidFill>
              <a:latin typeface="Calibri"/>
              <a:ea typeface="Calibri"/>
              <a:cs typeface="Calibri"/>
              <a:sym typeface="Calibri"/>
            </a:endParaRPr>
          </a:p>
        </p:txBody>
      </p:sp>
      <p:sp>
        <p:nvSpPr>
          <p:cNvPr id="44" name="Google Shape;44;p4"/>
          <p:cNvSpPr/>
          <p:nvPr/>
        </p:nvSpPr>
        <p:spPr>
          <a:xfrm>
            <a:off x="7589520" y="224485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10 min</a:t>
            </a:r>
            <a:endParaRPr b="0" i="0" sz="1050" u="none" cap="none" strike="noStrike">
              <a:solidFill>
                <a:schemeClr val="dk1"/>
              </a:solidFill>
              <a:latin typeface="Calibri"/>
              <a:ea typeface="Calibri"/>
              <a:cs typeface="Calibri"/>
              <a:sym typeface="Calibri"/>
            </a:endParaRPr>
          </a:p>
        </p:txBody>
      </p:sp>
      <p:sp>
        <p:nvSpPr>
          <p:cNvPr id="45" name="Google Shape;45;p4"/>
          <p:cNvSpPr/>
          <p:nvPr/>
        </p:nvSpPr>
        <p:spPr>
          <a:xfrm>
            <a:off x="502920" y="266090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02920" y="266090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5</a:t>
            </a:r>
            <a:endParaRPr b="0" i="0" sz="1100" u="none" cap="none" strike="noStrike">
              <a:solidFill>
                <a:schemeClr val="dk1"/>
              </a:solidFill>
              <a:latin typeface="Calibri"/>
              <a:ea typeface="Calibri"/>
              <a:cs typeface="Calibri"/>
              <a:sym typeface="Calibri"/>
            </a:endParaRPr>
          </a:p>
        </p:txBody>
      </p:sp>
      <p:sp>
        <p:nvSpPr>
          <p:cNvPr id="47" name="Google Shape;47;p4"/>
          <p:cNvSpPr/>
          <p:nvPr/>
        </p:nvSpPr>
        <p:spPr>
          <a:xfrm>
            <a:off x="914400" y="263347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Money — pressure, support, and the Hardship Fund</a:t>
            </a:r>
            <a:endParaRPr b="0" i="0" sz="1150" u="none" cap="none" strike="noStrike">
              <a:solidFill>
                <a:schemeClr val="dk1"/>
              </a:solidFill>
              <a:latin typeface="Calibri"/>
              <a:ea typeface="Calibri"/>
              <a:cs typeface="Calibri"/>
              <a:sym typeface="Calibri"/>
            </a:endParaRPr>
          </a:p>
        </p:txBody>
      </p:sp>
      <p:sp>
        <p:nvSpPr>
          <p:cNvPr id="48" name="Google Shape;48;p4"/>
          <p:cNvSpPr/>
          <p:nvPr/>
        </p:nvSpPr>
        <p:spPr>
          <a:xfrm>
            <a:off x="7589520" y="263347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49" name="Google Shape;49;p4"/>
          <p:cNvSpPr/>
          <p:nvPr/>
        </p:nvSpPr>
        <p:spPr>
          <a:xfrm>
            <a:off x="502920" y="304952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a:off x="502920" y="304952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6</a:t>
            </a:r>
            <a:endParaRPr b="0" i="0" sz="1100" u="none" cap="none" strike="noStrike">
              <a:solidFill>
                <a:schemeClr val="dk1"/>
              </a:solidFill>
              <a:latin typeface="Calibri"/>
              <a:ea typeface="Calibri"/>
              <a:cs typeface="Calibri"/>
              <a:sym typeface="Calibri"/>
            </a:endParaRPr>
          </a:p>
        </p:txBody>
      </p:sp>
      <p:sp>
        <p:nvSpPr>
          <p:cNvPr id="51" name="Google Shape;51;p4"/>
          <p:cNvSpPr/>
          <p:nvPr/>
        </p:nvSpPr>
        <p:spPr>
          <a:xfrm>
            <a:off x="914400" y="302209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Support — the year people need it most is the year they stop going</a:t>
            </a:r>
            <a:endParaRPr b="0" i="0" sz="1150" u="none" cap="none" strike="noStrike">
              <a:solidFill>
                <a:schemeClr val="dk1"/>
              </a:solidFill>
              <a:latin typeface="Calibri"/>
              <a:ea typeface="Calibri"/>
              <a:cs typeface="Calibri"/>
              <a:sym typeface="Calibri"/>
            </a:endParaRPr>
          </a:p>
        </p:txBody>
      </p:sp>
      <p:sp>
        <p:nvSpPr>
          <p:cNvPr id="52" name="Google Shape;52;p4"/>
          <p:cNvSpPr/>
          <p:nvPr/>
        </p:nvSpPr>
        <p:spPr>
          <a:xfrm>
            <a:off x="7589520" y="302209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12 min</a:t>
            </a:r>
            <a:endParaRPr b="0" i="0" sz="1050" u="none" cap="none" strike="noStrike">
              <a:solidFill>
                <a:schemeClr val="dk1"/>
              </a:solidFill>
              <a:latin typeface="Calibri"/>
              <a:ea typeface="Calibri"/>
              <a:cs typeface="Calibri"/>
              <a:sym typeface="Calibri"/>
            </a:endParaRPr>
          </a:p>
        </p:txBody>
      </p:sp>
      <p:sp>
        <p:nvSpPr>
          <p:cNvPr id="53" name="Google Shape;53;p4"/>
          <p:cNvSpPr/>
          <p:nvPr/>
        </p:nvSpPr>
        <p:spPr>
          <a:xfrm>
            <a:off x="502920" y="343814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502920" y="343814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7</a:t>
            </a:r>
            <a:endParaRPr b="0" i="0" sz="1100" u="none" cap="none" strike="noStrike">
              <a:solidFill>
                <a:schemeClr val="dk1"/>
              </a:solidFill>
              <a:latin typeface="Calibri"/>
              <a:ea typeface="Calibri"/>
              <a:cs typeface="Calibri"/>
              <a:sym typeface="Calibri"/>
            </a:endParaRPr>
          </a:p>
        </p:txBody>
      </p:sp>
      <p:sp>
        <p:nvSpPr>
          <p:cNvPr id="55" name="Google Shape;55;p4"/>
          <p:cNvSpPr/>
          <p:nvPr/>
        </p:nvSpPr>
        <p:spPr>
          <a:xfrm>
            <a:off x="914400" y="341071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Looking out for each other — and the contacts you keep</a:t>
            </a:r>
            <a:endParaRPr b="0" i="0" sz="1150" u="none" cap="none" strike="noStrike">
              <a:solidFill>
                <a:schemeClr val="dk1"/>
              </a:solidFill>
              <a:latin typeface="Calibri"/>
              <a:ea typeface="Calibri"/>
              <a:cs typeface="Calibri"/>
              <a:sym typeface="Calibri"/>
            </a:endParaRPr>
          </a:p>
        </p:txBody>
      </p:sp>
      <p:sp>
        <p:nvSpPr>
          <p:cNvPr id="56" name="Google Shape;56;p4"/>
          <p:cNvSpPr/>
          <p:nvPr/>
        </p:nvSpPr>
        <p:spPr>
          <a:xfrm>
            <a:off x="7589520" y="341071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57" name="Google Shape;57;p4"/>
          <p:cNvSpPr/>
          <p:nvPr/>
        </p:nvSpPr>
        <p:spPr>
          <a:xfrm>
            <a:off x="502920" y="3826764"/>
            <a:ext cx="274320" cy="27432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502920" y="3826764"/>
            <a:ext cx="27432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8</a:t>
            </a:r>
            <a:endParaRPr b="0" i="0" sz="1100" u="none" cap="none" strike="noStrike">
              <a:solidFill>
                <a:schemeClr val="dk1"/>
              </a:solidFill>
              <a:latin typeface="Calibri"/>
              <a:ea typeface="Calibri"/>
              <a:cs typeface="Calibri"/>
              <a:sym typeface="Calibri"/>
            </a:endParaRPr>
          </a:p>
        </p:txBody>
      </p:sp>
      <p:sp>
        <p:nvSpPr>
          <p:cNvPr id="59" name="Google Shape;59;p4"/>
          <p:cNvSpPr/>
          <p:nvPr/>
        </p:nvSpPr>
        <p:spPr>
          <a:xfrm>
            <a:off x="914400" y="3799332"/>
            <a:ext cx="65379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b="0" i="0" lang="en-US" sz="1150" u="none" cap="none" strike="noStrike">
                <a:solidFill>
                  <a:srgbClr val="1B2A30"/>
                </a:solidFill>
                <a:latin typeface="Poppins"/>
                <a:ea typeface="Poppins"/>
                <a:cs typeface="Poppins"/>
                <a:sym typeface="Poppins"/>
              </a:rPr>
              <a:t>One thing — your commitment for the week</a:t>
            </a:r>
            <a:endParaRPr b="0" i="0" sz="1150" u="none" cap="none" strike="noStrike">
              <a:solidFill>
                <a:schemeClr val="dk1"/>
              </a:solidFill>
              <a:latin typeface="Calibri"/>
              <a:ea typeface="Calibri"/>
              <a:cs typeface="Calibri"/>
              <a:sym typeface="Calibri"/>
            </a:endParaRPr>
          </a:p>
        </p:txBody>
      </p:sp>
      <p:sp>
        <p:nvSpPr>
          <p:cNvPr id="60" name="Google Shape;60;p4"/>
          <p:cNvSpPr/>
          <p:nvPr/>
        </p:nvSpPr>
        <p:spPr>
          <a:xfrm>
            <a:off x="7589520" y="3799332"/>
            <a:ext cx="1005840" cy="32918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8 min</a:t>
            </a:r>
            <a:endParaRPr b="0" i="0" sz="1050" u="none" cap="none" strike="noStrike">
              <a:solidFill>
                <a:schemeClr val="dk1"/>
              </a:solidFill>
              <a:latin typeface="Calibri"/>
              <a:ea typeface="Calibri"/>
              <a:cs typeface="Calibri"/>
              <a:sym typeface="Calibri"/>
            </a:endParaRPr>
          </a:p>
        </p:txBody>
      </p:sp>
      <p:sp>
        <p:nvSpPr>
          <p:cNvPr id="61" name="Google Shape;61;p4"/>
          <p:cNvSpPr/>
          <p:nvPr/>
        </p:nvSpPr>
        <p:spPr>
          <a:xfrm>
            <a:off x="502920" y="4261104"/>
            <a:ext cx="8138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b="0" i="1" lang="en-US" sz="1100" u="none" cap="none" strike="noStrike">
                <a:solidFill>
                  <a:srgbClr val="5A6A6F"/>
                </a:solidFill>
                <a:latin typeface="Poppins"/>
                <a:ea typeface="Poppins"/>
                <a:cs typeface="Poppins"/>
                <a:sym typeface="Poppins"/>
              </a:rPr>
              <a:t>You've heard versions of this before. This year is the one where it earns its keep.</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7" name="Shape 67"/>
        <p:cNvGrpSpPr/>
        <p:nvPr/>
      </p:nvGrpSpPr>
      <p:grpSpPr>
        <a:xfrm>
          <a:off x="0" y="0"/>
          <a:ext cx="0" cy="0"/>
          <a:chOff x="0" y="0"/>
          <a:chExt cx="0" cy="0"/>
        </a:xfrm>
      </p:grpSpPr>
      <p:sp>
        <p:nvSpPr>
          <p:cNvPr id="68" name="Google Shape;68;p5"/>
          <p:cNvSpPr/>
          <p:nvPr/>
        </p:nvSpPr>
        <p:spPr>
          <a:xfrm>
            <a:off x="7872984" y="256032"/>
            <a:ext cx="950976"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7872984" y="256032"/>
            <a:ext cx="950976"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DISCUSSION</a:t>
            </a:r>
            <a:endParaRPr b="0" i="0" sz="900" u="none" cap="none" strike="noStrike">
              <a:solidFill>
                <a:schemeClr val="dk1"/>
              </a:solidFill>
              <a:latin typeface="Calibri"/>
              <a:ea typeface="Calibri"/>
              <a:cs typeface="Calibri"/>
              <a:sym typeface="Calibri"/>
            </a:endParaRPr>
          </a:p>
        </p:txBody>
      </p:sp>
      <p:sp>
        <p:nvSpPr>
          <p:cNvPr id="70" name="Google Shape;70;p5"/>
          <p:cNvSpPr/>
          <p:nvPr/>
        </p:nvSpPr>
        <p:spPr>
          <a:xfrm>
            <a:off x="502925" y="-1"/>
            <a:ext cx="6949500" cy="740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Year 2 Digital Media, Film and Computing — three weeks in. How does it compare?</a:t>
            </a:r>
            <a:endParaRPr b="0" i="0" sz="2600" u="none" cap="none" strike="noStrike">
              <a:solidFill>
                <a:schemeClr val="dk1"/>
              </a:solidFill>
              <a:latin typeface="Calibri"/>
              <a:ea typeface="Calibri"/>
              <a:cs typeface="Calibri"/>
              <a:sym typeface="Calibri"/>
            </a:endParaRPr>
          </a:p>
        </p:txBody>
      </p:sp>
      <p:sp>
        <p:nvSpPr>
          <p:cNvPr id="71" name="Google Shape;71;p5"/>
          <p:cNvSpPr/>
          <p:nvPr/>
        </p:nvSpPr>
        <p:spPr>
          <a:xfrm>
            <a:off x="502920" y="932688"/>
            <a:ext cx="73152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250"/>
              <a:buFont typeface="Poppins"/>
              <a:buNone/>
            </a:pPr>
            <a:r>
              <a:rPr b="0" i="0" lang="en-US" sz="1250" u="none" cap="none" strike="noStrike">
                <a:solidFill>
                  <a:srgbClr val="5A6A6F"/>
                </a:solidFill>
                <a:latin typeface="Poppins"/>
                <a:ea typeface="Poppins"/>
                <a:cs typeface="Poppins"/>
                <a:sym typeface="Poppins"/>
              </a:rPr>
              <a:t>In pairs or threes. The real answer, not the polite one.</a:t>
            </a:r>
            <a:endParaRPr b="0" i="0" sz="1250" u="none" cap="none" strike="noStrike">
              <a:solidFill>
                <a:schemeClr val="dk1"/>
              </a:solidFill>
              <a:latin typeface="Calibri"/>
              <a:ea typeface="Calibri"/>
              <a:cs typeface="Calibri"/>
              <a:sym typeface="Calibri"/>
            </a:endParaRPr>
          </a:p>
        </p:txBody>
      </p:sp>
      <p:sp>
        <p:nvSpPr>
          <p:cNvPr id="72" name="Google Shape;72;p5"/>
          <p:cNvSpPr/>
          <p:nvPr/>
        </p:nvSpPr>
        <p:spPr>
          <a:xfrm>
            <a:off x="502925" y="1417326"/>
            <a:ext cx="2651700" cy="21684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685800" y="1502974"/>
            <a:ext cx="2286000" cy="292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What's easier this year?</a:t>
            </a:r>
            <a:endParaRPr b="0" i="0" sz="1350" u="none" cap="none" strike="noStrike">
              <a:solidFill>
                <a:schemeClr val="dk1"/>
              </a:solidFill>
              <a:latin typeface="Calibri"/>
              <a:ea typeface="Calibri"/>
              <a:cs typeface="Calibri"/>
              <a:sym typeface="Calibri"/>
            </a:endParaRPr>
          </a:p>
        </p:txBody>
      </p:sp>
      <p:sp>
        <p:nvSpPr>
          <p:cNvPr id="74" name="Google Shape;74;p5"/>
          <p:cNvSpPr/>
          <p:nvPr/>
        </p:nvSpPr>
        <p:spPr>
          <a:xfrm>
            <a:off x="685800" y="2542032"/>
            <a:ext cx="228600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You know the building, the people, the drill.</a:t>
            </a:r>
            <a:endParaRPr b="0" i="0" sz="1050" u="none" cap="none" strike="noStrike">
              <a:solidFill>
                <a:schemeClr val="dk1"/>
              </a:solidFill>
              <a:latin typeface="Calibri"/>
              <a:ea typeface="Calibri"/>
              <a:cs typeface="Calibri"/>
              <a:sym typeface="Calibri"/>
            </a:endParaRPr>
          </a:p>
        </p:txBody>
      </p:sp>
      <p:sp>
        <p:nvSpPr>
          <p:cNvPr id="75" name="Google Shape;75;p5"/>
          <p:cNvSpPr/>
          <p:nvPr/>
        </p:nvSpPr>
        <p:spPr>
          <a:xfrm>
            <a:off x="3291850" y="1417325"/>
            <a:ext cx="2651700" cy="21684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3474675" y="1449328"/>
            <a:ext cx="2286000" cy="4245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What's heavier this year?</a:t>
            </a:r>
            <a:endParaRPr b="0" i="0" sz="1350" u="none" cap="none" strike="noStrike">
              <a:solidFill>
                <a:schemeClr val="dk1"/>
              </a:solidFill>
              <a:latin typeface="Calibri"/>
              <a:ea typeface="Calibri"/>
              <a:cs typeface="Calibri"/>
              <a:sym typeface="Calibri"/>
            </a:endParaRPr>
          </a:p>
        </p:txBody>
      </p:sp>
      <p:sp>
        <p:nvSpPr>
          <p:cNvPr id="77" name="Google Shape;77;p5"/>
          <p:cNvSpPr/>
          <p:nvPr/>
        </p:nvSpPr>
        <p:spPr>
          <a:xfrm>
            <a:off x="3474799" y="2196000"/>
            <a:ext cx="2286000" cy="1032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Workload, expectations, placements — the fact that everything counts now. The Final Major Project or Employer Set Project building alongside ongoing unit deadlines. Industry placements requiring professional-standard work at the same time as coursework submissions.</a:t>
            </a:r>
            <a:endParaRPr b="0" i="0" sz="1050" u="none" cap="none" strike="noStrike">
              <a:solidFill>
                <a:schemeClr val="dk1"/>
              </a:solidFill>
              <a:latin typeface="Calibri"/>
              <a:ea typeface="Calibri"/>
              <a:cs typeface="Calibri"/>
              <a:sym typeface="Calibri"/>
            </a:endParaRPr>
          </a:p>
        </p:txBody>
      </p:sp>
      <p:sp>
        <p:nvSpPr>
          <p:cNvPr id="78" name="Google Shape;78;p5"/>
          <p:cNvSpPr/>
          <p:nvPr/>
        </p:nvSpPr>
        <p:spPr>
          <a:xfrm>
            <a:off x="6080750" y="1417326"/>
            <a:ext cx="2651700" cy="21684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263650" y="1502974"/>
            <a:ext cx="2286000" cy="3708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What did last year teach you about you?</a:t>
            </a:r>
            <a:endParaRPr b="0" i="0" sz="1350" u="none" cap="none" strike="noStrike">
              <a:solidFill>
                <a:schemeClr val="dk1"/>
              </a:solidFill>
              <a:latin typeface="Calibri"/>
              <a:ea typeface="Calibri"/>
              <a:cs typeface="Calibri"/>
              <a:sym typeface="Calibri"/>
            </a:endParaRPr>
          </a:p>
        </p:txBody>
      </p:sp>
      <p:sp>
        <p:nvSpPr>
          <p:cNvPr id="80" name="Google Shape;80;p5"/>
          <p:cNvSpPr/>
          <p:nvPr/>
        </p:nvSpPr>
        <p:spPr>
          <a:xfrm>
            <a:off x="6263640" y="2542032"/>
            <a:ext cx="228600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0" lang="en-US" sz="1050" u="none" cap="none" strike="noStrike">
                <a:solidFill>
                  <a:srgbClr val="5A6A6F"/>
                </a:solidFill>
                <a:latin typeface="Poppins"/>
                <a:ea typeface="Poppins"/>
                <a:cs typeface="Poppins"/>
                <a:sym typeface="Poppins"/>
              </a:rPr>
              <a:t>How you handle pressure, what your warning signs are, what helped.</a:t>
            </a:r>
            <a:endParaRPr b="0" i="0" sz="1050" u="none" cap="none" strike="noStrike">
              <a:solidFill>
                <a:schemeClr val="dk1"/>
              </a:solidFill>
              <a:latin typeface="Calibri"/>
              <a:ea typeface="Calibri"/>
              <a:cs typeface="Calibri"/>
              <a:sym typeface="Calibri"/>
            </a:endParaRPr>
          </a:p>
        </p:txBody>
      </p:sp>
      <p:sp>
        <p:nvSpPr>
          <p:cNvPr id="81" name="Google Shape;81;p5"/>
          <p:cNvSpPr/>
          <p:nvPr/>
        </p:nvSpPr>
        <p:spPr>
          <a:xfrm>
            <a:off x="502920" y="3703320"/>
            <a:ext cx="8138160" cy="68580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649224" y="3749040"/>
            <a:ext cx="7845552"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250"/>
              <a:buFont typeface="Poppins SemiBold"/>
              <a:buNone/>
            </a:pPr>
            <a:r>
              <a:rPr b="0" i="0" lang="en-US" sz="1250" u="none" cap="none" strike="noStrike">
                <a:solidFill>
                  <a:srgbClr val="0D2434"/>
                </a:solidFill>
                <a:latin typeface="Poppins SemiBold"/>
                <a:ea typeface="Poppins SemiBold"/>
                <a:cs typeface="Poppins SemiBold"/>
                <a:sym typeface="Poppins SemiBold"/>
              </a:rPr>
              <a:t>Nothing said here gets graded. </a:t>
            </a:r>
            <a:r>
              <a:rPr b="0" i="0" lang="en-US" sz="1200" u="none" cap="none" strike="noStrike">
                <a:solidFill>
                  <a:srgbClr val="0D2434"/>
                </a:solidFill>
                <a:latin typeface="Poppins"/>
                <a:ea typeface="Poppins"/>
                <a:cs typeface="Poppins"/>
                <a:sym typeface="Poppins"/>
              </a:rPr>
              <a:t>This is a check-in, not an assessment — and it's the shape of every honest conversation we'll ask you to have this year.</a:t>
            </a:r>
            <a:endParaRPr b="0" i="0" sz="1250" u="none" cap="none" strike="noStrike">
              <a:solidFill>
                <a:schemeClr val="dk1"/>
              </a:solidFill>
              <a:latin typeface="Calibri"/>
              <a:ea typeface="Calibri"/>
              <a:cs typeface="Calibri"/>
              <a:sym typeface="Calibri"/>
            </a:endParaRPr>
          </a:p>
        </p:txBody>
      </p:sp>
      <p:sp>
        <p:nvSpPr>
          <p:cNvPr id="83" name="Google Shape;83;p5"/>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3</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8" name="Shape 88"/>
        <p:cNvGrpSpPr/>
        <p:nvPr/>
      </p:nvGrpSpPr>
      <p:grpSpPr>
        <a:xfrm>
          <a:off x="0" y="0"/>
          <a:ext cx="0" cy="0"/>
          <a:chOff x="0" y="0"/>
          <a:chExt cx="0" cy="0"/>
        </a:xfrm>
      </p:grpSpPr>
      <p:sp>
        <p:nvSpPr>
          <p:cNvPr id="89" name="Google Shape;89;p6"/>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6"/>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91" name="Google Shape;91;p6"/>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Mental health is health</a:t>
            </a:r>
            <a:endParaRPr b="0" i="0" sz="2600" u="none" cap="none" strike="noStrike">
              <a:solidFill>
                <a:schemeClr val="dk1"/>
              </a:solidFill>
              <a:latin typeface="Calibri"/>
              <a:ea typeface="Calibri"/>
              <a:cs typeface="Calibri"/>
              <a:sym typeface="Calibri"/>
            </a:endParaRPr>
          </a:p>
        </p:txBody>
      </p:sp>
      <p:sp>
        <p:nvSpPr>
          <p:cNvPr id="92" name="Google Shape;92;p6"/>
          <p:cNvSpPr/>
          <p:nvPr/>
        </p:nvSpPr>
        <p:spPr>
          <a:xfrm>
            <a:off x="502920" y="960120"/>
            <a:ext cx="8138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250"/>
              <a:buFont typeface="Poppins"/>
              <a:buNone/>
            </a:pPr>
            <a:r>
              <a:rPr b="0" i="0" lang="en-US" sz="1250" u="none" cap="none" strike="noStrike">
                <a:solidFill>
                  <a:srgbClr val="1B2A30"/>
                </a:solidFill>
                <a:latin typeface="Poppins"/>
                <a:ea typeface="Poppins"/>
                <a:cs typeface="Poppins"/>
                <a:sym typeface="Poppins"/>
              </a:rPr>
              <a:t>Everyone is somewhere on this line — and everyone moves along it.</a:t>
            </a:r>
            <a:endParaRPr b="0" i="0" sz="1250" u="none" cap="none" strike="noStrike">
              <a:solidFill>
                <a:schemeClr val="dk1"/>
              </a:solidFill>
              <a:latin typeface="Calibri"/>
              <a:ea typeface="Calibri"/>
              <a:cs typeface="Calibri"/>
              <a:sym typeface="Calibri"/>
            </a:endParaRPr>
          </a:p>
        </p:txBody>
      </p:sp>
      <p:sp>
        <p:nvSpPr>
          <p:cNvPr id="93" name="Google Shape;93;p6"/>
          <p:cNvSpPr/>
          <p:nvPr/>
        </p:nvSpPr>
        <p:spPr>
          <a:xfrm>
            <a:off x="502920" y="1371600"/>
            <a:ext cx="2034540" cy="475488"/>
          </a:xfrm>
          <a:prstGeom prst="rect">
            <a:avLst/>
          </a:prstGeom>
          <a:solidFill>
            <a:srgbClr val="592C82"/>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50292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Thriving</a:t>
            </a:r>
            <a:endParaRPr b="0" i="0" sz="1200" u="none" cap="none" strike="noStrike">
              <a:solidFill>
                <a:schemeClr val="dk1"/>
              </a:solidFill>
              <a:latin typeface="Calibri"/>
              <a:ea typeface="Calibri"/>
              <a:cs typeface="Calibri"/>
              <a:sym typeface="Calibri"/>
            </a:endParaRPr>
          </a:p>
        </p:txBody>
      </p:sp>
      <p:sp>
        <p:nvSpPr>
          <p:cNvPr id="95" name="Google Shape;95;p6"/>
          <p:cNvSpPr/>
          <p:nvPr/>
        </p:nvSpPr>
        <p:spPr>
          <a:xfrm>
            <a:off x="2537460" y="1371600"/>
            <a:ext cx="2034540" cy="475488"/>
          </a:xfrm>
          <a:prstGeom prst="rect">
            <a:avLst/>
          </a:prstGeom>
          <a:solidFill>
            <a:srgbClr val="7A55A3"/>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p:nvPr/>
        </p:nvSpPr>
        <p:spPr>
          <a:xfrm>
            <a:off x="253746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Coping</a:t>
            </a:r>
            <a:endParaRPr b="0" i="0" sz="1200" u="none" cap="none" strike="noStrike">
              <a:solidFill>
                <a:schemeClr val="dk1"/>
              </a:solidFill>
              <a:latin typeface="Calibri"/>
              <a:ea typeface="Calibri"/>
              <a:cs typeface="Calibri"/>
              <a:sym typeface="Calibri"/>
            </a:endParaRPr>
          </a:p>
        </p:txBody>
      </p:sp>
      <p:sp>
        <p:nvSpPr>
          <p:cNvPr id="97" name="Google Shape;97;p6"/>
          <p:cNvSpPr/>
          <p:nvPr/>
        </p:nvSpPr>
        <p:spPr>
          <a:xfrm>
            <a:off x="4572000" y="1371600"/>
            <a:ext cx="2034540" cy="475488"/>
          </a:xfrm>
          <a:prstGeom prst="rect">
            <a:avLst/>
          </a:prstGeom>
          <a:solidFill>
            <a:srgbClr val="9B7FC0"/>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6"/>
          <p:cNvSpPr/>
          <p:nvPr/>
        </p:nvSpPr>
        <p:spPr>
          <a:xfrm>
            <a:off x="457200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200"/>
              <a:buFont typeface="Poppins SemiBold"/>
              <a:buNone/>
            </a:pPr>
            <a:r>
              <a:rPr b="0" i="0" lang="en-US" sz="1200" u="none" cap="none" strike="noStrike">
                <a:solidFill>
                  <a:srgbClr val="0D2434"/>
                </a:solidFill>
                <a:latin typeface="Poppins SemiBold"/>
                <a:ea typeface="Poppins SemiBold"/>
                <a:cs typeface="Poppins SemiBold"/>
                <a:sym typeface="Poppins SemiBold"/>
              </a:rPr>
              <a:t>Struggling</a:t>
            </a:r>
            <a:endParaRPr b="0" i="0" sz="1200" u="none" cap="none" strike="noStrike">
              <a:solidFill>
                <a:schemeClr val="dk1"/>
              </a:solidFill>
              <a:latin typeface="Calibri"/>
              <a:ea typeface="Calibri"/>
              <a:cs typeface="Calibri"/>
              <a:sym typeface="Calibri"/>
            </a:endParaRPr>
          </a:p>
        </p:txBody>
      </p:sp>
      <p:sp>
        <p:nvSpPr>
          <p:cNvPr id="99" name="Google Shape;99;p6"/>
          <p:cNvSpPr/>
          <p:nvPr/>
        </p:nvSpPr>
        <p:spPr>
          <a:xfrm>
            <a:off x="6606540" y="1371600"/>
            <a:ext cx="2034540" cy="475488"/>
          </a:xfrm>
          <a:prstGeom prst="rect">
            <a:avLst/>
          </a:prstGeom>
          <a:solidFill>
            <a:srgbClr val="BCA9D8"/>
          </a:solidFill>
          <a:ln cap="flat" cmpd="sng" w="19050">
            <a:solidFill>
              <a:srgbClr val="FBFBF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6606540" y="1371600"/>
            <a:ext cx="203454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200"/>
              <a:buFont typeface="Poppins SemiBold"/>
              <a:buNone/>
            </a:pPr>
            <a:r>
              <a:rPr b="0" i="0" lang="en-US" sz="1200" u="none" cap="none" strike="noStrike">
                <a:solidFill>
                  <a:srgbClr val="0D2434"/>
                </a:solidFill>
                <a:latin typeface="Poppins SemiBold"/>
                <a:ea typeface="Poppins SemiBold"/>
                <a:cs typeface="Poppins SemiBold"/>
                <a:sym typeface="Poppins SemiBold"/>
              </a:rPr>
              <a:t>In crisis</a:t>
            </a:r>
            <a:endParaRPr b="0" i="0" sz="1200" u="none" cap="none" strike="noStrike">
              <a:solidFill>
                <a:schemeClr val="dk1"/>
              </a:solidFill>
              <a:latin typeface="Calibri"/>
              <a:ea typeface="Calibri"/>
              <a:cs typeface="Calibri"/>
              <a:sym typeface="Calibri"/>
            </a:endParaRPr>
          </a:p>
        </p:txBody>
      </p:sp>
      <p:sp>
        <p:nvSpPr>
          <p:cNvPr id="101" name="Google Shape;101;p6"/>
          <p:cNvSpPr/>
          <p:nvPr/>
        </p:nvSpPr>
        <p:spPr>
          <a:xfrm>
            <a:off x="502920" y="1938528"/>
            <a:ext cx="8138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You watched this line move last year — both ways. Year 2 is when workload peaks: the Final Major Project or Employer Set Project, the portfolio deadline, and the industry placement log — often arriving in the same window. Plan for it now.</a:t>
            </a:r>
            <a:endParaRPr b="0" i="0" sz="1050" u="none" cap="none" strike="noStrike">
              <a:solidFill>
                <a:schemeClr val="dk1"/>
              </a:solidFill>
              <a:latin typeface="Calibri"/>
              <a:ea typeface="Calibri"/>
              <a:cs typeface="Calibri"/>
              <a:sym typeface="Calibri"/>
            </a:endParaRPr>
          </a:p>
        </p:txBody>
      </p:sp>
      <p:sp>
        <p:nvSpPr>
          <p:cNvPr id="102" name="Google Shape;102;p6"/>
          <p:cNvSpPr/>
          <p:nvPr/>
        </p:nvSpPr>
        <p:spPr>
          <a:xfrm>
            <a:off x="502920" y="2359152"/>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What moves it — in both directions</a:t>
            </a:r>
            <a:endParaRPr b="0" i="0" sz="1400" u="none" cap="none" strike="noStrike">
              <a:solidFill>
                <a:schemeClr val="dk1"/>
              </a:solidFill>
              <a:latin typeface="Calibri"/>
              <a:ea typeface="Calibri"/>
              <a:cs typeface="Calibri"/>
              <a:sym typeface="Calibri"/>
            </a:endParaRPr>
          </a:p>
        </p:txBody>
      </p:sp>
      <p:sp>
        <p:nvSpPr>
          <p:cNvPr id="103" name="Google Shape;103;p6"/>
          <p:cNvSpPr/>
          <p:nvPr/>
        </p:nvSpPr>
        <p:spPr>
          <a:xfrm>
            <a:off x="786384"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4" name="Google Shape;104;p6"/>
          <p:cNvPicPr preferRelativeResize="0"/>
          <p:nvPr/>
        </p:nvPicPr>
        <p:blipFill rotWithShape="1">
          <a:blip r:embed="rId3">
            <a:alphaModFix/>
          </a:blip>
          <a:srcRect b="0" l="0" r="0" t="0"/>
          <a:stretch/>
        </p:blipFill>
        <p:spPr>
          <a:xfrm>
            <a:off x="896112" y="2807208"/>
            <a:ext cx="256032" cy="256032"/>
          </a:xfrm>
          <a:prstGeom prst="rect">
            <a:avLst/>
          </a:prstGeom>
          <a:noFill/>
          <a:ln>
            <a:noFill/>
          </a:ln>
        </p:spPr>
      </p:pic>
      <p:sp>
        <p:nvSpPr>
          <p:cNvPr id="105" name="Google Shape;105;p6"/>
          <p:cNvSpPr/>
          <p:nvPr/>
        </p:nvSpPr>
        <p:spPr>
          <a:xfrm>
            <a:off x="502920"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Sleep</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1920240"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7" name="Google Shape;107;p6"/>
          <p:cNvPicPr preferRelativeResize="0"/>
          <p:nvPr/>
        </p:nvPicPr>
        <p:blipFill rotWithShape="1">
          <a:blip r:embed="rId4">
            <a:alphaModFix/>
          </a:blip>
          <a:srcRect b="0" l="0" r="0" t="0"/>
          <a:stretch/>
        </p:blipFill>
        <p:spPr>
          <a:xfrm>
            <a:off x="2029968" y="2807208"/>
            <a:ext cx="256032" cy="256032"/>
          </a:xfrm>
          <a:prstGeom prst="rect">
            <a:avLst/>
          </a:prstGeom>
          <a:noFill/>
          <a:ln>
            <a:noFill/>
          </a:ln>
        </p:spPr>
      </p:pic>
      <p:sp>
        <p:nvSpPr>
          <p:cNvPr id="108" name="Google Shape;108;p6"/>
          <p:cNvSpPr/>
          <p:nvPr/>
        </p:nvSpPr>
        <p:spPr>
          <a:xfrm>
            <a:off x="1636776"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Money</a:t>
            </a:r>
            <a:endParaRPr b="0" i="0" sz="1000" u="none" cap="none" strike="noStrike">
              <a:solidFill>
                <a:schemeClr val="dk1"/>
              </a:solidFill>
              <a:latin typeface="Calibri"/>
              <a:ea typeface="Calibri"/>
              <a:cs typeface="Calibri"/>
              <a:sym typeface="Calibri"/>
            </a:endParaRPr>
          </a:p>
        </p:txBody>
      </p:sp>
      <p:sp>
        <p:nvSpPr>
          <p:cNvPr id="109" name="Google Shape;109;p6"/>
          <p:cNvSpPr/>
          <p:nvPr/>
        </p:nvSpPr>
        <p:spPr>
          <a:xfrm>
            <a:off x="3054096"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0" name="Google Shape;110;p6"/>
          <p:cNvPicPr preferRelativeResize="0"/>
          <p:nvPr/>
        </p:nvPicPr>
        <p:blipFill rotWithShape="1">
          <a:blip r:embed="rId5">
            <a:alphaModFix/>
          </a:blip>
          <a:srcRect b="0" l="0" r="0" t="0"/>
          <a:stretch/>
        </p:blipFill>
        <p:spPr>
          <a:xfrm>
            <a:off x="3163824" y="2807208"/>
            <a:ext cx="256032" cy="256032"/>
          </a:xfrm>
          <a:prstGeom prst="rect">
            <a:avLst/>
          </a:prstGeom>
          <a:noFill/>
          <a:ln>
            <a:noFill/>
          </a:ln>
        </p:spPr>
      </p:pic>
      <p:sp>
        <p:nvSpPr>
          <p:cNvPr id="111" name="Google Shape;111;p6"/>
          <p:cNvSpPr/>
          <p:nvPr/>
        </p:nvSpPr>
        <p:spPr>
          <a:xfrm>
            <a:off x="2770632"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People</a:t>
            </a:r>
            <a:endParaRPr b="0" i="0" sz="1000" u="none" cap="none" strike="noStrike">
              <a:solidFill>
                <a:schemeClr val="dk1"/>
              </a:solidFill>
              <a:latin typeface="Calibri"/>
              <a:ea typeface="Calibri"/>
              <a:cs typeface="Calibri"/>
              <a:sym typeface="Calibri"/>
            </a:endParaRPr>
          </a:p>
        </p:txBody>
      </p:sp>
      <p:sp>
        <p:nvSpPr>
          <p:cNvPr id="112" name="Google Shape;112;p6"/>
          <p:cNvSpPr/>
          <p:nvPr/>
        </p:nvSpPr>
        <p:spPr>
          <a:xfrm>
            <a:off x="4187952"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3" name="Google Shape;113;p6"/>
          <p:cNvPicPr preferRelativeResize="0"/>
          <p:nvPr/>
        </p:nvPicPr>
        <p:blipFill rotWithShape="1">
          <a:blip r:embed="rId6">
            <a:alphaModFix/>
          </a:blip>
          <a:srcRect b="0" l="0" r="0" t="0"/>
          <a:stretch/>
        </p:blipFill>
        <p:spPr>
          <a:xfrm>
            <a:off x="4297680" y="2807208"/>
            <a:ext cx="256032" cy="256032"/>
          </a:xfrm>
          <a:prstGeom prst="rect">
            <a:avLst/>
          </a:prstGeom>
          <a:noFill/>
          <a:ln>
            <a:noFill/>
          </a:ln>
        </p:spPr>
      </p:pic>
      <p:sp>
        <p:nvSpPr>
          <p:cNvPr id="114" name="Google Shape;114;p6"/>
          <p:cNvSpPr/>
          <p:nvPr/>
        </p:nvSpPr>
        <p:spPr>
          <a:xfrm>
            <a:off x="3904488"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Workload</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5321808"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6" name="Google Shape;116;p6"/>
          <p:cNvPicPr preferRelativeResize="0"/>
          <p:nvPr/>
        </p:nvPicPr>
        <p:blipFill rotWithShape="1">
          <a:blip r:embed="rId7">
            <a:alphaModFix/>
          </a:blip>
          <a:srcRect b="0" l="0" r="0" t="0"/>
          <a:stretch/>
        </p:blipFill>
        <p:spPr>
          <a:xfrm>
            <a:off x="5431536" y="2807208"/>
            <a:ext cx="256032" cy="256032"/>
          </a:xfrm>
          <a:prstGeom prst="rect">
            <a:avLst/>
          </a:prstGeom>
          <a:noFill/>
          <a:ln>
            <a:noFill/>
          </a:ln>
        </p:spPr>
      </p:pic>
      <p:sp>
        <p:nvSpPr>
          <p:cNvPr id="117" name="Google Shape;117;p6"/>
          <p:cNvSpPr/>
          <p:nvPr/>
        </p:nvSpPr>
        <p:spPr>
          <a:xfrm>
            <a:off x="5038344"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Home life</a:t>
            </a:r>
            <a:endParaRPr b="0" i="0" sz="1000" u="none" cap="none" strike="noStrike">
              <a:solidFill>
                <a:schemeClr val="dk1"/>
              </a:solidFill>
              <a:latin typeface="Calibri"/>
              <a:ea typeface="Calibri"/>
              <a:cs typeface="Calibri"/>
              <a:sym typeface="Calibri"/>
            </a:endParaRPr>
          </a:p>
        </p:txBody>
      </p:sp>
      <p:sp>
        <p:nvSpPr>
          <p:cNvPr id="118" name="Google Shape;118;p6"/>
          <p:cNvSpPr/>
          <p:nvPr/>
        </p:nvSpPr>
        <p:spPr>
          <a:xfrm>
            <a:off x="6455664" y="2697480"/>
            <a:ext cx="475488" cy="475488"/>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19" name="Google Shape;119;p6"/>
          <p:cNvPicPr preferRelativeResize="0"/>
          <p:nvPr/>
        </p:nvPicPr>
        <p:blipFill rotWithShape="1">
          <a:blip r:embed="rId8">
            <a:alphaModFix/>
          </a:blip>
          <a:srcRect b="0" l="0" r="0" t="0"/>
          <a:stretch/>
        </p:blipFill>
        <p:spPr>
          <a:xfrm>
            <a:off x="6565392" y="2807208"/>
            <a:ext cx="256032" cy="256032"/>
          </a:xfrm>
          <a:prstGeom prst="rect">
            <a:avLst/>
          </a:prstGeom>
          <a:noFill/>
          <a:ln>
            <a:noFill/>
          </a:ln>
        </p:spPr>
      </p:pic>
      <p:sp>
        <p:nvSpPr>
          <p:cNvPr id="120" name="Google Shape;120;p6"/>
          <p:cNvSpPr/>
          <p:nvPr/>
        </p:nvSpPr>
        <p:spPr>
          <a:xfrm>
            <a:off x="6172200" y="3218688"/>
            <a:ext cx="1042416"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30"/>
              </a:buClr>
              <a:buSzPts val="1000"/>
              <a:buFont typeface="Poppins"/>
              <a:buNone/>
            </a:pPr>
            <a:r>
              <a:rPr b="0" i="0" lang="en-US" sz="1000" u="none" cap="none" strike="noStrike">
                <a:solidFill>
                  <a:srgbClr val="1B2A30"/>
                </a:solidFill>
                <a:latin typeface="Poppins"/>
                <a:ea typeface="Poppins"/>
                <a:cs typeface="Poppins"/>
                <a:sym typeface="Poppins"/>
              </a:rPr>
              <a:t>Movement</a:t>
            </a:r>
            <a:endParaRPr b="0" i="0" sz="1000" u="none" cap="none" strike="noStrike">
              <a:solidFill>
                <a:schemeClr val="dk1"/>
              </a:solidFill>
              <a:latin typeface="Calibri"/>
              <a:ea typeface="Calibri"/>
              <a:cs typeface="Calibri"/>
              <a:sym typeface="Calibri"/>
            </a:endParaRPr>
          </a:p>
        </p:txBody>
      </p:sp>
      <p:sp>
        <p:nvSpPr>
          <p:cNvPr id="121" name="Google Shape;121;p6"/>
          <p:cNvSpPr/>
          <p:nvPr/>
        </p:nvSpPr>
        <p:spPr>
          <a:xfrm>
            <a:off x="502920" y="3767328"/>
            <a:ext cx="8138160" cy="77724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6"/>
          <p:cNvSpPr/>
          <p:nvPr/>
        </p:nvSpPr>
        <p:spPr>
          <a:xfrm>
            <a:off x="649224" y="3813048"/>
            <a:ext cx="7845552"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250"/>
              <a:buFont typeface="Poppins SemiBold"/>
              <a:buNone/>
            </a:pPr>
            <a:r>
              <a:rPr b="0" i="0" lang="en-US" sz="1250" u="none" cap="none" strike="noStrike">
                <a:solidFill>
                  <a:srgbClr val="0D2434"/>
                </a:solidFill>
                <a:latin typeface="Poppins SemiBold"/>
                <a:ea typeface="Poppins SemiBold"/>
                <a:cs typeface="Poppins SemiBold"/>
                <a:sym typeface="Poppins SemiBold"/>
              </a:rPr>
              <a:t>At ESCG, mental health is a normal topic of conversation. </a:t>
            </a:r>
            <a:r>
              <a:rPr b="0" i="0" lang="en-US" sz="1200" u="none" cap="none" strike="noStrike">
                <a:solidFill>
                  <a:srgbClr val="0D2434"/>
                </a:solidFill>
                <a:latin typeface="Poppins"/>
                <a:ea typeface="Poppins"/>
                <a:cs typeface="Poppins"/>
                <a:sym typeface="Poppins"/>
              </a:rPr>
              <a:t>Saying "I'm struggling" is information, not weakness — and we can only work with what we know. Attending production sessions and industry placements while the Final Major Project is stalling. Submitting work that meets the brief while the skills needed for final assessment haven't consolidated.</a:t>
            </a:r>
            <a:endParaRPr b="0" i="0" sz="1250" u="none" cap="none" strike="noStrike">
              <a:solidFill>
                <a:schemeClr val="dk1"/>
              </a:solidFill>
              <a:latin typeface="Calibri"/>
              <a:ea typeface="Calibri"/>
              <a:cs typeface="Calibri"/>
              <a:sym typeface="Calibri"/>
            </a:endParaRPr>
          </a:p>
        </p:txBody>
      </p:sp>
      <p:sp>
        <p:nvSpPr>
          <p:cNvPr id="123" name="Google Shape;123;p6"/>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28" name="Shape 128"/>
        <p:cNvGrpSpPr/>
        <p:nvPr/>
      </p:nvGrpSpPr>
      <p:grpSpPr>
        <a:xfrm>
          <a:off x="0" y="0"/>
          <a:ext cx="0" cy="0"/>
          <a:chOff x="0" y="0"/>
          <a:chExt cx="0" cy="0"/>
        </a:xfrm>
      </p:grpSpPr>
      <p:sp>
        <p:nvSpPr>
          <p:cNvPr id="129" name="Google Shape;129;p7"/>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31" name="Google Shape;131;p7"/>
          <p:cNvSpPr/>
          <p:nvPr/>
        </p:nvSpPr>
        <p:spPr>
          <a:xfrm>
            <a:off x="153775" y="90950"/>
            <a:ext cx="7298700" cy="613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Stress — spot it early, deal with it honestly</a:t>
            </a:r>
            <a:endParaRPr b="0" i="0" sz="2600" u="none" cap="none" strike="noStrike">
              <a:solidFill>
                <a:schemeClr val="dk1"/>
              </a:solidFill>
              <a:latin typeface="Calibri"/>
              <a:ea typeface="Calibri"/>
              <a:cs typeface="Calibri"/>
              <a:sym typeface="Calibri"/>
            </a:endParaRPr>
          </a:p>
        </p:txBody>
      </p:sp>
      <p:sp>
        <p:nvSpPr>
          <p:cNvPr id="132" name="Google Shape;132;p7"/>
          <p:cNvSpPr/>
          <p:nvPr/>
        </p:nvSpPr>
        <p:spPr>
          <a:xfrm>
            <a:off x="153775" y="704150"/>
            <a:ext cx="4235400" cy="41286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382982" y="955406"/>
            <a:ext cx="3786900" cy="41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What it looks like</a:t>
            </a:r>
            <a:endParaRPr b="0" i="0" sz="1400" u="none" cap="none" strike="noStrike">
              <a:solidFill>
                <a:schemeClr val="dk1"/>
              </a:solidFill>
              <a:latin typeface="Calibri"/>
              <a:ea typeface="Calibri"/>
              <a:cs typeface="Calibri"/>
              <a:sym typeface="Calibri"/>
            </a:endParaRPr>
          </a:p>
        </p:txBody>
      </p:sp>
      <p:sp>
        <p:nvSpPr>
          <p:cNvPr id="134" name="Google Shape;134;p7"/>
          <p:cNvSpPr/>
          <p:nvPr/>
        </p:nvSpPr>
        <p:spPr>
          <a:xfrm>
            <a:off x="382982" y="1457918"/>
            <a:ext cx="3786900" cy="1884300"/>
          </a:xfrm>
          <a:prstGeom prst="rect">
            <a:avLst/>
          </a:prstGeom>
          <a:noFill/>
          <a:ln>
            <a:noFill/>
          </a:ln>
        </p:spPr>
        <p:txBody>
          <a:bodyPr anchorCtr="0" anchor="ctr" bIns="0" lIns="0" spcFirstLastPara="1" rIns="0" wrap="square" tIns="0">
            <a:noAutofit/>
          </a:bodyPr>
          <a:lstStyle/>
          <a:p>
            <a:pPr indent="-127000" lvl="0" marL="127000" marR="0" rtl="0" algn="l">
              <a:spcBef>
                <a:spcPts val="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Can't switch off — or can't get started</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Sleep shifts — too little, or hiding in it</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Short fuse with people you actually like</a:t>
            </a:r>
            <a:endParaRPr b="0" i="0" sz="1150" u="none" cap="none" strike="noStrike">
              <a:solidFill>
                <a:schemeClr val="dk1"/>
              </a:solidFill>
              <a:latin typeface="Calibri"/>
              <a:ea typeface="Calibri"/>
              <a:cs typeface="Calibri"/>
              <a:sym typeface="Calibri"/>
            </a:endParaRPr>
          </a:p>
          <a:p>
            <a:pPr indent="-127000" lvl="0" marL="127000" marR="0" rtl="0" algn="l">
              <a:spcBef>
                <a:spcPts val="600"/>
              </a:spcBef>
              <a:spcAft>
                <a:spcPts val="0"/>
              </a:spcAft>
              <a:buClr>
                <a:srgbClr val="1B2A30"/>
              </a:buClr>
              <a:buSzPts val="1150"/>
              <a:buFont typeface="Poppins"/>
              <a:buChar char="•"/>
            </a:pPr>
            <a:r>
              <a:rPr b="0" i="0" lang="en-US" sz="1150" u="none" cap="none" strike="noStrike">
                <a:solidFill>
                  <a:srgbClr val="1B2A30"/>
                </a:solidFill>
                <a:latin typeface="Poppins"/>
                <a:ea typeface="Poppins"/>
                <a:cs typeface="Poppins"/>
                <a:sym typeface="Poppins"/>
              </a:rPr>
              <a:t>Avoiding the exact thing causing it — not opening the Final Major Project document because the scale of it is paralysing, or skipping a production session because Year 2 feels like exactly the wrong time to admit a technical gap</a:t>
            </a:r>
            <a:endParaRPr b="0" i="0" sz="1150" u="none" cap="none" strike="noStrike">
              <a:solidFill>
                <a:schemeClr val="dk1"/>
              </a:solidFill>
              <a:latin typeface="Calibri"/>
              <a:ea typeface="Calibri"/>
              <a:cs typeface="Calibri"/>
              <a:sym typeface="Calibri"/>
            </a:endParaRPr>
          </a:p>
        </p:txBody>
      </p:sp>
      <p:sp>
        <p:nvSpPr>
          <p:cNvPr id="135" name="Google Shape;135;p7"/>
          <p:cNvSpPr/>
          <p:nvPr/>
        </p:nvSpPr>
        <p:spPr>
          <a:xfrm>
            <a:off x="382982" y="3719222"/>
            <a:ext cx="3786900" cy="837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SemiBold"/>
              <a:buNone/>
            </a:pPr>
            <a:r>
              <a:rPr b="0" i="0" lang="en-US" sz="1050" u="none" cap="none" strike="noStrike">
                <a:solidFill>
                  <a:srgbClr val="5A6A6F"/>
                </a:solidFill>
                <a:latin typeface="Poppins SemiBold"/>
                <a:ea typeface="Poppins SemiBold"/>
                <a:cs typeface="Poppins SemiBold"/>
                <a:sym typeface="Poppins SemiBold"/>
              </a:rPr>
              <a:t>Common Year 2 triggers: </a:t>
            </a:r>
            <a:r>
              <a:rPr b="0" i="0" lang="en-US" sz="1050" u="none" cap="none" strike="noStrike">
                <a:solidFill>
                  <a:srgbClr val="5A6A6F"/>
                </a:solidFill>
                <a:latin typeface="Poppins"/>
                <a:ea typeface="Poppins"/>
                <a:cs typeface="Poppins"/>
                <a:sym typeface="Poppins"/>
              </a:rPr>
              <a:t>final-year workload, placements, everything counting towards the grade, paid work, money, home. Specifically in this department: the Final Major Project or Employer Set Project requiring independent creative decisions at the same time as ongoing unit submissions — the scope of that is bigger than it looked in September.</a:t>
            </a:r>
            <a:endParaRPr b="0" i="0" sz="1050" u="none" cap="none" strike="noStrike">
              <a:solidFill>
                <a:schemeClr val="dk1"/>
              </a:solidFill>
              <a:latin typeface="Calibri"/>
              <a:ea typeface="Calibri"/>
              <a:cs typeface="Calibri"/>
              <a:sym typeface="Calibri"/>
            </a:endParaRPr>
          </a:p>
        </p:txBody>
      </p:sp>
      <p:sp>
        <p:nvSpPr>
          <p:cNvPr id="136" name="Google Shape;136;p7"/>
          <p:cNvSpPr/>
          <p:nvPr/>
        </p:nvSpPr>
        <p:spPr>
          <a:xfrm>
            <a:off x="4663440" y="1024128"/>
            <a:ext cx="3977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What the evidence says actually works</a:t>
            </a:r>
            <a:endParaRPr b="0" i="0" sz="1400" u="none" cap="none" strike="noStrike">
              <a:solidFill>
                <a:schemeClr val="dk1"/>
              </a:solidFill>
              <a:latin typeface="Calibri"/>
              <a:ea typeface="Calibri"/>
              <a:cs typeface="Calibri"/>
              <a:sym typeface="Calibri"/>
            </a:endParaRPr>
          </a:p>
        </p:txBody>
      </p:sp>
      <p:sp>
        <p:nvSpPr>
          <p:cNvPr id="137" name="Google Shape;137;p7"/>
          <p:cNvSpPr/>
          <p:nvPr/>
        </p:nvSpPr>
        <p:spPr>
          <a:xfrm>
            <a:off x="4663440" y="1389888"/>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8" name="Google Shape;138;p7"/>
          <p:cNvPicPr preferRelativeResize="0"/>
          <p:nvPr/>
        </p:nvPicPr>
        <p:blipFill rotWithShape="1">
          <a:blip r:embed="rId3">
            <a:alphaModFix/>
          </a:blip>
          <a:srcRect b="0" l="0" r="0" t="0"/>
          <a:stretch/>
        </p:blipFill>
        <p:spPr>
          <a:xfrm>
            <a:off x="4800600" y="1508760"/>
            <a:ext cx="237744" cy="237744"/>
          </a:xfrm>
          <a:prstGeom prst="rect">
            <a:avLst/>
          </a:prstGeom>
          <a:noFill/>
          <a:ln>
            <a:noFill/>
          </a:ln>
        </p:spPr>
      </p:pic>
      <p:sp>
        <p:nvSpPr>
          <p:cNvPr id="139" name="Google Shape;139;p7"/>
          <p:cNvSpPr/>
          <p:nvPr/>
        </p:nvSpPr>
        <p:spPr>
          <a:xfrm>
            <a:off x="5120640" y="1481328"/>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Move</a:t>
            </a:r>
            <a:endParaRPr b="0" i="0" sz="1250" u="none" cap="none" strike="noStrike">
              <a:solidFill>
                <a:schemeClr val="dk1"/>
              </a:solidFill>
              <a:latin typeface="Calibri"/>
              <a:ea typeface="Calibri"/>
              <a:cs typeface="Calibri"/>
              <a:sym typeface="Calibri"/>
            </a:endParaRPr>
          </a:p>
        </p:txBody>
      </p:sp>
      <p:sp>
        <p:nvSpPr>
          <p:cNvPr id="140" name="Google Shape;140;p7"/>
          <p:cNvSpPr/>
          <p:nvPr/>
        </p:nvSpPr>
        <p:spPr>
          <a:xfrm>
            <a:off x="4800600" y="1792224"/>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Regular physical activity — a walk counts. It doesn't have to be a gym.</a:t>
            </a:r>
            <a:endParaRPr b="0" i="0" sz="880" u="none" cap="none" strike="noStrike">
              <a:solidFill>
                <a:schemeClr val="dk1"/>
              </a:solidFill>
              <a:latin typeface="Calibri"/>
              <a:ea typeface="Calibri"/>
              <a:cs typeface="Calibri"/>
              <a:sym typeface="Calibri"/>
            </a:endParaRPr>
          </a:p>
        </p:txBody>
      </p:sp>
      <p:sp>
        <p:nvSpPr>
          <p:cNvPr id="141" name="Google Shape;141;p7"/>
          <p:cNvSpPr/>
          <p:nvPr/>
        </p:nvSpPr>
        <p:spPr>
          <a:xfrm>
            <a:off x="6720840" y="1389888"/>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2" name="Google Shape;142;p7"/>
          <p:cNvPicPr preferRelativeResize="0"/>
          <p:nvPr/>
        </p:nvPicPr>
        <p:blipFill rotWithShape="1">
          <a:blip r:embed="rId4">
            <a:alphaModFix/>
          </a:blip>
          <a:srcRect b="0" l="0" r="0" t="0"/>
          <a:stretch/>
        </p:blipFill>
        <p:spPr>
          <a:xfrm>
            <a:off x="6858000" y="1508760"/>
            <a:ext cx="237744" cy="237744"/>
          </a:xfrm>
          <a:prstGeom prst="rect">
            <a:avLst/>
          </a:prstGeom>
          <a:noFill/>
          <a:ln>
            <a:noFill/>
          </a:ln>
        </p:spPr>
      </p:pic>
      <p:sp>
        <p:nvSpPr>
          <p:cNvPr id="143" name="Google Shape;143;p7"/>
          <p:cNvSpPr/>
          <p:nvPr/>
        </p:nvSpPr>
        <p:spPr>
          <a:xfrm>
            <a:off x="7178040" y="1481328"/>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Connect</a:t>
            </a:r>
            <a:endParaRPr b="0" i="0" sz="1250" u="none" cap="none" strike="noStrike">
              <a:solidFill>
                <a:schemeClr val="dk1"/>
              </a:solidFill>
              <a:latin typeface="Calibri"/>
              <a:ea typeface="Calibri"/>
              <a:cs typeface="Calibri"/>
              <a:sym typeface="Calibri"/>
            </a:endParaRPr>
          </a:p>
        </p:txBody>
      </p:sp>
      <p:sp>
        <p:nvSpPr>
          <p:cNvPr id="144" name="Google Shape;144;p7"/>
          <p:cNvSpPr/>
          <p:nvPr/>
        </p:nvSpPr>
        <p:spPr>
          <a:xfrm>
            <a:off x="6858000" y="1792224"/>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Time with people, in person. Isolation feeds stress; company starves it.</a:t>
            </a:r>
            <a:endParaRPr b="0" i="0" sz="880" u="none" cap="none" strike="noStrike">
              <a:solidFill>
                <a:schemeClr val="dk1"/>
              </a:solidFill>
              <a:latin typeface="Calibri"/>
              <a:ea typeface="Calibri"/>
              <a:cs typeface="Calibri"/>
              <a:sym typeface="Calibri"/>
            </a:endParaRPr>
          </a:p>
        </p:txBody>
      </p:sp>
      <p:sp>
        <p:nvSpPr>
          <p:cNvPr id="145" name="Google Shape;145;p7"/>
          <p:cNvSpPr/>
          <p:nvPr/>
        </p:nvSpPr>
        <p:spPr>
          <a:xfrm>
            <a:off x="4663440" y="2606040"/>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6" name="Google Shape;146;p7"/>
          <p:cNvPicPr preferRelativeResize="0"/>
          <p:nvPr/>
        </p:nvPicPr>
        <p:blipFill rotWithShape="1">
          <a:blip r:embed="rId5">
            <a:alphaModFix/>
          </a:blip>
          <a:srcRect b="0" l="0" r="0" t="0"/>
          <a:stretch/>
        </p:blipFill>
        <p:spPr>
          <a:xfrm>
            <a:off x="4800600" y="2724912"/>
            <a:ext cx="237744" cy="237744"/>
          </a:xfrm>
          <a:prstGeom prst="rect">
            <a:avLst/>
          </a:prstGeom>
          <a:noFill/>
          <a:ln>
            <a:noFill/>
          </a:ln>
        </p:spPr>
      </p:pic>
      <p:sp>
        <p:nvSpPr>
          <p:cNvPr id="147" name="Google Shape;147;p7"/>
          <p:cNvSpPr/>
          <p:nvPr/>
        </p:nvSpPr>
        <p:spPr>
          <a:xfrm>
            <a:off x="5120640" y="26974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Sleep</a:t>
            </a:r>
            <a:endParaRPr b="0" i="0" sz="1250" u="none" cap="none" strike="noStrike">
              <a:solidFill>
                <a:schemeClr val="dk1"/>
              </a:solidFill>
              <a:latin typeface="Calibri"/>
              <a:ea typeface="Calibri"/>
              <a:cs typeface="Calibri"/>
              <a:sym typeface="Calibri"/>
            </a:endParaRPr>
          </a:p>
        </p:txBody>
      </p:sp>
      <p:sp>
        <p:nvSpPr>
          <p:cNvPr id="148" name="Google Shape;148;p7"/>
          <p:cNvSpPr/>
          <p:nvPr/>
        </p:nvSpPr>
        <p:spPr>
          <a:xfrm>
            <a:off x="4800600" y="3008376"/>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Protect it. It's the next slide, because it earns one.</a:t>
            </a:r>
            <a:endParaRPr b="0" i="0" sz="880" u="none" cap="none" strike="noStrike">
              <a:solidFill>
                <a:schemeClr val="dk1"/>
              </a:solidFill>
              <a:latin typeface="Calibri"/>
              <a:ea typeface="Calibri"/>
              <a:cs typeface="Calibri"/>
              <a:sym typeface="Calibri"/>
            </a:endParaRPr>
          </a:p>
        </p:txBody>
      </p:sp>
      <p:sp>
        <p:nvSpPr>
          <p:cNvPr id="149" name="Google Shape;149;p7"/>
          <p:cNvSpPr/>
          <p:nvPr/>
        </p:nvSpPr>
        <p:spPr>
          <a:xfrm>
            <a:off x="6720840" y="2606040"/>
            <a:ext cx="1920240" cy="1078992"/>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7"/>
          <p:cNvPicPr preferRelativeResize="0"/>
          <p:nvPr/>
        </p:nvPicPr>
        <p:blipFill rotWithShape="1">
          <a:blip r:embed="rId6">
            <a:alphaModFix/>
          </a:blip>
          <a:srcRect b="0" l="0" r="0" t="0"/>
          <a:stretch/>
        </p:blipFill>
        <p:spPr>
          <a:xfrm>
            <a:off x="6858000" y="2724912"/>
            <a:ext cx="237744" cy="237744"/>
          </a:xfrm>
          <a:prstGeom prst="rect">
            <a:avLst/>
          </a:prstGeom>
          <a:noFill/>
          <a:ln>
            <a:noFill/>
          </a:ln>
        </p:spPr>
      </p:pic>
      <p:sp>
        <p:nvSpPr>
          <p:cNvPr id="151" name="Google Shape;151;p7"/>
          <p:cNvSpPr/>
          <p:nvPr/>
        </p:nvSpPr>
        <p:spPr>
          <a:xfrm>
            <a:off x="7178040" y="2697480"/>
            <a:ext cx="1371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250"/>
              <a:buFont typeface="Poppins SemiBold"/>
              <a:buNone/>
            </a:pPr>
            <a:r>
              <a:rPr b="0" i="0" lang="en-US" sz="1250" u="none" cap="none" strike="noStrike">
                <a:solidFill>
                  <a:srgbClr val="592C82"/>
                </a:solidFill>
                <a:latin typeface="Poppins SemiBold"/>
                <a:ea typeface="Poppins SemiBold"/>
                <a:cs typeface="Poppins SemiBold"/>
                <a:sym typeface="Poppins SemiBold"/>
              </a:rPr>
              <a:t>Talk</a:t>
            </a:r>
            <a:endParaRPr b="0" i="0" sz="1250" u="none" cap="none" strike="noStrike">
              <a:solidFill>
                <a:schemeClr val="dk1"/>
              </a:solidFill>
              <a:latin typeface="Calibri"/>
              <a:ea typeface="Calibri"/>
              <a:cs typeface="Calibri"/>
              <a:sym typeface="Calibri"/>
            </a:endParaRPr>
          </a:p>
        </p:txBody>
      </p:sp>
      <p:sp>
        <p:nvSpPr>
          <p:cNvPr id="152" name="Google Shape;152;p7"/>
          <p:cNvSpPr/>
          <p:nvPr/>
        </p:nvSpPr>
        <p:spPr>
          <a:xfrm>
            <a:off x="6858000" y="3008376"/>
            <a:ext cx="1664208" cy="6400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880"/>
              <a:buFont typeface="Poppins"/>
              <a:buNone/>
            </a:pPr>
            <a:r>
              <a:rPr b="0" i="0" lang="en-US" sz="880" u="none" cap="none" strike="noStrike">
                <a:solidFill>
                  <a:srgbClr val="1B2A30"/>
                </a:solidFill>
                <a:latin typeface="Poppins"/>
                <a:ea typeface="Poppins"/>
                <a:cs typeface="Poppins"/>
                <a:sym typeface="Poppins"/>
              </a:rPr>
              <a:t>Naming it to someone halves its size. Every time.</a:t>
            </a:r>
            <a:endParaRPr b="0" i="0" sz="880" u="none" cap="none" strike="noStrike">
              <a:solidFill>
                <a:schemeClr val="dk1"/>
              </a:solidFill>
              <a:latin typeface="Calibri"/>
              <a:ea typeface="Calibri"/>
              <a:cs typeface="Calibri"/>
              <a:sym typeface="Calibri"/>
            </a:endParaRPr>
          </a:p>
        </p:txBody>
      </p:sp>
      <p:sp>
        <p:nvSpPr>
          <p:cNvPr id="153" name="Google Shape;153;p7"/>
          <p:cNvSpPr/>
          <p:nvPr/>
        </p:nvSpPr>
        <p:spPr>
          <a:xfrm>
            <a:off x="4663440" y="3877056"/>
            <a:ext cx="3977640" cy="457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None of this is a personality upgrade. It's maintenance — the same as eating and washing.</a:t>
            </a:r>
            <a:endParaRPr b="0" i="0" sz="1050" u="none" cap="none" strike="noStrike">
              <a:solidFill>
                <a:schemeClr val="dk1"/>
              </a:solidFill>
              <a:latin typeface="Calibri"/>
              <a:ea typeface="Calibri"/>
              <a:cs typeface="Calibri"/>
              <a:sym typeface="Calibri"/>
            </a:endParaRPr>
          </a:p>
        </p:txBody>
      </p:sp>
      <p:sp>
        <p:nvSpPr>
          <p:cNvPr id="154" name="Google Shape;154;p7"/>
          <p:cNvSpPr/>
          <p:nvPr/>
        </p:nvSpPr>
        <p:spPr>
          <a:xfrm>
            <a:off x="4800595" y="4459133"/>
            <a:ext cx="3886200" cy="5487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Stress in small doses is normal and useful. It's when it stops switching off that it costs you.</a:t>
            </a:r>
            <a:endParaRPr b="0" i="0" sz="1050" u="none" cap="none" strike="noStrike">
              <a:solidFill>
                <a:schemeClr val="dk1"/>
              </a:solidFill>
              <a:latin typeface="Calibri"/>
              <a:ea typeface="Calibri"/>
              <a:cs typeface="Calibri"/>
              <a:sym typeface="Calibri"/>
            </a:endParaRPr>
          </a:p>
        </p:txBody>
      </p:sp>
      <p:sp>
        <p:nvSpPr>
          <p:cNvPr id="155" name="Google Shape;155;p7"/>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0" name="Shape 160"/>
        <p:cNvGrpSpPr/>
        <p:nvPr/>
      </p:nvGrpSpPr>
      <p:grpSpPr>
        <a:xfrm>
          <a:off x="0" y="0"/>
          <a:ext cx="0" cy="0"/>
          <a:chOff x="0" y="0"/>
          <a:chExt cx="0" cy="0"/>
        </a:xfrm>
      </p:grpSpPr>
      <p:sp>
        <p:nvSpPr>
          <p:cNvPr id="161" name="Google Shape;161;p8"/>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63" name="Google Shape;163;p8"/>
          <p:cNvSpPr/>
          <p:nvPr/>
        </p:nvSpPr>
        <p:spPr>
          <a:xfrm>
            <a:off x="99625" y="123450"/>
            <a:ext cx="7352700" cy="56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Sleep — the study tool most students ignore</a:t>
            </a:r>
            <a:endParaRPr b="0" i="0" sz="2600" u="none" cap="none" strike="noStrike">
              <a:solidFill>
                <a:schemeClr val="dk1"/>
              </a:solidFill>
              <a:latin typeface="Calibri"/>
              <a:ea typeface="Calibri"/>
              <a:cs typeface="Calibri"/>
              <a:sym typeface="Calibri"/>
            </a:endParaRPr>
          </a:p>
        </p:txBody>
      </p:sp>
      <p:sp>
        <p:nvSpPr>
          <p:cNvPr id="164" name="Google Shape;164;p8"/>
          <p:cNvSpPr/>
          <p:nvPr/>
        </p:nvSpPr>
        <p:spPr>
          <a:xfrm>
            <a:off x="164600" y="690450"/>
            <a:ext cx="4270200" cy="31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00"/>
              <a:buFont typeface="Poppins SemiBold"/>
              <a:buNone/>
            </a:pPr>
            <a:r>
              <a:rPr b="0" i="0" lang="en-US" sz="1400" u="none" cap="none" strike="noStrike">
                <a:solidFill>
                  <a:srgbClr val="1B2A30"/>
                </a:solidFill>
                <a:latin typeface="Poppins SemiBold"/>
                <a:ea typeface="Poppins SemiBold"/>
                <a:cs typeface="Poppins SemiBold"/>
                <a:sym typeface="Poppins SemiBold"/>
              </a:rPr>
              <a:t>Why it matters for your grades</a:t>
            </a:r>
            <a:endParaRPr b="0" i="0" sz="1400" u="none" cap="none" strike="noStrike">
              <a:solidFill>
                <a:schemeClr val="dk1"/>
              </a:solidFill>
              <a:latin typeface="Calibri"/>
              <a:ea typeface="Calibri"/>
              <a:cs typeface="Calibri"/>
              <a:sym typeface="Calibri"/>
            </a:endParaRPr>
          </a:p>
        </p:txBody>
      </p:sp>
      <p:sp>
        <p:nvSpPr>
          <p:cNvPr id="165" name="Google Shape;165;p8"/>
          <p:cNvSpPr/>
          <p:nvPr/>
        </p:nvSpPr>
        <p:spPr>
          <a:xfrm>
            <a:off x="164600" y="1137022"/>
            <a:ext cx="417000" cy="4467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6" name="Google Shape;166;p8"/>
          <p:cNvPicPr preferRelativeResize="0"/>
          <p:nvPr/>
        </p:nvPicPr>
        <p:blipFill rotWithShape="1">
          <a:blip r:embed="rId3">
            <a:alphaModFix/>
          </a:blip>
          <a:srcRect b="0" l="0" r="0" t="0"/>
          <a:stretch/>
        </p:blipFill>
        <p:spPr>
          <a:xfrm>
            <a:off x="263908" y="1243349"/>
            <a:ext cx="218477" cy="233919"/>
          </a:xfrm>
          <a:prstGeom prst="rect">
            <a:avLst/>
          </a:prstGeom>
          <a:noFill/>
          <a:ln>
            <a:noFill/>
          </a:ln>
        </p:spPr>
      </p:pic>
      <p:sp>
        <p:nvSpPr>
          <p:cNvPr id="167" name="Google Shape;167;p8"/>
          <p:cNvSpPr/>
          <p:nvPr/>
        </p:nvSpPr>
        <p:spPr>
          <a:xfrm>
            <a:off x="730655" y="1073226"/>
            <a:ext cx="3704100" cy="9039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Memory is built while you sleep. Revision without sleep is pouring water into a cracked jug — the consolidation never happens. The Final Major Project direction decided at midnight looks completely different in the morning. </a:t>
            </a:r>
            <a:endParaRPr b="0" i="0" sz="1050" u="none" cap="none" strike="noStrike">
              <a:solidFill>
                <a:schemeClr val="dk1"/>
              </a:solidFill>
              <a:latin typeface="Calibri"/>
              <a:ea typeface="Calibri"/>
              <a:cs typeface="Calibri"/>
              <a:sym typeface="Calibri"/>
            </a:endParaRPr>
          </a:p>
        </p:txBody>
      </p:sp>
      <p:sp>
        <p:nvSpPr>
          <p:cNvPr id="168" name="Google Shape;168;p8"/>
          <p:cNvSpPr/>
          <p:nvPr/>
        </p:nvSpPr>
        <p:spPr>
          <a:xfrm>
            <a:off x="164600" y="2072697"/>
            <a:ext cx="417000" cy="4467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9" name="Google Shape;169;p8"/>
          <p:cNvPicPr preferRelativeResize="0"/>
          <p:nvPr/>
        </p:nvPicPr>
        <p:blipFill rotWithShape="1">
          <a:blip r:embed="rId4">
            <a:alphaModFix/>
          </a:blip>
          <a:srcRect b="0" l="0" r="0" t="0"/>
          <a:stretch/>
        </p:blipFill>
        <p:spPr>
          <a:xfrm>
            <a:off x="263908" y="2179024"/>
            <a:ext cx="218477" cy="233919"/>
          </a:xfrm>
          <a:prstGeom prst="rect">
            <a:avLst/>
          </a:prstGeom>
          <a:noFill/>
          <a:ln>
            <a:noFill/>
          </a:ln>
        </p:spPr>
      </p:pic>
      <p:sp>
        <p:nvSpPr>
          <p:cNvPr id="170" name="Google Shape;170;p8"/>
          <p:cNvSpPr/>
          <p:nvPr/>
        </p:nvSpPr>
        <p:spPr>
          <a:xfrm>
            <a:off x="730650" y="2135575"/>
            <a:ext cx="3704100" cy="7773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Concentration and focus are the first things to go. A tired brain reads the Final Major Project brief and can't connect the work it requires — or opens the document and sits there for an hour without a usable decision.</a:t>
            </a:r>
            <a:endParaRPr b="0" i="0" sz="1050" u="none" cap="none" strike="noStrike">
              <a:solidFill>
                <a:schemeClr val="dk1"/>
              </a:solidFill>
              <a:latin typeface="Calibri"/>
              <a:ea typeface="Calibri"/>
              <a:cs typeface="Calibri"/>
              <a:sym typeface="Calibri"/>
            </a:endParaRPr>
          </a:p>
        </p:txBody>
      </p:sp>
      <p:sp>
        <p:nvSpPr>
          <p:cNvPr id="171" name="Google Shape;171;p8"/>
          <p:cNvSpPr/>
          <p:nvPr/>
        </p:nvSpPr>
        <p:spPr>
          <a:xfrm>
            <a:off x="164600" y="3008372"/>
            <a:ext cx="417000" cy="4467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8"/>
          <p:cNvPicPr preferRelativeResize="0"/>
          <p:nvPr/>
        </p:nvPicPr>
        <p:blipFill rotWithShape="1">
          <a:blip r:embed="rId5">
            <a:alphaModFix/>
          </a:blip>
          <a:srcRect b="0" l="0" r="0" t="0"/>
          <a:stretch/>
        </p:blipFill>
        <p:spPr>
          <a:xfrm>
            <a:off x="263908" y="3114699"/>
            <a:ext cx="218477" cy="233919"/>
          </a:xfrm>
          <a:prstGeom prst="rect">
            <a:avLst/>
          </a:prstGeom>
          <a:noFill/>
          <a:ln>
            <a:noFill/>
          </a:ln>
        </p:spPr>
      </p:pic>
      <p:sp>
        <p:nvSpPr>
          <p:cNvPr id="173" name="Google Shape;173;p8"/>
          <p:cNvSpPr/>
          <p:nvPr/>
        </p:nvSpPr>
        <p:spPr>
          <a:xfrm>
            <a:off x="730650" y="3162649"/>
            <a:ext cx="3704100" cy="6858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Everything feels worse tired. Emotional regulation runs on sleep — short nights make small problems feel enormous.</a:t>
            </a:r>
            <a:endParaRPr b="0" i="0" sz="1050" u="none" cap="none" strike="noStrike">
              <a:solidFill>
                <a:schemeClr val="dk1"/>
              </a:solidFill>
              <a:latin typeface="Calibri"/>
              <a:ea typeface="Calibri"/>
              <a:cs typeface="Calibri"/>
              <a:sym typeface="Calibri"/>
            </a:endParaRPr>
          </a:p>
        </p:txBody>
      </p:sp>
      <p:sp>
        <p:nvSpPr>
          <p:cNvPr id="174" name="Google Shape;174;p8"/>
          <p:cNvSpPr/>
          <p:nvPr/>
        </p:nvSpPr>
        <p:spPr>
          <a:xfrm>
            <a:off x="4663440" y="1005840"/>
            <a:ext cx="3977640" cy="22860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4864608" y="1152144"/>
            <a:ext cx="3566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What's in your control</a:t>
            </a:r>
            <a:endParaRPr b="0" i="0" sz="1400" u="none" cap="none" strike="noStrike">
              <a:solidFill>
                <a:schemeClr val="dk1"/>
              </a:solidFill>
              <a:latin typeface="Calibri"/>
              <a:ea typeface="Calibri"/>
              <a:cs typeface="Calibri"/>
              <a:sym typeface="Calibri"/>
            </a:endParaRPr>
          </a:p>
        </p:txBody>
      </p:sp>
      <p:pic>
        <p:nvPicPr>
          <p:cNvPr descr="preencoded.png" id="176" name="Google Shape;176;p8"/>
          <p:cNvPicPr preferRelativeResize="0"/>
          <p:nvPr/>
        </p:nvPicPr>
        <p:blipFill rotWithShape="1">
          <a:blip r:embed="rId6">
            <a:alphaModFix/>
          </a:blip>
          <a:srcRect b="0" l="0" r="0" t="0"/>
          <a:stretch/>
        </p:blipFill>
        <p:spPr>
          <a:xfrm>
            <a:off x="4864608" y="1545336"/>
            <a:ext cx="219456" cy="219456"/>
          </a:xfrm>
          <a:prstGeom prst="rect">
            <a:avLst/>
          </a:prstGeom>
          <a:noFill/>
          <a:ln>
            <a:noFill/>
          </a:ln>
        </p:spPr>
      </p:pic>
      <p:sp>
        <p:nvSpPr>
          <p:cNvPr id="177" name="Google Shape;177;p8"/>
          <p:cNvSpPr/>
          <p:nvPr/>
        </p:nvSpPr>
        <p:spPr>
          <a:xfrm>
            <a:off x="5193792" y="1490472"/>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Anchor your wake time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Same time every day — including one weekend day. The anchor sets everything else.</a:t>
            </a:r>
            <a:endParaRPr b="0" i="0" sz="1100" u="none" cap="none" strike="noStrike">
              <a:solidFill>
                <a:schemeClr val="dk1"/>
              </a:solidFill>
              <a:latin typeface="Calibri"/>
              <a:ea typeface="Calibri"/>
              <a:cs typeface="Calibri"/>
              <a:sym typeface="Calibri"/>
            </a:endParaRPr>
          </a:p>
        </p:txBody>
      </p:sp>
      <p:pic>
        <p:nvPicPr>
          <p:cNvPr descr="preencoded.png" id="178" name="Google Shape;178;p8"/>
          <p:cNvPicPr preferRelativeResize="0"/>
          <p:nvPr/>
        </p:nvPicPr>
        <p:blipFill rotWithShape="1">
          <a:blip r:embed="rId7">
            <a:alphaModFix/>
          </a:blip>
          <a:srcRect b="0" l="0" r="0" t="0"/>
          <a:stretch/>
        </p:blipFill>
        <p:spPr>
          <a:xfrm>
            <a:off x="4864608" y="2121408"/>
            <a:ext cx="219456" cy="219456"/>
          </a:xfrm>
          <a:prstGeom prst="rect">
            <a:avLst/>
          </a:prstGeom>
          <a:noFill/>
          <a:ln>
            <a:noFill/>
          </a:ln>
        </p:spPr>
      </p:pic>
      <p:sp>
        <p:nvSpPr>
          <p:cNvPr id="179" name="Google Shape;179;p8"/>
          <p:cNvSpPr/>
          <p:nvPr/>
        </p:nvSpPr>
        <p:spPr>
          <a:xfrm>
            <a:off x="5193792" y="2066544"/>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Screens down, or out of reach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The scroll steals the hour you meant to sleep. Charge the phone across the room.</a:t>
            </a:r>
            <a:endParaRPr b="0" i="0" sz="1100" u="none" cap="none" strike="noStrike">
              <a:solidFill>
                <a:schemeClr val="dk1"/>
              </a:solidFill>
              <a:latin typeface="Calibri"/>
              <a:ea typeface="Calibri"/>
              <a:cs typeface="Calibri"/>
              <a:sym typeface="Calibri"/>
            </a:endParaRPr>
          </a:p>
        </p:txBody>
      </p:sp>
      <p:pic>
        <p:nvPicPr>
          <p:cNvPr descr="preencoded.png" id="180" name="Google Shape;180;p8"/>
          <p:cNvPicPr preferRelativeResize="0"/>
          <p:nvPr/>
        </p:nvPicPr>
        <p:blipFill rotWithShape="1">
          <a:blip r:embed="rId8">
            <a:alphaModFix/>
          </a:blip>
          <a:srcRect b="0" l="0" r="0" t="0"/>
          <a:stretch/>
        </p:blipFill>
        <p:spPr>
          <a:xfrm>
            <a:off x="4864608" y="2697480"/>
            <a:ext cx="219456" cy="219456"/>
          </a:xfrm>
          <a:prstGeom prst="rect">
            <a:avLst/>
          </a:prstGeom>
          <a:noFill/>
          <a:ln>
            <a:noFill/>
          </a:ln>
        </p:spPr>
      </p:pic>
      <p:sp>
        <p:nvSpPr>
          <p:cNvPr id="181" name="Google Shape;181;p8"/>
          <p:cNvSpPr/>
          <p:nvPr/>
        </p:nvSpPr>
        <p:spPr>
          <a:xfrm>
            <a:off x="5193792" y="2642616"/>
            <a:ext cx="3291840" cy="566928"/>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1B2A30"/>
              </a:buClr>
              <a:buSzPts val="1100"/>
              <a:buFont typeface="Poppins SemiBold"/>
              <a:buNone/>
            </a:pPr>
            <a:r>
              <a:rPr b="0" i="0" lang="en-US" sz="1100" u="none" cap="none" strike="noStrike">
                <a:solidFill>
                  <a:srgbClr val="1B2A30"/>
                </a:solidFill>
                <a:latin typeface="Poppins SemiBold"/>
                <a:ea typeface="Poppins SemiBold"/>
                <a:cs typeface="Poppins SemiBold"/>
                <a:sym typeface="Poppins SemiBold"/>
              </a:rPr>
              <a:t>Nothing caffeinated after mid-afternoon  </a:t>
            </a:r>
            <a:endParaRPr b="0" i="0" sz="1100" u="none" cap="none" strike="noStrike">
              <a:solidFill>
                <a:schemeClr val="dk1"/>
              </a:solidFill>
              <a:latin typeface="Calibri"/>
              <a:ea typeface="Calibri"/>
              <a:cs typeface="Calibri"/>
              <a:sym typeface="Calibri"/>
            </a:endParaRPr>
          </a:p>
          <a:p>
            <a:pPr indent="0" lvl="0" marL="0" marR="0" rtl="0" algn="l">
              <a:lnSpc>
                <a:spcPct val="102000"/>
              </a:lnSpc>
              <a:spcBef>
                <a:spcPts val="0"/>
              </a:spcBef>
              <a:spcAft>
                <a:spcPts val="0"/>
              </a:spcAft>
              <a:buClr>
                <a:srgbClr val="5A6A6F"/>
              </a:buClr>
              <a:buSzPts val="950"/>
              <a:buFont typeface="Poppins"/>
              <a:buNone/>
            </a:pPr>
            <a:r>
              <a:rPr b="0" i="0" lang="en-US" sz="950" u="none" cap="none" strike="noStrike">
                <a:solidFill>
                  <a:srgbClr val="5A6A6F"/>
                </a:solidFill>
                <a:latin typeface="Poppins"/>
                <a:ea typeface="Poppins"/>
                <a:cs typeface="Poppins"/>
                <a:sym typeface="Poppins"/>
              </a:rPr>
              <a:t>Energy drinks included — caffeine hangs around for hours.</a:t>
            </a:r>
            <a:endParaRPr b="0" i="0" sz="1100" u="none" cap="none" strike="noStrike">
              <a:solidFill>
                <a:schemeClr val="dk1"/>
              </a:solidFill>
              <a:latin typeface="Calibri"/>
              <a:ea typeface="Calibri"/>
              <a:cs typeface="Calibri"/>
              <a:sym typeface="Calibri"/>
            </a:endParaRPr>
          </a:p>
        </p:txBody>
      </p:sp>
      <p:sp>
        <p:nvSpPr>
          <p:cNvPr id="182" name="Google Shape;182;p8"/>
          <p:cNvSpPr/>
          <p:nvPr/>
        </p:nvSpPr>
        <p:spPr>
          <a:xfrm>
            <a:off x="4663440" y="3401568"/>
            <a:ext cx="3977640" cy="50292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92C82"/>
              </a:buClr>
              <a:buSzPts val="1050"/>
              <a:buFont typeface="Poppins SemiBold"/>
              <a:buNone/>
            </a:pPr>
            <a:r>
              <a:rPr b="0" i="0" lang="en-US" sz="1050" u="none" cap="none" strike="noStrike">
                <a:solidFill>
                  <a:srgbClr val="592C82"/>
                </a:solidFill>
                <a:latin typeface="Poppins SemiBold"/>
                <a:ea typeface="Poppins SemiBold"/>
                <a:cs typeface="Poppins SemiBold"/>
                <a:sym typeface="Poppins SemiBold"/>
              </a:rPr>
              <a:t>Sleep hygiene </a:t>
            </a:r>
            <a:r>
              <a:rPr b="0" i="0" lang="en-US" sz="1050" u="none" cap="none" strike="noStrike">
                <a:solidFill>
                  <a:srgbClr val="1B2A30"/>
                </a:solidFill>
                <a:latin typeface="Poppins"/>
                <a:ea typeface="Poppins"/>
                <a:cs typeface="Poppins"/>
                <a:sym typeface="Poppins"/>
              </a:rPr>
              <a:t>— the routines and conditions that make good sleep likely. You'll hear the term; that's all it means.</a:t>
            </a:r>
            <a:endParaRPr b="0" i="0" sz="1050" u="none" cap="none" strike="noStrike">
              <a:solidFill>
                <a:schemeClr val="dk1"/>
              </a:solidFill>
              <a:latin typeface="Calibri"/>
              <a:ea typeface="Calibri"/>
              <a:cs typeface="Calibri"/>
              <a:sym typeface="Calibri"/>
            </a:endParaRPr>
          </a:p>
        </p:txBody>
      </p:sp>
      <p:sp>
        <p:nvSpPr>
          <p:cNvPr id="183" name="Google Shape;183;p8"/>
          <p:cNvSpPr/>
          <p:nvPr/>
        </p:nvSpPr>
        <p:spPr>
          <a:xfrm>
            <a:off x="502920" y="3977640"/>
            <a:ext cx="8138160" cy="77724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a:off x="649224" y="4023360"/>
            <a:ext cx="7845552" cy="6858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150"/>
              <a:buFont typeface="Poppins SemiBold"/>
              <a:buNone/>
            </a:pPr>
            <a:r>
              <a:rPr b="0" i="0" lang="en-US" sz="1150" u="none" cap="none" strike="noStrike">
                <a:solidFill>
                  <a:srgbClr val="0D2434"/>
                </a:solidFill>
                <a:latin typeface="Poppins SemiBold"/>
                <a:ea typeface="Poppins SemiBold"/>
                <a:cs typeface="Poppins SemiBold"/>
                <a:sym typeface="Poppins SemiBold"/>
              </a:rPr>
              <a:t>Real lives are messy — shared rooms, evening shifts, caring for someone. </a:t>
            </a:r>
            <a:r>
              <a:rPr b="0" i="0" lang="en-US" sz="1150" u="none" cap="none" strike="noStrike">
                <a:solidFill>
                  <a:srgbClr val="0D2434"/>
                </a:solidFill>
                <a:latin typeface="Poppins"/>
                <a:ea typeface="Poppins"/>
                <a:cs typeface="Poppins"/>
                <a:sym typeface="Poppins"/>
              </a:rPr>
              <a:t>Control what you can. And if life makes sleep genuinely impossible, tell your tutor — it changes how we support you.</a:t>
            </a:r>
            <a:endParaRPr b="0" i="0" sz="1150" u="none" cap="none" strike="noStrike">
              <a:solidFill>
                <a:schemeClr val="dk1"/>
              </a:solidFill>
              <a:latin typeface="Calibri"/>
              <a:ea typeface="Calibri"/>
              <a:cs typeface="Calibri"/>
              <a:sym typeface="Calibri"/>
            </a:endParaRPr>
          </a:p>
        </p:txBody>
      </p:sp>
      <p:sp>
        <p:nvSpPr>
          <p:cNvPr id="185" name="Google Shape;185;p8"/>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0" name="Shape 190"/>
        <p:cNvGrpSpPr/>
        <p:nvPr/>
      </p:nvGrpSpPr>
      <p:grpSpPr>
        <a:xfrm>
          <a:off x="0" y="0"/>
          <a:ext cx="0" cy="0"/>
          <a:chOff x="0" y="0"/>
          <a:chExt cx="0" cy="0"/>
        </a:xfrm>
      </p:grpSpPr>
      <p:sp>
        <p:nvSpPr>
          <p:cNvPr id="191" name="Google Shape;191;p9"/>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193" name="Google Shape;193;p9"/>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Money pressure is a wellbeing issue</a:t>
            </a:r>
            <a:endParaRPr b="0" i="0" sz="2600" u="none" cap="none" strike="noStrike">
              <a:solidFill>
                <a:schemeClr val="dk1"/>
              </a:solidFill>
              <a:latin typeface="Calibri"/>
              <a:ea typeface="Calibri"/>
              <a:cs typeface="Calibri"/>
              <a:sym typeface="Calibri"/>
            </a:endParaRPr>
          </a:p>
        </p:txBody>
      </p:sp>
      <p:sp>
        <p:nvSpPr>
          <p:cNvPr id="194" name="Google Shape;194;p9"/>
          <p:cNvSpPr/>
          <p:nvPr/>
        </p:nvSpPr>
        <p:spPr>
          <a:xfrm>
            <a:off x="502920" y="1051560"/>
            <a:ext cx="8138160" cy="10058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2A30"/>
              </a:buClr>
              <a:buSzPts val="1300"/>
              <a:buFont typeface="Poppins SemiBold"/>
              <a:buNone/>
            </a:pPr>
            <a:r>
              <a:rPr b="0" i="0" lang="en-US" sz="1300" u="none" cap="none" strike="noStrike">
                <a:solidFill>
                  <a:srgbClr val="1B2A30"/>
                </a:solidFill>
                <a:latin typeface="Poppins SemiBold"/>
                <a:ea typeface="Poppins SemiBold"/>
                <a:cs typeface="Poppins SemiBold"/>
                <a:sym typeface="Poppins SemiBold"/>
              </a:rPr>
              <a:t>Financial stress and mental health are directly linked. </a:t>
            </a:r>
            <a:r>
              <a:rPr b="0" i="0" lang="en-US" sz="1300" u="none" cap="none" strike="noStrike">
                <a:solidFill>
                  <a:srgbClr val="1B2A30"/>
                </a:solidFill>
                <a:latin typeface="Poppins"/>
                <a:ea typeface="Poppins"/>
                <a:cs typeface="Poppins"/>
                <a:sym typeface="Poppins"/>
              </a:rPr>
              <a:t>Worry about money makes everything else on today's list harder — sleep, concentration, mood, showing up. It's also one of the most common pressures students carry silently, because it feels embarrassing. It shouldn't. It's circumstance, not character.</a:t>
            </a:r>
            <a:endParaRPr b="0" i="0" sz="1300" u="none" cap="none" strike="noStrike">
              <a:solidFill>
                <a:schemeClr val="dk1"/>
              </a:solidFill>
              <a:latin typeface="Calibri"/>
              <a:ea typeface="Calibri"/>
              <a:cs typeface="Calibri"/>
              <a:sym typeface="Calibri"/>
            </a:endParaRPr>
          </a:p>
        </p:txBody>
      </p:sp>
      <p:sp>
        <p:nvSpPr>
          <p:cNvPr id="195" name="Google Shape;195;p9"/>
          <p:cNvSpPr/>
          <p:nvPr/>
        </p:nvSpPr>
        <p:spPr>
          <a:xfrm>
            <a:off x="502920" y="2148840"/>
            <a:ext cx="3931920" cy="1600200"/>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9"/>
          <p:cNvPicPr preferRelativeResize="0"/>
          <p:nvPr/>
        </p:nvPicPr>
        <p:blipFill rotWithShape="1">
          <a:blip r:embed="rId3">
            <a:alphaModFix/>
          </a:blip>
          <a:srcRect b="0" l="0" r="0" t="0"/>
          <a:stretch/>
        </p:blipFill>
        <p:spPr>
          <a:xfrm>
            <a:off x="713232" y="2340864"/>
            <a:ext cx="274320" cy="274320"/>
          </a:xfrm>
          <a:prstGeom prst="rect">
            <a:avLst/>
          </a:prstGeom>
          <a:noFill/>
          <a:ln>
            <a:noFill/>
          </a:ln>
        </p:spPr>
      </p:pic>
      <p:sp>
        <p:nvSpPr>
          <p:cNvPr id="197" name="Google Shape;197;p9"/>
          <p:cNvSpPr/>
          <p:nvPr/>
        </p:nvSpPr>
        <p:spPr>
          <a:xfrm>
            <a:off x="1097280" y="2313432"/>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400"/>
              <a:buFont typeface="Poppins SemiBold"/>
              <a:buNone/>
            </a:pPr>
            <a:r>
              <a:rPr b="0" i="0" lang="en-US" sz="1400" u="none" cap="none" strike="noStrike">
                <a:solidFill>
                  <a:srgbClr val="592C82"/>
                </a:solidFill>
                <a:latin typeface="Poppins SemiBold"/>
                <a:ea typeface="Poppins SemiBold"/>
                <a:cs typeface="Poppins SemiBold"/>
                <a:sym typeface="Poppins SemiBold"/>
              </a:rPr>
              <a:t>The Hardship Fund</a:t>
            </a:r>
            <a:endParaRPr b="0" i="0" sz="1400" u="none" cap="none" strike="noStrike">
              <a:solidFill>
                <a:schemeClr val="dk1"/>
              </a:solidFill>
              <a:latin typeface="Calibri"/>
              <a:ea typeface="Calibri"/>
              <a:cs typeface="Calibri"/>
              <a:sym typeface="Calibri"/>
            </a:endParaRPr>
          </a:p>
        </p:txBody>
      </p:sp>
      <p:sp>
        <p:nvSpPr>
          <p:cNvPr id="198" name="Google Shape;198;p9"/>
          <p:cNvSpPr/>
          <p:nvPr/>
        </p:nvSpPr>
        <p:spPr>
          <a:xfrm>
            <a:off x="713232" y="2724912"/>
            <a:ext cx="3520440" cy="8686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Emergency financial support for students — travel, food, equipment, sudden changes at home. Asking is confidential, and far more common than you'd think.</a:t>
            </a:r>
            <a:endParaRPr b="0" i="0" sz="1050" u="none" cap="none" strike="noStrike">
              <a:solidFill>
                <a:schemeClr val="dk1"/>
              </a:solidFill>
              <a:latin typeface="Calibri"/>
              <a:ea typeface="Calibri"/>
              <a:cs typeface="Calibri"/>
              <a:sym typeface="Calibri"/>
            </a:endParaRPr>
          </a:p>
        </p:txBody>
      </p:sp>
      <p:sp>
        <p:nvSpPr>
          <p:cNvPr id="199" name="Google Shape;199;p9"/>
          <p:cNvSpPr/>
          <p:nvPr/>
        </p:nvSpPr>
        <p:spPr>
          <a:xfrm>
            <a:off x="4663440" y="2148840"/>
            <a:ext cx="3977640" cy="16002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4773168" y="2212848"/>
            <a:ext cx="3758184" cy="14721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REPLACE THIS BLOCK BEFORE DELIVERY — complete all four items below for your campus before opening this slide]</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How students access the Hardship Fund at your campus — e.g. "Speak to Student Services in the main building" / "Ask your Personal Tutor to raise a referral via UNIT-e" / "Complete the online form at [insert URL]" — confirm the current route before delivery</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2] Who students speak to in confidence — insert full name, role, and exact office location of the first point of contact at your campus</a:t>
            </a:r>
            <a:endParaRPr b="0" i="0" sz="950" u="none" cap="none" strike="noStrike">
              <a:solidFill>
                <a:schemeClr val="dk1"/>
              </a:solidFill>
              <a:latin typeface="Calibri"/>
              <a:ea typeface="Calibri"/>
              <a:cs typeface="Calibri"/>
              <a:sym typeface="Calibri"/>
            </a:endParaRPr>
          </a:p>
        </p:txBody>
      </p:sp>
      <p:sp>
        <p:nvSpPr>
          <p:cNvPr id="201" name="Google Shape;201;p9"/>
          <p:cNvSpPr/>
          <p:nvPr/>
        </p:nvSpPr>
        <p:spPr>
          <a:xfrm>
            <a:off x="502920" y="3977640"/>
            <a:ext cx="8138160" cy="685800"/>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9"/>
          <p:cNvSpPr/>
          <p:nvPr/>
        </p:nvSpPr>
        <p:spPr>
          <a:xfrm>
            <a:off x="649224" y="4023360"/>
            <a:ext cx="7845552" cy="59436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300"/>
              <a:buFont typeface="Poppins SemiBold"/>
              <a:buNone/>
            </a:pPr>
            <a:r>
              <a:rPr b="0" i="0" lang="en-US" sz="1300" u="none" cap="none" strike="noStrike">
                <a:solidFill>
                  <a:srgbClr val="0D2434"/>
                </a:solidFill>
                <a:latin typeface="Poppins SemiBold"/>
                <a:ea typeface="Poppins SemiBold"/>
                <a:cs typeface="Poppins SemiBold"/>
                <a:sym typeface="Poppins SemiBold"/>
              </a:rPr>
              <a:t>Money worries are a reason to talk to us — </a:t>
            </a:r>
            <a:r>
              <a:rPr b="0" i="1" lang="en-US" sz="1300" u="none" cap="none" strike="noStrike">
                <a:solidFill>
                  <a:srgbClr val="0D2434"/>
                </a:solidFill>
                <a:latin typeface="Poppins SemiBold"/>
                <a:ea typeface="Poppins SemiBold"/>
                <a:cs typeface="Poppins SemiBold"/>
                <a:sym typeface="Poppins SemiBold"/>
              </a:rPr>
              <a:t>not a reason to disappear.</a:t>
            </a:r>
            <a:endParaRPr b="0" i="0" sz="1300" u="none" cap="none" strike="noStrike">
              <a:solidFill>
                <a:schemeClr val="dk1"/>
              </a:solidFill>
              <a:latin typeface="Calibri"/>
              <a:ea typeface="Calibri"/>
              <a:cs typeface="Calibri"/>
              <a:sym typeface="Calibri"/>
            </a:endParaRPr>
          </a:p>
        </p:txBody>
      </p:sp>
      <p:sp>
        <p:nvSpPr>
          <p:cNvPr id="203" name="Google Shape;203;p9"/>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8" name="Shape 208"/>
        <p:cNvGrpSpPr/>
        <p:nvPr/>
      </p:nvGrpSpPr>
      <p:grpSpPr>
        <a:xfrm>
          <a:off x="0" y="0"/>
          <a:ext cx="0" cy="0"/>
          <a:chOff x="0" y="0"/>
          <a:chExt cx="0" cy="0"/>
        </a:xfrm>
      </p:grpSpPr>
      <p:sp>
        <p:nvSpPr>
          <p:cNvPr id="209" name="Google Shape;209;p10"/>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211" name="Google Shape;211;p10"/>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You know where the door is</a:t>
            </a:r>
            <a:endParaRPr b="0" i="0" sz="2600" u="none" cap="none" strike="noStrike">
              <a:solidFill>
                <a:schemeClr val="dk1"/>
              </a:solidFill>
              <a:latin typeface="Calibri"/>
              <a:ea typeface="Calibri"/>
              <a:cs typeface="Calibri"/>
              <a:sym typeface="Calibri"/>
            </a:endParaRPr>
          </a:p>
        </p:txBody>
      </p:sp>
      <p:sp>
        <p:nvSpPr>
          <p:cNvPr id="212" name="Google Shape;212;p10"/>
          <p:cNvSpPr/>
          <p:nvPr/>
        </p:nvSpPr>
        <p:spPr>
          <a:xfrm>
            <a:off x="502920" y="987552"/>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50"/>
              <a:buFont typeface="Poppins SemiBold"/>
              <a:buNone/>
            </a:pPr>
            <a:r>
              <a:rPr b="0" i="0" lang="en-US" sz="1350" u="none" cap="none" strike="noStrike">
                <a:solidFill>
                  <a:srgbClr val="1B2A30"/>
                </a:solidFill>
                <a:latin typeface="Poppins SemiBold"/>
                <a:ea typeface="Poppins SemiBold"/>
                <a:cs typeface="Poppins SemiBold"/>
                <a:sym typeface="Poppins SemiBold"/>
              </a:rPr>
              <a:t>How it works — three steps, no drama</a:t>
            </a:r>
            <a:endParaRPr b="0" i="0" sz="1350" u="none" cap="none" strike="noStrike">
              <a:solidFill>
                <a:schemeClr val="dk1"/>
              </a:solidFill>
              <a:latin typeface="Calibri"/>
              <a:ea typeface="Calibri"/>
              <a:cs typeface="Calibri"/>
              <a:sym typeface="Calibri"/>
            </a:endParaRPr>
          </a:p>
        </p:txBody>
      </p:sp>
      <p:sp>
        <p:nvSpPr>
          <p:cNvPr id="213" name="Google Shape;213;p10"/>
          <p:cNvSpPr/>
          <p:nvPr/>
        </p:nvSpPr>
        <p:spPr>
          <a:xfrm>
            <a:off x="502920" y="1389888"/>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p:nvPr/>
        </p:nvSpPr>
        <p:spPr>
          <a:xfrm>
            <a:off x="502920" y="138988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1</a:t>
            </a:r>
            <a:endParaRPr b="0" i="0" sz="1200" u="none" cap="none" strike="noStrike">
              <a:solidFill>
                <a:schemeClr val="dk1"/>
              </a:solidFill>
              <a:latin typeface="Calibri"/>
              <a:ea typeface="Calibri"/>
              <a:cs typeface="Calibri"/>
              <a:sym typeface="Calibri"/>
            </a:endParaRPr>
          </a:p>
        </p:txBody>
      </p:sp>
      <p:sp>
        <p:nvSpPr>
          <p:cNvPr id="215" name="Google Shape;215;p10"/>
          <p:cNvSpPr/>
          <p:nvPr/>
        </p:nvSpPr>
        <p:spPr>
          <a:xfrm>
            <a:off x="969264" y="1335024"/>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Say something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To your tutor, a teacher you trust, or straight to the Wellbeing Team. Any door works.</a:t>
            </a:r>
            <a:endParaRPr b="0" i="0" sz="1200" u="none" cap="none" strike="noStrike">
              <a:solidFill>
                <a:schemeClr val="dk1"/>
              </a:solidFill>
              <a:latin typeface="Calibri"/>
              <a:ea typeface="Calibri"/>
              <a:cs typeface="Calibri"/>
              <a:sym typeface="Calibri"/>
            </a:endParaRPr>
          </a:p>
        </p:txBody>
      </p:sp>
      <p:sp>
        <p:nvSpPr>
          <p:cNvPr id="216" name="Google Shape;216;p10"/>
          <p:cNvSpPr/>
          <p:nvPr/>
        </p:nvSpPr>
        <p:spPr>
          <a:xfrm>
            <a:off x="502920" y="2176272"/>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502920" y="21762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2</a:t>
            </a:r>
            <a:endParaRPr b="0" i="0" sz="1200" u="none" cap="none" strike="noStrike">
              <a:solidFill>
                <a:schemeClr val="dk1"/>
              </a:solidFill>
              <a:latin typeface="Calibri"/>
              <a:ea typeface="Calibri"/>
              <a:cs typeface="Calibri"/>
              <a:sym typeface="Calibri"/>
            </a:endParaRPr>
          </a:p>
        </p:txBody>
      </p:sp>
      <p:sp>
        <p:nvSpPr>
          <p:cNvPr id="218" name="Google Shape;218;p10"/>
          <p:cNvSpPr/>
          <p:nvPr/>
        </p:nvSpPr>
        <p:spPr>
          <a:xfrm>
            <a:off x="969264" y="2121408"/>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Referral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Quick and straightforward — and you stay in the loop the whole way.</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502920" y="2962656"/>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p:nvPr/>
        </p:nvSpPr>
        <p:spPr>
          <a:xfrm>
            <a:off x="502920" y="29626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3</a:t>
            </a:r>
            <a:endParaRPr b="0" i="0" sz="1200" u="none" cap="none" strike="noStrike">
              <a:solidFill>
                <a:schemeClr val="dk1"/>
              </a:solidFill>
              <a:latin typeface="Calibri"/>
              <a:ea typeface="Calibri"/>
              <a:cs typeface="Calibri"/>
              <a:sym typeface="Calibri"/>
            </a:endParaRPr>
          </a:p>
        </p:txBody>
      </p:sp>
      <p:sp>
        <p:nvSpPr>
          <p:cNvPr id="221" name="Google Shape;221;p10"/>
          <p:cNvSpPr/>
          <p:nvPr/>
        </p:nvSpPr>
        <p:spPr>
          <a:xfrm>
            <a:off x="969264" y="2907792"/>
            <a:ext cx="3474720" cy="7315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Support arranged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Matched to what you actually need — a conversation, ongoing support, or a route to specialist help.</a:t>
            </a:r>
            <a:endParaRPr b="0" i="0" sz="1200" u="none" cap="none" strike="noStrike">
              <a:solidFill>
                <a:schemeClr val="dk1"/>
              </a:solidFill>
              <a:latin typeface="Calibri"/>
              <a:ea typeface="Calibri"/>
              <a:cs typeface="Calibri"/>
              <a:sym typeface="Calibri"/>
            </a:endParaRPr>
          </a:p>
        </p:txBody>
      </p:sp>
      <p:sp>
        <p:nvSpPr>
          <p:cNvPr id="222" name="Google Shape;222;p10"/>
          <p:cNvSpPr/>
          <p:nvPr/>
        </p:nvSpPr>
        <p:spPr>
          <a:xfrm>
            <a:off x="502920" y="3767328"/>
            <a:ext cx="3931920" cy="685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The Year 2 paradox: the year people most need support is the year they stop going. The door works exactly like it did last year. Needing support on the Final Major Project or the Employer Set Project is not a sign you shouldn't be here — every professional creative has mentors, directors, peer reviewers and editors. Using support in Year 2 is exactly what the industry does.</a:t>
            </a:r>
            <a:endParaRPr b="0" i="0" sz="1050" u="none" cap="none" strike="noStrike">
              <a:solidFill>
                <a:schemeClr val="dk1"/>
              </a:solidFill>
              <a:latin typeface="Calibri"/>
              <a:ea typeface="Calibri"/>
              <a:cs typeface="Calibri"/>
              <a:sym typeface="Calibri"/>
            </a:endParaRPr>
          </a:p>
        </p:txBody>
      </p:sp>
      <p:sp>
        <p:nvSpPr>
          <p:cNvPr id="223" name="Google Shape;223;p10"/>
          <p:cNvSpPr/>
          <p:nvPr/>
        </p:nvSpPr>
        <p:spPr>
          <a:xfrm>
            <a:off x="4663440" y="987552"/>
            <a:ext cx="3977640" cy="1737360"/>
          </a:xfrm>
          <a:prstGeom prst="rect">
            <a:avLst/>
          </a:pr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10"/>
          <p:cNvPicPr preferRelativeResize="0"/>
          <p:nvPr/>
        </p:nvPicPr>
        <p:blipFill rotWithShape="1">
          <a:blip r:embed="rId3">
            <a:alphaModFix/>
          </a:blip>
          <a:srcRect b="0" l="0" r="0" t="0"/>
          <a:stretch/>
        </p:blipFill>
        <p:spPr>
          <a:xfrm>
            <a:off x="4864608" y="1170432"/>
            <a:ext cx="256032" cy="256032"/>
          </a:xfrm>
          <a:prstGeom prst="rect">
            <a:avLst/>
          </a:prstGeom>
          <a:noFill/>
          <a:ln>
            <a:noFill/>
          </a:ln>
        </p:spPr>
      </p:pic>
      <p:sp>
        <p:nvSpPr>
          <p:cNvPr id="225" name="Google Shape;225;p10"/>
          <p:cNvSpPr/>
          <p:nvPr/>
        </p:nvSpPr>
        <p:spPr>
          <a:xfrm>
            <a:off x="5230368" y="1133856"/>
            <a:ext cx="3291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92C82"/>
              </a:buClr>
              <a:buSzPts val="1350"/>
              <a:buFont typeface="Poppins SemiBold"/>
              <a:buNone/>
            </a:pPr>
            <a:r>
              <a:rPr b="0" i="0" lang="en-US" sz="1350" u="none" cap="none" strike="noStrike">
                <a:solidFill>
                  <a:srgbClr val="592C82"/>
                </a:solidFill>
                <a:latin typeface="Poppins SemiBold"/>
                <a:ea typeface="Poppins SemiBold"/>
                <a:cs typeface="Poppins SemiBold"/>
                <a:sym typeface="Poppins SemiBold"/>
              </a:rPr>
              <a:t>Tell us what we need to know</a:t>
            </a:r>
            <a:endParaRPr b="0" i="0" sz="1350" u="none" cap="none" strike="noStrike">
              <a:solidFill>
                <a:schemeClr val="dk1"/>
              </a:solidFill>
              <a:latin typeface="Calibri"/>
              <a:ea typeface="Calibri"/>
              <a:cs typeface="Calibri"/>
              <a:sym typeface="Calibri"/>
            </a:endParaRPr>
          </a:p>
        </p:txBody>
      </p:sp>
      <p:sp>
        <p:nvSpPr>
          <p:cNvPr id="226" name="Google Shape;226;p10"/>
          <p:cNvSpPr/>
          <p:nvPr/>
        </p:nvSpPr>
        <p:spPr>
          <a:xfrm>
            <a:off x="4864608" y="1536192"/>
            <a:ext cx="3566160" cy="1115568"/>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050"/>
              <a:buFont typeface="Poppins"/>
              <a:buNone/>
            </a:pPr>
            <a:r>
              <a:rPr b="0" i="0" lang="en-US" sz="1050" u="none" cap="none" strike="noStrike">
                <a:solidFill>
                  <a:srgbClr val="1B2A30"/>
                </a:solidFill>
                <a:latin typeface="Poppins"/>
                <a:ea typeface="Poppins"/>
                <a:cs typeface="Poppins"/>
                <a:sym typeface="Poppins"/>
              </a:rPr>
              <a:t>A disability, a mental health condition, a learning need — or anything that changed over the summer: health, home, circumstances. Year 2 support builds on what we already know. Telling us now, not in March, means exam access and adjustments are in place when the pressure actually arrives.</a:t>
            </a:r>
            <a:endParaRPr b="0" i="0" sz="1050" u="none" cap="none" strike="noStrike">
              <a:solidFill>
                <a:schemeClr val="dk1"/>
              </a:solidFill>
              <a:latin typeface="Calibri"/>
              <a:ea typeface="Calibri"/>
              <a:cs typeface="Calibri"/>
              <a:sym typeface="Calibri"/>
            </a:endParaRPr>
          </a:p>
        </p:txBody>
      </p:sp>
      <p:sp>
        <p:nvSpPr>
          <p:cNvPr id="227" name="Google Shape;227;p10"/>
          <p:cNvSpPr/>
          <p:nvPr/>
        </p:nvSpPr>
        <p:spPr>
          <a:xfrm>
            <a:off x="4663450" y="2852924"/>
            <a:ext cx="3977700" cy="22083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4773168" y="2916936"/>
            <a:ext cx="3758184" cy="147218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REPLACE THIS BLOCK BEFORE DELIVERY — complete all four items below for your campus before opening this slide]</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Wellbeing Team staff — insert names and roles, and confirm which building and room number they are based in at your campus</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2] Drop-in times or appointment route — insert current drop-in schedule if available, or state how students book; verify this has not changed since last term</a:t>
            </a:r>
            <a:br>
              <a:rPr b="0" i="0" lang="en-US" sz="950" u="none" cap="none" strike="noStrike">
                <a:solidFill>
                  <a:srgbClr val="1B2A30"/>
                </a:solidFill>
                <a:latin typeface="Poppins"/>
                <a:ea typeface="Poppins"/>
                <a:cs typeface="Poppins"/>
                <a:sym typeface="Poppins"/>
              </a:rPr>
            </a:br>
            <a:r>
              <a:rPr b="0" i="0" lang="en-US" sz="950" u="none" cap="none" strike="noStrike">
                <a:solidFill>
                  <a:srgbClr val="1B2A30"/>
                </a:solidFill>
                <a:latin typeface="Poppins"/>
                <a:ea typeface="Poppins"/>
                <a:cs typeface="Poppins"/>
                <a:sym typeface="Poppins"/>
              </a:rPr>
              <a:t>[ADAPT bullet 3] Referral route — the practical first step students actually take (e.g. "Tell your personal tutor who raises a referral via UNIT-e" / "Walk into Wellbeing directly — no referral needed" / "Complete the form at [URL]")</a:t>
            </a:r>
            <a:endParaRPr b="0" i="0" sz="950" u="none" cap="none" strike="noStrike">
              <a:solidFill>
                <a:schemeClr val="dk1"/>
              </a:solidFill>
              <a:latin typeface="Calibri"/>
              <a:ea typeface="Calibri"/>
              <a:cs typeface="Calibri"/>
              <a:sym typeface="Calibri"/>
            </a:endParaRPr>
          </a:p>
        </p:txBody>
      </p:sp>
      <p:sp>
        <p:nvSpPr>
          <p:cNvPr id="229" name="Google Shape;229;p10"/>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34" name="Shape 234"/>
        <p:cNvGrpSpPr/>
        <p:nvPr/>
      </p:nvGrpSpPr>
      <p:grpSpPr>
        <a:xfrm>
          <a:off x="0" y="0"/>
          <a:ext cx="0" cy="0"/>
          <a:chOff x="0" y="0"/>
          <a:chExt cx="0" cy="0"/>
        </a:xfrm>
      </p:grpSpPr>
      <p:sp>
        <p:nvSpPr>
          <p:cNvPr id="235" name="Google Shape;235;p11"/>
          <p:cNvSpPr/>
          <p:nvPr/>
        </p:nvSpPr>
        <p:spPr>
          <a:xfrm>
            <a:off x="7648042" y="256032"/>
            <a:ext cx="1175918"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7648042" y="256032"/>
            <a:ext cx="1175918"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TEACHER INPUT</a:t>
            </a:r>
            <a:endParaRPr b="0" i="0" sz="900" u="none" cap="none" strike="noStrike">
              <a:solidFill>
                <a:schemeClr val="dk1"/>
              </a:solidFill>
              <a:latin typeface="Calibri"/>
              <a:ea typeface="Calibri"/>
              <a:cs typeface="Calibri"/>
              <a:sym typeface="Calibri"/>
            </a:endParaRPr>
          </a:p>
        </p:txBody>
      </p:sp>
      <p:sp>
        <p:nvSpPr>
          <p:cNvPr id="237" name="Google Shape;237;p11"/>
          <p:cNvSpPr/>
          <p:nvPr/>
        </p:nvSpPr>
        <p:spPr>
          <a:xfrm>
            <a:off x="502925" y="45753"/>
            <a:ext cx="69495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500"/>
              <a:buFont typeface="Poppins SemiBold"/>
              <a:buNone/>
            </a:pPr>
            <a:r>
              <a:rPr b="0" i="0" lang="en-US" sz="2500" u="none" cap="none" strike="noStrike">
                <a:solidFill>
                  <a:srgbClr val="1B2A30"/>
                </a:solidFill>
                <a:latin typeface="Poppins SemiBold"/>
                <a:ea typeface="Poppins SemiBold"/>
                <a:cs typeface="Poppins SemiBold"/>
                <a:sym typeface="Poppins SemiBold"/>
              </a:rPr>
              <a:t>Look out for each other</a:t>
            </a:r>
            <a:endParaRPr b="0" i="0" sz="2500" u="none" cap="none" strike="noStrike">
              <a:solidFill>
                <a:schemeClr val="dk1"/>
              </a:solidFill>
              <a:latin typeface="Calibri"/>
              <a:ea typeface="Calibri"/>
              <a:cs typeface="Calibri"/>
              <a:sym typeface="Calibri"/>
            </a:endParaRPr>
          </a:p>
        </p:txBody>
      </p:sp>
      <p:sp>
        <p:nvSpPr>
          <p:cNvPr id="238" name="Google Shape;238;p11"/>
          <p:cNvSpPr/>
          <p:nvPr/>
        </p:nvSpPr>
        <p:spPr>
          <a:xfrm>
            <a:off x="121275" y="530350"/>
            <a:ext cx="4313400" cy="519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92C82"/>
              </a:buClr>
              <a:buSzPts val="1100"/>
              <a:buFont typeface="Poppins SemiBold"/>
              <a:buNone/>
            </a:pPr>
            <a:r>
              <a:rPr b="0" i="0" lang="en-US" sz="1100" u="none" cap="none" strike="noStrike">
                <a:solidFill>
                  <a:srgbClr val="592C82"/>
                </a:solidFill>
                <a:latin typeface="Poppins SemiBold"/>
                <a:ea typeface="Poppins SemiBold"/>
                <a:cs typeface="Poppins SemiBold"/>
                <a:sym typeface="Poppins SemiBold"/>
              </a:rPr>
              <a:t>This is Encourage Unity in practice </a:t>
            </a:r>
            <a:r>
              <a:rPr b="0" i="0" lang="en-US" sz="1100" u="none" cap="none" strike="noStrike">
                <a:solidFill>
                  <a:srgbClr val="5A6A6F"/>
                </a:solidFill>
                <a:latin typeface="Poppins"/>
                <a:ea typeface="Poppins"/>
                <a:cs typeface="Poppins"/>
                <a:sym typeface="Poppins"/>
              </a:rPr>
              <a:t>— the PROUD value this whole session leans on.</a:t>
            </a:r>
            <a:endParaRPr b="0" i="0" sz="1100" u="none" cap="none" strike="noStrike">
              <a:solidFill>
                <a:schemeClr val="dk1"/>
              </a:solidFill>
              <a:latin typeface="Calibri"/>
              <a:ea typeface="Calibri"/>
              <a:cs typeface="Calibri"/>
              <a:sym typeface="Calibri"/>
            </a:endParaRPr>
          </a:p>
        </p:txBody>
      </p:sp>
      <p:sp>
        <p:nvSpPr>
          <p:cNvPr id="239" name="Google Shape;239;p11"/>
          <p:cNvSpPr/>
          <p:nvPr/>
        </p:nvSpPr>
        <p:spPr>
          <a:xfrm>
            <a:off x="121275" y="1174506"/>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0" name="Google Shape;240;p11"/>
          <p:cNvPicPr preferRelativeResize="0"/>
          <p:nvPr/>
        </p:nvPicPr>
        <p:blipFill rotWithShape="1">
          <a:blip r:embed="rId3">
            <a:alphaModFix/>
          </a:blip>
          <a:srcRect b="0" l="0" r="0" t="0"/>
          <a:stretch/>
        </p:blipFill>
        <p:spPr>
          <a:xfrm>
            <a:off x="221591" y="1278402"/>
            <a:ext cx="220694" cy="228571"/>
          </a:xfrm>
          <a:prstGeom prst="rect">
            <a:avLst/>
          </a:prstGeom>
          <a:noFill/>
          <a:ln>
            <a:noFill/>
          </a:ln>
        </p:spPr>
      </p:pic>
      <p:sp>
        <p:nvSpPr>
          <p:cNvPr id="241" name="Google Shape;241;p11"/>
          <p:cNvSpPr/>
          <p:nvPr/>
        </p:nvSpPr>
        <p:spPr>
          <a:xfrm>
            <a:off x="673012" y="1132947"/>
            <a:ext cx="3761700" cy="883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Notice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You've known each other a year — you'll notice first. Going quiet, dropping things, missed sessions. The person whose Final Major Project has stalled but who keeps saying it's fine. The one who stops turning up to production sessions and submits work that shows the gap. The one who has gone quiet about where they're heading after this year.</a:t>
            </a:r>
            <a:endParaRPr b="0" i="0" sz="1200" u="none" cap="none" strike="noStrike">
              <a:solidFill>
                <a:schemeClr val="dk1"/>
              </a:solidFill>
              <a:latin typeface="Calibri"/>
              <a:ea typeface="Calibri"/>
              <a:cs typeface="Calibri"/>
              <a:sym typeface="Calibri"/>
            </a:endParaRPr>
          </a:p>
        </p:txBody>
      </p:sp>
      <p:sp>
        <p:nvSpPr>
          <p:cNvPr id="242" name="Google Shape;242;p11"/>
          <p:cNvSpPr/>
          <p:nvPr/>
        </p:nvSpPr>
        <p:spPr>
          <a:xfrm>
            <a:off x="121275" y="2109570"/>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3" name="Google Shape;243;p11"/>
          <p:cNvPicPr preferRelativeResize="0"/>
          <p:nvPr/>
        </p:nvPicPr>
        <p:blipFill rotWithShape="1">
          <a:blip r:embed="rId4">
            <a:alphaModFix/>
          </a:blip>
          <a:srcRect b="0" l="0" r="0" t="0"/>
          <a:stretch/>
        </p:blipFill>
        <p:spPr>
          <a:xfrm>
            <a:off x="221591" y="2213467"/>
            <a:ext cx="220694" cy="228571"/>
          </a:xfrm>
          <a:prstGeom prst="rect">
            <a:avLst/>
          </a:prstGeom>
          <a:noFill/>
          <a:ln>
            <a:noFill/>
          </a:ln>
        </p:spPr>
      </p:pic>
      <p:sp>
        <p:nvSpPr>
          <p:cNvPr id="244" name="Google Shape;244;p11"/>
          <p:cNvSpPr/>
          <p:nvPr/>
        </p:nvSpPr>
        <p:spPr>
          <a:xfrm>
            <a:off x="673000" y="2514651"/>
            <a:ext cx="3761700" cy="436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Ask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“You alright? Actually alright?” Then listen to the answer.</a:t>
            </a:r>
            <a:endParaRPr b="0" i="0" sz="1200" u="none" cap="none" strike="noStrike">
              <a:solidFill>
                <a:schemeClr val="dk1"/>
              </a:solidFill>
              <a:latin typeface="Calibri"/>
              <a:ea typeface="Calibri"/>
              <a:cs typeface="Calibri"/>
              <a:sym typeface="Calibri"/>
            </a:endParaRPr>
          </a:p>
        </p:txBody>
      </p:sp>
      <p:sp>
        <p:nvSpPr>
          <p:cNvPr id="245" name="Google Shape;245;p11"/>
          <p:cNvSpPr/>
          <p:nvPr/>
        </p:nvSpPr>
        <p:spPr>
          <a:xfrm>
            <a:off x="121275" y="3044635"/>
            <a:ext cx="421200" cy="4365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F1EB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6" name="Google Shape;246;p11"/>
          <p:cNvPicPr preferRelativeResize="0"/>
          <p:nvPr/>
        </p:nvPicPr>
        <p:blipFill rotWithShape="1">
          <a:blip r:embed="rId5">
            <a:alphaModFix/>
          </a:blip>
          <a:srcRect b="0" l="0" r="0" t="0"/>
          <a:stretch/>
        </p:blipFill>
        <p:spPr>
          <a:xfrm>
            <a:off x="221591" y="3148531"/>
            <a:ext cx="220694" cy="228571"/>
          </a:xfrm>
          <a:prstGeom prst="rect">
            <a:avLst/>
          </a:prstGeom>
          <a:noFill/>
          <a:ln>
            <a:noFill/>
          </a:ln>
        </p:spPr>
      </p:pic>
      <p:sp>
        <p:nvSpPr>
          <p:cNvPr id="247" name="Google Shape;247;p11"/>
          <p:cNvSpPr/>
          <p:nvPr/>
        </p:nvSpPr>
        <p:spPr>
          <a:xfrm>
            <a:off x="673000" y="3291851"/>
            <a:ext cx="3761700" cy="5943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Tell someone  </a:t>
            </a:r>
            <a:endParaRPr b="0" i="0" sz="12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5A6A6F"/>
              </a:buClr>
              <a:buSzPts val="1000"/>
              <a:buFont typeface="Poppins"/>
              <a:buNone/>
            </a:pPr>
            <a:r>
              <a:rPr b="0" i="0" lang="en-US" sz="1000" u="none" cap="none" strike="noStrike">
                <a:solidFill>
                  <a:srgbClr val="5A6A6F"/>
                </a:solidFill>
                <a:latin typeface="Poppins"/>
                <a:ea typeface="Poppins"/>
                <a:cs typeface="Poppins"/>
                <a:sym typeface="Poppins"/>
              </a:rPr>
              <a:t>A tutor or the Wellbeing Team. That's not breaking trust — it's getting help you can't give alone.</a:t>
            </a:r>
            <a:endParaRPr b="0" i="0" sz="1200" u="none" cap="none" strike="noStrike">
              <a:solidFill>
                <a:schemeClr val="dk1"/>
              </a:solidFill>
              <a:latin typeface="Calibri"/>
              <a:ea typeface="Calibri"/>
              <a:cs typeface="Calibri"/>
              <a:sym typeface="Calibri"/>
            </a:endParaRPr>
          </a:p>
        </p:txBody>
      </p:sp>
      <p:sp>
        <p:nvSpPr>
          <p:cNvPr id="248" name="Google Shape;248;p11"/>
          <p:cNvSpPr/>
          <p:nvPr/>
        </p:nvSpPr>
        <p:spPr>
          <a:xfrm>
            <a:off x="502920" y="3977640"/>
            <a:ext cx="393192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050"/>
              <a:buFont typeface="Poppins"/>
              <a:buNone/>
            </a:pPr>
            <a:r>
              <a:rPr b="0" i="1" lang="en-US" sz="1050" u="none" cap="none" strike="noStrike">
                <a:solidFill>
                  <a:srgbClr val="1B2A30"/>
                </a:solidFill>
                <a:latin typeface="Poppins"/>
                <a:ea typeface="Poppins"/>
                <a:cs typeface="Poppins"/>
                <a:sym typeface="Poppins"/>
              </a:rPr>
              <a:t>If a friend tells you something serious and asks you to keep it secret: you can be loyal and still tell someone. Those aren't opposites.</a:t>
            </a:r>
            <a:endParaRPr b="0" i="0" sz="1050" u="none" cap="none" strike="noStrike">
              <a:solidFill>
                <a:schemeClr val="dk1"/>
              </a:solidFill>
              <a:latin typeface="Calibri"/>
              <a:ea typeface="Calibri"/>
              <a:cs typeface="Calibri"/>
              <a:sym typeface="Calibri"/>
            </a:endParaRPr>
          </a:p>
        </p:txBody>
      </p:sp>
      <p:sp>
        <p:nvSpPr>
          <p:cNvPr id="249" name="Google Shape;249;p11"/>
          <p:cNvSpPr/>
          <p:nvPr/>
        </p:nvSpPr>
        <p:spPr>
          <a:xfrm>
            <a:off x="4663440" y="932688"/>
            <a:ext cx="3977640" cy="2834640"/>
          </a:xfrm>
          <a:prstGeom prst="rect">
            <a:avLst/>
          </a:prstGeom>
          <a:solidFill>
            <a:srgbClr val="0D2434"/>
          </a:solidFill>
          <a:ln>
            <a:noFill/>
          </a:ln>
          <a:effectLst>
            <a:outerShdw blurRad="101600" rotWithShape="0" algn="bl" dir="27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0" name="Google Shape;250;p11"/>
          <p:cNvPicPr preferRelativeResize="0"/>
          <p:nvPr/>
        </p:nvPicPr>
        <p:blipFill rotWithShape="1">
          <a:blip r:embed="rId6">
            <a:alphaModFix/>
          </a:blip>
          <a:srcRect b="0" l="0" r="0" t="0"/>
          <a:stretch/>
        </p:blipFill>
        <p:spPr>
          <a:xfrm>
            <a:off x="4864608" y="1115568"/>
            <a:ext cx="237744" cy="237744"/>
          </a:xfrm>
          <a:prstGeom prst="rect">
            <a:avLst/>
          </a:prstGeom>
          <a:noFill/>
          <a:ln>
            <a:noFill/>
          </a:ln>
        </p:spPr>
      </p:pic>
      <p:sp>
        <p:nvSpPr>
          <p:cNvPr id="251" name="Google Shape;251;p11"/>
          <p:cNvSpPr/>
          <p:nvPr/>
        </p:nvSpPr>
        <p:spPr>
          <a:xfrm>
            <a:off x="5212080" y="1078992"/>
            <a:ext cx="32918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50"/>
              <a:buFont typeface="Poppins SemiBold"/>
              <a:buNone/>
            </a:pPr>
            <a:r>
              <a:rPr b="0" i="0" lang="en-US" sz="1250" u="none" cap="none" strike="noStrike">
                <a:solidFill>
                  <a:srgbClr val="FFCF01"/>
                </a:solidFill>
                <a:latin typeface="Poppins SemiBold"/>
                <a:ea typeface="Poppins SemiBold"/>
                <a:cs typeface="Poppins SemiBold"/>
                <a:sym typeface="Poppins SemiBold"/>
              </a:rPr>
              <a:t>KEEP THESE — photograph this slide</a:t>
            </a:r>
            <a:endParaRPr b="0" i="0" sz="1250" u="none" cap="none" strike="noStrike">
              <a:solidFill>
                <a:schemeClr val="dk1"/>
              </a:solidFill>
              <a:latin typeface="Calibri"/>
              <a:ea typeface="Calibri"/>
              <a:cs typeface="Calibri"/>
              <a:sym typeface="Calibri"/>
            </a:endParaRPr>
          </a:p>
        </p:txBody>
      </p:sp>
      <p:sp>
        <p:nvSpPr>
          <p:cNvPr id="252" name="Google Shape;252;p11"/>
          <p:cNvSpPr/>
          <p:nvPr/>
        </p:nvSpPr>
        <p:spPr>
          <a:xfrm>
            <a:off x="4864608" y="1517904"/>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Samaritans   </a:t>
            </a:r>
            <a:r>
              <a:rPr b="0" i="0" lang="en-US" sz="950" u="none" cap="none" strike="noStrike">
                <a:solidFill>
                  <a:srgbClr val="C9D2D6"/>
                </a:solidFill>
                <a:latin typeface="Poppins"/>
                <a:ea typeface="Poppins"/>
                <a:cs typeface="Poppins"/>
                <a:sym typeface="Poppins"/>
              </a:rPr>
              <a:t>116 123 — free, 24/7, any problem, any size</a:t>
            </a:r>
            <a:endParaRPr b="0" i="0" sz="1100" u="none" cap="none" strike="noStrike">
              <a:solidFill>
                <a:schemeClr val="dk1"/>
              </a:solidFill>
              <a:latin typeface="Calibri"/>
              <a:ea typeface="Calibri"/>
              <a:cs typeface="Calibri"/>
              <a:sym typeface="Calibri"/>
            </a:endParaRPr>
          </a:p>
        </p:txBody>
      </p:sp>
      <p:sp>
        <p:nvSpPr>
          <p:cNvPr id="253" name="Google Shape;253;p11"/>
          <p:cNvSpPr/>
          <p:nvPr/>
        </p:nvSpPr>
        <p:spPr>
          <a:xfrm>
            <a:off x="4864608" y="1961388"/>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MIND   </a:t>
            </a:r>
            <a:r>
              <a:rPr b="0" i="0" lang="en-US" sz="950" u="none" cap="none" strike="noStrike">
                <a:solidFill>
                  <a:srgbClr val="C9D2D6"/>
                </a:solidFill>
                <a:latin typeface="Poppins"/>
                <a:ea typeface="Poppins"/>
                <a:cs typeface="Poppins"/>
                <a:sym typeface="Poppins"/>
              </a:rPr>
              <a:t>0300 123 3393 · mind.org.uk</a:t>
            </a:r>
            <a:endParaRPr b="0" i="0" sz="1100" u="none" cap="none" strike="noStrike">
              <a:solidFill>
                <a:schemeClr val="dk1"/>
              </a:solidFill>
              <a:latin typeface="Calibri"/>
              <a:ea typeface="Calibri"/>
              <a:cs typeface="Calibri"/>
              <a:sym typeface="Calibri"/>
            </a:endParaRPr>
          </a:p>
        </p:txBody>
      </p:sp>
      <p:sp>
        <p:nvSpPr>
          <p:cNvPr id="254" name="Google Shape;254;p11"/>
          <p:cNvSpPr/>
          <p:nvPr/>
        </p:nvSpPr>
        <p:spPr>
          <a:xfrm>
            <a:off x="4864608" y="2404872"/>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iRock   </a:t>
            </a:r>
            <a:r>
              <a:rPr b="0" i="0" lang="en-US" sz="950" u="none" cap="none" strike="noStrike">
                <a:solidFill>
                  <a:srgbClr val="C9D2D6"/>
                </a:solidFill>
                <a:latin typeface="Poppins"/>
                <a:ea typeface="Poppins"/>
                <a:cs typeface="Poppins"/>
                <a:sym typeface="Poppins"/>
              </a:rPr>
              <a:t>Drop-in support for young people in East Sussex</a:t>
            </a:r>
            <a:endParaRPr b="0" i="0" sz="1100" u="none" cap="none" strike="noStrike">
              <a:solidFill>
                <a:schemeClr val="dk1"/>
              </a:solidFill>
              <a:latin typeface="Calibri"/>
              <a:ea typeface="Calibri"/>
              <a:cs typeface="Calibri"/>
              <a:sym typeface="Calibri"/>
            </a:endParaRPr>
          </a:p>
        </p:txBody>
      </p:sp>
      <p:sp>
        <p:nvSpPr>
          <p:cNvPr id="255" name="Google Shape;255;p11"/>
          <p:cNvSpPr/>
          <p:nvPr/>
        </p:nvSpPr>
        <p:spPr>
          <a:xfrm>
            <a:off x="4864608" y="2848356"/>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TogetherAll   </a:t>
            </a:r>
            <a:r>
              <a:rPr b="0" i="0" lang="en-US" sz="950" u="none" cap="none" strike="noStrike">
                <a:solidFill>
                  <a:srgbClr val="C9D2D6"/>
                </a:solidFill>
                <a:latin typeface="Poppins"/>
                <a:ea typeface="Poppins"/>
                <a:cs typeface="Poppins"/>
                <a:sym typeface="Poppins"/>
              </a:rPr>
              <a:t>Free, anonymous online support community</a:t>
            </a:r>
            <a:endParaRPr b="0" i="0" sz="1100" u="none" cap="none" strike="noStrike">
              <a:solidFill>
                <a:schemeClr val="dk1"/>
              </a:solidFill>
              <a:latin typeface="Calibri"/>
              <a:ea typeface="Calibri"/>
              <a:cs typeface="Calibri"/>
              <a:sym typeface="Calibri"/>
            </a:endParaRPr>
          </a:p>
        </p:txBody>
      </p:sp>
      <p:sp>
        <p:nvSpPr>
          <p:cNvPr id="256" name="Google Shape;256;p11"/>
          <p:cNvSpPr/>
          <p:nvPr/>
        </p:nvSpPr>
        <p:spPr>
          <a:xfrm>
            <a:off x="4864608" y="3291840"/>
            <a:ext cx="361188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FFFFF"/>
              </a:buClr>
              <a:buSzPts val="1100"/>
              <a:buFont typeface="Poppins SemiBold"/>
              <a:buNone/>
            </a:pPr>
            <a:r>
              <a:rPr b="0" i="0" lang="en-US" sz="1100" u="none" cap="none" strike="noStrike">
                <a:solidFill>
                  <a:srgbClr val="FFFFFF"/>
                </a:solidFill>
                <a:latin typeface="Poppins SemiBold"/>
                <a:ea typeface="Poppins SemiBold"/>
                <a:cs typeface="Poppins SemiBold"/>
                <a:sym typeface="Poppins SemiBold"/>
              </a:rPr>
              <a:t>Local crisis line   </a:t>
            </a:r>
            <a:r>
              <a:rPr b="0" i="0" lang="en-US" sz="950" u="none" cap="none" strike="noStrike">
                <a:solidFill>
                  <a:srgbClr val="C9D2D6"/>
                </a:solidFill>
                <a:latin typeface="Poppins"/>
                <a:ea typeface="Poppins"/>
                <a:cs typeface="Poppins"/>
                <a:sym typeface="Poppins"/>
              </a:rPr>
              <a:t>See the card your teacher gives you today</a:t>
            </a:r>
            <a:endParaRPr b="0" i="0" sz="1100" u="none" cap="none" strike="noStrike">
              <a:solidFill>
                <a:schemeClr val="dk1"/>
              </a:solidFill>
              <a:latin typeface="Calibri"/>
              <a:ea typeface="Calibri"/>
              <a:cs typeface="Calibri"/>
              <a:sym typeface="Calibri"/>
            </a:endParaRPr>
          </a:p>
        </p:txBody>
      </p:sp>
      <p:sp>
        <p:nvSpPr>
          <p:cNvPr id="257" name="Google Shape;257;p11"/>
          <p:cNvSpPr/>
          <p:nvPr/>
        </p:nvSpPr>
        <p:spPr>
          <a:xfrm>
            <a:off x="4663450" y="3886200"/>
            <a:ext cx="3977700" cy="1110000"/>
          </a:xfrm>
          <a:prstGeom prst="rect">
            <a:avLst/>
          </a:prstGeom>
          <a:solidFill>
            <a:srgbClr val="F8E7E3"/>
          </a:solidFill>
          <a:ln cap="flat" cmpd="sng" w="19050">
            <a:solidFill>
              <a:srgbClr val="B23A2E"/>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773168" y="3950208"/>
            <a:ext cx="3758184" cy="740664"/>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B23A2E"/>
              </a:buClr>
              <a:buSzPts val="950"/>
              <a:buFont typeface="Poppins SemiBold"/>
              <a:buNone/>
            </a:pPr>
            <a:r>
              <a:rPr b="0" i="0" lang="en-US" sz="950" u="none" cap="none" strike="noStrike">
                <a:solidFill>
                  <a:srgbClr val="B23A2E"/>
                </a:solidFill>
                <a:latin typeface="Poppins SemiBold"/>
                <a:ea typeface="Poppins SemiBold"/>
                <a:cs typeface="Poppins SemiBold"/>
                <a:sym typeface="Poppins SemiBold"/>
              </a:rPr>
              <a:t>[ADAPT: MANDATORY — complete before every delivery; verify all contacts are live and add your campus crisis line below]</a:t>
            </a:r>
            <a:endParaRPr b="0" i="0" sz="95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B2A30"/>
              </a:buClr>
              <a:buSzPts val="950"/>
              <a:buFont typeface="Poppins"/>
              <a:buNone/>
            </a:pPr>
            <a:r>
              <a:rPr b="0" i="0" lang="en-US" sz="950" u="none" cap="none" strike="noStrike">
                <a:solidFill>
                  <a:srgbClr val="1B2A30"/>
                </a:solidFill>
                <a:latin typeface="Poppins"/>
                <a:ea typeface="Poppins"/>
                <a:cs typeface="Poppins"/>
                <a:sym typeface="Poppins"/>
              </a:rPr>
              <a:t>[ADAPT bullet 1] Verify all contacts above are still live before delivery — Samaritans 116 123 and MIND 0300 123 3393 are stable; iRock drop-in schedules and TogetherAll access routes change each term: check them now</a:t>
            </a:r>
            <a:endParaRPr b="0" i="0" sz="950" u="none" cap="none" strike="noStrike">
              <a:solidFill>
                <a:schemeClr val="dk1"/>
              </a:solidFill>
              <a:latin typeface="Calibri"/>
              <a:ea typeface="Calibri"/>
              <a:cs typeface="Calibri"/>
              <a:sym typeface="Calibri"/>
            </a:endParaRPr>
          </a:p>
        </p:txBody>
      </p:sp>
      <p:sp>
        <p:nvSpPr>
          <p:cNvPr id="259" name="Google Shape;259;p11"/>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4" name="Shape 264"/>
        <p:cNvGrpSpPr/>
        <p:nvPr/>
      </p:nvGrpSpPr>
      <p:grpSpPr>
        <a:xfrm>
          <a:off x="0" y="0"/>
          <a:ext cx="0" cy="0"/>
          <a:chOff x="0" y="0"/>
          <a:chExt cx="0" cy="0"/>
        </a:xfrm>
      </p:grpSpPr>
      <p:sp>
        <p:nvSpPr>
          <p:cNvPr id="265" name="Google Shape;265;p12"/>
          <p:cNvSpPr/>
          <p:nvPr/>
        </p:nvSpPr>
        <p:spPr>
          <a:xfrm>
            <a:off x="8022946" y="256032"/>
            <a:ext cx="801014" cy="274320"/>
          </a:xfrm>
          <a:prstGeom prst="roundRect">
            <a:avLst>
              <a:gd fmla="val 50000" name="adj"/>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2"/>
          <p:cNvSpPr/>
          <p:nvPr/>
        </p:nvSpPr>
        <p:spPr>
          <a:xfrm>
            <a:off x="8022946" y="256032"/>
            <a:ext cx="80101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Poppins SemiBold"/>
              <a:buNone/>
            </a:pPr>
            <a:r>
              <a:rPr b="0" i="0" lang="en-US" sz="900" u="none" cap="none" strike="noStrike">
                <a:solidFill>
                  <a:srgbClr val="FFFFFF"/>
                </a:solidFill>
                <a:latin typeface="Poppins SemiBold"/>
                <a:ea typeface="Poppins SemiBold"/>
                <a:cs typeface="Poppins SemiBold"/>
                <a:sym typeface="Poppins SemiBold"/>
              </a:rPr>
              <a:t>ACTIVITY</a:t>
            </a:r>
            <a:endParaRPr b="0" i="0" sz="900" u="none" cap="none" strike="noStrike">
              <a:solidFill>
                <a:schemeClr val="dk1"/>
              </a:solidFill>
              <a:latin typeface="Calibri"/>
              <a:ea typeface="Calibri"/>
              <a:cs typeface="Calibri"/>
              <a:sym typeface="Calibri"/>
            </a:endParaRPr>
          </a:p>
        </p:txBody>
      </p:sp>
      <p:sp>
        <p:nvSpPr>
          <p:cNvPr id="267" name="Google Shape;267;p12"/>
          <p:cNvSpPr/>
          <p:nvPr/>
        </p:nvSpPr>
        <p:spPr>
          <a:xfrm>
            <a:off x="502920" y="292608"/>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2600"/>
              <a:buFont typeface="Poppins SemiBold"/>
              <a:buNone/>
            </a:pPr>
            <a:r>
              <a:rPr b="0" i="0" lang="en-US" sz="2600" u="none" cap="none" strike="noStrike">
                <a:solidFill>
                  <a:srgbClr val="1B2A30"/>
                </a:solidFill>
                <a:latin typeface="Poppins SemiBold"/>
                <a:ea typeface="Poppins SemiBold"/>
                <a:cs typeface="Poppins SemiBold"/>
                <a:sym typeface="Poppins SemiBold"/>
              </a:rPr>
              <a:t>One thing</a:t>
            </a:r>
            <a:endParaRPr b="0" i="0" sz="2600" u="none" cap="none" strike="noStrike">
              <a:solidFill>
                <a:schemeClr val="dk1"/>
              </a:solidFill>
              <a:latin typeface="Calibri"/>
              <a:ea typeface="Calibri"/>
              <a:cs typeface="Calibri"/>
              <a:sym typeface="Calibri"/>
            </a:endParaRPr>
          </a:p>
        </p:txBody>
      </p:sp>
      <p:sp>
        <p:nvSpPr>
          <p:cNvPr id="268" name="Google Shape;268;p12"/>
          <p:cNvSpPr/>
          <p:nvPr/>
        </p:nvSpPr>
        <p:spPr>
          <a:xfrm>
            <a:off x="502920" y="932688"/>
            <a:ext cx="77724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250"/>
              <a:buFont typeface="Poppins"/>
              <a:buNone/>
            </a:pPr>
            <a:r>
              <a:rPr b="0" i="0" lang="en-US" sz="1250" u="none" cap="none" strike="noStrike">
                <a:solidFill>
                  <a:srgbClr val="5A6A6F"/>
                </a:solidFill>
                <a:latin typeface="Poppins"/>
                <a:ea typeface="Poppins"/>
                <a:cs typeface="Poppins"/>
                <a:sym typeface="Poppins"/>
              </a:rPr>
              <a:t>Write one specific thing you'll try this week. Not three. One.</a:t>
            </a:r>
            <a:endParaRPr b="0" i="0" sz="1250" u="none" cap="none" strike="noStrike">
              <a:solidFill>
                <a:schemeClr val="dk1"/>
              </a:solidFill>
              <a:latin typeface="Calibri"/>
              <a:ea typeface="Calibri"/>
              <a:cs typeface="Calibri"/>
              <a:sym typeface="Calibri"/>
            </a:endParaRPr>
          </a:p>
        </p:txBody>
      </p:sp>
      <p:sp>
        <p:nvSpPr>
          <p:cNvPr id="269" name="Google Shape;269;p12"/>
          <p:cNvSpPr/>
          <p:nvPr/>
        </p:nvSpPr>
        <p:spPr>
          <a:xfrm>
            <a:off x="502920" y="1353312"/>
            <a:ext cx="8138160" cy="3310128"/>
          </a:xfrm>
          <a:prstGeom prst="rect">
            <a:avLst/>
          </a:prstGeom>
          <a:solidFill>
            <a:srgbClr val="FFFFFF"/>
          </a:solidFill>
          <a:ln cap="flat" cmpd="sng" w="12700">
            <a:solidFill>
              <a:srgbClr val="D2DBDA"/>
            </a:solidFill>
            <a:prstDash val="solid"/>
            <a:round/>
            <a:headEnd len="sm" w="sm" type="none"/>
            <a:tailEnd len="sm" w="sm" type="none"/>
          </a:ln>
          <a:effectLst>
            <a:outerShdw blurRad="76200" rotWithShape="0" algn="bl" dir="27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749808" y="1572768"/>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p:nvPr/>
        </p:nvSpPr>
        <p:spPr>
          <a:xfrm>
            <a:off x="749808" y="157276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1</a:t>
            </a:r>
            <a:endParaRPr b="0" i="0" sz="1200" u="none" cap="none" strike="noStrike">
              <a:solidFill>
                <a:schemeClr val="dk1"/>
              </a:solidFill>
              <a:latin typeface="Calibri"/>
              <a:ea typeface="Calibri"/>
              <a:cs typeface="Calibri"/>
              <a:sym typeface="Calibri"/>
            </a:endParaRPr>
          </a:p>
        </p:txBody>
      </p:sp>
      <p:sp>
        <p:nvSpPr>
          <p:cNvPr id="272" name="Google Shape;272;p12"/>
          <p:cNvSpPr/>
          <p:nvPr/>
        </p:nvSpPr>
        <p:spPr>
          <a:xfrm>
            <a:off x="1225296" y="1554480"/>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Sleep — </a:t>
            </a:r>
            <a:r>
              <a:rPr b="0" i="0" lang="en-US" sz="1150" u="none" cap="none" strike="noStrike">
                <a:solidFill>
                  <a:srgbClr val="1B2A30"/>
                </a:solidFill>
                <a:latin typeface="Poppins"/>
                <a:ea typeface="Poppins"/>
                <a:cs typeface="Poppins"/>
                <a:sym typeface="Poppins"/>
              </a:rPr>
              <a:t>I'll anchor my wake time — same time every day, including one weekend day.</a:t>
            </a:r>
            <a:endParaRPr b="0" i="0" sz="1200" u="none" cap="none" strike="noStrike">
              <a:solidFill>
                <a:schemeClr val="dk1"/>
              </a:solidFill>
              <a:latin typeface="Calibri"/>
              <a:ea typeface="Calibri"/>
              <a:cs typeface="Calibri"/>
              <a:sym typeface="Calibri"/>
            </a:endParaRPr>
          </a:p>
        </p:txBody>
      </p:sp>
      <p:sp>
        <p:nvSpPr>
          <p:cNvPr id="273" name="Google Shape;273;p12"/>
          <p:cNvSpPr/>
          <p:nvPr/>
        </p:nvSpPr>
        <p:spPr>
          <a:xfrm>
            <a:off x="749808" y="2148840"/>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p:nvPr/>
        </p:nvSpPr>
        <p:spPr>
          <a:xfrm>
            <a:off x="749808"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2</a:t>
            </a:r>
            <a:endParaRPr b="0" i="0" sz="1200" u="none" cap="none" strike="noStrike">
              <a:solidFill>
                <a:schemeClr val="dk1"/>
              </a:solidFill>
              <a:latin typeface="Calibri"/>
              <a:ea typeface="Calibri"/>
              <a:cs typeface="Calibri"/>
              <a:sym typeface="Calibri"/>
            </a:endParaRPr>
          </a:p>
        </p:txBody>
      </p:sp>
      <p:sp>
        <p:nvSpPr>
          <p:cNvPr id="275" name="Google Shape;275;p12"/>
          <p:cNvSpPr/>
          <p:nvPr/>
        </p:nvSpPr>
        <p:spPr>
          <a:xfrm>
            <a:off x="1225296" y="2130552"/>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Pressure valve — </a:t>
            </a:r>
            <a:r>
              <a:rPr b="0" i="0" lang="en-US" sz="1150" u="none" cap="none" strike="noStrike">
                <a:solidFill>
                  <a:srgbClr val="1B2A30"/>
                </a:solidFill>
                <a:latin typeface="Poppins"/>
                <a:ea typeface="Poppins"/>
                <a:cs typeface="Poppins"/>
                <a:sym typeface="Poppins"/>
              </a:rPr>
              <a:t>I'll put one deliberate thing in my week that isn't work — movement, mates, or proper downtime.</a:t>
            </a:r>
            <a:endParaRPr b="0" i="0" sz="1200" u="none" cap="none" strike="noStrike">
              <a:solidFill>
                <a:schemeClr val="dk1"/>
              </a:solidFill>
              <a:latin typeface="Calibri"/>
              <a:ea typeface="Calibri"/>
              <a:cs typeface="Calibri"/>
              <a:sym typeface="Calibri"/>
            </a:endParaRPr>
          </a:p>
        </p:txBody>
      </p:sp>
      <p:sp>
        <p:nvSpPr>
          <p:cNvPr id="276" name="Google Shape;276;p12"/>
          <p:cNvSpPr/>
          <p:nvPr/>
        </p:nvSpPr>
        <p:spPr>
          <a:xfrm>
            <a:off x="749808" y="2724912"/>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749808" y="272491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3</a:t>
            </a:r>
            <a:endParaRPr b="0" i="0" sz="1200" u="none" cap="none" strike="noStrike">
              <a:solidFill>
                <a:schemeClr val="dk1"/>
              </a:solidFill>
              <a:latin typeface="Calibri"/>
              <a:ea typeface="Calibri"/>
              <a:cs typeface="Calibri"/>
              <a:sym typeface="Calibri"/>
            </a:endParaRPr>
          </a:p>
        </p:txBody>
      </p:sp>
      <p:sp>
        <p:nvSpPr>
          <p:cNvPr id="278" name="Google Shape;278;p12"/>
          <p:cNvSpPr/>
          <p:nvPr/>
        </p:nvSpPr>
        <p:spPr>
          <a:xfrm>
            <a:off x="1225296" y="2706624"/>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Contacts — </a:t>
            </a:r>
            <a:r>
              <a:rPr b="0" i="0" lang="en-US" sz="1150" u="none" cap="none" strike="noStrike">
                <a:solidFill>
                  <a:srgbClr val="1B2A30"/>
                </a:solidFill>
                <a:latin typeface="Poppins"/>
                <a:ea typeface="Poppins"/>
                <a:cs typeface="Poppins"/>
                <a:sym typeface="Poppins"/>
              </a:rPr>
              <a:t>I'll re-save the support numbers and remind myself where the Wellbeing Team's door is.</a:t>
            </a:r>
            <a:endParaRPr b="0" i="0" sz="1200" u="none" cap="none" strike="noStrike">
              <a:solidFill>
                <a:schemeClr val="dk1"/>
              </a:solidFill>
              <a:latin typeface="Calibri"/>
              <a:ea typeface="Calibri"/>
              <a:cs typeface="Calibri"/>
              <a:sym typeface="Calibri"/>
            </a:endParaRPr>
          </a:p>
        </p:txBody>
      </p:sp>
      <p:sp>
        <p:nvSpPr>
          <p:cNvPr id="279" name="Google Shape;279;p12"/>
          <p:cNvSpPr/>
          <p:nvPr/>
        </p:nvSpPr>
        <p:spPr>
          <a:xfrm>
            <a:off x="749808" y="3300984"/>
            <a:ext cx="329184" cy="329184"/>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p:nvPr/>
        </p:nvSpPr>
        <p:spPr>
          <a:xfrm>
            <a:off x="749808" y="330098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Poppins SemiBold"/>
              <a:buNone/>
            </a:pPr>
            <a:r>
              <a:rPr b="0" i="0" lang="en-US" sz="1200" u="none" cap="none" strike="noStrike">
                <a:solidFill>
                  <a:srgbClr val="FFFFFF"/>
                </a:solidFill>
                <a:latin typeface="Poppins SemiBold"/>
                <a:ea typeface="Poppins SemiBold"/>
                <a:cs typeface="Poppins SemiBold"/>
                <a:sym typeface="Poppins SemiBold"/>
              </a:rPr>
              <a:t>4</a:t>
            </a:r>
            <a:endParaRPr b="0" i="0" sz="1200" u="none" cap="none" strike="noStrike">
              <a:solidFill>
                <a:schemeClr val="dk1"/>
              </a:solidFill>
              <a:latin typeface="Calibri"/>
              <a:ea typeface="Calibri"/>
              <a:cs typeface="Calibri"/>
              <a:sym typeface="Calibri"/>
            </a:endParaRPr>
          </a:p>
        </p:txBody>
      </p:sp>
      <p:sp>
        <p:nvSpPr>
          <p:cNvPr id="281" name="Google Shape;281;p12"/>
          <p:cNvSpPr/>
          <p:nvPr/>
        </p:nvSpPr>
        <p:spPr>
          <a:xfrm>
            <a:off x="1225296" y="3282696"/>
            <a:ext cx="7178040" cy="50292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1B2A30"/>
              </a:buClr>
              <a:buSzPts val="1200"/>
              <a:buFont typeface="Poppins SemiBold"/>
              <a:buNone/>
            </a:pPr>
            <a:r>
              <a:rPr b="0" i="0" lang="en-US" sz="1200" u="none" cap="none" strike="noStrike">
                <a:solidFill>
                  <a:srgbClr val="1B2A30"/>
                </a:solidFill>
                <a:latin typeface="Poppins SemiBold"/>
                <a:ea typeface="Poppins SemiBold"/>
                <a:cs typeface="Poppins SemiBold"/>
                <a:sym typeface="Poppins SemiBold"/>
              </a:rPr>
              <a:t>Talk — </a:t>
            </a:r>
            <a:r>
              <a:rPr b="0" i="0" lang="en-US" sz="1150" u="none" cap="none" strike="noStrike">
                <a:solidFill>
                  <a:srgbClr val="1B2A30"/>
                </a:solidFill>
                <a:latin typeface="Poppins"/>
                <a:ea typeface="Poppins"/>
                <a:cs typeface="Poppins"/>
                <a:sym typeface="Poppins"/>
              </a:rPr>
              <a:t>I'll tell my tutor or the Wellbeing Team about something that's getting in the way.</a:t>
            </a:r>
            <a:endParaRPr b="0" i="0" sz="1200" u="none" cap="none" strike="noStrike">
              <a:solidFill>
                <a:schemeClr val="dk1"/>
              </a:solidFill>
              <a:latin typeface="Calibri"/>
              <a:ea typeface="Calibri"/>
              <a:cs typeface="Calibri"/>
              <a:sym typeface="Calibri"/>
            </a:endParaRPr>
          </a:p>
        </p:txBody>
      </p:sp>
      <p:sp>
        <p:nvSpPr>
          <p:cNvPr id="282" name="Google Shape;282;p12"/>
          <p:cNvSpPr/>
          <p:nvPr/>
        </p:nvSpPr>
        <p:spPr>
          <a:xfrm>
            <a:off x="749808" y="3931920"/>
            <a:ext cx="7635240" cy="56692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5A6A6F"/>
              </a:buClr>
              <a:buSzPts val="1050"/>
              <a:buFont typeface="Poppins"/>
              <a:buNone/>
            </a:pPr>
            <a:r>
              <a:rPr b="0" i="1" lang="en-US" sz="1050" u="none" cap="none" strike="noStrike">
                <a:solidFill>
                  <a:srgbClr val="5A6A6F"/>
                </a:solidFill>
                <a:latin typeface="Poppins"/>
                <a:ea typeface="Poppins"/>
                <a:cs typeface="Poppins"/>
                <a:sym typeface="Poppins"/>
              </a:rPr>
              <a:t>Your tutor keeps these and will check in on them. Choosing option 4 means someone follows up with you this week — quietly, and properly.</a:t>
            </a:r>
            <a:endParaRPr b="0" i="0" sz="1050" u="none" cap="none" strike="noStrike">
              <a:solidFill>
                <a:schemeClr val="dk1"/>
              </a:solidFill>
              <a:latin typeface="Calibri"/>
              <a:ea typeface="Calibri"/>
              <a:cs typeface="Calibri"/>
              <a:sym typeface="Calibri"/>
            </a:endParaRPr>
          </a:p>
        </p:txBody>
      </p:sp>
      <p:sp>
        <p:nvSpPr>
          <p:cNvPr id="283" name="Google Shape;283;p12"/>
          <p:cNvSpPr/>
          <p:nvPr/>
        </p:nvSpPr>
        <p:spPr>
          <a:xfrm>
            <a:off x="502920" y="4832604"/>
            <a:ext cx="4114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00"/>
              <a:buFont typeface="Poppins"/>
              <a:buNone/>
            </a:pPr>
            <a:r>
              <a:rPr b="0" i="0" lang="en-US" sz="800" u="none" cap="none" strike="noStrike">
                <a:solidFill>
                  <a:srgbClr val="5A6A6F"/>
                </a:solidFill>
                <a:latin typeface="Poppins"/>
                <a:ea typeface="Poppins"/>
                <a:cs typeface="Poppins"/>
                <a:sym typeface="Poppins"/>
              </a:rPr>
              <a:t>Module G · Looking After Myself · 10</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88" name="Shape 288"/>
        <p:cNvGrpSpPr/>
        <p:nvPr/>
      </p:nvGrpSpPr>
      <p:grpSpPr>
        <a:xfrm>
          <a:off x="0" y="0"/>
          <a:ext cx="0" cy="0"/>
          <a:chOff x="0" y="0"/>
          <a:chExt cx="0" cy="0"/>
        </a:xfrm>
      </p:grpSpPr>
      <p:sp>
        <p:nvSpPr>
          <p:cNvPr id="289" name="Google Shape;289;p13"/>
          <p:cNvSpPr/>
          <p:nvPr/>
        </p:nvSpPr>
        <p:spPr>
          <a:xfrm>
            <a:off x="502920" y="566928"/>
            <a:ext cx="502920" cy="82296"/>
          </a:xfrm>
          <a:prstGeom prst="rect">
            <a:avLst/>
          </a:prstGeom>
          <a:solidFill>
            <a:srgbClr val="592C8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502920" y="777240"/>
            <a:ext cx="7772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Poppins SemiBold"/>
              <a:buNone/>
            </a:pPr>
            <a:r>
              <a:rPr b="0" i="0" lang="en-US" sz="2800" u="none" cap="none" strike="noStrike">
                <a:solidFill>
                  <a:srgbClr val="FFFFFF"/>
                </a:solidFill>
                <a:latin typeface="Poppins SemiBold"/>
                <a:ea typeface="Poppins SemiBold"/>
                <a:cs typeface="Poppins SemiBold"/>
                <a:sym typeface="Poppins SemiBold"/>
              </a:rPr>
              <a:t>What to take from today</a:t>
            </a:r>
            <a:endParaRPr b="0" i="0" sz="2800" u="none" cap="none" strike="noStrike">
              <a:solidFill>
                <a:schemeClr val="dk1"/>
              </a:solidFill>
              <a:latin typeface="Calibri"/>
              <a:ea typeface="Calibri"/>
              <a:cs typeface="Calibri"/>
              <a:sym typeface="Calibri"/>
            </a:endParaRPr>
          </a:p>
        </p:txBody>
      </p:sp>
      <p:sp>
        <p:nvSpPr>
          <p:cNvPr id="291" name="Google Shape;291;p13"/>
          <p:cNvSpPr/>
          <p:nvPr/>
        </p:nvSpPr>
        <p:spPr>
          <a:xfrm>
            <a:off x="502920" y="1636776"/>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841248" y="1527048"/>
            <a:ext cx="7680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Mental health is health. It moves — which means it can be moved, and everything that moves it can be worked on.</a:t>
            </a:r>
            <a:endParaRPr b="0" i="0" sz="1300" u="none" cap="none" strike="noStrike">
              <a:solidFill>
                <a:schemeClr val="dk1"/>
              </a:solidFill>
              <a:latin typeface="Calibri"/>
              <a:ea typeface="Calibri"/>
              <a:cs typeface="Calibri"/>
              <a:sym typeface="Calibri"/>
            </a:endParaRPr>
          </a:p>
        </p:txBody>
      </p:sp>
      <p:sp>
        <p:nvSpPr>
          <p:cNvPr id="293" name="Google Shape;293;p13"/>
          <p:cNvSpPr/>
          <p:nvPr/>
        </p:nvSpPr>
        <p:spPr>
          <a:xfrm>
            <a:off x="502920" y="2258568"/>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841248" y="2148840"/>
            <a:ext cx="7680960" cy="566928"/>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Year 2 is when support earns its keep. Going early isn't a last resort — it's how strong finishes happen. The students who flagged Final Major Project uncertainty in September finished with genuine work. The ones who raised the technical gap in October built the skills in time. The ones who waited until March ran out of time — not ability.</a:t>
            </a:r>
            <a:endParaRPr b="0" i="0" sz="1300" u="none" cap="none" strike="noStrike">
              <a:solidFill>
                <a:schemeClr val="dk1"/>
              </a:solidFill>
              <a:latin typeface="Calibri"/>
              <a:ea typeface="Calibri"/>
              <a:cs typeface="Calibri"/>
              <a:sym typeface="Calibri"/>
            </a:endParaRPr>
          </a:p>
        </p:txBody>
      </p:sp>
      <p:sp>
        <p:nvSpPr>
          <p:cNvPr id="295" name="Google Shape;295;p13"/>
          <p:cNvSpPr/>
          <p:nvPr/>
        </p:nvSpPr>
        <p:spPr>
          <a:xfrm>
            <a:off x="502920" y="2880360"/>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841250" y="3057948"/>
            <a:ext cx="7680900" cy="7362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You already know where the doors are — your tutor, the Wellbeing Team, the Hardship Fund, and the numbers in your phone.</a:t>
            </a:r>
            <a:endParaRPr b="0" i="0" sz="1300" u="none" cap="none" strike="noStrike">
              <a:solidFill>
                <a:schemeClr val="dk1"/>
              </a:solidFill>
              <a:latin typeface="Calibri"/>
              <a:ea typeface="Calibri"/>
              <a:cs typeface="Calibri"/>
              <a:sym typeface="Calibri"/>
            </a:endParaRPr>
          </a:p>
        </p:txBody>
      </p:sp>
      <p:sp>
        <p:nvSpPr>
          <p:cNvPr id="297" name="Google Shape;297;p13"/>
          <p:cNvSpPr/>
          <p:nvPr/>
        </p:nvSpPr>
        <p:spPr>
          <a:xfrm>
            <a:off x="502920" y="3502152"/>
            <a:ext cx="128016" cy="128016"/>
          </a:xfrm>
          <a:prstGeom prst="rect">
            <a:avLst/>
          </a:prstGeom>
          <a:solidFill>
            <a:srgbClr val="FFCF0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841275" y="3942501"/>
            <a:ext cx="7680900" cy="32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E8ECEE"/>
              </a:buClr>
              <a:buSzPts val="1300"/>
              <a:buFont typeface="Poppins"/>
              <a:buNone/>
            </a:pPr>
            <a:r>
              <a:rPr b="0" i="0" lang="en-US" sz="1300" u="none" cap="none" strike="noStrike">
                <a:solidFill>
                  <a:srgbClr val="E8ECEE"/>
                </a:solidFill>
                <a:latin typeface="Poppins"/>
                <a:ea typeface="Poppins"/>
                <a:cs typeface="Poppins"/>
                <a:sym typeface="Poppins"/>
              </a:rPr>
              <a:t>Look out for each other. Telling someone is never the wrong call.</a:t>
            </a:r>
            <a:endParaRPr b="0" i="0" sz="1300" u="none" cap="none" strike="noStrike">
              <a:solidFill>
                <a:schemeClr val="dk1"/>
              </a:solidFill>
              <a:latin typeface="Calibri"/>
              <a:ea typeface="Calibri"/>
              <a:cs typeface="Calibri"/>
              <a:sym typeface="Calibri"/>
            </a:endParaRPr>
          </a:p>
        </p:txBody>
      </p:sp>
      <p:sp>
        <p:nvSpPr>
          <p:cNvPr id="299" name="Google Shape;299;p13"/>
          <p:cNvSpPr/>
          <p:nvPr/>
        </p:nvSpPr>
        <p:spPr>
          <a:xfrm>
            <a:off x="502920" y="4343400"/>
            <a:ext cx="7772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50"/>
              <a:buFont typeface="Poppins SemiBold"/>
              <a:buNone/>
            </a:pPr>
            <a:r>
              <a:rPr b="0" i="0" lang="en-US" sz="1150" u="none" cap="none" strike="noStrike">
                <a:solidFill>
                  <a:srgbClr val="FFCF01"/>
                </a:solidFill>
                <a:latin typeface="Poppins SemiBold"/>
                <a:ea typeface="Poppins SemiBold"/>
                <a:cs typeface="Poppins SemiBold"/>
                <a:sym typeface="Poppins SemiBold"/>
              </a:rPr>
              <a:t>Next: </a:t>
            </a:r>
            <a:r>
              <a:rPr b="0" i="0" lang="en-US" sz="1150" u="none" cap="none" strike="noStrike">
                <a:solidFill>
                  <a:srgbClr val="9AA7AC"/>
                </a:solidFill>
                <a:latin typeface="Poppins"/>
                <a:ea typeface="Poppins"/>
                <a:cs typeface="Poppins"/>
                <a:sym typeface="Poppins"/>
              </a:rPr>
              <a:t>Module H — How to Use Navigate, delivered by the Careers Team.</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04" name="Shape 304"/>
        <p:cNvGrpSpPr/>
        <p:nvPr/>
      </p:nvGrpSpPr>
      <p:grpSpPr>
        <a:xfrm>
          <a:off x="0" y="0"/>
          <a:ext cx="0" cy="0"/>
          <a:chOff x="0" y="0"/>
          <a:chExt cx="0" cy="0"/>
        </a:xfrm>
      </p:grpSpPr>
      <p:sp>
        <p:nvSpPr>
          <p:cNvPr id="305" name="Google Shape;305;p14"/>
          <p:cNvSpPr/>
          <p:nvPr/>
        </p:nvSpPr>
        <p:spPr>
          <a:xfrm>
            <a:off x="0" y="0"/>
            <a:ext cx="9144000" cy="475488"/>
          </a:xfrm>
          <a:prstGeom prst="rect">
            <a:avLst/>
          </a:prstGeom>
          <a:solidFill>
            <a:srgbClr val="B23A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0" y="0"/>
            <a:ext cx="914400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400"/>
              <a:buFont typeface="Poppins SemiBold"/>
              <a:buNone/>
            </a:pPr>
            <a:r>
              <a:rPr b="0" i="0" lang="en-US" sz="1400" u="none" cap="none" strike="noStrike">
                <a:solidFill>
                  <a:srgbClr val="FFFFFF"/>
                </a:solidFill>
                <a:latin typeface="Poppins SemiBold"/>
                <a:ea typeface="Poppins SemiBold"/>
                <a:cs typeface="Poppins SemiBold"/>
                <a:sym typeface="Poppins SemiBold"/>
              </a:rPr>
              <a:t>TEACHER APPENDIX — DO NOT DISPLAY TO STUDENTS</a:t>
            </a:r>
            <a:endParaRPr b="0" i="0" sz="1400" u="none" cap="none" strike="noStrike">
              <a:solidFill>
                <a:schemeClr val="dk1"/>
              </a:solidFill>
              <a:latin typeface="Calibri"/>
              <a:ea typeface="Calibri"/>
              <a:cs typeface="Calibri"/>
              <a:sym typeface="Calibri"/>
            </a:endParaRPr>
          </a:p>
        </p:txBody>
      </p:sp>
      <p:sp>
        <p:nvSpPr>
          <p:cNvPr id="307" name="Google Shape;307;p14"/>
          <p:cNvSpPr/>
          <p:nvPr/>
        </p:nvSpPr>
        <p:spPr>
          <a:xfrm>
            <a:off x="411480" y="658368"/>
            <a:ext cx="3657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SemiBold"/>
              <a:buNone/>
            </a:pPr>
            <a:r>
              <a:rPr b="0" i="0" lang="en-US" sz="1300" u="none" cap="none" strike="noStrike">
                <a:solidFill>
                  <a:srgbClr val="1B2A30"/>
                </a:solidFill>
                <a:latin typeface="Poppins SemiBold"/>
                <a:ea typeface="Poppins SemiBold"/>
                <a:cs typeface="Poppins SemiBold"/>
                <a:sym typeface="Poppins SemiBold"/>
              </a:rPr>
              <a:t>Running order — 90 minutes</a:t>
            </a:r>
            <a:endParaRPr b="0" i="0" sz="1300" u="none" cap="none" strike="noStrike">
              <a:solidFill>
                <a:schemeClr val="dk1"/>
              </a:solidFill>
              <a:latin typeface="Calibri"/>
              <a:ea typeface="Calibri"/>
              <a:cs typeface="Calibri"/>
              <a:sym typeface="Calibri"/>
            </a:endParaRPr>
          </a:p>
        </p:txBody>
      </p:sp>
      <p:sp>
        <p:nvSpPr>
          <p:cNvPr id="308" name="Google Shape;308;p14"/>
          <p:cNvSpPr/>
          <p:nvPr/>
        </p:nvSpPr>
        <p:spPr>
          <a:xfrm>
            <a:off x="411480" y="96926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0:00   </a:t>
            </a:r>
            <a:r>
              <a:rPr b="0" i="0" lang="en-US" sz="950" u="none" cap="none" strike="noStrike">
                <a:solidFill>
                  <a:srgbClr val="1B2A30"/>
                </a:solidFill>
                <a:latin typeface="Poppins"/>
                <a:ea typeface="Poppins"/>
                <a:cs typeface="Poppins"/>
                <a:sym typeface="Poppins"/>
              </a:rPr>
              <a:t>Arrival &amp; framing (slide 1)</a:t>
            </a:r>
            <a:endParaRPr b="0" i="0" sz="950" u="none" cap="none" strike="noStrike">
              <a:solidFill>
                <a:schemeClr val="dk1"/>
              </a:solidFill>
              <a:latin typeface="Calibri"/>
              <a:ea typeface="Calibri"/>
              <a:cs typeface="Calibri"/>
              <a:sym typeface="Calibri"/>
            </a:endParaRPr>
          </a:p>
        </p:txBody>
      </p:sp>
      <p:sp>
        <p:nvSpPr>
          <p:cNvPr id="309" name="Google Shape;309;p14"/>
          <p:cNvSpPr/>
          <p:nvPr/>
        </p:nvSpPr>
        <p:spPr>
          <a:xfrm>
            <a:off x="411480" y="130302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0:01   </a:t>
            </a:r>
            <a:r>
              <a:rPr b="0" i="0" lang="en-US" sz="950" u="none" cap="none" strike="noStrike">
                <a:solidFill>
                  <a:srgbClr val="1B2A30"/>
                </a:solidFill>
                <a:latin typeface="Poppins"/>
                <a:ea typeface="Poppins"/>
                <a:cs typeface="Poppins"/>
                <a:sym typeface="Poppins"/>
              </a:rPr>
              <a:t>Session map (slide 2)</a:t>
            </a:r>
            <a:endParaRPr b="0" i="0" sz="950" u="none" cap="none" strike="noStrike">
              <a:solidFill>
                <a:schemeClr val="dk1"/>
              </a:solidFill>
              <a:latin typeface="Calibri"/>
              <a:ea typeface="Calibri"/>
              <a:cs typeface="Calibri"/>
              <a:sym typeface="Calibri"/>
            </a:endParaRPr>
          </a:p>
        </p:txBody>
      </p:sp>
      <p:sp>
        <p:nvSpPr>
          <p:cNvPr id="310" name="Google Shape;310;p14"/>
          <p:cNvSpPr/>
          <p:nvPr/>
        </p:nvSpPr>
        <p:spPr>
          <a:xfrm>
            <a:off x="411480" y="1636776"/>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0:05   </a:t>
            </a:r>
            <a:r>
              <a:rPr b="0" i="0" lang="en-US" sz="950" u="none" cap="none" strike="noStrike">
                <a:solidFill>
                  <a:srgbClr val="1B2A30"/>
                </a:solidFill>
                <a:latin typeface="Poppins"/>
                <a:ea typeface="Poppins"/>
                <a:cs typeface="Poppins"/>
                <a:sym typeface="Poppins"/>
              </a:rPr>
              <a:t>Settled discussion — check-in (slide 3)</a:t>
            </a:r>
            <a:endParaRPr b="0" i="0" sz="950" u="none" cap="none" strike="noStrike">
              <a:solidFill>
                <a:schemeClr val="dk1"/>
              </a:solidFill>
              <a:latin typeface="Calibri"/>
              <a:ea typeface="Calibri"/>
              <a:cs typeface="Calibri"/>
              <a:sym typeface="Calibri"/>
            </a:endParaRPr>
          </a:p>
        </p:txBody>
      </p:sp>
      <p:sp>
        <p:nvSpPr>
          <p:cNvPr id="311" name="Google Shape;311;p14"/>
          <p:cNvSpPr/>
          <p:nvPr/>
        </p:nvSpPr>
        <p:spPr>
          <a:xfrm>
            <a:off x="411480" y="1970532"/>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0:15   </a:t>
            </a:r>
            <a:r>
              <a:rPr b="0" i="0" lang="en-US" sz="950" u="none" cap="none" strike="noStrike">
                <a:solidFill>
                  <a:srgbClr val="1B2A30"/>
                </a:solidFill>
                <a:latin typeface="Poppins"/>
                <a:ea typeface="Poppins"/>
                <a:cs typeface="Poppins"/>
                <a:sym typeface="Poppins"/>
              </a:rPr>
              <a:t>Mental health is health (slide 4)</a:t>
            </a:r>
            <a:endParaRPr b="0" i="0" sz="950" u="none" cap="none" strike="noStrike">
              <a:solidFill>
                <a:schemeClr val="dk1"/>
              </a:solidFill>
              <a:latin typeface="Calibri"/>
              <a:ea typeface="Calibri"/>
              <a:cs typeface="Calibri"/>
              <a:sym typeface="Calibri"/>
            </a:endParaRPr>
          </a:p>
        </p:txBody>
      </p:sp>
      <p:sp>
        <p:nvSpPr>
          <p:cNvPr id="312" name="Google Shape;312;p14"/>
          <p:cNvSpPr/>
          <p:nvPr/>
        </p:nvSpPr>
        <p:spPr>
          <a:xfrm>
            <a:off x="411480" y="230428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0:27   </a:t>
            </a:r>
            <a:r>
              <a:rPr b="0" i="0" lang="en-US" sz="950" u="none" cap="none" strike="noStrike">
                <a:solidFill>
                  <a:srgbClr val="1B2A30"/>
                </a:solidFill>
                <a:latin typeface="Poppins"/>
                <a:ea typeface="Poppins"/>
                <a:cs typeface="Poppins"/>
                <a:sym typeface="Poppins"/>
              </a:rPr>
              <a:t>Stress — signs &amp; what works (slide 5)</a:t>
            </a:r>
            <a:endParaRPr b="0" i="0" sz="950" u="none" cap="none" strike="noStrike">
              <a:solidFill>
                <a:schemeClr val="dk1"/>
              </a:solidFill>
              <a:latin typeface="Calibri"/>
              <a:ea typeface="Calibri"/>
              <a:cs typeface="Calibri"/>
              <a:sym typeface="Calibri"/>
            </a:endParaRPr>
          </a:p>
        </p:txBody>
      </p:sp>
      <p:sp>
        <p:nvSpPr>
          <p:cNvPr id="313" name="Google Shape;313;p14"/>
          <p:cNvSpPr/>
          <p:nvPr/>
        </p:nvSpPr>
        <p:spPr>
          <a:xfrm>
            <a:off x="411480" y="263804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0:42   </a:t>
            </a:r>
            <a:r>
              <a:rPr b="0" i="0" lang="en-US" sz="950" u="none" cap="none" strike="noStrike">
                <a:solidFill>
                  <a:srgbClr val="1B2A30"/>
                </a:solidFill>
                <a:latin typeface="Poppins"/>
                <a:ea typeface="Poppins"/>
                <a:cs typeface="Poppins"/>
                <a:sym typeface="Poppins"/>
              </a:rPr>
              <a:t>Sleep — the learning case (slide 6)</a:t>
            </a:r>
            <a:endParaRPr b="0" i="0" sz="950" u="none" cap="none" strike="noStrike">
              <a:solidFill>
                <a:schemeClr val="dk1"/>
              </a:solidFill>
              <a:latin typeface="Calibri"/>
              <a:ea typeface="Calibri"/>
              <a:cs typeface="Calibri"/>
              <a:sym typeface="Calibri"/>
            </a:endParaRPr>
          </a:p>
        </p:txBody>
      </p:sp>
      <p:sp>
        <p:nvSpPr>
          <p:cNvPr id="314" name="Google Shape;314;p14"/>
          <p:cNvSpPr/>
          <p:nvPr/>
        </p:nvSpPr>
        <p:spPr>
          <a:xfrm>
            <a:off x="411480" y="297180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0:52   </a:t>
            </a:r>
            <a:r>
              <a:rPr b="0" i="0" lang="en-US" sz="950" u="none" cap="none" strike="noStrike">
                <a:solidFill>
                  <a:srgbClr val="1B2A30"/>
                </a:solidFill>
                <a:latin typeface="Poppins"/>
                <a:ea typeface="Poppins"/>
                <a:cs typeface="Poppins"/>
                <a:sym typeface="Poppins"/>
              </a:rPr>
              <a:t>Money &amp; the Hardship Fund (slide 7)</a:t>
            </a:r>
            <a:endParaRPr b="0" i="0" sz="950" u="none" cap="none" strike="noStrike">
              <a:solidFill>
                <a:schemeClr val="dk1"/>
              </a:solidFill>
              <a:latin typeface="Calibri"/>
              <a:ea typeface="Calibri"/>
              <a:cs typeface="Calibri"/>
              <a:sym typeface="Calibri"/>
            </a:endParaRPr>
          </a:p>
        </p:txBody>
      </p:sp>
      <p:sp>
        <p:nvSpPr>
          <p:cNvPr id="315" name="Google Shape;315;p14"/>
          <p:cNvSpPr/>
          <p:nvPr/>
        </p:nvSpPr>
        <p:spPr>
          <a:xfrm>
            <a:off x="411480" y="3305556"/>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1:00   </a:t>
            </a:r>
            <a:r>
              <a:rPr b="0" i="0" lang="en-US" sz="950" u="none" cap="none" strike="noStrike">
                <a:solidFill>
                  <a:srgbClr val="1B2A30"/>
                </a:solidFill>
                <a:latin typeface="Poppins"/>
                <a:ea typeface="Poppins"/>
                <a:cs typeface="Poppins"/>
                <a:sym typeface="Poppins"/>
              </a:rPr>
              <a:t>Support routes &amp; disclosure (slide 8)</a:t>
            </a:r>
            <a:endParaRPr b="0" i="0" sz="950" u="none" cap="none" strike="noStrike">
              <a:solidFill>
                <a:schemeClr val="dk1"/>
              </a:solidFill>
              <a:latin typeface="Calibri"/>
              <a:ea typeface="Calibri"/>
              <a:cs typeface="Calibri"/>
              <a:sym typeface="Calibri"/>
            </a:endParaRPr>
          </a:p>
        </p:txBody>
      </p:sp>
      <p:sp>
        <p:nvSpPr>
          <p:cNvPr id="316" name="Google Shape;316;p14"/>
          <p:cNvSpPr/>
          <p:nvPr/>
        </p:nvSpPr>
        <p:spPr>
          <a:xfrm>
            <a:off x="411480" y="3639312"/>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1:12   </a:t>
            </a:r>
            <a:r>
              <a:rPr b="0" i="0" lang="en-US" sz="950" u="none" cap="none" strike="noStrike">
                <a:solidFill>
                  <a:srgbClr val="1B2A30"/>
                </a:solidFill>
                <a:latin typeface="Poppins"/>
                <a:ea typeface="Poppins"/>
                <a:cs typeface="Poppins"/>
                <a:sym typeface="Poppins"/>
              </a:rPr>
              <a:t>Peer support &amp; contacts card (slide 9)</a:t>
            </a:r>
            <a:endParaRPr b="0" i="0" sz="950" u="none" cap="none" strike="noStrike">
              <a:solidFill>
                <a:schemeClr val="dk1"/>
              </a:solidFill>
              <a:latin typeface="Calibri"/>
              <a:ea typeface="Calibri"/>
              <a:cs typeface="Calibri"/>
              <a:sym typeface="Calibri"/>
            </a:endParaRPr>
          </a:p>
        </p:txBody>
      </p:sp>
      <p:sp>
        <p:nvSpPr>
          <p:cNvPr id="317" name="Google Shape;317;p14"/>
          <p:cNvSpPr/>
          <p:nvPr/>
        </p:nvSpPr>
        <p:spPr>
          <a:xfrm>
            <a:off x="411480" y="3973068"/>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1:20   </a:t>
            </a:r>
            <a:r>
              <a:rPr b="0" i="0" lang="en-US" sz="950" u="none" cap="none" strike="noStrike">
                <a:solidFill>
                  <a:srgbClr val="1B2A30"/>
                </a:solidFill>
                <a:latin typeface="Poppins"/>
                <a:ea typeface="Poppins"/>
                <a:cs typeface="Poppins"/>
                <a:sym typeface="Poppins"/>
              </a:rPr>
              <a:t>One thing — commitment cards (slide 10)</a:t>
            </a:r>
            <a:endParaRPr b="0" i="0" sz="950" u="none" cap="none" strike="noStrike">
              <a:solidFill>
                <a:schemeClr val="dk1"/>
              </a:solidFill>
              <a:latin typeface="Calibri"/>
              <a:ea typeface="Calibri"/>
              <a:cs typeface="Calibri"/>
              <a:sym typeface="Calibri"/>
            </a:endParaRPr>
          </a:p>
        </p:txBody>
      </p:sp>
      <p:sp>
        <p:nvSpPr>
          <p:cNvPr id="318" name="Google Shape;318;p14"/>
          <p:cNvSpPr/>
          <p:nvPr/>
        </p:nvSpPr>
        <p:spPr>
          <a:xfrm>
            <a:off x="411480" y="4306824"/>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92C82"/>
              </a:buClr>
              <a:buSzPts val="950"/>
              <a:buFont typeface="Poppins SemiBold"/>
              <a:buNone/>
            </a:pPr>
            <a:r>
              <a:rPr b="0" i="0" lang="en-US" sz="950" u="none" cap="none" strike="noStrike">
                <a:solidFill>
                  <a:srgbClr val="592C82"/>
                </a:solidFill>
                <a:latin typeface="Poppins SemiBold"/>
                <a:ea typeface="Poppins SemiBold"/>
                <a:cs typeface="Poppins SemiBold"/>
                <a:sym typeface="Poppins SemiBold"/>
              </a:rPr>
              <a:t>1:28   </a:t>
            </a:r>
            <a:r>
              <a:rPr b="0" i="0" lang="en-US" sz="950" u="none" cap="none" strike="noStrike">
                <a:solidFill>
                  <a:srgbClr val="1B2A30"/>
                </a:solidFill>
                <a:latin typeface="Poppins"/>
                <a:ea typeface="Poppins"/>
                <a:cs typeface="Poppins"/>
                <a:sym typeface="Poppins"/>
              </a:rPr>
              <a:t>Close &amp; after-session availability (slide 11)</a:t>
            </a:r>
            <a:endParaRPr b="0" i="0" sz="950" u="none" cap="none" strike="noStrike">
              <a:solidFill>
                <a:schemeClr val="dk1"/>
              </a:solidFill>
              <a:latin typeface="Calibri"/>
              <a:ea typeface="Calibri"/>
              <a:cs typeface="Calibri"/>
              <a:sym typeface="Calibri"/>
            </a:endParaRPr>
          </a:p>
        </p:txBody>
      </p:sp>
      <p:sp>
        <p:nvSpPr>
          <p:cNvPr id="319" name="Google Shape;319;p14"/>
          <p:cNvSpPr/>
          <p:nvPr/>
        </p:nvSpPr>
        <p:spPr>
          <a:xfrm>
            <a:off x="4187955" y="658374"/>
            <a:ext cx="4434900" cy="1371600"/>
          </a:xfrm>
          <a:prstGeom prst="rect">
            <a:avLst/>
          </a:prstGeom>
          <a:solidFill>
            <a:srgbClr val="FFFFFF"/>
          </a:solidFill>
          <a:ln cap="flat" cmpd="sng" w="12700">
            <a:solidFill>
              <a:srgbClr val="D2DBD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4352547" y="749814"/>
            <a:ext cx="41148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SemiBold"/>
              <a:buNone/>
            </a:pPr>
            <a:r>
              <a:rPr b="0" i="0" lang="en-US" sz="1150" u="none" cap="none" strike="noStrike">
                <a:solidFill>
                  <a:srgbClr val="1B2A30"/>
                </a:solidFill>
                <a:latin typeface="Poppins SemiBold"/>
                <a:ea typeface="Poppins SemiBold"/>
                <a:cs typeface="Poppins SemiBold"/>
                <a:sym typeface="Poppins SemiBold"/>
              </a:rPr>
              <a:t>Pre-flight checklist</a:t>
            </a:r>
            <a:endParaRPr b="0" i="0" sz="1150" u="none" cap="none" strike="noStrike">
              <a:solidFill>
                <a:schemeClr val="dk1"/>
              </a:solidFill>
              <a:latin typeface="Calibri"/>
              <a:ea typeface="Calibri"/>
              <a:cs typeface="Calibri"/>
              <a:sym typeface="Calibri"/>
            </a:endParaRPr>
          </a:p>
        </p:txBody>
      </p:sp>
      <p:sp>
        <p:nvSpPr>
          <p:cNvPr id="321" name="Google Shape;321;p14"/>
          <p:cNvSpPr/>
          <p:nvPr/>
        </p:nvSpPr>
        <p:spPr>
          <a:xfrm>
            <a:off x="4352547" y="1014990"/>
            <a:ext cx="4160400" cy="987600"/>
          </a:xfrm>
          <a:prstGeom prst="rect">
            <a:avLst/>
          </a:prstGeom>
          <a:noFill/>
          <a:ln>
            <a:noFill/>
          </a:ln>
        </p:spPr>
        <p:txBody>
          <a:bodyPr anchorCtr="0" anchor="ctr" bIns="0" lIns="0" spcFirstLastPara="1" rIns="0" wrap="square" tIns="0">
            <a:noAutofit/>
          </a:bodyPr>
          <a:lstStyle/>
          <a:p>
            <a:pPr indent="-101600" lvl="0" marL="101600" marR="0" rtl="0" algn="l">
              <a:spcBef>
                <a:spcPts val="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Complete both [ADAPT] blocks — Hardship Fund route (slide 7); Wellbeing Team &amp; Learning Support details (slide 8)</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MANDATORY: verify every contact on slide 9 is current; add local crisis line; prepare keepable cards / handout / QR</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Commitment cards or slips ready (slide 10); plan the option-4 follow-ups for this week</a:t>
            </a:r>
            <a:endParaRPr b="0" i="0" sz="850" u="none" cap="none" strike="noStrike">
              <a:solidFill>
                <a:schemeClr val="dk1"/>
              </a:solidFill>
              <a:latin typeface="Calibri"/>
              <a:ea typeface="Calibri"/>
              <a:cs typeface="Calibri"/>
              <a:sym typeface="Calibri"/>
            </a:endParaRPr>
          </a:p>
          <a:p>
            <a:pPr indent="-101600" lvl="0" marL="101600" marR="0" rtl="0" algn="l">
              <a:spcBef>
                <a:spcPts val="300"/>
              </a:spcBef>
              <a:spcAft>
                <a:spcPts val="0"/>
              </a:spcAft>
              <a:buClr>
                <a:srgbClr val="1B2A30"/>
              </a:buClr>
              <a:buSzPts val="850"/>
              <a:buFont typeface="Poppins"/>
              <a:buChar char="•"/>
            </a:pPr>
            <a:r>
              <a:rPr b="0" i="0" lang="en-US" sz="850" u="none" cap="none" strike="noStrike">
                <a:solidFill>
                  <a:srgbClr val="1B2A30"/>
                </a:solidFill>
                <a:latin typeface="Poppins"/>
                <a:ea typeface="Poppins"/>
                <a:cs typeface="Poppins"/>
                <a:sym typeface="Poppins"/>
              </a:rPr>
              <a:t>Know your same-day safeguarding reporting route before you start</a:t>
            </a:r>
            <a:endParaRPr b="0" i="0" sz="850" u="none" cap="none" strike="noStrike">
              <a:solidFill>
                <a:schemeClr val="dk1"/>
              </a:solidFill>
              <a:latin typeface="Calibri"/>
              <a:ea typeface="Calibri"/>
              <a:cs typeface="Calibri"/>
              <a:sym typeface="Calibri"/>
            </a:endParaRPr>
          </a:p>
        </p:txBody>
      </p:sp>
      <p:sp>
        <p:nvSpPr>
          <p:cNvPr id="322" name="Google Shape;322;p14"/>
          <p:cNvSpPr/>
          <p:nvPr/>
        </p:nvSpPr>
        <p:spPr>
          <a:xfrm>
            <a:off x="4297675" y="3025445"/>
            <a:ext cx="4434900" cy="1875600"/>
          </a:xfrm>
          <a:prstGeom prst="rect">
            <a:avLst/>
          </a:prstGeom>
          <a:solidFill>
            <a:srgbClr val="F8E7E3"/>
          </a:solidFill>
          <a:ln cap="flat" cmpd="sng" w="19050">
            <a:solidFill>
              <a:srgbClr val="B23A2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3" name="Google Shape;323;p14"/>
          <p:cNvPicPr preferRelativeResize="0"/>
          <p:nvPr/>
        </p:nvPicPr>
        <p:blipFill rotWithShape="1">
          <a:blip r:embed="rId3">
            <a:alphaModFix/>
          </a:blip>
          <a:srcRect b="0" l="0" r="0" t="0"/>
          <a:stretch/>
        </p:blipFill>
        <p:spPr>
          <a:xfrm>
            <a:off x="4397297" y="3159905"/>
            <a:ext cx="219456" cy="219456"/>
          </a:xfrm>
          <a:prstGeom prst="rect">
            <a:avLst/>
          </a:prstGeom>
          <a:noFill/>
          <a:ln>
            <a:noFill/>
          </a:ln>
        </p:spPr>
      </p:pic>
      <p:sp>
        <p:nvSpPr>
          <p:cNvPr id="324" name="Google Shape;324;p14"/>
          <p:cNvSpPr/>
          <p:nvPr/>
        </p:nvSpPr>
        <p:spPr>
          <a:xfrm>
            <a:off x="4782368" y="3132529"/>
            <a:ext cx="38406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Poppins SemiBold"/>
              <a:buNone/>
            </a:pPr>
            <a:r>
              <a:rPr b="0" i="0" lang="en-US" sz="1100" u="none" cap="none" strike="noStrike">
                <a:solidFill>
                  <a:srgbClr val="B23A2E"/>
                </a:solidFill>
                <a:latin typeface="Poppins SemiBold"/>
                <a:ea typeface="Poppins SemiBold"/>
                <a:cs typeface="Poppins SemiBold"/>
                <a:sym typeface="Poppins SemiBold"/>
              </a:rPr>
              <a:t>Safeguarding — read before delivery</a:t>
            </a:r>
            <a:endParaRPr b="0" i="0" sz="1100" u="none" cap="none" strike="noStrike">
              <a:solidFill>
                <a:schemeClr val="dk1"/>
              </a:solidFill>
              <a:latin typeface="Calibri"/>
              <a:ea typeface="Calibri"/>
              <a:cs typeface="Calibri"/>
              <a:sym typeface="Calibri"/>
            </a:endParaRPr>
          </a:p>
        </p:txBody>
      </p:sp>
      <p:sp>
        <p:nvSpPr>
          <p:cNvPr id="325" name="Google Shape;325;p14"/>
          <p:cNvSpPr/>
          <p:nvPr/>
        </p:nvSpPr>
        <p:spPr>
          <a:xfrm>
            <a:off x="4462275" y="3534404"/>
            <a:ext cx="4160400" cy="13119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850"/>
              <a:buFont typeface="Poppins"/>
              <a:buNone/>
            </a:pPr>
            <a:r>
              <a:rPr b="0" i="0" lang="en-US" sz="850" u="none" cap="none" strike="noStrike">
                <a:solidFill>
                  <a:srgbClr val="1B2A30"/>
                </a:solidFill>
                <a:latin typeface="Poppins"/>
                <a:ea typeface="Poppins"/>
                <a:cs typeface="Poppins"/>
                <a:sym typeface="Poppins"/>
              </a:rPr>
              <a:t>This session is built to surface disclosures — in the room, on the cards, and afterwards. If a student discloses: listen calmly, don't promise secrecy, don't investigate, report the same day via the ESCG safeguarding route. Anything indicating risk of harm is safeguarding, not wellbeing — full procedure lives in Module F. [ADAPT: confirm your campus safeguarding number before delivery — Eastbourne: 0303 003 9039 / Hastings: 07848 442081 / Lewes: 07823 668772 — keep only your campus number in your notes and know your same-day reporting route before the session starts]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