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 — TITLE</a:t>
            </a:r>
            <a:br>
              <a:rPr lang="en-US"/>
            </a:br>
            <a:r>
              <a:rPr lang="en-US"/>
              <a:t>L3 Year 2 variant. Duration: ~1 min.</a:t>
            </a:r>
            <a:br>
              <a:rPr lang="en-US"/>
            </a:br>
            <a:br>
              <a:rPr lang="en-US"/>
            </a:br>
            <a:r>
              <a:rPr lang="en-US"/>
              <a:t>Register: brisk, peer-to-peer, no hand-holding. These students know the college. They have built habits — some good, some not. The register is 'don't fumble the last lap': Year 2 is when students tend to coast on what they learned in Year 1, and that is exactly when things go wrong.</a:t>
            </a:r>
            <a:br>
              <a:rPr lang="en-US"/>
            </a:br>
            <a:br>
              <a:rPr lang="en-US"/>
            </a:br>
            <a:r>
              <a:rPr lang="en-US"/>
              <a:t>Tone: honest and direct. Not lecture. Not compliance. These students have earned the right to be spoken to as adults who are nearly through their programme.</a:t>
            </a:r>
            <a:br>
              <a:rPr lang="en-US"/>
            </a:br>
            <a:br>
              <a:rPr lang="en-US"/>
            </a:br>
            <a:r>
              <a:rPr lang="en-US"/>
              <a:t>Safeguarding: This is still a primary disclosure surface — do not assume returners are fine. Year 2 often brings increased pressure (deadlines, relationships, finances) that generates new concerns. Listen. Report same-day. Hastings: Lydia Leonard 07848 442081.</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SESSION MAP</a:t>
            </a:r>
            <a:br>
              <a:rPr lang="en-US"/>
            </a:br>
            <a:r>
              <a:rPr lang="en-US"/>
              <a:t>Duration: 2–3 mins</a:t>
            </a:r>
            <a:br>
              <a:rPr lang="en-US"/>
            </a:br>
            <a:r>
              <a:rPr lang="en-US"/>
              <a:t>Mode: SESSION MAP</a:t>
            </a:r>
            <a:br>
              <a:rPr lang="en-US"/>
            </a:br>
            <a:br>
              <a:rPr lang="en-US"/>
            </a:br>
            <a:r>
              <a:rPr lang="en-US"/>
              <a:t>L3 YR2 register: be direct about why they are here. 'You've done this before. Some of it is the same. Some of it has changed. And some of it matters more this year than it did last year. We're going to move through it briskly.'</a:t>
            </a:r>
            <a:br>
              <a:rPr lang="en-US"/>
            </a:br>
            <a:br>
              <a:rPr lang="en-US"/>
            </a:br>
            <a:r>
              <a:rPr lang="en-US"/>
              <a:t>The four 'different in Year 2' cards are the substantive additions. Name them at the start so students know what the session is building toward.</a:t>
            </a:r>
            <a:br>
              <a:rPr lang="en-US"/>
            </a:br>
            <a:br>
              <a:rPr lang="en-US"/>
            </a:br>
            <a:r>
              <a:rPr lang="en-US"/>
              <a:t>Complacency framing: this is the Year 2 equivalent of Module B's 'don't fumble the last lap.' It applies to safeguarding habits too — students stop flagging things they would have raised in Year 1 because they assume they can handle it themselves.</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 HOW'S IT GOING</a:t>
            </a:r>
            <a:br>
              <a:rPr lang="en-US"/>
            </a:br>
            <a:r>
              <a:rPr lang="en-US"/>
              <a:t>Duration: 8 mins</a:t>
            </a:r>
            <a:br>
              <a:rPr lang="en-US"/>
            </a:br>
            <a:r>
              <a:rPr lang="en-US"/>
              <a:t>Mode: DISCUSSION</a:t>
            </a:r>
            <a:br>
              <a:rPr lang="en-US"/>
            </a:br>
            <a:br>
              <a:rPr lang="en-US"/>
            </a:br>
            <a:r>
              <a:rPr lang="en-US"/>
              <a:t>L3 YR2 register: peer-to-peer. This is not a welfare check-in — it is a genuine discussion between adults about what Year 2 actually feels like. Do not soften it.</a:t>
            </a:r>
            <a:br>
              <a:rPr lang="en-US"/>
            </a:br>
            <a:br>
              <a:rPr lang="en-US"/>
            </a:br>
            <a:r>
              <a:rPr lang="en-US"/>
              <a:t>Question 3 ('something you've been managing yourself') is the disclosure surface for this cohort. Year 2 students are more likely to have been carrying something since the summer — a relationship breakdown, financial stress, a family situation — that they haven't raised because they feel they should be able to cope. Name this directly in your framing.</a:t>
            </a:r>
            <a:br>
              <a:rPr lang="en-US"/>
            </a:br>
            <a:br>
              <a:rPr lang="en-US"/>
            </a:br>
            <a:r>
              <a:rPr lang="en-US"/>
              <a:t>Say something like: 'Year 2 students are less likely to use support than Year 1 students. Not because they have fewer problems — usually because they feel like they should know how to handle it by now. That's exactly backwards. The support is still there. The question is whether you're using it.'</a:t>
            </a:r>
            <a:br>
              <a:rPr lang="en-US"/>
            </a:br>
            <a:br>
              <a:rPr lang="en-US"/>
            </a:br>
            <a:r>
              <a:rPr lang="en-US"/>
              <a:t>Safeguarding: same rules apply. If someone discloses — listen, don't promise secrecy, report same-day. Hastings: Lydia Leonard 07848 442081.</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 SAFEGUARDING IN YEAR 2</a:t>
            </a:r>
            <a:br>
              <a:rPr lang="en-US"/>
            </a:br>
            <a:r>
              <a:rPr lang="en-US"/>
              <a:t>Duration: 5–6 mins</a:t>
            </a:r>
            <a:br>
              <a:rPr lang="en-US"/>
            </a:br>
            <a:r>
              <a:rPr lang="en-US"/>
              <a:t>Mode: TEACHER INPUT</a:t>
            </a:r>
            <a:br>
              <a:rPr lang="en-US"/>
            </a:br>
            <a:br>
              <a:rPr lang="en-US"/>
            </a:br>
            <a:r>
              <a:rPr lang="en-US"/>
              <a:t>L3 YR2 register: efficient. Do not re-teach what they already know. Frame as an update, not a repeat.</a:t>
            </a:r>
            <a:br>
              <a:rPr lang="en-US"/>
            </a:br>
            <a:br>
              <a:rPr lang="en-US"/>
            </a:br>
            <a:r>
              <a:rPr lang="en-US"/>
              <a:t>The peer responsibility point is new and important for Year 2: 'You know these people better than a new student does. If someone you know is struggling — with their mental health, their situation at home, anything — you are actually better placed than anyone to notice. And you know where to send them.'</a:t>
            </a:r>
            <a:br>
              <a:rPr lang="en-US"/>
            </a:br>
            <a:br>
              <a:rPr lang="en-US"/>
            </a:br>
            <a:r>
              <a:rPr lang="en-US"/>
              <a:t>Complacency: name it without condescension. 'Year 2 students tend to use safeguarding support less than Year 1 students. This is not because they have fewer problems. It's because they feel like they should be able to handle it. That's the wrong call.'</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5 — PREVENT YEAR 2</a:t>
            </a:r>
            <a:br>
              <a:rPr lang="en-US"/>
            </a:br>
            <a:r>
              <a:rPr lang="en-US"/>
              <a:t>Duration: 7 mins</a:t>
            </a:r>
            <a:br>
              <a:rPr lang="en-US"/>
            </a:br>
            <a:r>
              <a:rPr lang="en-US"/>
              <a:t>Mode: TEACHER INPUT</a:t>
            </a:r>
            <a:br>
              <a:rPr lang="en-US"/>
            </a:br>
            <a:br>
              <a:rPr lang="en-US"/>
            </a:br>
            <a:r>
              <a:rPr lang="en-US"/>
              <a:t>L3 YR2 register: update, not re-teach. 'You know what Prevent is. What I want to flag is what has changed since you were last in this seat.'</a:t>
            </a:r>
            <a:br>
              <a:rPr lang="en-US"/>
            </a:br>
            <a:br>
              <a:rPr lang="en-US"/>
            </a:br>
            <a:r>
              <a:rPr lang="en-US"/>
              <a:t>What has genuinely changed: AI-generated extremist content, deepfake disinformation, and misogynistic online pipelines (the incel-to-far-right pipeline is well-documented nationally and reflected in ESCG's local risk profile). The speed of online radicalisation has accelerated.</a:t>
            </a:r>
            <a:br>
              <a:rPr lang="en-US"/>
            </a:br>
            <a:br>
              <a:rPr lang="en-US"/>
            </a:br>
            <a:r>
              <a:rPr lang="en-US"/>
              <a:t>Year 2 vulnerability factors: these are real pressures this cohort faces. Financial stress from the cost of living; relationship complexity; academic pressure in the final stretch. Name them without dramatising. The point is that exploitation targets people when they are stressed and isolated — and Year 2 is when that stress peaks.</a:t>
            </a:r>
            <a:br>
              <a:rPr lang="en-US"/>
            </a:br>
            <a:br>
              <a:rPr lang="en-US"/>
            </a:br>
            <a:r>
              <a:rPr lang="en-US"/>
              <a:t>Hastings Prevent referral: Lydia Leonard 07848 442081. Prevent single point of contact for the college: Julia Proven at Lewes/Newhaven. If a student raises a concern — refer same-day, do not investigate.</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6 — ONLINE SAFETY YEAR 2</a:t>
            </a:r>
            <a:br>
              <a:rPr lang="en-US"/>
            </a:br>
            <a:r>
              <a:rPr lang="en-US"/>
              <a:t>Duration: 6–7 mins</a:t>
            </a:r>
            <a:br>
              <a:rPr lang="en-US"/>
            </a:br>
            <a:r>
              <a:rPr lang="en-US"/>
              <a:t>Mode: TEACHER INPUT</a:t>
            </a:r>
            <a:br>
              <a:rPr lang="en-US"/>
            </a:br>
            <a:br>
              <a:rPr lang="en-US"/>
            </a:br>
            <a:r>
              <a:rPr lang="en-US"/>
              <a:t>L3 YR2 register: efficient. Frame this as 'what has changed since Year 1' rather than re-covering basics. Year 2 students have heard the standard online safety messages before.</a:t>
            </a:r>
            <a:br>
              <a:rPr lang="en-US"/>
            </a:br>
            <a:br>
              <a:rPr lang="en-US"/>
            </a:br>
            <a:r>
              <a:rPr lang="en-US"/>
              <a:t>The professional identity point is the distinctive Year 2 angle: 'Your Year 2 digital footprint is part of your professional portfolio. Employers search for applicants. References mention social media behaviour. What you post this year is on your record at the point you need a reference.'</a:t>
            </a:r>
            <a:br>
              <a:rPr lang="en-US"/>
            </a:br>
            <a:br>
              <a:rPr lang="en-US"/>
            </a:br>
            <a:r>
              <a:rPr lang="en-US"/>
              <a:t>Financial scams targeting short work histories: cryptocurrency schemes, 'assistant' arrangements, drop models — these specifically target people who are looking for income alongside study. Year 2 students often begin working part-time. They are a specific target.</a:t>
            </a:r>
            <a:br>
              <a:rPr lang="en-US"/>
            </a:br>
            <a:br>
              <a:rPr lang="en-US"/>
            </a:br>
            <a:r>
              <a:rPr lang="en-US"/>
              <a:t>The college uses Smoothwall for filtering and monitoring. Students' use of college systems is monitored.</a:t>
            </a:r>
            <a:endParaRPr/>
          </a:p>
        </p:txBody>
      </p:sp>
      <p:sp>
        <p:nvSpPr>
          <p:cNvPr id="139" name="Google Shape;1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7 — AI YEAR 2</a:t>
            </a:r>
            <a:br>
              <a:rPr lang="en-US"/>
            </a:br>
            <a:r>
              <a:rPr lang="en-US"/>
              <a:t>Duration: 6 mins</a:t>
            </a:r>
            <a:br>
              <a:rPr lang="en-US"/>
            </a:br>
            <a:r>
              <a:rPr lang="en-US"/>
              <a:t>Mode: TEACHER INPUT</a:t>
            </a:r>
            <a:br>
              <a:rPr lang="en-US"/>
            </a:br>
            <a:br>
              <a:rPr lang="en-US"/>
            </a:br>
            <a:r>
              <a:rPr lang="en-US"/>
              <a:t>Source documents: JCQ AI Use in Assessments (April 2025); ESCG Safeguarding &amp; Prevent Policy (December 2025) section 25.6.</a:t>
            </a:r>
            <a:br>
              <a:rPr lang="en-US"/>
            </a:br>
            <a:br>
              <a:rPr lang="en-US"/>
            </a:br>
            <a:r>
              <a:rPr lang="en-US"/>
              <a:t>L3 YR2 register: direct and frank. 'AI detection has improved significantly since you were last in induction. Awarding bodies are not reducing their scrutiny — they are increasing it. The cases that went to malpractice panels are not being overturned. If you are using AI in your assessed work this year, you need to know exactly what the rules are.'</a:t>
            </a:r>
            <a:br>
              <a:rPr lang="en-US"/>
            </a:br>
            <a:br>
              <a:rPr lang="en-US"/>
            </a:br>
            <a:r>
              <a:rPr lang="en-US"/>
              <a:t>The professional identity angle from slide 6 connects here: submitting AI-generated work under your name is an integrity issue that follows you beyond qualification — it affects references and professional reputation.</a:t>
            </a:r>
            <a:br>
              <a:rPr lang="en-US"/>
            </a:br>
            <a:br>
              <a:rPr lang="en-US"/>
            </a:br>
            <a:r>
              <a:rPr lang="en-US"/>
              <a:t>CONFIRM BLOCK: Insert the ESCG AI declaration process for Year 2 specifically. Some assessments may have tighter restrictions than Year 1. Ask your Head of Curriculum.</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8 — HOW ESCG KEEPS YOU SAFE</a:t>
            </a:r>
            <a:br>
              <a:rPr lang="en-US"/>
            </a:br>
            <a:r>
              <a:rPr lang="en-US"/>
              <a:t>Duration: 4 mins</a:t>
            </a:r>
            <a:br>
              <a:rPr lang="en-US"/>
            </a:br>
            <a:r>
              <a:rPr lang="en-US"/>
              <a:t>Mode: TEACHER INPUT</a:t>
            </a:r>
            <a:br>
              <a:rPr lang="en-US"/>
            </a:br>
            <a:br>
              <a:rPr lang="en-US"/>
            </a:br>
            <a:r>
              <a:rPr lang="en-US"/>
              <a:t>L3 YR2 register: brisk. 'You know this. Nothing here has changed. What I want to flag is that returners tend to use this system less — and they shouldn't.' Two minutes on the process. Two minutes on the Year 2 complacency point.</a:t>
            </a:r>
            <a:br>
              <a:rPr lang="en-US"/>
            </a:br>
            <a:br>
              <a:rPr lang="en-US"/>
            </a:br>
            <a:r>
              <a:rPr lang="en-US"/>
              <a:t>The peer responsibility angle: Year 2 students know their peers better than staff do. If they notice something — a friend who has become withdrawn, who seems to be in trouble — they are actually better placed to spot it early and to signpost to support.</a:t>
            </a:r>
            <a:endParaRPr/>
          </a:p>
        </p:txBody>
      </p:sp>
      <p:sp>
        <p:nvSpPr>
          <p:cNvPr id="193" name="Google Shape;19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9 — SAFEGUARDING TEAM</a:t>
            </a:r>
            <a:br>
              <a:rPr lang="en-US"/>
            </a:br>
            <a:r>
              <a:rPr lang="en-US"/>
              <a:t>Duration: 3–4 mins</a:t>
            </a:r>
            <a:br>
              <a:rPr lang="en-US"/>
            </a:br>
            <a:r>
              <a:rPr lang="en-US"/>
              <a:t>Mode: SESSION MAP</a:t>
            </a:r>
            <a:br>
              <a:rPr lang="en-US"/>
            </a:br>
            <a:br>
              <a:rPr lang="en-US"/>
            </a:br>
            <a:r>
              <a:rPr lang="en-US"/>
              <a:t>L3 YR2 register: very brisk. 'Same contact as Year 1. Still on your lanyard. Still there.' The key addition is naming explicitly that Year 2 students use the Wellbeing Team less — and framing that as a Year 2-specific hazard to correct.</a:t>
            </a:r>
            <a:br>
              <a:rPr lang="en-US"/>
            </a:br>
            <a:br>
              <a:rPr lang="en-US"/>
            </a:br>
            <a:r>
              <a:rPr lang="en-US"/>
              <a:t>CONFIRM BLOCK: Confirm current contacts before delivery. Personnel change. Do not assume Year 1 information is still current.</a:t>
            </a:r>
            <a:endParaRPr/>
          </a:p>
        </p:txBody>
      </p:sp>
      <p:sp>
        <p:nvSpPr>
          <p:cNvPr id="222" name="Google Shape;22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10 — REPORTING YEAR 2</a:t>
            </a:r>
            <a:br>
              <a:rPr lang="en-US"/>
            </a:br>
            <a:r>
              <a:rPr lang="en-US"/>
              <a:t>Duration: 4–5 mins</a:t>
            </a:r>
            <a:br>
              <a:rPr lang="en-US"/>
            </a:br>
            <a:r>
              <a:rPr lang="en-US"/>
              <a:t>Mode: TEACHER INPUT</a:t>
            </a:r>
            <a:br>
              <a:rPr lang="en-US"/>
            </a:br>
            <a:br>
              <a:rPr lang="en-US"/>
            </a:br>
            <a:r>
              <a:rPr lang="en-US"/>
              <a:t>L3 YR2 register: direct. The distinctive addition is naming the Year 2 under-reporting pattern and framing it as a hazard to correct, not a compliment to independence.</a:t>
            </a:r>
            <a:br>
              <a:rPr lang="en-US"/>
            </a:br>
            <a:br>
              <a:rPr lang="en-US"/>
            </a:br>
            <a:r>
              <a:rPr lang="en-US"/>
              <a:t>The peer responsibility column is the Year 2 addition: 'You know your peers. You will notice things staff don't see. That knowledge is a responsibility — not a burden, but a responsibility.'</a:t>
            </a:r>
            <a:br>
              <a:rPr lang="en-US"/>
            </a:br>
            <a:br>
              <a:rPr lang="en-US"/>
            </a:br>
            <a:r>
              <a:rPr lang="en-US"/>
              <a:t>Say something like: 'If you have been holding something since September — or over the summer — and you haven't told anyone because you thought you should be able to manage it yourself: that's the wrong call. It's not weakness to ask. It's the right move.'</a:t>
            </a:r>
            <a:endParaRPr/>
          </a:p>
        </p:txBody>
      </p:sp>
      <p:sp>
        <p:nvSpPr>
          <p:cNvPr id="249" name="Google Shape;24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11 — ONE THING YEAR 2</a:t>
            </a:r>
            <a:br>
              <a:rPr lang="en-US"/>
            </a:br>
            <a:r>
              <a:rPr lang="en-US"/>
              <a:t>Duration: 5–6 mins</a:t>
            </a:r>
            <a:br>
              <a:rPr lang="en-US"/>
            </a:br>
            <a:r>
              <a:rPr lang="en-US"/>
              <a:t>Mode: ACTIVITY</a:t>
            </a:r>
            <a:br>
              <a:rPr lang="en-US"/>
            </a:br>
            <a:br>
              <a:rPr lang="en-US"/>
            </a:br>
            <a:r>
              <a:rPr lang="en-US"/>
              <a:t>L3 YR2 register: same activity, Year 2 language. Option 2 specifically addresses the 'habits that slipped' frame. Option 3 is more pointed than the Core version — 'before I use AI in any of them' because Year 2 assessed work carries more weight.</a:t>
            </a:r>
            <a:br>
              <a:rPr lang="en-US"/>
            </a:br>
            <a:br>
              <a:rPr lang="en-US"/>
            </a:br>
            <a:r>
              <a:rPr lang="en-US"/>
              <a:t>Option 4 for Year 2: 'something I have been managing on my own' — this is the Year 2 equivalent of the disclosure route. It directly addresses the under-reporting pattern named in slide 10.</a:t>
            </a:r>
            <a:br>
              <a:rPr lang="en-US"/>
            </a:br>
            <a:br>
              <a:rPr lang="en-US"/>
            </a:br>
            <a:r>
              <a:rPr lang="en-US"/>
              <a:t>Collect cards quietly. Scan option 4 privately. Any genuine concern = disclosure. Act today. Hastings: Lydia Leonard 07848 442081.</a:t>
            </a:r>
            <a:endParaRPr/>
          </a:p>
        </p:txBody>
      </p:sp>
      <p:sp>
        <p:nvSpPr>
          <p:cNvPr id="280" name="Google Shape;28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 do not display to students.</a:t>
            </a:r>
            <a:br>
              <a:rPr lang="en-US"/>
            </a:br>
            <a:r>
              <a:rPr lang="en-US"/>
              <a:t>L3 Year 2 variant. Returners. Register: brisk, peer-to-peer. Content framed as update not repeat. Key additions: complacency naming, Year 2 vulnerability factors, peer responsibility, under-reporting correction.</a:t>
            </a:r>
            <a:endParaRPr/>
          </a:p>
        </p:txBody>
      </p:sp>
      <p:sp>
        <p:nvSpPr>
          <p:cNvPr id="307" name="Google Shape;3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2C82"/>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6583680" y="457200"/>
            <a:ext cx="2103120" cy="2103120"/>
          </a:xfrm>
          <a:prstGeom prst="rect">
            <a:avLst/>
          </a:prstGeom>
          <a:noFill/>
          <a:ln>
            <a:noFill/>
          </a:ln>
        </p:spPr>
      </p:pic>
      <p:sp>
        <p:nvSpPr>
          <p:cNvPr id="17" name="Google Shape;17;p3"/>
          <p:cNvSpPr/>
          <p:nvPr/>
        </p:nvSpPr>
        <p:spPr>
          <a:xfrm>
            <a:off x="502920" y="64008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100"/>
              <a:buFont typeface="Arial"/>
              <a:buNone/>
            </a:pPr>
            <a:r>
              <a:rPr b="1" i="0" lang="en-US" sz="1100" u="none" cap="none" strike="noStrike">
                <a:solidFill>
                  <a:srgbClr val="FFCF01"/>
                </a:solidFill>
                <a:latin typeface="Arial"/>
                <a:ea typeface="Arial"/>
                <a:cs typeface="Arial"/>
                <a:sym typeface="Arial"/>
              </a:rPr>
              <a:t>MODULE F — YEAR 2</a:t>
            </a:r>
            <a:endParaRPr b="0" i="0" sz="1100" u="none" cap="none" strike="noStrike">
              <a:solidFill>
                <a:schemeClr val="dk1"/>
              </a:solidFill>
              <a:latin typeface="Calibri"/>
              <a:ea typeface="Calibri"/>
              <a:cs typeface="Calibri"/>
              <a:sym typeface="Calibri"/>
            </a:endParaRPr>
          </a:p>
        </p:txBody>
      </p:sp>
      <p:sp>
        <p:nvSpPr>
          <p:cNvPr id="18" name="Google Shape;18;p3"/>
          <p:cNvSpPr/>
          <p:nvPr/>
        </p:nvSpPr>
        <p:spPr>
          <a:xfrm>
            <a:off x="502920" y="1005840"/>
            <a:ext cx="5943600" cy="1645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Staying Safe</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at College</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502920" y="2606040"/>
            <a:ext cx="6400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Arial"/>
              <a:buNone/>
            </a:pPr>
            <a:r>
              <a:rPr b="0" i="1" lang="en-US" sz="1100" u="none" cap="none" strike="noStrike">
                <a:solidFill>
                  <a:srgbClr val="FFFFFF"/>
                </a:solidFill>
                <a:latin typeface="Arial"/>
                <a:ea typeface="Arial"/>
                <a:cs typeface="Arial"/>
                <a:sym typeface="Arial"/>
              </a:rPr>
              <a:t>Group 2 — Staying safe in your production year: studio, placement and online</a:t>
            </a:r>
            <a:endParaRPr b="0" i="0" sz="1100" u="none" cap="none" strike="noStrike">
              <a:solidFill>
                <a:schemeClr val="dk1"/>
              </a:solidFill>
              <a:latin typeface="Calibri"/>
              <a:ea typeface="Calibri"/>
              <a:cs typeface="Calibri"/>
              <a:sym typeface="Calibri"/>
            </a:endParaRPr>
          </a:p>
        </p:txBody>
      </p:sp>
      <p:sp>
        <p:nvSpPr>
          <p:cNvPr id="20" name="Google Shape;20;p3"/>
          <p:cNvSpPr/>
          <p:nvPr/>
        </p:nvSpPr>
        <p:spPr>
          <a:xfrm>
            <a:off x="0" y="4206240"/>
            <a:ext cx="9144000" cy="937260"/>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320040" y="4206240"/>
            <a:ext cx="8503920" cy="9372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East Sussex College  |  Student Induction 2026–27  |  Year 2 — Digital, Media, Film &amp; Computing  |  1.5 hours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 name="Shape 26"/>
        <p:cNvGrpSpPr/>
        <p:nvPr/>
      </p:nvGrpSpPr>
      <p:grpSpPr>
        <a:xfrm>
          <a:off x="0" y="0"/>
          <a:ext cx="0" cy="0"/>
          <a:chOff x="0" y="0"/>
          <a:chExt cx="0" cy="0"/>
        </a:xfrm>
      </p:grpSpPr>
      <p:sp>
        <p:nvSpPr>
          <p:cNvPr id="27" name="Google Shape;27;p4"/>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Today's Session</a:t>
            </a:r>
            <a:endParaRPr b="0" i="0" sz="1800" u="none" cap="none" strike="noStrike">
              <a:solidFill>
                <a:schemeClr val="dk1"/>
              </a:solidFill>
              <a:latin typeface="Calibri"/>
              <a:ea typeface="Calibri"/>
              <a:cs typeface="Calibri"/>
              <a:sym typeface="Calibri"/>
            </a:endParaRPr>
          </a:p>
        </p:txBody>
      </p:sp>
      <p:sp>
        <p:nvSpPr>
          <p:cNvPr id="29" name="Google Shape;29;p4"/>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What's the same, what's new, what matters more in Year 2</a:t>
            </a:r>
            <a:endParaRPr b="0" i="0" sz="900" u="none" cap="none" strike="noStrike">
              <a:solidFill>
                <a:schemeClr val="dk1"/>
              </a:solidFill>
              <a:latin typeface="Calibri"/>
              <a:ea typeface="Calibri"/>
              <a:cs typeface="Calibri"/>
              <a:sym typeface="Calibri"/>
            </a:endParaRPr>
          </a:p>
        </p:txBody>
      </p:sp>
      <p:sp>
        <p:nvSpPr>
          <p:cNvPr id="30" name="Google Shape;30;p4"/>
          <p:cNvSpPr/>
          <p:nvPr/>
        </p:nvSpPr>
        <p:spPr>
          <a:xfrm>
            <a:off x="7406640" y="164592"/>
            <a:ext cx="1554480" cy="256032"/>
          </a:xfrm>
          <a:prstGeom prst="rect">
            <a:avLst/>
          </a:prstGeom>
          <a:solidFill>
            <a:srgbClr val="5A6A6F"/>
          </a:solidFill>
          <a:ln cap="flat" cmpd="sng" w="12700">
            <a:solidFill>
              <a:srgbClr val="5A6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SESSION MAP</a:t>
            </a:r>
            <a:endParaRPr b="0" i="0" sz="700" u="none" cap="none" strike="noStrike">
              <a:solidFill>
                <a:schemeClr val="dk1"/>
              </a:solidFill>
              <a:latin typeface="Calibri"/>
              <a:ea typeface="Calibri"/>
              <a:cs typeface="Calibri"/>
              <a:sym typeface="Calibri"/>
            </a:endParaRPr>
          </a:p>
        </p:txBody>
      </p:sp>
      <p:sp>
        <p:nvSpPr>
          <p:cNvPr id="32" name="Google Shape;32;p4"/>
          <p:cNvSpPr/>
          <p:nvPr/>
        </p:nvSpPr>
        <p:spPr>
          <a:xfrm>
            <a:off x="320040" y="91440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Mandatory — same as Year 1</a:t>
            </a:r>
            <a:endParaRPr b="0" i="0" sz="1100" u="none" cap="none" strike="noStrike">
              <a:solidFill>
                <a:schemeClr val="dk1"/>
              </a:solidFill>
              <a:latin typeface="Calibri"/>
              <a:ea typeface="Calibri"/>
              <a:cs typeface="Calibri"/>
              <a:sym typeface="Calibri"/>
            </a:endParaRPr>
          </a:p>
        </p:txBody>
      </p:sp>
      <p:sp>
        <p:nvSpPr>
          <p:cNvPr id="33" name="Google Shape;33;p4"/>
          <p:cNvSpPr/>
          <p:nvPr/>
        </p:nvSpPr>
        <p:spPr>
          <a:xfrm>
            <a:off x="320040" y="1325880"/>
            <a:ext cx="256032" cy="25603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 name="Google Shape;34;p4"/>
          <p:cNvPicPr preferRelativeResize="0"/>
          <p:nvPr/>
        </p:nvPicPr>
        <p:blipFill rotWithShape="1">
          <a:blip r:embed="rId3">
            <a:alphaModFix/>
          </a:blip>
          <a:srcRect b="0" l="0" r="0" t="0"/>
          <a:stretch/>
        </p:blipFill>
        <p:spPr>
          <a:xfrm>
            <a:off x="356616" y="1353312"/>
            <a:ext cx="182880" cy="182880"/>
          </a:xfrm>
          <a:prstGeom prst="rect">
            <a:avLst/>
          </a:prstGeom>
          <a:noFill/>
          <a:ln>
            <a:noFill/>
          </a:ln>
        </p:spPr>
      </p:pic>
      <p:sp>
        <p:nvSpPr>
          <p:cNvPr id="35" name="Google Shape;35;p4"/>
          <p:cNvSpPr/>
          <p:nvPr/>
        </p:nvSpPr>
        <p:spPr>
          <a:xfrm>
            <a:off x="685800" y="1298448"/>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Safeguarding at college</a:t>
            </a:r>
            <a:endParaRPr b="0" i="0" sz="1050" u="none" cap="none" strike="noStrike">
              <a:solidFill>
                <a:schemeClr val="dk1"/>
              </a:solidFill>
              <a:latin typeface="Calibri"/>
              <a:ea typeface="Calibri"/>
              <a:cs typeface="Calibri"/>
              <a:sym typeface="Calibri"/>
            </a:endParaRPr>
          </a:p>
        </p:txBody>
      </p:sp>
      <p:sp>
        <p:nvSpPr>
          <p:cNvPr id="36" name="Google Shape;36;p4"/>
          <p:cNvSpPr/>
          <p:nvPr/>
        </p:nvSpPr>
        <p:spPr>
          <a:xfrm>
            <a:off x="320040" y="1874520"/>
            <a:ext cx="256032" cy="25603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4"/>
          <p:cNvPicPr preferRelativeResize="0"/>
          <p:nvPr/>
        </p:nvPicPr>
        <p:blipFill rotWithShape="1">
          <a:blip r:embed="rId4">
            <a:alphaModFix/>
          </a:blip>
          <a:srcRect b="0" l="0" r="0" t="0"/>
          <a:stretch/>
        </p:blipFill>
        <p:spPr>
          <a:xfrm>
            <a:off x="356616" y="1901952"/>
            <a:ext cx="182880" cy="182880"/>
          </a:xfrm>
          <a:prstGeom prst="rect">
            <a:avLst/>
          </a:prstGeom>
          <a:noFill/>
          <a:ln>
            <a:noFill/>
          </a:ln>
        </p:spPr>
      </p:pic>
      <p:sp>
        <p:nvSpPr>
          <p:cNvPr id="38" name="Google Shape;38;p4"/>
          <p:cNvSpPr/>
          <p:nvPr/>
        </p:nvSpPr>
        <p:spPr>
          <a:xfrm>
            <a:off x="685800" y="1847088"/>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Prevent</a:t>
            </a:r>
            <a:endParaRPr b="0" i="0" sz="1050" u="none" cap="none" strike="noStrike">
              <a:solidFill>
                <a:schemeClr val="dk1"/>
              </a:solidFill>
              <a:latin typeface="Calibri"/>
              <a:ea typeface="Calibri"/>
              <a:cs typeface="Calibri"/>
              <a:sym typeface="Calibri"/>
            </a:endParaRPr>
          </a:p>
        </p:txBody>
      </p:sp>
      <p:sp>
        <p:nvSpPr>
          <p:cNvPr id="39" name="Google Shape;39;p4"/>
          <p:cNvSpPr/>
          <p:nvPr/>
        </p:nvSpPr>
        <p:spPr>
          <a:xfrm>
            <a:off x="320040" y="2423160"/>
            <a:ext cx="256032" cy="25603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4"/>
          <p:cNvPicPr preferRelativeResize="0"/>
          <p:nvPr/>
        </p:nvPicPr>
        <p:blipFill rotWithShape="1">
          <a:blip r:embed="rId5">
            <a:alphaModFix/>
          </a:blip>
          <a:srcRect b="0" l="0" r="0" t="0"/>
          <a:stretch/>
        </p:blipFill>
        <p:spPr>
          <a:xfrm>
            <a:off x="356616" y="2450592"/>
            <a:ext cx="182880" cy="182880"/>
          </a:xfrm>
          <a:prstGeom prst="rect">
            <a:avLst/>
          </a:prstGeom>
          <a:noFill/>
          <a:ln>
            <a:noFill/>
          </a:ln>
        </p:spPr>
      </p:pic>
      <p:sp>
        <p:nvSpPr>
          <p:cNvPr id="41" name="Google Shape;41;p4"/>
          <p:cNvSpPr/>
          <p:nvPr/>
        </p:nvSpPr>
        <p:spPr>
          <a:xfrm>
            <a:off x="685800" y="2395728"/>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Online safety</a:t>
            </a:r>
            <a:endParaRPr b="0" i="0" sz="1050" u="none" cap="none" strike="noStrike">
              <a:solidFill>
                <a:schemeClr val="dk1"/>
              </a:solidFill>
              <a:latin typeface="Calibri"/>
              <a:ea typeface="Calibri"/>
              <a:cs typeface="Calibri"/>
              <a:sym typeface="Calibri"/>
            </a:endParaRPr>
          </a:p>
        </p:txBody>
      </p:sp>
      <p:sp>
        <p:nvSpPr>
          <p:cNvPr id="42" name="Google Shape;42;p4"/>
          <p:cNvSpPr/>
          <p:nvPr/>
        </p:nvSpPr>
        <p:spPr>
          <a:xfrm>
            <a:off x="320040" y="2971800"/>
            <a:ext cx="256032" cy="25603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4"/>
          <p:cNvPicPr preferRelativeResize="0"/>
          <p:nvPr/>
        </p:nvPicPr>
        <p:blipFill rotWithShape="1">
          <a:blip r:embed="rId6">
            <a:alphaModFix/>
          </a:blip>
          <a:srcRect b="0" l="0" r="0" t="0"/>
          <a:stretch/>
        </p:blipFill>
        <p:spPr>
          <a:xfrm>
            <a:off x="356616" y="2999232"/>
            <a:ext cx="182880" cy="182880"/>
          </a:xfrm>
          <a:prstGeom prst="rect">
            <a:avLst/>
          </a:prstGeom>
          <a:noFill/>
          <a:ln>
            <a:noFill/>
          </a:ln>
        </p:spPr>
      </p:pic>
      <p:sp>
        <p:nvSpPr>
          <p:cNvPr id="44" name="Google Shape;44;p4"/>
          <p:cNvSpPr/>
          <p:nvPr/>
        </p:nvSpPr>
        <p:spPr>
          <a:xfrm>
            <a:off x="685800" y="2944368"/>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How ESCG keeps you safe</a:t>
            </a:r>
            <a:endParaRPr b="0" i="0" sz="1050" u="none" cap="none" strike="noStrike">
              <a:solidFill>
                <a:schemeClr val="dk1"/>
              </a:solidFill>
              <a:latin typeface="Calibri"/>
              <a:ea typeface="Calibri"/>
              <a:cs typeface="Calibri"/>
              <a:sym typeface="Calibri"/>
            </a:endParaRPr>
          </a:p>
        </p:txBody>
      </p:sp>
      <p:sp>
        <p:nvSpPr>
          <p:cNvPr id="45" name="Google Shape;45;p4"/>
          <p:cNvSpPr/>
          <p:nvPr/>
        </p:nvSpPr>
        <p:spPr>
          <a:xfrm>
            <a:off x="320040" y="3520440"/>
            <a:ext cx="256032" cy="25603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 name="Google Shape;46;p4"/>
          <p:cNvPicPr preferRelativeResize="0"/>
          <p:nvPr/>
        </p:nvPicPr>
        <p:blipFill rotWithShape="1">
          <a:blip r:embed="rId7">
            <a:alphaModFix/>
          </a:blip>
          <a:srcRect b="0" l="0" r="0" t="0"/>
          <a:stretch/>
        </p:blipFill>
        <p:spPr>
          <a:xfrm>
            <a:off x="356616" y="3547872"/>
            <a:ext cx="182880" cy="182880"/>
          </a:xfrm>
          <a:prstGeom prst="rect">
            <a:avLst/>
          </a:prstGeom>
          <a:noFill/>
          <a:ln>
            <a:noFill/>
          </a:ln>
        </p:spPr>
      </p:pic>
      <p:sp>
        <p:nvSpPr>
          <p:cNvPr id="47" name="Google Shape;47;p4"/>
          <p:cNvSpPr/>
          <p:nvPr/>
        </p:nvSpPr>
        <p:spPr>
          <a:xfrm>
            <a:off x="685800" y="3493008"/>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Safeguarding Team contacts</a:t>
            </a:r>
            <a:endParaRPr b="0" i="0" sz="1050" u="none" cap="none" strike="noStrike">
              <a:solidFill>
                <a:schemeClr val="dk1"/>
              </a:solidFill>
              <a:latin typeface="Calibri"/>
              <a:ea typeface="Calibri"/>
              <a:cs typeface="Calibri"/>
              <a:sym typeface="Calibri"/>
            </a:endParaRPr>
          </a:p>
        </p:txBody>
      </p:sp>
      <p:sp>
        <p:nvSpPr>
          <p:cNvPr id="48" name="Google Shape;48;p4"/>
          <p:cNvSpPr/>
          <p:nvPr/>
        </p:nvSpPr>
        <p:spPr>
          <a:xfrm>
            <a:off x="320040" y="4069080"/>
            <a:ext cx="256032" cy="25603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4"/>
          <p:cNvPicPr preferRelativeResize="0"/>
          <p:nvPr/>
        </p:nvPicPr>
        <p:blipFill rotWithShape="1">
          <a:blip r:embed="rId8">
            <a:alphaModFix/>
          </a:blip>
          <a:srcRect b="0" l="0" r="0" t="0"/>
          <a:stretch/>
        </p:blipFill>
        <p:spPr>
          <a:xfrm>
            <a:off x="356616" y="4096512"/>
            <a:ext cx="182880" cy="182880"/>
          </a:xfrm>
          <a:prstGeom prst="rect">
            <a:avLst/>
          </a:prstGeom>
          <a:noFill/>
          <a:ln>
            <a:noFill/>
          </a:ln>
        </p:spPr>
      </p:pic>
      <p:sp>
        <p:nvSpPr>
          <p:cNvPr id="50" name="Google Shape;50;p4"/>
          <p:cNvSpPr/>
          <p:nvPr/>
        </p:nvSpPr>
        <p:spPr>
          <a:xfrm>
            <a:off x="685800" y="4041648"/>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Reporting a concern</a:t>
            </a:r>
            <a:endParaRPr b="0" i="0" sz="1050" u="none" cap="none" strike="noStrike">
              <a:solidFill>
                <a:schemeClr val="dk1"/>
              </a:solidFill>
              <a:latin typeface="Calibri"/>
              <a:ea typeface="Calibri"/>
              <a:cs typeface="Calibri"/>
              <a:sym typeface="Calibri"/>
            </a:endParaRPr>
          </a:p>
        </p:txBody>
      </p:sp>
      <p:cxnSp>
        <p:nvCxnSpPr>
          <p:cNvPr id="51" name="Google Shape;51;p4"/>
          <p:cNvCxnSpPr/>
          <p:nvPr/>
        </p:nvCxnSpPr>
        <p:spPr>
          <a:xfrm>
            <a:off x="4480560" y="868680"/>
            <a:ext cx="0" cy="4206240"/>
          </a:xfrm>
          <a:prstGeom prst="straightConnector1">
            <a:avLst/>
          </a:prstGeom>
          <a:noFill/>
          <a:ln cap="flat" cmpd="sng" w="12700">
            <a:solidFill>
              <a:srgbClr val="D2DBDA"/>
            </a:solidFill>
            <a:prstDash val="solid"/>
            <a:round/>
            <a:headEnd len="sm" w="sm" type="none"/>
            <a:tailEnd len="sm" w="sm" type="none"/>
          </a:ln>
        </p:spPr>
      </p:cxnSp>
      <p:sp>
        <p:nvSpPr>
          <p:cNvPr id="52" name="Google Shape;52;p4"/>
          <p:cNvSpPr/>
          <p:nvPr/>
        </p:nvSpPr>
        <p:spPr>
          <a:xfrm>
            <a:off x="4663440" y="914400"/>
            <a:ext cx="4160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Different in Year 2</a:t>
            </a:r>
            <a:endParaRPr b="0" i="0" sz="1100" u="none" cap="none" strike="noStrike">
              <a:solidFill>
                <a:schemeClr val="dk1"/>
              </a:solidFill>
              <a:latin typeface="Calibri"/>
              <a:ea typeface="Calibri"/>
              <a:cs typeface="Calibri"/>
              <a:sym typeface="Calibri"/>
            </a:endParaRPr>
          </a:p>
        </p:txBody>
      </p:sp>
      <p:sp>
        <p:nvSpPr>
          <p:cNvPr id="53" name="Google Shape;53;p4"/>
          <p:cNvSpPr/>
          <p:nvPr/>
        </p:nvSpPr>
        <p:spPr>
          <a:xfrm>
            <a:off x="4663440" y="1298448"/>
            <a:ext cx="4160520" cy="71323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4800600" y="1298448"/>
            <a:ext cx="38862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AI policy has tightened  </a:t>
            </a:r>
            <a:r>
              <a:rPr b="0" i="0" lang="en-US" sz="950" u="none" cap="none" strike="noStrike">
                <a:solidFill>
                  <a:srgbClr val="1B2A30"/>
                </a:solidFill>
                <a:latin typeface="Arial"/>
                <a:ea typeface="Arial"/>
                <a:cs typeface="Arial"/>
                <a:sym typeface="Arial"/>
              </a:rPr>
              <a:t>Assessed work this year will be scrutinised more closely. This bites hardest on the Final Major Project, the Occupational Specialism Project, and A Level Component 3.</a:t>
            </a:r>
            <a:endParaRPr b="0" i="0" sz="950" u="none" cap="none" strike="noStrike">
              <a:solidFill>
                <a:schemeClr val="dk1"/>
              </a:solidFill>
              <a:latin typeface="Calibri"/>
              <a:ea typeface="Calibri"/>
              <a:cs typeface="Calibri"/>
              <a:sym typeface="Calibri"/>
            </a:endParaRPr>
          </a:p>
        </p:txBody>
      </p:sp>
      <p:sp>
        <p:nvSpPr>
          <p:cNvPr id="55" name="Google Shape;55;p4"/>
          <p:cNvSpPr/>
          <p:nvPr/>
        </p:nvSpPr>
        <p:spPr>
          <a:xfrm>
            <a:off x="4663440" y="2121408"/>
            <a:ext cx="4160520" cy="71323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4800600" y="2121408"/>
            <a:ext cx="38862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Online risk doesn't stay the same  </a:t>
            </a:r>
            <a:r>
              <a:rPr b="0" i="0" lang="en-US" sz="950" u="none" cap="none" strike="noStrike">
                <a:solidFill>
                  <a:srgbClr val="1B2A30"/>
                </a:solidFill>
                <a:latin typeface="Arial"/>
                <a:ea typeface="Arial"/>
                <a:cs typeface="Arial"/>
                <a:sym typeface="Arial"/>
              </a:rPr>
              <a:t>Here: UCAS and UCH Hastings applications, the 315-hour industry placement, and first paid freelance work.</a:t>
            </a:r>
            <a:endParaRPr b="0" i="0" sz="950" u="none" cap="none" strike="noStrike">
              <a:solidFill>
                <a:schemeClr val="dk1"/>
              </a:solidFill>
              <a:latin typeface="Calibri"/>
              <a:ea typeface="Calibri"/>
              <a:cs typeface="Calibri"/>
              <a:sym typeface="Calibri"/>
            </a:endParaRPr>
          </a:p>
        </p:txBody>
      </p:sp>
      <p:sp>
        <p:nvSpPr>
          <p:cNvPr id="57" name="Google Shape;57;p4"/>
          <p:cNvSpPr/>
          <p:nvPr/>
        </p:nvSpPr>
        <p:spPr>
          <a:xfrm>
            <a:off x="4663440" y="2944368"/>
            <a:ext cx="4160520" cy="71323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4800600" y="2944368"/>
            <a:ext cx="38862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Complacency is the main hazard  </a:t>
            </a:r>
            <a:r>
              <a:rPr b="0" i="0" lang="en-US" sz="950" u="none" cap="none" strike="noStrike">
                <a:solidFill>
                  <a:srgbClr val="1B2A30"/>
                </a:solidFill>
                <a:latin typeface="Arial"/>
                <a:ea typeface="Arial"/>
                <a:cs typeface="Arial"/>
                <a:sym typeface="Arial"/>
              </a:rPr>
              <a:t>Here: getting casual about consent — filming or photographing people without asking, because you always have.</a:t>
            </a:r>
            <a:endParaRPr b="0" i="0" sz="950" u="none" cap="none" strike="noStrike">
              <a:solidFill>
                <a:schemeClr val="dk1"/>
              </a:solidFill>
              <a:latin typeface="Calibri"/>
              <a:ea typeface="Calibri"/>
              <a:cs typeface="Calibri"/>
              <a:sym typeface="Calibri"/>
            </a:endParaRPr>
          </a:p>
        </p:txBody>
      </p:sp>
      <p:sp>
        <p:nvSpPr>
          <p:cNvPr id="59" name="Google Shape;59;p4"/>
          <p:cNvSpPr/>
          <p:nvPr/>
        </p:nvSpPr>
        <p:spPr>
          <a:xfrm>
            <a:off x="4663440" y="3767328"/>
            <a:ext cx="4160520" cy="713232"/>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4800600" y="3767328"/>
            <a:ext cx="38862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Your support routes are still there  </a:t>
            </a:r>
            <a:r>
              <a:rPr b="0" i="0" lang="en-US" sz="950" u="none" cap="none" strike="noStrike">
                <a:solidFill>
                  <a:srgbClr val="1B2A30"/>
                </a:solidFill>
                <a:latin typeface="Arial"/>
                <a:ea typeface="Arial"/>
                <a:cs typeface="Arial"/>
                <a:sym typeface="Arial"/>
              </a:rPr>
              <a:t>Safeguarding contacts, Wellbeing Team, your tutor — all still available. Returners use them less. They shouldn't.</a:t>
            </a:r>
            <a:r>
              <a:rPr b="0" i="1" lang="en-US" sz="650" u="none" cap="none" strike="noStrike">
                <a:solidFill>
                  <a:srgbClr val="B00020"/>
                </a:solidFill>
                <a:latin typeface="Arial"/>
                <a:ea typeface="Arial"/>
                <a:cs typeface="Arial"/>
                <a:sym typeface="Arial"/>
              </a:rPr>
              <a:t>[CONFIRM: name the Wellbeing tutor for Digital, Media &amp; Computing and where they sit — returners will not go looking.]</a:t>
            </a:r>
            <a:endParaRPr b="0" i="0" sz="950" u="none" cap="none" strike="noStrike">
              <a:solidFill>
                <a:schemeClr val="dk1"/>
              </a:solidFill>
              <a:latin typeface="Calibri"/>
              <a:ea typeface="Calibri"/>
              <a:cs typeface="Calibri"/>
              <a:sym typeface="Calibri"/>
            </a:endParaRPr>
          </a:p>
        </p:txBody>
      </p:sp>
      <p:sp>
        <p:nvSpPr>
          <p:cNvPr id="61" name="Google Shape;61;p4"/>
          <p:cNvSpPr/>
          <p:nvPr/>
        </p:nvSpPr>
        <p:spPr>
          <a:xfrm>
            <a:off x="320040" y="4663440"/>
            <a:ext cx="850392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457200" y="4663440"/>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0" i="0" lang="en-US" sz="850" u="none" cap="none" strike="noStrike">
                <a:solidFill>
                  <a:srgbClr val="FFFFFF"/>
                </a:solidFill>
                <a:latin typeface="Arial"/>
                <a:ea typeface="Arial"/>
                <a:cs typeface="Arial"/>
                <a:sym typeface="Arial"/>
              </a:rPr>
              <a:t>Prevent and online safety are brief introductions here — tutorials continue across the year.</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7" name="Shape 67"/>
        <p:cNvGrpSpPr/>
        <p:nvPr/>
      </p:nvGrpSpPr>
      <p:grpSpPr>
        <a:xfrm>
          <a:off x="0" y="0"/>
          <a:ext cx="0" cy="0"/>
          <a:chOff x="0" y="0"/>
          <a:chExt cx="0" cy="0"/>
        </a:xfrm>
      </p:grpSpPr>
      <p:sp>
        <p:nvSpPr>
          <p:cNvPr id="68" name="Google Shape;68;p5"/>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How's It Actually Going?</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Honest check-in — pairs, 8 minutes</a:t>
            </a:r>
            <a:endParaRPr b="0" i="0" sz="900" u="none" cap="none" strike="noStrike">
              <a:solidFill>
                <a:schemeClr val="dk1"/>
              </a:solidFill>
              <a:latin typeface="Calibri"/>
              <a:ea typeface="Calibri"/>
              <a:cs typeface="Calibri"/>
              <a:sym typeface="Calibri"/>
            </a:endParaRPr>
          </a:p>
        </p:txBody>
      </p:sp>
      <p:sp>
        <p:nvSpPr>
          <p:cNvPr id="71" name="Google Shape;71;p5"/>
          <p:cNvSpPr/>
          <p:nvPr/>
        </p:nvSpPr>
        <p:spPr>
          <a:xfrm>
            <a:off x="7406640" y="164592"/>
            <a:ext cx="1554480" cy="256032"/>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DISCUSSION</a:t>
            </a:r>
            <a:endParaRPr b="0" i="0" sz="700" u="none" cap="none" strike="noStrike">
              <a:solidFill>
                <a:schemeClr val="dk1"/>
              </a:solidFill>
              <a:latin typeface="Calibri"/>
              <a:ea typeface="Calibri"/>
              <a:cs typeface="Calibri"/>
              <a:sym typeface="Calibri"/>
            </a:endParaRPr>
          </a:p>
        </p:txBody>
      </p:sp>
      <p:sp>
        <p:nvSpPr>
          <p:cNvPr id="73" name="Google Shape;73;p5"/>
          <p:cNvSpPr/>
          <p:nvPr/>
        </p:nvSpPr>
        <p:spPr>
          <a:xfrm>
            <a:off x="502920" y="914400"/>
            <a:ext cx="82296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600"/>
              <a:buFont typeface="Arial"/>
              <a:buNone/>
            </a:pPr>
            <a:r>
              <a:rPr b="1" i="0" lang="en-US" sz="1600" u="none" cap="none" strike="noStrike">
                <a:solidFill>
                  <a:srgbClr val="592C82"/>
                </a:solidFill>
                <a:latin typeface="Arial"/>
                <a:ea typeface="Arial"/>
                <a:cs typeface="Arial"/>
                <a:sym typeface="Arial"/>
              </a:rPr>
              <a:t>Year 2 brings different pressures — UCAS and UCH applications, placement hours, the Final Major Project. Let's name them.</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502920" y="1417320"/>
            <a:ext cx="8138160" cy="713232"/>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685800" y="141732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Arial"/>
              <a:buNone/>
            </a:pPr>
            <a:r>
              <a:rPr b="0" i="0" lang="en-US" sz="1150" u="none" cap="none" strike="noStrike">
                <a:solidFill>
                  <a:srgbClr val="1B2A30"/>
                </a:solidFill>
                <a:latin typeface="Arial"/>
                <a:ea typeface="Arial"/>
                <a:cs typeface="Arial"/>
                <a:sym typeface="Arial"/>
              </a:rPr>
              <a:t>1.  What feels different about coming back this year compared to starting Year 1?</a:t>
            </a:r>
            <a:endParaRPr b="0" i="0" sz="1150" u="none" cap="none" strike="noStrike">
              <a:solidFill>
                <a:schemeClr val="dk1"/>
              </a:solidFill>
              <a:latin typeface="Calibri"/>
              <a:ea typeface="Calibri"/>
              <a:cs typeface="Calibri"/>
              <a:sym typeface="Calibri"/>
            </a:endParaRPr>
          </a:p>
        </p:txBody>
      </p:sp>
      <p:sp>
        <p:nvSpPr>
          <p:cNvPr id="76" name="Google Shape;76;p5"/>
          <p:cNvSpPr/>
          <p:nvPr/>
        </p:nvSpPr>
        <p:spPr>
          <a:xfrm>
            <a:off x="502920" y="2286000"/>
            <a:ext cx="8138160" cy="713232"/>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685800" y="228600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Arial"/>
              <a:buNone/>
            </a:pPr>
            <a:r>
              <a:rPr b="0" i="0" lang="en-US" sz="1150" u="none" cap="none" strike="noStrike">
                <a:solidFill>
                  <a:srgbClr val="1B2A30"/>
                </a:solidFill>
                <a:latin typeface="Arial"/>
                <a:ea typeface="Arial"/>
                <a:cs typeface="Arial"/>
                <a:sym typeface="Arial"/>
              </a:rPr>
              <a:t>2.  What pressures are you carrying that you weren't carrying this time last year — financial, relationships, work, family, placement hours, the Final Major Project?</a:t>
            </a:r>
            <a:endParaRPr b="0" i="0" sz="1150" u="none" cap="none" strike="noStrike">
              <a:solidFill>
                <a:schemeClr val="dk1"/>
              </a:solidFill>
              <a:latin typeface="Calibri"/>
              <a:ea typeface="Calibri"/>
              <a:cs typeface="Calibri"/>
              <a:sym typeface="Calibri"/>
            </a:endParaRPr>
          </a:p>
        </p:txBody>
      </p:sp>
      <p:sp>
        <p:nvSpPr>
          <p:cNvPr id="78" name="Google Shape;78;p5"/>
          <p:cNvSpPr/>
          <p:nvPr/>
        </p:nvSpPr>
        <p:spPr>
          <a:xfrm>
            <a:off x="502920" y="3154680"/>
            <a:ext cx="8138160" cy="713232"/>
          </a:xfrm>
          <a:prstGeom prst="rect">
            <a:avLst/>
          </a:prstGeom>
          <a:solidFill>
            <a:srgbClr val="F3EEF9"/>
          </a:solidFill>
          <a:ln cap="flat" cmpd="sng" w="12700">
            <a:solidFill>
              <a:srgbClr val="D2DBDA"/>
            </a:solidFill>
            <a:prstDash val="solid"/>
            <a:round/>
            <a:headEnd len="sm" w="sm" type="none"/>
            <a:tailEnd len="sm" w="sm" type="none"/>
          </a:ln>
          <a:effectLst>
            <a:outerShdw blurRad="50800" rotWithShape="0" algn="bl" dir="2700000" dist="254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85800" y="315468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Arial"/>
              <a:buNone/>
            </a:pPr>
            <a:r>
              <a:rPr b="0" i="0" lang="en-US" sz="1150" u="none" cap="none" strike="noStrike">
                <a:solidFill>
                  <a:srgbClr val="1B2A30"/>
                </a:solidFill>
                <a:latin typeface="Arial"/>
                <a:ea typeface="Arial"/>
                <a:cs typeface="Arial"/>
                <a:sym typeface="Arial"/>
              </a:rPr>
              <a:t>3.  Is there anything you've been managing yourself this year that you probably should have flagged — in the edit suites, on placement, on a live deadline, working alone late?</a:t>
            </a:r>
            <a:endParaRPr b="0" i="0" sz="1150" u="none" cap="none" strike="noStrike">
              <a:solidFill>
                <a:schemeClr val="dk1"/>
              </a:solidFill>
              <a:latin typeface="Calibri"/>
              <a:ea typeface="Calibri"/>
              <a:cs typeface="Calibri"/>
              <a:sym typeface="Calibri"/>
            </a:endParaRPr>
          </a:p>
        </p:txBody>
      </p:sp>
      <p:sp>
        <p:nvSpPr>
          <p:cNvPr id="80" name="Google Shape;80;p5"/>
          <p:cNvSpPr/>
          <p:nvPr/>
        </p:nvSpPr>
        <p:spPr>
          <a:xfrm>
            <a:off x="502920" y="4069080"/>
            <a:ext cx="8138160" cy="594360"/>
          </a:xfrm>
          <a:prstGeom prst="rect">
            <a:avLst/>
          </a:prstGeom>
          <a:solidFill>
            <a:srgbClr val="FFCF01"/>
          </a:solidFill>
          <a:ln cap="flat" cmpd="sng" w="12700">
            <a:solidFill>
              <a:srgbClr val="FFC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640080" y="4069080"/>
            <a:ext cx="78638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Question 3 is the one that matters. If you finish early: is there anything on placement or on a shoot you have let go because you did not want to make a fuss?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6" name="Shape 86"/>
        <p:cNvGrpSpPr/>
        <p:nvPr/>
      </p:nvGrpSpPr>
      <p:grpSpPr>
        <a:xfrm>
          <a:off x="0" y="0"/>
          <a:ext cx="0" cy="0"/>
          <a:chOff x="0" y="0"/>
          <a:chExt cx="0" cy="0"/>
        </a:xfrm>
      </p:grpSpPr>
      <p:sp>
        <p:nvSpPr>
          <p:cNvPr id="87" name="Google Shape;87;p6"/>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Safeguarding in Year 2</a:t>
            </a:r>
            <a:endParaRPr b="0" i="0" sz="1800" u="none" cap="none" strike="noStrike">
              <a:solidFill>
                <a:schemeClr val="dk1"/>
              </a:solidFill>
              <a:latin typeface="Calibri"/>
              <a:ea typeface="Calibri"/>
              <a:cs typeface="Calibri"/>
              <a:sym typeface="Calibri"/>
            </a:endParaRPr>
          </a:p>
        </p:txBody>
      </p:sp>
      <p:sp>
        <p:nvSpPr>
          <p:cNvPr id="89" name="Google Shape;89;p6"/>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Same duty, different pressures — FMP deadlines, placement hours, UCAS</a:t>
            </a:r>
            <a:endParaRPr b="0" i="0" sz="900" u="none" cap="none" strike="noStrike">
              <a:solidFill>
                <a:schemeClr val="dk1"/>
              </a:solidFill>
              <a:latin typeface="Calibri"/>
              <a:ea typeface="Calibri"/>
              <a:cs typeface="Calibri"/>
              <a:sym typeface="Calibri"/>
            </a:endParaRPr>
          </a:p>
        </p:txBody>
      </p:sp>
      <p:sp>
        <p:nvSpPr>
          <p:cNvPr id="90" name="Google Shape;90;p6"/>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92" name="Google Shape;92;p6"/>
          <p:cNvSpPr/>
          <p:nvPr/>
        </p:nvSpPr>
        <p:spPr>
          <a:xfrm>
            <a:off x="320040" y="86868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What hasn't changed</a:t>
            </a:r>
            <a:endParaRPr b="0" i="0" sz="1200" u="none" cap="none" strike="noStrike">
              <a:solidFill>
                <a:schemeClr val="dk1"/>
              </a:solidFill>
              <a:latin typeface="Calibri"/>
              <a:ea typeface="Calibri"/>
              <a:cs typeface="Calibri"/>
              <a:sym typeface="Calibri"/>
            </a:endParaRPr>
          </a:p>
        </p:txBody>
      </p:sp>
      <p:sp>
        <p:nvSpPr>
          <p:cNvPr id="93" name="Google Shape;93;p6"/>
          <p:cNvSpPr/>
          <p:nvPr/>
        </p:nvSpPr>
        <p:spPr>
          <a:xfrm>
            <a:off x="320040" y="1298448"/>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21792" y="1243584"/>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ESCG's duty to keep you safe is the same in Year 2 as it was in Year 1.</a:t>
            </a:r>
            <a:endParaRPr b="0" i="0" sz="1050" u="none" cap="none" strike="noStrike">
              <a:solidFill>
                <a:schemeClr val="dk1"/>
              </a:solidFill>
              <a:latin typeface="Calibri"/>
              <a:ea typeface="Calibri"/>
              <a:cs typeface="Calibri"/>
              <a:sym typeface="Calibri"/>
            </a:endParaRPr>
          </a:p>
        </p:txBody>
      </p:sp>
      <p:sp>
        <p:nvSpPr>
          <p:cNvPr id="95" name="Google Shape;95;p6"/>
          <p:cNvSpPr/>
          <p:nvPr/>
        </p:nvSpPr>
        <p:spPr>
          <a:xfrm>
            <a:off x="320040" y="2048256"/>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621792" y="1993392"/>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You can self-refer to the Safeguarding Team or Wellbeing Team at any time — or start with your course tutor, the studio technician, or whoever coordinates your placement.</a:t>
            </a:r>
            <a:endParaRPr b="0" i="0" sz="1050" u="none" cap="none" strike="noStrike">
              <a:solidFill>
                <a:schemeClr val="dk1"/>
              </a:solidFill>
              <a:latin typeface="Calibri"/>
              <a:ea typeface="Calibri"/>
              <a:cs typeface="Calibri"/>
              <a:sym typeface="Calibri"/>
            </a:endParaRPr>
          </a:p>
        </p:txBody>
      </p:sp>
      <p:sp>
        <p:nvSpPr>
          <p:cNvPr id="97" name="Google Shape;97;p6"/>
          <p:cNvSpPr/>
          <p:nvPr/>
        </p:nvSpPr>
        <p:spPr>
          <a:xfrm>
            <a:off x="320040" y="2798064"/>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21792" y="274320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All concerns — about yourself or a peer — are taken seriously.</a:t>
            </a:r>
            <a:endParaRPr b="0" i="0" sz="1050" u="none" cap="none" strike="noStrike">
              <a:solidFill>
                <a:schemeClr val="dk1"/>
              </a:solidFill>
              <a:latin typeface="Calibri"/>
              <a:ea typeface="Calibri"/>
              <a:cs typeface="Calibri"/>
              <a:sym typeface="Calibri"/>
            </a:endParaRPr>
          </a:p>
        </p:txBody>
      </p:sp>
      <p:sp>
        <p:nvSpPr>
          <p:cNvPr id="99" name="Google Shape;99;p6"/>
          <p:cNvSpPr/>
          <p:nvPr/>
        </p:nvSpPr>
        <p:spPr>
          <a:xfrm>
            <a:off x="320040" y="3547872"/>
            <a:ext cx="201168" cy="20116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21792" y="3493008"/>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Confidentiality limits are the same: staff will not gossip, but they cannot promise secrecy where there is a risk of harm.</a:t>
            </a:r>
            <a:endParaRPr b="0" i="0" sz="1050" u="none" cap="none" strike="noStrike">
              <a:solidFill>
                <a:schemeClr val="dk1"/>
              </a:solidFill>
              <a:latin typeface="Calibri"/>
              <a:ea typeface="Calibri"/>
              <a:cs typeface="Calibri"/>
              <a:sym typeface="Calibri"/>
            </a:endParaRPr>
          </a:p>
        </p:txBody>
      </p:sp>
      <p:cxnSp>
        <p:nvCxnSpPr>
          <p:cNvPr id="101" name="Google Shape;101;p6"/>
          <p:cNvCxnSpPr/>
          <p:nvPr/>
        </p:nvCxnSpPr>
        <p:spPr>
          <a:xfrm>
            <a:off x="4480560" y="822960"/>
            <a:ext cx="0" cy="4114800"/>
          </a:xfrm>
          <a:prstGeom prst="straightConnector1">
            <a:avLst/>
          </a:prstGeom>
          <a:noFill/>
          <a:ln cap="flat" cmpd="sng" w="12700">
            <a:solidFill>
              <a:srgbClr val="D2DBDA"/>
            </a:solidFill>
            <a:prstDash val="solid"/>
            <a:round/>
            <a:headEnd len="sm" w="sm" type="none"/>
            <a:tailEnd len="sm" w="sm" type="none"/>
          </a:ln>
        </p:spPr>
      </p:cxnSp>
      <p:sp>
        <p:nvSpPr>
          <p:cNvPr id="102" name="Google Shape;102;p6"/>
          <p:cNvSpPr/>
          <p:nvPr/>
        </p:nvSpPr>
        <p:spPr>
          <a:xfrm>
            <a:off x="4663440" y="868680"/>
            <a:ext cx="4160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What changes in Year 2</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4663440" y="1261872"/>
            <a:ext cx="4160520" cy="841248"/>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4800600" y="1261872"/>
            <a:ext cx="388620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New pressures  </a:t>
            </a:r>
            <a:r>
              <a:rPr b="0" i="0" lang="en-US" sz="1000" u="none" cap="none" strike="noStrike">
                <a:solidFill>
                  <a:srgbClr val="1B2A30"/>
                </a:solidFill>
                <a:latin typeface="Arial"/>
                <a:ea typeface="Arial"/>
                <a:cs typeface="Arial"/>
                <a:sym typeface="Arial"/>
              </a:rPr>
              <a:t>Here: paid freelance shoots and edits alongside study — and unpaid ‘exposure’ work that eats your time.</a:t>
            </a:r>
            <a:endParaRPr b="0" i="0" sz="1000" u="none" cap="none" strike="noStrike">
              <a:solidFill>
                <a:schemeClr val="dk1"/>
              </a:solidFill>
              <a:latin typeface="Calibri"/>
              <a:ea typeface="Calibri"/>
              <a:cs typeface="Calibri"/>
              <a:sym typeface="Calibri"/>
            </a:endParaRPr>
          </a:p>
        </p:txBody>
      </p:sp>
      <p:sp>
        <p:nvSpPr>
          <p:cNvPr id="105" name="Google Shape;105;p6"/>
          <p:cNvSpPr/>
          <p:nvPr/>
        </p:nvSpPr>
        <p:spPr>
          <a:xfrm>
            <a:off x="4663440" y="2249424"/>
            <a:ext cx="4160520" cy="841248"/>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4800600" y="2249424"/>
            <a:ext cx="388620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Complacency risk  </a:t>
            </a:r>
            <a:r>
              <a:rPr b="0" i="0" lang="en-US" sz="1000" u="none" cap="none" strike="noStrike">
                <a:solidFill>
                  <a:srgbClr val="1B2A30"/>
                </a:solidFill>
                <a:latin typeface="Arial"/>
                <a:ea typeface="Arial"/>
                <a:cs typeface="Arial"/>
                <a:sym typeface="Arial"/>
              </a:rPr>
              <a:t>Familiarity breeds inattention. Here: the consent conversation you now skip because the subject is a mate.</a:t>
            </a:r>
            <a:endParaRPr b="0" i="0" sz="1000" u="none" cap="none" strike="noStrike">
              <a:solidFill>
                <a:schemeClr val="dk1"/>
              </a:solidFill>
              <a:latin typeface="Calibri"/>
              <a:ea typeface="Calibri"/>
              <a:cs typeface="Calibri"/>
              <a:sym typeface="Calibri"/>
            </a:endParaRPr>
          </a:p>
        </p:txBody>
      </p:sp>
      <p:sp>
        <p:nvSpPr>
          <p:cNvPr id="107" name="Google Shape;107;p6"/>
          <p:cNvSpPr/>
          <p:nvPr/>
        </p:nvSpPr>
        <p:spPr>
          <a:xfrm>
            <a:off x="4663440" y="3236976"/>
            <a:ext cx="4160520" cy="841248"/>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4800600" y="3236976"/>
            <a:ext cx="388620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Peer responsibility  </a:t>
            </a:r>
            <a:r>
              <a:rPr b="0" i="0" lang="en-US" sz="1000" u="none" cap="none" strike="noStrike">
                <a:solidFill>
                  <a:srgbClr val="1B2A30"/>
                </a:solidFill>
                <a:latin typeface="Arial"/>
                <a:ea typeface="Arial"/>
                <a:cs typeface="Arial"/>
                <a:sym typeface="Arial"/>
              </a:rPr>
              <a:t>You now know this community. Here: you know whose work has changed tone, and who has stopped turning up to their own production slots.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3" name="Shape 113"/>
        <p:cNvGrpSpPr/>
        <p:nvPr/>
      </p:nvGrpSpPr>
      <p:grpSpPr>
        <a:xfrm>
          <a:off x="0" y="0"/>
          <a:ext cx="0" cy="0"/>
          <a:chOff x="0" y="0"/>
          <a:chExt cx="0" cy="0"/>
        </a:xfrm>
      </p:grpSpPr>
      <p:sp>
        <p:nvSpPr>
          <p:cNvPr id="114" name="Google Shape;114;p7"/>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Prevent — Brief Update for Year 2</a:t>
            </a:r>
            <a:endParaRPr b="0" i="0" sz="1800" u="none" cap="none" strike="noStrike">
              <a:solidFill>
                <a:schemeClr val="dk1"/>
              </a:solidFill>
              <a:latin typeface="Calibri"/>
              <a:ea typeface="Calibri"/>
              <a:cs typeface="Calibri"/>
              <a:sym typeface="Calibri"/>
            </a:endParaRPr>
          </a:p>
        </p:txBody>
      </p:sp>
      <p:sp>
        <p:nvSpPr>
          <p:cNvPr id="116" name="Google Shape;116;p7"/>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What's the same, what's changed online — continues in tutorial and in your media law and ethics content</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119" name="Google Shape;119;p7"/>
          <p:cNvSpPr/>
          <p:nvPr/>
        </p:nvSpPr>
        <p:spPr>
          <a:xfrm>
            <a:off x="320040" y="868680"/>
            <a:ext cx="4160520" cy="1234440"/>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457200" y="868680"/>
            <a:ext cx="388620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Still the same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Radicalisation: the process by which someone comes to support terrorism or extremism. Extremism: vocal or active opposition to fundamental British values, or calls for violence. ESCG's legal duty under the Prevent Duty is unchanged.</a:t>
            </a:r>
            <a:endParaRPr b="0" i="0" sz="1000" u="none" cap="none" strike="noStrike">
              <a:solidFill>
                <a:schemeClr val="dk1"/>
              </a:solidFill>
              <a:latin typeface="Calibri"/>
              <a:ea typeface="Calibri"/>
              <a:cs typeface="Calibri"/>
              <a:sym typeface="Calibri"/>
            </a:endParaRPr>
          </a:p>
        </p:txBody>
      </p:sp>
      <p:sp>
        <p:nvSpPr>
          <p:cNvPr id="121" name="Google Shape;121;p7"/>
          <p:cNvSpPr/>
          <p:nvPr/>
        </p:nvSpPr>
        <p:spPr>
          <a:xfrm>
            <a:off x="320040" y="2212848"/>
            <a:ext cx="4160520" cy="126187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457200" y="2212848"/>
            <a:ext cx="3886200" cy="1261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000"/>
              <a:buFont typeface="Arial"/>
              <a:buNone/>
            </a:pPr>
            <a:r>
              <a:rPr b="1" i="0" lang="en-US" sz="1000" u="none" cap="none" strike="noStrike">
                <a:solidFill>
                  <a:srgbClr val="FFCF01"/>
                </a:solidFill>
                <a:latin typeface="Arial"/>
                <a:ea typeface="Arial"/>
                <a:cs typeface="Arial"/>
                <a:sym typeface="Arial"/>
              </a:rPr>
              <a:t>What's changed since Year 1</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AI-generated extremist content has increased significantly. Deepfake disinformation is more sophisticated. Misogynistic online communities have grown. The speed of radicalisation online has accelerated — what took months can now take weeks.</a:t>
            </a:r>
            <a:endParaRPr b="0" i="0" sz="1000" u="none" cap="none" strike="noStrike">
              <a:solidFill>
                <a:schemeClr val="dk1"/>
              </a:solidFill>
              <a:latin typeface="Calibri"/>
              <a:ea typeface="Calibri"/>
              <a:cs typeface="Calibri"/>
              <a:sym typeface="Calibri"/>
            </a:endParaRPr>
          </a:p>
        </p:txBody>
      </p:sp>
      <p:sp>
        <p:nvSpPr>
          <p:cNvPr id="123" name="Google Shape;123;p7"/>
          <p:cNvSpPr/>
          <p:nvPr/>
        </p:nvSpPr>
        <p:spPr>
          <a:xfrm>
            <a:off x="4663440" y="868680"/>
            <a:ext cx="4160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Year 2 vulnerability factors</a:t>
            </a:r>
            <a:endParaRPr b="0" i="0" sz="1100" u="none" cap="none" strike="noStrike">
              <a:solidFill>
                <a:schemeClr val="dk1"/>
              </a:solidFill>
              <a:latin typeface="Calibri"/>
              <a:ea typeface="Calibri"/>
              <a:cs typeface="Calibri"/>
              <a:sym typeface="Calibri"/>
            </a:endParaRPr>
          </a:p>
        </p:txBody>
      </p:sp>
      <p:sp>
        <p:nvSpPr>
          <p:cNvPr id="124" name="Google Shape;124;p7"/>
          <p:cNvSpPr/>
          <p:nvPr/>
        </p:nvSpPr>
        <p:spPr>
          <a:xfrm>
            <a:off x="4663440" y="1298448"/>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956048" y="1243584"/>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Financial stress and debt — hard drives, printing and portfolio costs alongside travel to placement</a:t>
            </a:r>
            <a:endParaRPr b="0" i="0" sz="1000" u="none" cap="none" strike="noStrike">
              <a:solidFill>
                <a:schemeClr val="dk1"/>
              </a:solidFill>
              <a:latin typeface="Calibri"/>
              <a:ea typeface="Calibri"/>
              <a:cs typeface="Calibri"/>
              <a:sym typeface="Calibri"/>
            </a:endParaRPr>
          </a:p>
        </p:txBody>
      </p:sp>
      <p:sp>
        <p:nvSpPr>
          <p:cNvPr id="126" name="Google Shape;126;p7"/>
          <p:cNvSpPr/>
          <p:nvPr/>
        </p:nvSpPr>
        <p:spPr>
          <a:xfrm>
            <a:off x="4663440" y="1801368"/>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4956048" y="1746504"/>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Relationship breakdown — isolation and identity crisis</a:t>
            </a:r>
            <a:endParaRPr b="0" i="0" sz="1000" u="none" cap="none" strike="noStrike">
              <a:solidFill>
                <a:schemeClr val="dk1"/>
              </a:solidFill>
              <a:latin typeface="Calibri"/>
              <a:ea typeface="Calibri"/>
              <a:cs typeface="Calibri"/>
              <a:sym typeface="Calibri"/>
            </a:endParaRPr>
          </a:p>
        </p:txBody>
      </p:sp>
      <p:sp>
        <p:nvSpPr>
          <p:cNvPr id="128" name="Google Shape;128;p7"/>
          <p:cNvSpPr/>
          <p:nvPr/>
        </p:nvSpPr>
        <p:spPr>
          <a:xfrm>
            <a:off x="4663440" y="2304288"/>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4956048" y="2249424"/>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Academic pressure — the Final Major Project, the 35.5-hour specialism project, the 15-hour practical exam</a:t>
            </a:r>
            <a:endParaRPr b="0" i="0" sz="1000" u="none" cap="none" strike="noStrike">
              <a:solidFill>
                <a:schemeClr val="dk1"/>
              </a:solidFill>
              <a:latin typeface="Calibri"/>
              <a:ea typeface="Calibri"/>
              <a:cs typeface="Calibri"/>
              <a:sym typeface="Calibri"/>
            </a:endParaRPr>
          </a:p>
        </p:txBody>
      </p:sp>
      <p:sp>
        <p:nvSpPr>
          <p:cNvPr id="130" name="Google Shape;130;p7"/>
          <p:cNvSpPr/>
          <p:nvPr/>
        </p:nvSpPr>
        <p:spPr>
          <a:xfrm>
            <a:off x="4663440" y="2807208"/>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956048" y="2752344"/>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Employment instability — unvetted freelance work found through DMs, and ‘ambassador’ schemes that ask you for money first</a:t>
            </a:r>
            <a:endParaRPr b="0" i="0" sz="1000" u="none" cap="none" strike="noStrike">
              <a:solidFill>
                <a:schemeClr val="dk1"/>
              </a:solidFill>
              <a:latin typeface="Calibri"/>
              <a:ea typeface="Calibri"/>
              <a:cs typeface="Calibri"/>
              <a:sym typeface="Calibri"/>
            </a:endParaRPr>
          </a:p>
        </p:txBody>
      </p:sp>
      <p:sp>
        <p:nvSpPr>
          <p:cNvPr id="132" name="Google Shape;132;p7"/>
          <p:cNvSpPr/>
          <p:nvPr/>
        </p:nvSpPr>
        <p:spPr>
          <a:xfrm>
            <a:off x="4663440" y="3310128"/>
            <a:ext cx="182880" cy="182880"/>
          </a:xfrm>
          <a:prstGeom prst="ellipse">
            <a:avLst/>
          </a:prstGeom>
          <a:solidFill>
            <a:srgbClr val="7B4FAA"/>
          </a:solidFill>
          <a:ln cap="flat" cmpd="sng" w="12700">
            <a:solidFill>
              <a:srgbClr val="7B4F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956048" y="3255264"/>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Reduced peer support as friendship groups shift</a:t>
            </a:r>
            <a:endParaRPr b="0" i="0" sz="1000" u="none" cap="none" strike="noStrike">
              <a:solidFill>
                <a:schemeClr val="dk1"/>
              </a:solidFill>
              <a:latin typeface="Calibri"/>
              <a:ea typeface="Calibri"/>
              <a:cs typeface="Calibri"/>
              <a:sym typeface="Calibri"/>
            </a:endParaRPr>
          </a:p>
        </p:txBody>
      </p:sp>
      <p:sp>
        <p:nvSpPr>
          <p:cNvPr id="134" name="Google Shape;134;p7"/>
          <p:cNvSpPr/>
          <p:nvPr/>
        </p:nvSpPr>
        <p:spPr>
          <a:xfrm>
            <a:off x="4663440" y="3749040"/>
            <a:ext cx="4160520" cy="621792"/>
          </a:xfrm>
          <a:prstGeom prst="rect">
            <a:avLst/>
          </a:prstGeom>
          <a:solidFill>
            <a:srgbClr val="FFCF01"/>
          </a:solidFill>
          <a:ln cap="flat" cmpd="sng" w="12700">
            <a:solidFill>
              <a:srgbClr val="FFC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4800600" y="3749040"/>
            <a:ext cx="38862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50"/>
              <a:buFont typeface="Arial"/>
              <a:buNone/>
            </a:pPr>
            <a:r>
              <a:rPr b="1" i="0" lang="en-US" sz="950" u="none" cap="none" strike="noStrike">
                <a:solidFill>
                  <a:srgbClr val="0D2434"/>
                </a:solidFill>
                <a:latin typeface="Arial"/>
                <a:ea typeface="Arial"/>
                <a:cs typeface="Arial"/>
                <a:sym typeface="Arial"/>
              </a:rPr>
              <a:t>The distinction still holds: arguing about how a film or a news story represents a group of people is legitimate analysis. Being pushed toward hating a group of people is not the same thing.</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40" name="Shape 140"/>
        <p:cNvGrpSpPr/>
        <p:nvPr/>
      </p:nvGrpSpPr>
      <p:grpSpPr>
        <a:xfrm>
          <a:off x="0" y="0"/>
          <a:ext cx="0" cy="0"/>
          <a:chOff x="0" y="0"/>
          <a:chExt cx="0" cy="0"/>
        </a:xfrm>
      </p:grpSpPr>
      <p:sp>
        <p:nvSpPr>
          <p:cNvPr id="141" name="Google Shape;141;p8"/>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Online Safety — Year 2 Risk Profile</a:t>
            </a:r>
            <a:endParaRPr b="0" i="0" sz="1800" u="none" cap="none" strike="noStrike">
              <a:solidFill>
                <a:schemeClr val="dk1"/>
              </a:solidFill>
              <a:latin typeface="Calibri"/>
              <a:ea typeface="Calibri"/>
              <a:cs typeface="Calibri"/>
              <a:sym typeface="Calibri"/>
            </a:endParaRPr>
          </a:p>
        </p:txBody>
      </p:sp>
      <p:sp>
        <p:nvSpPr>
          <p:cNvPr id="143" name="Google Shape;143;p8"/>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What has changed since you were last here — employer contact begins, and your work now goes out to real audiences</a:t>
            </a:r>
            <a:endParaRPr b="0" i="0" sz="900" u="none" cap="none" strike="noStrike">
              <a:solidFill>
                <a:schemeClr val="dk1"/>
              </a:solidFill>
              <a:latin typeface="Calibri"/>
              <a:ea typeface="Calibri"/>
              <a:cs typeface="Calibri"/>
              <a:sym typeface="Calibri"/>
            </a:endParaRPr>
          </a:p>
        </p:txBody>
      </p:sp>
      <p:sp>
        <p:nvSpPr>
          <p:cNvPr id="144" name="Google Shape;144;p8"/>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146" name="Google Shape;146;p8"/>
          <p:cNvSpPr/>
          <p:nvPr/>
        </p:nvSpPr>
        <p:spPr>
          <a:xfrm>
            <a:off x="320040" y="713232"/>
            <a:ext cx="850392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850"/>
              <a:buFont typeface="Arial"/>
              <a:buNone/>
            </a:pPr>
            <a:r>
              <a:rPr b="0" i="1" lang="en-US" sz="850" u="none" cap="none" strike="noStrike">
                <a:solidFill>
                  <a:srgbClr val="5A6A6F"/>
                </a:solidFill>
                <a:latin typeface="Arial"/>
                <a:ea typeface="Arial"/>
                <a:cs typeface="Arial"/>
                <a:sym typeface="Arial"/>
              </a:rPr>
              <a:t>Brief introduction — tutorials go deeper</a:t>
            </a:r>
            <a:endParaRPr b="0" i="0" sz="850" u="none" cap="none" strike="noStrike">
              <a:solidFill>
                <a:schemeClr val="dk1"/>
              </a:solidFill>
              <a:latin typeface="Calibri"/>
              <a:ea typeface="Calibri"/>
              <a:cs typeface="Calibri"/>
              <a:sym typeface="Calibri"/>
            </a:endParaRPr>
          </a:p>
        </p:txBody>
      </p:sp>
      <p:sp>
        <p:nvSpPr>
          <p:cNvPr id="147" name="Google Shape;147;p8"/>
          <p:cNvSpPr/>
          <p:nvPr/>
        </p:nvSpPr>
        <p:spPr>
          <a:xfrm>
            <a:off x="320040" y="100584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The risks that don't go away</a:t>
            </a:r>
            <a:endParaRPr b="0" i="0" sz="1100" u="none" cap="none" strike="noStrike">
              <a:solidFill>
                <a:schemeClr val="dk1"/>
              </a:solidFill>
              <a:latin typeface="Calibri"/>
              <a:ea typeface="Calibri"/>
              <a:cs typeface="Calibri"/>
              <a:sym typeface="Calibri"/>
            </a:endParaRPr>
          </a:p>
        </p:txBody>
      </p:sp>
      <p:sp>
        <p:nvSpPr>
          <p:cNvPr id="148" name="Google Shape;148;p8"/>
          <p:cNvSpPr/>
          <p:nvPr/>
        </p:nvSpPr>
        <p:spPr>
          <a:xfrm>
            <a:off x="320040" y="1389888"/>
            <a:ext cx="4023360" cy="960120"/>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457200" y="1389888"/>
            <a:ext cx="37490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Personal information  </a:t>
            </a:r>
            <a:r>
              <a:rPr b="0" i="0" lang="en-US" sz="1000" u="none" cap="none" strike="noStrike">
                <a:solidFill>
                  <a:srgbClr val="1B2A30"/>
                </a:solidFill>
                <a:latin typeface="Arial"/>
                <a:ea typeface="Arial"/>
                <a:cs typeface="Arial"/>
                <a:sym typeface="Arial"/>
              </a:rPr>
              <a:t>What you share is still a lever. Here: what a placement employer or a UCH Hastings admissions tutor finds when they search you — including your public portfolio.</a:t>
            </a:r>
            <a:endParaRPr b="0" i="0" sz="1000" u="none" cap="none" strike="noStrike">
              <a:solidFill>
                <a:schemeClr val="dk1"/>
              </a:solidFill>
              <a:latin typeface="Calibri"/>
              <a:ea typeface="Calibri"/>
              <a:cs typeface="Calibri"/>
              <a:sym typeface="Calibri"/>
            </a:endParaRPr>
          </a:p>
        </p:txBody>
      </p:sp>
      <p:sp>
        <p:nvSpPr>
          <p:cNvPr id="150" name="Google Shape;150;p8"/>
          <p:cNvSpPr/>
          <p:nvPr/>
        </p:nvSpPr>
        <p:spPr>
          <a:xfrm>
            <a:off x="320040" y="2468880"/>
            <a:ext cx="4023360" cy="960120"/>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457200" y="2468880"/>
            <a:ext cx="37490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Grooming and exploitation  </a:t>
            </a:r>
            <a:r>
              <a:rPr b="0" i="0" lang="en-US" sz="1000" u="none" cap="none" strike="noStrike">
                <a:solidFill>
                  <a:srgbClr val="1B2A30"/>
                </a:solidFill>
                <a:latin typeface="Arial"/>
                <a:ea typeface="Arial"/>
                <a:cs typeface="Arial"/>
                <a:sym typeface="Arial"/>
              </a:rPr>
              <a:t>The county lines model, romance scams and online exploitation don't stop in your second year. Here: unpaid commissions from strangers that escalate, and ‘agency’ approaches after you post work.</a:t>
            </a:r>
            <a:endParaRPr b="0" i="0" sz="1000" u="none" cap="none" strike="noStrike">
              <a:solidFill>
                <a:schemeClr val="dk1"/>
              </a:solidFill>
              <a:latin typeface="Calibri"/>
              <a:ea typeface="Calibri"/>
              <a:cs typeface="Calibri"/>
              <a:sym typeface="Calibri"/>
            </a:endParaRPr>
          </a:p>
        </p:txBody>
      </p:sp>
      <p:sp>
        <p:nvSpPr>
          <p:cNvPr id="152" name="Google Shape;152;p8"/>
          <p:cNvSpPr/>
          <p:nvPr/>
        </p:nvSpPr>
        <p:spPr>
          <a:xfrm>
            <a:off x="320040" y="3547872"/>
            <a:ext cx="4023360" cy="960120"/>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457200" y="3547872"/>
            <a:ext cx="37490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Non-consensual images  </a:t>
            </a:r>
            <a:r>
              <a:rPr b="0" i="0" lang="en-US" sz="1000" u="none" cap="none" strike="noStrike">
                <a:solidFill>
                  <a:srgbClr val="1B2A30"/>
                </a:solidFill>
                <a:latin typeface="Arial"/>
                <a:ea typeface="Arial"/>
                <a:cs typeface="Arial"/>
                <a:sym typeface="Arial"/>
              </a:rPr>
              <a:t>Still a criminal offence. AI-generated images are explicitly covered in law. Here: portrait and practical footage shared beyond the studio, and rushes left on shared drives.</a:t>
            </a:r>
            <a:endParaRPr b="0" i="0" sz="1000" u="none" cap="none" strike="noStrike">
              <a:solidFill>
                <a:schemeClr val="dk1"/>
              </a:solidFill>
              <a:latin typeface="Calibri"/>
              <a:ea typeface="Calibri"/>
              <a:cs typeface="Calibri"/>
              <a:sym typeface="Calibri"/>
            </a:endParaRPr>
          </a:p>
        </p:txBody>
      </p:sp>
      <p:cxnSp>
        <p:nvCxnSpPr>
          <p:cNvPr id="154" name="Google Shape;154;p8"/>
          <p:cNvCxnSpPr/>
          <p:nvPr/>
        </p:nvCxnSpPr>
        <p:spPr>
          <a:xfrm>
            <a:off x="4480560" y="960120"/>
            <a:ext cx="0" cy="3931920"/>
          </a:xfrm>
          <a:prstGeom prst="straightConnector1">
            <a:avLst/>
          </a:prstGeom>
          <a:noFill/>
          <a:ln cap="flat" cmpd="sng" w="12700">
            <a:solidFill>
              <a:srgbClr val="D2DBDA"/>
            </a:solidFill>
            <a:prstDash val="solid"/>
            <a:round/>
            <a:headEnd len="sm" w="sm" type="none"/>
            <a:tailEnd len="sm" w="sm" type="none"/>
          </a:ln>
        </p:spPr>
      </p:cxnSp>
      <p:sp>
        <p:nvSpPr>
          <p:cNvPr id="155" name="Google Shape;155;p8"/>
          <p:cNvSpPr/>
          <p:nvPr/>
        </p:nvSpPr>
        <p:spPr>
          <a:xfrm>
            <a:off x="4663440" y="1005840"/>
            <a:ext cx="4160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100"/>
              <a:buFont typeface="Arial"/>
              <a:buNone/>
            </a:pPr>
            <a:r>
              <a:rPr b="1" i="0" lang="en-US" sz="1100" u="none" cap="none" strike="noStrike">
                <a:solidFill>
                  <a:srgbClr val="592C82"/>
                </a:solidFill>
                <a:latin typeface="Arial"/>
                <a:ea typeface="Arial"/>
                <a:cs typeface="Arial"/>
                <a:sym typeface="Arial"/>
              </a:rPr>
              <a:t>What has shifted in Year 2</a:t>
            </a:r>
            <a:endParaRPr b="0" i="0" sz="1100" u="none" cap="none" strike="noStrike">
              <a:solidFill>
                <a:schemeClr val="dk1"/>
              </a:solidFill>
              <a:latin typeface="Calibri"/>
              <a:ea typeface="Calibri"/>
              <a:cs typeface="Calibri"/>
              <a:sym typeface="Calibri"/>
            </a:endParaRPr>
          </a:p>
        </p:txBody>
      </p:sp>
      <p:sp>
        <p:nvSpPr>
          <p:cNvPr id="156" name="Google Shape;156;p8"/>
          <p:cNvSpPr/>
          <p:nvPr/>
        </p:nvSpPr>
        <p:spPr>
          <a:xfrm>
            <a:off x="4663440" y="1389888"/>
            <a:ext cx="4160520" cy="1508760"/>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4800600" y="1389888"/>
            <a:ext cx="3840480" cy="1508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Financial scams have evolved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Fake job offers now target people with short work histories — exactly where Year 2 students are. Here: fake remote editing gigs, ‘content moderator’ roles, and kit-for-review deals.</a:t>
            </a:r>
            <a:endParaRPr b="0" i="0" sz="1000" u="none" cap="none" strike="noStrike">
              <a:solidFill>
                <a:schemeClr val="dk1"/>
              </a:solidFill>
              <a:latin typeface="Calibri"/>
              <a:ea typeface="Calibri"/>
              <a:cs typeface="Calibri"/>
              <a:sym typeface="Calibri"/>
            </a:endParaRPr>
          </a:p>
        </p:txBody>
      </p:sp>
      <p:sp>
        <p:nvSpPr>
          <p:cNvPr id="158" name="Google Shape;158;p8"/>
          <p:cNvSpPr/>
          <p:nvPr/>
        </p:nvSpPr>
        <p:spPr>
          <a:xfrm>
            <a:off x="4663440" y="3081528"/>
            <a:ext cx="4160520" cy="1508760"/>
          </a:xfrm>
          <a:prstGeom prst="rect">
            <a:avLst/>
          </a:prstGeom>
          <a:solidFill>
            <a:srgbClr val="F3EEF9"/>
          </a:solidFill>
          <a:ln cap="flat" cmpd="sng" w="12700">
            <a:solidFill>
              <a:srgbClr val="D2DBDA"/>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4800600" y="3081528"/>
            <a:ext cx="3840480" cy="1508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AI and your professional identity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AI-generated content posted as your own is reputation risk as well as academic risk. Here: placement employers, commissioners and UCH Hastings admissions tutors are the people searching.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4" name="Shape 164"/>
        <p:cNvGrpSpPr/>
        <p:nvPr/>
      </p:nvGrpSpPr>
      <p:grpSpPr>
        <a:xfrm>
          <a:off x="0" y="0"/>
          <a:ext cx="0" cy="0"/>
          <a:chOff x="0" y="0"/>
          <a:chExt cx="0" cy="0"/>
        </a:xfrm>
      </p:grpSpPr>
      <p:sp>
        <p:nvSpPr>
          <p:cNvPr id="165" name="Google Shape;165;p9"/>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AI and Your Data — Year 2 Update</a:t>
            </a:r>
            <a:endParaRPr b="0" i="0" sz="1800" u="none" cap="none" strike="noStrike">
              <a:solidFill>
                <a:schemeClr val="dk1"/>
              </a:solidFill>
              <a:latin typeface="Calibri"/>
              <a:ea typeface="Calibri"/>
              <a:cs typeface="Calibri"/>
              <a:sym typeface="Calibri"/>
            </a:endParaRPr>
          </a:p>
        </p:txBody>
      </p:sp>
      <p:sp>
        <p:nvSpPr>
          <p:cNvPr id="167" name="Google Shape;167;p9"/>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169" name="Google Shape;169;p9"/>
          <p:cNvSpPr/>
          <p:nvPr/>
        </p:nvSpPr>
        <p:spPr>
          <a:xfrm>
            <a:off x="320040" y="713232"/>
            <a:ext cx="850392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850"/>
              <a:buFont typeface="Arial"/>
              <a:buNone/>
            </a:pPr>
            <a:r>
              <a:rPr b="0" i="1" lang="en-US" sz="850" u="none" cap="none" strike="noStrike">
                <a:solidFill>
                  <a:srgbClr val="5A6A6F"/>
                </a:solidFill>
                <a:latin typeface="Arial"/>
                <a:ea typeface="Arial"/>
                <a:cs typeface="Arial"/>
                <a:sym typeface="Arial"/>
              </a:rPr>
              <a:t>JCQ regulations + ESCG data safety policy — tighter scrutiny this year</a:t>
            </a:r>
            <a:endParaRPr b="0" i="0" sz="850" u="none" cap="none" strike="noStrike">
              <a:solidFill>
                <a:schemeClr val="dk1"/>
              </a:solidFill>
              <a:latin typeface="Calibri"/>
              <a:ea typeface="Calibri"/>
              <a:cs typeface="Calibri"/>
              <a:sym typeface="Calibri"/>
            </a:endParaRPr>
          </a:p>
        </p:txBody>
      </p:sp>
      <p:sp>
        <p:nvSpPr>
          <p:cNvPr id="170" name="Google Shape;170;p9"/>
          <p:cNvSpPr/>
          <p:nvPr/>
        </p:nvSpPr>
        <p:spPr>
          <a:xfrm>
            <a:off x="320040" y="987552"/>
            <a:ext cx="8503920" cy="7132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457200" y="987552"/>
            <a:ext cx="82296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AI detection is more sophisticated in Year 2. Awarding bodies are actively developing detection methods, and disqualifications are increasing. Your awarding bodies here are UAL, Pearson, EDUQAS and the Institute for Apprenticeships and Technical Education — the rules differ between them.</a:t>
            </a:r>
            <a:endParaRPr b="0" i="0" sz="1050" u="none" cap="none" strike="noStrike">
              <a:solidFill>
                <a:schemeClr val="dk1"/>
              </a:solidFill>
              <a:latin typeface="Calibri"/>
              <a:ea typeface="Calibri"/>
              <a:cs typeface="Calibri"/>
              <a:sym typeface="Calibri"/>
            </a:endParaRPr>
          </a:p>
        </p:txBody>
      </p:sp>
      <p:sp>
        <p:nvSpPr>
          <p:cNvPr id="172" name="Google Shape;172;p9"/>
          <p:cNvSpPr/>
          <p:nvPr/>
        </p:nvSpPr>
        <p:spPr>
          <a:xfrm>
            <a:off x="320040" y="1783080"/>
            <a:ext cx="4160520" cy="274320"/>
          </a:xfrm>
          <a:prstGeom prst="rect">
            <a:avLst/>
          </a:prstGeom>
          <a:solidFill>
            <a:srgbClr val="B23A2E"/>
          </a:solidFill>
          <a:ln cap="flat" cmpd="sng" w="1270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320040" y="1783080"/>
            <a:ext cx="4160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Do not</a:t>
            </a:r>
            <a:endParaRPr b="0" i="0" sz="950" u="none" cap="none" strike="noStrike">
              <a:solidFill>
                <a:schemeClr val="dk1"/>
              </a:solidFill>
              <a:latin typeface="Calibri"/>
              <a:ea typeface="Calibri"/>
              <a:cs typeface="Calibri"/>
              <a:sym typeface="Calibri"/>
            </a:endParaRPr>
          </a:p>
        </p:txBody>
      </p:sp>
      <p:sp>
        <p:nvSpPr>
          <p:cNvPr id="174" name="Google Shape;174;p9"/>
          <p:cNvSpPr/>
          <p:nvPr/>
        </p:nvSpPr>
        <p:spPr>
          <a:xfrm>
            <a:off x="320040" y="2121408"/>
            <a:ext cx="4160520" cy="658368"/>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57200" y="2121408"/>
            <a:ext cx="3886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Submit work for assessment that is not demonstrably your own — even partial AI use counts.</a:t>
            </a:r>
            <a:endParaRPr b="0" i="0" sz="950" u="none" cap="none" strike="noStrike">
              <a:solidFill>
                <a:schemeClr val="dk1"/>
              </a:solidFill>
              <a:latin typeface="Calibri"/>
              <a:ea typeface="Calibri"/>
              <a:cs typeface="Calibri"/>
              <a:sym typeface="Calibri"/>
            </a:endParaRPr>
          </a:p>
        </p:txBody>
      </p:sp>
      <p:sp>
        <p:nvSpPr>
          <p:cNvPr id="176" name="Google Shape;176;p9"/>
          <p:cNvSpPr/>
          <p:nvPr/>
        </p:nvSpPr>
        <p:spPr>
          <a:xfrm>
            <a:off x="320040" y="2871216"/>
            <a:ext cx="4160520" cy="658368"/>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457200" y="2871216"/>
            <a:ext cx="3886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Copy, paraphrase, or reproduce AI content without acknowledgement. Malpractice under JCQ regulations.</a:t>
            </a:r>
            <a:endParaRPr b="0" i="0" sz="950" u="none" cap="none" strike="noStrike">
              <a:solidFill>
                <a:schemeClr val="dk1"/>
              </a:solidFill>
              <a:latin typeface="Calibri"/>
              <a:ea typeface="Calibri"/>
              <a:cs typeface="Calibri"/>
              <a:sym typeface="Calibri"/>
            </a:endParaRPr>
          </a:p>
        </p:txBody>
      </p:sp>
      <p:sp>
        <p:nvSpPr>
          <p:cNvPr id="178" name="Google Shape;178;p9"/>
          <p:cNvSpPr/>
          <p:nvPr/>
        </p:nvSpPr>
        <p:spPr>
          <a:xfrm>
            <a:off x="320040" y="3621024"/>
            <a:ext cx="4160520" cy="658368"/>
          </a:xfrm>
          <a:prstGeom prst="rect">
            <a:avLst/>
          </a:prstGeom>
          <a:solidFill>
            <a:srgbClr val="F8E7E3"/>
          </a:solidFill>
          <a:ln cap="flat" cmpd="sng" w="9525">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457200" y="3621024"/>
            <a:ext cx="3886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  </a:t>
            </a:r>
            <a:r>
              <a:rPr b="0" i="0" lang="en-US" sz="950" u="none" cap="none" strike="noStrike">
                <a:solidFill>
                  <a:srgbClr val="1B2A30"/>
                </a:solidFill>
                <a:latin typeface="Arial"/>
                <a:ea typeface="Arial"/>
                <a:cs typeface="Arial"/>
                <a:sym typeface="Arial"/>
              </a:rPr>
              <a:t>Enter personal data, college information, or third-party details into public AI tools.</a:t>
            </a:r>
            <a:endParaRPr b="0" i="0" sz="950" u="none" cap="none" strike="noStrike">
              <a:solidFill>
                <a:schemeClr val="dk1"/>
              </a:solidFill>
              <a:latin typeface="Calibri"/>
              <a:ea typeface="Calibri"/>
              <a:cs typeface="Calibri"/>
              <a:sym typeface="Calibri"/>
            </a:endParaRPr>
          </a:p>
        </p:txBody>
      </p:sp>
      <p:sp>
        <p:nvSpPr>
          <p:cNvPr id="180" name="Google Shape;180;p9"/>
          <p:cNvSpPr/>
          <p:nvPr/>
        </p:nvSpPr>
        <p:spPr>
          <a:xfrm>
            <a:off x="4663440" y="1783080"/>
            <a:ext cx="4160520" cy="274320"/>
          </a:xfrm>
          <a:prstGeom prst="rect">
            <a:avLst/>
          </a:prstGeom>
          <a:solidFill>
            <a:srgbClr val="0F7A54"/>
          </a:solidFill>
          <a:ln cap="flat" cmpd="sng" w="12700">
            <a:solidFill>
              <a:srgbClr val="0F7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4663440" y="1783080"/>
            <a:ext cx="41605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Do</a:t>
            </a:r>
            <a:endParaRPr b="0" i="0" sz="950" u="none" cap="none" strike="noStrike">
              <a:solidFill>
                <a:schemeClr val="dk1"/>
              </a:solidFill>
              <a:latin typeface="Calibri"/>
              <a:ea typeface="Calibri"/>
              <a:cs typeface="Calibri"/>
              <a:sym typeface="Calibri"/>
            </a:endParaRPr>
          </a:p>
        </p:txBody>
      </p:sp>
      <p:sp>
        <p:nvSpPr>
          <p:cNvPr id="182" name="Google Shape;182;p9"/>
          <p:cNvSpPr/>
          <p:nvPr/>
        </p:nvSpPr>
        <p:spPr>
          <a:xfrm>
            <a:off x="4663440" y="2121408"/>
            <a:ext cx="4160520" cy="658368"/>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4800600" y="2121408"/>
            <a:ext cx="3886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Declare AI use precisely — </a:t>
            </a:r>
            <a:r>
              <a:rPr b="0" i="0" lang="en-US" sz="950" u="none" cap="none" strike="noStrike">
                <a:solidFill>
                  <a:srgbClr val="1B2A30"/>
                </a:solidFill>
                <a:latin typeface="Arial"/>
                <a:ea typeface="Arial"/>
                <a:cs typeface="Arial"/>
                <a:sym typeface="Arial"/>
              </a:rPr>
              <a:t>Name the tool, give the date, keep a screenshot, include it with the submission. Incomplete acknowledgement is itself malpractice.</a:t>
            </a:r>
            <a:endParaRPr b="0" i="0" sz="950" u="none" cap="none" strike="noStrike">
              <a:solidFill>
                <a:schemeClr val="dk1"/>
              </a:solidFill>
              <a:latin typeface="Calibri"/>
              <a:ea typeface="Calibri"/>
              <a:cs typeface="Calibri"/>
              <a:sym typeface="Calibri"/>
            </a:endParaRPr>
          </a:p>
        </p:txBody>
      </p:sp>
      <p:sp>
        <p:nvSpPr>
          <p:cNvPr id="184" name="Google Shape;184;p9"/>
          <p:cNvSpPr/>
          <p:nvPr/>
        </p:nvSpPr>
        <p:spPr>
          <a:xfrm>
            <a:off x="4663440" y="2871216"/>
            <a:ext cx="4160520" cy="658368"/>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4800600" y="2871216"/>
            <a:ext cx="3886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Build your own argument — </a:t>
            </a:r>
            <a:r>
              <a:rPr b="0" i="0" lang="en-US" sz="950" u="none" cap="none" strike="noStrike">
                <a:solidFill>
                  <a:srgbClr val="1B2A30"/>
                </a:solidFill>
                <a:latin typeface="Arial"/>
                <a:ea typeface="Arial"/>
                <a:cs typeface="Arial"/>
                <a:sym typeface="Arial"/>
              </a:rPr>
              <a:t>Here: AI gathering references is fine. The FMP rationale, the evaluation and the analysis have to be yours.</a:t>
            </a:r>
            <a:endParaRPr b="0" i="0" sz="950" u="none" cap="none" strike="noStrike">
              <a:solidFill>
                <a:schemeClr val="dk1"/>
              </a:solidFill>
              <a:latin typeface="Calibri"/>
              <a:ea typeface="Calibri"/>
              <a:cs typeface="Calibri"/>
              <a:sym typeface="Calibri"/>
            </a:endParaRPr>
          </a:p>
        </p:txBody>
      </p:sp>
      <p:sp>
        <p:nvSpPr>
          <p:cNvPr id="186" name="Google Shape;186;p9"/>
          <p:cNvSpPr/>
          <p:nvPr/>
        </p:nvSpPr>
        <p:spPr>
          <a:xfrm>
            <a:off x="4663440" y="3621024"/>
            <a:ext cx="4160520" cy="658368"/>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4800600" y="3621024"/>
            <a:ext cx="3886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Ask before you use — </a:t>
            </a:r>
            <a:r>
              <a:rPr b="0" i="0" lang="en-US" sz="950" u="none" cap="none" strike="noStrike">
                <a:solidFill>
                  <a:srgbClr val="1B2A30"/>
                </a:solidFill>
                <a:latin typeface="Arial"/>
                <a:ea typeface="Arial"/>
                <a:cs typeface="Arial"/>
                <a:sym typeface="Arial"/>
              </a:rPr>
              <a:t>Rules differ by assessment. The FMP and the Occupational Specialism Project are externally moderated; A Level Component 3 has its own declaration. They are not the same.</a:t>
            </a:r>
            <a:endParaRPr b="0" i="0" sz="950" u="none" cap="none" strike="noStrike">
              <a:solidFill>
                <a:schemeClr val="dk1"/>
              </a:solidFill>
              <a:latin typeface="Calibri"/>
              <a:ea typeface="Calibri"/>
              <a:cs typeface="Calibri"/>
              <a:sym typeface="Calibri"/>
            </a:endParaRPr>
          </a:p>
        </p:txBody>
      </p:sp>
      <p:sp>
        <p:nvSpPr>
          <p:cNvPr id="188" name="Google Shape;188;p9"/>
          <p:cNvSpPr/>
          <p:nvPr/>
        </p:nvSpPr>
        <p:spPr>
          <a:xfrm>
            <a:off x="320050" y="4434860"/>
            <a:ext cx="8503800" cy="7131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411480" y="4507992"/>
            <a:ext cx="8321040" cy="2011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23A2E"/>
              </a:buClr>
              <a:buSzPts val="900"/>
              <a:buFont typeface="Arial"/>
              <a:buNone/>
            </a:pPr>
            <a:r>
              <a:rPr b="1" i="0" lang="en-US" sz="900" u="none" cap="none" strike="noStrike">
                <a:solidFill>
                  <a:srgbClr val="B23A2E"/>
                </a:solidFill>
                <a:latin typeface="Arial"/>
                <a:ea typeface="Arial"/>
                <a:cs typeface="Arial"/>
                <a:sym typeface="Arial"/>
              </a:rPr>
              <a:t>⚑  ESCG TO CONFIRM: Local AI declaration process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0020"/>
              </a:buClr>
              <a:buSzPts val="500"/>
              <a:buFont typeface="Arial"/>
              <a:buNone/>
            </a:pPr>
            <a:r>
              <a:rPr b="0" i="1" lang="en-US" sz="500" u="none" cap="none" strike="noStrike">
                <a:solidFill>
                  <a:srgbClr val="B00020"/>
                </a:solidFill>
                <a:latin typeface="Arial"/>
                <a:ea typeface="Arial"/>
                <a:cs typeface="Arial"/>
                <a:sym typeface="Arial"/>
              </a:rPr>
              <a:t>[CONFIRM WITH YOUR HEAD OF CURRICULUM before delivery — the four lines below are the Year 2 Digital, Media &amp; Film version; the document names are the part that must be checked.]</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Declaration document — name the AI top sheet used this year and where students get it (FMP front sheet / specialism project cover sheet / Component 3 candidate record form).</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Scope — which Year 2 assessments it covers, and where the rules are tighter than Year 1. Externally moderated units may restrict AI entirely.</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Permitted use here — reference gathering, not outcomes; never the evaluation or the analysis.</a:t>
            </a:r>
            <a:br>
              <a:rPr b="0" i="1" lang="en-US" sz="500" u="none" cap="none" strike="noStrike">
                <a:solidFill>
                  <a:srgbClr val="B00020"/>
                </a:solidFill>
                <a:latin typeface="Arial"/>
                <a:ea typeface="Arial"/>
                <a:cs typeface="Arial"/>
                <a:sym typeface="Arial"/>
              </a:rPr>
            </a:br>
            <a:r>
              <a:rPr b="0" i="1" lang="en-US" sz="500" u="none" cap="none" strike="noStrike">
                <a:solidFill>
                  <a:srgbClr val="B00020"/>
                </a:solidFill>
                <a:latin typeface="Arial"/>
                <a:ea typeface="Arial"/>
                <a:cs typeface="Arial"/>
                <a:sym typeface="Arial"/>
              </a:rPr>
              <a:t>Responsibility — who checks declarations and what happens if one is missing. Do not assume Year 1 rules still hold.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4" name="Shape 194"/>
        <p:cNvGrpSpPr/>
        <p:nvPr/>
      </p:nvGrpSpPr>
      <p:grpSpPr>
        <a:xfrm>
          <a:off x="0" y="0"/>
          <a:ext cx="0" cy="0"/>
          <a:chOff x="0" y="0"/>
          <a:chExt cx="0" cy="0"/>
        </a:xfrm>
      </p:grpSpPr>
      <p:sp>
        <p:nvSpPr>
          <p:cNvPr id="195" name="Google Shape;195;p10"/>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How ESCG Keeps You Safe</a:t>
            </a:r>
            <a:endParaRPr b="0" i="0" sz="1800" u="none" cap="none" strike="noStrike">
              <a:solidFill>
                <a:schemeClr val="dk1"/>
              </a:solidFill>
              <a:latin typeface="Calibri"/>
              <a:ea typeface="Calibri"/>
              <a:cs typeface="Calibri"/>
              <a:sym typeface="Calibri"/>
            </a:endParaRPr>
          </a:p>
        </p:txBody>
      </p:sp>
      <p:sp>
        <p:nvSpPr>
          <p:cNvPr id="197" name="Google Shape;197;p10"/>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Same process — brief reminder. At college, and on industry placement.</a:t>
            </a:r>
            <a:endParaRPr b="0" i="0" sz="900" u="none" cap="none" strike="noStrike">
              <a:solidFill>
                <a:schemeClr val="dk1"/>
              </a:solidFill>
              <a:latin typeface="Calibri"/>
              <a:ea typeface="Calibri"/>
              <a:cs typeface="Calibri"/>
              <a:sym typeface="Calibri"/>
            </a:endParaRPr>
          </a:p>
        </p:txBody>
      </p:sp>
      <p:sp>
        <p:nvSpPr>
          <p:cNvPr id="198" name="Google Shape;198;p10"/>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200" name="Google Shape;200;p10"/>
          <p:cNvSpPr/>
          <p:nvPr/>
        </p:nvSpPr>
        <p:spPr>
          <a:xfrm>
            <a:off x="320040" y="923544"/>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320040" y="923544"/>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202" name="Google Shape;202;p10"/>
          <p:cNvSpPr/>
          <p:nvPr/>
        </p:nvSpPr>
        <p:spPr>
          <a:xfrm>
            <a:off x="1024128" y="868680"/>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Something is raised</a:t>
            </a:r>
            <a:endParaRPr b="0" i="0" sz="1150" u="none" cap="none" strike="noStrike">
              <a:solidFill>
                <a:schemeClr val="dk1"/>
              </a:solidFill>
              <a:latin typeface="Calibri"/>
              <a:ea typeface="Calibri"/>
              <a:cs typeface="Calibri"/>
              <a:sym typeface="Calibri"/>
            </a:endParaRPr>
          </a:p>
        </p:txBody>
      </p:sp>
      <p:sp>
        <p:nvSpPr>
          <p:cNvPr id="203" name="Google Shape;203;p10"/>
          <p:cNvSpPr/>
          <p:nvPr/>
        </p:nvSpPr>
        <p:spPr>
          <a:xfrm>
            <a:off x="1024128" y="1179576"/>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Student discloses, teacher notices, anonymous report — all routes valid. Here it is often the studio technician who has seen this group for two years.</a:t>
            </a:r>
            <a:endParaRPr b="0" i="0" sz="1000" u="none" cap="none" strike="noStrike">
              <a:solidFill>
                <a:schemeClr val="dk1"/>
              </a:solidFill>
              <a:latin typeface="Calibri"/>
              <a:ea typeface="Calibri"/>
              <a:cs typeface="Calibri"/>
              <a:sym typeface="Calibri"/>
            </a:endParaRPr>
          </a:p>
        </p:txBody>
      </p:sp>
      <p:cxnSp>
        <p:nvCxnSpPr>
          <p:cNvPr id="204" name="Google Shape;204;p10"/>
          <p:cNvCxnSpPr/>
          <p:nvPr/>
        </p:nvCxnSpPr>
        <p:spPr>
          <a:xfrm>
            <a:off x="603504" y="1490472"/>
            <a:ext cx="0" cy="365760"/>
          </a:xfrm>
          <a:prstGeom prst="straightConnector1">
            <a:avLst/>
          </a:prstGeom>
          <a:noFill/>
          <a:ln cap="flat" cmpd="sng" w="12700">
            <a:solidFill>
              <a:srgbClr val="D2DBDA"/>
            </a:solidFill>
            <a:prstDash val="dash"/>
            <a:round/>
            <a:headEnd len="sm" w="sm" type="none"/>
            <a:tailEnd len="sm" w="sm" type="none"/>
          </a:ln>
        </p:spPr>
      </p:cxnSp>
      <p:sp>
        <p:nvSpPr>
          <p:cNvPr id="205" name="Google Shape;205;p10"/>
          <p:cNvSpPr/>
          <p:nvPr/>
        </p:nvSpPr>
        <p:spPr>
          <a:xfrm>
            <a:off x="320040" y="1901952"/>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320040" y="190195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207" name="Google Shape;207;p10"/>
          <p:cNvSpPr/>
          <p:nvPr/>
        </p:nvSpPr>
        <p:spPr>
          <a:xfrm>
            <a:off x="1024128" y="1847088"/>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Right person told same-day</a:t>
            </a:r>
            <a:endParaRPr b="0" i="0" sz="1150" u="none" cap="none" strike="noStrike">
              <a:solidFill>
                <a:schemeClr val="dk1"/>
              </a:solidFill>
              <a:latin typeface="Calibri"/>
              <a:ea typeface="Calibri"/>
              <a:cs typeface="Calibri"/>
              <a:sym typeface="Calibri"/>
            </a:endParaRPr>
          </a:p>
        </p:txBody>
      </p:sp>
      <p:sp>
        <p:nvSpPr>
          <p:cNvPr id="208" name="Google Shape;208;p10"/>
          <p:cNvSpPr/>
          <p:nvPr/>
        </p:nvSpPr>
        <p:spPr>
          <a:xfrm>
            <a:off x="1024128" y="2157984"/>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Staff do not investigate themselves. Safeguarding Manager informed same-day. All logged on ProMonitor.</a:t>
            </a:r>
            <a:endParaRPr b="0" i="0" sz="1000" u="none" cap="none" strike="noStrike">
              <a:solidFill>
                <a:schemeClr val="dk1"/>
              </a:solidFill>
              <a:latin typeface="Calibri"/>
              <a:ea typeface="Calibri"/>
              <a:cs typeface="Calibri"/>
              <a:sym typeface="Calibri"/>
            </a:endParaRPr>
          </a:p>
        </p:txBody>
      </p:sp>
      <p:cxnSp>
        <p:nvCxnSpPr>
          <p:cNvPr id="209" name="Google Shape;209;p10"/>
          <p:cNvCxnSpPr/>
          <p:nvPr/>
        </p:nvCxnSpPr>
        <p:spPr>
          <a:xfrm>
            <a:off x="603504" y="2468880"/>
            <a:ext cx="0" cy="365760"/>
          </a:xfrm>
          <a:prstGeom prst="straightConnector1">
            <a:avLst/>
          </a:prstGeom>
          <a:noFill/>
          <a:ln cap="flat" cmpd="sng" w="12700">
            <a:solidFill>
              <a:srgbClr val="D2DBDA"/>
            </a:solidFill>
            <a:prstDash val="dash"/>
            <a:round/>
            <a:headEnd len="sm" w="sm" type="none"/>
            <a:tailEnd len="sm" w="sm" type="none"/>
          </a:ln>
        </p:spPr>
      </p:cxnSp>
      <p:sp>
        <p:nvSpPr>
          <p:cNvPr id="210" name="Google Shape;210;p10"/>
          <p:cNvSpPr/>
          <p:nvPr/>
        </p:nvSpPr>
        <p:spPr>
          <a:xfrm>
            <a:off x="320040" y="2880360"/>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320040" y="288036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212" name="Google Shape;212;p10"/>
          <p:cNvSpPr/>
          <p:nvPr/>
        </p:nvSpPr>
        <p:spPr>
          <a:xfrm>
            <a:off x="1024128" y="2825496"/>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Concern assessed</a:t>
            </a:r>
            <a:endParaRPr b="0" i="0" sz="1150" u="none" cap="none" strike="noStrike">
              <a:solidFill>
                <a:schemeClr val="dk1"/>
              </a:solidFill>
              <a:latin typeface="Calibri"/>
              <a:ea typeface="Calibri"/>
              <a:cs typeface="Calibri"/>
              <a:sym typeface="Calibri"/>
            </a:endParaRPr>
          </a:p>
        </p:txBody>
      </p:sp>
      <p:sp>
        <p:nvSpPr>
          <p:cNvPr id="213" name="Google Shape;213;p10"/>
          <p:cNvSpPr/>
          <p:nvPr/>
        </p:nvSpPr>
        <p:spPr>
          <a:xfrm>
            <a:off x="1024128" y="3136392"/>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Safeguarding Team decides the right response — wellbeing support through to external referral.</a:t>
            </a:r>
            <a:endParaRPr b="0" i="0" sz="1000" u="none" cap="none" strike="noStrike">
              <a:solidFill>
                <a:schemeClr val="dk1"/>
              </a:solidFill>
              <a:latin typeface="Calibri"/>
              <a:ea typeface="Calibri"/>
              <a:cs typeface="Calibri"/>
              <a:sym typeface="Calibri"/>
            </a:endParaRPr>
          </a:p>
        </p:txBody>
      </p:sp>
      <p:cxnSp>
        <p:nvCxnSpPr>
          <p:cNvPr id="214" name="Google Shape;214;p10"/>
          <p:cNvCxnSpPr/>
          <p:nvPr/>
        </p:nvCxnSpPr>
        <p:spPr>
          <a:xfrm>
            <a:off x="603504" y="3447288"/>
            <a:ext cx="0" cy="365760"/>
          </a:xfrm>
          <a:prstGeom prst="straightConnector1">
            <a:avLst/>
          </a:prstGeom>
          <a:noFill/>
          <a:ln cap="flat" cmpd="sng" w="12700">
            <a:solidFill>
              <a:srgbClr val="D2DBDA"/>
            </a:solidFill>
            <a:prstDash val="dash"/>
            <a:round/>
            <a:headEnd len="sm" w="sm" type="none"/>
            <a:tailEnd len="sm" w="sm" type="none"/>
          </a:ln>
        </p:spPr>
      </p:cxnSp>
      <p:sp>
        <p:nvSpPr>
          <p:cNvPr id="215" name="Google Shape;215;p10"/>
          <p:cNvSpPr/>
          <p:nvPr/>
        </p:nvSpPr>
        <p:spPr>
          <a:xfrm>
            <a:off x="320040" y="3858768"/>
            <a:ext cx="566928" cy="56692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320040" y="3858768"/>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217" name="Google Shape;217;p10"/>
          <p:cNvSpPr/>
          <p:nvPr/>
        </p:nvSpPr>
        <p:spPr>
          <a:xfrm>
            <a:off x="1024128" y="3803904"/>
            <a:ext cx="7772400" cy="329184"/>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1150"/>
              <a:buFont typeface="Arial"/>
              <a:buNone/>
            </a:pPr>
            <a:r>
              <a:rPr b="1" i="0" lang="en-US" sz="1150" u="none" cap="none" strike="noStrike">
                <a:solidFill>
                  <a:srgbClr val="592C82"/>
                </a:solidFill>
                <a:latin typeface="Arial"/>
                <a:ea typeface="Arial"/>
                <a:cs typeface="Arial"/>
                <a:sym typeface="Arial"/>
              </a:rPr>
              <a:t>Confidentiality — same limits</a:t>
            </a:r>
            <a:endParaRPr b="0" i="0" sz="1150" u="none" cap="none" strike="noStrike">
              <a:solidFill>
                <a:schemeClr val="dk1"/>
              </a:solidFill>
              <a:latin typeface="Calibri"/>
              <a:ea typeface="Calibri"/>
              <a:cs typeface="Calibri"/>
              <a:sym typeface="Calibri"/>
            </a:endParaRPr>
          </a:p>
        </p:txBody>
      </p:sp>
      <p:sp>
        <p:nvSpPr>
          <p:cNvPr id="218" name="Google Shape;218;p10"/>
          <p:cNvSpPr/>
          <p:nvPr/>
        </p:nvSpPr>
        <p:spPr>
          <a:xfrm>
            <a:off x="1024128" y="4114800"/>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Staff will not share unnecessarily. But if there is a risk of harm they have a duty to act — and they will tell you what they are doing and why. The same limit applies in media work: a source's confidence does not cover a risk of harm.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23" name="Shape 223"/>
        <p:cNvGrpSpPr/>
        <p:nvPr/>
      </p:nvGrpSpPr>
      <p:grpSpPr>
        <a:xfrm>
          <a:off x="0" y="0"/>
          <a:ext cx="0" cy="0"/>
          <a:chOff x="0" y="0"/>
          <a:chExt cx="0" cy="0"/>
        </a:xfrm>
      </p:grpSpPr>
      <p:sp>
        <p:nvSpPr>
          <p:cNvPr id="224" name="Google Shape;224;p11"/>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The Safeguarding Team</a:t>
            </a:r>
            <a:endParaRPr b="0" i="0" sz="1800" u="none" cap="none" strike="noStrike">
              <a:solidFill>
                <a:schemeClr val="dk1"/>
              </a:solidFill>
              <a:latin typeface="Calibri"/>
              <a:ea typeface="Calibri"/>
              <a:cs typeface="Calibri"/>
              <a:sym typeface="Calibri"/>
            </a:endParaRPr>
          </a:p>
        </p:txBody>
      </p:sp>
      <p:sp>
        <p:nvSpPr>
          <p:cNvPr id="226" name="Google Shape;226;p11"/>
          <p:cNvSpPr/>
          <p:nvPr/>
        </p:nvSpPr>
        <p:spPr>
          <a:xfrm>
            <a:off x="7406640" y="164592"/>
            <a:ext cx="1554480" cy="256032"/>
          </a:xfrm>
          <a:prstGeom prst="rect">
            <a:avLst/>
          </a:prstGeom>
          <a:solidFill>
            <a:srgbClr val="5A6A6F"/>
          </a:solidFill>
          <a:ln cap="flat" cmpd="sng" w="12700">
            <a:solidFill>
              <a:srgbClr val="5A6A6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SESSION MAP</a:t>
            </a:r>
            <a:endParaRPr b="0" i="0" sz="700" u="none" cap="none" strike="noStrike">
              <a:solidFill>
                <a:schemeClr val="dk1"/>
              </a:solidFill>
              <a:latin typeface="Calibri"/>
              <a:ea typeface="Calibri"/>
              <a:cs typeface="Calibri"/>
              <a:sym typeface="Calibri"/>
            </a:endParaRPr>
          </a:p>
        </p:txBody>
      </p:sp>
      <p:sp>
        <p:nvSpPr>
          <p:cNvPr id="228" name="Google Shape;228;p11"/>
          <p:cNvSpPr/>
          <p:nvPr/>
        </p:nvSpPr>
        <p:spPr>
          <a:xfrm>
            <a:off x="320040" y="804672"/>
            <a:ext cx="8503920" cy="384048"/>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457200" y="804672"/>
            <a:ext cx="8229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DSL: Rebecca Conroy (Principal &amp; CEO)   |   Deputy DSL: Fenella Potterton (Assistant Principal Student Experience)</a:t>
            </a:r>
            <a:endParaRPr b="0" i="0" sz="950" u="none" cap="none" strike="noStrike">
              <a:solidFill>
                <a:schemeClr val="dk1"/>
              </a:solidFill>
              <a:latin typeface="Calibri"/>
              <a:ea typeface="Calibri"/>
              <a:cs typeface="Calibri"/>
              <a:sym typeface="Calibri"/>
            </a:endParaRPr>
          </a:p>
        </p:txBody>
      </p:sp>
      <p:sp>
        <p:nvSpPr>
          <p:cNvPr id="230" name="Google Shape;230;p11"/>
          <p:cNvSpPr/>
          <p:nvPr/>
        </p:nvSpPr>
        <p:spPr>
          <a:xfrm>
            <a:off x="320040" y="1325880"/>
            <a:ext cx="3931920" cy="1645920"/>
          </a:xfrm>
          <a:prstGeom prst="rect">
            <a:avLst/>
          </a:prstGeom>
          <a:solidFill>
            <a:srgbClr val="F3EEF9"/>
          </a:solidFill>
          <a:ln cap="flat" cmpd="sng" w="19050">
            <a:solidFill>
              <a:srgbClr val="592C82"/>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475488" y="1444752"/>
            <a:ext cx="475488" cy="475488"/>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2" name="Google Shape;232;p11"/>
          <p:cNvPicPr preferRelativeResize="0"/>
          <p:nvPr/>
        </p:nvPicPr>
        <p:blipFill rotWithShape="1">
          <a:blip r:embed="rId3">
            <a:alphaModFix/>
          </a:blip>
          <a:srcRect b="0" l="0" r="0" t="0"/>
          <a:stretch/>
        </p:blipFill>
        <p:spPr>
          <a:xfrm>
            <a:off x="530352" y="1481328"/>
            <a:ext cx="365760" cy="365760"/>
          </a:xfrm>
          <a:prstGeom prst="rect">
            <a:avLst/>
          </a:prstGeom>
          <a:noFill/>
          <a:ln>
            <a:noFill/>
          </a:ln>
        </p:spPr>
      </p:pic>
      <p:sp>
        <p:nvSpPr>
          <p:cNvPr id="233" name="Google Shape;233;p11"/>
          <p:cNvSpPr/>
          <p:nvPr/>
        </p:nvSpPr>
        <p:spPr>
          <a:xfrm>
            <a:off x="1051560" y="1325880"/>
            <a:ext cx="3063240" cy="4572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Safeguarding Manager — Hastings</a:t>
            </a:r>
            <a:endParaRPr b="0" i="0" sz="950" u="none" cap="none" strike="noStrike">
              <a:solidFill>
                <a:schemeClr val="dk1"/>
              </a:solidFill>
              <a:latin typeface="Calibri"/>
              <a:ea typeface="Calibri"/>
              <a:cs typeface="Calibri"/>
              <a:sym typeface="Calibri"/>
            </a:endParaRPr>
          </a:p>
        </p:txBody>
      </p:sp>
      <p:sp>
        <p:nvSpPr>
          <p:cNvPr id="234" name="Google Shape;234;p11"/>
          <p:cNvSpPr/>
          <p:nvPr/>
        </p:nvSpPr>
        <p:spPr>
          <a:xfrm>
            <a:off x="475488" y="1792224"/>
            <a:ext cx="363931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Arial"/>
              <a:buNone/>
            </a:pPr>
            <a:r>
              <a:rPr b="1" i="0" lang="en-US" sz="1500" u="none" cap="none" strike="noStrike">
                <a:solidFill>
                  <a:srgbClr val="0D2434"/>
                </a:solidFill>
                <a:latin typeface="Arial"/>
                <a:ea typeface="Arial"/>
                <a:cs typeface="Arial"/>
                <a:sym typeface="Arial"/>
              </a:rPr>
              <a:t>Lydia Leonard</a:t>
            </a:r>
            <a:endParaRPr b="0" i="0" sz="1500" u="none" cap="none" strike="noStrike">
              <a:solidFill>
                <a:schemeClr val="dk1"/>
              </a:solidFill>
              <a:latin typeface="Calibri"/>
              <a:ea typeface="Calibri"/>
              <a:cs typeface="Calibri"/>
              <a:sym typeface="Calibri"/>
            </a:endParaRPr>
          </a:p>
        </p:txBody>
      </p:sp>
      <p:sp>
        <p:nvSpPr>
          <p:cNvPr id="235" name="Google Shape;235;p11"/>
          <p:cNvSpPr/>
          <p:nvPr/>
        </p:nvSpPr>
        <p:spPr>
          <a:xfrm>
            <a:off x="475488" y="2121408"/>
            <a:ext cx="3639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  07848 442081</a:t>
            </a:r>
            <a:endParaRPr b="0" i="0" sz="1050" u="none" cap="none" strike="noStrike">
              <a:solidFill>
                <a:schemeClr val="dk1"/>
              </a:solidFill>
              <a:latin typeface="Calibri"/>
              <a:ea typeface="Calibri"/>
              <a:cs typeface="Calibri"/>
              <a:sym typeface="Calibri"/>
            </a:endParaRPr>
          </a:p>
        </p:txBody>
      </p:sp>
      <p:sp>
        <p:nvSpPr>
          <p:cNvPr id="236" name="Google Shape;236;p11"/>
          <p:cNvSpPr/>
          <p:nvPr/>
        </p:nvSpPr>
        <p:spPr>
          <a:xfrm>
            <a:off x="475488" y="2395728"/>
            <a:ext cx="3639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00"/>
              <a:buFont typeface="Arial"/>
              <a:buNone/>
            </a:pPr>
            <a:r>
              <a:rPr b="0" i="0" lang="en-US" sz="1000" u="none" cap="none" strike="noStrike">
                <a:solidFill>
                  <a:srgbClr val="1B2A30"/>
                </a:solidFill>
                <a:latin typeface="Arial"/>
                <a:ea typeface="Arial"/>
                <a:cs typeface="Arial"/>
                <a:sym typeface="Arial"/>
              </a:rPr>
              <a:t>✉  lydia.leonard@escg.ac.uk</a:t>
            </a:r>
            <a:endParaRPr b="0" i="0" sz="1000" u="none" cap="none" strike="noStrike">
              <a:solidFill>
                <a:schemeClr val="dk1"/>
              </a:solidFill>
              <a:latin typeface="Calibri"/>
              <a:ea typeface="Calibri"/>
              <a:cs typeface="Calibri"/>
              <a:sym typeface="Calibri"/>
            </a:endParaRPr>
          </a:p>
        </p:txBody>
      </p:sp>
      <p:sp>
        <p:nvSpPr>
          <p:cNvPr id="237" name="Google Shape;237;p11"/>
          <p:cNvSpPr/>
          <p:nvPr/>
        </p:nvSpPr>
        <p:spPr>
          <a:xfrm>
            <a:off x="475488" y="2670048"/>
            <a:ext cx="3639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Arial"/>
              <a:buNone/>
            </a:pPr>
            <a:r>
              <a:rPr b="0" i="1" lang="en-US" sz="850" u="none" cap="none" strike="noStrike">
                <a:solidFill>
                  <a:srgbClr val="5A6A6F"/>
                </a:solidFill>
                <a:latin typeface="Arial"/>
                <a:ea typeface="Arial"/>
                <a:cs typeface="Arial"/>
                <a:sym typeface="Arial"/>
              </a:rPr>
              <a:t>Same number as Year 1 — still on your lanyard</a:t>
            </a:r>
            <a:endParaRPr b="0" i="0" sz="850" u="none" cap="none" strike="noStrike">
              <a:solidFill>
                <a:schemeClr val="dk1"/>
              </a:solidFill>
              <a:latin typeface="Calibri"/>
              <a:ea typeface="Calibri"/>
              <a:cs typeface="Calibri"/>
              <a:sym typeface="Calibri"/>
            </a:endParaRPr>
          </a:p>
        </p:txBody>
      </p:sp>
      <p:sp>
        <p:nvSpPr>
          <p:cNvPr id="238" name="Google Shape;238;p11"/>
          <p:cNvSpPr/>
          <p:nvPr/>
        </p:nvSpPr>
        <p:spPr>
          <a:xfrm>
            <a:off x="4389120" y="1325880"/>
            <a:ext cx="4434840" cy="164592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4480560" y="1399032"/>
            <a:ext cx="4251960" cy="1499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23A2E"/>
              </a:buClr>
              <a:buSzPts val="900"/>
              <a:buFont typeface="Arial"/>
              <a:buNone/>
            </a:pPr>
            <a:r>
              <a:rPr b="1" i="0" lang="en-US" sz="900" u="none" cap="none" strike="noStrike">
                <a:solidFill>
                  <a:srgbClr val="B23A2E"/>
                </a:solidFill>
                <a:latin typeface="Arial"/>
                <a:ea typeface="Arial"/>
                <a:cs typeface="Arial"/>
                <a:sym typeface="Arial"/>
              </a:rPr>
              <a:t>⚑  ESCG TO CONFIRM: Other campus contacts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50"/>
              <a:buFont typeface="Arial"/>
              <a:buNone/>
            </a:pPr>
            <a:r>
              <a:rPr b="0" i="0" lang="en-US" sz="850" u="none" cap="none" strike="noStrike">
                <a:solidFill>
                  <a:srgbClr val="B23A2E"/>
                </a:solidFill>
                <a:latin typeface="Arial"/>
                <a:ea typeface="Arial"/>
                <a:cs typeface="Arial"/>
                <a:sym typeface="Arial"/>
              </a:rPr>
              <a:t>Eastbourne: Helen Ding 07980 049312.  Lewes/Newhaven: Julia Proven 07823 668772.</a:t>
            </a:r>
            <a:br>
              <a:rPr b="0" i="1" lang="en-US" sz="600" u="none" cap="none" strike="noStrike">
                <a:solidFill>
                  <a:srgbClr val="B00020"/>
                </a:solidFill>
                <a:latin typeface="Arial"/>
                <a:ea typeface="Arial"/>
                <a:cs typeface="Arial"/>
                <a:sym typeface="Arial"/>
              </a:rPr>
            </a:br>
            <a:r>
              <a:rPr b="0" i="1" lang="en-US" sz="600" u="none" cap="none" strike="noStrike">
                <a:solidFill>
                  <a:srgbClr val="B00020"/>
                </a:solidFill>
                <a:latin typeface="Arial"/>
                <a:ea typeface="Arial"/>
                <a:cs typeface="Arial"/>
                <a:sym typeface="Arial"/>
              </a:rPr>
              <a:t>[This portfolio runs at Hastings (Ore), Station Plaza, Eastbourne and Lewes — keep only the row for the campus you are delivering on.]</a:t>
            </a:r>
            <a:br>
              <a:rPr b="0" i="1" lang="en-US" sz="600" u="none" cap="none" strike="noStrike">
                <a:solidFill>
                  <a:srgbClr val="B00020"/>
                </a:solidFill>
                <a:latin typeface="Arial"/>
                <a:ea typeface="Arial"/>
                <a:cs typeface="Arial"/>
                <a:sym typeface="Arial"/>
              </a:rPr>
            </a:br>
            <a:r>
              <a:rPr b="0" i="1" lang="en-US" sz="600" u="none" cap="none" strike="noStrike">
                <a:solidFill>
                  <a:srgbClr val="B00020"/>
                </a:solidFill>
                <a:latin typeface="Arial"/>
                <a:ea typeface="Arial"/>
                <a:cs typeface="Arial"/>
                <a:sym typeface="Arial"/>
              </a:rPr>
              <a:t>[Confirm the number is current. Returners will assume Year 1 information still holds — this is the one slide that must be right.]</a:t>
            </a:r>
            <a:endParaRPr b="0" i="0" sz="900" u="none" cap="none" strike="noStrike">
              <a:solidFill>
                <a:schemeClr val="dk1"/>
              </a:solidFill>
              <a:latin typeface="Calibri"/>
              <a:ea typeface="Calibri"/>
              <a:cs typeface="Calibri"/>
              <a:sym typeface="Calibri"/>
            </a:endParaRPr>
          </a:p>
        </p:txBody>
      </p:sp>
      <p:sp>
        <p:nvSpPr>
          <p:cNvPr id="240" name="Google Shape;240;p11"/>
          <p:cNvSpPr/>
          <p:nvPr/>
        </p:nvSpPr>
        <p:spPr>
          <a:xfrm>
            <a:off x="320040" y="3090672"/>
            <a:ext cx="8503920" cy="594360"/>
          </a:xfrm>
          <a:prstGeom prst="rect">
            <a:avLst/>
          </a:prstGeom>
          <a:solidFill>
            <a:srgbClr val="F3EEF9"/>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57200" y="309067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000"/>
              <a:buFont typeface="Arial"/>
              <a:buNone/>
            </a:pPr>
            <a:r>
              <a:rPr b="1" i="0" lang="en-US" sz="1000" u="none" cap="none" strike="noStrike">
                <a:solidFill>
                  <a:srgbClr val="592C82"/>
                </a:solidFill>
                <a:latin typeface="Arial"/>
                <a:ea typeface="Arial"/>
                <a:cs typeface="Arial"/>
                <a:sym typeface="Arial"/>
              </a:rPr>
              <a:t>Personal Development &amp; Wellbeing Team  </a:t>
            </a:r>
            <a:r>
              <a:rPr b="0" i="0" lang="en-US" sz="1000" u="none" cap="none" strike="noStrike">
                <a:solidFill>
                  <a:srgbClr val="1B2A30"/>
                </a:solidFill>
                <a:latin typeface="Arial"/>
                <a:ea typeface="Arial"/>
                <a:cs typeface="Arial"/>
                <a:sym typeface="Arial"/>
              </a:rPr>
              <a:t>— still available, same routes. Year 2 students use this less. They shouldn't. Relationship breakdown, financial stress, academic pressure — all within scope. Self-refer any time.</a:t>
            </a:r>
            <a:r>
              <a:rPr b="0" i="1" lang="en-US" sz="650" u="none" cap="none" strike="noStrike">
                <a:solidFill>
                  <a:srgbClr val="B00020"/>
                </a:solidFill>
                <a:latin typeface="Arial"/>
                <a:ea typeface="Arial"/>
                <a:cs typeface="Arial"/>
                <a:sym typeface="Arial"/>
              </a:rPr>
              <a:t>[CONFIRM: name the Wellbeing tutor for Digital, Media &amp; Computing, their room and drop-in day. Returners will not go looking — hand them the route.]</a:t>
            </a:r>
            <a:endParaRPr b="0" i="0" sz="1000" u="none" cap="none" strike="noStrike">
              <a:solidFill>
                <a:schemeClr val="dk1"/>
              </a:solidFill>
              <a:latin typeface="Calibri"/>
              <a:ea typeface="Calibri"/>
              <a:cs typeface="Calibri"/>
              <a:sym typeface="Calibri"/>
            </a:endParaRPr>
          </a:p>
        </p:txBody>
      </p:sp>
      <p:sp>
        <p:nvSpPr>
          <p:cNvPr id="242" name="Google Shape;242;p11"/>
          <p:cNvSpPr/>
          <p:nvPr/>
        </p:nvSpPr>
        <p:spPr>
          <a:xfrm>
            <a:off x="320040" y="3767328"/>
            <a:ext cx="8503920" cy="384048"/>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457200" y="3767328"/>
            <a:ext cx="8229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000"/>
              <a:buFont typeface="Arial"/>
              <a:buNone/>
            </a:pPr>
            <a:r>
              <a:rPr b="1" i="0" lang="en-US" sz="1000" u="none" cap="none" strike="noStrike">
                <a:solidFill>
                  <a:srgbClr val="FFCF01"/>
                </a:solidFill>
                <a:latin typeface="Arial"/>
                <a:ea typeface="Arial"/>
                <a:cs typeface="Arial"/>
                <a:sym typeface="Arial"/>
              </a:rPr>
              <a:t>24-hour support: escg.ac.uk/support/safeguarding</a:t>
            </a:r>
            <a:endParaRPr b="0" i="0" sz="1000" u="none" cap="none" strike="noStrike">
              <a:solidFill>
                <a:schemeClr val="dk1"/>
              </a:solidFill>
              <a:latin typeface="Calibri"/>
              <a:ea typeface="Calibri"/>
              <a:cs typeface="Calibri"/>
              <a:sym typeface="Calibri"/>
            </a:endParaRPr>
          </a:p>
        </p:txBody>
      </p:sp>
      <p:sp>
        <p:nvSpPr>
          <p:cNvPr id="244" name="Google Shape;244;p11"/>
          <p:cNvSpPr/>
          <p:nvPr/>
        </p:nvSpPr>
        <p:spPr>
          <a:xfrm>
            <a:off x="320040" y="4233672"/>
            <a:ext cx="8503920" cy="50292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411480" y="4306824"/>
            <a:ext cx="8321040" cy="356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23A2E"/>
              </a:buClr>
              <a:buSzPts val="900"/>
              <a:buFont typeface="Arial"/>
              <a:buNone/>
            </a:pPr>
            <a:r>
              <a:rPr b="1" i="0" lang="en-US" sz="900" u="none" cap="none" strike="noStrike">
                <a:solidFill>
                  <a:srgbClr val="B23A2E"/>
                </a:solidFill>
                <a:latin typeface="Arial"/>
                <a:ea typeface="Arial"/>
                <a:cs typeface="Arial"/>
                <a:sym typeface="Arial"/>
              </a:rPr>
              <a:t>⚑  ESCG TO CONFIRM: Campus Support Officers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0020"/>
              </a:buClr>
              <a:buSzPts val="600"/>
              <a:buFont typeface="Arial"/>
              <a:buNone/>
            </a:pPr>
            <a:r>
              <a:rPr b="0" i="1" lang="en-US" sz="600" u="none" cap="none" strike="noStrike">
                <a:solidFill>
                  <a:srgbClr val="B00020"/>
                </a:solidFill>
                <a:latin typeface="Arial"/>
                <a:ea typeface="Arial"/>
                <a:cs typeface="Arial"/>
                <a:sym typeface="Arial"/>
              </a:rPr>
              <a:t>[Add the Campus Support Officer names for your campus and where this group sees them. Delete this panel if you are not sharing CSO names with this group.]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0" name="Shape 250"/>
        <p:cNvGrpSpPr/>
        <p:nvPr/>
      </p:nvGrpSpPr>
      <p:grpSpPr>
        <a:xfrm>
          <a:off x="0" y="0"/>
          <a:ext cx="0" cy="0"/>
          <a:chOff x="0" y="0"/>
          <a:chExt cx="0" cy="0"/>
        </a:xfrm>
      </p:grpSpPr>
      <p:sp>
        <p:nvSpPr>
          <p:cNvPr id="251" name="Google Shape;251;p12"/>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Reporting a Concern</a:t>
            </a:r>
            <a:endParaRPr b="0" i="0" sz="1800" u="none" cap="none" strike="noStrike">
              <a:solidFill>
                <a:schemeClr val="dk1"/>
              </a:solidFill>
              <a:latin typeface="Calibri"/>
              <a:ea typeface="Calibri"/>
              <a:cs typeface="Calibri"/>
              <a:sym typeface="Calibri"/>
            </a:endParaRPr>
          </a:p>
        </p:txBody>
      </p:sp>
      <p:sp>
        <p:nvSpPr>
          <p:cNvPr id="253" name="Google Shape;253;p12"/>
          <p:cNvSpPr/>
          <p:nvPr/>
        </p:nvSpPr>
        <p:spPr>
          <a:xfrm>
            <a:off x="320040" y="658368"/>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About yourself — or about someone else. At college, on a shoot, and on placement.</a:t>
            </a:r>
            <a:endParaRPr b="0" i="0" sz="900" u="none" cap="none" strike="noStrike">
              <a:solidFill>
                <a:schemeClr val="dk1"/>
              </a:solidFill>
              <a:latin typeface="Calibri"/>
              <a:ea typeface="Calibri"/>
              <a:cs typeface="Calibri"/>
              <a:sym typeface="Calibri"/>
            </a:endParaRPr>
          </a:p>
        </p:txBody>
      </p:sp>
      <p:sp>
        <p:nvSpPr>
          <p:cNvPr id="254" name="Google Shape;254;p12"/>
          <p:cNvSpPr/>
          <p:nvPr/>
        </p:nvSpPr>
        <p:spPr>
          <a:xfrm>
            <a:off x="7406640" y="164592"/>
            <a:ext cx="1554480" cy="256032"/>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i="0" lang="en-US" sz="700" u="none" cap="none" strike="noStrike">
                <a:solidFill>
                  <a:srgbClr val="FFFFFF"/>
                </a:solidFill>
                <a:latin typeface="Arial"/>
                <a:ea typeface="Arial"/>
                <a:cs typeface="Arial"/>
                <a:sym typeface="Arial"/>
              </a:rPr>
              <a:t>TEACHER INPUT</a:t>
            </a:r>
            <a:endParaRPr b="0" i="0" sz="700" u="none" cap="none" strike="noStrike">
              <a:solidFill>
                <a:schemeClr val="dk1"/>
              </a:solidFill>
              <a:latin typeface="Calibri"/>
              <a:ea typeface="Calibri"/>
              <a:cs typeface="Calibri"/>
              <a:sym typeface="Calibri"/>
            </a:endParaRPr>
          </a:p>
        </p:txBody>
      </p:sp>
      <p:sp>
        <p:nvSpPr>
          <p:cNvPr id="256" name="Google Shape;256;p12"/>
          <p:cNvSpPr/>
          <p:nvPr/>
        </p:nvSpPr>
        <p:spPr>
          <a:xfrm>
            <a:off x="320040" y="804672"/>
            <a:ext cx="4114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If you are worried about yourself</a:t>
            </a:r>
            <a:endParaRPr b="0" i="0" sz="1200" u="none" cap="none" strike="noStrike">
              <a:solidFill>
                <a:schemeClr val="dk1"/>
              </a:solidFill>
              <a:latin typeface="Calibri"/>
              <a:ea typeface="Calibri"/>
              <a:cs typeface="Calibri"/>
              <a:sym typeface="Calibri"/>
            </a:endParaRPr>
          </a:p>
        </p:txBody>
      </p:sp>
      <p:sp>
        <p:nvSpPr>
          <p:cNvPr id="257" name="Google Shape;257;p12"/>
          <p:cNvSpPr/>
          <p:nvPr/>
        </p:nvSpPr>
        <p:spPr>
          <a:xfrm>
            <a:off x="320040" y="122529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594360" y="1170432"/>
            <a:ext cx="3794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Any member of staff you trust — same as Year 1. Your course tutor, the studio technician, or whoever coordinates your placement.</a:t>
            </a:r>
            <a:endParaRPr b="0" i="0" sz="1050" u="none" cap="none" strike="noStrike">
              <a:solidFill>
                <a:schemeClr val="dk1"/>
              </a:solidFill>
              <a:latin typeface="Calibri"/>
              <a:ea typeface="Calibri"/>
              <a:cs typeface="Calibri"/>
              <a:sym typeface="Calibri"/>
            </a:endParaRPr>
          </a:p>
        </p:txBody>
      </p:sp>
      <p:sp>
        <p:nvSpPr>
          <p:cNvPr id="259" name="Google Shape;259;p12"/>
          <p:cNvSpPr/>
          <p:nvPr/>
        </p:nvSpPr>
        <p:spPr>
          <a:xfrm>
            <a:off x="320040" y="181965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594360" y="1764792"/>
            <a:ext cx="3794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Lydia Leonard directly (Hastings) — 07848 442081.</a:t>
            </a:r>
            <a:endParaRPr b="0" i="0" sz="1050" u="none" cap="none" strike="noStrike">
              <a:solidFill>
                <a:schemeClr val="dk1"/>
              </a:solidFill>
              <a:latin typeface="Calibri"/>
              <a:ea typeface="Calibri"/>
              <a:cs typeface="Calibri"/>
              <a:sym typeface="Calibri"/>
            </a:endParaRPr>
          </a:p>
        </p:txBody>
      </p:sp>
      <p:sp>
        <p:nvSpPr>
          <p:cNvPr id="261" name="Google Shape;261;p12"/>
          <p:cNvSpPr/>
          <p:nvPr/>
        </p:nvSpPr>
        <p:spPr>
          <a:xfrm>
            <a:off x="320040" y="241401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594360" y="2359152"/>
            <a:ext cx="3794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The Wellbeing Team — self-refer, no appointment needed.</a:t>
            </a:r>
            <a:endParaRPr b="0" i="0" sz="1050" u="none" cap="none" strike="noStrike">
              <a:solidFill>
                <a:schemeClr val="dk1"/>
              </a:solidFill>
              <a:latin typeface="Calibri"/>
              <a:ea typeface="Calibri"/>
              <a:cs typeface="Calibri"/>
              <a:sym typeface="Calibri"/>
            </a:endParaRPr>
          </a:p>
        </p:txBody>
      </p:sp>
      <p:sp>
        <p:nvSpPr>
          <p:cNvPr id="263" name="Google Shape;263;p12"/>
          <p:cNvSpPr/>
          <p:nvPr/>
        </p:nvSpPr>
        <p:spPr>
          <a:xfrm>
            <a:off x="320040" y="300837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594360" y="2953512"/>
            <a:ext cx="3794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Anonymously via escg.ac.uk/support/safeguarding.</a:t>
            </a:r>
            <a:endParaRPr b="0" i="0" sz="1050" u="none" cap="none" strike="noStrike">
              <a:solidFill>
                <a:schemeClr val="dk1"/>
              </a:solidFill>
              <a:latin typeface="Calibri"/>
              <a:ea typeface="Calibri"/>
              <a:cs typeface="Calibri"/>
              <a:sym typeface="Calibri"/>
            </a:endParaRPr>
          </a:p>
        </p:txBody>
      </p:sp>
      <p:cxnSp>
        <p:nvCxnSpPr>
          <p:cNvPr id="265" name="Google Shape;265;p12"/>
          <p:cNvCxnSpPr/>
          <p:nvPr/>
        </p:nvCxnSpPr>
        <p:spPr>
          <a:xfrm>
            <a:off x="4526280" y="758952"/>
            <a:ext cx="0" cy="4114800"/>
          </a:xfrm>
          <a:prstGeom prst="straightConnector1">
            <a:avLst/>
          </a:prstGeom>
          <a:noFill/>
          <a:ln cap="flat" cmpd="sng" w="12700">
            <a:solidFill>
              <a:srgbClr val="D2DBDA"/>
            </a:solidFill>
            <a:prstDash val="solid"/>
            <a:round/>
            <a:headEnd len="sm" w="sm" type="none"/>
            <a:tailEnd len="sm" w="sm" type="none"/>
          </a:ln>
        </p:spPr>
      </p:cxnSp>
      <p:sp>
        <p:nvSpPr>
          <p:cNvPr id="266" name="Google Shape;266;p12"/>
          <p:cNvSpPr/>
          <p:nvPr/>
        </p:nvSpPr>
        <p:spPr>
          <a:xfrm>
            <a:off x="4663440" y="804672"/>
            <a:ext cx="4160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200"/>
              <a:buFont typeface="Arial"/>
              <a:buNone/>
            </a:pPr>
            <a:r>
              <a:rPr b="1" i="0" lang="en-US" sz="1200" u="none" cap="none" strike="noStrike">
                <a:solidFill>
                  <a:srgbClr val="592C82"/>
                </a:solidFill>
                <a:latin typeface="Arial"/>
                <a:ea typeface="Arial"/>
                <a:cs typeface="Arial"/>
                <a:sym typeface="Arial"/>
              </a:rPr>
              <a:t>If you are worried about someone else</a:t>
            </a:r>
            <a:endParaRPr b="0" i="0" sz="1200" u="none" cap="none" strike="noStrike">
              <a:solidFill>
                <a:schemeClr val="dk1"/>
              </a:solidFill>
              <a:latin typeface="Calibri"/>
              <a:ea typeface="Calibri"/>
              <a:cs typeface="Calibri"/>
              <a:sym typeface="Calibri"/>
            </a:endParaRPr>
          </a:p>
        </p:txBody>
      </p:sp>
      <p:sp>
        <p:nvSpPr>
          <p:cNvPr id="267" name="Google Shape;267;p12"/>
          <p:cNvSpPr/>
          <p:nvPr/>
        </p:nvSpPr>
        <p:spPr>
          <a:xfrm>
            <a:off x="4663440" y="122529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4937760" y="1170432"/>
            <a:ext cx="38862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You know your peers better in Year 2. That knowledge is an asset — work that changes tone sharply, or someone who has stopped turning up to their own production slots.</a:t>
            </a:r>
            <a:endParaRPr b="0" i="0" sz="1050" u="none" cap="none" strike="noStrike">
              <a:solidFill>
                <a:schemeClr val="dk1"/>
              </a:solidFill>
              <a:latin typeface="Calibri"/>
              <a:ea typeface="Calibri"/>
              <a:cs typeface="Calibri"/>
              <a:sym typeface="Calibri"/>
            </a:endParaRPr>
          </a:p>
        </p:txBody>
      </p:sp>
      <p:sp>
        <p:nvSpPr>
          <p:cNvPr id="269" name="Google Shape;269;p12"/>
          <p:cNvSpPr/>
          <p:nvPr/>
        </p:nvSpPr>
        <p:spPr>
          <a:xfrm>
            <a:off x="4663440" y="191109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4937760" y="1856232"/>
            <a:ext cx="38862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 concern is enough. You do not need proof.</a:t>
            </a:r>
            <a:endParaRPr b="0" i="0" sz="1050" u="none" cap="none" strike="noStrike">
              <a:solidFill>
                <a:schemeClr val="dk1"/>
              </a:solidFill>
              <a:latin typeface="Calibri"/>
              <a:ea typeface="Calibri"/>
              <a:cs typeface="Calibri"/>
              <a:sym typeface="Calibri"/>
            </a:endParaRPr>
          </a:p>
        </p:txBody>
      </p:sp>
      <p:sp>
        <p:nvSpPr>
          <p:cNvPr id="271" name="Google Shape;271;p12"/>
          <p:cNvSpPr/>
          <p:nvPr/>
        </p:nvSpPr>
        <p:spPr>
          <a:xfrm>
            <a:off x="4663440" y="259689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4937760" y="2542032"/>
            <a:ext cx="38862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Anonymous reporting is available. The concern will still be acted on.</a:t>
            </a:r>
            <a:endParaRPr b="0" i="0" sz="1050" u="none" cap="none" strike="noStrike">
              <a:solidFill>
                <a:schemeClr val="dk1"/>
              </a:solidFill>
              <a:latin typeface="Calibri"/>
              <a:ea typeface="Calibri"/>
              <a:cs typeface="Calibri"/>
              <a:sym typeface="Calibri"/>
            </a:endParaRPr>
          </a:p>
        </p:txBody>
      </p:sp>
      <p:sp>
        <p:nvSpPr>
          <p:cNvPr id="273" name="Google Shape;273;p12"/>
          <p:cNvSpPr/>
          <p:nvPr/>
        </p:nvSpPr>
        <p:spPr>
          <a:xfrm>
            <a:off x="4663440" y="3282696"/>
            <a:ext cx="182880" cy="182880"/>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4937760" y="3227832"/>
            <a:ext cx="38862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Telling someone about a peer in trouble is not disloyalty. It is the right call — the same as stopping an unsafe shoot.</a:t>
            </a:r>
            <a:endParaRPr b="0" i="0" sz="1050" u="none" cap="none" strike="noStrike">
              <a:solidFill>
                <a:schemeClr val="dk1"/>
              </a:solidFill>
              <a:latin typeface="Calibri"/>
              <a:ea typeface="Calibri"/>
              <a:cs typeface="Calibri"/>
              <a:sym typeface="Calibri"/>
            </a:endParaRPr>
          </a:p>
        </p:txBody>
      </p:sp>
      <p:sp>
        <p:nvSpPr>
          <p:cNvPr id="275" name="Google Shape;275;p12"/>
          <p:cNvSpPr/>
          <p:nvPr/>
        </p:nvSpPr>
        <p:spPr>
          <a:xfrm>
            <a:off x="320040" y="3712464"/>
            <a:ext cx="8503920" cy="658368"/>
          </a:xfrm>
          <a:prstGeom prst="rect">
            <a:avLst/>
          </a:prstGeom>
          <a:solidFill>
            <a:srgbClr val="0D2434"/>
          </a:solidFill>
          <a:ln cap="flat" cmpd="sng" w="12700">
            <a:solidFill>
              <a:srgbClr val="0D24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457200" y="3712464"/>
            <a:ext cx="8229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000"/>
              <a:buFont typeface="Arial"/>
              <a:buNone/>
            </a:pPr>
            <a:r>
              <a:rPr b="1" i="0" lang="en-US" sz="1000" u="none" cap="none" strike="noStrike">
                <a:solidFill>
                  <a:srgbClr val="FFCF01"/>
                </a:solidFill>
                <a:latin typeface="Arial"/>
                <a:ea typeface="Arial"/>
                <a:cs typeface="Arial"/>
                <a:sym typeface="Arial"/>
              </a:rPr>
              <a:t>Year 2 students are less likely to report concerns. </a:t>
            </a:r>
            <a:r>
              <a:rPr b="0" i="0" lang="en-US" sz="1000" u="none" cap="none" strike="noStrike">
                <a:solidFill>
                  <a:srgbClr val="FFFFFF"/>
                </a:solidFill>
                <a:latin typeface="Arial"/>
                <a:ea typeface="Arial"/>
                <a:cs typeface="Arial"/>
                <a:sym typeface="Arial"/>
              </a:rPr>
              <a:t>Not because they have fewer problems — because they feel they should manage independently. You will still always be taken seriously. The expectation that you should handle everything yourself is wrong.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81" name="Shape 281"/>
        <p:cNvGrpSpPr/>
        <p:nvPr/>
      </p:nvGrpSpPr>
      <p:grpSpPr>
        <a:xfrm>
          <a:off x="0" y="0"/>
          <a:ext cx="0" cy="0"/>
          <a:chOff x="0" y="0"/>
          <a:chExt cx="0" cy="0"/>
        </a:xfrm>
      </p:grpSpPr>
      <p:sp>
        <p:nvSpPr>
          <p:cNvPr id="282" name="Google Shape;282;p13"/>
          <p:cNvSpPr/>
          <p:nvPr/>
        </p:nvSpPr>
        <p:spPr>
          <a:xfrm>
            <a:off x="0" y="0"/>
            <a:ext cx="9144000" cy="658368"/>
          </a:xfrm>
          <a:prstGeom prst="rect">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320040" y="0"/>
            <a:ext cx="6949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One Thing — Before You Leave</a:t>
            </a:r>
            <a:endParaRPr b="0" i="0" sz="1800" u="none" cap="none" strike="noStrike">
              <a:solidFill>
                <a:schemeClr val="dk1"/>
              </a:solidFill>
              <a:latin typeface="Calibri"/>
              <a:ea typeface="Calibri"/>
              <a:cs typeface="Calibri"/>
              <a:sym typeface="Calibri"/>
            </a:endParaRPr>
          </a:p>
        </p:txBody>
      </p:sp>
      <p:sp>
        <p:nvSpPr>
          <p:cNvPr id="284" name="Google Shape;284;p13"/>
          <p:cNvSpPr/>
          <p:nvPr/>
        </p:nvSpPr>
        <p:spPr>
          <a:xfrm>
            <a:off x="7406640" y="164592"/>
            <a:ext cx="1554480" cy="256032"/>
          </a:xfrm>
          <a:prstGeom prst="rect">
            <a:avLst/>
          </a:prstGeom>
          <a:solidFill>
            <a:srgbClr val="C9A200"/>
          </a:solidFill>
          <a:ln cap="flat" cmpd="sng" w="12700">
            <a:solidFill>
              <a:srgbClr val="C9A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p:nvPr/>
        </p:nvSpPr>
        <p:spPr>
          <a:xfrm>
            <a:off x="7406640" y="164592"/>
            <a:ext cx="1554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700"/>
              <a:buFont typeface="Arial"/>
              <a:buNone/>
            </a:pPr>
            <a:r>
              <a:rPr b="1" i="0" lang="en-US" sz="700" u="none" cap="none" strike="noStrike">
                <a:solidFill>
                  <a:srgbClr val="0D2434"/>
                </a:solidFill>
                <a:latin typeface="Arial"/>
                <a:ea typeface="Arial"/>
                <a:cs typeface="Arial"/>
                <a:sym typeface="Arial"/>
              </a:rPr>
              <a:t>ACTIVITY</a:t>
            </a:r>
            <a:endParaRPr b="0" i="0" sz="700" u="none" cap="none" strike="noStrike">
              <a:solidFill>
                <a:schemeClr val="dk1"/>
              </a:solidFill>
              <a:latin typeface="Calibri"/>
              <a:ea typeface="Calibri"/>
              <a:cs typeface="Calibri"/>
              <a:sym typeface="Calibri"/>
            </a:endParaRPr>
          </a:p>
        </p:txBody>
      </p:sp>
      <p:sp>
        <p:nvSpPr>
          <p:cNvPr id="286" name="Google Shape;286;p13"/>
          <p:cNvSpPr/>
          <p:nvPr/>
        </p:nvSpPr>
        <p:spPr>
          <a:xfrm>
            <a:off x="320040" y="713232"/>
            <a:ext cx="8503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900"/>
              <a:buFont typeface="Arial"/>
              <a:buNone/>
            </a:pPr>
            <a:r>
              <a:rPr b="0" i="1" lang="en-US" sz="900" u="none" cap="none" strike="noStrike">
                <a:solidFill>
                  <a:srgbClr val="5A6A6F"/>
                </a:solidFill>
                <a:latin typeface="Arial"/>
                <a:ea typeface="Arial"/>
                <a:cs typeface="Arial"/>
                <a:sym typeface="Arial"/>
              </a:rPr>
              <a:t>Choose one. Write it. Your teacher keeps the card — follow-up in tutorial.</a:t>
            </a:r>
            <a:r>
              <a:rPr b="0" i="1" lang="en-US" sz="650" u="none" cap="none" strike="noStrike">
                <a:solidFill>
                  <a:srgbClr val="B00020"/>
                </a:solidFill>
                <a:latin typeface="Arial"/>
                <a:ea typeface="Arial"/>
                <a:cs typeface="Arial"/>
                <a:sym typeface="Arial"/>
              </a:rPr>
              <a:t>[CONFIRM: name the tutorial where these cards are revisited.]</a:t>
            </a:r>
            <a:endParaRPr b="0" i="0" sz="900" u="none" cap="none" strike="noStrike">
              <a:solidFill>
                <a:schemeClr val="dk1"/>
              </a:solidFill>
              <a:latin typeface="Calibri"/>
              <a:ea typeface="Calibri"/>
              <a:cs typeface="Calibri"/>
              <a:sym typeface="Calibri"/>
            </a:endParaRPr>
          </a:p>
        </p:txBody>
      </p:sp>
      <p:sp>
        <p:nvSpPr>
          <p:cNvPr id="287" name="Google Shape;287;p13"/>
          <p:cNvSpPr/>
          <p:nvPr/>
        </p:nvSpPr>
        <p:spPr>
          <a:xfrm>
            <a:off x="320040" y="1005840"/>
            <a:ext cx="850392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400"/>
              <a:buFont typeface="Arial"/>
              <a:buNone/>
            </a:pPr>
            <a:r>
              <a:rPr b="1" i="0" lang="en-US" sz="1400" u="none" cap="none" strike="noStrike">
                <a:solidFill>
                  <a:srgbClr val="592C82"/>
                </a:solidFill>
                <a:latin typeface="Arial"/>
                <a:ea typeface="Arial"/>
                <a:cs typeface="Arial"/>
                <a:sym typeface="Arial"/>
              </a:rPr>
              <a:t>This week, I will...</a:t>
            </a:r>
            <a:endParaRPr b="0" i="0" sz="1400" u="none" cap="none" strike="noStrike">
              <a:solidFill>
                <a:schemeClr val="dk1"/>
              </a:solidFill>
              <a:latin typeface="Calibri"/>
              <a:ea typeface="Calibri"/>
              <a:cs typeface="Calibri"/>
              <a:sym typeface="Calibri"/>
            </a:endParaRPr>
          </a:p>
        </p:txBody>
      </p:sp>
      <p:sp>
        <p:nvSpPr>
          <p:cNvPr id="288" name="Google Shape;288;p13"/>
          <p:cNvSpPr/>
          <p:nvPr/>
        </p:nvSpPr>
        <p:spPr>
          <a:xfrm>
            <a:off x="320040" y="1444752"/>
            <a:ext cx="8503920" cy="713232"/>
          </a:xfrm>
          <a:prstGeom prst="rect">
            <a:avLst/>
          </a:prstGeom>
          <a:solidFill>
            <a:srgbClr val="F3EEF9"/>
          </a:solidFill>
          <a:ln cap="flat" cmpd="sng" w="12700">
            <a:solidFill>
              <a:srgbClr val="592C82"/>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457200" y="1627632"/>
            <a:ext cx="347472" cy="34747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457200"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sp>
        <p:nvSpPr>
          <p:cNvPr id="291" name="Google Shape;291;p13"/>
          <p:cNvSpPr/>
          <p:nvPr/>
        </p:nvSpPr>
        <p:spPr>
          <a:xfrm>
            <a:off x="960120" y="1444752"/>
            <a:ext cx="7726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Arial"/>
              <a:buNone/>
            </a:pPr>
            <a:r>
              <a:rPr b="0" i="0" lang="en-US" sz="1100" u="none" cap="none" strike="noStrike">
                <a:solidFill>
                  <a:srgbClr val="1B2A30"/>
                </a:solidFill>
                <a:latin typeface="Arial"/>
                <a:ea typeface="Arial"/>
                <a:cs typeface="Arial"/>
                <a:sym typeface="Arial"/>
              </a:rPr>
              <a:t>Check that I have the Safeguarding Team contact saved — and actually use it if something comes up this year.</a:t>
            </a:r>
            <a:r>
              <a:rPr b="0" i="1" lang="en-US" sz="650" u="none" cap="none" strike="noStrike">
                <a:solidFill>
                  <a:srgbClr val="B00020"/>
                </a:solidFill>
                <a:latin typeface="Arial"/>
                <a:ea typeface="Arial"/>
                <a:cs typeface="Arial"/>
                <a:sym typeface="Arial"/>
              </a:rPr>
              <a:t>[Hastings: Lydia Leonard 07848 442081. Eastbourne and Lewes: see slide 9.]</a:t>
            </a:r>
            <a:endParaRPr b="0" i="0" sz="1100" u="none" cap="none" strike="noStrike">
              <a:solidFill>
                <a:schemeClr val="dk1"/>
              </a:solidFill>
              <a:latin typeface="Calibri"/>
              <a:ea typeface="Calibri"/>
              <a:cs typeface="Calibri"/>
              <a:sym typeface="Calibri"/>
            </a:endParaRPr>
          </a:p>
        </p:txBody>
      </p:sp>
      <p:sp>
        <p:nvSpPr>
          <p:cNvPr id="292" name="Google Shape;292;p13"/>
          <p:cNvSpPr/>
          <p:nvPr/>
        </p:nvSpPr>
        <p:spPr>
          <a:xfrm>
            <a:off x="320040" y="2267712"/>
            <a:ext cx="8503920" cy="713232"/>
          </a:xfrm>
          <a:prstGeom prst="rect">
            <a:avLst/>
          </a:prstGeom>
          <a:solidFill>
            <a:srgbClr val="F3EEF9"/>
          </a:solidFill>
          <a:ln cap="flat" cmpd="sng" w="12700">
            <a:solidFill>
              <a:srgbClr val="592C82"/>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457200" y="2450592"/>
            <a:ext cx="347472" cy="34747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457200" y="245059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sp>
        <p:nvSpPr>
          <p:cNvPr id="295" name="Google Shape;295;p13"/>
          <p:cNvSpPr/>
          <p:nvPr/>
        </p:nvSpPr>
        <p:spPr>
          <a:xfrm>
            <a:off x="960120" y="2267712"/>
            <a:ext cx="7726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Arial"/>
              <a:buNone/>
            </a:pPr>
            <a:r>
              <a:rPr b="0" i="0" lang="en-US" sz="1100" u="none" cap="none" strike="noStrike">
                <a:solidFill>
                  <a:srgbClr val="1B2A30"/>
                </a:solidFill>
                <a:latin typeface="Arial"/>
                <a:ea typeface="Arial"/>
                <a:cs typeface="Arial"/>
                <a:sym typeface="Arial"/>
              </a:rPr>
              <a:t>Go back to asking for consent properly before I film or photograph anyone — including mates.</a:t>
            </a:r>
            <a:endParaRPr b="0" i="0" sz="1100" u="none" cap="none" strike="noStrike">
              <a:solidFill>
                <a:schemeClr val="dk1"/>
              </a:solidFill>
              <a:latin typeface="Calibri"/>
              <a:ea typeface="Calibri"/>
              <a:cs typeface="Calibri"/>
              <a:sym typeface="Calibri"/>
            </a:endParaRPr>
          </a:p>
        </p:txBody>
      </p:sp>
      <p:sp>
        <p:nvSpPr>
          <p:cNvPr id="296" name="Google Shape;296;p13"/>
          <p:cNvSpPr/>
          <p:nvPr/>
        </p:nvSpPr>
        <p:spPr>
          <a:xfrm>
            <a:off x="320040" y="3090672"/>
            <a:ext cx="8503920" cy="713232"/>
          </a:xfrm>
          <a:prstGeom prst="rect">
            <a:avLst/>
          </a:prstGeom>
          <a:solidFill>
            <a:srgbClr val="F3EEF9"/>
          </a:solidFill>
          <a:ln cap="flat" cmpd="sng" w="12700">
            <a:solidFill>
              <a:srgbClr val="592C82"/>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457200" y="3273552"/>
            <a:ext cx="347472" cy="347472"/>
          </a:xfrm>
          <a:prstGeom prst="ellipse">
            <a:avLst/>
          </a:prstGeom>
          <a:solidFill>
            <a:srgbClr val="592C82"/>
          </a:solidFill>
          <a:ln cap="flat" cmpd="sng" w="12700">
            <a:solidFill>
              <a:srgbClr val="592C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457200" y="32735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sp>
        <p:nvSpPr>
          <p:cNvPr id="299" name="Google Shape;299;p13"/>
          <p:cNvSpPr/>
          <p:nvPr/>
        </p:nvSpPr>
        <p:spPr>
          <a:xfrm>
            <a:off x="960120" y="3090672"/>
            <a:ext cx="7726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Arial"/>
              <a:buNone/>
            </a:pPr>
            <a:r>
              <a:rPr b="0" i="0" lang="en-US" sz="1100" u="none" cap="none" strike="noStrike">
                <a:solidFill>
                  <a:srgbClr val="1B2A30"/>
                </a:solidFill>
                <a:latin typeface="Arial"/>
                <a:ea typeface="Arial"/>
                <a:cs typeface="Arial"/>
                <a:sym typeface="Arial"/>
              </a:rPr>
              <a:t>Check exactly what the AI rules are for my FMP, my specialism project or Component 3 — before I use AI in any of them.</a:t>
            </a:r>
            <a:endParaRPr b="0" i="0" sz="1100" u="none" cap="none" strike="noStrike">
              <a:solidFill>
                <a:schemeClr val="dk1"/>
              </a:solidFill>
              <a:latin typeface="Calibri"/>
              <a:ea typeface="Calibri"/>
              <a:cs typeface="Calibri"/>
              <a:sym typeface="Calibri"/>
            </a:endParaRPr>
          </a:p>
        </p:txBody>
      </p:sp>
      <p:sp>
        <p:nvSpPr>
          <p:cNvPr id="300" name="Google Shape;300;p13"/>
          <p:cNvSpPr/>
          <p:nvPr/>
        </p:nvSpPr>
        <p:spPr>
          <a:xfrm>
            <a:off x="320040" y="3913632"/>
            <a:ext cx="8503920" cy="713232"/>
          </a:xfrm>
          <a:prstGeom prst="rect">
            <a:avLst/>
          </a:prstGeom>
          <a:solidFill>
            <a:srgbClr val="F8E7E3"/>
          </a:solidFill>
          <a:ln cap="flat" cmpd="sng" w="25400">
            <a:solidFill>
              <a:srgbClr val="B23A2E"/>
            </a:solidFill>
            <a:prstDash val="solid"/>
            <a:round/>
            <a:headEnd len="sm" w="sm" type="none"/>
            <a:tailEnd len="sm" w="sm" type="none"/>
          </a:ln>
          <a:effectLst>
            <a:outerShdw blurRad="38100" rotWithShape="0" algn="bl" dir="2700000" dist="12700">
              <a:srgbClr val="000000">
                <a:alpha val="705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457200" y="4096512"/>
            <a:ext cx="347472" cy="347472"/>
          </a:xfrm>
          <a:prstGeom prst="ellipse">
            <a:avLst/>
          </a:prstGeom>
          <a:solidFill>
            <a:srgbClr val="B23A2E"/>
          </a:solidFill>
          <a:ln cap="flat" cmpd="sng" w="1270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457200" y="409651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4</a:t>
            </a:r>
            <a:endParaRPr b="0" i="0" sz="1100" u="none" cap="none" strike="noStrike">
              <a:solidFill>
                <a:schemeClr val="dk1"/>
              </a:solidFill>
              <a:latin typeface="Calibri"/>
              <a:ea typeface="Calibri"/>
              <a:cs typeface="Calibri"/>
              <a:sym typeface="Calibri"/>
            </a:endParaRPr>
          </a:p>
        </p:txBody>
      </p:sp>
      <p:sp>
        <p:nvSpPr>
          <p:cNvPr id="303" name="Google Shape;303;p13"/>
          <p:cNvSpPr/>
          <p:nvPr/>
        </p:nvSpPr>
        <p:spPr>
          <a:xfrm>
            <a:off x="960120" y="3913632"/>
            <a:ext cx="77266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00"/>
              <a:buFont typeface="Arial"/>
              <a:buNone/>
            </a:pPr>
            <a:r>
              <a:rPr b="1" i="0" lang="en-US" sz="1100" u="none" cap="none" strike="noStrike">
                <a:solidFill>
                  <a:srgbClr val="B23A2E"/>
                </a:solidFill>
                <a:latin typeface="Arial"/>
                <a:ea typeface="Arial"/>
                <a:cs typeface="Arial"/>
                <a:sym typeface="Arial"/>
              </a:rPr>
              <a:t>Tell someone about something I have been managing on my own — that I probably should have raised earlier.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0F0"/>
        </a:solidFill>
      </p:bgPr>
    </p:bg>
    <p:spTree>
      <p:nvGrpSpPr>
        <p:cNvPr id="308" name="Shape 308"/>
        <p:cNvGrpSpPr/>
        <p:nvPr/>
      </p:nvGrpSpPr>
      <p:grpSpPr>
        <a:xfrm>
          <a:off x="0" y="0"/>
          <a:ext cx="0" cy="0"/>
          <a:chOff x="0" y="0"/>
          <a:chExt cx="0" cy="0"/>
        </a:xfrm>
      </p:grpSpPr>
      <p:sp>
        <p:nvSpPr>
          <p:cNvPr id="309" name="Google Shape;309;p14"/>
          <p:cNvSpPr/>
          <p:nvPr/>
        </p:nvSpPr>
        <p:spPr>
          <a:xfrm>
            <a:off x="0" y="0"/>
            <a:ext cx="9144000" cy="347472"/>
          </a:xfrm>
          <a:prstGeom prst="rect">
            <a:avLst/>
          </a:prstGeom>
          <a:solidFill>
            <a:srgbClr val="B23A2E"/>
          </a:solidFill>
          <a:ln cap="flat" cmpd="sng" w="1270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4"/>
          <p:cNvSpPr/>
          <p:nvPr/>
        </p:nvSpPr>
        <p:spPr>
          <a:xfrm>
            <a:off x="0" y="0"/>
            <a:ext cx="91440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DO NOT DISPLAY TO STUDENTS — TEACHER APPENDIX</a:t>
            </a:r>
            <a:endParaRPr b="0" i="0" sz="1000" u="none" cap="none" strike="noStrike">
              <a:solidFill>
                <a:schemeClr val="dk1"/>
              </a:solidFill>
              <a:latin typeface="Calibri"/>
              <a:ea typeface="Calibri"/>
              <a:cs typeface="Calibri"/>
              <a:sym typeface="Calibri"/>
            </a:endParaRPr>
          </a:p>
        </p:txBody>
      </p:sp>
      <p:sp>
        <p:nvSpPr>
          <p:cNvPr id="311" name="Google Shape;311;p14"/>
          <p:cNvSpPr/>
          <p:nvPr/>
        </p:nvSpPr>
        <p:spPr>
          <a:xfrm>
            <a:off x="137160" y="411480"/>
            <a:ext cx="4297680" cy="219456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228600" y="48463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Running Order &amp; Timings</a:t>
            </a:r>
            <a:endParaRPr b="0" i="0" sz="950" u="none" cap="none" strike="noStrike">
              <a:solidFill>
                <a:schemeClr val="dk1"/>
              </a:solidFill>
              <a:latin typeface="Calibri"/>
              <a:ea typeface="Calibri"/>
              <a:cs typeface="Calibri"/>
              <a:sym typeface="Calibri"/>
            </a:endParaRPr>
          </a:p>
        </p:txBody>
      </p:sp>
      <p:sp>
        <p:nvSpPr>
          <p:cNvPr id="313" name="Google Shape;313;p14"/>
          <p:cNvSpPr/>
          <p:nvPr/>
        </p:nvSpPr>
        <p:spPr>
          <a:xfrm>
            <a:off x="228600" y="795528"/>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0:00  </a:t>
            </a:r>
            <a:r>
              <a:rPr b="0" i="0" lang="en-US" sz="800" u="none" cap="none" strike="noStrike">
                <a:solidFill>
                  <a:srgbClr val="1B2A30"/>
                </a:solidFill>
                <a:latin typeface="Arial"/>
                <a:ea typeface="Arial"/>
                <a:cs typeface="Arial"/>
                <a:sym typeface="Arial"/>
              </a:rPr>
              <a:t>Title + welcome back (1 min)</a:t>
            </a:r>
            <a:endParaRPr b="0" i="0" sz="800" u="none" cap="none" strike="noStrike">
              <a:solidFill>
                <a:schemeClr val="dk1"/>
              </a:solidFill>
              <a:latin typeface="Calibri"/>
              <a:ea typeface="Calibri"/>
              <a:cs typeface="Calibri"/>
              <a:sym typeface="Calibri"/>
            </a:endParaRPr>
          </a:p>
        </p:txBody>
      </p:sp>
      <p:sp>
        <p:nvSpPr>
          <p:cNvPr id="314" name="Google Shape;314;p14"/>
          <p:cNvSpPr/>
          <p:nvPr/>
        </p:nvSpPr>
        <p:spPr>
          <a:xfrm>
            <a:off x="228600" y="928116"/>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0:01  </a:t>
            </a:r>
            <a:r>
              <a:rPr b="0" i="0" lang="en-US" sz="800" u="none" cap="none" strike="noStrike">
                <a:solidFill>
                  <a:srgbClr val="1B2A30"/>
                </a:solidFill>
                <a:latin typeface="Arial"/>
                <a:ea typeface="Arial"/>
                <a:cs typeface="Arial"/>
                <a:sym typeface="Arial"/>
              </a:rPr>
              <a:t>Session map — same/different (3 mins)</a:t>
            </a:r>
            <a:endParaRPr b="0" i="0" sz="800" u="none" cap="none" strike="noStrike">
              <a:solidFill>
                <a:schemeClr val="dk1"/>
              </a:solidFill>
              <a:latin typeface="Calibri"/>
              <a:ea typeface="Calibri"/>
              <a:cs typeface="Calibri"/>
              <a:sym typeface="Calibri"/>
            </a:endParaRPr>
          </a:p>
        </p:txBody>
      </p:sp>
      <p:sp>
        <p:nvSpPr>
          <p:cNvPr id="315" name="Google Shape;315;p14"/>
          <p:cNvSpPr/>
          <p:nvPr/>
        </p:nvSpPr>
        <p:spPr>
          <a:xfrm>
            <a:off x="228600" y="1060704"/>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0:04  </a:t>
            </a:r>
            <a:r>
              <a:rPr b="0" i="0" lang="en-US" sz="800" u="none" cap="none" strike="noStrike">
                <a:solidFill>
                  <a:srgbClr val="1B2A30"/>
                </a:solidFill>
                <a:latin typeface="Arial"/>
                <a:ea typeface="Arial"/>
                <a:cs typeface="Arial"/>
                <a:sym typeface="Arial"/>
              </a:rPr>
              <a:t>How's it actually going — discussion (8 mins)</a:t>
            </a:r>
            <a:endParaRPr b="0" i="0" sz="800" u="none" cap="none" strike="noStrike">
              <a:solidFill>
                <a:schemeClr val="dk1"/>
              </a:solidFill>
              <a:latin typeface="Calibri"/>
              <a:ea typeface="Calibri"/>
              <a:cs typeface="Calibri"/>
              <a:sym typeface="Calibri"/>
            </a:endParaRPr>
          </a:p>
        </p:txBody>
      </p:sp>
      <p:sp>
        <p:nvSpPr>
          <p:cNvPr id="316" name="Google Shape;316;p14"/>
          <p:cNvSpPr/>
          <p:nvPr/>
        </p:nvSpPr>
        <p:spPr>
          <a:xfrm>
            <a:off x="228600" y="1193292"/>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0:12  </a:t>
            </a:r>
            <a:r>
              <a:rPr b="0" i="0" lang="en-US" sz="800" u="none" cap="none" strike="noStrike">
                <a:solidFill>
                  <a:srgbClr val="1B2A30"/>
                </a:solidFill>
                <a:latin typeface="Arial"/>
                <a:ea typeface="Arial"/>
                <a:cs typeface="Arial"/>
                <a:sym typeface="Arial"/>
              </a:rPr>
              <a:t>Safeguarding Year 2 (6 mins)</a:t>
            </a:r>
            <a:endParaRPr b="0" i="0" sz="800" u="none" cap="none" strike="noStrike">
              <a:solidFill>
                <a:schemeClr val="dk1"/>
              </a:solidFill>
              <a:latin typeface="Calibri"/>
              <a:ea typeface="Calibri"/>
              <a:cs typeface="Calibri"/>
              <a:sym typeface="Calibri"/>
            </a:endParaRPr>
          </a:p>
        </p:txBody>
      </p:sp>
      <p:sp>
        <p:nvSpPr>
          <p:cNvPr id="317" name="Google Shape;317;p14"/>
          <p:cNvSpPr/>
          <p:nvPr/>
        </p:nvSpPr>
        <p:spPr>
          <a:xfrm>
            <a:off x="228600" y="1325880"/>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0:18  </a:t>
            </a:r>
            <a:r>
              <a:rPr b="0" i="0" lang="en-US" sz="800" u="none" cap="none" strike="noStrike">
                <a:solidFill>
                  <a:srgbClr val="1B2A30"/>
                </a:solidFill>
                <a:latin typeface="Arial"/>
                <a:ea typeface="Arial"/>
                <a:cs typeface="Arial"/>
                <a:sym typeface="Arial"/>
              </a:rPr>
              <a:t>Prevent — Year 2 update (7 mins)</a:t>
            </a:r>
            <a:endParaRPr b="0" i="0" sz="800" u="none" cap="none" strike="noStrike">
              <a:solidFill>
                <a:schemeClr val="dk1"/>
              </a:solidFill>
              <a:latin typeface="Calibri"/>
              <a:ea typeface="Calibri"/>
              <a:cs typeface="Calibri"/>
              <a:sym typeface="Calibri"/>
            </a:endParaRPr>
          </a:p>
        </p:txBody>
      </p:sp>
      <p:sp>
        <p:nvSpPr>
          <p:cNvPr id="318" name="Google Shape;318;p14"/>
          <p:cNvSpPr/>
          <p:nvPr/>
        </p:nvSpPr>
        <p:spPr>
          <a:xfrm>
            <a:off x="228600" y="1458468"/>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0:25  </a:t>
            </a:r>
            <a:r>
              <a:rPr b="0" i="0" lang="en-US" sz="800" u="none" cap="none" strike="noStrike">
                <a:solidFill>
                  <a:srgbClr val="1B2A30"/>
                </a:solidFill>
                <a:latin typeface="Arial"/>
                <a:ea typeface="Arial"/>
                <a:cs typeface="Arial"/>
                <a:sym typeface="Arial"/>
              </a:rPr>
              <a:t>Online safety — Year 2 profile (7 mins)</a:t>
            </a:r>
            <a:endParaRPr b="0" i="0" sz="800" u="none" cap="none" strike="noStrike">
              <a:solidFill>
                <a:schemeClr val="dk1"/>
              </a:solidFill>
              <a:latin typeface="Calibri"/>
              <a:ea typeface="Calibri"/>
              <a:cs typeface="Calibri"/>
              <a:sym typeface="Calibri"/>
            </a:endParaRPr>
          </a:p>
        </p:txBody>
      </p:sp>
      <p:sp>
        <p:nvSpPr>
          <p:cNvPr id="319" name="Google Shape;319;p14"/>
          <p:cNvSpPr/>
          <p:nvPr/>
        </p:nvSpPr>
        <p:spPr>
          <a:xfrm>
            <a:off x="228600" y="1591056"/>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0:32  </a:t>
            </a:r>
            <a:r>
              <a:rPr b="0" i="0" lang="en-US" sz="800" u="none" cap="none" strike="noStrike">
                <a:solidFill>
                  <a:srgbClr val="1B2A30"/>
                </a:solidFill>
                <a:latin typeface="Arial"/>
                <a:ea typeface="Arial"/>
                <a:cs typeface="Arial"/>
                <a:sym typeface="Arial"/>
              </a:rPr>
              <a:t>AI and your data — Year 2 (6 mins)</a:t>
            </a:r>
            <a:endParaRPr b="0" i="0" sz="800" u="none" cap="none" strike="noStrike">
              <a:solidFill>
                <a:schemeClr val="dk1"/>
              </a:solidFill>
              <a:latin typeface="Calibri"/>
              <a:ea typeface="Calibri"/>
              <a:cs typeface="Calibri"/>
              <a:sym typeface="Calibri"/>
            </a:endParaRPr>
          </a:p>
        </p:txBody>
      </p:sp>
      <p:sp>
        <p:nvSpPr>
          <p:cNvPr id="320" name="Google Shape;320;p14"/>
          <p:cNvSpPr/>
          <p:nvPr/>
        </p:nvSpPr>
        <p:spPr>
          <a:xfrm>
            <a:off x="228600" y="1723644"/>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0:38  </a:t>
            </a:r>
            <a:r>
              <a:rPr b="0" i="0" lang="en-US" sz="800" u="none" cap="none" strike="noStrike">
                <a:solidFill>
                  <a:srgbClr val="1B2A30"/>
                </a:solidFill>
                <a:latin typeface="Arial"/>
                <a:ea typeface="Arial"/>
                <a:cs typeface="Arial"/>
                <a:sym typeface="Arial"/>
              </a:rPr>
              <a:t>How ESCG keeps you safe (4 mins)</a:t>
            </a:r>
            <a:endParaRPr b="0" i="0" sz="800" u="none" cap="none" strike="noStrike">
              <a:solidFill>
                <a:schemeClr val="dk1"/>
              </a:solidFill>
              <a:latin typeface="Calibri"/>
              <a:ea typeface="Calibri"/>
              <a:cs typeface="Calibri"/>
              <a:sym typeface="Calibri"/>
            </a:endParaRPr>
          </a:p>
        </p:txBody>
      </p:sp>
      <p:sp>
        <p:nvSpPr>
          <p:cNvPr id="321" name="Google Shape;321;p14"/>
          <p:cNvSpPr/>
          <p:nvPr/>
        </p:nvSpPr>
        <p:spPr>
          <a:xfrm>
            <a:off x="228600" y="1856232"/>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0:42  </a:t>
            </a:r>
            <a:r>
              <a:rPr b="0" i="0" lang="en-US" sz="800" u="none" cap="none" strike="noStrike">
                <a:solidFill>
                  <a:srgbClr val="1B2A30"/>
                </a:solidFill>
                <a:latin typeface="Arial"/>
                <a:ea typeface="Arial"/>
                <a:cs typeface="Arial"/>
                <a:sym typeface="Arial"/>
              </a:rPr>
              <a:t>Safeguarding Team (4 mins)</a:t>
            </a:r>
            <a:endParaRPr b="0" i="0" sz="800" u="none" cap="none" strike="noStrike">
              <a:solidFill>
                <a:schemeClr val="dk1"/>
              </a:solidFill>
              <a:latin typeface="Calibri"/>
              <a:ea typeface="Calibri"/>
              <a:cs typeface="Calibri"/>
              <a:sym typeface="Calibri"/>
            </a:endParaRPr>
          </a:p>
        </p:txBody>
      </p:sp>
      <p:sp>
        <p:nvSpPr>
          <p:cNvPr id="322" name="Google Shape;322;p14"/>
          <p:cNvSpPr/>
          <p:nvPr/>
        </p:nvSpPr>
        <p:spPr>
          <a:xfrm>
            <a:off x="228600" y="1988820"/>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0:46  </a:t>
            </a:r>
            <a:r>
              <a:rPr b="0" i="0" lang="en-US" sz="800" u="none" cap="none" strike="noStrike">
                <a:solidFill>
                  <a:srgbClr val="1B2A30"/>
                </a:solidFill>
                <a:latin typeface="Arial"/>
                <a:ea typeface="Arial"/>
                <a:cs typeface="Arial"/>
                <a:sym typeface="Arial"/>
              </a:rPr>
              <a:t>Reporting a concern (5 mins)</a:t>
            </a:r>
            <a:endParaRPr b="0" i="0" sz="800" u="none" cap="none" strike="noStrike">
              <a:solidFill>
                <a:schemeClr val="dk1"/>
              </a:solidFill>
              <a:latin typeface="Calibri"/>
              <a:ea typeface="Calibri"/>
              <a:cs typeface="Calibri"/>
              <a:sym typeface="Calibri"/>
            </a:endParaRPr>
          </a:p>
        </p:txBody>
      </p:sp>
      <p:sp>
        <p:nvSpPr>
          <p:cNvPr id="323" name="Google Shape;323;p14"/>
          <p:cNvSpPr/>
          <p:nvPr/>
        </p:nvSpPr>
        <p:spPr>
          <a:xfrm>
            <a:off x="228600" y="2121408"/>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0:51  </a:t>
            </a:r>
            <a:r>
              <a:rPr b="0" i="0" lang="en-US" sz="800" u="none" cap="none" strike="noStrike">
                <a:solidFill>
                  <a:srgbClr val="1B2A30"/>
                </a:solidFill>
                <a:latin typeface="Arial"/>
                <a:ea typeface="Arial"/>
                <a:cs typeface="Arial"/>
                <a:sym typeface="Arial"/>
              </a:rPr>
              <a:t>One thing card — collect (6 mins)</a:t>
            </a:r>
            <a:endParaRPr b="0" i="0" sz="800" u="none" cap="none" strike="noStrike">
              <a:solidFill>
                <a:schemeClr val="dk1"/>
              </a:solidFill>
              <a:latin typeface="Calibri"/>
              <a:ea typeface="Calibri"/>
              <a:cs typeface="Calibri"/>
              <a:sym typeface="Calibri"/>
            </a:endParaRPr>
          </a:p>
        </p:txBody>
      </p:sp>
      <p:sp>
        <p:nvSpPr>
          <p:cNvPr id="324" name="Google Shape;324;p14"/>
          <p:cNvSpPr/>
          <p:nvPr/>
        </p:nvSpPr>
        <p:spPr>
          <a:xfrm>
            <a:off x="228600" y="2253996"/>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0:57  </a:t>
            </a:r>
            <a:r>
              <a:rPr b="0" i="0" lang="en-US" sz="800" u="none" cap="none" strike="noStrike">
                <a:solidFill>
                  <a:srgbClr val="1B2A30"/>
                </a:solidFill>
                <a:latin typeface="Arial"/>
                <a:ea typeface="Arial"/>
                <a:cs typeface="Arial"/>
                <a:sym typeface="Arial"/>
              </a:rPr>
              <a:t>Close (3 mins)</a:t>
            </a:r>
            <a:endParaRPr b="0" i="0" sz="800" u="none" cap="none" strike="noStrike">
              <a:solidFill>
                <a:schemeClr val="dk1"/>
              </a:solidFill>
              <a:latin typeface="Calibri"/>
              <a:ea typeface="Calibri"/>
              <a:cs typeface="Calibri"/>
              <a:sym typeface="Calibri"/>
            </a:endParaRPr>
          </a:p>
        </p:txBody>
      </p:sp>
      <p:sp>
        <p:nvSpPr>
          <p:cNvPr id="325" name="Google Shape;325;p14"/>
          <p:cNvSpPr/>
          <p:nvPr/>
        </p:nvSpPr>
        <p:spPr>
          <a:xfrm>
            <a:off x="228600" y="2386584"/>
            <a:ext cx="41148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800"/>
              <a:buFont typeface="Arial"/>
              <a:buNone/>
            </a:pPr>
            <a:r>
              <a:rPr b="1" i="0" lang="en-US" sz="800" u="none" cap="none" strike="noStrike">
                <a:solidFill>
                  <a:srgbClr val="592C82"/>
                </a:solidFill>
                <a:latin typeface="Arial"/>
                <a:ea typeface="Arial"/>
                <a:cs typeface="Arial"/>
                <a:sym typeface="Arial"/>
              </a:rPr>
              <a:t>1:00  </a:t>
            </a:r>
            <a:r>
              <a:rPr b="0" i="0" lang="en-US" sz="800" u="none" cap="none" strike="noStrike">
                <a:solidFill>
                  <a:srgbClr val="1B2A30"/>
                </a:solidFill>
                <a:latin typeface="Arial"/>
                <a:ea typeface="Arial"/>
                <a:cs typeface="Arial"/>
                <a:sym typeface="Arial"/>
              </a:rPr>
              <a:t>END (buffer: 10 mins)</a:t>
            </a:r>
            <a:endParaRPr b="0" i="0" sz="800" u="none" cap="none" strike="noStrike">
              <a:solidFill>
                <a:schemeClr val="dk1"/>
              </a:solidFill>
              <a:latin typeface="Calibri"/>
              <a:ea typeface="Calibri"/>
              <a:cs typeface="Calibri"/>
              <a:sym typeface="Calibri"/>
            </a:endParaRPr>
          </a:p>
        </p:txBody>
      </p:sp>
      <p:sp>
        <p:nvSpPr>
          <p:cNvPr id="326" name="Google Shape;326;p14"/>
          <p:cNvSpPr/>
          <p:nvPr/>
        </p:nvSpPr>
        <p:spPr>
          <a:xfrm>
            <a:off x="4709160" y="411480"/>
            <a:ext cx="4297680" cy="219456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4800600" y="484625"/>
            <a:ext cx="4114800" cy="203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Returners. They know the college. They have existing habits — some good, some not. The register throughout is brisk and peer-to-peer: 'don't fumble the last lap.'</a:t>
            </a:r>
            <a:r>
              <a:rPr b="0" i="1" lang="en-US" sz="550" u="none" cap="none" strike="noStrike">
                <a:solidFill>
                  <a:srgbClr val="B00020"/>
                </a:solidFill>
                <a:latin typeface="Arial"/>
                <a:ea typeface="Arial"/>
                <a:cs typeface="Arial"/>
                <a:sym typeface="Arial"/>
              </a:rPr>
              <a:t>What this group brings: Content Creation Year 2 run Eastbourne Youth Radio and Tag magazine for real audiences on ten hours a week of independent study. T Levels are mid-placement (315 hours) with the 35.5-hour specialism project. Photography and Film Studies face the 15-hour exam and a Depot premiere.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Key Year 2 dynamics: complacency in safeguarding habits; increased pressures (financial, relationship, academic); under-reporting of concerns because students feel they should manage independently.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This deck is structured as an update, not a repeat. Content is the same as Core but framed as 'here is what has changed' and 'here is what matters more this year.'</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Peer responsibility is the Year 2 addition: these students know their community. Their contextual knowledge of peers is a safeguarding asset.</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30"/>
              </a:buClr>
              <a:buSzPts val="800"/>
              <a:buFont typeface="Arial"/>
              <a:buNone/>
            </a:pPr>
            <a:r>
              <a:rPr b="0" i="0" lang="en-US" sz="800" u="none" cap="none" strike="noStrike">
                <a:solidFill>
                  <a:srgbClr val="1B2A30"/>
                </a:solidFill>
                <a:latin typeface="Arial"/>
                <a:ea typeface="Arial"/>
                <a:cs typeface="Arial"/>
                <a:sym typeface="Arial"/>
              </a:rPr>
              <a:t>PROUD anchor: Encourage Unity — looking out for peers, reporting concern, not coasting.</a:t>
            </a:r>
            <a:endParaRPr b="0" i="0" sz="800" u="none" cap="none" strike="noStrike">
              <a:solidFill>
                <a:schemeClr val="dk1"/>
              </a:solidFill>
              <a:latin typeface="Calibri"/>
              <a:ea typeface="Calibri"/>
              <a:cs typeface="Calibri"/>
              <a:sym typeface="Calibri"/>
            </a:endParaRPr>
          </a:p>
        </p:txBody>
      </p:sp>
      <p:sp>
        <p:nvSpPr>
          <p:cNvPr id="328" name="Google Shape;328;p14"/>
          <p:cNvSpPr/>
          <p:nvPr/>
        </p:nvSpPr>
        <p:spPr>
          <a:xfrm>
            <a:off x="137160" y="2697480"/>
            <a:ext cx="4297680" cy="219456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
          <p:cNvSpPr/>
          <p:nvPr/>
        </p:nvSpPr>
        <p:spPr>
          <a:xfrm>
            <a:off x="228600" y="277063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950"/>
              <a:buFont typeface="Arial"/>
              <a:buNone/>
            </a:pPr>
            <a:r>
              <a:rPr b="1" i="0" lang="en-US" sz="950" u="none" cap="none" strike="noStrike">
                <a:solidFill>
                  <a:srgbClr val="592C82"/>
                </a:solidFill>
                <a:latin typeface="Arial"/>
                <a:ea typeface="Arial"/>
                <a:cs typeface="Arial"/>
                <a:sym typeface="Arial"/>
              </a:rPr>
              <a:t>Pre-Flight Checklist</a:t>
            </a:r>
            <a:endParaRPr b="0" i="0" sz="950" u="none" cap="none" strike="noStrike">
              <a:solidFill>
                <a:schemeClr val="dk1"/>
              </a:solidFill>
              <a:latin typeface="Calibri"/>
              <a:ea typeface="Calibri"/>
              <a:cs typeface="Calibri"/>
              <a:sym typeface="Calibri"/>
            </a:endParaRPr>
          </a:p>
        </p:txBody>
      </p:sp>
      <p:sp>
        <p:nvSpPr>
          <p:cNvPr id="330" name="Google Shape;330;p14"/>
          <p:cNvSpPr/>
          <p:nvPr/>
        </p:nvSpPr>
        <p:spPr>
          <a:xfrm>
            <a:off x="228600" y="3081528"/>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Confirm Safeguarding Team contacts — personnel change over summer</a:t>
            </a:r>
            <a:endParaRPr b="0" i="0" sz="900" u="none" cap="none" strike="noStrike">
              <a:solidFill>
                <a:schemeClr val="dk1"/>
              </a:solidFill>
              <a:latin typeface="Calibri"/>
              <a:ea typeface="Calibri"/>
              <a:cs typeface="Calibri"/>
              <a:sym typeface="Calibri"/>
            </a:endParaRPr>
          </a:p>
        </p:txBody>
      </p:sp>
      <p:sp>
        <p:nvSpPr>
          <p:cNvPr id="331" name="Google Shape;331;p14"/>
          <p:cNvSpPr/>
          <p:nvPr/>
        </p:nvSpPr>
        <p:spPr>
          <a:xfrm>
            <a:off x="228600" y="3300984"/>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Insert Year 2 AI policy process (slide 7 confirm block)</a:t>
            </a:r>
            <a:endParaRPr b="0" i="0" sz="900" u="none" cap="none" strike="noStrike">
              <a:solidFill>
                <a:schemeClr val="dk1"/>
              </a:solidFill>
              <a:latin typeface="Calibri"/>
              <a:ea typeface="Calibri"/>
              <a:cs typeface="Calibri"/>
              <a:sym typeface="Calibri"/>
            </a:endParaRPr>
          </a:p>
        </p:txBody>
      </p:sp>
      <p:sp>
        <p:nvSpPr>
          <p:cNvPr id="332" name="Google Shape;332;p14"/>
          <p:cNvSpPr/>
          <p:nvPr/>
        </p:nvSpPr>
        <p:spPr>
          <a:xfrm>
            <a:off x="228600" y="3520440"/>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Check Lydia Leonard contact is current (Hastings)</a:t>
            </a:r>
            <a:endParaRPr b="0" i="0" sz="900" u="none" cap="none" strike="noStrike">
              <a:solidFill>
                <a:schemeClr val="dk1"/>
              </a:solidFill>
              <a:latin typeface="Calibri"/>
              <a:ea typeface="Calibri"/>
              <a:cs typeface="Calibri"/>
              <a:sym typeface="Calibri"/>
            </a:endParaRPr>
          </a:p>
        </p:txBody>
      </p:sp>
      <p:sp>
        <p:nvSpPr>
          <p:cNvPr id="333" name="Google Shape;333;p14"/>
          <p:cNvSpPr/>
          <p:nvPr/>
        </p:nvSpPr>
        <p:spPr>
          <a:xfrm>
            <a:off x="228600" y="3739896"/>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Prepare commitment cards for collection</a:t>
            </a:r>
            <a:endParaRPr b="0" i="0" sz="900" u="none" cap="none" strike="noStrike">
              <a:solidFill>
                <a:schemeClr val="dk1"/>
              </a:solidFill>
              <a:latin typeface="Calibri"/>
              <a:ea typeface="Calibri"/>
              <a:cs typeface="Calibri"/>
              <a:sym typeface="Calibri"/>
            </a:endParaRPr>
          </a:p>
        </p:txBody>
      </p:sp>
      <p:sp>
        <p:nvSpPr>
          <p:cNvPr id="334" name="Google Shape;334;p14"/>
          <p:cNvSpPr/>
          <p:nvPr/>
        </p:nvSpPr>
        <p:spPr>
          <a:xfrm>
            <a:off x="228600" y="3959352"/>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Know the campus emergency number (lanyard)</a:t>
            </a:r>
            <a:endParaRPr b="0" i="0" sz="900" u="none" cap="none" strike="noStrike">
              <a:solidFill>
                <a:schemeClr val="dk1"/>
              </a:solidFill>
              <a:latin typeface="Calibri"/>
              <a:ea typeface="Calibri"/>
              <a:cs typeface="Calibri"/>
              <a:sym typeface="Calibri"/>
            </a:endParaRPr>
          </a:p>
        </p:txBody>
      </p:sp>
      <p:sp>
        <p:nvSpPr>
          <p:cNvPr id="335" name="Google Shape;335;p14"/>
          <p:cNvSpPr/>
          <p:nvPr/>
        </p:nvSpPr>
        <p:spPr>
          <a:xfrm>
            <a:off x="228600" y="4178808"/>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Check escg.ac.uk/support/safeguarding is current</a:t>
            </a:r>
            <a:endParaRPr b="0" i="0" sz="900" u="none" cap="none" strike="noStrike">
              <a:solidFill>
                <a:schemeClr val="dk1"/>
              </a:solidFill>
              <a:latin typeface="Calibri"/>
              <a:ea typeface="Calibri"/>
              <a:cs typeface="Calibri"/>
              <a:sym typeface="Calibri"/>
            </a:endParaRPr>
          </a:p>
        </p:txBody>
      </p:sp>
      <p:sp>
        <p:nvSpPr>
          <p:cNvPr id="336" name="Google Shape;336;p14"/>
          <p:cNvSpPr/>
          <p:nvPr/>
        </p:nvSpPr>
        <p:spPr>
          <a:xfrm>
            <a:off x="228600" y="4398264"/>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Confirm Prevent SPOC for your campus</a:t>
            </a:r>
            <a:endParaRPr b="0" i="0" sz="900" u="none" cap="none" strike="noStrike">
              <a:solidFill>
                <a:schemeClr val="dk1"/>
              </a:solidFill>
              <a:latin typeface="Calibri"/>
              <a:ea typeface="Calibri"/>
              <a:cs typeface="Calibri"/>
              <a:sym typeface="Calibri"/>
            </a:endParaRPr>
          </a:p>
        </p:txBody>
      </p:sp>
      <p:sp>
        <p:nvSpPr>
          <p:cNvPr id="337" name="Google Shape;337;p14"/>
          <p:cNvSpPr/>
          <p:nvPr/>
        </p:nvSpPr>
        <p:spPr>
          <a:xfrm>
            <a:off x="228600" y="4617720"/>
            <a:ext cx="41148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900"/>
              <a:buFont typeface="Arial"/>
              <a:buNone/>
            </a:pPr>
            <a:r>
              <a:rPr b="1" i="0" lang="en-US" sz="900" u="none" cap="none" strike="noStrike">
                <a:solidFill>
                  <a:srgbClr val="592C82"/>
                </a:solidFill>
                <a:latin typeface="Arial"/>
                <a:ea typeface="Arial"/>
                <a:cs typeface="Arial"/>
                <a:sym typeface="Arial"/>
              </a:rPr>
              <a:t>☐  </a:t>
            </a:r>
            <a:r>
              <a:rPr b="0" i="0" lang="en-US" sz="850" u="none" cap="none" strike="noStrike">
                <a:solidFill>
                  <a:srgbClr val="1B2A30"/>
                </a:solidFill>
                <a:latin typeface="Arial"/>
                <a:ea typeface="Arial"/>
                <a:cs typeface="Arial"/>
                <a:sym typeface="Arial"/>
              </a:rPr>
              <a:t>Allow buffer time — this deck runs short by design</a:t>
            </a:r>
            <a:endParaRPr b="0" i="0" sz="900" u="none" cap="none" strike="noStrike">
              <a:solidFill>
                <a:schemeClr val="dk1"/>
              </a:solidFill>
              <a:latin typeface="Calibri"/>
              <a:ea typeface="Calibri"/>
              <a:cs typeface="Calibri"/>
              <a:sym typeface="Calibri"/>
            </a:endParaRPr>
          </a:p>
        </p:txBody>
      </p:sp>
      <p:sp>
        <p:nvSpPr>
          <p:cNvPr id="338" name="Google Shape;338;p14"/>
          <p:cNvSpPr/>
          <p:nvPr/>
        </p:nvSpPr>
        <p:spPr>
          <a:xfrm>
            <a:off x="4709160" y="2697480"/>
            <a:ext cx="4297680" cy="2194560"/>
          </a:xfrm>
          <a:prstGeom prst="rect">
            <a:avLst/>
          </a:prstGeom>
          <a:solidFill>
            <a:srgbClr val="F8E7E3"/>
          </a:solidFill>
          <a:ln cap="flat" cmpd="sng" w="1905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p:nvPr/>
        </p:nvSpPr>
        <p:spPr>
          <a:xfrm>
            <a:off x="4800600" y="277063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Safeguarding Alert — L3 Year 2</a:t>
            </a:r>
            <a:endParaRPr b="0" i="0" sz="950" u="none" cap="none" strike="noStrike">
              <a:solidFill>
                <a:schemeClr val="dk1"/>
              </a:solidFill>
              <a:latin typeface="Calibri"/>
              <a:ea typeface="Calibri"/>
              <a:cs typeface="Calibri"/>
              <a:sym typeface="Calibri"/>
            </a:endParaRPr>
          </a:p>
        </p:txBody>
      </p:sp>
      <p:sp>
        <p:nvSpPr>
          <p:cNvPr id="340" name="Google Shape;340;p14"/>
          <p:cNvSpPr/>
          <p:nvPr/>
        </p:nvSpPr>
        <p:spPr>
          <a:xfrm>
            <a:off x="4800600" y="3081528"/>
            <a:ext cx="4114800" cy="17190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Do not assume returners are fine. Year 2 brings increased pressure and under-reporting.</a:t>
            </a:r>
            <a:r>
              <a:rPr b="0" i="1" lang="en-US" sz="550" u="none" cap="none" strike="noStrike">
                <a:solidFill>
                  <a:srgbClr val="B00020"/>
                </a:solidFill>
                <a:latin typeface="Arial"/>
                <a:ea typeface="Arial"/>
                <a:cs typeface="Arial"/>
                <a:sym typeface="Arial"/>
              </a:rPr>
              <a:t>Disclosure triggers: industry placement (whose safeguarding procedure applies on site?); lone working in edit suites; challenging screened content in Film Studies. Placement: 315 hours, live briefs, The Depot.</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Slides 3, 9, 10, and the commitment card are all disclosure surfaces. Option 4 ('something I've been managing on my own') may carry significant content.</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If a student discloses: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Listen calmly. Do not show alarm.</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Do not promise secrecy.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Do not investigate.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 Report same-day. Hastings: Lydia Leonard 07848 442081.</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23A2E"/>
              </a:buClr>
              <a:buSzPts val="800"/>
              <a:buFont typeface="Arial"/>
              <a:buNone/>
            </a:pPr>
            <a:r>
              <a:rPr b="0" i="0" lang="en-US" sz="800" u="none" cap="none" strike="noStrike">
                <a:solidFill>
                  <a:srgbClr val="B23A2E"/>
                </a:solidFill>
                <a:latin typeface="Arial"/>
                <a:ea typeface="Arial"/>
                <a:cs typeface="Arial"/>
                <a:sym typeface="Arial"/>
              </a:rPr>
              <a:t>Full procedure: ESCG Safeguarding &amp; Prevent Policy (December 2025).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