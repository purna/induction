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embeddedFontLst>
    <p:embeddedFont>
      <p:font typeface="Poppins"/>
      <p:regular r:id="rId17"/>
      <p:bold r:id="rId18"/>
      <p:italic r:id="rId19"/>
      <p:boldItalic r:id="rId20"/>
    </p:embeddedFont>
    <p:embeddedFont>
      <p:font typeface="Poppins SemiBold"/>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11" Type="http://schemas.openxmlformats.org/officeDocument/2006/relationships/slide" Target="slides/slide7.xml"/><Relationship Id="rId22" Type="http://schemas.openxmlformats.org/officeDocument/2006/relationships/font" Target="fonts/PoppinsSemiBold-bold.fntdata"/><Relationship Id="rId10" Type="http://schemas.openxmlformats.org/officeDocument/2006/relationships/slide" Target="slides/slide6.xml"/><Relationship Id="rId21" Type="http://schemas.openxmlformats.org/officeDocument/2006/relationships/font" Target="fonts/PoppinsSemiBold-regular.fntdata"/><Relationship Id="rId13" Type="http://schemas.openxmlformats.org/officeDocument/2006/relationships/slide" Target="slides/slide9.xml"/><Relationship Id="rId24" Type="http://schemas.openxmlformats.org/officeDocument/2006/relationships/font" Target="fonts/PoppinsSemiBold-boldItalic.fntdata"/><Relationship Id="rId12" Type="http://schemas.openxmlformats.org/officeDocument/2006/relationships/slide" Target="slides/slide8.xml"/><Relationship Id="rId23" Type="http://schemas.openxmlformats.org/officeDocument/2006/relationships/font" Target="fonts/PoppinsSemi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oppins-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oppins-italic.fntdata"/><Relationship Id="rId6" Type="http://schemas.openxmlformats.org/officeDocument/2006/relationships/slide" Target="slides/slide2.xml"/><Relationship Id="rId18" Type="http://schemas.openxmlformats.org/officeDocument/2006/relationships/font" Target="fonts/Poppi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Title slide. Register note for this variant: this is a returner deck, and the framing has to feel like it the moment it opens — not a re-run of Year 1's induction with the serial numbers filed off. Say something like: "You already know where the fire exits are. This isn't that. This is about the stuff that gets sloppy in year two precisely because you do know it." Keep this brief — 1 minute. Timing for the whole session: roughly 60 minutes, and it should run faster than Year 1's did — there's no need to linger on content this group has already absorbed. The hidden-struggler framing from Year 1 is deliberately not carried forward here: by this point most students have a year of evidence that asking a question didn't cost them status, and re-running that reassurance would itself read as treating them like new starters, which undercuts the whole point of this variant.</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 name="Google Shape;1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Talk through the map quickly — under a minute. The tone here should already signal pace: this is a refresher with a couple of genuinely new bits (slide 4's framing, slide 7's updates), not a re-run. Say something like: "Quick one today — you know most of this, we're mainly checking what's slipped and what's changed." Move on fast; lingering on the map undercuts the brisk register the rest of the deck is going for.</a:t>
            </a:r>
            <a:endParaRPr/>
          </a:p>
        </p:txBody>
      </p:sp>
      <p:sp>
        <p:nvSpPr>
          <p:cNvPr id="20" name="Google Shape;2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Pairs, ~8 minutes — shorter than the Year 1 settling-in version, since this group doesn't need an on-ramp into the room. Purpose: this slide does double duty as a check-in and as the first concrete example of this session's whole argument (familiarity breeds drift). Question 2 is the one that matters most and the one students may be least quick to answer honestly — frame it as a genuine, low-stakes admission, not a confession. Say something like: "Be honest with yourself here, not with me — we all pick up shortcuts in year two. What's yours?" Question 3 keeps the same function it had in Year 1: a low-pressure way to surface something not yet raised. What to watch for: a student who deflects question 2 with humour rather than answering it — that's often where the real answer is. Safeguarding consideration: if something is disclosed here that needs action, do not wait for slide 9 — listen calmly, do not promise confidentiality, do not investigate yourself, and report the same day via your campus's safeguarding team (slide 9).</a:t>
            </a:r>
            <a:endParaRPr/>
          </a:p>
        </p:txBody>
      </p:sp>
      <p:sp>
        <p:nvSpPr>
          <p:cNvPr id="70" name="Google Shape;7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slide is the whole reason this variant exists rather than just being Year 1 again, so don't rush it — roughly 6 minutes, slightly tighter than Year 1's equivalent since the argument lands faster with a group that already has the lived experience to recognise it. The Year 1 hidden-struggler framing is deliberately dropped here — it's not relevant to this slide's content, and re-running it would itself read as treating returners like new starters. Say something like: "None of you are careless. But you've all had a year to get comfortable, and comfortable is exactly when this stuff slips." Use the two columns as a direct, slightly provocative discussion prompt — ask the group to be honest about what they personally have got lazy about, not in the abstract. This works better landed with a bit of edge than landed gently; "don't fumble the last lap" is the spirit, not a warm reassurance. What to watch for: a student who deflects with "I've never had a problem" — that's the complacency this slide is warning about, not a counter-argument to it; worth naming gently in the room.</a:t>
            </a:r>
            <a:endParaRPr/>
          </a:p>
        </p:txBody>
      </p:sp>
      <p:sp>
        <p:nvSpPr>
          <p:cNvPr id="91" name="Google Shape;9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Roughly 4 minutes — much faster than the Year 1 version, since this is genuinely a refresher, not new information. Move through it briskly and treat it as a check rather than a teach: "Quick recap — you know all this, but it's worth saying once a year." The fire/evacuation confirm block should largely carry over from last year's content; flag explicitly if anything's changed for this room or building. The reporting line — tell your teacher — stays exactly as it was: hazards, near misses, damage, or anything not working. The point of keeping this slide brisk rather than detailed is that slowing down here undercuts slide 4's whole argument — if the tutor treats this as new information, it reads as not trusting the room, which is the opposite of this variant's register. What to watch for: don't skip the confirm-block check entirely just because it's familiar — that's exactly the kind of complacency slide 4 is warning about, and building-specific details do occasionally change.</a:t>
            </a:r>
            <a:endParaRPr/>
          </a:p>
        </p:txBody>
      </p:sp>
      <p:sp>
        <p:nvSpPr>
          <p:cNvPr id="111" name="Google Shape;11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Roughly 4 minutes — this is the same PROUD anchor as Year 1, deliberately unchanged, because the standard itself hasn't moved. What's changed is the excuse: a year in, "I didn't realise" carries less weight than it did in week one. Name Show Respect once and move on quickly; this group has heard the substance before and a long dwell here will read as patronising. Row two is worth a single direct line rather than an open discussion this time — "you've all seen this by now" — since the group has had a year to witness exactly this dynamic play out. Row three's groundwork has already been laid for most of this group; treat it as confirmation rather than introduction.</a:t>
            </a:r>
            <a:endParaRPr/>
          </a:p>
        </p:txBody>
      </p:sp>
      <p:sp>
        <p:nvSpPr>
          <p:cNvPr id="130" name="Google Shape;13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For Year 1 this slide is the hinge of the whole module; for Year 2 it's smaller but sharper — the job here is narrowly "what's new or what's commonly forgotten", not a re-run of last year's induction. Link back to slide 4's argument directly: this is exactly the kind of content where familiarity causes things to be skipped or assumed, so a tutor delivering this slide should resist the urge to rush it just because the room has heard subject H&amp;S before. If a genuine incident or recurring issue happened last year in this subject area, naming it generically here (without identifying who) is far more effective than an abstract reminder — returners respond to "this actually happened" much better than "please remember to...". Purpose for the curriculum team: this is the one slide per variant that needs subject-specific authoring — everything else in this deck is finished and should not be edited. Do not deliver this deck to students with this placeholder still in place; if there's genuinely nothing new for year two, replace this slide with a short, honest line to that effect ("nothing's changed since last year — here's a quick reminder of the headlines") rather than manufacturing content or leaving the placeholder in.</a:t>
            </a:r>
            <a:endParaRPr/>
          </a:p>
        </p:txBody>
      </p:sp>
      <p:sp>
        <p:nvSpPr>
          <p:cNvPr id="155" name="Google Shape;155;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Roughly 6 minutes, pairs, quick feedback — tighter than the Year 1 version, and deliberately so: this is a check, not a teach. Frame it as testing memory under familiarity, not testing knowledge: "You know all of this. Let's see what's actually stuck versus what's gone vague." The Year 1 hidden-struggler reframe is intentionally dropped here — it doesn't fit this slide's purpose for a returner group, and including it would read as treating the room like new starters. Question 1 checks whether the basics have stayed sharp. Question 2's answer is still simply “tell your teacher” — if a pair has drifted from that, that's exactly the kind of slippage slide 4 predicted, and worth naming as such rather than just correcting quietly. Question 3 is the conceptual core, unchanged from Year 1. Question 4 ties back to slide 4 directly: by year two, “because you have to” is an even weaker answer than it was in year one, since the room has had a year to see PPE do its job or watched someone skip it. What to watch for: a pair that answers fast and confidently but gets something wrong — that's precisely the complacency this whole variant is built to interrupt, so it's worth naming explicitly rather than just correcting the fact.</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Roughly 6 minutes — slightly tighter than Year 1, but don't let the brisker register of this whole deck shrink this slide; it carries the same weight regardless of variant. Read the first paragraph close to as written. Unlike Year 1, slide 4 hasn't already set up a "noticing vs telling on" distinction, so this slide is doing slightly more first-time framing work here than its Year 1 counterpart — don't assume the room has already internalised this point just because they're returners. The second paragraph deliberately widens scope beyond physical hazards to anything that's made a student feel unsafe or uncomfortable — about a space, an activity, or a person's behaviour. Safeguarding consideration — this is the most likely surface point in the session: if a student discloses something here, or did so earlier in the back-in-the-room discussion, the response is the same — listen calmly, do not promise confidentiality, do not investigate it yourself, and report it the same day via the safeguarding route. The full safeguarding procedure is covered in Module F; this slide only signposts. Before delivery, delete the two campus rows that aren't yours, leaving only your own campus's safeguarding team number visible to students — a deck showing three numbers and no clear instruction is worse than showing one.</a:t>
            </a:r>
            <a:endParaRPr/>
          </a:p>
        </p:txBody>
      </p:sp>
      <p:sp>
        <p:nvSpPr>
          <p:cNvPr id="195" name="Google Shape;19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Roughly 5 minutes. Every variant of this module ends this way, and that constant matters more than novelty — keep the mechanic identical to Year 1. Options 1–3 are deliberately worded as re-checks rather than first-time discovery ("actually check", "be honest about a habit you've let slip", "read properly, not skim") — these phrasings are the slide-10 expression of slide 4's whole argument, so don't soften them back toward Year 1's wording. Students write or draw their choice on a card; tutors keep the cards for follow-up (a quick scan now for anything flagged via option 4, and a genuinely useful prompt for 1:1s later in the term). Say something like: "Pick the one you know you actually need, not the one that sounds best." Option 4 is unchanged from every other variant — it's the safeguarding-disclosure route, and its presence here matters as much as its content. What to watch for: a student who selects option 4 and looks like they want to say more there and then — take that conversation aside rather than in front of the group, following the same safeguarding triage as slide 9.</a:t>
            </a:r>
            <a:endParaRPr/>
          </a:p>
        </p:txBody>
      </p:sp>
      <p:sp>
        <p:nvSpPr>
          <p:cNvPr id="219" name="Google Shape;21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Roughly 2 minutes. Don't introduce anything new here — a calm, brisk wind-down, not a summary to read verbatim. This close should feel like a peer-to-peer nudge rather than a lecture; "don't fumble the last lap" is the spirit. If you only land one point, make it the first: it's the slide 4 argument in miniature, and the one this group is most likely to underrate precisely because it doesn't feel dramatic. Close by pointing back to the cards from slide 10 — "hang on to that, we'll come back to it."</a:t>
            </a:r>
            <a:endParaRPr/>
          </a:p>
        </p:txBody>
      </p:sp>
      <p:sp>
        <p:nvSpPr>
          <p:cNvPr id="243" name="Google Shape;24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9" name="Google Shape;259;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11" Type="http://schemas.openxmlformats.org/officeDocument/2006/relationships/image" Target="../media/image10.png"/><Relationship Id="rId10" Type="http://schemas.openxmlformats.org/officeDocument/2006/relationships/image" Target="../media/image9.png"/><Relationship Id="rId9"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11" name="Shape 11"/>
        <p:cNvGrpSpPr/>
        <p:nvPr/>
      </p:nvGrpSpPr>
      <p:grpSpPr>
        <a:xfrm>
          <a:off x="0" y="0"/>
          <a:ext cx="0" cy="0"/>
          <a:chOff x="0" y="0"/>
          <a:chExt cx="0" cy="0"/>
        </a:xfrm>
      </p:grpSpPr>
      <p:sp>
        <p:nvSpPr>
          <p:cNvPr id="12" name="Google Shape;12;p3"/>
          <p:cNvSpPr/>
          <p:nvPr/>
        </p:nvSpPr>
        <p:spPr>
          <a:xfrm>
            <a:off x="640080" y="640080"/>
            <a:ext cx="7863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300"/>
              <a:buFont typeface="Poppins SemiBold"/>
              <a:buNone/>
            </a:pPr>
            <a:r>
              <a:rPr b="1" i="0" lang="en-US" sz="1300" u="none" cap="none" strike="noStrike">
                <a:solidFill>
                  <a:srgbClr val="FFCF01"/>
                </a:solidFill>
                <a:latin typeface="Poppins SemiBold"/>
                <a:ea typeface="Poppins SemiBold"/>
                <a:cs typeface="Poppins SemiBold"/>
                <a:sym typeface="Poppins SemiBold"/>
              </a:rPr>
              <a:t>MODULE C  ·  SETTLING IN  ·  LEVEL 3 DIGITAL AND CREATIVE MEDIA (YEAR 2)</a:t>
            </a:r>
            <a:endParaRPr b="0" i="0" sz="1300" u="none" cap="none" strike="noStrike">
              <a:solidFill>
                <a:schemeClr val="dk1"/>
              </a:solidFill>
              <a:latin typeface="Calibri"/>
              <a:ea typeface="Calibri"/>
              <a:cs typeface="Calibri"/>
              <a:sym typeface="Calibri"/>
            </a:endParaRPr>
          </a:p>
        </p:txBody>
      </p:sp>
      <p:sp>
        <p:nvSpPr>
          <p:cNvPr id="13" name="Google Shape;13;p3"/>
          <p:cNvSpPr/>
          <p:nvPr/>
        </p:nvSpPr>
        <p:spPr>
          <a:xfrm>
            <a:off x="640080" y="1371600"/>
            <a:ext cx="6492240" cy="21031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FFFFFF"/>
              </a:buClr>
              <a:buSzPts val="3400"/>
              <a:buFont typeface="Poppins SemiBold"/>
              <a:buNone/>
            </a:pPr>
            <a:r>
              <a:rPr b="1" i="0" lang="en-US" sz="3400" u="none" cap="none" strike="noStrike">
                <a:solidFill>
                  <a:srgbClr val="FFFFFF"/>
                </a:solidFill>
                <a:latin typeface="Poppins SemiBold"/>
                <a:ea typeface="Poppins SemiBold"/>
                <a:cs typeface="Poppins SemiBold"/>
                <a:sym typeface="Poppins SemiBold"/>
              </a:rPr>
              <a:t>Health &amp; safety:</a:t>
            </a:r>
            <a:endParaRPr b="0" i="0" sz="34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3400"/>
              <a:buFont typeface="Poppins SemiBold"/>
              <a:buNone/>
            </a:pPr>
            <a:r>
              <a:rPr b="1" i="0" lang="en-US" sz="3400" u="none" cap="none" strike="noStrike">
                <a:solidFill>
                  <a:srgbClr val="FFFFFF"/>
                </a:solidFill>
                <a:latin typeface="Poppins SemiBold"/>
                <a:ea typeface="Poppins SemiBold"/>
                <a:cs typeface="Poppins SemiBold"/>
                <a:sym typeface="Poppins SemiBold"/>
              </a:rPr>
              <a:t>a year in, not</a:t>
            </a:r>
            <a:endParaRPr b="0" i="0" sz="34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3400"/>
              <a:buFont typeface="Poppins SemiBold"/>
              <a:buNone/>
            </a:pPr>
            <a:r>
              <a:rPr b="1" i="0" lang="en-US" sz="3400" u="none" cap="none" strike="noStrike">
                <a:solidFill>
                  <a:srgbClr val="FFFFFF"/>
                </a:solidFill>
                <a:latin typeface="Poppins SemiBold"/>
                <a:ea typeface="Poppins SemiBold"/>
                <a:cs typeface="Poppins SemiBold"/>
                <a:sym typeface="Poppins SemiBold"/>
              </a:rPr>
              <a:t>starting again</a:t>
            </a:r>
            <a:endParaRPr b="0" i="0" sz="3400" u="none" cap="none" strike="noStrike">
              <a:solidFill>
                <a:schemeClr val="dk1"/>
              </a:solidFill>
              <a:latin typeface="Calibri"/>
              <a:ea typeface="Calibri"/>
              <a:cs typeface="Calibri"/>
              <a:sym typeface="Calibri"/>
            </a:endParaRPr>
          </a:p>
        </p:txBody>
      </p:sp>
      <p:sp>
        <p:nvSpPr>
          <p:cNvPr id="14" name="Google Shape;14;p3"/>
          <p:cNvSpPr/>
          <p:nvPr/>
        </p:nvSpPr>
        <p:spPr>
          <a:xfrm>
            <a:off x="640080" y="3703320"/>
            <a:ext cx="6400800" cy="7315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D2DBDA"/>
              </a:buClr>
              <a:buSzPts val="1500"/>
              <a:buFont typeface="Poppins"/>
              <a:buNone/>
            </a:pPr>
            <a:r>
              <a:rPr b="0" i="1" lang="en-US" sz="1500" u="none" cap="none" strike="noStrike">
                <a:solidFill>
                  <a:srgbClr val="D2DBDA"/>
                </a:solidFill>
                <a:latin typeface="Poppins"/>
                <a:ea typeface="Poppins"/>
                <a:cs typeface="Poppins"/>
                <a:sym typeface="Poppins"/>
              </a:rPr>
              <a:t>You know the studio. This is about what a year of working in it has quietly cost — and what’s genuinely changed for year two.</a:t>
            </a:r>
            <a:endParaRPr b="0" i="0" sz="1500" u="none" cap="none" strike="noStrike">
              <a:solidFill>
                <a:schemeClr val="dk1"/>
              </a:solidFill>
              <a:latin typeface="Calibri"/>
              <a:ea typeface="Calibri"/>
              <a:cs typeface="Calibri"/>
              <a:sym typeface="Calibri"/>
            </a:endParaRPr>
          </a:p>
        </p:txBody>
      </p:sp>
      <p:sp>
        <p:nvSpPr>
          <p:cNvPr id="15" name="Google Shape;15;p3"/>
          <p:cNvSpPr/>
          <p:nvPr/>
        </p:nvSpPr>
        <p:spPr>
          <a:xfrm>
            <a:off x="7223760" y="1783080"/>
            <a:ext cx="1828800" cy="1828800"/>
          </a:xfrm>
          <a:prstGeom prst="ellipse">
            <a:avLst/>
          </a:prstGeom>
          <a:solidFill>
            <a:srgbClr val="0F7A54">
              <a:alpha val="2509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6" name="Google Shape;16;p3"/>
          <p:cNvPicPr preferRelativeResize="0"/>
          <p:nvPr/>
        </p:nvPicPr>
        <p:blipFill rotWithShape="1">
          <a:blip r:embed="rId3">
            <a:alphaModFix/>
          </a:blip>
          <a:srcRect b="0" l="0" r="0" t="0"/>
          <a:stretch/>
        </p:blipFill>
        <p:spPr>
          <a:xfrm>
            <a:off x="7699248" y="2258568"/>
            <a:ext cx="877824" cy="8778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1" name="Shape 21"/>
        <p:cNvGrpSpPr/>
        <p:nvPr/>
      </p:nvGrpSpPr>
      <p:grpSpPr>
        <a:xfrm>
          <a:off x="0" y="0"/>
          <a:ext cx="0" cy="0"/>
          <a:chOff x="0" y="0"/>
          <a:chExt cx="0" cy="0"/>
        </a:xfrm>
      </p:grpSpPr>
      <p:sp>
        <p:nvSpPr>
          <p:cNvPr id="22" name="Google Shape;22;p4"/>
          <p:cNvSpPr/>
          <p:nvPr/>
        </p:nvSpPr>
        <p:spPr>
          <a:xfrm>
            <a:off x="6949440" y="292608"/>
            <a:ext cx="178308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3" name="Google Shape;23;p4"/>
          <p:cNvPicPr preferRelativeResize="0"/>
          <p:nvPr/>
        </p:nvPicPr>
        <p:blipFill rotWithShape="1">
          <a:blip r:embed="rId3">
            <a:alphaModFix/>
          </a:blip>
          <a:srcRect b="0" l="0" r="0" t="0"/>
          <a:stretch/>
        </p:blipFill>
        <p:spPr>
          <a:xfrm>
            <a:off x="7040880" y="356616"/>
            <a:ext cx="201168" cy="201168"/>
          </a:xfrm>
          <a:prstGeom prst="rect">
            <a:avLst/>
          </a:prstGeom>
          <a:noFill/>
          <a:ln>
            <a:noFill/>
          </a:ln>
        </p:spPr>
      </p:pic>
      <p:sp>
        <p:nvSpPr>
          <p:cNvPr id="24" name="Google Shape;24;p4"/>
          <p:cNvSpPr/>
          <p:nvPr/>
        </p:nvSpPr>
        <p:spPr>
          <a:xfrm>
            <a:off x="7278624" y="292608"/>
            <a:ext cx="14173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SESSION MAP</a:t>
            </a:r>
            <a:endParaRPr sz="1100">
              <a:solidFill>
                <a:schemeClr val="dk1"/>
              </a:solidFill>
              <a:latin typeface="Calibri"/>
              <a:ea typeface="Calibri"/>
              <a:cs typeface="Calibri"/>
              <a:sym typeface="Calibri"/>
            </a:endParaRPr>
          </a:p>
        </p:txBody>
      </p:sp>
      <p:sp>
        <p:nvSpPr>
          <p:cNvPr id="25" name="Google Shape;25;p4"/>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SESSION MAP</a:t>
            </a:r>
            <a:endParaRPr sz="1200">
              <a:solidFill>
                <a:schemeClr val="dk1"/>
              </a:solidFill>
              <a:latin typeface="Calibri"/>
              <a:ea typeface="Calibri"/>
              <a:cs typeface="Calibri"/>
              <a:sym typeface="Calibri"/>
            </a:endParaRPr>
          </a:p>
        </p:txBody>
      </p:sp>
      <p:sp>
        <p:nvSpPr>
          <p:cNvPr id="26" name="Google Shape;26;p4"/>
          <p:cNvSpPr/>
          <p:nvPr/>
        </p:nvSpPr>
        <p:spPr>
          <a:xfrm>
            <a:off x="548640" y="851095"/>
            <a:ext cx="59436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Where we're going</a:t>
            </a:r>
            <a:endParaRPr sz="2800">
              <a:solidFill>
                <a:schemeClr val="dk1"/>
              </a:solidFill>
              <a:latin typeface="Calibri"/>
              <a:ea typeface="Calibri"/>
              <a:cs typeface="Calibri"/>
              <a:sym typeface="Calibri"/>
            </a:endParaRPr>
          </a:p>
        </p:txBody>
      </p:sp>
      <p:sp>
        <p:nvSpPr>
          <p:cNvPr id="27" name="Google Shape;27;p4"/>
          <p:cNvSpPr/>
          <p:nvPr/>
        </p:nvSpPr>
        <p:spPr>
          <a:xfrm>
            <a:off x="548640" y="1600200"/>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p4"/>
          <p:cNvSpPr/>
          <p:nvPr/>
        </p:nvSpPr>
        <p:spPr>
          <a:xfrm>
            <a:off x="694944" y="1741932"/>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9" name="Google Shape;29;p4"/>
          <p:cNvPicPr preferRelativeResize="0"/>
          <p:nvPr/>
        </p:nvPicPr>
        <p:blipFill rotWithShape="1">
          <a:blip r:embed="rId4">
            <a:alphaModFix/>
          </a:blip>
          <a:srcRect b="0" l="0" r="0" t="0"/>
          <a:stretch/>
        </p:blipFill>
        <p:spPr>
          <a:xfrm>
            <a:off x="800100" y="1847088"/>
            <a:ext cx="246888" cy="246888"/>
          </a:xfrm>
          <a:prstGeom prst="rect">
            <a:avLst/>
          </a:prstGeom>
          <a:noFill/>
          <a:ln>
            <a:noFill/>
          </a:ln>
        </p:spPr>
      </p:pic>
      <p:sp>
        <p:nvSpPr>
          <p:cNvPr id="30" name="Google Shape;30;p4"/>
          <p:cNvSpPr/>
          <p:nvPr/>
        </p:nvSpPr>
        <p:spPr>
          <a:xfrm>
            <a:off x="1280160" y="1673352"/>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Back in the room</a:t>
            </a:r>
            <a:endParaRPr sz="1300">
              <a:solidFill>
                <a:schemeClr val="dk1"/>
              </a:solidFill>
              <a:latin typeface="Calibri"/>
              <a:ea typeface="Calibri"/>
              <a:cs typeface="Calibri"/>
              <a:sym typeface="Calibri"/>
            </a:endParaRPr>
          </a:p>
        </p:txBody>
      </p:sp>
      <p:sp>
        <p:nvSpPr>
          <p:cNvPr id="31" name="Google Shape;31;p4"/>
          <p:cNvSpPr/>
          <p:nvPr/>
        </p:nvSpPr>
        <p:spPr>
          <a:xfrm>
            <a:off x="1280160" y="1965960"/>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What's different now you're a year in.</a:t>
            </a:r>
            <a:endParaRPr sz="950">
              <a:solidFill>
                <a:schemeClr val="dk1"/>
              </a:solidFill>
              <a:latin typeface="Calibri"/>
              <a:ea typeface="Calibri"/>
              <a:cs typeface="Calibri"/>
              <a:sym typeface="Calibri"/>
            </a:endParaRPr>
          </a:p>
        </p:txBody>
      </p:sp>
      <p:sp>
        <p:nvSpPr>
          <p:cNvPr id="32" name="Google Shape;32;p4"/>
          <p:cNvSpPr/>
          <p:nvPr/>
        </p:nvSpPr>
        <p:spPr>
          <a:xfrm>
            <a:off x="548640" y="2386584"/>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4"/>
          <p:cNvSpPr/>
          <p:nvPr/>
        </p:nvSpPr>
        <p:spPr>
          <a:xfrm>
            <a:off x="694944" y="2528316"/>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4" name="Google Shape;34;p4"/>
          <p:cNvPicPr preferRelativeResize="0"/>
          <p:nvPr/>
        </p:nvPicPr>
        <p:blipFill rotWithShape="1">
          <a:blip r:embed="rId5">
            <a:alphaModFix/>
          </a:blip>
          <a:srcRect b="0" l="0" r="0" t="0"/>
          <a:stretch/>
        </p:blipFill>
        <p:spPr>
          <a:xfrm>
            <a:off x="800100" y="2633472"/>
            <a:ext cx="246888" cy="246888"/>
          </a:xfrm>
          <a:prstGeom prst="rect">
            <a:avLst/>
          </a:prstGeom>
          <a:noFill/>
          <a:ln>
            <a:noFill/>
          </a:ln>
        </p:spPr>
      </p:pic>
      <p:sp>
        <p:nvSpPr>
          <p:cNvPr id="35" name="Google Shape;35;p4"/>
          <p:cNvSpPr/>
          <p:nvPr/>
        </p:nvSpPr>
        <p:spPr>
          <a:xfrm>
            <a:off x="1280160" y="2459736"/>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Where it slips</a:t>
            </a:r>
            <a:endParaRPr sz="1300">
              <a:solidFill>
                <a:schemeClr val="dk1"/>
              </a:solidFill>
              <a:latin typeface="Calibri"/>
              <a:ea typeface="Calibri"/>
              <a:cs typeface="Calibri"/>
              <a:sym typeface="Calibri"/>
            </a:endParaRPr>
          </a:p>
        </p:txBody>
      </p:sp>
      <p:sp>
        <p:nvSpPr>
          <p:cNvPr id="36" name="Google Shape;36;p4"/>
          <p:cNvSpPr/>
          <p:nvPr/>
        </p:nvSpPr>
        <p:spPr>
          <a:xfrm>
            <a:off x="1280160" y="2752344"/>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What gets sloppy in year two, and why.</a:t>
            </a:r>
            <a:endParaRPr sz="950">
              <a:solidFill>
                <a:schemeClr val="dk1"/>
              </a:solidFill>
              <a:latin typeface="Calibri"/>
              <a:ea typeface="Calibri"/>
              <a:cs typeface="Calibri"/>
              <a:sym typeface="Calibri"/>
            </a:endParaRPr>
          </a:p>
        </p:txBody>
      </p:sp>
      <p:sp>
        <p:nvSpPr>
          <p:cNvPr id="37" name="Google Shape;37;p4"/>
          <p:cNvSpPr/>
          <p:nvPr/>
        </p:nvSpPr>
        <p:spPr>
          <a:xfrm>
            <a:off x="548640" y="3172968"/>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4"/>
          <p:cNvSpPr/>
          <p:nvPr/>
        </p:nvSpPr>
        <p:spPr>
          <a:xfrm>
            <a:off x="694944" y="3314700"/>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9" name="Google Shape;39;p4"/>
          <p:cNvPicPr preferRelativeResize="0"/>
          <p:nvPr/>
        </p:nvPicPr>
        <p:blipFill rotWithShape="1">
          <a:blip r:embed="rId6">
            <a:alphaModFix/>
          </a:blip>
          <a:srcRect b="0" l="0" r="0" t="0"/>
          <a:stretch/>
        </p:blipFill>
        <p:spPr>
          <a:xfrm>
            <a:off x="800100" y="3419856"/>
            <a:ext cx="246888" cy="246888"/>
          </a:xfrm>
          <a:prstGeom prst="rect">
            <a:avLst/>
          </a:prstGeom>
          <a:noFill/>
          <a:ln>
            <a:noFill/>
          </a:ln>
        </p:spPr>
      </p:pic>
      <p:sp>
        <p:nvSpPr>
          <p:cNvPr id="40" name="Google Shape;40;p4"/>
          <p:cNvSpPr/>
          <p:nvPr/>
        </p:nvSpPr>
        <p:spPr>
          <a:xfrm>
            <a:off x="1280160" y="3246120"/>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The basics, fast</a:t>
            </a:r>
            <a:endParaRPr sz="1300">
              <a:solidFill>
                <a:schemeClr val="dk1"/>
              </a:solidFill>
              <a:latin typeface="Calibri"/>
              <a:ea typeface="Calibri"/>
              <a:cs typeface="Calibri"/>
              <a:sym typeface="Calibri"/>
            </a:endParaRPr>
          </a:p>
        </p:txBody>
      </p:sp>
      <p:sp>
        <p:nvSpPr>
          <p:cNvPr id="41" name="Google Shape;41;p4"/>
          <p:cNvSpPr/>
          <p:nvPr/>
        </p:nvSpPr>
        <p:spPr>
          <a:xfrm>
            <a:off x="1280160" y="3538728"/>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A refresher, not a re-teach.</a:t>
            </a:r>
            <a:endParaRPr sz="950">
              <a:solidFill>
                <a:schemeClr val="dk1"/>
              </a:solidFill>
              <a:latin typeface="Calibri"/>
              <a:ea typeface="Calibri"/>
              <a:cs typeface="Calibri"/>
              <a:sym typeface="Calibri"/>
            </a:endParaRPr>
          </a:p>
        </p:txBody>
      </p:sp>
      <p:sp>
        <p:nvSpPr>
          <p:cNvPr id="42" name="Google Shape;42;p4"/>
          <p:cNvSpPr/>
          <p:nvPr/>
        </p:nvSpPr>
        <p:spPr>
          <a:xfrm>
            <a:off x="548640" y="3959352"/>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4"/>
          <p:cNvSpPr/>
          <p:nvPr/>
        </p:nvSpPr>
        <p:spPr>
          <a:xfrm>
            <a:off x="694944" y="4101084"/>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4" name="Google Shape;44;p4"/>
          <p:cNvPicPr preferRelativeResize="0"/>
          <p:nvPr/>
        </p:nvPicPr>
        <p:blipFill rotWithShape="1">
          <a:blip r:embed="rId7">
            <a:alphaModFix/>
          </a:blip>
          <a:srcRect b="0" l="0" r="0" t="0"/>
          <a:stretch/>
        </p:blipFill>
        <p:spPr>
          <a:xfrm>
            <a:off x="800100" y="4206240"/>
            <a:ext cx="246888" cy="246888"/>
          </a:xfrm>
          <a:prstGeom prst="rect">
            <a:avLst/>
          </a:prstGeom>
          <a:noFill/>
          <a:ln>
            <a:noFill/>
          </a:ln>
        </p:spPr>
      </p:pic>
      <p:sp>
        <p:nvSpPr>
          <p:cNvPr id="45" name="Google Shape;45;p4"/>
          <p:cNvSpPr/>
          <p:nvPr/>
        </p:nvSpPr>
        <p:spPr>
          <a:xfrm>
            <a:off x="1280160" y="4032504"/>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Show respect</a:t>
            </a:r>
            <a:endParaRPr sz="1300">
              <a:solidFill>
                <a:schemeClr val="dk1"/>
              </a:solidFill>
              <a:latin typeface="Calibri"/>
              <a:ea typeface="Calibri"/>
              <a:cs typeface="Calibri"/>
              <a:sym typeface="Calibri"/>
            </a:endParaRPr>
          </a:p>
        </p:txBody>
      </p:sp>
      <p:sp>
        <p:nvSpPr>
          <p:cNvPr id="46" name="Google Shape;46;p4"/>
          <p:cNvSpPr/>
          <p:nvPr/>
        </p:nvSpPr>
        <p:spPr>
          <a:xfrm>
            <a:off x="1280160" y="4325112"/>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Same standard, less excuse for not knowing it.</a:t>
            </a:r>
            <a:endParaRPr sz="950">
              <a:solidFill>
                <a:schemeClr val="dk1"/>
              </a:solidFill>
              <a:latin typeface="Calibri"/>
              <a:ea typeface="Calibri"/>
              <a:cs typeface="Calibri"/>
              <a:sym typeface="Calibri"/>
            </a:endParaRPr>
          </a:p>
        </p:txBody>
      </p:sp>
      <p:sp>
        <p:nvSpPr>
          <p:cNvPr id="47" name="Google Shape;47;p4"/>
          <p:cNvSpPr/>
          <p:nvPr/>
        </p:nvSpPr>
        <p:spPr>
          <a:xfrm>
            <a:off x="4800600" y="1600200"/>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4"/>
          <p:cNvSpPr/>
          <p:nvPr/>
        </p:nvSpPr>
        <p:spPr>
          <a:xfrm>
            <a:off x="4946904" y="1741932"/>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9" name="Google Shape;49;p4"/>
          <p:cNvPicPr preferRelativeResize="0"/>
          <p:nvPr/>
        </p:nvPicPr>
        <p:blipFill rotWithShape="1">
          <a:blip r:embed="rId8">
            <a:alphaModFix/>
          </a:blip>
          <a:srcRect b="0" l="0" r="0" t="0"/>
          <a:stretch/>
        </p:blipFill>
        <p:spPr>
          <a:xfrm>
            <a:off x="5052060" y="1847088"/>
            <a:ext cx="246888" cy="246888"/>
          </a:xfrm>
          <a:prstGeom prst="rect">
            <a:avLst/>
          </a:prstGeom>
          <a:noFill/>
          <a:ln>
            <a:noFill/>
          </a:ln>
        </p:spPr>
      </p:pic>
      <p:sp>
        <p:nvSpPr>
          <p:cNvPr id="50" name="Google Shape;50;p4"/>
          <p:cNvSpPr/>
          <p:nvPr/>
        </p:nvSpPr>
        <p:spPr>
          <a:xfrm>
            <a:off x="5532120" y="1673352"/>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Your subject area</a:t>
            </a:r>
            <a:endParaRPr sz="1300">
              <a:solidFill>
                <a:schemeClr val="dk1"/>
              </a:solidFill>
              <a:latin typeface="Calibri"/>
              <a:ea typeface="Calibri"/>
              <a:cs typeface="Calibri"/>
              <a:sym typeface="Calibri"/>
            </a:endParaRPr>
          </a:p>
        </p:txBody>
      </p:sp>
      <p:sp>
        <p:nvSpPr>
          <p:cNvPr id="51" name="Google Shape;51;p4"/>
          <p:cNvSpPr/>
          <p:nvPr/>
        </p:nvSpPr>
        <p:spPr>
          <a:xfrm>
            <a:off x="5532120" y="1965960"/>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What's changed for year two.</a:t>
            </a:r>
            <a:endParaRPr sz="950">
              <a:solidFill>
                <a:schemeClr val="dk1"/>
              </a:solidFill>
              <a:latin typeface="Calibri"/>
              <a:ea typeface="Calibri"/>
              <a:cs typeface="Calibri"/>
              <a:sym typeface="Calibri"/>
            </a:endParaRPr>
          </a:p>
        </p:txBody>
      </p:sp>
      <p:sp>
        <p:nvSpPr>
          <p:cNvPr id="52" name="Google Shape;52;p4"/>
          <p:cNvSpPr/>
          <p:nvPr/>
        </p:nvSpPr>
        <p:spPr>
          <a:xfrm>
            <a:off x="4800600" y="2386584"/>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4"/>
          <p:cNvSpPr/>
          <p:nvPr/>
        </p:nvSpPr>
        <p:spPr>
          <a:xfrm>
            <a:off x="4946904" y="2528316"/>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4" name="Google Shape;54;p4"/>
          <p:cNvPicPr preferRelativeResize="0"/>
          <p:nvPr/>
        </p:nvPicPr>
        <p:blipFill rotWithShape="1">
          <a:blip r:embed="rId9">
            <a:alphaModFix/>
          </a:blip>
          <a:srcRect b="0" l="0" r="0" t="0"/>
          <a:stretch/>
        </p:blipFill>
        <p:spPr>
          <a:xfrm>
            <a:off x="5052060" y="2633472"/>
            <a:ext cx="246888" cy="246888"/>
          </a:xfrm>
          <a:prstGeom prst="rect">
            <a:avLst/>
          </a:prstGeom>
          <a:noFill/>
          <a:ln>
            <a:noFill/>
          </a:ln>
        </p:spPr>
      </p:pic>
      <p:sp>
        <p:nvSpPr>
          <p:cNvPr id="55" name="Google Shape;55;p4"/>
          <p:cNvSpPr/>
          <p:nvPr/>
        </p:nvSpPr>
        <p:spPr>
          <a:xfrm>
            <a:off x="5532120" y="2459736"/>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Quick check</a:t>
            </a:r>
            <a:endParaRPr sz="1300">
              <a:solidFill>
                <a:schemeClr val="dk1"/>
              </a:solidFill>
              <a:latin typeface="Calibri"/>
              <a:ea typeface="Calibri"/>
              <a:cs typeface="Calibri"/>
              <a:sym typeface="Calibri"/>
            </a:endParaRPr>
          </a:p>
        </p:txBody>
      </p:sp>
      <p:sp>
        <p:nvSpPr>
          <p:cNvPr id="56" name="Google Shape;56;p4"/>
          <p:cNvSpPr/>
          <p:nvPr/>
        </p:nvSpPr>
        <p:spPr>
          <a:xfrm>
            <a:off x="5532120" y="2752344"/>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Catch what's gone fuzzy over the summer.</a:t>
            </a:r>
            <a:endParaRPr sz="950">
              <a:solidFill>
                <a:schemeClr val="dk1"/>
              </a:solidFill>
              <a:latin typeface="Calibri"/>
              <a:ea typeface="Calibri"/>
              <a:cs typeface="Calibri"/>
              <a:sym typeface="Calibri"/>
            </a:endParaRPr>
          </a:p>
        </p:txBody>
      </p:sp>
      <p:sp>
        <p:nvSpPr>
          <p:cNvPr id="57" name="Google Shape;57;p4"/>
          <p:cNvSpPr/>
          <p:nvPr/>
        </p:nvSpPr>
        <p:spPr>
          <a:xfrm>
            <a:off x="4800600" y="3172968"/>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4"/>
          <p:cNvSpPr/>
          <p:nvPr/>
        </p:nvSpPr>
        <p:spPr>
          <a:xfrm>
            <a:off x="4946904" y="3314700"/>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9" name="Google Shape;59;p4"/>
          <p:cNvPicPr preferRelativeResize="0"/>
          <p:nvPr/>
        </p:nvPicPr>
        <p:blipFill rotWithShape="1">
          <a:blip r:embed="rId10">
            <a:alphaModFix/>
          </a:blip>
          <a:srcRect b="0" l="0" r="0" t="0"/>
          <a:stretch/>
        </p:blipFill>
        <p:spPr>
          <a:xfrm>
            <a:off x="5052060" y="3419856"/>
            <a:ext cx="246888" cy="246888"/>
          </a:xfrm>
          <a:prstGeom prst="rect">
            <a:avLst/>
          </a:prstGeom>
          <a:noFill/>
          <a:ln>
            <a:noFill/>
          </a:ln>
        </p:spPr>
      </p:pic>
      <p:sp>
        <p:nvSpPr>
          <p:cNvPr id="60" name="Google Shape;60;p4"/>
          <p:cNvSpPr/>
          <p:nvPr/>
        </p:nvSpPr>
        <p:spPr>
          <a:xfrm>
            <a:off x="5532120" y="3246120"/>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If something's not right</a:t>
            </a:r>
            <a:endParaRPr sz="1300">
              <a:solidFill>
                <a:schemeClr val="dk1"/>
              </a:solidFill>
              <a:latin typeface="Calibri"/>
              <a:ea typeface="Calibri"/>
              <a:cs typeface="Calibri"/>
              <a:sym typeface="Calibri"/>
            </a:endParaRPr>
          </a:p>
        </p:txBody>
      </p:sp>
      <p:sp>
        <p:nvSpPr>
          <p:cNvPr id="61" name="Google Shape;61;p4"/>
          <p:cNvSpPr/>
          <p:nvPr/>
        </p:nvSpPr>
        <p:spPr>
          <a:xfrm>
            <a:off x="5532120" y="3538728"/>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Still applies. More so, if anything.</a:t>
            </a:r>
            <a:endParaRPr sz="950">
              <a:solidFill>
                <a:schemeClr val="dk1"/>
              </a:solidFill>
              <a:latin typeface="Calibri"/>
              <a:ea typeface="Calibri"/>
              <a:cs typeface="Calibri"/>
              <a:sym typeface="Calibri"/>
            </a:endParaRPr>
          </a:p>
        </p:txBody>
      </p:sp>
      <p:sp>
        <p:nvSpPr>
          <p:cNvPr id="62" name="Google Shape;62;p4"/>
          <p:cNvSpPr/>
          <p:nvPr/>
        </p:nvSpPr>
        <p:spPr>
          <a:xfrm>
            <a:off x="4800600" y="3959352"/>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 name="Google Shape;63;p4"/>
          <p:cNvSpPr/>
          <p:nvPr/>
        </p:nvSpPr>
        <p:spPr>
          <a:xfrm>
            <a:off x="4946904" y="4101084"/>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4" name="Google Shape;64;p4"/>
          <p:cNvPicPr preferRelativeResize="0"/>
          <p:nvPr/>
        </p:nvPicPr>
        <p:blipFill rotWithShape="1">
          <a:blip r:embed="rId11">
            <a:alphaModFix/>
          </a:blip>
          <a:srcRect b="0" l="0" r="0" t="0"/>
          <a:stretch/>
        </p:blipFill>
        <p:spPr>
          <a:xfrm>
            <a:off x="5052060" y="4206240"/>
            <a:ext cx="246888" cy="246888"/>
          </a:xfrm>
          <a:prstGeom prst="rect">
            <a:avLst/>
          </a:prstGeom>
          <a:noFill/>
          <a:ln>
            <a:noFill/>
          </a:ln>
        </p:spPr>
      </p:pic>
      <p:sp>
        <p:nvSpPr>
          <p:cNvPr id="65" name="Google Shape;65;p4"/>
          <p:cNvSpPr/>
          <p:nvPr/>
        </p:nvSpPr>
        <p:spPr>
          <a:xfrm>
            <a:off x="5532120" y="4032504"/>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One thing</a:t>
            </a:r>
            <a:endParaRPr sz="1300">
              <a:solidFill>
                <a:schemeClr val="dk1"/>
              </a:solidFill>
              <a:latin typeface="Calibri"/>
              <a:ea typeface="Calibri"/>
              <a:cs typeface="Calibri"/>
              <a:sym typeface="Calibri"/>
            </a:endParaRPr>
          </a:p>
        </p:txBody>
      </p:sp>
      <p:sp>
        <p:nvSpPr>
          <p:cNvPr id="66" name="Google Shape;66;p4"/>
          <p:cNvSpPr/>
          <p:nvPr/>
        </p:nvSpPr>
        <p:spPr>
          <a:xfrm>
            <a:off x="5532120" y="4325112"/>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Your commitment for this week.</a:t>
            </a:r>
            <a:endParaRPr sz="9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71" name="Shape 71"/>
        <p:cNvGrpSpPr/>
        <p:nvPr/>
      </p:nvGrpSpPr>
      <p:grpSpPr>
        <a:xfrm>
          <a:off x="0" y="0"/>
          <a:ext cx="0" cy="0"/>
          <a:chOff x="0" y="0"/>
          <a:chExt cx="0" cy="0"/>
        </a:xfrm>
      </p:grpSpPr>
      <p:sp>
        <p:nvSpPr>
          <p:cNvPr id="72" name="Google Shape;72;p5"/>
          <p:cNvSpPr/>
          <p:nvPr/>
        </p:nvSpPr>
        <p:spPr>
          <a:xfrm>
            <a:off x="7040880" y="292608"/>
            <a:ext cx="169164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3" name="Google Shape;73;p5"/>
          <p:cNvPicPr preferRelativeResize="0"/>
          <p:nvPr/>
        </p:nvPicPr>
        <p:blipFill rotWithShape="1">
          <a:blip r:embed="rId3">
            <a:alphaModFix/>
          </a:blip>
          <a:srcRect b="0" l="0" r="0" t="0"/>
          <a:stretch/>
        </p:blipFill>
        <p:spPr>
          <a:xfrm>
            <a:off x="7132320" y="356616"/>
            <a:ext cx="201168" cy="201168"/>
          </a:xfrm>
          <a:prstGeom prst="rect">
            <a:avLst/>
          </a:prstGeom>
          <a:noFill/>
          <a:ln>
            <a:noFill/>
          </a:ln>
        </p:spPr>
      </p:pic>
      <p:sp>
        <p:nvSpPr>
          <p:cNvPr id="74" name="Google Shape;74;p5"/>
          <p:cNvSpPr/>
          <p:nvPr/>
        </p:nvSpPr>
        <p:spPr>
          <a:xfrm>
            <a:off x="7370064" y="292608"/>
            <a:ext cx="1325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DISCUSSION</a:t>
            </a:r>
            <a:endParaRPr sz="1100">
              <a:solidFill>
                <a:schemeClr val="dk1"/>
              </a:solidFill>
              <a:latin typeface="Calibri"/>
              <a:ea typeface="Calibri"/>
              <a:cs typeface="Calibri"/>
              <a:sym typeface="Calibri"/>
            </a:endParaRPr>
          </a:p>
        </p:txBody>
      </p:sp>
      <p:sp>
        <p:nvSpPr>
          <p:cNvPr id="75" name="Google Shape;75;p5"/>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BACK IN THE ROOM · ~8 MINUTES · PAIRS</a:t>
            </a:r>
            <a:endParaRPr sz="1200">
              <a:solidFill>
                <a:schemeClr val="dk1"/>
              </a:solidFill>
              <a:latin typeface="Calibri"/>
              <a:ea typeface="Calibri"/>
              <a:cs typeface="Calibri"/>
              <a:sym typeface="Calibri"/>
            </a:endParaRPr>
          </a:p>
        </p:txBody>
      </p:sp>
      <p:sp>
        <p:nvSpPr>
          <p:cNvPr id="76" name="Google Shape;76;p5"/>
          <p:cNvSpPr/>
          <p:nvPr/>
        </p:nvSpPr>
        <p:spPr>
          <a:xfrm>
            <a:off x="548640" y="987552"/>
            <a:ext cx="59436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What's different now?</a:t>
            </a:r>
            <a:endParaRPr sz="2800">
              <a:solidFill>
                <a:schemeClr val="dk1"/>
              </a:solidFill>
              <a:latin typeface="Calibri"/>
              <a:ea typeface="Calibri"/>
              <a:cs typeface="Calibri"/>
              <a:sym typeface="Calibri"/>
            </a:endParaRPr>
          </a:p>
        </p:txBody>
      </p:sp>
      <p:sp>
        <p:nvSpPr>
          <p:cNvPr id="77" name="Google Shape;77;p5"/>
          <p:cNvSpPr/>
          <p:nvPr/>
        </p:nvSpPr>
        <p:spPr>
          <a:xfrm>
            <a:off x="548640" y="1691640"/>
            <a:ext cx="8046720" cy="2880360"/>
          </a:xfrm>
          <a:prstGeom prst="roundRect">
            <a:avLst>
              <a:gd fmla="val 2540"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914400" y="1965960"/>
            <a:ext cx="420624" cy="42062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5"/>
          <p:cNvSpPr/>
          <p:nvPr/>
        </p:nvSpPr>
        <p:spPr>
          <a:xfrm>
            <a:off x="914400" y="196596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Poppins SemiBold"/>
              <a:buNone/>
            </a:pPr>
            <a:r>
              <a:rPr b="1" lang="en-US" sz="1600">
                <a:solidFill>
                  <a:srgbClr val="FFFFFF"/>
                </a:solidFill>
                <a:latin typeface="Poppins SemiBold"/>
                <a:ea typeface="Poppins SemiBold"/>
                <a:cs typeface="Poppins SemiBold"/>
                <a:sym typeface="Poppins SemiBold"/>
              </a:rPr>
              <a:t>1</a:t>
            </a:r>
            <a:endParaRPr sz="1600">
              <a:solidFill>
                <a:schemeClr val="dk1"/>
              </a:solidFill>
              <a:latin typeface="Calibri"/>
              <a:ea typeface="Calibri"/>
              <a:cs typeface="Calibri"/>
              <a:sym typeface="Calibri"/>
            </a:endParaRPr>
          </a:p>
        </p:txBody>
      </p:sp>
      <p:sp>
        <p:nvSpPr>
          <p:cNvPr id="80" name="Google Shape;80;p5"/>
          <p:cNvSpPr/>
          <p:nvPr/>
        </p:nvSpPr>
        <p:spPr>
          <a:xfrm>
            <a:off x="1508760" y="1947672"/>
            <a:ext cx="676656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450"/>
              <a:buFont typeface="Poppins"/>
              <a:buNone/>
            </a:pPr>
            <a:r>
              <a:rPr lang="en-US" sz="1450">
                <a:solidFill>
                  <a:srgbClr val="1B2A30"/>
                </a:solidFill>
                <a:latin typeface="Poppins"/>
                <a:ea typeface="Poppins"/>
                <a:cs typeface="Poppins"/>
                <a:sym typeface="Poppins"/>
              </a:rPr>
              <a:t>What’s changed about your studio access, equipment availability, or the practical programme since last year?</a:t>
            </a:r>
            <a:endParaRPr sz="1450">
              <a:solidFill>
                <a:schemeClr val="dk1"/>
              </a:solidFill>
              <a:latin typeface="Calibri"/>
              <a:ea typeface="Calibri"/>
              <a:cs typeface="Calibri"/>
              <a:sym typeface="Calibri"/>
            </a:endParaRPr>
          </a:p>
        </p:txBody>
      </p:sp>
      <p:sp>
        <p:nvSpPr>
          <p:cNvPr id="81" name="Google Shape;81;p5"/>
          <p:cNvSpPr/>
          <p:nvPr/>
        </p:nvSpPr>
        <p:spPr>
          <a:xfrm>
            <a:off x="914400" y="2834640"/>
            <a:ext cx="420624" cy="42062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5"/>
          <p:cNvSpPr/>
          <p:nvPr/>
        </p:nvSpPr>
        <p:spPr>
          <a:xfrm>
            <a:off x="914400" y="283464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Poppins SemiBold"/>
              <a:buNone/>
            </a:pPr>
            <a:r>
              <a:rPr b="1" lang="en-US" sz="1600">
                <a:solidFill>
                  <a:srgbClr val="FFFFFF"/>
                </a:solidFill>
                <a:latin typeface="Poppins SemiBold"/>
                <a:ea typeface="Poppins SemiBold"/>
                <a:cs typeface="Poppins SemiBold"/>
                <a:sym typeface="Poppins SemiBold"/>
              </a:rPr>
              <a:t>2</a:t>
            </a:r>
            <a:endParaRPr sz="1600">
              <a:solidFill>
                <a:schemeClr val="dk1"/>
              </a:solidFill>
              <a:latin typeface="Calibri"/>
              <a:ea typeface="Calibri"/>
              <a:cs typeface="Calibri"/>
              <a:sym typeface="Calibri"/>
            </a:endParaRPr>
          </a:p>
        </p:txBody>
      </p:sp>
      <p:sp>
        <p:nvSpPr>
          <p:cNvPr id="83" name="Google Shape;83;p5"/>
          <p:cNvSpPr/>
          <p:nvPr/>
        </p:nvSpPr>
        <p:spPr>
          <a:xfrm>
            <a:off x="1508760" y="2816352"/>
            <a:ext cx="676656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450"/>
              <a:buFont typeface="Poppins"/>
              <a:buNone/>
            </a:pPr>
            <a:r>
              <a:rPr lang="en-US" sz="1450">
                <a:solidFill>
                  <a:srgbClr val="1B2A30"/>
                </a:solidFill>
                <a:latin typeface="Poppins"/>
                <a:ea typeface="Poppins"/>
                <a:cs typeface="Poppins"/>
                <a:sym typeface="Poppins"/>
              </a:rPr>
              <a:t>Be honest — is there a habit you've picked up that you know wouldn't have passed in week one?</a:t>
            </a:r>
            <a:endParaRPr sz="1450">
              <a:solidFill>
                <a:schemeClr val="dk1"/>
              </a:solidFill>
              <a:latin typeface="Calibri"/>
              <a:ea typeface="Calibri"/>
              <a:cs typeface="Calibri"/>
              <a:sym typeface="Calibri"/>
            </a:endParaRPr>
          </a:p>
        </p:txBody>
      </p:sp>
      <p:sp>
        <p:nvSpPr>
          <p:cNvPr id="84" name="Google Shape;84;p5"/>
          <p:cNvSpPr/>
          <p:nvPr/>
        </p:nvSpPr>
        <p:spPr>
          <a:xfrm>
            <a:off x="914400" y="3703320"/>
            <a:ext cx="420624" cy="42062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5"/>
          <p:cNvSpPr/>
          <p:nvPr/>
        </p:nvSpPr>
        <p:spPr>
          <a:xfrm>
            <a:off x="914400" y="370332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Poppins SemiBold"/>
              <a:buNone/>
            </a:pPr>
            <a:r>
              <a:rPr b="1" lang="en-US" sz="1600">
                <a:solidFill>
                  <a:srgbClr val="FFFFFF"/>
                </a:solidFill>
                <a:latin typeface="Poppins SemiBold"/>
                <a:ea typeface="Poppins SemiBold"/>
                <a:cs typeface="Poppins SemiBold"/>
                <a:sym typeface="Poppins SemiBold"/>
              </a:rPr>
              <a:t>3</a:t>
            </a:r>
            <a:endParaRPr sz="1600">
              <a:solidFill>
                <a:schemeClr val="dk1"/>
              </a:solidFill>
              <a:latin typeface="Calibri"/>
              <a:ea typeface="Calibri"/>
              <a:cs typeface="Calibri"/>
              <a:sym typeface="Calibri"/>
            </a:endParaRPr>
          </a:p>
        </p:txBody>
      </p:sp>
      <p:sp>
        <p:nvSpPr>
          <p:cNvPr id="86" name="Google Shape;86;p5"/>
          <p:cNvSpPr/>
          <p:nvPr/>
        </p:nvSpPr>
        <p:spPr>
          <a:xfrm>
            <a:off x="1508760" y="3685032"/>
            <a:ext cx="676656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450"/>
              <a:buFont typeface="Poppins"/>
              <a:buNone/>
            </a:pPr>
            <a:r>
              <a:rPr lang="en-US" sz="1450">
                <a:solidFill>
                  <a:srgbClr val="1B2A30"/>
                </a:solidFill>
                <a:latin typeface="Poppins"/>
                <a:ea typeface="Poppins"/>
                <a:cs typeface="Poppins"/>
                <a:sym typeface="Poppins"/>
              </a:rPr>
              <a:t>Is there anything you've noticed but not mentioned to anyone yet?</a:t>
            </a:r>
            <a:endParaRPr sz="1450">
              <a:solidFill>
                <a:schemeClr val="dk1"/>
              </a:solidFill>
              <a:latin typeface="Calibri"/>
              <a:ea typeface="Calibri"/>
              <a:cs typeface="Calibri"/>
              <a:sym typeface="Calibri"/>
            </a:endParaRPr>
          </a:p>
        </p:txBody>
      </p:sp>
      <p:sp>
        <p:nvSpPr>
          <p:cNvPr id="87" name="Google Shape;87;p5"/>
          <p:cNvSpPr/>
          <p:nvPr/>
        </p:nvSpPr>
        <p:spPr>
          <a:xfrm>
            <a:off x="548640" y="4828032"/>
            <a:ext cx="5486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Poppins"/>
              <a:buNone/>
            </a:pPr>
            <a:r>
              <a:rPr lang="en-US" sz="900">
                <a:solidFill>
                  <a:srgbClr val="5A6A6F"/>
                </a:solidFill>
                <a:latin typeface="Poppins"/>
                <a:ea typeface="Poppins"/>
                <a:cs typeface="Poppins"/>
                <a:sym typeface="Poppins"/>
              </a:rPr>
              <a:t>Module C · Health &amp; Safety Introduction · Level 3 Digital and Creative Media (Year 2)</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92" name="Shape 92"/>
        <p:cNvGrpSpPr/>
        <p:nvPr/>
      </p:nvGrpSpPr>
      <p:grpSpPr>
        <a:xfrm>
          <a:off x="0" y="0"/>
          <a:ext cx="0" cy="0"/>
          <a:chOff x="0" y="0"/>
          <a:chExt cx="0" cy="0"/>
        </a:xfrm>
      </p:grpSpPr>
      <p:sp>
        <p:nvSpPr>
          <p:cNvPr id="93" name="Google Shape;93;p6"/>
          <p:cNvSpPr/>
          <p:nvPr/>
        </p:nvSpPr>
        <p:spPr>
          <a:xfrm>
            <a:off x="6858000" y="292608"/>
            <a:ext cx="187452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94" name="Google Shape;94;p6"/>
          <p:cNvPicPr preferRelativeResize="0"/>
          <p:nvPr/>
        </p:nvPicPr>
        <p:blipFill rotWithShape="1">
          <a:blip r:embed="rId3">
            <a:alphaModFix/>
          </a:blip>
          <a:srcRect b="0" l="0" r="0" t="0"/>
          <a:stretch/>
        </p:blipFill>
        <p:spPr>
          <a:xfrm>
            <a:off x="6949440" y="356616"/>
            <a:ext cx="201168" cy="201168"/>
          </a:xfrm>
          <a:prstGeom prst="rect">
            <a:avLst/>
          </a:prstGeom>
          <a:noFill/>
          <a:ln>
            <a:noFill/>
          </a:ln>
        </p:spPr>
      </p:pic>
      <p:sp>
        <p:nvSpPr>
          <p:cNvPr id="95" name="Google Shape;95;p6"/>
          <p:cNvSpPr/>
          <p:nvPr/>
        </p:nvSpPr>
        <p:spPr>
          <a:xfrm>
            <a:off x="7187184" y="292608"/>
            <a:ext cx="1508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TEACHER INPUT</a:t>
            </a:r>
            <a:endParaRPr sz="1100">
              <a:solidFill>
                <a:schemeClr val="dk1"/>
              </a:solidFill>
              <a:latin typeface="Calibri"/>
              <a:ea typeface="Calibri"/>
              <a:cs typeface="Calibri"/>
              <a:sym typeface="Calibri"/>
            </a:endParaRPr>
          </a:p>
        </p:txBody>
      </p:sp>
      <p:sp>
        <p:nvSpPr>
          <p:cNvPr id="96" name="Google Shape;96;p6"/>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FIRST THINGS FIRST</a:t>
            </a:r>
            <a:endParaRPr sz="1200">
              <a:solidFill>
                <a:schemeClr val="dk1"/>
              </a:solidFill>
              <a:latin typeface="Calibri"/>
              <a:ea typeface="Calibri"/>
              <a:cs typeface="Calibri"/>
              <a:sym typeface="Calibri"/>
            </a:endParaRPr>
          </a:p>
        </p:txBody>
      </p:sp>
      <p:sp>
        <p:nvSpPr>
          <p:cNvPr id="97" name="Google Shape;97;p6"/>
          <p:cNvSpPr/>
          <p:nvPr/>
        </p:nvSpPr>
        <p:spPr>
          <a:xfrm>
            <a:off x="548640" y="621786"/>
            <a:ext cx="78639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Familiarity is the risk now</a:t>
            </a:r>
            <a:endParaRPr sz="2800">
              <a:solidFill>
                <a:schemeClr val="dk1"/>
              </a:solidFill>
              <a:latin typeface="Calibri"/>
              <a:ea typeface="Calibri"/>
              <a:cs typeface="Calibri"/>
              <a:sym typeface="Calibri"/>
            </a:endParaRPr>
          </a:p>
        </p:txBody>
      </p:sp>
      <p:sp>
        <p:nvSpPr>
          <p:cNvPr id="98" name="Google Shape;98;p6"/>
          <p:cNvSpPr/>
          <p:nvPr/>
        </p:nvSpPr>
        <p:spPr>
          <a:xfrm>
            <a:off x="230925" y="1097275"/>
            <a:ext cx="8569200" cy="1326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In week one, you didn’t know what was normal, so everything got a second look. A year in, you do know — which is exactly the problem. The lighting stand without sandbags because “we always put them on anyway” — which means nobody actually checked. The wrist strap on the camera not used because “I’ve never dropped it.” The cables left until after the edit is done because “we’ll tidy up after” — and then didn’t. These stop registering not because you’ve become careless, but because you’ve become familiar.</a:t>
            </a:r>
            <a:endParaRPr sz="1400">
              <a:solidFill>
                <a:schemeClr val="dk1"/>
              </a:solidFill>
              <a:latin typeface="Calibri"/>
              <a:ea typeface="Calibri"/>
              <a:cs typeface="Calibri"/>
              <a:sym typeface="Calibri"/>
            </a:endParaRPr>
          </a:p>
        </p:txBody>
      </p:sp>
      <p:sp>
        <p:nvSpPr>
          <p:cNvPr id="99" name="Google Shape;99;p6"/>
          <p:cNvSpPr/>
          <p:nvPr/>
        </p:nvSpPr>
        <p:spPr>
          <a:xfrm>
            <a:off x="548650" y="2560325"/>
            <a:ext cx="3931800" cy="2267700"/>
          </a:xfrm>
          <a:prstGeom prst="roundRect">
            <a:avLst>
              <a:gd fmla="val 3043"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0" name="Google Shape;100;p6"/>
          <p:cNvPicPr preferRelativeResize="0"/>
          <p:nvPr/>
        </p:nvPicPr>
        <p:blipFill rotWithShape="1">
          <a:blip r:embed="rId4">
            <a:alphaModFix/>
          </a:blip>
          <a:srcRect b="0" l="0" r="0" t="0"/>
          <a:stretch/>
        </p:blipFill>
        <p:spPr>
          <a:xfrm>
            <a:off x="749808" y="2743200"/>
            <a:ext cx="310896" cy="310896"/>
          </a:xfrm>
          <a:prstGeom prst="rect">
            <a:avLst/>
          </a:prstGeom>
          <a:noFill/>
          <a:ln>
            <a:noFill/>
          </a:ln>
        </p:spPr>
      </p:pic>
      <p:sp>
        <p:nvSpPr>
          <p:cNvPr id="101" name="Google Shape;101;p6"/>
          <p:cNvSpPr/>
          <p:nvPr/>
        </p:nvSpPr>
        <p:spPr>
          <a:xfrm>
            <a:off x="1188720" y="2724912"/>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SemiBold"/>
              <a:buNone/>
            </a:pPr>
            <a:r>
              <a:rPr b="1" lang="en-US" sz="1400">
                <a:solidFill>
                  <a:srgbClr val="0D2434"/>
                </a:solidFill>
                <a:latin typeface="Poppins SemiBold"/>
                <a:ea typeface="Poppins SemiBold"/>
                <a:cs typeface="Poppins SemiBold"/>
                <a:sym typeface="Poppins SemiBold"/>
              </a:rPr>
              <a:t>What slips in year two</a:t>
            </a:r>
            <a:endParaRPr sz="1400">
              <a:solidFill>
                <a:schemeClr val="dk1"/>
              </a:solidFill>
              <a:latin typeface="Calibri"/>
              <a:ea typeface="Calibri"/>
              <a:cs typeface="Calibri"/>
              <a:sym typeface="Calibri"/>
            </a:endParaRPr>
          </a:p>
        </p:txBody>
      </p:sp>
      <p:sp>
        <p:nvSpPr>
          <p:cNvPr id="102" name="Google Shape;102;p6"/>
          <p:cNvSpPr/>
          <p:nvPr/>
        </p:nvSpPr>
        <p:spPr>
          <a:xfrm>
            <a:off x="822960" y="3218688"/>
            <a:ext cx="3474720" cy="1325880"/>
          </a:xfrm>
          <a:prstGeom prst="rect">
            <a:avLst/>
          </a:prstGeom>
          <a:noFill/>
          <a:ln>
            <a:noFill/>
          </a:ln>
        </p:spPr>
        <p:txBody>
          <a:bodyPr anchorCtr="0" anchor="t" bIns="0" lIns="0" spcFirstLastPara="1" rIns="0" wrap="square" tIns="0">
            <a:noAutofit/>
          </a:bodyPr>
          <a:lstStyle/>
          <a:p>
            <a:pPr indent="-177800" lvl="0" marL="177800" marR="0" rtl="0" algn="l">
              <a:lnSpc>
                <a:spcPct val="112000"/>
              </a:lnSpc>
              <a:spcBef>
                <a:spcPts val="0"/>
              </a:spcBef>
              <a:spcAft>
                <a:spcPts val="0"/>
              </a:spcAft>
              <a:buClr>
                <a:srgbClr val="1B2A30"/>
              </a:buClr>
              <a:buSzPts val="1200"/>
              <a:buFont typeface="Poppins"/>
              <a:buChar char="•"/>
            </a:pPr>
            <a:r>
              <a:rPr lang="en-US" sz="1200">
                <a:solidFill>
                  <a:srgbClr val="1B2A30"/>
                </a:solidFill>
                <a:latin typeface="Poppins"/>
                <a:ea typeface="Poppins"/>
                <a:cs typeface="Poppins"/>
                <a:sym typeface="Poppins"/>
              </a:rPr>
              <a:t>Lanyards worn “most of the time”</a:t>
            </a:r>
            <a:endParaRPr sz="1200">
              <a:solidFill>
                <a:schemeClr val="dk1"/>
              </a:solidFill>
              <a:latin typeface="Calibri"/>
              <a:ea typeface="Calibri"/>
              <a:cs typeface="Calibri"/>
              <a:sym typeface="Calibri"/>
            </a:endParaRPr>
          </a:p>
          <a:p>
            <a:pPr indent="-177800" lvl="0" marL="177800" marR="0" rtl="0" algn="l">
              <a:lnSpc>
                <a:spcPct val="112000"/>
              </a:lnSpc>
              <a:spcBef>
                <a:spcPts val="600"/>
              </a:spcBef>
              <a:spcAft>
                <a:spcPts val="0"/>
              </a:spcAft>
              <a:buClr>
                <a:srgbClr val="1B2A30"/>
              </a:buClr>
              <a:buSzPts val="1200"/>
              <a:buFont typeface="Poppins"/>
              <a:buChar char="•"/>
            </a:pPr>
            <a:r>
              <a:rPr lang="en-US" sz="1200">
                <a:solidFill>
                  <a:srgbClr val="1B2A30"/>
                </a:solidFill>
                <a:latin typeface="Poppins"/>
                <a:ea typeface="Poppins"/>
                <a:cs typeface="Poppins"/>
                <a:sym typeface="Poppins"/>
              </a:rPr>
              <a:t>Shortcuts that worked fine, until they didn’t — skipping the risk assessment for a familiar location because “we’ve been there before.”</a:t>
            </a:r>
            <a:endParaRPr sz="1200">
              <a:solidFill>
                <a:schemeClr val="dk1"/>
              </a:solidFill>
              <a:latin typeface="Calibri"/>
              <a:ea typeface="Calibri"/>
              <a:cs typeface="Calibri"/>
              <a:sym typeface="Calibri"/>
            </a:endParaRPr>
          </a:p>
          <a:p>
            <a:pPr indent="-177800" lvl="0" marL="177800" marR="0" rtl="0" algn="l">
              <a:lnSpc>
                <a:spcPct val="112000"/>
              </a:lnSpc>
              <a:spcBef>
                <a:spcPts val="600"/>
              </a:spcBef>
              <a:spcAft>
                <a:spcPts val="0"/>
              </a:spcAft>
              <a:buClr>
                <a:srgbClr val="1B2A30"/>
              </a:buClr>
              <a:buSzPts val="1200"/>
              <a:buFont typeface="Poppins"/>
              <a:buChar char="•"/>
            </a:pPr>
            <a:r>
              <a:rPr lang="en-US" sz="1200">
                <a:solidFill>
                  <a:srgbClr val="1B2A30"/>
                </a:solidFill>
                <a:latin typeface="Poppins"/>
                <a:ea typeface="Poppins"/>
                <a:cs typeface="Poppins"/>
                <a:sym typeface="Poppins"/>
              </a:rPr>
              <a:t>Things you'd have flagged in week one but stopped noticing</a:t>
            </a:r>
            <a:endParaRPr sz="1200">
              <a:solidFill>
                <a:schemeClr val="dk1"/>
              </a:solidFill>
              <a:latin typeface="Calibri"/>
              <a:ea typeface="Calibri"/>
              <a:cs typeface="Calibri"/>
              <a:sym typeface="Calibri"/>
            </a:endParaRPr>
          </a:p>
        </p:txBody>
      </p:sp>
      <p:sp>
        <p:nvSpPr>
          <p:cNvPr id="103" name="Google Shape;103;p6"/>
          <p:cNvSpPr/>
          <p:nvPr/>
        </p:nvSpPr>
        <p:spPr>
          <a:xfrm>
            <a:off x="4663450" y="2560325"/>
            <a:ext cx="3931800" cy="2267700"/>
          </a:xfrm>
          <a:prstGeom prst="roundRect">
            <a:avLst>
              <a:gd fmla="val 3043"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4" name="Google Shape;104;p6"/>
          <p:cNvPicPr preferRelativeResize="0"/>
          <p:nvPr/>
        </p:nvPicPr>
        <p:blipFill rotWithShape="1">
          <a:blip r:embed="rId5">
            <a:alphaModFix/>
          </a:blip>
          <a:srcRect b="0" l="0" r="0" t="0"/>
          <a:stretch/>
        </p:blipFill>
        <p:spPr>
          <a:xfrm>
            <a:off x="4864608" y="2743200"/>
            <a:ext cx="310896" cy="310896"/>
          </a:xfrm>
          <a:prstGeom prst="rect">
            <a:avLst/>
          </a:prstGeom>
          <a:noFill/>
          <a:ln>
            <a:noFill/>
          </a:ln>
        </p:spPr>
      </p:pic>
      <p:sp>
        <p:nvSpPr>
          <p:cNvPr id="105" name="Google Shape;105;p6"/>
          <p:cNvSpPr/>
          <p:nvPr/>
        </p:nvSpPr>
        <p:spPr>
          <a:xfrm>
            <a:off x="5303520" y="2724912"/>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SemiBold"/>
              <a:buNone/>
            </a:pPr>
            <a:r>
              <a:rPr b="1" lang="en-US" sz="1400">
                <a:solidFill>
                  <a:srgbClr val="0D2434"/>
                </a:solidFill>
                <a:latin typeface="Poppins SemiBold"/>
                <a:ea typeface="Poppins SemiBold"/>
                <a:cs typeface="Poppins SemiBold"/>
                <a:sym typeface="Poppins SemiBold"/>
              </a:rPr>
              <a:t>What resets it</a:t>
            </a:r>
            <a:endParaRPr sz="1400">
              <a:solidFill>
                <a:schemeClr val="dk1"/>
              </a:solidFill>
              <a:latin typeface="Calibri"/>
              <a:ea typeface="Calibri"/>
              <a:cs typeface="Calibri"/>
              <a:sym typeface="Calibri"/>
            </a:endParaRPr>
          </a:p>
        </p:txBody>
      </p:sp>
      <p:sp>
        <p:nvSpPr>
          <p:cNvPr id="106" name="Google Shape;106;p6"/>
          <p:cNvSpPr/>
          <p:nvPr/>
        </p:nvSpPr>
        <p:spPr>
          <a:xfrm>
            <a:off x="4937760" y="3218688"/>
            <a:ext cx="3474720" cy="1325880"/>
          </a:xfrm>
          <a:prstGeom prst="rect">
            <a:avLst/>
          </a:prstGeom>
          <a:noFill/>
          <a:ln>
            <a:noFill/>
          </a:ln>
        </p:spPr>
        <p:txBody>
          <a:bodyPr anchorCtr="0" anchor="t" bIns="0" lIns="0" spcFirstLastPara="1" rIns="0" wrap="square" tIns="0">
            <a:noAutofit/>
          </a:bodyPr>
          <a:lstStyle/>
          <a:p>
            <a:pPr indent="-177800" lvl="0" marL="177800" marR="0" rtl="0" algn="l">
              <a:lnSpc>
                <a:spcPct val="112000"/>
              </a:lnSpc>
              <a:spcBef>
                <a:spcPts val="0"/>
              </a:spcBef>
              <a:spcAft>
                <a:spcPts val="0"/>
              </a:spcAft>
              <a:buClr>
                <a:srgbClr val="1B2A30"/>
              </a:buClr>
              <a:buSzPts val="1200"/>
              <a:buFont typeface="Poppins"/>
              <a:buChar char="•"/>
            </a:pPr>
            <a:r>
              <a:rPr lang="en-US" sz="1200">
                <a:solidFill>
                  <a:srgbClr val="1B2A30"/>
                </a:solidFill>
                <a:latin typeface="Poppins"/>
                <a:ea typeface="Poppins"/>
                <a:cs typeface="Poppins"/>
                <a:sym typeface="Poppins"/>
              </a:rPr>
              <a:t>Treat your own habits as worth re-checking, not just new starters'</a:t>
            </a:r>
            <a:endParaRPr sz="1200">
              <a:solidFill>
                <a:schemeClr val="dk1"/>
              </a:solidFill>
              <a:latin typeface="Calibri"/>
              <a:ea typeface="Calibri"/>
              <a:cs typeface="Calibri"/>
              <a:sym typeface="Calibri"/>
            </a:endParaRPr>
          </a:p>
          <a:p>
            <a:pPr indent="-177800" lvl="0" marL="177800" marR="0" rtl="0" algn="l">
              <a:lnSpc>
                <a:spcPct val="112000"/>
              </a:lnSpc>
              <a:spcBef>
                <a:spcPts val="600"/>
              </a:spcBef>
              <a:spcAft>
                <a:spcPts val="0"/>
              </a:spcAft>
              <a:buClr>
                <a:srgbClr val="1B2A30"/>
              </a:buClr>
              <a:buSzPts val="1200"/>
              <a:buFont typeface="Poppins"/>
              <a:buChar char="•"/>
            </a:pPr>
            <a:r>
              <a:rPr lang="en-US" sz="1200">
                <a:solidFill>
                  <a:srgbClr val="1B2A30"/>
                </a:solidFill>
                <a:latin typeface="Poppins"/>
                <a:ea typeface="Poppins"/>
                <a:cs typeface="Poppins"/>
                <a:sym typeface="Poppins"/>
              </a:rPr>
              <a:t>Say it out loud the first time you notice you've gone quiet on something</a:t>
            </a:r>
            <a:endParaRPr sz="1200">
              <a:solidFill>
                <a:schemeClr val="dk1"/>
              </a:solidFill>
              <a:latin typeface="Calibri"/>
              <a:ea typeface="Calibri"/>
              <a:cs typeface="Calibri"/>
              <a:sym typeface="Calibri"/>
            </a:endParaRPr>
          </a:p>
          <a:p>
            <a:pPr indent="-177800" lvl="0" marL="177800" marR="0" rtl="0" algn="l">
              <a:lnSpc>
                <a:spcPct val="112000"/>
              </a:lnSpc>
              <a:spcBef>
                <a:spcPts val="600"/>
              </a:spcBef>
              <a:spcAft>
                <a:spcPts val="0"/>
              </a:spcAft>
              <a:buClr>
                <a:srgbClr val="1B2A30"/>
              </a:buClr>
              <a:buSzPts val="1200"/>
              <a:buFont typeface="Poppins"/>
              <a:buChar char="•"/>
            </a:pPr>
            <a:r>
              <a:rPr lang="en-US" sz="1200">
                <a:solidFill>
                  <a:srgbClr val="1B2A30"/>
                </a:solidFill>
                <a:latin typeface="Poppins"/>
                <a:ea typeface="Poppins"/>
                <a:cs typeface="Poppins"/>
                <a:sym typeface="Poppins"/>
              </a:rPr>
              <a:t>A near miss is still information, a year in or not</a:t>
            </a:r>
            <a:endParaRPr sz="1200">
              <a:solidFill>
                <a:schemeClr val="dk1"/>
              </a:solidFill>
              <a:latin typeface="Calibri"/>
              <a:ea typeface="Calibri"/>
              <a:cs typeface="Calibri"/>
              <a:sym typeface="Calibri"/>
            </a:endParaRPr>
          </a:p>
        </p:txBody>
      </p:sp>
      <p:sp>
        <p:nvSpPr>
          <p:cNvPr id="107" name="Google Shape;107;p6"/>
          <p:cNvSpPr/>
          <p:nvPr/>
        </p:nvSpPr>
        <p:spPr>
          <a:xfrm>
            <a:off x="548640" y="4828032"/>
            <a:ext cx="5486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Poppins"/>
              <a:buNone/>
            </a:pPr>
            <a:r>
              <a:rPr lang="en-US" sz="900">
                <a:solidFill>
                  <a:srgbClr val="5A6A6F"/>
                </a:solidFill>
                <a:latin typeface="Poppins"/>
                <a:ea typeface="Poppins"/>
                <a:cs typeface="Poppins"/>
                <a:sym typeface="Poppins"/>
              </a:rPr>
              <a:t>Module C · Health &amp; Safety Introduction · Level 3 Digital and Creative Media (Year 2)</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12" name="Shape 112"/>
        <p:cNvGrpSpPr/>
        <p:nvPr/>
      </p:nvGrpSpPr>
      <p:grpSpPr>
        <a:xfrm>
          <a:off x="0" y="0"/>
          <a:ext cx="0" cy="0"/>
          <a:chOff x="0" y="0"/>
          <a:chExt cx="0" cy="0"/>
        </a:xfrm>
      </p:grpSpPr>
      <p:sp>
        <p:nvSpPr>
          <p:cNvPr id="113" name="Google Shape;113;p7"/>
          <p:cNvSpPr/>
          <p:nvPr/>
        </p:nvSpPr>
        <p:spPr>
          <a:xfrm>
            <a:off x="6858000" y="292608"/>
            <a:ext cx="187452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4" name="Google Shape;114;p7"/>
          <p:cNvPicPr preferRelativeResize="0"/>
          <p:nvPr/>
        </p:nvPicPr>
        <p:blipFill rotWithShape="1">
          <a:blip r:embed="rId3">
            <a:alphaModFix/>
          </a:blip>
          <a:srcRect b="0" l="0" r="0" t="0"/>
          <a:stretch/>
        </p:blipFill>
        <p:spPr>
          <a:xfrm>
            <a:off x="6949440" y="356616"/>
            <a:ext cx="201168" cy="201168"/>
          </a:xfrm>
          <a:prstGeom prst="rect">
            <a:avLst/>
          </a:prstGeom>
          <a:noFill/>
          <a:ln>
            <a:noFill/>
          </a:ln>
        </p:spPr>
      </p:pic>
      <p:sp>
        <p:nvSpPr>
          <p:cNvPr id="115" name="Google Shape;115;p7"/>
          <p:cNvSpPr/>
          <p:nvPr/>
        </p:nvSpPr>
        <p:spPr>
          <a:xfrm>
            <a:off x="7187184" y="292608"/>
            <a:ext cx="1508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TEACHER INPUT</a:t>
            </a:r>
            <a:endParaRPr sz="1100">
              <a:solidFill>
                <a:schemeClr val="dk1"/>
              </a:solidFill>
              <a:latin typeface="Calibri"/>
              <a:ea typeface="Calibri"/>
              <a:cs typeface="Calibri"/>
              <a:sym typeface="Calibri"/>
            </a:endParaRPr>
          </a:p>
        </p:txBody>
      </p:sp>
      <p:sp>
        <p:nvSpPr>
          <p:cNvPr id="116" name="Google Shape;116;p7"/>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REFRESHER, NOT RE-TEACH</a:t>
            </a:r>
            <a:endParaRPr sz="1200">
              <a:solidFill>
                <a:schemeClr val="dk1"/>
              </a:solidFill>
              <a:latin typeface="Calibri"/>
              <a:ea typeface="Calibri"/>
              <a:cs typeface="Calibri"/>
              <a:sym typeface="Calibri"/>
            </a:endParaRPr>
          </a:p>
        </p:txBody>
      </p:sp>
      <p:sp>
        <p:nvSpPr>
          <p:cNvPr id="117" name="Google Shape;117;p7"/>
          <p:cNvSpPr/>
          <p:nvPr/>
        </p:nvSpPr>
        <p:spPr>
          <a:xfrm>
            <a:off x="548640" y="797286"/>
            <a:ext cx="7863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The basics, fast</a:t>
            </a:r>
            <a:endParaRPr sz="2800">
              <a:solidFill>
                <a:schemeClr val="dk1"/>
              </a:solidFill>
              <a:latin typeface="Calibri"/>
              <a:ea typeface="Calibri"/>
              <a:cs typeface="Calibri"/>
              <a:sym typeface="Calibri"/>
            </a:endParaRPr>
          </a:p>
        </p:txBody>
      </p:sp>
      <p:sp>
        <p:nvSpPr>
          <p:cNvPr id="118" name="Google Shape;118;p7"/>
          <p:cNvSpPr/>
          <p:nvPr/>
        </p:nvSpPr>
        <p:spPr>
          <a:xfrm>
            <a:off x="548640" y="1508760"/>
            <a:ext cx="8046720" cy="1051560"/>
          </a:xfrm>
          <a:prstGeom prst="roundRect">
            <a:avLst>
              <a:gd fmla="val 6957" name="adj"/>
            </a:avLst>
          </a:prstGeom>
          <a:solidFill>
            <a:srgbClr val="F8E7E3"/>
          </a:solidFill>
          <a:ln cap="flat" cmpd="sng" w="15875">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9" name="Google Shape;119;p7"/>
          <p:cNvPicPr preferRelativeResize="0"/>
          <p:nvPr/>
        </p:nvPicPr>
        <p:blipFill rotWithShape="1">
          <a:blip r:embed="rId4">
            <a:alphaModFix/>
          </a:blip>
          <a:srcRect b="0" l="0" r="0" t="0"/>
          <a:stretch/>
        </p:blipFill>
        <p:spPr>
          <a:xfrm>
            <a:off x="713232" y="1655064"/>
            <a:ext cx="274320" cy="274320"/>
          </a:xfrm>
          <a:prstGeom prst="rect">
            <a:avLst/>
          </a:prstGeom>
          <a:noFill/>
          <a:ln>
            <a:noFill/>
          </a:ln>
        </p:spPr>
      </p:pic>
      <p:sp>
        <p:nvSpPr>
          <p:cNvPr id="120" name="Google Shape;120;p7"/>
          <p:cNvSpPr/>
          <p:nvPr/>
        </p:nvSpPr>
        <p:spPr>
          <a:xfrm>
            <a:off x="1115568" y="1600200"/>
            <a:ext cx="7315200" cy="8686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B23A2E"/>
              </a:buClr>
              <a:buSzPts val="1250"/>
              <a:buFont typeface="Poppins"/>
              <a:buNone/>
            </a:pPr>
            <a:r>
              <a:rPr b="1" lang="en-US" sz="1250">
                <a:solidFill>
                  <a:srgbClr val="B23A2E"/>
                </a:solidFill>
                <a:latin typeface="Poppins"/>
                <a:ea typeface="Poppins"/>
                <a:cs typeface="Poppins"/>
                <a:sym typeface="Poppins"/>
              </a:rPr>
              <a:t>If the fire alarm goes</a:t>
            </a:r>
            <a:endParaRPr sz="125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B23A2E"/>
              </a:buClr>
              <a:buSzPts val="1150"/>
              <a:buFont typeface="Poppins"/>
              <a:buNone/>
            </a:pPr>
            <a:r>
              <a:rPr lang="en-US" sz="1150">
                <a:solidFill>
                  <a:srgbClr val="B23A2E"/>
                </a:solidFill>
                <a:latin typeface="Poppins"/>
                <a:ea typeface="Poppins"/>
                <a:cs typeface="Poppins"/>
                <a:sym typeface="Poppins"/>
              </a:rPr>
              <a:t>Your teacher will confirm the evacuation route and assembly point. If your sessions this year use a different studio or building from last year, treat this as new information — do not assume it is unchanged.</a:t>
            </a:r>
            <a:endParaRPr sz="1250">
              <a:solidFill>
                <a:schemeClr val="dk1"/>
              </a:solidFill>
              <a:latin typeface="Calibri"/>
              <a:ea typeface="Calibri"/>
              <a:cs typeface="Calibri"/>
              <a:sym typeface="Calibri"/>
            </a:endParaRPr>
          </a:p>
        </p:txBody>
      </p:sp>
      <p:sp>
        <p:nvSpPr>
          <p:cNvPr id="121" name="Google Shape;121;p7"/>
          <p:cNvSpPr/>
          <p:nvPr/>
        </p:nvSpPr>
        <p:spPr>
          <a:xfrm>
            <a:off x="548640" y="2697480"/>
            <a:ext cx="8046720" cy="1051560"/>
          </a:xfrm>
          <a:prstGeom prst="roundRect">
            <a:avLst>
              <a:gd fmla="val 6087"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2" name="Google Shape;122;p7"/>
          <p:cNvPicPr preferRelativeResize="0"/>
          <p:nvPr/>
        </p:nvPicPr>
        <p:blipFill rotWithShape="1">
          <a:blip r:embed="rId5">
            <a:alphaModFix/>
          </a:blip>
          <a:srcRect b="0" l="0" r="0" t="0"/>
          <a:stretch/>
        </p:blipFill>
        <p:spPr>
          <a:xfrm>
            <a:off x="749808" y="2880360"/>
            <a:ext cx="310896" cy="310896"/>
          </a:xfrm>
          <a:prstGeom prst="rect">
            <a:avLst/>
          </a:prstGeom>
          <a:noFill/>
          <a:ln>
            <a:noFill/>
          </a:ln>
        </p:spPr>
      </p:pic>
      <p:sp>
        <p:nvSpPr>
          <p:cNvPr id="123" name="Google Shape;123;p7"/>
          <p:cNvSpPr/>
          <p:nvPr/>
        </p:nvSpPr>
        <p:spPr>
          <a:xfrm>
            <a:off x="1188720" y="2816352"/>
            <a:ext cx="731520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D2434"/>
              </a:buClr>
              <a:buSzPts val="1300"/>
              <a:buFont typeface="Poppins"/>
              <a:buNone/>
            </a:pPr>
            <a:r>
              <a:rPr b="1" lang="en-US" sz="1300">
                <a:solidFill>
                  <a:srgbClr val="0D2434"/>
                </a:solidFill>
                <a:latin typeface="Poppins"/>
                <a:ea typeface="Poppins"/>
                <a:cs typeface="Poppins"/>
                <a:sym typeface="Poppins"/>
              </a:rPr>
              <a:t>If something's not right</a:t>
            </a:r>
            <a:endParaRPr sz="13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Tell your teacher. Hazard, near miss, damage, or just something that isn't working — that's your first point of contact, and they'll take it from there. None of that is making a fuss; it's exactly the noticing this session is about.</a:t>
            </a:r>
            <a:endParaRPr sz="1300">
              <a:solidFill>
                <a:schemeClr val="dk1"/>
              </a:solidFill>
              <a:latin typeface="Calibri"/>
              <a:ea typeface="Calibri"/>
              <a:cs typeface="Calibri"/>
              <a:sym typeface="Calibri"/>
            </a:endParaRPr>
          </a:p>
        </p:txBody>
      </p:sp>
      <p:sp>
        <p:nvSpPr>
          <p:cNvPr id="124" name="Google Shape;124;p7"/>
          <p:cNvSpPr/>
          <p:nvPr/>
        </p:nvSpPr>
        <p:spPr>
          <a:xfrm>
            <a:off x="548640" y="3886200"/>
            <a:ext cx="8046720" cy="1051560"/>
          </a:xfrm>
          <a:prstGeom prst="roundRect">
            <a:avLst>
              <a:gd fmla="val 6087"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5" name="Google Shape;125;p7"/>
          <p:cNvPicPr preferRelativeResize="0"/>
          <p:nvPr/>
        </p:nvPicPr>
        <p:blipFill rotWithShape="1">
          <a:blip r:embed="rId6">
            <a:alphaModFix/>
          </a:blip>
          <a:srcRect b="0" l="0" r="0" t="0"/>
          <a:stretch/>
        </p:blipFill>
        <p:spPr>
          <a:xfrm>
            <a:off x="749808" y="4050792"/>
            <a:ext cx="310896" cy="310896"/>
          </a:xfrm>
          <a:prstGeom prst="rect">
            <a:avLst/>
          </a:prstGeom>
          <a:noFill/>
          <a:ln>
            <a:noFill/>
          </a:ln>
        </p:spPr>
      </p:pic>
      <p:sp>
        <p:nvSpPr>
          <p:cNvPr id="126" name="Google Shape;126;p7"/>
          <p:cNvSpPr/>
          <p:nvPr/>
        </p:nvSpPr>
        <p:spPr>
          <a:xfrm>
            <a:off x="1188720" y="3977640"/>
            <a:ext cx="7315200" cy="8686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And a few things that hold everywhere: keep walkways and fire exits clear, don’t prop doors open “just for now”, and where closed-toe shoes or hearing protection is required, it’s required — not a judgement call on the day.</a:t>
            </a: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31" name="Shape 131"/>
        <p:cNvGrpSpPr/>
        <p:nvPr/>
      </p:nvGrpSpPr>
      <p:grpSpPr>
        <a:xfrm>
          <a:off x="0" y="0"/>
          <a:ext cx="0" cy="0"/>
          <a:chOff x="0" y="0"/>
          <a:chExt cx="0" cy="0"/>
        </a:xfrm>
      </p:grpSpPr>
      <p:sp>
        <p:nvSpPr>
          <p:cNvPr id="132" name="Google Shape;132;p8"/>
          <p:cNvSpPr/>
          <p:nvPr/>
        </p:nvSpPr>
        <p:spPr>
          <a:xfrm>
            <a:off x="7040880" y="292608"/>
            <a:ext cx="169164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33" name="Google Shape;133;p8"/>
          <p:cNvPicPr preferRelativeResize="0"/>
          <p:nvPr/>
        </p:nvPicPr>
        <p:blipFill rotWithShape="1">
          <a:blip r:embed="rId3">
            <a:alphaModFix/>
          </a:blip>
          <a:srcRect b="0" l="0" r="0" t="0"/>
          <a:stretch/>
        </p:blipFill>
        <p:spPr>
          <a:xfrm>
            <a:off x="7132320" y="356616"/>
            <a:ext cx="201168" cy="201168"/>
          </a:xfrm>
          <a:prstGeom prst="rect">
            <a:avLst/>
          </a:prstGeom>
          <a:noFill/>
          <a:ln>
            <a:noFill/>
          </a:ln>
        </p:spPr>
      </p:pic>
      <p:sp>
        <p:nvSpPr>
          <p:cNvPr id="134" name="Google Shape;134;p8"/>
          <p:cNvSpPr/>
          <p:nvPr/>
        </p:nvSpPr>
        <p:spPr>
          <a:xfrm>
            <a:off x="7370064" y="292608"/>
            <a:ext cx="1325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DISCUSSION</a:t>
            </a:r>
            <a:endParaRPr sz="1100">
              <a:solidFill>
                <a:schemeClr val="dk1"/>
              </a:solidFill>
              <a:latin typeface="Calibri"/>
              <a:ea typeface="Calibri"/>
              <a:cs typeface="Calibri"/>
              <a:sym typeface="Calibri"/>
            </a:endParaRPr>
          </a:p>
        </p:txBody>
      </p:sp>
      <p:sp>
        <p:nvSpPr>
          <p:cNvPr id="135" name="Google Shape;135;p8"/>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PROUD · SHOW RESPECT</a:t>
            </a:r>
            <a:endParaRPr sz="1200">
              <a:solidFill>
                <a:schemeClr val="dk1"/>
              </a:solidFill>
              <a:latin typeface="Calibri"/>
              <a:ea typeface="Calibri"/>
              <a:cs typeface="Calibri"/>
              <a:sym typeface="Calibri"/>
            </a:endParaRPr>
          </a:p>
        </p:txBody>
      </p:sp>
      <p:sp>
        <p:nvSpPr>
          <p:cNvPr id="136" name="Google Shape;136;p8"/>
          <p:cNvSpPr/>
          <p:nvPr/>
        </p:nvSpPr>
        <p:spPr>
          <a:xfrm>
            <a:off x="548640" y="836676"/>
            <a:ext cx="7863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Show respect</a:t>
            </a:r>
            <a:endParaRPr sz="2800">
              <a:solidFill>
                <a:schemeClr val="dk1"/>
              </a:solidFill>
              <a:latin typeface="Calibri"/>
              <a:ea typeface="Calibri"/>
              <a:cs typeface="Calibri"/>
              <a:sym typeface="Calibri"/>
            </a:endParaRPr>
          </a:p>
        </p:txBody>
      </p:sp>
      <p:sp>
        <p:nvSpPr>
          <p:cNvPr id="137" name="Google Shape;137;p8"/>
          <p:cNvSpPr/>
          <p:nvPr/>
        </p:nvSpPr>
        <p:spPr>
          <a:xfrm>
            <a:off x="548640" y="1554480"/>
            <a:ext cx="8046720" cy="1097280"/>
          </a:xfrm>
          <a:prstGeom prst="roundRect">
            <a:avLst>
              <a:gd fmla="val 5833"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8"/>
          <p:cNvSpPr/>
          <p:nvPr/>
        </p:nvSpPr>
        <p:spPr>
          <a:xfrm>
            <a:off x="777240" y="1783080"/>
            <a:ext cx="640080" cy="64008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39" name="Google Shape;139;p8"/>
          <p:cNvPicPr preferRelativeResize="0"/>
          <p:nvPr/>
        </p:nvPicPr>
        <p:blipFill rotWithShape="1">
          <a:blip r:embed="rId4">
            <a:alphaModFix/>
          </a:blip>
          <a:srcRect b="0" l="0" r="0" t="0"/>
          <a:stretch/>
        </p:blipFill>
        <p:spPr>
          <a:xfrm>
            <a:off x="950976" y="1956816"/>
            <a:ext cx="292608" cy="292608"/>
          </a:xfrm>
          <a:prstGeom prst="rect">
            <a:avLst/>
          </a:prstGeom>
          <a:noFill/>
          <a:ln>
            <a:noFill/>
          </a:ln>
        </p:spPr>
      </p:pic>
      <p:sp>
        <p:nvSpPr>
          <p:cNvPr id="140" name="Google Shape;140;p8"/>
          <p:cNvSpPr/>
          <p:nvPr/>
        </p:nvSpPr>
        <p:spPr>
          <a:xfrm>
            <a:off x="1600200" y="1664208"/>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SemiBold"/>
              <a:buNone/>
            </a:pPr>
            <a:r>
              <a:rPr b="1" lang="en-US" sz="1400">
                <a:solidFill>
                  <a:srgbClr val="0D2434"/>
                </a:solidFill>
                <a:latin typeface="Poppins SemiBold"/>
                <a:ea typeface="Poppins SemiBold"/>
                <a:cs typeface="Poppins SemiBold"/>
                <a:sym typeface="Poppins SemiBold"/>
              </a:rPr>
              <a:t>For the space</a:t>
            </a:r>
            <a:endParaRPr sz="1400">
              <a:solidFill>
                <a:schemeClr val="dk1"/>
              </a:solidFill>
              <a:latin typeface="Calibri"/>
              <a:ea typeface="Calibri"/>
              <a:cs typeface="Calibri"/>
              <a:sym typeface="Calibri"/>
            </a:endParaRPr>
          </a:p>
        </p:txBody>
      </p:sp>
      <p:sp>
        <p:nvSpPr>
          <p:cNvPr id="141" name="Google Shape;141;p8"/>
          <p:cNvSpPr/>
          <p:nvPr/>
        </p:nvSpPr>
        <p:spPr>
          <a:xfrm>
            <a:off x="1600200" y="1975104"/>
            <a:ext cx="6766560"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250"/>
              <a:buFont typeface="Poppins"/>
              <a:buNone/>
            </a:pPr>
            <a:r>
              <a:rPr lang="en-US" sz="1250">
                <a:solidFill>
                  <a:srgbClr val="1B2A30"/>
                </a:solidFill>
                <a:latin typeface="Poppins"/>
                <a:ea typeface="Poppins"/>
                <a:cs typeface="Poppins"/>
                <a:sym typeface="Poppins"/>
              </a:rPr>
              <a:t>Leaving it as you'd want to find it. Reporting damage rather than walking past it. “Someone else will sort it” is how things stop getting sorted.</a:t>
            </a:r>
            <a:endParaRPr sz="1250">
              <a:solidFill>
                <a:schemeClr val="dk1"/>
              </a:solidFill>
              <a:latin typeface="Calibri"/>
              <a:ea typeface="Calibri"/>
              <a:cs typeface="Calibri"/>
              <a:sym typeface="Calibri"/>
            </a:endParaRPr>
          </a:p>
        </p:txBody>
      </p:sp>
      <p:sp>
        <p:nvSpPr>
          <p:cNvPr id="142" name="Google Shape;142;p8"/>
          <p:cNvSpPr/>
          <p:nvPr/>
        </p:nvSpPr>
        <p:spPr>
          <a:xfrm>
            <a:off x="548640" y="2761488"/>
            <a:ext cx="8046720" cy="1097280"/>
          </a:xfrm>
          <a:prstGeom prst="roundRect">
            <a:avLst>
              <a:gd fmla="val 5833"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8"/>
          <p:cNvSpPr/>
          <p:nvPr/>
        </p:nvSpPr>
        <p:spPr>
          <a:xfrm>
            <a:off x="777240" y="2990088"/>
            <a:ext cx="640080" cy="64008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4" name="Google Shape;144;p8"/>
          <p:cNvPicPr preferRelativeResize="0"/>
          <p:nvPr/>
        </p:nvPicPr>
        <p:blipFill rotWithShape="1">
          <a:blip r:embed="rId5">
            <a:alphaModFix/>
          </a:blip>
          <a:srcRect b="0" l="0" r="0" t="0"/>
          <a:stretch/>
        </p:blipFill>
        <p:spPr>
          <a:xfrm>
            <a:off x="950976" y="3163824"/>
            <a:ext cx="292608" cy="292608"/>
          </a:xfrm>
          <a:prstGeom prst="rect">
            <a:avLst/>
          </a:prstGeom>
          <a:noFill/>
          <a:ln>
            <a:noFill/>
          </a:ln>
        </p:spPr>
      </p:pic>
      <p:sp>
        <p:nvSpPr>
          <p:cNvPr id="145" name="Google Shape;145;p8"/>
          <p:cNvSpPr/>
          <p:nvPr/>
        </p:nvSpPr>
        <p:spPr>
          <a:xfrm>
            <a:off x="1600200" y="2871216"/>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SemiBold"/>
              <a:buNone/>
            </a:pPr>
            <a:r>
              <a:rPr b="1" lang="en-US" sz="1400">
                <a:solidFill>
                  <a:srgbClr val="0D2434"/>
                </a:solidFill>
                <a:latin typeface="Poppins SemiBold"/>
                <a:ea typeface="Poppins SemiBold"/>
                <a:cs typeface="Poppins SemiBold"/>
                <a:sym typeface="Poppins SemiBold"/>
              </a:rPr>
              <a:t>For each other</a:t>
            </a:r>
            <a:endParaRPr sz="1400">
              <a:solidFill>
                <a:schemeClr val="dk1"/>
              </a:solidFill>
              <a:latin typeface="Calibri"/>
              <a:ea typeface="Calibri"/>
              <a:cs typeface="Calibri"/>
              <a:sym typeface="Calibri"/>
            </a:endParaRPr>
          </a:p>
        </p:txBody>
      </p:sp>
      <p:sp>
        <p:nvSpPr>
          <p:cNvPr id="146" name="Google Shape;146;p8"/>
          <p:cNvSpPr/>
          <p:nvPr/>
        </p:nvSpPr>
        <p:spPr>
          <a:xfrm>
            <a:off x="1600200" y="3182112"/>
            <a:ext cx="6766560"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250"/>
              <a:buFont typeface="Poppins"/>
              <a:buNone/>
            </a:pPr>
            <a:r>
              <a:rPr lang="en-US" sz="1250">
                <a:solidFill>
                  <a:srgbClr val="1B2A30"/>
                </a:solidFill>
                <a:latin typeface="Poppins"/>
                <a:ea typeface="Poppins"/>
                <a:cs typeface="Poppins"/>
                <a:sym typeface="Poppins"/>
              </a:rPr>
              <a:t>Messing with someone’s camera rig, audio setup, lighting configuration, or workstation “as a joke” isn’t banter — it’s a safety issue with someone else’s name on it.</a:t>
            </a:r>
            <a:endParaRPr sz="1250">
              <a:solidFill>
                <a:schemeClr val="dk1"/>
              </a:solidFill>
              <a:latin typeface="Calibri"/>
              <a:ea typeface="Calibri"/>
              <a:cs typeface="Calibri"/>
              <a:sym typeface="Calibri"/>
            </a:endParaRPr>
          </a:p>
        </p:txBody>
      </p:sp>
      <p:sp>
        <p:nvSpPr>
          <p:cNvPr id="147" name="Google Shape;147;p8"/>
          <p:cNvSpPr/>
          <p:nvPr/>
        </p:nvSpPr>
        <p:spPr>
          <a:xfrm>
            <a:off x="548640" y="3968496"/>
            <a:ext cx="8046720" cy="1097280"/>
          </a:xfrm>
          <a:prstGeom prst="roundRect">
            <a:avLst>
              <a:gd fmla="val 5833"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8"/>
          <p:cNvSpPr/>
          <p:nvPr/>
        </p:nvSpPr>
        <p:spPr>
          <a:xfrm>
            <a:off x="777240" y="4197096"/>
            <a:ext cx="640080" cy="64008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9" name="Google Shape;149;p8"/>
          <p:cNvPicPr preferRelativeResize="0"/>
          <p:nvPr/>
        </p:nvPicPr>
        <p:blipFill rotWithShape="1">
          <a:blip r:embed="rId6">
            <a:alphaModFix/>
          </a:blip>
          <a:srcRect b="0" l="0" r="0" t="0"/>
          <a:stretch/>
        </p:blipFill>
        <p:spPr>
          <a:xfrm>
            <a:off x="950976" y="4370832"/>
            <a:ext cx="292608" cy="292608"/>
          </a:xfrm>
          <a:prstGeom prst="rect">
            <a:avLst/>
          </a:prstGeom>
          <a:noFill/>
          <a:ln>
            <a:noFill/>
          </a:ln>
        </p:spPr>
      </p:pic>
      <p:sp>
        <p:nvSpPr>
          <p:cNvPr id="150" name="Google Shape;150;p8"/>
          <p:cNvSpPr/>
          <p:nvPr/>
        </p:nvSpPr>
        <p:spPr>
          <a:xfrm>
            <a:off x="1600200" y="4078224"/>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SemiBold"/>
              <a:buNone/>
            </a:pPr>
            <a:r>
              <a:rPr b="1" lang="en-US" sz="1400">
                <a:solidFill>
                  <a:srgbClr val="0D2434"/>
                </a:solidFill>
                <a:latin typeface="Poppins SemiBold"/>
                <a:ea typeface="Poppins SemiBold"/>
                <a:cs typeface="Poppins SemiBold"/>
                <a:sym typeface="Poppins SemiBold"/>
              </a:rPr>
              <a:t>For the people who flag things</a:t>
            </a:r>
            <a:endParaRPr sz="1400">
              <a:solidFill>
                <a:schemeClr val="dk1"/>
              </a:solidFill>
              <a:latin typeface="Calibri"/>
              <a:ea typeface="Calibri"/>
              <a:cs typeface="Calibri"/>
              <a:sym typeface="Calibri"/>
            </a:endParaRPr>
          </a:p>
        </p:txBody>
      </p:sp>
      <p:sp>
        <p:nvSpPr>
          <p:cNvPr id="151" name="Google Shape;151;p8"/>
          <p:cNvSpPr/>
          <p:nvPr/>
        </p:nvSpPr>
        <p:spPr>
          <a:xfrm>
            <a:off x="1600200" y="4389120"/>
            <a:ext cx="6766560"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250"/>
              <a:buFont typeface="Poppins"/>
              <a:buNone/>
            </a:pPr>
            <a:r>
              <a:rPr lang="en-US" sz="1250">
                <a:solidFill>
                  <a:srgbClr val="1B2A30"/>
                </a:solidFill>
                <a:latin typeface="Poppins"/>
                <a:ea typeface="Poppins"/>
                <a:cs typeface="Poppins"/>
                <a:sym typeface="Poppins"/>
              </a:rPr>
              <a:t>When a tutor pauses a studio shoot, location session, or live broadcast for a safety reason, that’s not someone being precious. That’s the system working as it should.</a:t>
            </a:r>
            <a:endParaRPr sz="12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56" name="Shape 156"/>
        <p:cNvGrpSpPr/>
        <p:nvPr/>
      </p:nvGrpSpPr>
      <p:grpSpPr>
        <a:xfrm>
          <a:off x="0" y="0"/>
          <a:ext cx="0" cy="0"/>
          <a:chOff x="0" y="0"/>
          <a:chExt cx="0" cy="0"/>
        </a:xfrm>
      </p:grpSpPr>
      <p:sp>
        <p:nvSpPr>
          <p:cNvPr id="157" name="Google Shape;157;p9"/>
          <p:cNvSpPr/>
          <p:nvPr/>
        </p:nvSpPr>
        <p:spPr>
          <a:xfrm>
            <a:off x="6858000" y="292608"/>
            <a:ext cx="187452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58" name="Google Shape;158;p9"/>
          <p:cNvPicPr preferRelativeResize="0"/>
          <p:nvPr/>
        </p:nvPicPr>
        <p:blipFill rotWithShape="1">
          <a:blip r:embed="rId3">
            <a:alphaModFix/>
          </a:blip>
          <a:srcRect b="0" l="0" r="0" t="0"/>
          <a:stretch/>
        </p:blipFill>
        <p:spPr>
          <a:xfrm>
            <a:off x="6949440" y="356616"/>
            <a:ext cx="201168" cy="201168"/>
          </a:xfrm>
          <a:prstGeom prst="rect">
            <a:avLst/>
          </a:prstGeom>
          <a:noFill/>
          <a:ln>
            <a:noFill/>
          </a:ln>
        </p:spPr>
      </p:pic>
      <p:sp>
        <p:nvSpPr>
          <p:cNvPr id="159" name="Google Shape;159;p9"/>
          <p:cNvSpPr/>
          <p:nvPr/>
        </p:nvSpPr>
        <p:spPr>
          <a:xfrm>
            <a:off x="7187184" y="292608"/>
            <a:ext cx="1508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TEACHER INPUT</a:t>
            </a:r>
            <a:endParaRPr sz="1100">
              <a:solidFill>
                <a:schemeClr val="dk1"/>
              </a:solidFill>
              <a:latin typeface="Calibri"/>
              <a:ea typeface="Calibri"/>
              <a:cs typeface="Calibri"/>
              <a:sym typeface="Calibri"/>
            </a:endParaRPr>
          </a:p>
        </p:txBody>
      </p:sp>
      <p:sp>
        <p:nvSpPr>
          <p:cNvPr id="160" name="Google Shape;160;p9"/>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WHAT'S CHANGED FOR YEAR TWO</a:t>
            </a:r>
            <a:endParaRPr sz="1200">
              <a:solidFill>
                <a:schemeClr val="dk1"/>
              </a:solidFill>
              <a:latin typeface="Calibri"/>
              <a:ea typeface="Calibri"/>
              <a:cs typeface="Calibri"/>
              <a:sym typeface="Calibri"/>
            </a:endParaRPr>
          </a:p>
        </p:txBody>
      </p:sp>
      <p:sp>
        <p:nvSpPr>
          <p:cNvPr id="161" name="Google Shape;161;p9"/>
          <p:cNvSpPr/>
          <p:nvPr/>
        </p:nvSpPr>
        <p:spPr>
          <a:xfrm>
            <a:off x="548640" y="594360"/>
            <a:ext cx="7863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Your subject area</a:t>
            </a:r>
            <a:endParaRPr sz="2800">
              <a:solidFill>
                <a:schemeClr val="dk1"/>
              </a:solidFill>
              <a:latin typeface="Calibri"/>
              <a:ea typeface="Calibri"/>
              <a:cs typeface="Calibri"/>
              <a:sym typeface="Calibri"/>
            </a:endParaRPr>
          </a:p>
        </p:txBody>
      </p:sp>
      <p:sp>
        <p:nvSpPr>
          <p:cNvPr id="162" name="Google Shape;162;p9"/>
          <p:cNvSpPr/>
          <p:nvPr/>
        </p:nvSpPr>
        <p:spPr>
          <a:xfrm>
            <a:off x="269100" y="1225275"/>
            <a:ext cx="8588400" cy="3529500"/>
          </a:xfrm>
          <a:prstGeom prst="roundRect">
            <a:avLst>
              <a:gd fmla="val 2254" name="adj"/>
            </a:avLst>
          </a:prstGeom>
          <a:solidFill>
            <a:srgbClr val="F8E7E3"/>
          </a:solidFill>
          <a:ln cap="flat" cmpd="sng" w="15875">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63" name="Google Shape;163;p9"/>
          <p:cNvPicPr preferRelativeResize="0"/>
          <p:nvPr/>
        </p:nvPicPr>
        <p:blipFill rotWithShape="1">
          <a:blip r:embed="rId4">
            <a:alphaModFix/>
          </a:blip>
          <a:srcRect b="0" l="0" r="0" t="0"/>
          <a:stretch/>
        </p:blipFill>
        <p:spPr>
          <a:xfrm>
            <a:off x="369707" y="1289314"/>
            <a:ext cx="310896" cy="310896"/>
          </a:xfrm>
          <a:prstGeom prst="rect">
            <a:avLst/>
          </a:prstGeom>
          <a:noFill/>
          <a:ln>
            <a:noFill/>
          </a:ln>
        </p:spPr>
      </p:pic>
      <p:sp>
        <p:nvSpPr>
          <p:cNvPr id="164" name="Google Shape;164;p9"/>
          <p:cNvSpPr/>
          <p:nvPr/>
        </p:nvSpPr>
        <p:spPr>
          <a:xfrm>
            <a:off x="741825" y="1225275"/>
            <a:ext cx="8049000" cy="3333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B23A2E"/>
              </a:buClr>
              <a:buSzPts val="1250"/>
              <a:buFont typeface="Poppins"/>
              <a:buNone/>
            </a:pPr>
            <a:r>
              <a:rPr b="1" lang="en-US" sz="1150">
                <a:solidFill>
                  <a:srgbClr val="B23A2E"/>
                </a:solidFill>
                <a:latin typeface="Poppins"/>
                <a:ea typeface="Poppins"/>
                <a:cs typeface="Poppins"/>
                <a:sym typeface="Poppins"/>
              </a:rPr>
              <a:t>What is genuinely new this year, what is worth re-stating, and who is responsible for what.</a:t>
            </a:r>
            <a:endParaRPr sz="115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B23A2E"/>
              </a:buClr>
              <a:buSzPts val="1150"/>
              <a:buFont typeface="Poppins"/>
              <a:buNone/>
            </a:pPr>
            <a:r>
              <a:rPr lang="en-US" sz="1050">
                <a:solidFill>
                  <a:srgbClr val="B23A2E"/>
                </a:solidFill>
                <a:latin typeface="Poppins"/>
                <a:ea typeface="Poppins"/>
                <a:cs typeface="Poppins"/>
                <a:sym typeface="Poppins"/>
              </a:rPr>
              <a:t>New for Year 2. Content Creation students: you are now running live media (Eastbourne Youth Radio, Tag magazine). Broadcasting and publishing carry different H&amp;S obligations — contributor consent, editorial duty of care, and the wellbeing of subjects are now professional responsibilities, not just course requirements. T Level students: industry placement is live — confirm your pre-placement H&amp;S induction dates with your tutor immediately. Film and Games students: your Year 2 projects are longer and more complex — sustained screen-intensive work makes RSI and eye strain genuine occupational risks at this stage.</a:t>
            </a:r>
            <a:endParaRPr sz="105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B23A2E"/>
              </a:buClr>
              <a:buSzPts val="1150"/>
              <a:buFont typeface="Poppins"/>
              <a:buNone/>
            </a:pPr>
            <a:r>
              <a:rPr lang="en-US" sz="1050">
                <a:solidFill>
                  <a:srgbClr val="B23A2E"/>
                </a:solidFill>
                <a:latin typeface="Poppins"/>
                <a:ea typeface="Poppins"/>
                <a:cs typeface="Poppins"/>
                <a:sym typeface="Poppins"/>
              </a:rPr>
              <a:t>Worth re-stating from Year 1. Sandbags on lighting stands when extended — the single most commonly dropped habit. If nobody has mentioned it since Year 1 Week 1, it has probably stopped happening. Risk assessments for location shoots apply to familiar locations too — “we’ve been there before” is not a risk assessment. Cables are coiled and stored after every session, not after the edit.</a:t>
            </a:r>
            <a:endParaRPr sz="105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B23A2E"/>
              </a:buClr>
              <a:buSzPts val="1150"/>
              <a:buFont typeface="Poppins"/>
              <a:buNone/>
            </a:pPr>
            <a:r>
              <a:rPr lang="en-US" sz="1050">
                <a:solidFill>
                  <a:srgbClr val="B23A2E"/>
                </a:solidFill>
                <a:latin typeface="Poppins"/>
                <a:ea typeface="Poppins"/>
                <a:cs typeface="Poppins"/>
                <a:sym typeface="Poppins"/>
              </a:rPr>
              <a:t>Patterns worth naming. Across the department, the most common Year 2 pattern is equipment returned to the wrong position or not returned at all — not through negligence but because everyone assumes someone else has done it. If you are the last person using something, you are responsible for returning it, regardless of who signed it out. [Inferred — replace with any specific near-misses or patterns from your cohort if available.]</a:t>
            </a:r>
            <a:endParaRPr sz="105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B23A2E"/>
              </a:buClr>
              <a:buSzPts val="1150"/>
              <a:buFont typeface="Poppins"/>
              <a:buNone/>
            </a:pPr>
            <a:r>
              <a:rPr lang="en-US" sz="1050">
                <a:solidFill>
                  <a:srgbClr val="B23A2E"/>
                </a:solidFill>
                <a:latin typeface="Poppins"/>
                <a:ea typeface="Poppins"/>
                <a:cs typeface="Poppins"/>
                <a:sym typeface="Poppins"/>
              </a:rPr>
              <a:t>Who is responsible for what — confirm it, do not assume. You: return equipment, report faults before you leave, submit risk assessments. Your tutor: signs off risk assessments, checks studio at session start. Technician/college: PAT testing and maintenance. T Level students on placement: any incident during placement must be reported to your tutor by the end of the placement day — the host organisation’s procedures apply on-site, not the college’s.</a:t>
            </a:r>
            <a:endParaRPr sz="10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69" name="Shape 169"/>
        <p:cNvGrpSpPr/>
        <p:nvPr/>
      </p:nvGrpSpPr>
      <p:grpSpPr>
        <a:xfrm>
          <a:off x="0" y="0"/>
          <a:ext cx="0" cy="0"/>
          <a:chOff x="0" y="0"/>
          <a:chExt cx="0" cy="0"/>
        </a:xfrm>
      </p:grpSpPr>
      <p:sp>
        <p:nvSpPr>
          <p:cNvPr id="170" name="Google Shape;170;p10"/>
          <p:cNvSpPr/>
          <p:nvPr/>
        </p:nvSpPr>
        <p:spPr>
          <a:xfrm>
            <a:off x="7315200" y="292608"/>
            <a:ext cx="141732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1" name="Google Shape;171;p10"/>
          <p:cNvPicPr preferRelativeResize="0"/>
          <p:nvPr/>
        </p:nvPicPr>
        <p:blipFill rotWithShape="1">
          <a:blip r:embed="rId3">
            <a:alphaModFix/>
          </a:blip>
          <a:srcRect b="0" l="0" r="0" t="0"/>
          <a:stretch/>
        </p:blipFill>
        <p:spPr>
          <a:xfrm>
            <a:off x="7406640" y="356616"/>
            <a:ext cx="201168" cy="201168"/>
          </a:xfrm>
          <a:prstGeom prst="rect">
            <a:avLst/>
          </a:prstGeom>
          <a:noFill/>
          <a:ln>
            <a:noFill/>
          </a:ln>
        </p:spPr>
      </p:pic>
      <p:sp>
        <p:nvSpPr>
          <p:cNvPr id="172" name="Google Shape;172;p10"/>
          <p:cNvSpPr/>
          <p:nvPr/>
        </p:nvSpPr>
        <p:spPr>
          <a:xfrm>
            <a:off x="7644384" y="292608"/>
            <a:ext cx="1051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ACTIVITY</a:t>
            </a:r>
            <a:endParaRPr sz="1100">
              <a:solidFill>
                <a:schemeClr val="dk1"/>
              </a:solidFill>
              <a:latin typeface="Calibri"/>
              <a:ea typeface="Calibri"/>
              <a:cs typeface="Calibri"/>
              <a:sym typeface="Calibri"/>
            </a:endParaRPr>
          </a:p>
        </p:txBody>
      </p:sp>
      <p:sp>
        <p:nvSpPr>
          <p:cNvPr id="173" name="Google Shape;173;p10"/>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ACTIVITY · PAIRS · ~6 MINUTES</a:t>
            </a:r>
            <a:endParaRPr sz="1200">
              <a:solidFill>
                <a:schemeClr val="dk1"/>
              </a:solidFill>
              <a:latin typeface="Calibri"/>
              <a:ea typeface="Calibri"/>
              <a:cs typeface="Calibri"/>
              <a:sym typeface="Calibri"/>
            </a:endParaRPr>
          </a:p>
        </p:txBody>
      </p:sp>
      <p:sp>
        <p:nvSpPr>
          <p:cNvPr id="174" name="Google Shape;174;p10"/>
          <p:cNvSpPr/>
          <p:nvPr/>
        </p:nvSpPr>
        <p:spPr>
          <a:xfrm>
            <a:off x="548640" y="820146"/>
            <a:ext cx="7863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Quick check</a:t>
            </a:r>
            <a:endParaRPr sz="2800">
              <a:solidFill>
                <a:schemeClr val="dk1"/>
              </a:solidFill>
              <a:latin typeface="Calibri"/>
              <a:ea typeface="Calibri"/>
              <a:cs typeface="Calibri"/>
              <a:sym typeface="Calibri"/>
            </a:endParaRPr>
          </a:p>
        </p:txBody>
      </p:sp>
      <p:sp>
        <p:nvSpPr>
          <p:cNvPr id="175" name="Google Shape;175;p10"/>
          <p:cNvSpPr/>
          <p:nvPr/>
        </p:nvSpPr>
        <p:spPr>
          <a:xfrm>
            <a:off x="548640" y="1417320"/>
            <a:ext cx="8046720"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A6F"/>
              </a:buClr>
              <a:buSzPts val="1300"/>
              <a:buFont typeface="Poppins"/>
              <a:buNone/>
            </a:pPr>
            <a:r>
              <a:rPr i="1" lang="en-US" sz="1300">
                <a:solidFill>
                  <a:srgbClr val="5A6A6F"/>
                </a:solidFill>
                <a:latin typeface="Poppins"/>
                <a:ea typeface="Poppins"/>
                <a:cs typeface="Poppins"/>
                <a:sym typeface="Poppins"/>
              </a:rPr>
              <a:t>Some of this is yours. Some of it is the college's. Most of it is shared. You'll know all of this — the question is whether it's stayed sharp over the summer.</a:t>
            </a:r>
            <a:endParaRPr sz="1300">
              <a:solidFill>
                <a:schemeClr val="dk1"/>
              </a:solidFill>
              <a:latin typeface="Calibri"/>
              <a:ea typeface="Calibri"/>
              <a:cs typeface="Calibri"/>
              <a:sym typeface="Calibri"/>
            </a:endParaRPr>
          </a:p>
        </p:txBody>
      </p:sp>
      <p:sp>
        <p:nvSpPr>
          <p:cNvPr id="176" name="Google Shape;176;p10"/>
          <p:cNvSpPr/>
          <p:nvPr/>
        </p:nvSpPr>
        <p:spPr>
          <a:xfrm>
            <a:off x="548650" y="2057400"/>
            <a:ext cx="3931800" cy="1303500"/>
          </a:xfrm>
          <a:prstGeom prst="roundRect">
            <a:avLst>
              <a:gd fmla="val 7000"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10"/>
          <p:cNvSpPr/>
          <p:nvPr/>
        </p:nvSpPr>
        <p:spPr>
          <a:xfrm>
            <a:off x="713242" y="2292061"/>
            <a:ext cx="365700" cy="5217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10"/>
          <p:cNvSpPr/>
          <p:nvPr/>
        </p:nvSpPr>
        <p:spPr>
          <a:xfrm>
            <a:off x="713242" y="2292061"/>
            <a:ext cx="365700" cy="52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SemiBold"/>
              <a:buNone/>
            </a:pPr>
            <a:r>
              <a:rPr b="1" lang="en-US" sz="1400">
                <a:solidFill>
                  <a:srgbClr val="FFFFFF"/>
                </a:solidFill>
                <a:latin typeface="Poppins SemiBold"/>
                <a:ea typeface="Poppins SemiBold"/>
                <a:cs typeface="Poppins SemiBold"/>
                <a:sym typeface="Poppins SemiBold"/>
              </a:rPr>
              <a:t>1</a:t>
            </a:r>
            <a:endParaRPr sz="1400">
              <a:solidFill>
                <a:schemeClr val="dk1"/>
              </a:solidFill>
              <a:latin typeface="Calibri"/>
              <a:ea typeface="Calibri"/>
              <a:cs typeface="Calibri"/>
              <a:sym typeface="Calibri"/>
            </a:endParaRPr>
          </a:p>
        </p:txBody>
      </p:sp>
      <p:sp>
        <p:nvSpPr>
          <p:cNvPr id="179" name="Google Shape;179;p10"/>
          <p:cNvSpPr/>
          <p:nvPr/>
        </p:nvSpPr>
        <p:spPr>
          <a:xfrm>
            <a:off x="1188730" y="2187767"/>
            <a:ext cx="3154800" cy="1042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Where's your nearest fire exit from this room, and where's your assembly point?</a:t>
            </a:r>
            <a:endParaRPr sz="1200">
              <a:solidFill>
                <a:schemeClr val="dk1"/>
              </a:solidFill>
              <a:latin typeface="Calibri"/>
              <a:ea typeface="Calibri"/>
              <a:cs typeface="Calibri"/>
              <a:sym typeface="Calibri"/>
            </a:endParaRPr>
          </a:p>
        </p:txBody>
      </p:sp>
      <p:sp>
        <p:nvSpPr>
          <p:cNvPr id="180" name="Google Shape;180;p10"/>
          <p:cNvSpPr/>
          <p:nvPr/>
        </p:nvSpPr>
        <p:spPr>
          <a:xfrm>
            <a:off x="4663450" y="2057400"/>
            <a:ext cx="3931800" cy="1303500"/>
          </a:xfrm>
          <a:prstGeom prst="roundRect">
            <a:avLst>
              <a:gd fmla="val 7000"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10"/>
          <p:cNvSpPr/>
          <p:nvPr/>
        </p:nvSpPr>
        <p:spPr>
          <a:xfrm>
            <a:off x="4828042" y="2292061"/>
            <a:ext cx="365700" cy="5217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10"/>
          <p:cNvSpPr/>
          <p:nvPr/>
        </p:nvSpPr>
        <p:spPr>
          <a:xfrm>
            <a:off x="4828042" y="2292061"/>
            <a:ext cx="365700" cy="52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SemiBold"/>
              <a:buNone/>
            </a:pPr>
            <a:r>
              <a:rPr b="1" lang="en-US" sz="1400">
                <a:solidFill>
                  <a:srgbClr val="FFFFFF"/>
                </a:solidFill>
                <a:latin typeface="Poppins SemiBold"/>
                <a:ea typeface="Poppins SemiBold"/>
                <a:cs typeface="Poppins SemiBold"/>
                <a:sym typeface="Poppins SemiBold"/>
              </a:rPr>
              <a:t>2</a:t>
            </a:r>
            <a:endParaRPr sz="1400">
              <a:solidFill>
                <a:schemeClr val="dk1"/>
              </a:solidFill>
              <a:latin typeface="Calibri"/>
              <a:ea typeface="Calibri"/>
              <a:cs typeface="Calibri"/>
              <a:sym typeface="Calibri"/>
            </a:endParaRPr>
          </a:p>
        </p:txBody>
      </p:sp>
      <p:sp>
        <p:nvSpPr>
          <p:cNvPr id="183" name="Google Shape;183;p10"/>
          <p:cNvSpPr/>
          <p:nvPr/>
        </p:nvSpPr>
        <p:spPr>
          <a:xfrm>
            <a:off x="5303530" y="2187767"/>
            <a:ext cx="3154800" cy="1042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You are about to go to a location your group used last year. Your teacher asks whether you have submitted a risk assessment. Do you need one? What do you say — and why does the reason matter?</a:t>
            </a:r>
            <a:endParaRPr sz="1200">
              <a:solidFill>
                <a:schemeClr val="dk1"/>
              </a:solidFill>
              <a:latin typeface="Calibri"/>
              <a:ea typeface="Calibri"/>
              <a:cs typeface="Calibri"/>
              <a:sym typeface="Calibri"/>
            </a:endParaRPr>
          </a:p>
        </p:txBody>
      </p:sp>
      <p:sp>
        <p:nvSpPr>
          <p:cNvPr id="184" name="Google Shape;184;p10"/>
          <p:cNvSpPr/>
          <p:nvPr/>
        </p:nvSpPr>
        <p:spPr>
          <a:xfrm>
            <a:off x="548650" y="3595735"/>
            <a:ext cx="3931800" cy="1303500"/>
          </a:xfrm>
          <a:prstGeom prst="roundRect">
            <a:avLst>
              <a:gd fmla="val 7000"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10"/>
          <p:cNvSpPr/>
          <p:nvPr/>
        </p:nvSpPr>
        <p:spPr>
          <a:xfrm>
            <a:off x="713242" y="3830397"/>
            <a:ext cx="365700" cy="5217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0"/>
          <p:cNvSpPr/>
          <p:nvPr/>
        </p:nvSpPr>
        <p:spPr>
          <a:xfrm>
            <a:off x="713242" y="3830397"/>
            <a:ext cx="365700" cy="52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SemiBold"/>
              <a:buNone/>
            </a:pPr>
            <a:r>
              <a:rPr b="1" lang="en-US" sz="1400">
                <a:solidFill>
                  <a:srgbClr val="FFFFFF"/>
                </a:solidFill>
                <a:latin typeface="Poppins SemiBold"/>
                <a:ea typeface="Poppins SemiBold"/>
                <a:cs typeface="Poppins SemiBold"/>
                <a:sym typeface="Poppins SemiBold"/>
              </a:rPr>
              <a:t>3</a:t>
            </a:r>
            <a:endParaRPr sz="1400">
              <a:solidFill>
                <a:schemeClr val="dk1"/>
              </a:solidFill>
              <a:latin typeface="Calibri"/>
              <a:ea typeface="Calibri"/>
              <a:cs typeface="Calibri"/>
              <a:sym typeface="Calibri"/>
            </a:endParaRPr>
          </a:p>
        </p:txBody>
      </p:sp>
      <p:sp>
        <p:nvSpPr>
          <p:cNvPr id="187" name="Google Shape;187;p10"/>
          <p:cNvSpPr/>
          <p:nvPr/>
        </p:nvSpPr>
        <p:spPr>
          <a:xfrm>
            <a:off x="1188730" y="3726103"/>
            <a:ext cx="3154800" cy="1042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Name one thing in this room that's your responsibility, and one thing that's the college's.</a:t>
            </a:r>
            <a:endParaRPr sz="1200">
              <a:solidFill>
                <a:schemeClr val="dk1"/>
              </a:solidFill>
              <a:latin typeface="Calibri"/>
              <a:ea typeface="Calibri"/>
              <a:cs typeface="Calibri"/>
              <a:sym typeface="Calibri"/>
            </a:endParaRPr>
          </a:p>
        </p:txBody>
      </p:sp>
      <p:sp>
        <p:nvSpPr>
          <p:cNvPr id="188" name="Google Shape;188;p10"/>
          <p:cNvSpPr/>
          <p:nvPr/>
        </p:nvSpPr>
        <p:spPr>
          <a:xfrm>
            <a:off x="4663450" y="3595735"/>
            <a:ext cx="3931800" cy="1303500"/>
          </a:xfrm>
          <a:prstGeom prst="roundRect">
            <a:avLst>
              <a:gd fmla="val 7000"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10"/>
          <p:cNvSpPr/>
          <p:nvPr/>
        </p:nvSpPr>
        <p:spPr>
          <a:xfrm>
            <a:off x="4828042" y="3830397"/>
            <a:ext cx="365700" cy="5217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10"/>
          <p:cNvSpPr/>
          <p:nvPr/>
        </p:nvSpPr>
        <p:spPr>
          <a:xfrm>
            <a:off x="4828042" y="3830397"/>
            <a:ext cx="365700" cy="52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SemiBold"/>
              <a:buNone/>
            </a:pPr>
            <a:r>
              <a:rPr b="1" lang="en-US" sz="1400">
                <a:solidFill>
                  <a:srgbClr val="FFFFFF"/>
                </a:solidFill>
                <a:latin typeface="Poppins SemiBold"/>
                <a:ea typeface="Poppins SemiBold"/>
                <a:cs typeface="Poppins SemiBold"/>
                <a:sym typeface="Poppins SemiBold"/>
              </a:rPr>
              <a:t>4</a:t>
            </a:r>
            <a:endParaRPr sz="1400">
              <a:solidFill>
                <a:schemeClr val="dk1"/>
              </a:solidFill>
              <a:latin typeface="Calibri"/>
              <a:ea typeface="Calibri"/>
              <a:cs typeface="Calibri"/>
              <a:sym typeface="Calibri"/>
            </a:endParaRPr>
          </a:p>
        </p:txBody>
      </p:sp>
      <p:sp>
        <p:nvSpPr>
          <p:cNvPr id="191" name="Google Shape;191;p10"/>
          <p:cNvSpPr/>
          <p:nvPr/>
        </p:nvSpPr>
        <p:spPr>
          <a:xfrm>
            <a:off x="5303530" y="3726103"/>
            <a:ext cx="3154800" cy="1042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What’s the real reason for using sandbags on lighting stands and securing camera equipment correctly — not “because you have to”, but the actual reason? Has your answer changed since Year 1?</a:t>
            </a:r>
            <a:endParaRPr sz="1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96" name="Shape 196"/>
        <p:cNvGrpSpPr/>
        <p:nvPr/>
      </p:nvGrpSpPr>
      <p:grpSpPr>
        <a:xfrm>
          <a:off x="0" y="0"/>
          <a:ext cx="0" cy="0"/>
          <a:chOff x="0" y="0"/>
          <a:chExt cx="0" cy="0"/>
        </a:xfrm>
      </p:grpSpPr>
      <p:sp>
        <p:nvSpPr>
          <p:cNvPr id="197" name="Google Shape;197;p11"/>
          <p:cNvSpPr/>
          <p:nvPr/>
        </p:nvSpPr>
        <p:spPr>
          <a:xfrm>
            <a:off x="7040880" y="292608"/>
            <a:ext cx="169164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98" name="Google Shape;198;p11"/>
          <p:cNvPicPr preferRelativeResize="0"/>
          <p:nvPr/>
        </p:nvPicPr>
        <p:blipFill rotWithShape="1">
          <a:blip r:embed="rId3">
            <a:alphaModFix/>
          </a:blip>
          <a:srcRect b="0" l="0" r="0" t="0"/>
          <a:stretch/>
        </p:blipFill>
        <p:spPr>
          <a:xfrm>
            <a:off x="7132320" y="356616"/>
            <a:ext cx="201168" cy="201168"/>
          </a:xfrm>
          <a:prstGeom prst="rect">
            <a:avLst/>
          </a:prstGeom>
          <a:noFill/>
          <a:ln>
            <a:noFill/>
          </a:ln>
        </p:spPr>
      </p:pic>
      <p:sp>
        <p:nvSpPr>
          <p:cNvPr id="199" name="Google Shape;199;p11"/>
          <p:cNvSpPr/>
          <p:nvPr/>
        </p:nvSpPr>
        <p:spPr>
          <a:xfrm>
            <a:off x="7370064" y="292608"/>
            <a:ext cx="1325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DISCUSSION</a:t>
            </a:r>
            <a:endParaRPr sz="1100">
              <a:solidFill>
                <a:schemeClr val="dk1"/>
              </a:solidFill>
              <a:latin typeface="Calibri"/>
              <a:ea typeface="Calibri"/>
              <a:cs typeface="Calibri"/>
              <a:sym typeface="Calibri"/>
            </a:endParaRPr>
          </a:p>
        </p:txBody>
      </p:sp>
      <p:sp>
        <p:nvSpPr>
          <p:cNvPr id="200" name="Google Shape;200;p11"/>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NOTICING IS ONLY HALF THE JOB</a:t>
            </a:r>
            <a:endParaRPr sz="1200">
              <a:solidFill>
                <a:schemeClr val="dk1"/>
              </a:solidFill>
              <a:latin typeface="Calibri"/>
              <a:ea typeface="Calibri"/>
              <a:cs typeface="Calibri"/>
              <a:sym typeface="Calibri"/>
            </a:endParaRPr>
          </a:p>
        </p:txBody>
      </p:sp>
      <p:sp>
        <p:nvSpPr>
          <p:cNvPr id="201" name="Google Shape;201;p11"/>
          <p:cNvSpPr/>
          <p:nvPr/>
        </p:nvSpPr>
        <p:spPr>
          <a:xfrm>
            <a:off x="548640" y="806079"/>
            <a:ext cx="7863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If something's not right</a:t>
            </a:r>
            <a:endParaRPr sz="2800">
              <a:solidFill>
                <a:schemeClr val="dk1"/>
              </a:solidFill>
              <a:latin typeface="Calibri"/>
              <a:ea typeface="Calibri"/>
              <a:cs typeface="Calibri"/>
              <a:sym typeface="Calibri"/>
            </a:endParaRPr>
          </a:p>
        </p:txBody>
      </p:sp>
      <p:sp>
        <p:nvSpPr>
          <p:cNvPr id="202" name="Google Shape;202;p11"/>
          <p:cNvSpPr/>
          <p:nvPr/>
        </p:nvSpPr>
        <p:spPr>
          <a:xfrm>
            <a:off x="548640" y="1371600"/>
            <a:ext cx="804672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300"/>
              <a:buFont typeface="Poppins"/>
              <a:buNone/>
            </a:pPr>
            <a:r>
              <a:rPr lang="en-US" sz="1300">
                <a:solidFill>
                  <a:srgbClr val="1B2A30"/>
                </a:solidFill>
                <a:latin typeface="Poppins"/>
                <a:ea typeface="Poppins"/>
                <a:cs typeface="Poppins"/>
                <a:sym typeface="Poppins"/>
              </a:rPr>
              <a:t>Everything so far has been about noticing — a hazard, a habit, a near miss. The other half is saying something. Not making a fuss. Not “telling on” anyone. Just saying it, early, to someone who can do something about it.</a:t>
            </a:r>
            <a:endParaRPr sz="1300">
              <a:solidFill>
                <a:schemeClr val="dk1"/>
              </a:solidFill>
              <a:latin typeface="Calibri"/>
              <a:ea typeface="Calibri"/>
              <a:cs typeface="Calibri"/>
              <a:sym typeface="Calibri"/>
            </a:endParaRPr>
          </a:p>
        </p:txBody>
      </p:sp>
      <p:sp>
        <p:nvSpPr>
          <p:cNvPr id="203" name="Google Shape;203;p11"/>
          <p:cNvSpPr/>
          <p:nvPr/>
        </p:nvSpPr>
        <p:spPr>
          <a:xfrm>
            <a:off x="548640" y="2194560"/>
            <a:ext cx="8046720" cy="685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300"/>
              <a:buFont typeface="Poppins"/>
              <a:buNone/>
            </a:pPr>
            <a:r>
              <a:rPr lang="en-US" sz="1300">
                <a:solidFill>
                  <a:srgbClr val="1B2A30"/>
                </a:solidFill>
                <a:latin typeface="Poppins"/>
                <a:ea typeface="Poppins"/>
                <a:cs typeface="Poppins"/>
                <a:sym typeface="Poppins"/>
              </a:rPr>
              <a:t>And this isn't only about hazards. If something — a space, an activity, the way someone's behaving towards you or someone else — has made you feel uncomfortable or unsafe, that counts too.</a:t>
            </a:r>
            <a:endParaRPr sz="1300">
              <a:solidFill>
                <a:schemeClr val="dk1"/>
              </a:solidFill>
              <a:latin typeface="Calibri"/>
              <a:ea typeface="Calibri"/>
              <a:cs typeface="Calibri"/>
              <a:sym typeface="Calibri"/>
            </a:endParaRPr>
          </a:p>
        </p:txBody>
      </p:sp>
      <p:sp>
        <p:nvSpPr>
          <p:cNvPr id="204" name="Google Shape;204;p11"/>
          <p:cNvSpPr/>
          <p:nvPr/>
        </p:nvSpPr>
        <p:spPr>
          <a:xfrm>
            <a:off x="548640" y="3017520"/>
            <a:ext cx="3886200" cy="1691640"/>
          </a:xfrm>
          <a:prstGeom prst="roundRect">
            <a:avLst>
              <a:gd fmla="val 4324" name="adj"/>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11"/>
          <p:cNvSpPr/>
          <p:nvPr/>
        </p:nvSpPr>
        <p:spPr>
          <a:xfrm>
            <a:off x="868680" y="3200400"/>
            <a:ext cx="3291840" cy="9601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D2434"/>
              </a:buClr>
              <a:buSzPts val="2400"/>
              <a:buFont typeface="Poppins SemiBold"/>
              <a:buNone/>
            </a:pPr>
            <a:r>
              <a:rPr b="1" lang="en-US" sz="2400">
                <a:solidFill>
                  <a:srgbClr val="0D2434"/>
                </a:solidFill>
                <a:latin typeface="Poppins SemiBold"/>
                <a:ea typeface="Poppins SemiBold"/>
                <a:cs typeface="Poppins SemiBold"/>
                <a:sym typeface="Poppins SemiBold"/>
              </a:rPr>
              <a:t>Tell someone.</a:t>
            </a:r>
            <a:endParaRPr sz="2400">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0D2434"/>
              </a:buClr>
              <a:buSzPts val="2400"/>
              <a:buFont typeface="Poppins SemiBold"/>
              <a:buNone/>
            </a:pPr>
            <a:r>
              <a:rPr b="1" lang="en-US" sz="2400">
                <a:solidFill>
                  <a:srgbClr val="0D2434"/>
                </a:solidFill>
                <a:latin typeface="Poppins SemiBold"/>
                <a:ea typeface="Poppins SemiBold"/>
                <a:cs typeface="Poppins SemiBold"/>
                <a:sym typeface="Poppins SemiBold"/>
              </a:rPr>
              <a:t>Early.</a:t>
            </a:r>
            <a:endParaRPr sz="2400">
              <a:solidFill>
                <a:schemeClr val="dk1"/>
              </a:solidFill>
              <a:latin typeface="Calibri"/>
              <a:ea typeface="Calibri"/>
              <a:cs typeface="Calibri"/>
              <a:sym typeface="Calibri"/>
            </a:endParaRPr>
          </a:p>
        </p:txBody>
      </p:sp>
      <p:sp>
        <p:nvSpPr>
          <p:cNvPr id="206" name="Google Shape;206;p11"/>
          <p:cNvSpPr/>
          <p:nvPr/>
        </p:nvSpPr>
        <p:spPr>
          <a:xfrm>
            <a:off x="4572000" y="3017520"/>
            <a:ext cx="4023360" cy="1691640"/>
          </a:xfrm>
          <a:prstGeom prst="roundRect">
            <a:avLst>
              <a:gd fmla="val 4324" name="adj"/>
            </a:avLst>
          </a:prstGeom>
          <a:solidFill>
            <a:srgbClr val="F8E7E3"/>
          </a:solidFill>
          <a:ln cap="flat" cmpd="sng" w="15875">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07" name="Google Shape;207;p11"/>
          <p:cNvPicPr preferRelativeResize="0"/>
          <p:nvPr/>
        </p:nvPicPr>
        <p:blipFill rotWithShape="1">
          <a:blip r:embed="rId4">
            <a:alphaModFix/>
          </a:blip>
          <a:srcRect b="0" l="0" r="0" t="0"/>
          <a:stretch/>
        </p:blipFill>
        <p:spPr>
          <a:xfrm>
            <a:off x="4736592" y="3163824"/>
            <a:ext cx="237744" cy="237744"/>
          </a:xfrm>
          <a:prstGeom prst="rect">
            <a:avLst/>
          </a:prstGeom>
          <a:noFill/>
          <a:ln>
            <a:noFill/>
          </a:ln>
        </p:spPr>
      </p:pic>
      <p:sp>
        <p:nvSpPr>
          <p:cNvPr id="208" name="Google Shape;208;p11"/>
          <p:cNvSpPr/>
          <p:nvPr/>
        </p:nvSpPr>
        <p:spPr>
          <a:xfrm>
            <a:off x="5065776" y="3136392"/>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300"/>
              <a:buFont typeface="Poppins SemiBold"/>
              <a:buNone/>
            </a:pPr>
            <a:r>
              <a:rPr b="1" lang="en-US" sz="1300">
                <a:solidFill>
                  <a:srgbClr val="B23A2E"/>
                </a:solidFill>
                <a:latin typeface="Poppins SemiBold"/>
                <a:ea typeface="Poppins SemiBold"/>
                <a:cs typeface="Poppins SemiBold"/>
                <a:sym typeface="Poppins SemiBold"/>
              </a:rPr>
              <a:t>Your safeguarding team</a:t>
            </a:r>
            <a:endParaRPr sz="1300">
              <a:solidFill>
                <a:schemeClr val="dk1"/>
              </a:solidFill>
              <a:latin typeface="Calibri"/>
              <a:ea typeface="Calibri"/>
              <a:cs typeface="Calibri"/>
              <a:sym typeface="Calibri"/>
            </a:endParaRPr>
          </a:p>
        </p:txBody>
      </p:sp>
      <p:sp>
        <p:nvSpPr>
          <p:cNvPr id="209" name="Google Shape;209;p11"/>
          <p:cNvSpPr/>
          <p:nvPr/>
        </p:nvSpPr>
        <p:spPr>
          <a:xfrm>
            <a:off x="4736592" y="3438144"/>
            <a:ext cx="3694176" cy="3840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B23A2E"/>
              </a:buClr>
              <a:buSzPts val="1000"/>
              <a:buFont typeface="Poppins"/>
              <a:buNone/>
            </a:pPr>
            <a:r>
              <a:rPr i="1" lang="en-US" sz="1000">
                <a:solidFill>
                  <a:srgbClr val="B23A2E"/>
                </a:solidFill>
                <a:latin typeface="Poppins"/>
                <a:ea typeface="Poppins"/>
                <a:cs typeface="Poppins"/>
                <a:sym typeface="Poppins"/>
              </a:rPr>
              <a:t>Delete the two campus numbers that do not apply before delivering this session.</a:t>
            </a:r>
            <a:endParaRPr sz="1000">
              <a:solidFill>
                <a:schemeClr val="dk1"/>
              </a:solidFill>
              <a:latin typeface="Calibri"/>
              <a:ea typeface="Calibri"/>
              <a:cs typeface="Calibri"/>
              <a:sym typeface="Calibri"/>
            </a:endParaRPr>
          </a:p>
        </p:txBody>
      </p:sp>
      <p:sp>
        <p:nvSpPr>
          <p:cNvPr id="210" name="Google Shape;210;p11"/>
          <p:cNvSpPr/>
          <p:nvPr/>
        </p:nvSpPr>
        <p:spPr>
          <a:xfrm>
            <a:off x="4736592" y="3858768"/>
            <a:ext cx="3694176" cy="237744"/>
          </a:xfrm>
          <a:prstGeom prst="roundRect">
            <a:avLst>
              <a:gd fmla="val 19231"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1"/>
          <p:cNvSpPr/>
          <p:nvPr/>
        </p:nvSpPr>
        <p:spPr>
          <a:xfrm>
            <a:off x="4882896" y="3858768"/>
            <a:ext cx="34015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a:buNone/>
            </a:pPr>
            <a:r>
              <a:rPr b="1" lang="en-US" sz="1100">
                <a:solidFill>
                  <a:srgbClr val="0D2434"/>
                </a:solidFill>
                <a:latin typeface="Poppins"/>
                <a:ea typeface="Poppins"/>
                <a:cs typeface="Poppins"/>
                <a:sym typeface="Poppins"/>
              </a:rPr>
              <a:t>Eastbourne</a:t>
            </a:r>
            <a:r>
              <a:rPr lang="en-US" sz="1100">
                <a:solidFill>
                  <a:srgbClr val="1B2A30"/>
                </a:solidFill>
                <a:latin typeface="Poppins"/>
                <a:ea typeface="Poppins"/>
                <a:cs typeface="Poppins"/>
                <a:sym typeface="Poppins"/>
              </a:rPr>
              <a:t>   0303 003 9039</a:t>
            </a:r>
            <a:endParaRPr sz="1100">
              <a:solidFill>
                <a:schemeClr val="dk1"/>
              </a:solidFill>
              <a:latin typeface="Calibri"/>
              <a:ea typeface="Calibri"/>
              <a:cs typeface="Calibri"/>
              <a:sym typeface="Calibri"/>
            </a:endParaRPr>
          </a:p>
        </p:txBody>
      </p:sp>
      <p:sp>
        <p:nvSpPr>
          <p:cNvPr id="212" name="Google Shape;212;p11"/>
          <p:cNvSpPr/>
          <p:nvPr/>
        </p:nvSpPr>
        <p:spPr>
          <a:xfrm>
            <a:off x="4736592" y="4142232"/>
            <a:ext cx="3694176" cy="237744"/>
          </a:xfrm>
          <a:prstGeom prst="roundRect">
            <a:avLst>
              <a:gd fmla="val 19231"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11"/>
          <p:cNvSpPr/>
          <p:nvPr/>
        </p:nvSpPr>
        <p:spPr>
          <a:xfrm>
            <a:off x="4882896" y="4142232"/>
            <a:ext cx="34015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a:buNone/>
            </a:pPr>
            <a:r>
              <a:rPr b="1" lang="en-US" sz="1100">
                <a:solidFill>
                  <a:srgbClr val="0D2434"/>
                </a:solidFill>
                <a:latin typeface="Poppins"/>
                <a:ea typeface="Poppins"/>
                <a:cs typeface="Poppins"/>
                <a:sym typeface="Poppins"/>
              </a:rPr>
              <a:t>Hastings</a:t>
            </a:r>
            <a:r>
              <a:rPr lang="en-US" sz="1100">
                <a:solidFill>
                  <a:srgbClr val="1B2A30"/>
                </a:solidFill>
                <a:latin typeface="Poppins"/>
                <a:ea typeface="Poppins"/>
                <a:cs typeface="Poppins"/>
                <a:sym typeface="Poppins"/>
              </a:rPr>
              <a:t>   07848 442081</a:t>
            </a:r>
            <a:endParaRPr sz="1100">
              <a:solidFill>
                <a:schemeClr val="dk1"/>
              </a:solidFill>
              <a:latin typeface="Calibri"/>
              <a:ea typeface="Calibri"/>
              <a:cs typeface="Calibri"/>
              <a:sym typeface="Calibri"/>
            </a:endParaRPr>
          </a:p>
        </p:txBody>
      </p:sp>
      <p:sp>
        <p:nvSpPr>
          <p:cNvPr id="214" name="Google Shape;214;p11"/>
          <p:cNvSpPr/>
          <p:nvPr/>
        </p:nvSpPr>
        <p:spPr>
          <a:xfrm>
            <a:off x="4736592" y="4425696"/>
            <a:ext cx="3694176" cy="237744"/>
          </a:xfrm>
          <a:prstGeom prst="roundRect">
            <a:avLst>
              <a:gd fmla="val 19231"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11"/>
          <p:cNvSpPr/>
          <p:nvPr/>
        </p:nvSpPr>
        <p:spPr>
          <a:xfrm>
            <a:off x="4882896" y="4425696"/>
            <a:ext cx="34015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a:buNone/>
            </a:pPr>
            <a:r>
              <a:rPr b="1" lang="en-US" sz="1100">
                <a:solidFill>
                  <a:srgbClr val="0D2434"/>
                </a:solidFill>
                <a:latin typeface="Poppins"/>
                <a:ea typeface="Poppins"/>
                <a:cs typeface="Poppins"/>
                <a:sym typeface="Poppins"/>
              </a:rPr>
              <a:t>Lewes</a:t>
            </a:r>
            <a:r>
              <a:rPr lang="en-US" sz="1100">
                <a:solidFill>
                  <a:srgbClr val="1B2A30"/>
                </a:solidFill>
                <a:latin typeface="Poppins"/>
                <a:ea typeface="Poppins"/>
                <a:cs typeface="Poppins"/>
                <a:sym typeface="Poppins"/>
              </a:rPr>
              <a:t>   07823 668772</a:t>
            </a:r>
            <a:endParaRPr sz="11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220" name="Shape 220"/>
        <p:cNvGrpSpPr/>
        <p:nvPr/>
      </p:nvGrpSpPr>
      <p:grpSpPr>
        <a:xfrm>
          <a:off x="0" y="0"/>
          <a:ext cx="0" cy="0"/>
          <a:chOff x="0" y="0"/>
          <a:chExt cx="0" cy="0"/>
        </a:xfrm>
      </p:grpSpPr>
      <p:sp>
        <p:nvSpPr>
          <p:cNvPr id="221" name="Google Shape;221;p12"/>
          <p:cNvSpPr/>
          <p:nvPr/>
        </p:nvSpPr>
        <p:spPr>
          <a:xfrm>
            <a:off x="7315200" y="292608"/>
            <a:ext cx="141732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2" name="Google Shape;222;p12"/>
          <p:cNvPicPr preferRelativeResize="0"/>
          <p:nvPr/>
        </p:nvPicPr>
        <p:blipFill rotWithShape="1">
          <a:blip r:embed="rId3">
            <a:alphaModFix/>
          </a:blip>
          <a:srcRect b="0" l="0" r="0" t="0"/>
          <a:stretch/>
        </p:blipFill>
        <p:spPr>
          <a:xfrm>
            <a:off x="7406640" y="356616"/>
            <a:ext cx="201168" cy="201168"/>
          </a:xfrm>
          <a:prstGeom prst="rect">
            <a:avLst/>
          </a:prstGeom>
          <a:noFill/>
          <a:ln>
            <a:noFill/>
          </a:ln>
        </p:spPr>
      </p:pic>
      <p:sp>
        <p:nvSpPr>
          <p:cNvPr id="223" name="Google Shape;223;p12"/>
          <p:cNvSpPr/>
          <p:nvPr/>
        </p:nvSpPr>
        <p:spPr>
          <a:xfrm>
            <a:off x="7644384" y="292608"/>
            <a:ext cx="1051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ACTIVITY</a:t>
            </a:r>
            <a:endParaRPr sz="1100">
              <a:solidFill>
                <a:schemeClr val="dk1"/>
              </a:solidFill>
              <a:latin typeface="Calibri"/>
              <a:ea typeface="Calibri"/>
              <a:cs typeface="Calibri"/>
              <a:sym typeface="Calibri"/>
            </a:endParaRPr>
          </a:p>
        </p:txBody>
      </p:sp>
      <p:sp>
        <p:nvSpPr>
          <p:cNvPr id="224" name="Google Shape;224;p12"/>
          <p:cNvSpPr/>
          <p:nvPr/>
        </p:nvSpPr>
        <p:spPr>
          <a:xfrm>
            <a:off x="548640" y="3657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200"/>
              <a:buFont typeface="Poppins SemiBold"/>
              <a:buNone/>
            </a:pPr>
            <a:r>
              <a:rPr b="1" lang="en-US" sz="1200">
                <a:solidFill>
                  <a:srgbClr val="FFCF01"/>
                </a:solidFill>
                <a:latin typeface="Poppins SemiBold"/>
                <a:ea typeface="Poppins SemiBold"/>
                <a:cs typeface="Poppins SemiBold"/>
                <a:sym typeface="Poppins SemiBold"/>
              </a:rPr>
              <a:t>ONE THING</a:t>
            </a:r>
            <a:endParaRPr sz="1200">
              <a:solidFill>
                <a:schemeClr val="dk1"/>
              </a:solidFill>
              <a:latin typeface="Calibri"/>
              <a:ea typeface="Calibri"/>
              <a:cs typeface="Calibri"/>
              <a:sym typeface="Calibri"/>
            </a:endParaRPr>
          </a:p>
        </p:txBody>
      </p:sp>
      <p:sp>
        <p:nvSpPr>
          <p:cNvPr id="225" name="Google Shape;225;p12"/>
          <p:cNvSpPr/>
          <p:nvPr/>
        </p:nvSpPr>
        <p:spPr>
          <a:xfrm>
            <a:off x="548640" y="640080"/>
            <a:ext cx="7863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oppins SemiBold"/>
              <a:buNone/>
            </a:pPr>
            <a:r>
              <a:rPr b="1" lang="en-US" sz="1900">
                <a:solidFill>
                  <a:srgbClr val="FFFFFF"/>
                </a:solidFill>
                <a:latin typeface="Poppins SemiBold"/>
                <a:ea typeface="Poppins SemiBold"/>
                <a:cs typeface="Poppins SemiBold"/>
                <a:sym typeface="Poppins SemiBold"/>
              </a:rPr>
              <a:t>Pick one, write it down, keep it somewhere you'll see it.</a:t>
            </a:r>
            <a:endParaRPr sz="1900">
              <a:solidFill>
                <a:schemeClr val="dk1"/>
              </a:solidFill>
              <a:latin typeface="Calibri"/>
              <a:ea typeface="Calibri"/>
              <a:cs typeface="Calibri"/>
              <a:sym typeface="Calibri"/>
            </a:endParaRPr>
          </a:p>
        </p:txBody>
      </p:sp>
      <p:sp>
        <p:nvSpPr>
          <p:cNvPr id="226" name="Google Shape;226;p12"/>
          <p:cNvSpPr/>
          <p:nvPr/>
        </p:nvSpPr>
        <p:spPr>
          <a:xfrm>
            <a:off x="548640" y="1371600"/>
            <a:ext cx="8046720" cy="3291840"/>
          </a:xfrm>
          <a:prstGeom prst="roundRect">
            <a:avLst>
              <a:gd fmla="val 2222" name="adj"/>
            </a:avLst>
          </a:prstGeom>
          <a:solidFill>
            <a:srgbClr val="FFFFFF"/>
          </a:solidFill>
          <a:ln>
            <a:noFill/>
          </a:ln>
          <a:effectLst>
            <a:outerShdw blurRad="101600" rotWithShape="0" algn="bl" dir="5400000" dist="38100">
              <a:srgbClr val="000000">
                <a:alpha val="2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12"/>
          <p:cNvSpPr/>
          <p:nvPr/>
        </p:nvSpPr>
        <p:spPr>
          <a:xfrm>
            <a:off x="868680" y="1627632"/>
            <a:ext cx="384048" cy="384048"/>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12"/>
          <p:cNvSpPr/>
          <p:nvPr/>
        </p:nvSpPr>
        <p:spPr>
          <a:xfrm>
            <a:off x="868680" y="16276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Poppins SemiBold"/>
              <a:buNone/>
            </a:pPr>
            <a:r>
              <a:rPr b="1" lang="en-US" sz="1500">
                <a:solidFill>
                  <a:srgbClr val="FFFFFF"/>
                </a:solidFill>
                <a:latin typeface="Poppins SemiBold"/>
                <a:ea typeface="Poppins SemiBold"/>
                <a:cs typeface="Poppins SemiBold"/>
                <a:sym typeface="Poppins SemiBold"/>
              </a:rPr>
              <a:t>1</a:t>
            </a:r>
            <a:endParaRPr sz="1500">
              <a:solidFill>
                <a:schemeClr val="dk1"/>
              </a:solidFill>
              <a:latin typeface="Calibri"/>
              <a:ea typeface="Calibri"/>
              <a:cs typeface="Calibri"/>
              <a:sym typeface="Calibri"/>
            </a:endParaRPr>
          </a:p>
        </p:txBody>
      </p:sp>
      <p:sp>
        <p:nvSpPr>
          <p:cNvPr id="229" name="Google Shape;229;p12"/>
          <p:cNvSpPr/>
          <p:nvPr/>
        </p:nvSpPr>
        <p:spPr>
          <a:xfrm>
            <a:off x="1371600" y="1591056"/>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I'll actually check my nearest fire exit and assembly point, not just assume I remember.</a:t>
            </a:r>
            <a:endParaRPr sz="1350">
              <a:solidFill>
                <a:schemeClr val="dk1"/>
              </a:solidFill>
              <a:latin typeface="Calibri"/>
              <a:ea typeface="Calibri"/>
              <a:cs typeface="Calibri"/>
              <a:sym typeface="Calibri"/>
            </a:endParaRPr>
          </a:p>
        </p:txBody>
      </p:sp>
      <p:sp>
        <p:nvSpPr>
          <p:cNvPr id="230" name="Google Shape;230;p12"/>
          <p:cNvSpPr/>
          <p:nvPr/>
        </p:nvSpPr>
        <p:spPr>
          <a:xfrm>
            <a:off x="868680" y="2231136"/>
            <a:ext cx="384048" cy="384048"/>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12"/>
          <p:cNvSpPr/>
          <p:nvPr/>
        </p:nvSpPr>
        <p:spPr>
          <a:xfrm>
            <a:off x="868680" y="223113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Poppins SemiBold"/>
              <a:buNone/>
            </a:pPr>
            <a:r>
              <a:rPr b="1" lang="en-US" sz="1500">
                <a:solidFill>
                  <a:srgbClr val="FFFFFF"/>
                </a:solidFill>
                <a:latin typeface="Poppins SemiBold"/>
                <a:ea typeface="Poppins SemiBold"/>
                <a:cs typeface="Poppins SemiBold"/>
                <a:sym typeface="Poppins SemiBold"/>
              </a:rPr>
              <a:t>2</a:t>
            </a:r>
            <a:endParaRPr sz="1500">
              <a:solidFill>
                <a:schemeClr val="dk1"/>
              </a:solidFill>
              <a:latin typeface="Calibri"/>
              <a:ea typeface="Calibri"/>
              <a:cs typeface="Calibri"/>
              <a:sym typeface="Calibri"/>
            </a:endParaRPr>
          </a:p>
        </p:txBody>
      </p:sp>
      <p:sp>
        <p:nvSpPr>
          <p:cNvPr id="232" name="Google Shape;232;p12"/>
          <p:cNvSpPr/>
          <p:nvPr/>
        </p:nvSpPr>
        <p:spPr>
          <a:xfrm>
            <a:off x="1371600" y="2194560"/>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I'll be honest with myself about one habit I've let slip, and fix it this week.</a:t>
            </a:r>
            <a:endParaRPr sz="1350">
              <a:solidFill>
                <a:schemeClr val="dk1"/>
              </a:solidFill>
              <a:latin typeface="Calibri"/>
              <a:ea typeface="Calibri"/>
              <a:cs typeface="Calibri"/>
              <a:sym typeface="Calibri"/>
            </a:endParaRPr>
          </a:p>
        </p:txBody>
      </p:sp>
      <p:sp>
        <p:nvSpPr>
          <p:cNvPr id="233" name="Google Shape;233;p12"/>
          <p:cNvSpPr/>
          <p:nvPr/>
        </p:nvSpPr>
        <p:spPr>
          <a:xfrm>
            <a:off x="868680" y="2834640"/>
            <a:ext cx="384048" cy="384048"/>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2"/>
          <p:cNvSpPr/>
          <p:nvPr/>
        </p:nvSpPr>
        <p:spPr>
          <a:xfrm>
            <a:off x="868680" y="283464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Poppins SemiBold"/>
              <a:buNone/>
            </a:pPr>
            <a:r>
              <a:rPr b="1" lang="en-US" sz="1500">
                <a:solidFill>
                  <a:srgbClr val="FFFFFF"/>
                </a:solidFill>
                <a:latin typeface="Poppins SemiBold"/>
                <a:ea typeface="Poppins SemiBold"/>
                <a:cs typeface="Poppins SemiBold"/>
                <a:sym typeface="Poppins SemiBold"/>
              </a:rPr>
              <a:t>3</a:t>
            </a:r>
            <a:endParaRPr sz="1500">
              <a:solidFill>
                <a:schemeClr val="dk1"/>
              </a:solidFill>
              <a:latin typeface="Calibri"/>
              <a:ea typeface="Calibri"/>
              <a:cs typeface="Calibri"/>
              <a:sym typeface="Calibri"/>
            </a:endParaRPr>
          </a:p>
        </p:txBody>
      </p:sp>
      <p:sp>
        <p:nvSpPr>
          <p:cNvPr id="235" name="Google Shape;235;p12"/>
          <p:cNvSpPr/>
          <p:nvPr/>
        </p:nvSpPr>
        <p:spPr>
          <a:xfrm>
            <a:off x="1371600" y="2798064"/>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I'll read my subject area's update for this year properly, not skim it.</a:t>
            </a:r>
            <a:endParaRPr sz="1350">
              <a:solidFill>
                <a:schemeClr val="dk1"/>
              </a:solidFill>
              <a:latin typeface="Calibri"/>
              <a:ea typeface="Calibri"/>
              <a:cs typeface="Calibri"/>
              <a:sym typeface="Calibri"/>
            </a:endParaRPr>
          </a:p>
        </p:txBody>
      </p:sp>
      <p:sp>
        <p:nvSpPr>
          <p:cNvPr id="236" name="Google Shape;236;p12"/>
          <p:cNvSpPr/>
          <p:nvPr/>
        </p:nvSpPr>
        <p:spPr>
          <a:xfrm>
            <a:off x="777240" y="3520440"/>
            <a:ext cx="7589520" cy="914400"/>
          </a:xfrm>
          <a:prstGeom prst="roundRect">
            <a:avLst>
              <a:gd fmla="val 6000" name="adj"/>
            </a:avLst>
          </a:prstGeom>
          <a:solidFill>
            <a:srgbClr val="F8E7E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12"/>
          <p:cNvSpPr/>
          <p:nvPr/>
        </p:nvSpPr>
        <p:spPr>
          <a:xfrm>
            <a:off x="960120" y="3721608"/>
            <a:ext cx="384048" cy="384048"/>
          </a:xfrm>
          <a:prstGeom prst="ellipse">
            <a:avLst/>
          </a:prstGeom>
          <a:solidFill>
            <a:srgbClr val="B23A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12"/>
          <p:cNvSpPr/>
          <p:nvPr/>
        </p:nvSpPr>
        <p:spPr>
          <a:xfrm>
            <a:off x="960120" y="37216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Poppins SemiBold"/>
              <a:buNone/>
            </a:pPr>
            <a:r>
              <a:rPr b="1" lang="en-US" sz="1500">
                <a:solidFill>
                  <a:srgbClr val="FFFFFF"/>
                </a:solidFill>
                <a:latin typeface="Poppins SemiBold"/>
                <a:ea typeface="Poppins SemiBold"/>
                <a:cs typeface="Poppins SemiBold"/>
                <a:sym typeface="Poppins SemiBold"/>
              </a:rPr>
              <a:t>4</a:t>
            </a:r>
            <a:endParaRPr sz="1500">
              <a:solidFill>
                <a:schemeClr val="dk1"/>
              </a:solidFill>
              <a:latin typeface="Calibri"/>
              <a:ea typeface="Calibri"/>
              <a:cs typeface="Calibri"/>
              <a:sym typeface="Calibri"/>
            </a:endParaRPr>
          </a:p>
        </p:txBody>
      </p:sp>
      <p:sp>
        <p:nvSpPr>
          <p:cNvPr id="239" name="Google Shape;239;p12"/>
          <p:cNvSpPr/>
          <p:nvPr/>
        </p:nvSpPr>
        <p:spPr>
          <a:xfrm>
            <a:off x="1463040" y="3593592"/>
            <a:ext cx="6812280" cy="7772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B23A2E"/>
              </a:buClr>
              <a:buSzPts val="1350"/>
              <a:buFont typeface="Poppins"/>
              <a:buNone/>
            </a:pPr>
            <a:r>
              <a:rPr i="1" lang="en-US" sz="1350">
                <a:solidFill>
                  <a:srgbClr val="B23A2E"/>
                </a:solidFill>
                <a:latin typeface="Poppins"/>
                <a:ea typeface="Poppins"/>
                <a:cs typeface="Poppins"/>
                <a:sym typeface="Poppins"/>
              </a:rPr>
              <a:t>I'll tell someone — my tutor, my personal tutor, or the college's safeguarding team — about something that's made me feel uncomfortable or unsafe.</a:t>
            </a:r>
            <a:endParaRPr sz="135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244" name="Shape 244"/>
        <p:cNvGrpSpPr/>
        <p:nvPr/>
      </p:nvGrpSpPr>
      <p:grpSpPr>
        <a:xfrm>
          <a:off x="0" y="0"/>
          <a:ext cx="0" cy="0"/>
          <a:chOff x="0" y="0"/>
          <a:chExt cx="0" cy="0"/>
        </a:xfrm>
      </p:grpSpPr>
      <p:sp>
        <p:nvSpPr>
          <p:cNvPr id="245" name="Google Shape;245;p13"/>
          <p:cNvSpPr/>
          <p:nvPr/>
        </p:nvSpPr>
        <p:spPr>
          <a:xfrm>
            <a:off x="640080" y="64008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300"/>
              <a:buFont typeface="Poppins SemiBold"/>
              <a:buNone/>
            </a:pPr>
            <a:r>
              <a:rPr b="1" lang="en-US" sz="1300">
                <a:solidFill>
                  <a:srgbClr val="FFCF01"/>
                </a:solidFill>
                <a:latin typeface="Poppins SemiBold"/>
                <a:ea typeface="Poppins SemiBold"/>
                <a:cs typeface="Poppins SemiBold"/>
                <a:sym typeface="Poppins SemiBold"/>
              </a:rPr>
              <a:t>BEFORE YOU GO</a:t>
            </a:r>
            <a:endParaRPr sz="1300">
              <a:solidFill>
                <a:schemeClr val="dk1"/>
              </a:solidFill>
              <a:latin typeface="Calibri"/>
              <a:ea typeface="Calibri"/>
              <a:cs typeface="Calibri"/>
              <a:sym typeface="Calibri"/>
            </a:endParaRPr>
          </a:p>
        </p:txBody>
      </p:sp>
      <p:sp>
        <p:nvSpPr>
          <p:cNvPr id="246" name="Google Shape;246;p13"/>
          <p:cNvSpPr/>
          <p:nvPr/>
        </p:nvSpPr>
        <p:spPr>
          <a:xfrm>
            <a:off x="640080" y="96012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Poppins SemiBold"/>
              <a:buNone/>
            </a:pPr>
            <a:r>
              <a:rPr b="1" lang="en-US" sz="3000">
                <a:solidFill>
                  <a:srgbClr val="FFFFFF"/>
                </a:solidFill>
                <a:latin typeface="Poppins SemiBold"/>
                <a:ea typeface="Poppins SemiBold"/>
                <a:cs typeface="Poppins SemiBold"/>
                <a:sym typeface="Poppins SemiBold"/>
              </a:rPr>
              <a:t>Three things to take with you</a:t>
            </a:r>
            <a:endParaRPr sz="3000">
              <a:solidFill>
                <a:schemeClr val="dk1"/>
              </a:solidFill>
              <a:latin typeface="Calibri"/>
              <a:ea typeface="Calibri"/>
              <a:cs typeface="Calibri"/>
              <a:sym typeface="Calibri"/>
            </a:endParaRPr>
          </a:p>
        </p:txBody>
      </p:sp>
      <p:sp>
        <p:nvSpPr>
          <p:cNvPr id="247" name="Google Shape;247;p13"/>
          <p:cNvSpPr/>
          <p:nvPr/>
        </p:nvSpPr>
        <p:spPr>
          <a:xfrm>
            <a:off x="640080" y="1874520"/>
            <a:ext cx="548640" cy="54864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48" name="Google Shape;248;p13"/>
          <p:cNvPicPr preferRelativeResize="0"/>
          <p:nvPr/>
        </p:nvPicPr>
        <p:blipFill rotWithShape="1">
          <a:blip r:embed="rId3">
            <a:alphaModFix/>
          </a:blip>
          <a:srcRect b="0" l="0" r="0" t="0"/>
          <a:stretch/>
        </p:blipFill>
        <p:spPr>
          <a:xfrm>
            <a:off x="786384" y="2020824"/>
            <a:ext cx="256032" cy="256032"/>
          </a:xfrm>
          <a:prstGeom prst="rect">
            <a:avLst/>
          </a:prstGeom>
          <a:noFill/>
          <a:ln>
            <a:noFill/>
          </a:ln>
        </p:spPr>
      </p:pic>
      <p:sp>
        <p:nvSpPr>
          <p:cNvPr id="249" name="Google Shape;249;p13"/>
          <p:cNvSpPr/>
          <p:nvPr/>
        </p:nvSpPr>
        <p:spPr>
          <a:xfrm>
            <a:off x="1371600" y="1819656"/>
            <a:ext cx="722376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1500"/>
              <a:buFont typeface="Poppins"/>
              <a:buNone/>
            </a:pPr>
            <a:r>
              <a:rPr lang="en-US" sz="1500">
                <a:solidFill>
                  <a:srgbClr val="FFFFFF"/>
                </a:solidFill>
                <a:latin typeface="Poppins"/>
                <a:ea typeface="Poppins"/>
                <a:cs typeface="Poppins"/>
                <a:sym typeface="Poppins"/>
              </a:rPr>
              <a:t>Familiarity is the risk now, not unfamiliarity. Treat your own habits as worth checking, not just new starters'.</a:t>
            </a:r>
            <a:endParaRPr sz="1500">
              <a:solidFill>
                <a:schemeClr val="dk1"/>
              </a:solidFill>
              <a:latin typeface="Calibri"/>
              <a:ea typeface="Calibri"/>
              <a:cs typeface="Calibri"/>
              <a:sym typeface="Calibri"/>
            </a:endParaRPr>
          </a:p>
        </p:txBody>
      </p:sp>
      <p:sp>
        <p:nvSpPr>
          <p:cNvPr id="250" name="Google Shape;250;p13"/>
          <p:cNvSpPr/>
          <p:nvPr/>
        </p:nvSpPr>
        <p:spPr>
          <a:xfrm>
            <a:off x="640080" y="2834640"/>
            <a:ext cx="548640" cy="54864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1" name="Google Shape;251;p13"/>
          <p:cNvPicPr preferRelativeResize="0"/>
          <p:nvPr/>
        </p:nvPicPr>
        <p:blipFill rotWithShape="1">
          <a:blip r:embed="rId4">
            <a:alphaModFix/>
          </a:blip>
          <a:srcRect b="0" l="0" r="0" t="0"/>
          <a:stretch/>
        </p:blipFill>
        <p:spPr>
          <a:xfrm>
            <a:off x="786384" y="2980944"/>
            <a:ext cx="256032" cy="256032"/>
          </a:xfrm>
          <a:prstGeom prst="rect">
            <a:avLst/>
          </a:prstGeom>
          <a:noFill/>
          <a:ln>
            <a:noFill/>
          </a:ln>
        </p:spPr>
      </p:pic>
      <p:sp>
        <p:nvSpPr>
          <p:cNvPr id="252" name="Google Shape;252;p13"/>
          <p:cNvSpPr/>
          <p:nvPr/>
        </p:nvSpPr>
        <p:spPr>
          <a:xfrm>
            <a:off x="1371600" y="2779776"/>
            <a:ext cx="722376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1500"/>
              <a:buFont typeface="Poppins"/>
              <a:buNone/>
            </a:pPr>
            <a:r>
              <a:rPr lang="en-US" sz="1500">
                <a:solidFill>
                  <a:srgbClr val="FFFFFF"/>
                </a:solidFill>
                <a:latin typeface="Poppins"/>
                <a:ea typeface="Poppins"/>
                <a:cs typeface="Poppins"/>
                <a:sym typeface="Poppins"/>
              </a:rPr>
              <a:t>The standard hasn't moved. A year in, “I didn't realise” carries less weight than it did in week one.</a:t>
            </a:r>
            <a:endParaRPr sz="1500">
              <a:solidFill>
                <a:schemeClr val="dk1"/>
              </a:solidFill>
              <a:latin typeface="Calibri"/>
              <a:ea typeface="Calibri"/>
              <a:cs typeface="Calibri"/>
              <a:sym typeface="Calibri"/>
            </a:endParaRPr>
          </a:p>
        </p:txBody>
      </p:sp>
      <p:sp>
        <p:nvSpPr>
          <p:cNvPr id="253" name="Google Shape;253;p13"/>
          <p:cNvSpPr/>
          <p:nvPr/>
        </p:nvSpPr>
        <p:spPr>
          <a:xfrm>
            <a:off x="640080" y="3794760"/>
            <a:ext cx="548640" cy="54864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4" name="Google Shape;254;p13"/>
          <p:cNvPicPr preferRelativeResize="0"/>
          <p:nvPr/>
        </p:nvPicPr>
        <p:blipFill rotWithShape="1">
          <a:blip r:embed="rId5">
            <a:alphaModFix/>
          </a:blip>
          <a:srcRect b="0" l="0" r="0" t="0"/>
          <a:stretch/>
        </p:blipFill>
        <p:spPr>
          <a:xfrm>
            <a:off x="786384" y="3941064"/>
            <a:ext cx="256032" cy="256032"/>
          </a:xfrm>
          <a:prstGeom prst="rect">
            <a:avLst/>
          </a:prstGeom>
          <a:noFill/>
          <a:ln>
            <a:noFill/>
          </a:ln>
        </p:spPr>
      </p:pic>
      <p:sp>
        <p:nvSpPr>
          <p:cNvPr id="255" name="Google Shape;255;p13"/>
          <p:cNvSpPr/>
          <p:nvPr/>
        </p:nvSpPr>
        <p:spPr>
          <a:xfrm>
            <a:off x="1371600" y="3739896"/>
            <a:ext cx="722376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1500"/>
              <a:buFont typeface="Poppins"/>
              <a:buNone/>
            </a:pPr>
            <a:r>
              <a:rPr lang="en-US" sz="1500">
                <a:solidFill>
                  <a:srgbClr val="FFFFFF"/>
                </a:solidFill>
                <a:latin typeface="Poppins"/>
                <a:ea typeface="Poppins"/>
                <a:cs typeface="Poppins"/>
                <a:sym typeface="Poppins"/>
              </a:rPr>
              <a:t>If something’s off, say something. Early. That’s still not making a fuss — a year in changes nothing about that. In a media environment, the person who noticed something slipping and said so is the one who arrives at placement ready to work professionally. That responsibility has grown this year, not shrunk.</a:t>
            </a:r>
            <a:endParaRPr sz="15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60" name="Shape 260"/>
        <p:cNvGrpSpPr/>
        <p:nvPr/>
      </p:nvGrpSpPr>
      <p:grpSpPr>
        <a:xfrm>
          <a:off x="0" y="0"/>
          <a:ext cx="0" cy="0"/>
          <a:chOff x="0" y="0"/>
          <a:chExt cx="0" cy="0"/>
        </a:xfrm>
      </p:grpSpPr>
      <p:sp>
        <p:nvSpPr>
          <p:cNvPr id="261" name="Google Shape;261;p14"/>
          <p:cNvSpPr/>
          <p:nvPr/>
        </p:nvSpPr>
        <p:spPr>
          <a:xfrm>
            <a:off x="0" y="0"/>
            <a:ext cx="9144000" cy="502920"/>
          </a:xfrm>
          <a:prstGeom prst="rect">
            <a:avLst/>
          </a:prstGeom>
          <a:solidFill>
            <a:srgbClr val="B23A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14"/>
          <p:cNvSpPr/>
          <p:nvPr/>
        </p:nvSpPr>
        <p:spPr>
          <a:xfrm>
            <a:off x="0" y="0"/>
            <a:ext cx="91440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SemiBold"/>
              <a:buNone/>
            </a:pPr>
            <a:r>
              <a:rPr b="1" lang="en-US" sz="1400">
                <a:solidFill>
                  <a:srgbClr val="FFFFFF"/>
                </a:solidFill>
                <a:latin typeface="Poppins SemiBold"/>
                <a:ea typeface="Poppins SemiBold"/>
                <a:cs typeface="Poppins SemiBold"/>
                <a:sym typeface="Poppins SemiBold"/>
              </a:rPr>
              <a:t>DO NOT DISPLAY TO STUDENTS  ·  TEACHER APPENDIX</a:t>
            </a:r>
            <a:endParaRPr sz="1400">
              <a:solidFill>
                <a:schemeClr val="dk1"/>
              </a:solidFill>
              <a:latin typeface="Calibri"/>
              <a:ea typeface="Calibri"/>
              <a:cs typeface="Calibri"/>
              <a:sym typeface="Calibri"/>
            </a:endParaRPr>
          </a:p>
        </p:txBody>
      </p:sp>
      <p:sp>
        <p:nvSpPr>
          <p:cNvPr id="263" name="Google Shape;263;p14"/>
          <p:cNvSpPr/>
          <p:nvPr/>
        </p:nvSpPr>
        <p:spPr>
          <a:xfrm>
            <a:off x="457200" y="621792"/>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Module C · Health &amp; Safety Introduction · Level 3 Digital and Creative Media (Year 2)</a:t>
            </a:r>
            <a:endParaRPr sz="1300">
              <a:solidFill>
                <a:schemeClr val="dk1"/>
              </a:solidFill>
              <a:latin typeface="Calibri"/>
              <a:ea typeface="Calibri"/>
              <a:cs typeface="Calibri"/>
              <a:sym typeface="Calibri"/>
            </a:endParaRPr>
          </a:p>
        </p:txBody>
      </p:sp>
      <p:sp>
        <p:nvSpPr>
          <p:cNvPr id="264" name="Google Shape;264;p14"/>
          <p:cNvSpPr/>
          <p:nvPr/>
        </p:nvSpPr>
        <p:spPr>
          <a:xfrm>
            <a:off x="411480" y="960120"/>
            <a:ext cx="3383280" cy="3657600"/>
          </a:xfrm>
          <a:prstGeom prst="roundRect">
            <a:avLst>
              <a:gd fmla="val 1622"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14"/>
          <p:cNvSpPr/>
          <p:nvPr/>
        </p:nvSpPr>
        <p:spPr>
          <a:xfrm>
            <a:off x="594360" y="1078992"/>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50"/>
              <a:buFont typeface="Poppins SemiBold"/>
              <a:buNone/>
            </a:pPr>
            <a:r>
              <a:rPr b="1" lang="en-US" sz="1250">
                <a:solidFill>
                  <a:srgbClr val="0F7A54"/>
                </a:solidFill>
                <a:latin typeface="Poppins SemiBold"/>
                <a:ea typeface="Poppins SemiBold"/>
                <a:cs typeface="Poppins SemiBold"/>
                <a:sym typeface="Poppins SemiBold"/>
              </a:rPr>
              <a:t>Running order</a:t>
            </a:r>
            <a:endParaRPr sz="1250">
              <a:solidFill>
                <a:schemeClr val="dk1"/>
              </a:solidFill>
              <a:latin typeface="Calibri"/>
              <a:ea typeface="Calibri"/>
              <a:cs typeface="Calibri"/>
              <a:sym typeface="Calibri"/>
            </a:endParaRPr>
          </a:p>
        </p:txBody>
      </p:sp>
      <p:sp>
        <p:nvSpPr>
          <p:cNvPr id="266" name="Google Shape;266;p14"/>
          <p:cNvSpPr/>
          <p:nvPr/>
        </p:nvSpPr>
        <p:spPr>
          <a:xfrm>
            <a:off x="594360" y="1325880"/>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Back in the room</a:t>
            </a:r>
            <a:endParaRPr sz="1050">
              <a:solidFill>
                <a:schemeClr val="dk1"/>
              </a:solidFill>
              <a:latin typeface="Calibri"/>
              <a:ea typeface="Calibri"/>
              <a:cs typeface="Calibri"/>
              <a:sym typeface="Calibri"/>
            </a:endParaRPr>
          </a:p>
        </p:txBody>
      </p:sp>
      <p:sp>
        <p:nvSpPr>
          <p:cNvPr id="267" name="Google Shape;267;p14"/>
          <p:cNvSpPr/>
          <p:nvPr/>
        </p:nvSpPr>
        <p:spPr>
          <a:xfrm>
            <a:off x="2926080" y="1325880"/>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6 min</a:t>
            </a:r>
            <a:endParaRPr sz="1050">
              <a:solidFill>
                <a:schemeClr val="dk1"/>
              </a:solidFill>
              <a:latin typeface="Calibri"/>
              <a:ea typeface="Calibri"/>
              <a:cs typeface="Calibri"/>
              <a:sym typeface="Calibri"/>
            </a:endParaRPr>
          </a:p>
        </p:txBody>
      </p:sp>
      <p:cxnSp>
        <p:nvCxnSpPr>
          <p:cNvPr id="268" name="Google Shape;268;p14"/>
          <p:cNvCxnSpPr/>
          <p:nvPr/>
        </p:nvCxnSpPr>
        <p:spPr>
          <a:xfrm>
            <a:off x="594360" y="1655064"/>
            <a:ext cx="3017520" cy="0"/>
          </a:xfrm>
          <a:prstGeom prst="straightConnector1">
            <a:avLst/>
          </a:prstGeom>
          <a:noFill/>
          <a:ln cap="flat" cmpd="sng" w="9525">
            <a:solidFill>
              <a:srgbClr val="D2DBDA"/>
            </a:solidFill>
            <a:prstDash val="solid"/>
            <a:round/>
            <a:headEnd len="sm" w="sm" type="none"/>
            <a:tailEnd len="sm" w="sm" type="none"/>
          </a:ln>
        </p:spPr>
      </p:cxnSp>
      <p:sp>
        <p:nvSpPr>
          <p:cNvPr id="269" name="Google Shape;269;p14"/>
          <p:cNvSpPr/>
          <p:nvPr/>
        </p:nvSpPr>
        <p:spPr>
          <a:xfrm>
            <a:off x="594360" y="1700784"/>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Familiarity is the risk</a:t>
            </a:r>
            <a:endParaRPr sz="1050">
              <a:solidFill>
                <a:schemeClr val="dk1"/>
              </a:solidFill>
              <a:latin typeface="Calibri"/>
              <a:ea typeface="Calibri"/>
              <a:cs typeface="Calibri"/>
              <a:sym typeface="Calibri"/>
            </a:endParaRPr>
          </a:p>
        </p:txBody>
      </p:sp>
      <p:sp>
        <p:nvSpPr>
          <p:cNvPr id="270" name="Google Shape;270;p14"/>
          <p:cNvSpPr/>
          <p:nvPr/>
        </p:nvSpPr>
        <p:spPr>
          <a:xfrm>
            <a:off x="2926080" y="1700784"/>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6 min</a:t>
            </a:r>
            <a:endParaRPr sz="1050">
              <a:solidFill>
                <a:schemeClr val="dk1"/>
              </a:solidFill>
              <a:latin typeface="Calibri"/>
              <a:ea typeface="Calibri"/>
              <a:cs typeface="Calibri"/>
              <a:sym typeface="Calibri"/>
            </a:endParaRPr>
          </a:p>
        </p:txBody>
      </p:sp>
      <p:cxnSp>
        <p:nvCxnSpPr>
          <p:cNvPr id="271" name="Google Shape;271;p14"/>
          <p:cNvCxnSpPr/>
          <p:nvPr/>
        </p:nvCxnSpPr>
        <p:spPr>
          <a:xfrm>
            <a:off x="594360" y="2029968"/>
            <a:ext cx="3017520" cy="0"/>
          </a:xfrm>
          <a:prstGeom prst="straightConnector1">
            <a:avLst/>
          </a:prstGeom>
          <a:noFill/>
          <a:ln cap="flat" cmpd="sng" w="9525">
            <a:solidFill>
              <a:srgbClr val="D2DBDA"/>
            </a:solidFill>
            <a:prstDash val="solid"/>
            <a:round/>
            <a:headEnd len="sm" w="sm" type="none"/>
            <a:tailEnd len="sm" w="sm" type="none"/>
          </a:ln>
        </p:spPr>
      </p:cxnSp>
      <p:sp>
        <p:nvSpPr>
          <p:cNvPr id="272" name="Google Shape;272;p14"/>
          <p:cNvSpPr/>
          <p:nvPr/>
        </p:nvSpPr>
        <p:spPr>
          <a:xfrm>
            <a:off x="594360" y="2075688"/>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The basics, fast</a:t>
            </a:r>
            <a:endParaRPr sz="1050">
              <a:solidFill>
                <a:schemeClr val="dk1"/>
              </a:solidFill>
              <a:latin typeface="Calibri"/>
              <a:ea typeface="Calibri"/>
              <a:cs typeface="Calibri"/>
              <a:sym typeface="Calibri"/>
            </a:endParaRPr>
          </a:p>
        </p:txBody>
      </p:sp>
      <p:sp>
        <p:nvSpPr>
          <p:cNvPr id="273" name="Google Shape;273;p14"/>
          <p:cNvSpPr/>
          <p:nvPr/>
        </p:nvSpPr>
        <p:spPr>
          <a:xfrm>
            <a:off x="2926080" y="2075688"/>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4 min</a:t>
            </a:r>
            <a:endParaRPr sz="1050">
              <a:solidFill>
                <a:schemeClr val="dk1"/>
              </a:solidFill>
              <a:latin typeface="Calibri"/>
              <a:ea typeface="Calibri"/>
              <a:cs typeface="Calibri"/>
              <a:sym typeface="Calibri"/>
            </a:endParaRPr>
          </a:p>
        </p:txBody>
      </p:sp>
      <p:cxnSp>
        <p:nvCxnSpPr>
          <p:cNvPr id="274" name="Google Shape;274;p14"/>
          <p:cNvCxnSpPr/>
          <p:nvPr/>
        </p:nvCxnSpPr>
        <p:spPr>
          <a:xfrm>
            <a:off x="594360" y="2404872"/>
            <a:ext cx="3017520" cy="0"/>
          </a:xfrm>
          <a:prstGeom prst="straightConnector1">
            <a:avLst/>
          </a:prstGeom>
          <a:noFill/>
          <a:ln cap="flat" cmpd="sng" w="9525">
            <a:solidFill>
              <a:srgbClr val="D2DBDA"/>
            </a:solidFill>
            <a:prstDash val="solid"/>
            <a:round/>
            <a:headEnd len="sm" w="sm" type="none"/>
            <a:tailEnd len="sm" w="sm" type="none"/>
          </a:ln>
        </p:spPr>
      </p:cxnSp>
      <p:sp>
        <p:nvSpPr>
          <p:cNvPr id="275" name="Google Shape;275;p14"/>
          <p:cNvSpPr/>
          <p:nvPr/>
        </p:nvSpPr>
        <p:spPr>
          <a:xfrm>
            <a:off x="594360" y="2450592"/>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Show respect</a:t>
            </a:r>
            <a:endParaRPr sz="1050">
              <a:solidFill>
                <a:schemeClr val="dk1"/>
              </a:solidFill>
              <a:latin typeface="Calibri"/>
              <a:ea typeface="Calibri"/>
              <a:cs typeface="Calibri"/>
              <a:sym typeface="Calibri"/>
            </a:endParaRPr>
          </a:p>
        </p:txBody>
      </p:sp>
      <p:sp>
        <p:nvSpPr>
          <p:cNvPr id="276" name="Google Shape;276;p14"/>
          <p:cNvSpPr/>
          <p:nvPr/>
        </p:nvSpPr>
        <p:spPr>
          <a:xfrm>
            <a:off x="2926080" y="2450592"/>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4 min</a:t>
            </a:r>
            <a:endParaRPr sz="1050">
              <a:solidFill>
                <a:schemeClr val="dk1"/>
              </a:solidFill>
              <a:latin typeface="Calibri"/>
              <a:ea typeface="Calibri"/>
              <a:cs typeface="Calibri"/>
              <a:sym typeface="Calibri"/>
            </a:endParaRPr>
          </a:p>
        </p:txBody>
      </p:sp>
      <p:cxnSp>
        <p:nvCxnSpPr>
          <p:cNvPr id="277" name="Google Shape;277;p14"/>
          <p:cNvCxnSpPr/>
          <p:nvPr/>
        </p:nvCxnSpPr>
        <p:spPr>
          <a:xfrm>
            <a:off x="594360" y="2779776"/>
            <a:ext cx="3017520" cy="0"/>
          </a:xfrm>
          <a:prstGeom prst="straightConnector1">
            <a:avLst/>
          </a:prstGeom>
          <a:noFill/>
          <a:ln cap="flat" cmpd="sng" w="9525">
            <a:solidFill>
              <a:srgbClr val="D2DBDA"/>
            </a:solidFill>
            <a:prstDash val="solid"/>
            <a:round/>
            <a:headEnd len="sm" w="sm" type="none"/>
            <a:tailEnd len="sm" w="sm" type="none"/>
          </a:ln>
        </p:spPr>
      </p:cxnSp>
      <p:sp>
        <p:nvSpPr>
          <p:cNvPr id="278" name="Google Shape;278;p14"/>
          <p:cNvSpPr/>
          <p:nvPr/>
        </p:nvSpPr>
        <p:spPr>
          <a:xfrm>
            <a:off x="594360" y="2825496"/>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Your subject area</a:t>
            </a:r>
            <a:endParaRPr sz="1050">
              <a:solidFill>
                <a:schemeClr val="dk1"/>
              </a:solidFill>
              <a:latin typeface="Calibri"/>
              <a:ea typeface="Calibri"/>
              <a:cs typeface="Calibri"/>
              <a:sym typeface="Calibri"/>
            </a:endParaRPr>
          </a:p>
        </p:txBody>
      </p:sp>
      <p:sp>
        <p:nvSpPr>
          <p:cNvPr id="279" name="Google Shape;279;p14"/>
          <p:cNvSpPr/>
          <p:nvPr/>
        </p:nvSpPr>
        <p:spPr>
          <a:xfrm>
            <a:off x="2926080" y="2825496"/>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8 min</a:t>
            </a:r>
            <a:endParaRPr sz="1050">
              <a:solidFill>
                <a:schemeClr val="dk1"/>
              </a:solidFill>
              <a:latin typeface="Calibri"/>
              <a:ea typeface="Calibri"/>
              <a:cs typeface="Calibri"/>
              <a:sym typeface="Calibri"/>
            </a:endParaRPr>
          </a:p>
        </p:txBody>
      </p:sp>
      <p:cxnSp>
        <p:nvCxnSpPr>
          <p:cNvPr id="280" name="Google Shape;280;p14"/>
          <p:cNvCxnSpPr/>
          <p:nvPr/>
        </p:nvCxnSpPr>
        <p:spPr>
          <a:xfrm>
            <a:off x="594360" y="3154680"/>
            <a:ext cx="3017520" cy="0"/>
          </a:xfrm>
          <a:prstGeom prst="straightConnector1">
            <a:avLst/>
          </a:prstGeom>
          <a:noFill/>
          <a:ln cap="flat" cmpd="sng" w="9525">
            <a:solidFill>
              <a:srgbClr val="D2DBDA"/>
            </a:solidFill>
            <a:prstDash val="solid"/>
            <a:round/>
            <a:headEnd len="sm" w="sm" type="none"/>
            <a:tailEnd len="sm" w="sm" type="none"/>
          </a:ln>
        </p:spPr>
      </p:cxnSp>
      <p:sp>
        <p:nvSpPr>
          <p:cNvPr id="281" name="Google Shape;281;p14"/>
          <p:cNvSpPr/>
          <p:nvPr/>
        </p:nvSpPr>
        <p:spPr>
          <a:xfrm>
            <a:off x="594360" y="3200400"/>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Quick check</a:t>
            </a:r>
            <a:endParaRPr sz="1050">
              <a:solidFill>
                <a:schemeClr val="dk1"/>
              </a:solidFill>
              <a:latin typeface="Calibri"/>
              <a:ea typeface="Calibri"/>
              <a:cs typeface="Calibri"/>
              <a:sym typeface="Calibri"/>
            </a:endParaRPr>
          </a:p>
        </p:txBody>
      </p:sp>
      <p:sp>
        <p:nvSpPr>
          <p:cNvPr id="282" name="Google Shape;282;p14"/>
          <p:cNvSpPr/>
          <p:nvPr/>
        </p:nvSpPr>
        <p:spPr>
          <a:xfrm>
            <a:off x="2926080" y="3200400"/>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6 min</a:t>
            </a:r>
            <a:endParaRPr sz="1050">
              <a:solidFill>
                <a:schemeClr val="dk1"/>
              </a:solidFill>
              <a:latin typeface="Calibri"/>
              <a:ea typeface="Calibri"/>
              <a:cs typeface="Calibri"/>
              <a:sym typeface="Calibri"/>
            </a:endParaRPr>
          </a:p>
        </p:txBody>
      </p:sp>
      <p:cxnSp>
        <p:nvCxnSpPr>
          <p:cNvPr id="283" name="Google Shape;283;p14"/>
          <p:cNvCxnSpPr/>
          <p:nvPr/>
        </p:nvCxnSpPr>
        <p:spPr>
          <a:xfrm>
            <a:off x="594360" y="3529584"/>
            <a:ext cx="3017520" cy="0"/>
          </a:xfrm>
          <a:prstGeom prst="straightConnector1">
            <a:avLst/>
          </a:prstGeom>
          <a:noFill/>
          <a:ln cap="flat" cmpd="sng" w="9525">
            <a:solidFill>
              <a:srgbClr val="D2DBDA"/>
            </a:solidFill>
            <a:prstDash val="solid"/>
            <a:round/>
            <a:headEnd len="sm" w="sm" type="none"/>
            <a:tailEnd len="sm" w="sm" type="none"/>
          </a:ln>
        </p:spPr>
      </p:cxnSp>
      <p:sp>
        <p:nvSpPr>
          <p:cNvPr id="284" name="Google Shape;284;p14"/>
          <p:cNvSpPr/>
          <p:nvPr/>
        </p:nvSpPr>
        <p:spPr>
          <a:xfrm>
            <a:off x="594360" y="3575304"/>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If something's not right</a:t>
            </a:r>
            <a:endParaRPr sz="1050">
              <a:solidFill>
                <a:schemeClr val="dk1"/>
              </a:solidFill>
              <a:latin typeface="Calibri"/>
              <a:ea typeface="Calibri"/>
              <a:cs typeface="Calibri"/>
              <a:sym typeface="Calibri"/>
            </a:endParaRPr>
          </a:p>
        </p:txBody>
      </p:sp>
      <p:sp>
        <p:nvSpPr>
          <p:cNvPr id="285" name="Google Shape;285;p14"/>
          <p:cNvSpPr/>
          <p:nvPr/>
        </p:nvSpPr>
        <p:spPr>
          <a:xfrm>
            <a:off x="2926080" y="3575304"/>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6 min</a:t>
            </a:r>
            <a:endParaRPr sz="1050">
              <a:solidFill>
                <a:schemeClr val="dk1"/>
              </a:solidFill>
              <a:latin typeface="Calibri"/>
              <a:ea typeface="Calibri"/>
              <a:cs typeface="Calibri"/>
              <a:sym typeface="Calibri"/>
            </a:endParaRPr>
          </a:p>
        </p:txBody>
      </p:sp>
      <p:cxnSp>
        <p:nvCxnSpPr>
          <p:cNvPr id="286" name="Google Shape;286;p14"/>
          <p:cNvCxnSpPr/>
          <p:nvPr/>
        </p:nvCxnSpPr>
        <p:spPr>
          <a:xfrm>
            <a:off x="594360" y="3904488"/>
            <a:ext cx="3017520" cy="0"/>
          </a:xfrm>
          <a:prstGeom prst="straightConnector1">
            <a:avLst/>
          </a:prstGeom>
          <a:noFill/>
          <a:ln cap="flat" cmpd="sng" w="9525">
            <a:solidFill>
              <a:srgbClr val="D2DBDA"/>
            </a:solidFill>
            <a:prstDash val="solid"/>
            <a:round/>
            <a:headEnd len="sm" w="sm" type="none"/>
            <a:tailEnd len="sm" w="sm" type="none"/>
          </a:ln>
        </p:spPr>
      </p:cxnSp>
      <p:sp>
        <p:nvSpPr>
          <p:cNvPr id="287" name="Google Shape;287;p14"/>
          <p:cNvSpPr/>
          <p:nvPr/>
        </p:nvSpPr>
        <p:spPr>
          <a:xfrm>
            <a:off x="594360" y="3950208"/>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One thing + close</a:t>
            </a:r>
            <a:endParaRPr sz="1050">
              <a:solidFill>
                <a:schemeClr val="dk1"/>
              </a:solidFill>
              <a:latin typeface="Calibri"/>
              <a:ea typeface="Calibri"/>
              <a:cs typeface="Calibri"/>
              <a:sym typeface="Calibri"/>
            </a:endParaRPr>
          </a:p>
        </p:txBody>
      </p:sp>
      <p:sp>
        <p:nvSpPr>
          <p:cNvPr id="288" name="Google Shape;288;p14"/>
          <p:cNvSpPr/>
          <p:nvPr/>
        </p:nvSpPr>
        <p:spPr>
          <a:xfrm>
            <a:off x="2926080" y="3950208"/>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7 min</a:t>
            </a:r>
            <a:endParaRPr sz="1050">
              <a:solidFill>
                <a:schemeClr val="dk1"/>
              </a:solidFill>
              <a:latin typeface="Calibri"/>
              <a:ea typeface="Calibri"/>
              <a:cs typeface="Calibri"/>
              <a:sym typeface="Calibri"/>
            </a:endParaRPr>
          </a:p>
        </p:txBody>
      </p:sp>
      <p:sp>
        <p:nvSpPr>
          <p:cNvPr id="289" name="Google Shape;289;p14"/>
          <p:cNvSpPr/>
          <p:nvPr/>
        </p:nvSpPr>
        <p:spPr>
          <a:xfrm>
            <a:off x="594360" y="4389120"/>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000"/>
              <a:buFont typeface="Poppins SemiBold"/>
              <a:buNone/>
            </a:pPr>
            <a:r>
              <a:rPr b="1" lang="en-US" sz="1000">
                <a:solidFill>
                  <a:srgbClr val="0D2434"/>
                </a:solidFill>
                <a:latin typeface="Poppins SemiBold"/>
                <a:ea typeface="Poppins SemiBold"/>
                <a:cs typeface="Poppins SemiBold"/>
                <a:sym typeface="Poppins SemiBold"/>
              </a:rPr>
              <a:t>Total: ~47 minutes</a:t>
            </a:r>
            <a:endParaRPr sz="1000">
              <a:solidFill>
                <a:schemeClr val="dk1"/>
              </a:solidFill>
              <a:latin typeface="Calibri"/>
              <a:ea typeface="Calibri"/>
              <a:cs typeface="Calibri"/>
              <a:sym typeface="Calibri"/>
            </a:endParaRPr>
          </a:p>
        </p:txBody>
      </p:sp>
      <p:sp>
        <p:nvSpPr>
          <p:cNvPr id="290" name="Google Shape;290;p14"/>
          <p:cNvSpPr/>
          <p:nvPr/>
        </p:nvSpPr>
        <p:spPr>
          <a:xfrm>
            <a:off x="3931925" y="1014977"/>
            <a:ext cx="4755000" cy="1212300"/>
          </a:xfrm>
          <a:prstGeom prst="roundRect">
            <a:avLst>
              <a:gd fmla="val 3333"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14"/>
          <p:cNvSpPr/>
          <p:nvPr/>
        </p:nvSpPr>
        <p:spPr>
          <a:xfrm>
            <a:off x="4114805" y="1068860"/>
            <a:ext cx="4389000" cy="174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50"/>
              <a:buFont typeface="Poppins SemiBold"/>
              <a:buNone/>
            </a:pPr>
            <a:r>
              <a:rPr b="1" lang="en-US" sz="1150">
                <a:solidFill>
                  <a:srgbClr val="0F7A54"/>
                </a:solidFill>
                <a:latin typeface="Poppins SemiBold"/>
                <a:ea typeface="Poppins SemiBold"/>
                <a:cs typeface="Poppins SemiBold"/>
                <a:sym typeface="Poppins SemiBold"/>
              </a:rPr>
              <a:t>Pre-flight checklist</a:t>
            </a:r>
            <a:endParaRPr sz="1150">
              <a:solidFill>
                <a:schemeClr val="dk1"/>
              </a:solidFill>
              <a:latin typeface="Calibri"/>
              <a:ea typeface="Calibri"/>
              <a:cs typeface="Calibri"/>
              <a:sym typeface="Calibri"/>
            </a:endParaRPr>
          </a:p>
        </p:txBody>
      </p:sp>
      <p:sp>
        <p:nvSpPr>
          <p:cNvPr id="292" name="Google Shape;292;p14"/>
          <p:cNvSpPr/>
          <p:nvPr/>
        </p:nvSpPr>
        <p:spPr>
          <a:xfrm>
            <a:off x="4114805" y="1243979"/>
            <a:ext cx="4389000" cy="942900"/>
          </a:xfrm>
          <a:prstGeom prst="rect">
            <a:avLst/>
          </a:prstGeom>
          <a:noFill/>
          <a:ln>
            <a:noFill/>
          </a:ln>
        </p:spPr>
        <p:txBody>
          <a:bodyPr anchorCtr="0" anchor="ctr" bIns="0" lIns="0" spcFirstLastPara="1" rIns="0" wrap="square" tIns="0">
            <a:noAutofit/>
          </a:bodyPr>
          <a:lstStyle/>
          <a:p>
            <a:pPr indent="-101600" lvl="0" marL="101600" marR="0" rtl="0" algn="l">
              <a:lnSpc>
                <a:spcPct val="100000"/>
              </a:lnSpc>
              <a:spcBef>
                <a:spcPts val="0"/>
              </a:spcBef>
              <a:spcAft>
                <a:spcPts val="0"/>
              </a:spcAft>
              <a:buClr>
                <a:srgbClr val="1B2A30"/>
              </a:buClr>
              <a:buSzPts val="850"/>
              <a:buFont typeface="Poppins"/>
              <a:buChar char="•"/>
            </a:pPr>
            <a:r>
              <a:rPr lang="en-US" sz="850">
                <a:solidFill>
                  <a:srgbClr val="1B2A30"/>
                </a:solidFill>
                <a:latin typeface="Poppins"/>
                <a:ea typeface="Poppins"/>
                <a:cs typeface="Poppins"/>
                <a:sym typeface="Poppins"/>
              </a:rPr>
              <a:t>Slide 5 — evacuation routes &amp; assembly point confirmed for this room/building</a:t>
            </a:r>
            <a:endParaRPr sz="850">
              <a:solidFill>
                <a:schemeClr val="dk1"/>
              </a:solidFill>
              <a:latin typeface="Calibri"/>
              <a:ea typeface="Calibri"/>
              <a:cs typeface="Calibri"/>
              <a:sym typeface="Calibri"/>
            </a:endParaRPr>
          </a:p>
          <a:p>
            <a:pPr indent="-101600" lvl="0" marL="101600" marR="0" rtl="0" algn="l">
              <a:lnSpc>
                <a:spcPct val="100000"/>
              </a:lnSpc>
              <a:spcBef>
                <a:spcPts val="300"/>
              </a:spcBef>
              <a:spcAft>
                <a:spcPts val="0"/>
              </a:spcAft>
              <a:buClr>
                <a:srgbClr val="1B2A30"/>
              </a:buClr>
              <a:buSzPts val="850"/>
              <a:buFont typeface="Poppins"/>
              <a:buChar char="•"/>
            </a:pPr>
            <a:r>
              <a:rPr lang="en-US" sz="850">
                <a:solidFill>
                  <a:srgbClr val="1B2A30"/>
                </a:solidFill>
                <a:latin typeface="Poppins"/>
                <a:ea typeface="Poppins"/>
                <a:cs typeface="Poppins"/>
                <a:sym typeface="Poppins"/>
              </a:rPr>
              <a:t>Slide 9 — deleted the two safeguarding team numbers that aren't your campus</a:t>
            </a:r>
            <a:endParaRPr sz="850">
              <a:solidFill>
                <a:schemeClr val="dk1"/>
              </a:solidFill>
              <a:latin typeface="Calibri"/>
              <a:ea typeface="Calibri"/>
              <a:cs typeface="Calibri"/>
              <a:sym typeface="Calibri"/>
            </a:endParaRPr>
          </a:p>
          <a:p>
            <a:pPr indent="-101600" lvl="0" marL="101600" marR="0" rtl="0" algn="l">
              <a:lnSpc>
                <a:spcPct val="100000"/>
              </a:lnSpc>
              <a:spcBef>
                <a:spcPts val="300"/>
              </a:spcBef>
              <a:spcAft>
                <a:spcPts val="0"/>
              </a:spcAft>
              <a:buClr>
                <a:srgbClr val="1B2A30"/>
              </a:buClr>
              <a:buSzPts val="850"/>
              <a:buFont typeface="Poppins"/>
              <a:buChar char="•"/>
            </a:pPr>
            <a:r>
              <a:rPr lang="en-US" sz="850">
                <a:solidFill>
                  <a:srgbClr val="1B2A30"/>
                </a:solidFill>
                <a:latin typeface="Poppins"/>
                <a:ea typeface="Poppins"/>
                <a:cs typeface="Poppins"/>
                <a:sym typeface="Poppins"/>
              </a:rPr>
              <a:t>Slide 7 — replaced with your subject area's content (not delivered as a placeholder)</a:t>
            </a:r>
            <a:endParaRPr sz="850">
              <a:solidFill>
                <a:schemeClr val="dk1"/>
              </a:solidFill>
              <a:latin typeface="Calibri"/>
              <a:ea typeface="Calibri"/>
              <a:cs typeface="Calibri"/>
              <a:sym typeface="Calibri"/>
            </a:endParaRPr>
          </a:p>
          <a:p>
            <a:pPr indent="-101600" lvl="0" marL="101600" marR="0" rtl="0" algn="l">
              <a:lnSpc>
                <a:spcPct val="100000"/>
              </a:lnSpc>
              <a:spcBef>
                <a:spcPts val="300"/>
              </a:spcBef>
              <a:spcAft>
                <a:spcPts val="0"/>
              </a:spcAft>
              <a:buClr>
                <a:srgbClr val="1B2A30"/>
              </a:buClr>
              <a:buSzPts val="850"/>
              <a:buFont typeface="Poppins"/>
              <a:buChar char="•"/>
            </a:pPr>
            <a:r>
              <a:rPr lang="en-US" sz="850">
                <a:solidFill>
                  <a:srgbClr val="1B2A30"/>
                </a:solidFill>
                <a:latin typeface="Poppins"/>
                <a:ea typeface="Poppins"/>
                <a:cs typeface="Poppins"/>
                <a:sym typeface="Poppins"/>
              </a:rPr>
              <a:t>Cards or paper ready for slide 10's commitment activity</a:t>
            </a:r>
            <a:endParaRPr sz="850">
              <a:solidFill>
                <a:schemeClr val="dk1"/>
              </a:solidFill>
              <a:latin typeface="Calibri"/>
              <a:ea typeface="Calibri"/>
              <a:cs typeface="Calibri"/>
              <a:sym typeface="Calibri"/>
            </a:endParaRPr>
          </a:p>
        </p:txBody>
      </p:sp>
      <p:sp>
        <p:nvSpPr>
          <p:cNvPr id="293" name="Google Shape;293;p14"/>
          <p:cNvSpPr/>
          <p:nvPr/>
        </p:nvSpPr>
        <p:spPr>
          <a:xfrm>
            <a:off x="3977650" y="2316110"/>
            <a:ext cx="4755000" cy="2356500"/>
          </a:xfrm>
          <a:prstGeom prst="roundRect">
            <a:avLst>
              <a:gd fmla="val 6316" name="adj"/>
            </a:avLst>
          </a:prstGeom>
          <a:solidFill>
            <a:srgbClr val="F8E7E3"/>
          </a:solidFill>
          <a:ln cap="flat" cmpd="sng" w="12700">
            <a:solidFill>
              <a:srgbClr val="B23A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94" name="Google Shape;294;p14"/>
          <p:cNvPicPr preferRelativeResize="0"/>
          <p:nvPr/>
        </p:nvPicPr>
        <p:blipFill rotWithShape="1">
          <a:blip r:embed="rId3">
            <a:alphaModFix/>
          </a:blip>
          <a:srcRect b="0" l="0" r="0" t="0"/>
          <a:stretch/>
        </p:blipFill>
        <p:spPr>
          <a:xfrm>
            <a:off x="4017370" y="2391069"/>
            <a:ext cx="219456" cy="219456"/>
          </a:xfrm>
          <a:prstGeom prst="rect">
            <a:avLst/>
          </a:prstGeom>
          <a:noFill/>
          <a:ln>
            <a:noFill/>
          </a:ln>
        </p:spPr>
      </p:pic>
      <p:sp>
        <p:nvSpPr>
          <p:cNvPr id="295" name="Google Shape;295;p14"/>
          <p:cNvSpPr/>
          <p:nvPr/>
        </p:nvSpPr>
        <p:spPr>
          <a:xfrm>
            <a:off x="4311460" y="2382012"/>
            <a:ext cx="4087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150"/>
              <a:buFont typeface="Poppins SemiBold"/>
              <a:buNone/>
            </a:pPr>
            <a:r>
              <a:rPr b="1" lang="en-US" sz="1150">
                <a:solidFill>
                  <a:srgbClr val="B23A2E"/>
                </a:solidFill>
                <a:latin typeface="Poppins SemiBold"/>
                <a:ea typeface="Poppins SemiBold"/>
                <a:cs typeface="Poppins SemiBold"/>
                <a:sym typeface="Poppins SemiBold"/>
              </a:rPr>
              <a:t>Safeguarding</a:t>
            </a:r>
            <a:endParaRPr sz="1150">
              <a:solidFill>
                <a:schemeClr val="dk1"/>
              </a:solidFill>
              <a:latin typeface="Calibri"/>
              <a:ea typeface="Calibri"/>
              <a:cs typeface="Calibri"/>
              <a:sym typeface="Calibri"/>
            </a:endParaRPr>
          </a:p>
        </p:txBody>
      </p:sp>
      <p:sp>
        <p:nvSpPr>
          <p:cNvPr id="296" name="Google Shape;296;p14"/>
          <p:cNvSpPr/>
          <p:nvPr/>
        </p:nvSpPr>
        <p:spPr>
          <a:xfrm>
            <a:off x="4076625" y="2761500"/>
            <a:ext cx="4427100" cy="187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23A2E"/>
              </a:buClr>
              <a:buSzPts val="850"/>
              <a:buFont typeface="Poppins"/>
              <a:buNone/>
            </a:pPr>
            <a:r>
              <a:rPr lang="en-US" sz="850">
                <a:solidFill>
                  <a:srgbClr val="B23A2E"/>
                </a:solidFill>
                <a:latin typeface="Poppins"/>
                <a:ea typeface="Poppins"/>
                <a:cs typeface="Poppins"/>
                <a:sym typeface="Poppins"/>
              </a:rPr>
              <a:t>Most likely surface points: slide 3 (back in the room) and slide 9. If a disclosure happens: listen calmly, don’t promise confidentiality, don’t investigate, report the same day via your safeguarding route. Full procedure lives in Module F — this module only signposts. For Level 3 Digital and Creative Media Year 2: T Level students beginning placements may surface concerns about unsafe conditions at their host employer — treat these as disclosures and follow safeguarding procedure. Content Creation students running live media may encounter distressing content or situations through editorial work; the live audience context adds complexity. Extended independent work on Final Major Projects can surface mental health disclosures — be alert during self-directed sessions, not only whole-class ones.</a:t>
            </a:r>
            <a:endParaRPr sz="850">
              <a:solidFill>
                <a:schemeClr val="dk1"/>
              </a:solidFill>
              <a:latin typeface="Calibri"/>
              <a:ea typeface="Calibri"/>
              <a:cs typeface="Calibri"/>
              <a:sym typeface="Calibri"/>
            </a:endParaRPr>
          </a:p>
        </p:txBody>
      </p:sp>
      <p:sp>
        <p:nvSpPr>
          <p:cNvPr id="297" name="Google Shape;297;p14"/>
          <p:cNvSpPr/>
          <p:nvPr/>
        </p:nvSpPr>
        <p:spPr>
          <a:xfrm>
            <a:off x="0" y="4754880"/>
            <a:ext cx="9144000" cy="388620"/>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4"/>
          <p:cNvSpPr/>
          <p:nvPr/>
        </p:nvSpPr>
        <p:spPr>
          <a:xfrm>
            <a:off x="411480" y="4754880"/>
            <a:ext cx="8321040" cy="38862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CF01"/>
              </a:buClr>
              <a:buSzPts val="900"/>
              <a:buFont typeface="Poppins"/>
              <a:buNone/>
            </a:pPr>
            <a:r>
              <a:rPr b="1" lang="en-US" sz="900">
                <a:solidFill>
                  <a:srgbClr val="FFCF01"/>
                </a:solidFill>
                <a:latin typeface="Poppins"/>
                <a:ea typeface="Poppins"/>
                <a:cs typeface="Poppins"/>
                <a:sym typeface="Poppins"/>
              </a:rPr>
              <a:t>FOR CURRICULUM TEAMS BUILDING SUBJECT VERSIONS:  </a:t>
            </a:r>
            <a:r>
              <a:rPr lang="en-US" sz="900">
                <a:solidFill>
                  <a:srgbClr val="FFFFFF"/>
                </a:solidFill>
                <a:latin typeface="Poppins"/>
                <a:ea typeface="Poppins"/>
                <a:cs typeface="Poppins"/>
                <a:sym typeface="Poppins"/>
              </a:rPr>
              <a:t>only slide 7 is yours to author. Replace its placeholder with your subject area's PPE, equipment, materials and responsibility content, keeping the deck's structure, palette and mode-chip style unchanged.</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