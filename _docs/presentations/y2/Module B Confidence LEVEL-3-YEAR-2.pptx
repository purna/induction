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 | SESSION MAP | ~2 min</a:t>
            </a:r>
            <a:br>
              <a:rPr lang="en-US"/>
            </a:br>
            <a:r>
              <a:rPr lang="en-US"/>
              <a:t>Brief walkthrough. Don't over-explain. Say: "Six things today. Not new-starter content — the Year 2 version of things you already half-know."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 | DISCUSSION | ~8 min</a:t>
            </a:r>
            <a:br>
              <a:rPr lang="en-US"/>
            </a:br>
            <a:r>
              <a:rPr lang="en-US"/>
              <a:t>Paired or small groups. Don't over-manage — they can hold the conversation. Watch question 3 for Year 2 anxiety or overconfidence. Safeguarding: listen, don't promise secrecy, report same-day if needed. Say: "You're being asked what you know now — which is always more useful than what you knew in September."</a:t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 | TEACHER INPUT | ~5 min</a:t>
            </a:r>
            <a:br>
              <a:rPr lang="en-US"/>
            </a:br>
            <a:r>
              <a:rPr lang="en-US"/>
              <a:t>Brisk. Focus on compound-gap and self-management expectations. Say: "The main thing that changes in Year 2 isn't the content. It's that staff stop scaffolding the basics — because they expect you to have internalised them."</a:t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 | TEACHER INPUT | ~5 min</a:t>
            </a:r>
            <a:br>
              <a:rPr lang="en-US"/>
            </a:br>
            <a:r>
              <a:rPr lang="en-US"/>
              <a:t>Portfolio/final-assessment framing cuts through. Say: "The missed brief in week 3 doesn't hurt you in week 3. It hurts you when the deadline is two weeks away and you’re also trying to keep up with new work."</a:t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6 | TEACHER INPUT | ~5 min</a:t>
            </a:r>
            <a:br>
              <a:rPr lang="en-US"/>
            </a:br>
            <a:r>
              <a:rPr lang="en-US"/>
              <a:t>Progression-planning urgency is the key Year 2 message. Say: "Your applications and next steps need things to have actually happened. That window is open now."</a:t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7 | TEACHER INPUT | ~5 min</a:t>
            </a:r>
            <a:br>
              <a:rPr lang="en-US"/>
            </a:br>
            <a:r>
              <a:rPr lang="en-US"/>
              <a:t>Name both traps. Say: "Both traps feel reasonable in the moment. The move in both cases is the same: name what’s happening and ask early."</a:t>
            </a:r>
            <a:endParaRPr/>
          </a:p>
        </p:txBody>
      </p:sp>
      <p:sp>
        <p:nvSpPr>
          <p:cNvPr id="216" name="Google Shape;2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 | TEACHER INPUT | ~5 min</a:t>
            </a:r>
            <a:br>
              <a:rPr lang="en-US"/>
            </a:br>
            <a:r>
              <a:rPr lang="en-US"/>
              <a:t>No thresholds. Year 2 attendance: references, final work, grade-band teaching. Say: "In Year 2 the case shifts — it’s about the reference, the final assessment support, and being seen putting the work in at the point that actually matters."</a:t>
            </a:r>
            <a:endParaRPr/>
          </a:p>
        </p:txBody>
      </p:sp>
      <p:sp>
        <p:nvSpPr>
          <p:cNvPr id="239" name="Google Shape;2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9 | TEACHER INPUT | ~7 min</a:t>
            </a:r>
            <a:br>
              <a:rPr lang="en-US"/>
            </a:br>
            <a:r>
              <a:rPr lang="en-US"/>
              <a:t>Burnout is real for this cohort and often unnamed. ESCG TO CONFIRM must be localised. Same protocols: listen, don't promise secrecy, report same-day.</a:t>
            </a:r>
            <a:endParaRPr/>
          </a:p>
        </p:txBody>
      </p:sp>
      <p:sp>
        <p:nvSpPr>
          <p:cNvPr id="273" name="Google Shape;2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10 | ACTIVITY | ~7 min</a:t>
            </a:r>
            <a:br>
              <a:rPr lang="en-US"/>
            </a:br>
            <a:r>
              <a:rPr lang="en-US"/>
              <a:t>Cards and pens. The Year 1 gap option often gets chosen. Collect cards. Say: "Pick the one that’s a stretch but doable. Not the ambitious one — the specific one."</a:t>
            </a:r>
            <a:endParaRPr/>
          </a:p>
        </p:txBody>
      </p:sp>
      <p:sp>
        <p:nvSpPr>
          <p:cNvPr id="309" name="Google Shape;3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11 | TEACHER INPUT | ~4 min</a:t>
            </a:r>
            <a:br>
              <a:rPr lang="en-US"/>
            </a:br>
            <a:r>
              <a:rPr lang="en-US"/>
              <a:t>Confident close. Say: "Last lap. Don't fumble it. Decide in advance, ask early, tell us when something's wrong."</a:t>
            </a:r>
            <a:endParaRPr/>
          </a:p>
        </p:txBody>
      </p:sp>
      <p:sp>
        <p:nvSpPr>
          <p:cNvPr id="340" name="Google Shape;3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43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122E42"/>
          </a:solidFill>
          <a:ln cap="flat" cmpd="sng" w="12700">
            <a:solidFill>
              <a:srgbClr val="122E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699248" y="1444752"/>
            <a:ext cx="457200" cy="457200"/>
          </a:xfrm>
          <a:prstGeom prst="ellipse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94360" y="64008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CF01"/>
                </a:solidFill>
                <a:latin typeface="Calibri"/>
                <a:ea typeface="Calibri"/>
                <a:cs typeface="Calibri"/>
                <a:sym typeface="Calibri"/>
              </a:rPr>
              <a:t>ESCG STUDENT INDUCTION  ·  2026–27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94360" y="1060704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B  ·  DIGITAL, MEDIA &amp; FILM  ·  LEVEL 3, YEAR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4360" y="1481328"/>
            <a:ext cx="621792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0" i="0" lang="en-US" sz="4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Confidence,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0" i="0" lang="en-US" sz="4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independence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0" i="0" lang="en-US" sz="4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the last lap.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94360" y="349300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CA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A9CAD"/>
                </a:solidFill>
                <a:latin typeface="Calibri"/>
                <a:ea typeface="Calibri"/>
                <a:cs typeface="Calibri"/>
                <a:sym typeface="Calibri"/>
              </a:rPr>
              <a:t>You’ve produced the work now — Year 2 is where the Final Major Project, the portfolio, and the industry placement all have to come together.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594360" y="3913632"/>
            <a:ext cx="7955280" cy="0"/>
          </a:xfrm>
          <a:prstGeom prst="straightConnector1">
            <a:avLst/>
          </a:prstGeom>
          <a:noFill/>
          <a:ln cap="flat" cmpd="sng" w="9525">
            <a:solidFill>
              <a:srgbClr val="253E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594360" y="400507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CF01"/>
                </a:solidFill>
                <a:latin typeface="Calibri"/>
                <a:ea typeface="Calibri"/>
                <a:cs typeface="Calibri"/>
                <a:sym typeface="Calibri"/>
              </a:rPr>
              <a:t>VARIANT  </a:t>
            </a: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3, Year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94360" y="425196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CF01"/>
                </a:solidFill>
                <a:latin typeface="Calibri"/>
                <a:ea typeface="Calibri"/>
                <a:cs typeface="Calibri"/>
                <a:sym typeface="Calibri"/>
              </a:rPr>
              <a:t>SESSION  </a:t>
            </a: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approx. 55 minutes  ·  the year that decides what comes next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57200" y="4846320"/>
            <a:ext cx="5943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06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223760" y="4818888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223760" y="4818888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94944" y="201168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SETTLING 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420624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Back for Year 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424928" y="164592"/>
            <a:ext cx="1536192" cy="338328"/>
          </a:xfrm>
          <a:prstGeom prst="roundRect">
            <a:avLst>
              <a:gd fmla="val 18919" name="adj"/>
            </a:avLst>
          </a:prstGeom>
          <a:solidFill>
            <a:srgbClr val="E8ECEB"/>
          </a:solidFill>
          <a:ln cap="flat" cmpd="sng" w="12700">
            <a:solidFill>
              <a:srgbClr val="E8E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424928" y="164592"/>
            <a:ext cx="15361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SESSION MAP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Not new-starter content. The Year 2 version — what’s different, what’s still true, what you’re committing to today.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85216" y="1572768"/>
            <a:ext cx="347472" cy="347472"/>
          </a:xfrm>
          <a:prstGeom prst="ellipse">
            <a:avLst/>
          </a:prstGeom>
          <a:solidFill>
            <a:srgbClr val="D4EBE0"/>
          </a:solidFill>
          <a:ln cap="flat" cmpd="sng" w="12700">
            <a:solidFill>
              <a:srgbClr val="D4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85216" y="1572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2032" y="155448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566928" y="2048256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What shifts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in Year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66928" y="25420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The year the stakes get real.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154680" y="1463040"/>
            <a:ext cx="2606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282696" y="1572768"/>
            <a:ext cx="347472" cy="347472"/>
          </a:xfrm>
          <a:prstGeom prst="ellipse">
            <a:avLst/>
          </a:prstGeom>
          <a:solidFill>
            <a:srgbClr val="D4EBE0"/>
          </a:solidFill>
          <a:ln cap="flat" cmpd="sng" w="12700">
            <a:solidFill>
              <a:srgbClr val="D4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282696" y="1572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9512" y="155448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3264408" y="2048256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Time &amp; the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final fuse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264408" y="25420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Where the hit actually lands.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852160" y="1463040"/>
            <a:ext cx="2606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980176" y="1572768"/>
            <a:ext cx="347472" cy="347472"/>
          </a:xfrm>
          <a:prstGeom prst="ellipse">
            <a:avLst/>
          </a:prstGeom>
          <a:solidFill>
            <a:srgbClr val="D4EBE0"/>
          </a:solidFill>
          <a:ln cap="flat" cmpd="sng" w="12700">
            <a:solidFill>
              <a:srgbClr val="D4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980176" y="15727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6992" y="155448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5961888" y="2048256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Seek Opportunity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961888" y="25420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Independence — the Year 2 version.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57200" y="2926080"/>
            <a:ext cx="2606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585216" y="3035808"/>
            <a:ext cx="347472" cy="347472"/>
          </a:xfrm>
          <a:prstGeom prst="ellipse">
            <a:avLst/>
          </a:prstGeom>
          <a:solidFill>
            <a:srgbClr val="D4EBE0"/>
          </a:solidFill>
          <a:ln cap="flat" cmpd="sng" w="12700">
            <a:solidFill>
              <a:srgbClr val="D4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85216" y="3035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42032" y="301752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566928" y="3511296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66928" y="400507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The Year 2 confidence trap.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154680" y="2926080"/>
            <a:ext cx="2606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282696" y="3035808"/>
            <a:ext cx="347472" cy="347472"/>
          </a:xfrm>
          <a:prstGeom prst="ellipse">
            <a:avLst/>
          </a:prstGeom>
          <a:solidFill>
            <a:srgbClr val="D4EBE0"/>
          </a:solidFill>
          <a:ln cap="flat" cmpd="sng" w="12700">
            <a:solidFill>
              <a:srgbClr val="D4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282696" y="3035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9512" y="301752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3264408" y="3511296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264408" y="400507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The Year 2 case — and the real barriers.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852160" y="2926080"/>
            <a:ext cx="26060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5980176" y="3035808"/>
            <a:ext cx="347472" cy="347472"/>
          </a:xfrm>
          <a:prstGeom prst="ellipse">
            <a:avLst/>
          </a:prstGeom>
          <a:solidFill>
            <a:srgbClr val="D4EBE0"/>
          </a:solidFill>
          <a:ln cap="flat" cmpd="sng" w="12700">
            <a:solidFill>
              <a:srgbClr val="D4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980176" y="3035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6992" y="301752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5961888" y="3511296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Your habit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961888" y="400507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One thing you’re committing to today.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B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AABB5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7223760" y="4828032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7223760" y="4828032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94944" y="201168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BACK FOR YEAR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420624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What do you know now?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424928" y="164592"/>
            <a:ext cx="1536192" cy="338328"/>
          </a:xfrm>
          <a:prstGeom prst="roundRect">
            <a:avLst>
              <a:gd fmla="val 18919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424928" y="164592"/>
            <a:ext cx="15361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A quick honest check-in — from someone who’s been here before.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1444752"/>
            <a:ext cx="4114800" cy="2852928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7200" y="1444752"/>
            <a:ext cx="4114800" cy="365760"/>
          </a:xfrm>
          <a:prstGeom prst="roundRect">
            <a:avLst>
              <a:gd fmla="val 20000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57200" y="144475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YOUR GROUP — TALK ABOUT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21792" y="1920240"/>
            <a:ext cx="310896" cy="310896"/>
          </a:xfrm>
          <a:prstGeom prst="ellipse">
            <a:avLst/>
          </a:prstGeom>
          <a:solidFill>
            <a:srgbClr val="D4EBE0"/>
          </a:solidFill>
          <a:ln cap="flat" cmpd="sng" w="12700">
            <a:solidFill>
              <a:srgbClr val="D4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21792" y="19202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005840" y="1929384"/>
            <a:ext cx="34015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One thing you got right in Year 1 — that you’re carrying forward.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21792" y="2542032"/>
            <a:ext cx="310896" cy="310896"/>
          </a:xfrm>
          <a:prstGeom prst="ellipse">
            <a:avLst/>
          </a:prstGeom>
          <a:solidFill>
            <a:srgbClr val="D4EBE0"/>
          </a:solidFill>
          <a:ln cap="flat" cmpd="sng" w="12700">
            <a:solidFill>
              <a:srgbClr val="D4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21792" y="25420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005840" y="2551176"/>
            <a:ext cx="34015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One thing you’d do differently if you could have Year 1 again.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21792" y="3163824"/>
            <a:ext cx="310896" cy="310896"/>
          </a:xfrm>
          <a:prstGeom prst="ellipse">
            <a:avLst/>
          </a:prstGeom>
          <a:solidFill>
            <a:srgbClr val="D4EBE0"/>
          </a:solidFill>
          <a:ln cap="flat" cmpd="sng" w="12700">
            <a:solidFill>
              <a:srgbClr val="D4EB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21792" y="31638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005840" y="3172968"/>
            <a:ext cx="34015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One thing about Year 2 you already know is coming — and might be slightly dreading.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21792" y="391363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About 5 minutes — skip the polished answer. Say the real 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754880" y="1444752"/>
            <a:ext cx="4206240" cy="2852928"/>
          </a:xfrm>
          <a:prstGeom prst="roundRect">
            <a:avLst>
              <a:gd fmla="val 2564" name="adj"/>
            </a:avLst>
          </a:prstGeom>
          <a:solidFill>
            <a:srgbClr val="0D2434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691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4754880" y="22402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we’re starting here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754880" y="2670048"/>
            <a:ext cx="420624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D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8CCDA"/>
                </a:solidFill>
                <a:latin typeface="Calibri"/>
                <a:ea typeface="Calibri"/>
                <a:cs typeface="Calibri"/>
                <a:sym typeface="Calibri"/>
              </a:rPr>
              <a:t>You’re not new. This isn’t a welcome-to-college conversation.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CD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8CCDA"/>
                </a:solidFill>
                <a:latin typeface="Calibri"/>
                <a:ea typeface="Calibri"/>
                <a:cs typeface="Calibri"/>
                <a:sym typeface="Calibri"/>
              </a:rPr>
              <a:t>It’s a check-in on what Year 2 actually needs from you — and on what you already know it does. The students who finish Year 2 well aren’t surprised by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B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AABB5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223760" y="4828032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223760" y="4828032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94944" y="201168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WHAT’S DIFFERENT NOW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420624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Year 1 → Year 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424928" y="164592"/>
            <a:ext cx="1536192" cy="338328"/>
          </a:xfrm>
          <a:prstGeom prst="roundRect">
            <a:avLst>
              <a:gd fmla="val 1891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7424928" y="164592"/>
            <a:ext cx="15361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TEACHER INPUT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Year 1 was foundation-building. Year 2 is where you build on it. Three concrete shifts.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1417320"/>
            <a:ext cx="2633472" cy="2880360"/>
          </a:xfrm>
          <a:prstGeom prst="roundRect">
            <a:avLst>
              <a:gd fmla="val 2778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85216" y="1563624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YEAR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85216" y="1801368"/>
            <a:ext cx="23591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Building the foundation — coursework, portfolios, learning the ropes.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>
            <a:off x="585216" y="258775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6"/>
          <p:cNvSpPr/>
          <p:nvPr/>
        </p:nvSpPr>
        <p:spPr>
          <a:xfrm>
            <a:off x="585216" y="2679192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YEAR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85216" y="2916936"/>
            <a:ext cx="235915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Building on it. Gaps from Year 1 don’t disappear — they compound.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264408" y="1417320"/>
            <a:ext cx="2633472" cy="2880360"/>
          </a:xfrm>
          <a:prstGeom prst="roundRect">
            <a:avLst>
              <a:gd fmla="val 2778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392424" y="1563624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YEAR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392424" y="1801368"/>
            <a:ext cx="23591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Freedom to find your feet — a missed week wasn’t catastrophic.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3392424" y="258775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6"/>
          <p:cNvSpPr/>
          <p:nvPr/>
        </p:nvSpPr>
        <p:spPr>
          <a:xfrm>
            <a:off x="3392424" y="2679192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YEAR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392424" y="2916936"/>
            <a:ext cx="235915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The margin’s gone. Final assessments and graded portfolios. What you hand in is what you’re judged 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071616" y="1417320"/>
            <a:ext cx="2633472" cy="2880360"/>
          </a:xfrm>
          <a:prstGeom prst="roundRect">
            <a:avLst>
              <a:gd fmla="val 2778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6199632" y="1563624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YEAR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199632" y="1801368"/>
            <a:ext cx="23591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Staff were patient with orientation.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6"/>
          <p:cNvCxnSpPr/>
          <p:nvPr/>
        </p:nvCxnSpPr>
        <p:spPr>
          <a:xfrm>
            <a:off x="6199632" y="2587752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D2DB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6"/>
          <p:cNvSpPr/>
          <p:nvPr/>
        </p:nvSpPr>
        <p:spPr>
          <a:xfrm>
            <a:off x="6199632" y="2679192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YEAR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199632" y="2916936"/>
            <a:ext cx="2359152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Staff expect the self-managed version of you. They’re right 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B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AABB5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223760" y="4828032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7223760" y="4828032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94944" y="201168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WHERE THE HIT LANDS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7200" y="420624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Time and the final fuse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424928" y="164592"/>
            <a:ext cx="1536192" cy="338328"/>
          </a:xfrm>
          <a:prstGeom prst="roundRect">
            <a:avLst>
              <a:gd fmla="val 1891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7424928" y="164592"/>
            <a:ext cx="15361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TEACHER INPUT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Not ‘be organised’. One honest point about how time works when the finishing line is visible.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1371600"/>
            <a:ext cx="4114800" cy="292608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40080" y="149961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THE LONG FUSE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0080" y="2359152"/>
            <a:ext cx="256032" cy="256032"/>
          </a:xfrm>
          <a:prstGeom prst="ellipse">
            <a:avLst/>
          </a:prstGeom>
          <a:solidFill>
            <a:srgbClr val="CCE4D6"/>
          </a:solidFill>
          <a:ln cap="flat" cmpd="sng" w="12700">
            <a:solidFill>
              <a:srgbClr val="CCE4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40080" y="2359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0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706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896112" y="2487168"/>
            <a:ext cx="224028" cy="0"/>
          </a:xfrm>
          <a:prstGeom prst="straightConnector1">
            <a:avLst/>
          </a:prstGeom>
          <a:noFill/>
          <a:ln cap="flat" cmpd="sng" w="12700">
            <a:solidFill>
              <a:srgbClr val="C5D8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7" name="Google Shape;157;p7"/>
          <p:cNvSpPr/>
          <p:nvPr/>
        </p:nvSpPr>
        <p:spPr>
          <a:xfrm>
            <a:off x="1120140" y="2359152"/>
            <a:ext cx="256032" cy="256032"/>
          </a:xfrm>
          <a:prstGeom prst="ellipse">
            <a:avLst/>
          </a:prstGeom>
          <a:solidFill>
            <a:srgbClr val="B8D9C8"/>
          </a:solidFill>
          <a:ln cap="flat" cmpd="sng" w="12700">
            <a:solidFill>
              <a:srgbClr val="B8D9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120140" y="2359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64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E64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7"/>
          <p:cNvCxnSpPr/>
          <p:nvPr/>
        </p:nvCxnSpPr>
        <p:spPr>
          <a:xfrm>
            <a:off x="1376172" y="2487168"/>
            <a:ext cx="224028" cy="0"/>
          </a:xfrm>
          <a:prstGeom prst="straightConnector1">
            <a:avLst/>
          </a:prstGeom>
          <a:noFill/>
          <a:ln cap="flat" cmpd="sng" w="12700">
            <a:solidFill>
              <a:srgbClr val="C5D8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0" name="Google Shape;160;p7"/>
          <p:cNvSpPr/>
          <p:nvPr/>
        </p:nvSpPr>
        <p:spPr>
          <a:xfrm>
            <a:off x="1600200" y="2359152"/>
            <a:ext cx="256032" cy="256032"/>
          </a:xfrm>
          <a:prstGeom prst="ellipse">
            <a:avLst/>
          </a:prstGeom>
          <a:solidFill>
            <a:srgbClr val="A2CEBC"/>
          </a:solidFill>
          <a:ln cap="flat" cmpd="sng" w="12700">
            <a:solidFill>
              <a:srgbClr val="A2C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600200" y="2359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584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2584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7"/>
          <p:cNvCxnSpPr/>
          <p:nvPr/>
        </p:nvCxnSpPr>
        <p:spPr>
          <a:xfrm>
            <a:off x="1856232" y="2487168"/>
            <a:ext cx="224028" cy="0"/>
          </a:xfrm>
          <a:prstGeom prst="straightConnector1">
            <a:avLst/>
          </a:prstGeom>
          <a:noFill/>
          <a:ln cap="flat" cmpd="sng" w="12700">
            <a:solidFill>
              <a:srgbClr val="C5D8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3" name="Google Shape;163;p7"/>
          <p:cNvSpPr/>
          <p:nvPr/>
        </p:nvSpPr>
        <p:spPr>
          <a:xfrm>
            <a:off x="2080260" y="2359152"/>
            <a:ext cx="256032" cy="256032"/>
          </a:xfrm>
          <a:prstGeom prst="ellipse">
            <a:avLst/>
          </a:prstGeom>
          <a:solidFill>
            <a:srgbClr val="8EC3AF"/>
          </a:solidFill>
          <a:ln cap="flat" cmpd="sng" w="12700">
            <a:solidFill>
              <a:srgbClr val="8EC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2080260" y="2359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4D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64D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7"/>
          <p:cNvCxnSpPr/>
          <p:nvPr/>
        </p:nvCxnSpPr>
        <p:spPr>
          <a:xfrm>
            <a:off x="2336292" y="2487168"/>
            <a:ext cx="224028" cy="0"/>
          </a:xfrm>
          <a:prstGeom prst="straightConnector1">
            <a:avLst/>
          </a:prstGeom>
          <a:noFill/>
          <a:ln cap="flat" cmpd="sng" w="12700">
            <a:solidFill>
              <a:srgbClr val="C5D8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6" name="Google Shape;166;p7"/>
          <p:cNvSpPr/>
          <p:nvPr/>
        </p:nvSpPr>
        <p:spPr>
          <a:xfrm>
            <a:off x="2560320" y="2359152"/>
            <a:ext cx="256032" cy="256032"/>
          </a:xfrm>
          <a:prstGeom prst="ellipse">
            <a:avLst/>
          </a:prstGeom>
          <a:solidFill>
            <a:srgbClr val="7AB8A2"/>
          </a:solidFill>
          <a:ln cap="flat" cmpd="sng" w="12700">
            <a:solidFill>
              <a:srgbClr val="7AB8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2560320" y="2359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2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423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2816352" y="2487168"/>
            <a:ext cx="224028" cy="0"/>
          </a:xfrm>
          <a:prstGeom prst="straightConnector1">
            <a:avLst/>
          </a:prstGeom>
          <a:noFill/>
          <a:ln cap="flat" cmpd="sng" w="12700">
            <a:solidFill>
              <a:srgbClr val="C5D8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9" name="Google Shape;169;p7"/>
          <p:cNvSpPr/>
          <p:nvPr/>
        </p:nvSpPr>
        <p:spPr>
          <a:xfrm>
            <a:off x="3040380" y="2359152"/>
            <a:ext cx="256032" cy="256032"/>
          </a:xfrm>
          <a:prstGeom prst="ellipse">
            <a:avLst/>
          </a:prstGeom>
          <a:solidFill>
            <a:srgbClr val="66AC93"/>
          </a:solidFill>
          <a:ln cap="flat" cmpd="sng" w="12700">
            <a:solidFill>
              <a:srgbClr val="66AC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3040380" y="2359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72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E372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7"/>
          <p:cNvCxnSpPr/>
          <p:nvPr/>
        </p:nvCxnSpPr>
        <p:spPr>
          <a:xfrm>
            <a:off x="3296412" y="2487168"/>
            <a:ext cx="224028" cy="0"/>
          </a:xfrm>
          <a:prstGeom prst="straightConnector1">
            <a:avLst/>
          </a:prstGeom>
          <a:noFill/>
          <a:ln cap="flat" cmpd="sng" w="12700">
            <a:solidFill>
              <a:srgbClr val="C5D8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2" name="Google Shape;172;p7"/>
          <p:cNvSpPr/>
          <p:nvPr/>
        </p:nvSpPr>
        <p:spPr>
          <a:xfrm>
            <a:off x="3520440" y="2359152"/>
            <a:ext cx="256032" cy="256032"/>
          </a:xfrm>
          <a:prstGeom prst="ellipse">
            <a:avLst/>
          </a:prstGeom>
          <a:solidFill>
            <a:srgbClr val="1B2A30"/>
          </a:solidFill>
          <a:ln cap="flat" cmpd="sng" w="12700">
            <a:solidFill>
              <a:srgbClr val="1B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520440" y="2359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7"/>
          <p:cNvCxnSpPr/>
          <p:nvPr/>
        </p:nvCxnSpPr>
        <p:spPr>
          <a:xfrm>
            <a:off x="3776472" y="2487168"/>
            <a:ext cx="224028" cy="0"/>
          </a:xfrm>
          <a:prstGeom prst="straightConnector1">
            <a:avLst/>
          </a:prstGeom>
          <a:noFill/>
          <a:ln cap="flat" cmpd="sng" w="12700">
            <a:solidFill>
              <a:srgbClr val="C5D8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5" name="Google Shape;175;p7"/>
          <p:cNvSpPr/>
          <p:nvPr/>
        </p:nvSpPr>
        <p:spPr>
          <a:xfrm>
            <a:off x="4000500" y="2359152"/>
            <a:ext cx="256032" cy="256032"/>
          </a:xfrm>
          <a:prstGeom prst="ellipse">
            <a:avLst/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000500" y="2359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120140" y="2642616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A0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7A00"/>
                </a:solidFill>
                <a:latin typeface="Calibri"/>
                <a:ea typeface="Calibri"/>
                <a:cs typeface="Calibri"/>
                <a:sym typeface="Calibri"/>
              </a:rPr>
              <a:t>Skipped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A0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7A00"/>
                </a:solidFill>
                <a:latin typeface="Calibri"/>
                <a:ea typeface="Calibri"/>
                <a:cs typeface="Calibri"/>
                <a:sym typeface="Calibri"/>
              </a:rPr>
              <a:t>brief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A0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7A00"/>
                </a:solidFill>
                <a:latin typeface="Calibri"/>
                <a:ea typeface="Calibri"/>
                <a:cs typeface="Calibri"/>
                <a:sym typeface="Calibri"/>
              </a:rPr>
              <a:t>wk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040380" y="2642616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1A10"/>
                </a:solidFill>
                <a:latin typeface="Calibri"/>
                <a:ea typeface="Calibri"/>
                <a:cs typeface="Calibri"/>
                <a:sym typeface="Calibri"/>
              </a:rPr>
              <a:t>Portfolio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1A10"/>
                </a:solidFill>
                <a:latin typeface="Calibri"/>
                <a:ea typeface="Calibri"/>
                <a:cs typeface="Calibri"/>
                <a:sym typeface="Calibri"/>
              </a:rPr>
              <a:t>deadline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40080" y="2999232"/>
            <a:ext cx="3749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Missed work doesn’t punish you the week you miss it. It punishes you at the portfolio deadline, when you’re catching up and trying to produce new work simultaneously. It’s avoidable — if you decide in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754880" y="1371600"/>
            <a:ext cx="4206240" cy="2926080"/>
          </a:xfrm>
          <a:prstGeom prst="roundRect">
            <a:avLst>
              <a:gd fmla="val 2500" name="adj"/>
            </a:avLst>
          </a:prstGeom>
          <a:solidFill>
            <a:srgbClr val="FFCF01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60020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4736592" y="2121408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The one move that still helps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736592" y="2697480"/>
            <a:ext cx="42062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Treat free periods as actual sessions. The students who finish Year 2 well aren’t the ones who worked hardest in June — they’re the ones who didn’t leave everything until June.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Decide in advance. A specific hour, a specific task, this week.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B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AABB5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223760" y="4828032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223760" y="4828032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7A54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694944" y="201168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OF OUR PROUD VALUES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420624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Seek Opportunity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424928" y="164592"/>
            <a:ext cx="1536192" cy="338328"/>
          </a:xfrm>
          <a:prstGeom prst="roundRect">
            <a:avLst>
              <a:gd fmla="val 1891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424928" y="164592"/>
            <a:ext cx="15361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TEACHER INPUT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C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0D4C1"/>
                </a:solidFill>
                <a:latin typeface="Calibri"/>
                <a:ea typeface="Calibri"/>
                <a:cs typeface="Calibri"/>
                <a:sym typeface="Calibri"/>
              </a:rPr>
              <a:t>The honest version of ‘be ambitious’ — and what it means in Year 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7200" y="1417326"/>
            <a:ext cx="2633400" cy="2928600"/>
          </a:xfrm>
          <a:prstGeom prst="roundRect">
            <a:avLst>
              <a:gd fmla="val 2941" name="adj"/>
            </a:avLst>
          </a:prstGeom>
          <a:solidFill>
            <a:srgbClr val="0B5C3E"/>
          </a:solidFill>
          <a:ln cap="flat" cmpd="sng" w="12700">
            <a:solidFill>
              <a:srgbClr val="0B5C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60020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585216" y="2185416"/>
            <a:ext cx="23591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 progression concrete this year.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85216" y="2770632"/>
            <a:ext cx="23591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0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0BC"/>
                </a:solidFill>
                <a:latin typeface="Calibri"/>
                <a:ea typeface="Calibri"/>
                <a:cs typeface="Calibri"/>
                <a:sym typeface="Calibri"/>
              </a:rPr>
              <a:t>Apprenticeship, higher education, employment — whatever your route, it has to be active now, not pending.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172975" y="1417326"/>
            <a:ext cx="2633400" cy="2928600"/>
          </a:xfrm>
          <a:prstGeom prst="roundRect">
            <a:avLst>
              <a:gd fmla="val 2941" name="adj"/>
            </a:avLst>
          </a:prstGeom>
          <a:solidFill>
            <a:srgbClr val="0B5C3E"/>
          </a:solidFill>
          <a:ln cap="flat" cmpd="sng" w="12700">
            <a:solidFill>
              <a:srgbClr val="0B5C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160020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3300984" y="2185416"/>
            <a:ext cx="23591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something to talk about. A completed placement logbook entry, a short film or editorial piece for your portfolio, a live Behance or Vimeo page — applications need things to have actually happened.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888725" y="1417326"/>
            <a:ext cx="2633400" cy="2928600"/>
          </a:xfrm>
          <a:prstGeom prst="roundRect">
            <a:avLst>
              <a:gd fmla="val 2941" name="adj"/>
            </a:avLst>
          </a:prstGeom>
          <a:solidFill>
            <a:srgbClr val="0B5C3E"/>
          </a:solidFill>
          <a:ln cap="flat" cmpd="sng" w="12700">
            <a:solidFill>
              <a:srgbClr val="0B5C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3328" y="160020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6016752" y="2185416"/>
            <a:ext cx="23591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Treat Year 2 setbacks as information.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016752" y="2770632"/>
            <a:ext cx="23591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0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0BC"/>
                </a:solidFill>
                <a:latin typeface="Calibri"/>
                <a:ea typeface="Calibri"/>
                <a:cs typeface="Calibri"/>
                <a:sym typeface="Calibri"/>
              </a:rPr>
              <a:t>There’s still time to course-correct. Not in June — but now, when it’s possible.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4444103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the honest version of ‘be independent’ — and it’s one of our values for a reason.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AF8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AAF8A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7223760" y="4828032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7223760" y="4828032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694944" y="201168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THE YEAR 2 CONFIDENCE TRAP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57200" y="420624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What confidence is — revisited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7424928" y="164592"/>
            <a:ext cx="1536192" cy="338328"/>
          </a:xfrm>
          <a:prstGeom prst="roundRect">
            <a:avLst>
              <a:gd fmla="val 1891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7424928" y="164592"/>
            <a:ext cx="15361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TEACHER INPUT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Year 2 students split two ways. Both are understandable. Neither is a plan.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57200" y="1417320"/>
            <a:ext cx="4114800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640080" y="155448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THE HONEST BIT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40080" y="1874520"/>
            <a:ext cx="374904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The coasting trap: Year 1 went fine. Year 2 can feel like more of the same — until the stakes stop being practice.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The wall trap: Year 2 pressure is real and you don’t want to admit you’re struggling. So you don’t ask.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Both lead to the same place. Asking early is the move.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754880" y="1417320"/>
            <a:ext cx="4206240" cy="1325880"/>
          </a:xfrm>
          <a:prstGeom prst="roundRect">
            <a:avLst>
              <a:gd fmla="val 5517" name="adj"/>
            </a:avLst>
          </a:prstGeom>
          <a:solidFill>
            <a:srgbClr val="FFF8CC"/>
          </a:solidFill>
          <a:ln cap="flat" cmpd="sng" w="9525">
            <a:solidFill>
              <a:srgbClr val="EDE8B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919472" y="1572768"/>
            <a:ext cx="3858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8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A7800"/>
                </a:solidFill>
                <a:latin typeface="Calibri"/>
                <a:ea typeface="Calibri"/>
                <a:cs typeface="Calibri"/>
                <a:sym typeface="Calibri"/>
              </a:rPr>
              <a:t>THE TRAP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919472" y="1847088"/>
            <a:ext cx="385876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“Year 1 was fine. I know how to do this — I don’t need to change anything.”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754880" y="2852928"/>
            <a:ext cx="4206240" cy="1444752"/>
          </a:xfrm>
          <a:prstGeom prst="roundRect">
            <a:avLst>
              <a:gd fmla="val 5063" name="adj"/>
            </a:avLst>
          </a:prstGeom>
          <a:solidFill>
            <a:srgbClr val="D4EBE0"/>
          </a:solidFill>
          <a:ln cap="flat" cmpd="sng" w="9525">
            <a:solidFill>
              <a:srgbClr val="B0D4B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4919472" y="2999232"/>
            <a:ext cx="3858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B5C3E"/>
                </a:solidFill>
                <a:latin typeface="Calibri"/>
                <a:ea typeface="Calibri"/>
                <a:cs typeface="Calibri"/>
                <a:sym typeface="Calibri"/>
              </a:rPr>
              <a:t>THE HONEST VERSION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919472" y="3273552"/>
            <a:ext cx="38587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“Year 2 is a different job. The habits that got me through Year 1 need upgrading — and if I’m struggling, I’ll say so early.”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B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AABB5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7223760" y="4828032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7223760" y="4828032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7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694944" y="201168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ATTENDANCE — THE YEAR 2 CASE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57200" y="420624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What being here actually buys you now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7424928" y="164592"/>
            <a:ext cx="1536192" cy="338328"/>
          </a:xfrm>
          <a:prstGeom prst="roundRect">
            <a:avLst>
              <a:gd fmla="val 1891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7424928" y="164592"/>
            <a:ext cx="15361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TEACHER INPUT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No thresholds. No lecture. The Year 2 case for showing up.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57200" y="1417320"/>
            <a:ext cx="2029968" cy="2834640"/>
          </a:xfrm>
          <a:prstGeom prst="roundRect">
            <a:avLst>
              <a:gd fmla="val 3604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57200" y="1417320"/>
            <a:ext cx="2029968" cy="274320"/>
          </a:xfrm>
          <a:prstGeom prst="roundRect">
            <a:avLst>
              <a:gd fmla="val 26667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80136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/>
          <p:nvPr/>
        </p:nvSpPr>
        <p:spPr>
          <a:xfrm>
            <a:off x="566928" y="2331720"/>
            <a:ext cx="1810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The bit that isn’t on the slides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66928" y="2990088"/>
            <a:ext cx="181051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Off-script teaching, grade-band detail, answers to questions. Not catchable up from notes.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2651760" y="1417320"/>
            <a:ext cx="2029968" cy="2834640"/>
          </a:xfrm>
          <a:prstGeom prst="roundRect">
            <a:avLst>
              <a:gd fmla="val 3604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2651760" y="1417320"/>
            <a:ext cx="2029968" cy="274320"/>
          </a:xfrm>
          <a:prstGeom prst="roundRect">
            <a:avLst>
              <a:gd fmla="val 26667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6352" y="180136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0"/>
          <p:cNvSpPr/>
          <p:nvPr/>
        </p:nvSpPr>
        <p:spPr>
          <a:xfrm>
            <a:off x="2761488" y="2331720"/>
            <a:ext cx="1810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Final assessments compound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2761488" y="2990088"/>
            <a:ext cx="181051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Missing teaching while completing final work doesn’t work. The two don’t sit side by side.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846320" y="1417320"/>
            <a:ext cx="2029968" cy="2834640"/>
          </a:xfrm>
          <a:prstGeom prst="roundRect">
            <a:avLst>
              <a:gd fmla="val 3604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846320" y="1417320"/>
            <a:ext cx="2029968" cy="274320"/>
          </a:xfrm>
          <a:prstGeom prst="roundRect">
            <a:avLst>
              <a:gd fmla="val 26667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0912" y="180136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"/>
          <p:cNvSpPr/>
          <p:nvPr/>
        </p:nvSpPr>
        <p:spPr>
          <a:xfrm>
            <a:off x="4956048" y="2331720"/>
            <a:ext cx="1810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References are written from memory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956048" y="2990088"/>
            <a:ext cx="181051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Staff writing your references remember who showed up — in Year 2, not just Year 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7040880" y="1417320"/>
            <a:ext cx="2029968" cy="2834640"/>
          </a:xfrm>
          <a:prstGeom prst="roundRect">
            <a:avLst>
              <a:gd fmla="val 3604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7040880" y="1417320"/>
            <a:ext cx="2029968" cy="274320"/>
          </a:xfrm>
          <a:prstGeom prst="roundRect">
            <a:avLst>
              <a:gd fmla="val 26667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5472" y="180136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0"/>
          <p:cNvSpPr/>
          <p:nvPr/>
        </p:nvSpPr>
        <p:spPr>
          <a:xfrm>
            <a:off x="7150608" y="2331720"/>
            <a:ext cx="1810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Being seen at the finish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7150608" y="2990088"/>
            <a:ext cx="1810512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Year 2 is when ‘put the effort in’ or ‘coasted’ gets written. Attendance is how it’s seen.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B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AABB5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7223760" y="4828032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7223760" y="4828032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694944" y="201168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WHEN COMING IN IS HARD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57200" y="420624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Barriers — and what to 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424928" y="164592"/>
            <a:ext cx="1536192" cy="338328"/>
          </a:xfrm>
          <a:prstGeom prst="roundRect">
            <a:avLst>
              <a:gd fmla="val 1891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7424928" y="164592"/>
            <a:ext cx="15361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TEACHER INPUT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Attendance isn’t always about willpower. Sometimes it’s about something real — and the response is help, not a warning.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57200" y="1417326"/>
            <a:ext cx="4114800" cy="341070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457200" y="1417320"/>
            <a:ext cx="4114800" cy="365760"/>
          </a:xfrm>
          <a:prstGeom prst="roundRect">
            <a:avLst>
              <a:gd fmla="val 20000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57200" y="14173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BARRIERS — NOT EXCUSES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621792" y="1956816"/>
            <a:ext cx="201168" cy="201168"/>
          </a:xfrm>
          <a:prstGeom prst="ellipse">
            <a:avLst/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914400" y="1920260"/>
            <a:ext cx="34929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Burnout from Year 1 — real, and not a character flaw. In Digital, Media and Film, this often looks like production hours, portfolio deadlines, and live project responsibilities all stacking up at the same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21792" y="2340864"/>
            <a:ext cx="201168" cy="201168"/>
          </a:xfrm>
          <a:prstGeom prst="ellipse">
            <a:avLst/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621792" y="2724912"/>
            <a:ext cx="201168" cy="201168"/>
          </a:xfrm>
          <a:prstGeom prst="ellipse">
            <a:avLst/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914400" y="2816324"/>
            <a:ext cx="349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Pressure — high stakes feeling paralysing, not motivating.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21792" y="3108960"/>
            <a:ext cx="201168" cy="201168"/>
          </a:xfrm>
          <a:prstGeom prst="ellipse">
            <a:avLst/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914400" y="3191259"/>
            <a:ext cx="349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Money and travel — when bus fares add 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21792" y="3493008"/>
            <a:ext cx="201168" cy="201168"/>
          </a:xfrm>
          <a:prstGeom prst="ellipse">
            <a:avLst/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914400" y="3694182"/>
            <a:ext cx="349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Things at home — caring, family pressure, unsafe situations.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621792" y="3877056"/>
            <a:ext cx="201168" cy="201168"/>
          </a:xfrm>
          <a:prstGeom prst="ellipse">
            <a:avLst/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914400" y="4160518"/>
            <a:ext cx="349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Neurodivergence not yet supported, or chronic health.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754880" y="1417320"/>
            <a:ext cx="4206240" cy="1170432"/>
          </a:xfrm>
          <a:prstGeom prst="roundRect">
            <a:avLst>
              <a:gd fmla="val 6250" name="adj"/>
            </a:avLst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9472" y="15727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/>
          <p:nvPr/>
        </p:nvSpPr>
        <p:spPr>
          <a:xfrm>
            <a:off x="5394960" y="157276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Tell someone. Early.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919472" y="1993392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A barrier we know about is one we can help with. A barrier we don’t know about is one that quietly takes you out.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754880" y="2724912"/>
            <a:ext cx="4206240" cy="1572768"/>
          </a:xfrm>
          <a:prstGeom prst="roundRect">
            <a:avLst>
              <a:gd fmla="val 4651" name="adj"/>
            </a:avLst>
          </a:prstGeom>
          <a:solidFill>
            <a:srgbClr val="F8E7E3"/>
          </a:solidFill>
          <a:ln cap="flat" cmpd="sng" w="12700">
            <a:solidFill>
              <a:srgbClr val="B23A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472" y="28529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1"/>
          <p:cNvSpPr/>
          <p:nvPr/>
        </p:nvSpPr>
        <p:spPr>
          <a:xfrm>
            <a:off x="5285232" y="285292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2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23A2E"/>
                </a:solidFill>
                <a:latin typeface="Calibri"/>
                <a:ea typeface="Calibri"/>
                <a:cs typeface="Calibri"/>
                <a:sym typeface="Calibri"/>
              </a:rPr>
              <a:t>ESCG TO CONFIRM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919472" y="3218688"/>
            <a:ext cx="38862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202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A2020"/>
                </a:solidFill>
                <a:latin typeface="Calibri"/>
                <a:ea typeface="Calibri"/>
                <a:cs typeface="Calibri"/>
                <a:sym typeface="Calibri"/>
              </a:rPr>
              <a:t>Name your personal tutor or Head of Curriculum contact here before delivery. Add room and drop-in hours. Keep only your campus number: Eastbourne 0303 003 9039 / Hastings 07848 442081 / Lewes 07823 668772. Tell students: “You don’t need to have failed. You just need to say: I’m struggling.”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B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AABB5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7223760" y="4828032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7223760" y="4828032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694944" y="201168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BEFORE WE FINISH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457200" y="420624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My one habit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7424928" y="164592"/>
            <a:ext cx="1536192" cy="338328"/>
          </a:xfrm>
          <a:prstGeom prst="roundRect">
            <a:avLst>
              <a:gd fmla="val 18919" name="adj"/>
            </a:avLst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7424928" y="164592"/>
            <a:ext cx="15361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One thing. This week. Not a resolution — a specific action.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57200" y="1417326"/>
            <a:ext cx="4114800" cy="341070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457200" y="1417320"/>
            <a:ext cx="4114800" cy="365760"/>
          </a:xfrm>
          <a:prstGeom prst="roundRect">
            <a:avLst>
              <a:gd fmla="val 20000" name="adj"/>
            </a:avLst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457200" y="14173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ACTIVITY  ·  ONE HABIT FOR THIS WEEK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621792" y="1865376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Pick ONE thing from this session you’ll actually do this week. Write it on your card.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21792" y="2322576"/>
            <a:ext cx="201168" cy="201168"/>
          </a:xfrm>
          <a:prstGeom prst="ellipse">
            <a:avLst/>
          </a:prstGeom>
          <a:solidFill>
            <a:srgbClr val="1B2A30"/>
          </a:solidFill>
          <a:ln cap="flat" cmpd="sng" w="12700">
            <a:solidFill>
              <a:srgbClr val="1B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914350" y="2315713"/>
            <a:ext cx="349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I’ll decide in advance what one free period this week is actually for.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21792" y="2734056"/>
            <a:ext cx="201168" cy="201168"/>
          </a:xfrm>
          <a:prstGeom prst="ellipse">
            <a:avLst/>
          </a:prstGeom>
          <a:solidFill>
            <a:srgbClr val="1B2A30"/>
          </a:solidFill>
          <a:ln cap="flat" cmpd="sng" w="12700">
            <a:solidFill>
              <a:srgbClr val="1B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914400" y="2857456"/>
            <a:ext cx="3492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I’ll address one thing I brought forward from Year 1 — an unresolved portfolio unit, a placement reflection I haven’t written, or a Final Major Project specialism I haven’t decided yet.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21792" y="3145536"/>
            <a:ext cx="201168" cy="201168"/>
          </a:xfrm>
          <a:prstGeom prst="ellipse">
            <a:avLst/>
          </a:prstGeom>
          <a:solidFill>
            <a:srgbClr val="1B2A30"/>
          </a:solidFill>
          <a:ln cap="flat" cmpd="sng" w="12700">
            <a:solidFill>
              <a:srgbClr val="1B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914400" y="3643885"/>
            <a:ext cx="349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I’ll take one Seek-Opportunity step — progression planning, work experience, something that builds the next thing.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21792" y="3557016"/>
            <a:ext cx="201168" cy="201168"/>
          </a:xfrm>
          <a:prstGeom prst="ellipse">
            <a:avLst/>
          </a:prstGeom>
          <a:solidFill>
            <a:srgbClr val="1B2A30"/>
          </a:solidFill>
          <a:ln cap="flat" cmpd="sng" w="12700">
            <a:solidFill>
              <a:srgbClr val="1B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914400" y="4114890"/>
            <a:ext cx="349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I’ll tell someone about a barrier that’s making it hard to come 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21792" y="4590270"/>
            <a:ext cx="379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One thing. Specific. This week. Honest, not impressive.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4754880" y="1417320"/>
            <a:ext cx="4206240" cy="2880360"/>
          </a:xfrm>
          <a:prstGeom prst="roundRect">
            <a:avLst>
              <a:gd fmla="val 2540" name="adj"/>
            </a:avLst>
          </a:prstGeom>
          <a:solidFill>
            <a:srgbClr val="D4EBE0"/>
          </a:solidFill>
          <a:ln cap="flat" cmpd="sng" w="9525">
            <a:solidFill>
              <a:srgbClr val="B0D4B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62763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2"/>
          <p:cNvSpPr/>
          <p:nvPr/>
        </p:nvSpPr>
        <p:spPr>
          <a:xfrm>
            <a:off x="4736592" y="2176272"/>
            <a:ext cx="4224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Why one habit, not five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736592" y="2633472"/>
            <a:ext cx="4224528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Habits change behaviour. Plans don’t. Five at once is a plan — which means none of them happen.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Pick the one that’s a stretch but achievable. Your tutor will keep your card for follow-up.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B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AABB5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7223760" y="4828032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7223760" y="4828032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10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8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694944" y="201168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WRAPPING UP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457200" y="420624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What you take from this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7424928" y="164592"/>
            <a:ext cx="1536192" cy="338328"/>
          </a:xfrm>
          <a:prstGeom prst="roundRect">
            <a:avLst>
              <a:gd fmla="val 1891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7424928" y="164592"/>
            <a:ext cx="15361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TEACHER INPUT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57200" y="126187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TODAY YOU HAVE: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8" name="Google Shape;3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5910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3"/>
          <p:cNvSpPr/>
          <p:nvPr/>
        </p:nvSpPr>
        <p:spPr>
          <a:xfrm>
            <a:off x="841248" y="1572768"/>
            <a:ext cx="35844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Named what’s different about Year 2 — and why it’s the decisive lap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0" name="Google Shape;3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20299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3"/>
          <p:cNvSpPr/>
          <p:nvPr/>
        </p:nvSpPr>
        <p:spPr>
          <a:xfrm>
            <a:off x="841248" y="2011680"/>
            <a:ext cx="35844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Seen where the final fuse leads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2" name="Google Shape;3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2468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3"/>
          <p:cNvSpPr/>
          <p:nvPr/>
        </p:nvSpPr>
        <p:spPr>
          <a:xfrm>
            <a:off x="841248" y="2450592"/>
            <a:ext cx="35844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Revisited Seek Opportunity — in Year 2 terms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4" name="Google Shape;3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29077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3"/>
          <p:cNvSpPr/>
          <p:nvPr/>
        </p:nvSpPr>
        <p:spPr>
          <a:xfrm>
            <a:off x="841248" y="2889504"/>
            <a:ext cx="35844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Heard the Year 2 case for attendance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6" name="Google Shape;3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3467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3"/>
          <p:cNvSpPr/>
          <p:nvPr/>
        </p:nvSpPr>
        <p:spPr>
          <a:xfrm>
            <a:off x="841248" y="3328416"/>
            <a:ext cx="358444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30"/>
                </a:solidFill>
                <a:latin typeface="Calibri"/>
                <a:ea typeface="Calibri"/>
                <a:cs typeface="Calibri"/>
                <a:sym typeface="Calibri"/>
              </a:rPr>
              <a:t>Picked one habit for this week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4754880" y="1261872"/>
            <a:ext cx="4206240" cy="2651760"/>
          </a:xfrm>
          <a:prstGeom prst="roundRect">
            <a:avLst>
              <a:gd fmla="val 2759" name="adj"/>
            </a:avLst>
          </a:prstGeom>
          <a:solidFill>
            <a:srgbClr val="0D2434"/>
          </a:solidFill>
          <a:ln cap="flat" cmpd="sng" w="9525">
            <a:solidFill>
              <a:srgbClr val="DE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463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3"/>
          <p:cNvSpPr/>
          <p:nvPr/>
        </p:nvSpPr>
        <p:spPr>
          <a:xfrm>
            <a:off x="4736592" y="1965960"/>
            <a:ext cx="4224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Coming 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4736592" y="2377440"/>
            <a:ext cx="42245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AB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AABB"/>
                </a:solidFill>
                <a:latin typeface="Calibri"/>
                <a:ea typeface="Calibri"/>
                <a:cs typeface="Calibri"/>
                <a:sym typeface="Calibri"/>
              </a:rPr>
              <a:t>The rest of induction covers wellbeing, progression planning, and the careers and pathways work that turns Year 2 effort into what happens next.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457200" y="4059936"/>
            <a:ext cx="8503920" cy="566928"/>
          </a:xfrm>
          <a:prstGeom prst="roundRect">
            <a:avLst>
              <a:gd fmla="val 11290" name="adj"/>
            </a:avLst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457200" y="4059936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Don’t fumble the last lap. Decide in advance. Ask early. Tell us when it’s hard. That’s the year.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BB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AABB5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7223760" y="4828032"/>
            <a:ext cx="1719072" cy="256032"/>
          </a:xfrm>
          <a:prstGeom prst="roundRect">
            <a:avLst>
              <a:gd fmla="val 21429" name="adj"/>
            </a:avLst>
          </a:prstGeom>
          <a:solidFill>
            <a:srgbClr val="0D2434"/>
          </a:solidFill>
          <a:ln cap="flat" cmpd="sng" w="12700">
            <a:solidFill>
              <a:srgbClr val="0D24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7223760" y="4828032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1  ·  SETTLING IN   11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434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457200" y="201168"/>
            <a:ext cx="164592" cy="164592"/>
          </a:xfrm>
          <a:prstGeom prst="rect">
            <a:avLst/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694944" y="20116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THE TEACHER  ·  DO NOT DISPLAY TO STUDENTS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57200" y="420624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B — facilitation summary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457200" y="9875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CAD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A9CAD"/>
                </a:solidFill>
                <a:latin typeface="Calibri"/>
                <a:ea typeface="Calibri"/>
                <a:cs typeface="Calibri"/>
                <a:sym typeface="Calibri"/>
              </a:rPr>
              <a:t>Level 3, Year 2 variant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57200" y="1325880"/>
            <a:ext cx="4114800" cy="3611880"/>
          </a:xfrm>
          <a:prstGeom prst="roundRect">
            <a:avLst>
              <a:gd fmla="val 2025" name="adj"/>
            </a:avLst>
          </a:prstGeom>
          <a:solidFill>
            <a:srgbClr val="162D3E"/>
          </a:solidFill>
          <a:ln cap="flat" cmpd="sng" w="9525">
            <a:solidFill>
              <a:srgbClr val="1E3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457200" y="1325880"/>
            <a:ext cx="4114800" cy="365760"/>
          </a:xfrm>
          <a:prstGeom prst="roundRect">
            <a:avLst>
              <a:gd fmla="val 20000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RUNNING ORDER &amp; TIMINGS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566928" y="1792224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566928" y="1792224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914400" y="1783080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Welcome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3337560" y="1783080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~2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566928" y="2075688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566928" y="2075688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914400" y="2066544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Session map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3337560" y="2066544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~2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566928" y="2359152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4"/>
          <p:cNvSpPr/>
          <p:nvPr/>
        </p:nvSpPr>
        <p:spPr>
          <a:xfrm>
            <a:off x="566928" y="2359152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914400" y="2350008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Back for Y2 (discuss)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3337560" y="2350008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~8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566928" y="2642616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3A6E55"/>
          </a:solidFill>
          <a:ln cap="flat" cmpd="sng" w="12700">
            <a:solidFill>
              <a:srgbClr val="3A6E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566928" y="2642616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914400" y="2633472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Year 1 → Year 2 shifts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3337560" y="2633472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~5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566928" y="2926080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3A6E55"/>
          </a:solidFill>
          <a:ln cap="flat" cmpd="sng" w="12700">
            <a:solidFill>
              <a:srgbClr val="3A6E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566928" y="2926080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914400" y="2916936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The final fuse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3337560" y="2916936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~5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66928" y="3209544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3A6E55"/>
          </a:solidFill>
          <a:ln cap="flat" cmpd="sng" w="12700">
            <a:solidFill>
              <a:srgbClr val="3A6E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566928" y="3209544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914400" y="3200400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Seek Opportunity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3337560" y="3200400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~5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566928" y="3493008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3A6E55"/>
          </a:solidFill>
          <a:ln cap="flat" cmpd="sng" w="12700">
            <a:solidFill>
              <a:srgbClr val="3A6E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566928" y="3493008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914400" y="3483864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3337560" y="3483864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~5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566928" y="3776472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3A6E55"/>
          </a:solidFill>
          <a:ln cap="flat" cmpd="sng" w="12700">
            <a:solidFill>
              <a:srgbClr val="3A6E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566928" y="3776472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914400" y="3767328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Attendance — Y2 case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3337560" y="3767328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~5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566928" y="4059936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1A4238"/>
          </a:solidFill>
          <a:ln cap="flat" cmpd="sng" w="12700">
            <a:solidFill>
              <a:srgbClr val="1A4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566928" y="4059936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914400" y="4050792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Barriers &amp; support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3337560" y="4050792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~7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566928" y="4343400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1A4238"/>
          </a:solidFill>
          <a:ln cap="flat" cmpd="sng" w="12700">
            <a:solidFill>
              <a:srgbClr val="1A4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566928" y="4343400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914400" y="4334256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My one habit (activity)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3337560" y="4334256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~7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566928" y="4626864"/>
            <a:ext cx="256032" cy="246888"/>
          </a:xfrm>
          <a:prstGeom prst="roundRect">
            <a:avLst>
              <a:gd fmla="val 11111" name="adj"/>
            </a:avLst>
          </a:prstGeom>
          <a:solidFill>
            <a:srgbClr val="1A4238"/>
          </a:solidFill>
          <a:ln cap="flat" cmpd="sng" w="12700">
            <a:solidFill>
              <a:srgbClr val="1A4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566928" y="4626864"/>
            <a:ext cx="256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914400" y="4617720"/>
            <a:ext cx="23317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4"/>
                </a:solidFill>
                <a:latin typeface="Calibri"/>
                <a:ea typeface="Calibri"/>
                <a:cs typeface="Calibri"/>
                <a:sym typeface="Calibri"/>
              </a:rPr>
              <a:t>Close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3337560" y="4617720"/>
            <a:ext cx="1115568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6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6F"/>
                </a:solidFill>
                <a:latin typeface="Calibri"/>
                <a:ea typeface="Calibri"/>
                <a:cs typeface="Calibri"/>
                <a:sym typeface="Calibri"/>
              </a:rPr>
              <a:t>~4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4754875" y="1366838"/>
            <a:ext cx="4206300" cy="2748000"/>
          </a:xfrm>
          <a:prstGeom prst="roundRect">
            <a:avLst>
              <a:gd fmla="val 5517" name="adj"/>
            </a:avLst>
          </a:prstGeom>
          <a:solidFill>
            <a:srgbClr val="162D3E"/>
          </a:solidFill>
          <a:ln cap="flat" cmpd="sng" w="9525">
            <a:solidFill>
              <a:srgbClr val="1E3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4919472" y="1490466"/>
            <a:ext cx="385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A5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F7A54"/>
                </a:solidFill>
                <a:latin typeface="Calibri"/>
                <a:ea typeface="Calibri"/>
                <a:cs typeface="Calibri"/>
                <a:sym typeface="Calibri"/>
              </a:rPr>
              <a:t>BEFORE YOU TEACH — CHECKLIST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4919472" y="3191256"/>
            <a:ext cx="164592" cy="164592"/>
          </a:xfrm>
          <a:prstGeom prst="rect">
            <a:avLst/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5166350" y="2322552"/>
            <a:ext cx="36120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D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D4"/>
                </a:solidFill>
                <a:latin typeface="Calibri"/>
                <a:ea typeface="Calibri"/>
                <a:cs typeface="Calibri"/>
                <a:sym typeface="Calibri"/>
              </a:rPr>
              <a:t>Replace [ESCG TO CONFIRM] on slide 9 with real first point of contact. In Digital and Media the relevant industry terms include: industry placement, Employer Set Project (ESP), live client brief, and Final Major Project.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919472" y="3465576"/>
            <a:ext cx="164592" cy="164592"/>
          </a:xfrm>
          <a:prstGeom prst="rect">
            <a:avLst/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5042923" y="1938532"/>
            <a:ext cx="361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D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D4"/>
                </a:solidFill>
                <a:latin typeface="Calibri"/>
                <a:ea typeface="Calibri"/>
                <a:cs typeface="Calibri"/>
                <a:sym typeface="Calibri"/>
              </a:rPr>
              <a:t>Bring cards + pens for the One Habit activity — plan to keep them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919472" y="3739896"/>
            <a:ext cx="164592" cy="164592"/>
          </a:xfrm>
          <a:prstGeom prst="rect">
            <a:avLst/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5166350" y="3007011"/>
            <a:ext cx="36120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D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D4"/>
                </a:solidFill>
                <a:latin typeface="Calibri"/>
                <a:ea typeface="Calibri"/>
                <a:cs typeface="Calibri"/>
                <a:sym typeface="Calibri"/>
              </a:rPr>
              <a:t>Know your Safeguarding lead — slide 9 may surface burnout or pressure. In Digital, Media and Film, Year 2 burnout often manifests as creative block or disengagement from live projects; students may describe this as losing interest in their subject rather than as burnout. Industry placement students may surface employer conduct concerns — escalate these promptly via the placement welfare route.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4919472" y="4014216"/>
            <a:ext cx="164592" cy="164592"/>
          </a:xfrm>
          <a:prstGeom prst="rect">
            <a:avLst/>
          </a:prstGeom>
          <a:solidFill>
            <a:srgbClr val="0F7A54"/>
          </a:solidFill>
          <a:ln cap="flat" cmpd="sng" w="12700">
            <a:solidFill>
              <a:srgbClr val="0F7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5166360" y="3986784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D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8C8D4"/>
                </a:solidFill>
                <a:latin typeface="Calibri"/>
                <a:ea typeface="Calibri"/>
                <a:cs typeface="Calibri"/>
                <a:sym typeface="Calibri"/>
              </a:rPr>
              <a:t>Read the PROUD poster — know Seek Opportunity in Year 2 context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4754880" y="4187952"/>
            <a:ext cx="4206240" cy="749808"/>
          </a:xfrm>
          <a:prstGeom prst="roundRect">
            <a:avLst>
              <a:gd fmla="val 9756" name="adj"/>
            </a:avLst>
          </a:prstGeom>
          <a:solidFill>
            <a:srgbClr val="FFCF01"/>
          </a:solidFill>
          <a:ln cap="flat" cmpd="sng" w="12700">
            <a:solidFill>
              <a:srgbClr val="FFC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4919472" y="4270248"/>
            <a:ext cx="3858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B5C3E"/>
                </a:solidFill>
                <a:latin typeface="Calibri"/>
                <a:ea typeface="Calibri"/>
                <a:cs typeface="Calibri"/>
                <a:sym typeface="Calibri"/>
              </a:rPr>
              <a:t>THIS DECK MAY SURFACE THINGS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4919472" y="4507992"/>
            <a:ext cx="3858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C3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B5C3E"/>
                </a:solidFill>
                <a:latin typeface="Calibri"/>
                <a:ea typeface="Calibri"/>
                <a:cs typeface="Calibri"/>
                <a:sym typeface="Calibri"/>
              </a:rPr>
              <a:t>Burnout, Year 2 pressure, and anxiety are real for this cohort. Slide 9 may surface things building since Year 1. Listen, don’t promise secrecy, report same-day via ESCG safeguarding route.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457200" y="4864608"/>
            <a:ext cx="6583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06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3A5060"/>
                </a:solidFill>
                <a:latin typeface="Calibri"/>
                <a:ea typeface="Calibri"/>
                <a:cs typeface="Calibri"/>
                <a:sym typeface="Calibri"/>
              </a:rPr>
              <a:t>ESCG Student Induction 2026–27   ·   Module B — Confidence, Independence &amp; Attendance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