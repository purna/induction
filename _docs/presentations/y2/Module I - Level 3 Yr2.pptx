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Poppins Medium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PoppinsMedium-bold.fntdata"/><Relationship Id="rId21" Type="http://schemas.openxmlformats.org/officeDocument/2006/relationships/font" Target="fonts/PoppinsMedium-regular.fntdata"/><Relationship Id="rId24" Type="http://schemas.openxmlformats.org/officeDocument/2006/relationships/font" Target="fonts/PoppinsMedium-boldItalic.fntdata"/><Relationship Id="rId23" Type="http://schemas.openxmlformats.org/officeDocument/2006/relationships/font" Target="fonts/Poppins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oppins-regular.fntdata"/><Relationship Id="rId16" Type="http://schemas.openxmlformats.org/officeDocument/2006/relationships/slide" Target="slides/slide12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1 min. MODE: Arrival.</a:t>
            </a:r>
            <a:br>
              <a:rPr lang="en-US"/>
            </a:br>
            <a:br>
              <a:rPr lang="en-US"/>
            </a:br>
            <a:r>
              <a:rPr lang="en-US"/>
              <a:t>PURPOSE: Frame this as deployment, not repetition. Returners smell a re-run instantly and check out — the tagline does the work: you built the evidence last year; this year you use it.</a:t>
            </a:r>
            <a:br>
              <a:rPr lang="en-US"/>
            </a:br>
            <a:br>
              <a:rPr lang="en-US"/>
            </a:br>
            <a:r>
              <a:rPr lang="en-US"/>
              <a:t>HOW TO RUN IT: Have this up as they arrive. Open with something like: 'You've done a version of this session before. This isn't that. Last year you were building an evidence bank — this year applications open, and today we get that bank application-ready. Everything you produce this morning goes into something live.'</a:t>
            </a:r>
            <a:br>
              <a:rPr lang="en-US"/>
            </a:br>
            <a:br>
              <a:rPr lang="en-US"/>
            </a:br>
            <a:r>
              <a:rPr lang="en-US"/>
              <a:t>WHAT TO WATCH FOR: Anyone visibly groaning at a repeat — win them in the first minute by naming exactly what's different.</a:t>
            </a:r>
            <a:br>
              <a:rPr lang="en-US"/>
            </a:br>
            <a:br>
              <a:rPr lang="en-US"/>
            </a:br>
            <a:r>
              <a:rPr lang="en-US"/>
              <a:t>PREREQUISITE: Navigate access, plus the Year 2 Skills Assessment arrangement confirmed (see appendix) — this deck assumes a Year 1 baseline exists to compare against.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2 mins. MODE: Session map.</a:t>
            </a:r>
            <a:br>
              <a:rPr lang="en-US"/>
            </a:br>
            <a:br>
              <a:rPr lang="en-US"/>
            </a:br>
            <a:r>
              <a:rPr lang="en-US"/>
              <a:t>PURPOSE: Contract-setting with the deployment frame visible in the beat titles themselves — 'goes live', 'what moved', 'application-ready'.</a:t>
            </a:r>
            <a:br>
              <a:rPr lang="en-US"/>
            </a:br>
            <a:br>
              <a:rPr lang="en-US"/>
            </a:br>
            <a:r>
              <a:rPr lang="en-US"/>
              <a:t>HOW TO RUN IT: Brisk. Point at beats 5 and 7: 'These are the session. And note the closing line — the outputs go into this year's applications, not a folder.'</a:t>
            </a:r>
            <a:br>
              <a:rPr lang="en-US"/>
            </a:br>
            <a:br>
              <a:rPr lang="en-US"/>
            </a:br>
            <a:r>
              <a:rPr lang="en-US"/>
              <a:t>WHAT TO WATCH FOR: Timing discipline matters more with returners; they extend discussions comfortably. Trim beat 2's discussion if needed — never beats 5 and 7.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10 mins. MODE: Discussion — pairs or threes.</a:t>
            </a:r>
            <a:br>
              <a:rPr lang="en-US"/>
            </a:br>
            <a:br>
              <a:rPr lang="en-US"/>
            </a:br>
            <a:r>
              <a:rPr lang="en-US"/>
              <a:t>PURPOSE: The settling check-in for a cohort whose 'how is it going' is really 'how is Year 2 landing' — the step up in demand is real and worth naming early. The second and third cards do double duty: they mine placement for the best and worst professional moments, which become evidence in beats 6–7 and the beat 8 example.</a:t>
            </a:r>
            <a:br>
              <a:rPr lang="en-US"/>
            </a:br>
            <a:br>
              <a:rPr lang="en-US"/>
            </a:br>
            <a:r>
              <a:rPr lang="en-US"/>
              <a:t>HOW TO RUN IT: Circulate and collect placement specifics — you want two or three to quote in later beats. The 'one you'd do differently' card matters: reflective honesty about a misstep, plus what this-year's-you would do, is literally an interview answer ('tell me about a time you got something wrong').</a:t>
            </a:r>
            <a:br>
              <a:rPr lang="en-US"/>
            </a:br>
            <a:br>
              <a:rPr lang="en-US"/>
            </a:br>
            <a:r>
              <a:rPr lang="en-US"/>
              <a:t>WHAT TO WATCH FOR: The student who avoids placement talk — theirs may have gone badly. Don't press in the group; follow up individually, and steer their evidence-mining towards part-time work and college projects instead. Anything heavier: appendix protocol, same-day.</a:t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15 mins. MODE: Teacher input, closing on a short paired discussion.</a:t>
            </a:r>
            <a:br>
              <a:rPr lang="en-US"/>
            </a:br>
            <a:br>
              <a:rPr lang="en-US"/>
            </a:br>
            <a:r>
              <a:rPr lang="en-US"/>
              <a:t>PURPOSE: The standard restated as maintenance, not instruction. This cohort knows the four behaviours; the beat's real content is the two Year 2 facts around them — the standard didn't reset over summer, and this is the year referees and interviewers watch for it.</a:t>
            </a:r>
            <a:br>
              <a:rPr lang="en-US"/>
            </a:br>
            <a:br>
              <a:rPr lang="en-US"/>
            </a:br>
            <a:r>
              <a:rPr lang="en-US"/>
              <a:t>HOW TO RUN IT: Fast on the behaviours themselves — 'you know these; you kept them for a year, including in front of a placement supervisor'. Spend the time on the closing discussion instead: which slipped over summer? Name summer drift as normal and universal, which is what makes honest answers possible. Say something like: 'Everyone's standard sags in August. The professionals are the ones who notice and reset in September — which is now.'</a:t>
            </a:r>
            <a:br>
              <a:rPr lang="en-US"/>
            </a:br>
            <a:br>
              <a:rPr lang="en-US"/>
            </a:br>
            <a:r>
              <a:rPr lang="en-US"/>
              <a:t>PROUD ANCHOR: Show Respect, named once. The panel's second line does the Year 2 pointing — practised last year, watched for this year.</a:t>
            </a:r>
            <a:br>
              <a:rPr lang="en-US"/>
            </a:br>
            <a:br>
              <a:rPr lang="en-US"/>
            </a:br>
            <a:r>
              <a:rPr lang="en-US"/>
              <a:t>WHAT TO WATCH FOR: Comfortable cynicism ('we've heard this'). Agree, then redirect: 'Right — so this year the question isn't whether you know it. It's whether it's in your reference.'</a:t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10 mins. MODE: Teacher input.</a:t>
            </a:r>
            <a:br>
              <a:rPr lang="en-US"/>
            </a:br>
            <a:br>
              <a:rPr lang="en-US"/>
            </a:br>
            <a:r>
              <a:rPr lang="en-US"/>
              <a:t>PURPOSE: The attendance case, Year 2 edition — the reference stops being a future abstraction and becomes a document that gets drafted and read this academic year. The middle panel carries the beat's most honest and most motivating fact: referees write from the freshest evidence, so recent pattern weighs heaviest.</a:t>
            </a:r>
            <a:br>
              <a:rPr lang="en-US"/>
            </a:br>
            <a:br>
              <a:rPr lang="en-US"/>
            </a:br>
            <a:r>
              <a:rPr lang="en-US"/>
              <a:t>BRIGHT LINES: Still no percentage thresholds and no preaching. The recency point must be delivered as pure information, both directions: a rough Year 1 is recoverable, and a good Year 1 doesn't bank a strong reference by itself.</a:t>
            </a:r>
            <a:br>
              <a:rPr lang="en-US"/>
            </a:br>
            <a:br>
              <a:rPr lang="en-US"/>
            </a:br>
            <a:r>
              <a:rPr lang="en-US"/>
              <a:t>HOW TO RUN IT: Say something like: 'Whatever last year looked like — brilliant or bumpy — the term in front of your referee is this one. That's not a threat. It's the best news in the room, because it means the part that counts most is the part you haven't written yet.'</a:t>
            </a:r>
            <a:br>
              <a:rPr lang="en-US"/>
            </a:br>
            <a:br>
              <a:rPr lang="en-US"/>
            </a:br>
            <a:r>
              <a:rPr lang="en-US"/>
              <a:t>THE MUSTARD PANEL: Unchanged and unhurried. Year 2 pressures are real — applications, money, placement hours. Name the confirmed contact.</a:t>
            </a:r>
            <a:br>
              <a:rPr lang="en-US"/>
            </a:br>
            <a:br>
              <a:rPr lang="en-US"/>
            </a:br>
            <a:r>
              <a:rPr lang="en-US"/>
              <a:t>SAFEGUARDING: Surface point — including application pressure. Listen calmly, no secrecy promises, don't investigate, report same-day via the ESCG route.</a:t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15 mins. MODE: Teacher input closing on an individual self-audit.</a:t>
            </a:r>
            <a:br>
              <a:rPr lang="en-US"/>
            </a:br>
            <a:br>
              <a:rPr lang="en-US"/>
            </a:br>
            <a:r>
              <a:rPr lang="en-US"/>
              <a:t>PURPOSE: The six skills, re-anchored in lived evidence. This cohort has seen the skills in the wild — placement, part-time work — so the beat's claim sharpens: at interview, nearly every question is secretly about one of these. That's not rhetoric; walk it. 'Tell me about a time the brief changed late' is communication plus adaptability. 'What would you do if the supervisor was out?' is initiative plus problem-solving.</a:t>
            </a:r>
            <a:br>
              <a:rPr lang="en-US"/>
            </a:br>
            <a:br>
              <a:rPr lang="en-US"/>
            </a:br>
            <a:r>
              <a:rPr lang="en-US"/>
              <a:t>HOW TO RUN IT: Take two or three classic interview questions from this sector and decode them live against the six. Then the audit — note it's placement-anchored now: which two did placement prove, and what would the supervisor say needs work? The supervisor framing forces external evidence and keeps self-image honest.</a:t>
            </a:r>
            <a:br>
              <a:rPr lang="en-US"/>
            </a:br>
            <a:br>
              <a:rPr lang="en-US"/>
            </a:br>
            <a:r>
              <a:rPr lang="en-US"/>
              <a:t>SECTOR LIST: The confirm block still applies — Careers supplies the sector's actual priority list; teach from that.</a:t>
            </a:r>
            <a:br>
              <a:rPr lang="en-US"/>
            </a:br>
            <a:br>
              <a:rPr lang="en-US"/>
            </a:br>
            <a:r>
              <a:rPr lang="en-US"/>
              <a:t>WHAT TO WATCH FOR: Students whose placement was thin or unhappy — widen their evidence field to part-time work and college projects without fuss.</a:t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15 mins. MODE: Activity — individual, then paired cross-check.</a:t>
            </a:r>
            <a:br>
              <a:rPr lang="en-US"/>
            </a:br>
            <a:br>
              <a:rPr lang="en-US"/>
            </a:br>
            <a:r>
              <a:rPr lang="en-US"/>
              <a:t>PURPOSE: The Year 2 reframe of the Skills Assessment: the interesting question is no longer 'what are my skills?' but 'what moved since the Year 1 baseline, and what does the movement prove?' A score that shifted across a placement year, with a story behind it, is precisely the material interviews are made of.</a:t>
            </a:r>
            <a:br>
              <a:rPr lang="en-US"/>
            </a:br>
            <a:br>
              <a:rPr lang="en-US"/>
            </a:br>
            <a:r>
              <a:rPr lang="en-US"/>
              <a:t>HOW TO RUN IT: Confirm the arrangement first — retake versus review of Year 1 results is an institutional decision (see confirm block); the beat works either way, because the comparison is the activity. Steps 1–2 quiet and individual. Step 3 forces the applications lens: one strength with a year of evidence, one development priority that actually matters for what they're applying to. Step 4's partner should ideally be someone who has seen their work.</a:t>
            </a:r>
            <a:br>
              <a:rPr lang="en-US"/>
            </a:br>
            <a:br>
              <a:rPr lang="en-US"/>
            </a:br>
            <a:r>
              <a:rPr lang="en-US"/>
              <a:t>Say something like: 'Flat scores aren't failure — but where placement should have moved a number and didn't, that's worth ten minutes of your honest attention.'</a:t>
            </a:r>
            <a:br>
              <a:rPr lang="en-US"/>
            </a:br>
            <a:br>
              <a:rPr lang="en-US"/>
            </a:br>
            <a:r>
              <a:rPr lang="en-US"/>
              <a:t>WHAT TO WATCH FOR: (1) Students treating unchanged scores as identity ('I'm just not a communicator') — movement is learnable and the year proves it either way. (2) Missing Year 1 data — pair those students and run it as a fresh read. (3) Log access failures for the tutor today.</a:t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10 mins. MODE: Teacher input.</a:t>
            </a:r>
            <a:br>
              <a:rPr lang="en-US"/>
            </a:br>
            <a:br>
              <a:rPr lang="en-US"/>
            </a:br>
            <a:r>
              <a:rPr lang="en-US"/>
              <a:t>PURPOSE: The craft beat, with the bar raised. The claim example is application-form boilerplate ('reliable and hard-working') and the evidence example is placement-grade — a problem fixed, then documented so the team did not need them again. That is deliberately the calibre this cohort should now be producing.</a:t>
            </a:r>
            <a:br>
              <a:rPr lang="en-US"/>
            </a:br>
            <a:br>
              <a:rPr lang="en-US"/>
            </a:br>
            <a:r>
              <a:rPr lang="en-US"/>
              <a:t>HOW TO RUN IT: Read both aloud. 'The first one is on every application the shortlister reads today. The second one gets you an interview question — what happened next? — and an interview question is the whole game.'</a:t>
            </a:r>
            <a:br>
              <a:rPr lang="en-US"/>
            </a:br>
            <a:br>
              <a:rPr lang="en-US"/>
            </a:br>
            <a:r>
              <a:rPr lang="en-US"/>
              <a:t>The sources line names their structural advantage: a year of placement, projects and work the Year 1s don't have. Say it plainly: 'You are the best-evidenced applicants this college produces. Most of you just haven't written it down yet.'</a:t>
            </a:r>
            <a:br>
              <a:rPr lang="en-US"/>
            </a:br>
            <a:br>
              <a:rPr lang="en-US"/>
            </a:br>
            <a:r>
              <a:rPr lang="en-US"/>
              <a:t>Build one live example from a placement moment collected in the opener — with the student's nod.</a:t>
            </a:r>
            <a:br>
              <a:rPr lang="en-US"/>
            </a:br>
            <a:br>
              <a:rPr lang="en-US"/>
            </a:br>
            <a:r>
              <a:rPr lang="en-US"/>
              <a:t>WHAT TO WATCH FOR: Ten minutes, no more. The learning is in the writing, next beat. And keep the placement-gone-badly student in view — their best example may be from part-time work, and that's fine.</a:t>
            </a:r>
            <a:endParaRPr/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10 mins (run to 15 by trimming beat 2 if the room is working). MODE: Activity — individual drafting, paired testing.</a:t>
            </a:r>
            <a:br>
              <a:rPr lang="en-US"/>
            </a:br>
            <a:br>
              <a:rPr lang="en-US"/>
            </a:br>
            <a:r>
              <a:rPr lang="en-US"/>
              <a:t>PURPOSE: The deliverable, framed as live application material — interview answers and application paragraphs in draft, replacing last year's Navigate versions. The lead says 'not a worksheet' because that is exactly the returner objection to pre-empt.</a:t>
            </a:r>
            <a:br>
              <a:rPr lang="en-US"/>
            </a:br>
            <a:br>
              <a:rPr lang="en-US"/>
            </a:br>
            <a:r>
              <a:rPr lang="en-US"/>
              <a:t>HOW TO RUN IT: Drafting quiet and individual, placement evidence prioritised. The partner-test adds a Year 2 move: after 'what's your evidence?', the interview follow-up — 'what happened next?' Statements that survive both are interview-ready. Insist on the Navigate update in step 4: replacing the Year 1 versions is the visible proof that the portfolio is live, not archival.</a:t>
            </a:r>
            <a:br>
              <a:rPr lang="en-US"/>
            </a:br>
            <a:br>
              <a:rPr lang="en-US"/>
            </a:br>
            <a:r>
              <a:rPr lang="en-US"/>
              <a:t>SCOPE: Statements and evidence, yes; full application coaching and CV structure belong to Module J and Careers. Park it with 'good instinct, wrong hour'.</a:t>
            </a:r>
            <a:br>
              <a:rPr lang="en-US"/>
            </a:br>
            <a:br>
              <a:rPr lang="en-US"/>
            </a:br>
            <a:r>
              <a:rPr lang="en-US"/>
              <a:t>WHAT TO WATCH FOR: (1) Coasting on last year's statements — the test is whether placement evidence appears; if not, they're recycling. (2) The under-evidenced student — mine part-time work and the opener's 'most professional moment'. (3) Fluency without specifics — 'where, when, who saw it?'</a:t>
            </a:r>
            <a:endParaRPr/>
          </a:p>
        </p:txBody>
      </p:sp>
      <p:sp>
        <p:nvSpPr>
          <p:cNvPr id="255" name="Google Shape;2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5 mins. MODE: Activity — individual, written, collected.</a:t>
            </a:r>
            <a:br>
              <a:rPr lang="en-US"/>
            </a:br>
            <a:br>
              <a:rPr lang="en-US"/>
            </a:br>
            <a:r>
              <a:rPr lang="en-US"/>
              <a:t>PURPOSE: The standard close, Year 2 edition. Options re-pointed at deployment: applications-critical development step, using a statement in something live, resetting the summer-slipped habit, and — always — the disclosure route.</a:t>
            </a:r>
            <a:br>
              <a:rPr lang="en-US"/>
            </a:br>
            <a:br>
              <a:rPr lang="en-US"/>
            </a:br>
            <a:r>
              <a:rPr lang="en-US"/>
              <a:t>HOW TO RUN IT: Specificity test as ever: 'I'll update my CV' fails; 'I'll replace my three Navigate statements tonight and ask my tutor to sanity-check the first one Thursday' passes. Collect every card; agree tutor follow-up beforehand. Returners are quickest to spot theatre — a card that gets asked about the following week is the difference.</a:t>
            </a:r>
            <a:br>
              <a:rPr lang="en-US"/>
            </a:br>
            <a:br>
              <a:rPr lang="en-US"/>
            </a:br>
            <a:r>
              <a:rPr lang="en-US"/>
              <a:t>OPTION 4: Same breath, same tone. Year 2 carries its own load — application pressure, money, placement hours, home. Read the cards today; anything hinting at a barrier gets a same-day conversation, and anything safeguarding-adjacent goes through the ESCG route immediately.</a:t>
            </a:r>
            <a:br>
              <a:rPr lang="en-US"/>
            </a:br>
            <a:br>
              <a:rPr lang="en-US"/>
            </a:br>
            <a:r>
              <a:rPr lang="en-US"/>
              <a:t>WHAT TO WATCH FOR: Option 2 chosen with no named 'something live'. Which application? Which answer? Pin it.</a:t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3 mins. MODE: Close.</a:t>
            </a:r>
            <a:br>
              <a:rPr lang="en-US"/>
            </a:br>
            <a:br>
              <a:rPr lang="en-US"/>
            </a:br>
            <a:r>
              <a:rPr lang="en-US"/>
              <a:t>PURPOSE: Three forward links with the last-lap frame. The Navigate record is now application-ready and needs keeping current as windows open. Module J runs alongside applications this year — work experience is simultaneously evidence and referees. And the standard, restated once, in the term that counts double.</a:t>
            </a:r>
            <a:br>
              <a:rPr lang="en-US"/>
            </a:br>
            <a:br>
              <a:rPr lang="en-US"/>
            </a:br>
            <a:r>
              <a:rPr lang="en-US"/>
              <a:t>HOW TO RUN IT: Brisk. 'A year ago this was theory. As of this morning your Navigate record is application-grade — the job now is keeping it that way while the deadlines arrive.' Name the confirmed contacts and, critically, the application windows from the confirm block — for this cohort, dates are the difference between a close and a to-do list. Finish on time.</a:t>
            </a:r>
            <a:br>
              <a:rPr lang="en-US"/>
            </a:br>
            <a:br>
              <a:rPr lang="en-US"/>
            </a:br>
            <a:r>
              <a:rPr lang="en-US"/>
              <a:t>AFTER: Read the commitment cards today. Pass Navigate access failures to the tutor. Option-4 cards: same-day conversation; anything safeguarding-adjacent through the ESCG route immediately. Flag to the tutor any student whose placement evidence conversation suggested the placement itself needs attention.</a:t>
            </a:r>
            <a:endParaRPr/>
          </a:p>
        </p:txBody>
      </p:sp>
      <p:sp>
        <p:nvSpPr>
          <p:cNvPr id="309" name="Google Shape;30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appendix. Not for student display. Keep this slide at the end of the deck; delete it only from any version exported for student-facing distribution.</a:t>
            </a:r>
            <a:endParaRPr/>
          </a:p>
        </p:txBody>
      </p:sp>
      <p:sp>
        <p:nvSpPr>
          <p:cNvPr id="326" name="Google Shape;32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43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21208" y="932688"/>
            <a:ext cx="566928" cy="566928"/>
          </a:xfrm>
          <a:prstGeom prst="roundRect">
            <a:avLst>
              <a:gd fmla="val 14516" name="adj"/>
            </a:avLst>
          </a:prstGeom>
          <a:solidFill>
            <a:srgbClr val="F689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252728" y="932688"/>
            <a:ext cx="566928" cy="566928"/>
          </a:xfrm>
          <a:prstGeom prst="roundRect">
            <a:avLst>
              <a:gd fmla="val 14516" name="adj"/>
            </a:avLst>
          </a:prstGeom>
          <a:solidFill>
            <a:srgbClr val="FFCF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984248" y="932688"/>
            <a:ext cx="566928" cy="566928"/>
          </a:xfrm>
          <a:prstGeom prst="roundRect">
            <a:avLst>
              <a:gd fmla="val 14516" name="adj"/>
            </a:avLst>
          </a:prstGeom>
          <a:solidFill>
            <a:srgbClr val="0D2434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6836" y="106984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ts val="1100"/>
              <a:buFont typeface="Poppins SemiBold"/>
              <a:buNone/>
            </a:pPr>
            <a:r>
              <a:rPr lang="en-US" sz="1100">
                <a:solidFill>
                  <a:srgbClr val="FFCF0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STUDENT INDUCTION 2026–27  ·  MODULE I  ·  YEAR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1828800"/>
            <a:ext cx="8138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oppins SemiBold"/>
              <a:buNone/>
            </a:pPr>
            <a:r>
              <a:rPr lang="en-US" sz="4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Professional Behaviour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oppins SemiBold"/>
              <a:buNone/>
            </a:pPr>
            <a:r>
              <a:rPr lang="en-US" sz="4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&amp; Personal Strengths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3520440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400"/>
              <a:buFont typeface="Poppins Medium"/>
              <a:buNone/>
            </a:pPr>
            <a:r>
              <a:rPr lang="en-US" sz="1400">
                <a:solidFill>
                  <a:srgbClr val="F689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Employability, Careers &amp; Progression  ·  Level 3 Year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388620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2D6"/>
              </a:buClr>
              <a:buSzPts val="1250"/>
              <a:buFont typeface="Poppins"/>
              <a:buNone/>
            </a:pPr>
            <a:r>
              <a:rPr i="1" lang="en-US" sz="1250">
                <a:solidFill>
                  <a:srgbClr val="C9D2D6"/>
                </a:solidFill>
                <a:latin typeface="Poppins"/>
                <a:ea typeface="Poppins"/>
                <a:cs typeface="Poppins"/>
                <a:sym typeface="Poppins"/>
              </a:rPr>
              <a:t>You built the evidence last year. This year you use it.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02920" y="468630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A8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8FA0A8"/>
                </a:solidFill>
                <a:latin typeface="Poppins"/>
                <a:ea typeface="Poppins"/>
                <a:cs typeface="Poppins"/>
                <a:sym typeface="Poppins"/>
              </a:rPr>
              <a:t>East Sussex College  ·  90 minutes  ·  Requires Navigate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02920" y="27432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SESSION MAP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02920" y="475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2400"/>
              <a:buFont typeface="Poppins SemiBold"/>
              <a:buNone/>
            </a:pPr>
            <a:r>
              <a:rPr lang="en-US" sz="2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Where the 90 minutes goes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159752" y="310896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159752" y="299923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800"/>
              <a:buFont typeface="Poppins SemiBold"/>
              <a:buNone/>
            </a:pPr>
            <a:r>
              <a:rPr lang="en-US" sz="8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SESSION MAP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485089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00"/>
              <a:buFont typeface="Poppins"/>
              <a:buNone/>
            </a:pPr>
            <a:r>
              <a:rPr lang="en-US" sz="7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MODULE I  ·  PROFESSIONAL BEHAVIOUR &amp; PERSONAL STRENGTHS  ·  L3 YEAR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1207008"/>
            <a:ext cx="8138160" cy="361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12648" y="1207008"/>
            <a:ext cx="36576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33272" y="1207008"/>
            <a:ext cx="512064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50"/>
              <a:buFont typeface="Poppins Medium"/>
              <a:buNone/>
            </a:pPr>
            <a:r>
              <a:rPr lang="en-US" sz="1150">
                <a:solidFill>
                  <a:srgbClr val="1B2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Settling in — Year 2, week three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263640" y="1207008"/>
            <a:ext cx="86868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00"/>
              <a:buFont typeface="Poppins"/>
              <a:buNone/>
            </a:pPr>
            <a:r>
              <a:rPr lang="en-US" sz="10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10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178040" y="1207008"/>
            <a:ext cx="137160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02920" y="1568196"/>
            <a:ext cx="8138160" cy="361188"/>
          </a:xfrm>
          <a:prstGeom prst="rect">
            <a:avLst/>
          </a:prstGeom>
          <a:solidFill>
            <a:srgbClr val="FDEEDC"/>
          </a:solidFill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12648" y="1568196"/>
            <a:ext cx="36576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33272" y="1568196"/>
            <a:ext cx="512064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50"/>
              <a:buFont typeface="Poppins Medium"/>
              <a:buNone/>
            </a:pPr>
            <a:r>
              <a:rPr lang="en-US" sz="1150">
                <a:solidFill>
                  <a:srgbClr val="1B2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standard didn't reset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63640" y="1568196"/>
            <a:ext cx="86868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00"/>
              <a:buFont typeface="Poppins"/>
              <a:buNone/>
            </a:pPr>
            <a:r>
              <a:rPr lang="en-US" sz="10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15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178040" y="1568196"/>
            <a:ext cx="137160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Input + discussion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02920" y="1929384"/>
            <a:ext cx="8138160" cy="361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12648" y="1929384"/>
            <a:ext cx="36576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33272" y="1929384"/>
            <a:ext cx="512064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50"/>
              <a:buFont typeface="Poppins Medium"/>
              <a:buNone/>
            </a:pPr>
            <a:r>
              <a:rPr lang="en-US" sz="1150">
                <a:solidFill>
                  <a:srgbClr val="1B2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Your reference goes live this year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263640" y="1929384"/>
            <a:ext cx="86868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00"/>
              <a:buFont typeface="Poppins"/>
              <a:buNone/>
            </a:pPr>
            <a:r>
              <a:rPr lang="en-US" sz="10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10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178040" y="1929384"/>
            <a:ext cx="137160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Input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02920" y="2290572"/>
            <a:ext cx="8138160" cy="361188"/>
          </a:xfrm>
          <a:prstGeom prst="rect">
            <a:avLst/>
          </a:prstGeom>
          <a:solidFill>
            <a:srgbClr val="FDEEDC"/>
          </a:solidFill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12648" y="2290572"/>
            <a:ext cx="36576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033272" y="2290572"/>
            <a:ext cx="512064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50"/>
              <a:buFont typeface="Poppins Medium"/>
              <a:buNone/>
            </a:pPr>
            <a:r>
              <a:rPr lang="en-US" sz="1150">
                <a:solidFill>
                  <a:srgbClr val="1B2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Human skills — interview currency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263640" y="2290572"/>
            <a:ext cx="86868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00"/>
              <a:buFont typeface="Poppins"/>
              <a:buNone/>
            </a:pPr>
            <a:r>
              <a:rPr lang="en-US" sz="10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15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178040" y="2290572"/>
            <a:ext cx="137160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Input + self-audit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02920" y="2651760"/>
            <a:ext cx="8138160" cy="361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12648" y="2651760"/>
            <a:ext cx="36576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33272" y="2651760"/>
            <a:ext cx="512064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50"/>
              <a:buFont typeface="Poppins Medium"/>
              <a:buNone/>
            </a:pPr>
            <a:r>
              <a:rPr lang="en-US" sz="1150">
                <a:solidFill>
                  <a:srgbClr val="1B2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Skills Assessment — what moved?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263640" y="2651760"/>
            <a:ext cx="86868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00"/>
              <a:buFont typeface="Poppins"/>
              <a:buNone/>
            </a:pPr>
            <a:r>
              <a:rPr lang="en-US" sz="10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15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178040" y="2651760"/>
            <a:ext cx="137160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Activity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2920" y="3012948"/>
            <a:ext cx="8138160" cy="361188"/>
          </a:xfrm>
          <a:prstGeom prst="rect">
            <a:avLst/>
          </a:prstGeom>
          <a:solidFill>
            <a:srgbClr val="FDEEDC"/>
          </a:solidFill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12648" y="3012948"/>
            <a:ext cx="36576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033272" y="3012948"/>
            <a:ext cx="512064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50"/>
              <a:buFont typeface="Poppins Medium"/>
              <a:buNone/>
            </a:pPr>
            <a:r>
              <a:rPr lang="en-US" sz="1150">
                <a:solidFill>
                  <a:srgbClr val="1B2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Claims versus evidence — sharper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263640" y="3012948"/>
            <a:ext cx="86868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00"/>
              <a:buFont typeface="Poppins"/>
              <a:buNone/>
            </a:pPr>
            <a:r>
              <a:rPr lang="en-US" sz="10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10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178040" y="3012948"/>
            <a:ext cx="137160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Input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02920" y="3374136"/>
            <a:ext cx="8138160" cy="361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12648" y="3374136"/>
            <a:ext cx="36576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033272" y="3374136"/>
            <a:ext cx="512064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50"/>
              <a:buFont typeface="Poppins Medium"/>
              <a:buNone/>
            </a:pPr>
            <a:r>
              <a:rPr lang="en-US" sz="1150">
                <a:solidFill>
                  <a:srgbClr val="1B2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Three strengths, application-ready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263640" y="3374136"/>
            <a:ext cx="86868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00"/>
              <a:buFont typeface="Poppins"/>
              <a:buNone/>
            </a:pPr>
            <a:r>
              <a:rPr lang="en-US" sz="10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10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178040" y="3374136"/>
            <a:ext cx="137160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Activity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02920" y="3735324"/>
            <a:ext cx="8138160" cy="361188"/>
          </a:xfrm>
          <a:prstGeom prst="rect">
            <a:avLst/>
          </a:prstGeom>
          <a:solidFill>
            <a:srgbClr val="FDEEDC"/>
          </a:solidFill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12648" y="3735324"/>
            <a:ext cx="36576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33272" y="3735324"/>
            <a:ext cx="512064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50"/>
              <a:buFont typeface="Poppins Medium"/>
              <a:buNone/>
            </a:pPr>
            <a:r>
              <a:rPr lang="en-US" sz="1150">
                <a:solidFill>
                  <a:srgbClr val="1B2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One thing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263640" y="3735324"/>
            <a:ext cx="86868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00"/>
              <a:buFont typeface="Poppins"/>
              <a:buNone/>
            </a:pPr>
            <a:r>
              <a:rPr lang="en-US" sz="10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5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178040" y="3735324"/>
            <a:ext cx="1371600" cy="3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Commitment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02920" y="4224528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100"/>
              <a:buFont typeface="Poppins"/>
              <a:buNone/>
            </a:pPr>
            <a:r>
              <a:rPr i="1" lang="en-US" sz="11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A working session — the outputs go straight into this year's applications.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502920" y="27432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SETTLING IN · 10 MINUTES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02920" y="475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2400"/>
              <a:buFont typeface="Poppins SemiBold"/>
              <a:buNone/>
            </a:pPr>
            <a:r>
              <a:rPr lang="en-US" sz="2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Year 2, week three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159752" y="310896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159752" y="299923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800"/>
              <a:buFont typeface="Poppins SemiBold"/>
              <a:buNone/>
            </a:pPr>
            <a:r>
              <a:rPr lang="en-US" sz="8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DISCUSSION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2920" y="485089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00"/>
              <a:buFont typeface="Poppins"/>
              <a:buNone/>
            </a:pPr>
            <a:r>
              <a:rPr lang="en-US" sz="7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MODULE I  ·  PROFESSIONAL BEHAVIOUR &amp; PERSONAL STRENGTHS  ·  L3 YEAR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02920" y="111556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In pairs or threes. Nothing written down, nothing reported back unless you want 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02920" y="1572768"/>
            <a:ext cx="2587752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17922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704088" y="2231136"/>
            <a:ext cx="21854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300"/>
              <a:buFont typeface="Poppins SemiBold"/>
              <a:buNone/>
            </a:pPr>
            <a:r>
              <a:rPr lang="en-US" sz="13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What's different?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04088" y="2816352"/>
            <a:ext cx="2185416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Three weeks into Year 2 — the projects are bigger now. What's changed, and what surprised you?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273552" y="1572768"/>
            <a:ext cx="2587752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7922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3474720" y="2231136"/>
            <a:ext cx="21854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300"/>
              <a:buFont typeface="Poppins SemiBold"/>
              <a:buNone/>
            </a:pPr>
            <a:r>
              <a:rPr lang="en-US" sz="13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most professional moment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474720" y="2816352"/>
            <a:ext cx="2185416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Think about placement and last year's projects. When did you operate at your best — specifically?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044184" y="1572768"/>
            <a:ext cx="2587752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5352" y="17922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6245352" y="2231136"/>
            <a:ext cx="21854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300"/>
              <a:buFont typeface="Poppins SemiBold"/>
              <a:buNone/>
            </a:pPr>
            <a:r>
              <a:rPr lang="en-US" sz="13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one you'd do differently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45352" y="2816352"/>
            <a:ext cx="2185416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Same year, other direction. What would this-year's you have done instead?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02920" y="40233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150"/>
              <a:buFont typeface="Poppins"/>
              <a:buNone/>
            </a:pPr>
            <a:r>
              <a:rPr i="1" lang="en-US" sz="1150">
                <a:solidFill>
                  <a:srgbClr val="F6891E"/>
                </a:solidFill>
                <a:latin typeface="Poppins"/>
                <a:ea typeface="Poppins"/>
                <a:cs typeface="Poppins"/>
                <a:sym typeface="Poppins"/>
              </a:rPr>
              <a:t>Both of those moments are evidence. Hold on to them — you'll use them today.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502920" y="27432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PROFESSIONAL BEHAVIOUR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02920" y="475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2400"/>
              <a:buFont typeface="Poppins SemiBold"/>
              <a:buNone/>
            </a:pPr>
            <a:r>
              <a:rPr lang="en-US" sz="2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standard didn't reset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159752" y="310896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159752" y="299923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 SemiBold"/>
              <a:buNone/>
            </a:pPr>
            <a:r>
              <a:rPr lang="en-US" sz="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TEACHER INPUT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02920" y="485089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00"/>
              <a:buFont typeface="Poppins"/>
              <a:buNone/>
            </a:pPr>
            <a:r>
              <a:rPr lang="en-US" sz="7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MODULE I  ·  PROFESSIONAL BEHAVIOUR &amp; PERSONAL STRENGTHS  ·  L3 YEAR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02920" y="1097280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Poppins"/>
              <a:buNone/>
            </a:pPr>
            <a:r>
              <a:rPr lang="en-US" sz="12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You know the standard — you kept it for a year, including on placement. Year 2 isn't about learning it. It's about not fumbling it in the year that counts double.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2920" y="1700784"/>
            <a:ext cx="1874520" cy="365760"/>
          </a:xfrm>
          <a:prstGeom prst="roundRect">
            <a:avLst>
              <a:gd fmla="val 50000" name="adj"/>
            </a:avLst>
          </a:prstGeom>
          <a:solidFill>
            <a:srgbClr val="0D243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02920" y="169164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Poppins SemiBold"/>
              <a:buNone/>
            </a:pPr>
            <a:r>
              <a:rPr lang="en-US" sz="9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 COLLEGE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578608" y="1700784"/>
            <a:ext cx="1874520" cy="365760"/>
          </a:xfrm>
          <a:prstGeom prst="roundRect">
            <a:avLst>
              <a:gd fmla="val 50000" name="adj"/>
            </a:avLst>
          </a:prstGeom>
          <a:solidFill>
            <a:srgbClr val="F689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578608" y="169164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50"/>
              <a:buFont typeface="Poppins SemiBold"/>
              <a:buNone/>
            </a:pPr>
            <a:r>
              <a:rPr lang="en-US" sz="9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 PLACEMENT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654296" y="1700784"/>
            <a:ext cx="1874520" cy="365760"/>
          </a:xfrm>
          <a:prstGeom prst="roundRect">
            <a:avLst>
              <a:gd fmla="val 50000" name="adj"/>
            </a:avLst>
          </a:prstGeom>
          <a:solidFill>
            <a:srgbClr val="FFCF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654296" y="169164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50"/>
              <a:buFont typeface="Poppins SemiBold"/>
              <a:buNone/>
            </a:pPr>
            <a:r>
              <a:rPr lang="en-US" sz="9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 EMPLOYMENT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729984" y="174650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100"/>
              <a:buFont typeface="Poppins"/>
              <a:buNone/>
            </a:pPr>
            <a:r>
              <a:rPr i="1" lang="en-US" sz="11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— the list you already know: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02920" y="2267712"/>
            <a:ext cx="5212080" cy="1847088"/>
          </a:xfrm>
          <a:prstGeom prst="roundRect">
            <a:avLst>
              <a:gd fmla="val 2970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246888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1033272" y="2404872"/>
            <a:ext cx="4526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Turning up — on time, kit charged, files backed up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28712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1033272" y="2807208"/>
            <a:ext cx="4526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Flagging problems early — before a deadline or a deliverable slips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32735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1033272" y="3209544"/>
            <a:ext cx="4526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How you speak to people — in the room, in the group chat, and online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36758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1033272" y="3611880"/>
            <a:ext cx="4526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Owning mistakes and putting them right, rather than hiding them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943600" y="2267712"/>
            <a:ext cx="2697480" cy="1847088"/>
          </a:xfrm>
          <a:prstGeom prst="roundRect">
            <a:avLst>
              <a:gd fmla="val 2970" name="adj"/>
            </a:avLst>
          </a:prstGeom>
          <a:solidFill>
            <a:srgbClr val="0D2434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144768" y="2450592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FFCF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144768" y="2441448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700"/>
              <a:buFont typeface="Poppins SemiBold"/>
              <a:buNone/>
            </a:pPr>
            <a:r>
              <a:rPr lang="en-US" sz="7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PROUD · SHOW RESPECT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144768" y="2834640"/>
            <a:ext cx="22951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 Medium"/>
              <a:buNone/>
            </a:pPr>
            <a:r>
              <a:rPr lang="en-US" sz="11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is Show Respect in practice — respect for people's time, for the work, and for your own future.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144768" y="3712464"/>
            <a:ext cx="22951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2D6"/>
              </a:buClr>
              <a:buSzPts val="950"/>
              <a:buFont typeface="Poppins"/>
              <a:buNone/>
            </a:pPr>
            <a:r>
              <a:rPr i="1" lang="en-US" sz="950">
                <a:solidFill>
                  <a:srgbClr val="C9D2D6"/>
                </a:solidFill>
                <a:latin typeface="Poppins"/>
                <a:ea typeface="Poppins"/>
                <a:cs typeface="Poppins"/>
                <a:sym typeface="Poppins"/>
              </a:rPr>
              <a:t>You practised it all last year. This year, referees are watching.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02920" y="424281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100"/>
              <a:buFont typeface="Poppins"/>
              <a:buNone/>
            </a:pPr>
            <a:r>
              <a:rPr i="1" lang="en-US" sz="11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Discuss: which of the four slipped most over summer? Be honest — that's the one to reset this week.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502920" y="27432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ATTENDANCE &amp; PUNCTUALITY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02920" y="475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2400"/>
              <a:buFont typeface="Poppins SemiBold"/>
              <a:buNone/>
            </a:pPr>
            <a:r>
              <a:rPr lang="en-US" sz="2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reference goes live this year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159752" y="310896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159752" y="299923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 SemiBold"/>
              <a:buNone/>
            </a:pPr>
            <a:r>
              <a:rPr lang="en-US" sz="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TEACHER INPUT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02920" y="485089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00"/>
              <a:buFont typeface="Poppins"/>
              <a:buNone/>
            </a:pPr>
            <a:r>
              <a:rPr lang="en-US" sz="7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MODULE I  ·  PROFESSIONAL BEHAVIOUR &amp; PERSONAL STRENGTHS  ·  L3 YEAR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02920" y="1097280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Poppins"/>
              <a:buNone/>
            </a:pPr>
            <a:r>
              <a:rPr lang="en-US" sz="12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Last year we told you your reference was being written. This year it gets read — applications for apprenticeships, jobs and degrees, including at University Centre Hastings, go out in the months ahead.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02920" y="1682496"/>
            <a:ext cx="5257800" cy="658368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85800" y="1773936"/>
            <a:ext cx="4892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050"/>
              <a:buFont typeface="Poppins SemiBold"/>
              <a:buNone/>
            </a:pPr>
            <a:r>
              <a:rPr lang="en-US" sz="105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gets drawn 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85800" y="1984248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References reflect attendance, punctuality and reliability across the whole record — employers, providers and admissions teams ask for exactly that.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02920" y="2450592"/>
            <a:ext cx="5257800" cy="658368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85800" y="2542032"/>
            <a:ext cx="4892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050"/>
              <a:buFont typeface="Poppins SemiBold"/>
              <a:buNone/>
            </a:pPr>
            <a:r>
              <a:rPr lang="en-US" sz="105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Recent pattern weighs heaviest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85800" y="2752344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Referees write from the freshest evidence. Whatever last year looked like, this term is the one sitting in front of them.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2920" y="3218688"/>
            <a:ext cx="5257800" cy="658368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85800" y="3310128"/>
            <a:ext cx="4892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050"/>
              <a:buFont typeface="Poppins SemiBold"/>
              <a:buNone/>
            </a:pPr>
            <a:r>
              <a:rPr lang="en-US" sz="105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strong finish is in your control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85800" y="352044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The record is built from small, repeated behaviours — which makes the last lap the easiest one to get right on purpose.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943600" y="1682496"/>
            <a:ext cx="2697480" cy="1170432"/>
          </a:xfrm>
          <a:prstGeom prst="roundRect">
            <a:avLst>
              <a:gd fmla="val 4688" name="adj"/>
            </a:avLst>
          </a:prstGeom>
          <a:solidFill>
            <a:srgbClr val="FFCF01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126480" y="182880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50"/>
              <a:buFont typeface="Poppins Medium"/>
              <a:buNone/>
            </a:pPr>
            <a:r>
              <a:rPr lang="en-US" sz="1150">
                <a:solidFill>
                  <a:srgbClr val="0D2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If something is making it hard to show up —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126480" y="230428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600"/>
              <a:buFont typeface="Poppins SemiBold"/>
              <a:buNone/>
            </a:pPr>
            <a:r>
              <a:rPr lang="en-US" sz="16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Tell someone. Early.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943600" y="2999232"/>
            <a:ext cx="2697480" cy="987552"/>
          </a:xfrm>
          <a:prstGeom prst="rect">
            <a:avLst/>
          </a:prstGeom>
          <a:solidFill>
            <a:srgbClr val="F8E7E3"/>
          </a:solidFill>
          <a:ln cap="flat" cmpd="sng" w="19050">
            <a:solidFill>
              <a:srgbClr val="B23A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071616" y="3054096"/>
            <a:ext cx="244144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850"/>
              <a:buFont typeface="Poppins SemiBold"/>
              <a:buNone/>
            </a:pPr>
            <a:r>
              <a:rPr lang="en-US" sz="850">
                <a:solidFill>
                  <a:srgbClr val="B23A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ESCG TO CONFIRM   </a:t>
            </a: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Insert the first point of contact for attendance and personal barriers on this course — name, room, email. Confirm before delivery.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502920" y="27432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EMPLOYABILITY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02920" y="475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2400"/>
              <a:buFont typeface="Poppins SemiBold"/>
              <a:buNone/>
            </a:pPr>
            <a:r>
              <a:rPr lang="en-US" sz="2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Human skills — interview currency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159752" y="310896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7159752" y="299923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 SemiBold"/>
              <a:buNone/>
            </a:pPr>
            <a:r>
              <a:rPr lang="en-US" sz="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TEACHER INPUT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2920" y="485089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00"/>
              <a:buFont typeface="Poppins"/>
              <a:buNone/>
            </a:pPr>
            <a:r>
              <a:rPr lang="en-US" sz="7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MODULE I  ·  PROFESSIONAL BEHAVIOUR &amp; PERSONAL STRENGTHS  ·  L3 YEAR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02920" y="1078992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You've now seen these in the wild — on placement, on projects, in part-time work. At interview, nearly every question is secretly about one of them.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02920" y="1609344"/>
            <a:ext cx="2587752" cy="786384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24" y="17465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1014984" y="1700784"/>
            <a:ext cx="1947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00"/>
              <a:buFont typeface="Poppins SemiBold"/>
              <a:buNone/>
            </a:pPr>
            <a:r>
              <a:rPr lang="en-US" sz="11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Communication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14984" y="1938528"/>
            <a:ext cx="1947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explaining your work clearly — to a team, a client or an audience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273552" y="1609344"/>
            <a:ext cx="2587752" cy="786384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856" y="17465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3785616" y="1700784"/>
            <a:ext cx="1947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00"/>
              <a:buFont typeface="Poppins SemiBold"/>
              <a:buNone/>
            </a:pPr>
            <a:r>
              <a:rPr lang="en-US" sz="11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Teamwork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785616" y="1938528"/>
            <a:ext cx="1947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being someone people want to work with again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044184" y="1609344"/>
            <a:ext cx="2587752" cy="786384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0488" y="17465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6556248" y="1700784"/>
            <a:ext cx="1947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00"/>
              <a:buFont typeface="Poppins SemiBold"/>
              <a:buNone/>
            </a:pPr>
            <a:r>
              <a:rPr lang="en-US" sz="11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Reliability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556248" y="1938528"/>
            <a:ext cx="1947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delivering what you promised, on the date you promised 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02920" y="2523744"/>
            <a:ext cx="2587752" cy="786384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" y="26609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1014984" y="2615184"/>
            <a:ext cx="1947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00"/>
              <a:buFont typeface="Poppins SemiBold"/>
              <a:buNone/>
            </a:pPr>
            <a:r>
              <a:rPr lang="en-US" sz="11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Problem-solving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014984" y="2852928"/>
            <a:ext cx="1947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working it out when there's no tutorial and no template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273552" y="2523744"/>
            <a:ext cx="2587752" cy="786384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9856" y="26609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3785616" y="2615184"/>
            <a:ext cx="1947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00"/>
              <a:buFont typeface="Poppins SemiBold"/>
              <a:buNone/>
            </a:pPr>
            <a:r>
              <a:rPr lang="en-US" sz="11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Adaptability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785616" y="2852928"/>
            <a:ext cx="1947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coping well when the brief, the kit or the client changes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044184" y="2523744"/>
            <a:ext cx="2587752" cy="786384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0488" y="26609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6556248" y="2615184"/>
            <a:ext cx="1947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00"/>
              <a:buFont typeface="Poppins SemiBold"/>
              <a:buNone/>
            </a:pPr>
            <a:r>
              <a:rPr lang="en-US" sz="11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Initiative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556248" y="2852928"/>
            <a:ext cx="1947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00"/>
              <a:buFont typeface="Poppins"/>
              <a:buNone/>
            </a:pPr>
            <a:r>
              <a:rPr lang="en-US" sz="9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spotting what needs doing without being asked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02920" y="3438144"/>
            <a:ext cx="3931920" cy="859536"/>
          </a:xfrm>
          <a:prstGeom prst="roundRect">
            <a:avLst>
              <a:gd fmla="val 5319" name="adj"/>
            </a:avLst>
          </a:prstGeom>
          <a:solidFill>
            <a:srgbClr val="FDEE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49224" y="3511296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000"/>
              <a:buFont typeface="Poppins SemiBold"/>
              <a:buNone/>
            </a:pPr>
            <a:r>
              <a:rPr lang="en-US" sz="10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Quick audit  </a:t>
            </a: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— which two did placement prove you're strongest at? Which one would your placement supervisor say needs work? Jot all three down.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617720" y="3438144"/>
            <a:ext cx="4023360" cy="859536"/>
          </a:xfrm>
          <a:prstGeom prst="rect">
            <a:avLst/>
          </a:prstGeom>
          <a:solidFill>
            <a:srgbClr val="F8E7E3"/>
          </a:solidFill>
          <a:ln cap="flat" cmpd="sng" w="19050">
            <a:solidFill>
              <a:srgbClr val="B23A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745736" y="3493008"/>
            <a:ext cx="37673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850"/>
              <a:buFont typeface="Poppins SemiBold"/>
              <a:buNone/>
            </a:pPr>
            <a:r>
              <a:rPr lang="en-US" sz="850">
                <a:solidFill>
                  <a:srgbClr val="B23A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ESCG TO CONFIRM   </a:t>
            </a: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Localised for Digital, Media, Film &amp; Computing — inferred, please review. Check with Careers whether your course's employers rank these differently.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502920" y="27432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NAVIGATE · 15 MINUTES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02920" y="475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2400"/>
              <a:buFont typeface="Poppins SemiBold"/>
              <a:buNone/>
            </a:pPr>
            <a:r>
              <a:rPr lang="en-US" sz="2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Skills Assessment — what moved?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7159752" y="310896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F6891E"/>
          </a:solidFill>
          <a:ln cap="flat" cmpd="sng" w="12700">
            <a:solidFill>
              <a:srgbClr val="F68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7159752" y="299923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800"/>
              <a:buFont typeface="Poppins SemiBold"/>
              <a:buNone/>
            </a:pPr>
            <a:r>
              <a:rPr lang="en-US" sz="8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02920" y="485089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00"/>
              <a:buFont typeface="Poppins"/>
              <a:buNone/>
            </a:pPr>
            <a:r>
              <a:rPr lang="en-US" sz="7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MODULE I  ·  PROFESSIONAL BEHAVIOUR &amp; PERSONAL STRENGTHS  ·  L3 YEAR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02920" y="107899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You have a Year 1 baseline. Today's question isn't “what are my skills?” — it's “what moved, and what does that prove?”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02920" y="1517904"/>
            <a:ext cx="3950208" cy="969264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49224" y="1664208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689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49224" y="16550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400"/>
              <a:buFont typeface="Poppins SemiBold"/>
              <a:buNone/>
            </a:pPr>
            <a:r>
              <a:rPr lang="en-US" sz="1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161288" y="1627632"/>
            <a:ext cx="3127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50"/>
              <a:buFont typeface="Poppins SemiBold"/>
              <a:buNone/>
            </a:pPr>
            <a:r>
              <a:rPr lang="en-US" sz="11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 your results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161288" y="1883664"/>
            <a:ext cx="31272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Log in to Navigate and find your Skills Assessment record.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690872" y="1517904"/>
            <a:ext cx="3950208" cy="969264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837176" y="1664208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689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837176" y="16550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400"/>
              <a:buFont typeface="Poppins SemiBold"/>
              <a:buNone/>
            </a:pPr>
            <a:r>
              <a:rPr lang="en-US" sz="1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349240" y="1627632"/>
            <a:ext cx="3127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50"/>
              <a:buFont typeface="Poppins SemiBold"/>
              <a:buNone/>
            </a:pPr>
            <a:r>
              <a:rPr lang="en-US" sz="11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Compare against last year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349240" y="1883664"/>
            <a:ext cx="31272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What moved? What didn't? Placement should show up here — does it?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02920" y="2633472"/>
            <a:ext cx="3950208" cy="969264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49224" y="2779776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689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49224" y="27706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400"/>
              <a:buFont typeface="Poppins SemiBold"/>
              <a:buNone/>
            </a:pPr>
            <a:r>
              <a:rPr lang="en-US" sz="1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161288" y="2743200"/>
            <a:ext cx="3127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50"/>
              <a:buFont typeface="Poppins SemiBold"/>
              <a:buNone/>
            </a:pPr>
            <a:r>
              <a:rPr lang="en-US" sz="11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Pick two things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161288" y="2999232"/>
            <a:ext cx="31272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One strength with a year of evidence behind it — and the one development priority that matters for your applications.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690872" y="2633472"/>
            <a:ext cx="3950208" cy="969264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837176" y="2779776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689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837176" y="27706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400"/>
              <a:buFont typeface="Poppins SemiBold"/>
              <a:buNone/>
            </a:pPr>
            <a:r>
              <a:rPr lang="en-US" sz="1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349240" y="2743200"/>
            <a:ext cx="3127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150"/>
              <a:buFont typeface="Poppins SemiBold"/>
              <a:buNone/>
            </a:pPr>
            <a:r>
              <a:rPr lang="en-US" sz="11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Cross-check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349240" y="2999232"/>
            <a:ext cx="31272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Compare with a partner who knows your work. Does their read match the data?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02920" y="374904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100"/>
              <a:buFont typeface="Poppins"/>
              <a:buNone/>
            </a:pPr>
            <a:r>
              <a:rPr i="1" lang="en-US" sz="1100">
                <a:solidFill>
                  <a:srgbClr val="F6891E"/>
                </a:solidFill>
                <a:latin typeface="Poppins"/>
                <a:ea typeface="Poppins"/>
                <a:cs typeface="Poppins"/>
                <a:sym typeface="Poppins"/>
              </a:rPr>
              <a:t>Movement is the story. A skill that shifted over a year, with placement evidence behind it, is exactly what interviewers ask about.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02920" y="4096512"/>
            <a:ext cx="8138160" cy="749808"/>
          </a:xfrm>
          <a:prstGeom prst="rect">
            <a:avLst/>
          </a:prstGeom>
          <a:solidFill>
            <a:srgbClr val="F8E7E3"/>
          </a:solidFill>
          <a:ln cap="flat" cmpd="sng" w="19050">
            <a:solidFill>
              <a:srgbClr val="B23A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30936" y="4151376"/>
            <a:ext cx="78821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850"/>
              <a:buFont typeface="Poppins SemiBold"/>
              <a:buNone/>
            </a:pPr>
            <a:r>
              <a:rPr lang="en-US" sz="850">
                <a:solidFill>
                  <a:srgbClr val="B23A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ESCG TO CONFIRM   </a:t>
            </a: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Confirm the Year 2 Skills Assessment arrangement for this group — retake versus review of Year 1 results — plus the Navigate route. Check completion status before the session.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>
            <a:off x="502920" y="27432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PERSONAL STRENGTHS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02920" y="475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2400"/>
              <a:buFont typeface="Poppins SemiBold"/>
              <a:buNone/>
            </a:pPr>
            <a:r>
              <a:rPr lang="en-US" sz="2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Claims are free. Evidence is yours.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7159752" y="310896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159752" y="299923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 SemiBold"/>
              <a:buNone/>
            </a:pPr>
            <a:r>
              <a:rPr lang="en-US" sz="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TEACHER INPUT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02920" y="485089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00"/>
              <a:buFont typeface="Poppins"/>
              <a:buNone/>
            </a:pPr>
            <a:r>
              <a:rPr lang="en-US" sz="7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MODULE I  ·  PROFESSIONAL BEHAVIOUR &amp; PERSONAL STRENGTHS  ·  L3 YEAR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02920" y="1170432"/>
            <a:ext cx="3950208" cy="173736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1353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704088" y="1719072"/>
            <a:ext cx="3547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00"/>
              <a:buFont typeface="Poppins Medium"/>
              <a:buNone/>
            </a:pPr>
            <a:r>
              <a:rPr lang="en-US" sz="1300">
                <a:solidFill>
                  <a:srgbClr val="5A6A6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“I’m reliable and hard-working.”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704088" y="2249424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A claim. Every application form says it — it costs nothing, proves nothing, and shortlisters skim straight past it.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690872" y="1170432"/>
            <a:ext cx="3950208" cy="1737360"/>
          </a:xfrm>
          <a:prstGeom prst="roundRect">
            <a:avLst>
              <a:gd fmla="val 3158" name="adj"/>
            </a:avLst>
          </a:prstGeom>
          <a:solidFill>
            <a:srgbClr val="FDEEDC"/>
          </a:solidFill>
          <a:ln cap="flat" cmpd="sng" w="15875">
            <a:solidFill>
              <a:srgbClr val="F6891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353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"/>
          <p:cNvSpPr/>
          <p:nvPr/>
        </p:nvSpPr>
        <p:spPr>
          <a:xfrm>
            <a:off x="4892040" y="1700784"/>
            <a:ext cx="35478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050"/>
              <a:buFont typeface="Poppins Medium"/>
              <a:buNone/>
            </a:pPr>
            <a:r>
              <a:rPr lang="en-US" sz="1050">
                <a:solidFill>
                  <a:srgbClr val="0D2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“On placement I fixed a file nobody else could open — then wrote a one-page guide so the next person could do it without me.”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892040" y="2542032"/>
            <a:ext cx="3547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Evidence. Specific, checkable, memorable — and only you can say it.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02920" y="30906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0D243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02920" y="3081528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SITUATION        →        WHAT YOU ACTUALLY DO        →        WHAT IT SHOWS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02920" y="3712464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You have a year the Year 1s don't: placement, briefs you delivered, part-time work, everything you made or fixed. Mine all of 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502920" y="27432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DELIVERABLE · 10 MINUTES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02920" y="475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2400"/>
              <a:buFont typeface="Poppins SemiBold"/>
              <a:buNone/>
            </a:pPr>
            <a:r>
              <a:rPr lang="en-US" sz="2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Three strengths, application-ready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159752" y="310896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F6891E"/>
          </a:solidFill>
          <a:ln cap="flat" cmpd="sng" w="12700">
            <a:solidFill>
              <a:srgbClr val="F68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7159752" y="299923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800"/>
              <a:buFont typeface="Poppins SemiBold"/>
              <a:buNone/>
            </a:pPr>
            <a:r>
              <a:rPr lang="en-US" sz="8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02920" y="485089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00"/>
              <a:buFont typeface="Poppins"/>
              <a:buNone/>
            </a:pPr>
            <a:r>
              <a:rPr lang="en-US" sz="7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MODULE I  ·  PROFESSIONAL BEHAVIOUR &amp; PERSONAL STRENGTHS  ·  L3 YEAR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Not a worksheet. These are your interview answers and application paragraphs, in draft.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02920" y="1463040"/>
            <a:ext cx="8138160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30936" y="1581912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43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30936" y="15727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088136" y="1536192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050"/>
              <a:buFont typeface="Poppins SemiBold"/>
              <a:buNone/>
            </a:pPr>
            <a:r>
              <a:rPr lang="en-US" sz="10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Choose three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088136" y="1746504"/>
            <a:ext cx="7406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Draw on placement and the whole of last year. Pick the three with the strongest evidence — the ones a referee would recognise.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502920" y="2121408"/>
            <a:ext cx="8138160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30936" y="2240280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43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30936" y="223113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088136" y="2194560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050"/>
              <a:buFont typeface="Poppins SemiBold"/>
              <a:buNone/>
            </a:pPr>
            <a:r>
              <a:rPr lang="en-US" sz="10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Draft each as an evidenced statement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88136" y="2404872"/>
            <a:ext cx="7406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Situation → what you actually do → what it shows. Placement evidence first where you have it.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02920" y="2779776"/>
            <a:ext cx="8138160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30936" y="2898648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43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30936" y="28895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088136" y="2852928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050"/>
              <a:buFont typeface="Poppins SemiBold"/>
              <a:buNone/>
            </a:pPr>
            <a:r>
              <a:rPr lang="en-US" sz="10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 on a partner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1088136" y="3063240"/>
            <a:ext cx="7406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Their only job is to ask “what’s your evidence?” until they believe you — then ask the interview follow-up: “what happened next?”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502920" y="3438144"/>
            <a:ext cx="8138160" cy="566928"/>
          </a:xfrm>
          <a:prstGeom prst="roundRect">
            <a:avLst>
              <a:gd fmla="val 8065" name="adj"/>
            </a:avLst>
          </a:prstGeom>
          <a:solidFill>
            <a:srgbClr val="FDEEDC"/>
          </a:solidFill>
          <a:ln cap="flat" cmpd="sng" w="12700">
            <a:solidFill>
              <a:srgbClr val="F68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30936" y="3557016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43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30936" y="35478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SemiBold"/>
              <a:buNone/>
            </a:pPr>
            <a:r>
              <a:rPr lang="en-US" sz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088136" y="3511296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050"/>
              <a:buFont typeface="Poppins SemiBold"/>
              <a:buNone/>
            </a:pPr>
            <a:r>
              <a:rPr lang="en-US" sz="105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Refine — then update Navigate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1088136" y="3721608"/>
            <a:ext cx="7406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950"/>
              <a:buFont typeface="Poppins"/>
              <a:buNone/>
            </a:pP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Replace last year's versions. These go into live applications this term.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02920" y="415137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050"/>
              <a:buFont typeface="Poppins"/>
              <a:buNone/>
            </a:pPr>
            <a:r>
              <a:rPr i="1" lang="en-US" sz="1050">
                <a:solidFill>
                  <a:srgbClr val="F6891E"/>
                </a:solidFill>
                <a:latin typeface="Poppins"/>
                <a:ea typeface="Poppins"/>
                <a:cs typeface="Poppins"/>
                <a:sym typeface="Poppins"/>
              </a:rPr>
              <a:t>Write them like they'll be read by the person deciding whether to interview you — because this year, they will be.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/>
          <p:nvPr/>
        </p:nvSpPr>
        <p:spPr>
          <a:xfrm>
            <a:off x="502920" y="27432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COMMITMENT · 5 MINUTES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02920" y="475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2400"/>
              <a:buFont typeface="Poppins SemiBold"/>
              <a:buNone/>
            </a:pPr>
            <a:r>
              <a:rPr lang="en-US" sz="24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One thing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7159752" y="310896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F6891E"/>
          </a:solidFill>
          <a:ln cap="flat" cmpd="sng" w="12700">
            <a:solidFill>
              <a:srgbClr val="F68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7159752" y="299923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800"/>
              <a:buFont typeface="Poppins SemiBold"/>
              <a:buNone/>
            </a:pPr>
            <a:r>
              <a:rPr lang="en-US" sz="8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502920" y="485089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00"/>
              <a:buFont typeface="Poppins"/>
              <a:buNone/>
            </a:pPr>
            <a:r>
              <a:rPr lang="en-US" sz="70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MODULE I  ·  PROFESSIONAL BEHAVIOUR &amp; PERSONAL STRENGTHS  ·  L3 YEAR 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502920" y="107899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Pick one. Write it down, make it specific, hand it in. Your tutor keeps the cards — and will ask you how it went.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02920" y="1481328"/>
            <a:ext cx="8138160" cy="2999232"/>
          </a:xfrm>
          <a:prstGeom prst="roundRect">
            <a:avLst>
              <a:gd fmla="val 2134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777240" y="1664208"/>
            <a:ext cx="7589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1100"/>
              <a:buFont typeface="Poppins SemiBold"/>
              <a:buNone/>
            </a:pPr>
            <a:r>
              <a:rPr lang="en-US" sz="110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THIS WEEK, I WILL…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777240" y="2048256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FBFBF8"/>
          </a:solidFill>
          <a:ln cap="flat" cmpd="sng" w="15875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1197864" y="1993392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Act on my applications-critical development priority — one concrete step, named.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777240" y="2523744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FBFBF8"/>
          </a:solidFill>
          <a:ln cap="flat" cmpd="sng" w="15875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197864" y="2468880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Use one of my three statements in something live — an application, my Navigate CV, an interview prep answer.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777240" y="2999232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FBFBF8"/>
          </a:solidFill>
          <a:ln cap="flat" cmpd="sng" w="15875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197864" y="2944368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Reset the professional habit that slipped over summer — name it, and name where.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777240" y="3474720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FBFBF8"/>
          </a:solidFill>
          <a:ln cap="flat" cmpd="sng" w="15875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197864" y="3419856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Tell someone about something that's making it hard to show up.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777240" y="3968496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Poppins"/>
              <a:buNone/>
            </a:pPr>
            <a:r>
              <a:rPr i="1" lang="en-US" sz="1050">
                <a:solidFill>
                  <a:srgbClr val="5A6A6F"/>
                </a:solidFill>
                <a:latin typeface="Poppins"/>
                <a:ea typeface="Poppins"/>
                <a:cs typeface="Poppins"/>
                <a:sym typeface="Poppins"/>
              </a:rPr>
              <a:t>Small and done beats impressive and imaginary.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434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ts val="1100"/>
              <a:buFont typeface="Poppins SemiBold"/>
              <a:buNone/>
            </a:pPr>
            <a:r>
              <a:rPr lang="en-US" sz="1100">
                <a:solidFill>
                  <a:srgbClr val="FFCF0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WHERE THIS GOES NEXT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0515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/>
          <p:nvPr/>
        </p:nvSpPr>
        <p:spPr>
          <a:xfrm>
            <a:off x="996696" y="1005840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Poppins SemiBold"/>
              <a:buNone/>
            </a:pPr>
            <a:r>
              <a:rPr lang="en-US" sz="14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Navigate record is application-ready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996696" y="1316736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2D6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C9D2D6"/>
                </a:solidFill>
                <a:latin typeface="Poppins"/>
                <a:ea typeface="Poppins"/>
                <a:cs typeface="Poppins"/>
                <a:sym typeface="Poppins"/>
              </a:rPr>
              <a:t>Skills Assessment, updated strengths, Digital CV — a year of evidence, organised. Keep it current as applications open.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0391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3"/>
          <p:cNvSpPr/>
          <p:nvPr/>
        </p:nvSpPr>
        <p:spPr>
          <a:xfrm>
            <a:off x="996696" y="199339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Poppins SemiBold"/>
              <a:buNone/>
            </a:pPr>
            <a:r>
              <a:rPr lang="en-US" sz="14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Placements and applications run together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996696" y="2304288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2D6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C9D2D6"/>
                </a:solidFill>
                <a:latin typeface="Poppins"/>
                <a:ea typeface="Poppins"/>
                <a:cs typeface="Poppins"/>
                <a:sym typeface="Poppins"/>
              </a:rPr>
              <a:t>Module J territory — this year's work experience is also this year's evidence and referees.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0266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996696" y="2980944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Poppins SemiBold"/>
              <a:buNone/>
            </a:pPr>
            <a:r>
              <a:rPr lang="en-US" sz="14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last lap counts double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96696" y="3291840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2D6"/>
              </a:buClr>
              <a:buSzPts val="1100"/>
              <a:buFont typeface="Poppins"/>
              <a:buNone/>
            </a:pPr>
            <a:r>
              <a:rPr lang="en-US" sz="1100">
                <a:solidFill>
                  <a:srgbClr val="C9D2D6"/>
                </a:solidFill>
                <a:latin typeface="Poppins"/>
                <a:ea typeface="Poppins"/>
                <a:cs typeface="Poppins"/>
                <a:sym typeface="Poppins"/>
              </a:rPr>
              <a:t>Same standard, same habits — in the term referees and interviewers actually see.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02920" y="4041648"/>
            <a:ext cx="8138160" cy="676656"/>
          </a:xfrm>
          <a:prstGeom prst="rect">
            <a:avLst/>
          </a:prstGeom>
          <a:solidFill>
            <a:srgbClr val="F8E7E3"/>
          </a:solidFill>
          <a:ln cap="flat" cmpd="sng" w="19050">
            <a:solidFill>
              <a:srgbClr val="B23A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30936" y="4096512"/>
            <a:ext cx="78821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850"/>
              <a:buFont typeface="Poppins SemiBold"/>
              <a:buNone/>
            </a:pPr>
            <a:r>
              <a:rPr lang="en-US" sz="850">
                <a:solidFill>
                  <a:srgbClr val="B23A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ESCG TO CONFIRM   </a:t>
            </a:r>
            <a:r>
              <a:rPr lang="en-US" sz="9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Insert the Careers Team drop-in details, the placement coordinator, and this course's key application windows (apprenticeship/HE deadlines). Confirm before delivery.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/>
          <p:nvPr/>
        </p:nvSpPr>
        <p:spPr>
          <a:xfrm>
            <a:off x="502920" y="256032"/>
            <a:ext cx="3108960" cy="310896"/>
          </a:xfrm>
          <a:prstGeom prst="roundRect">
            <a:avLst>
              <a:gd fmla="val 50000" name="adj"/>
            </a:avLst>
          </a:prstGeom>
          <a:solidFill>
            <a:srgbClr val="B23A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502920" y="24688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Poppins SemiBold"/>
              <a:buNone/>
            </a:pPr>
            <a:r>
              <a:rPr lang="en-US" sz="9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 NOT DISPLAY TO STUDENTS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3794760" y="256032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1300"/>
              <a:buFont typeface="Poppins SemiBold"/>
              <a:buNone/>
            </a:pPr>
            <a:r>
              <a:rPr lang="en-US" sz="13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Teacher appendix — Module I · L3 Year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502920" y="749808"/>
            <a:ext cx="3794760" cy="4114800"/>
          </a:xfrm>
          <a:prstGeom prst="roundRect">
            <a:avLst>
              <a:gd fmla="val 1205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667512" y="859536"/>
            <a:ext cx="3465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50"/>
              <a:buFont typeface="Poppins SemiBold"/>
              <a:buNone/>
            </a:pPr>
            <a:r>
              <a:rPr lang="en-US" sz="95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RUNNING ORDER · 90 MINUTES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667512" y="1152144"/>
            <a:ext cx="658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00–10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1371600" y="1152144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50"/>
              <a:buFont typeface="Poppins"/>
              <a:buNone/>
            </a:pPr>
            <a:r>
              <a:rPr lang="en-US" sz="8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Settling discussion — Year 2, week three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667512" y="1591056"/>
            <a:ext cx="658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10–25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1371600" y="1591056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50"/>
              <a:buFont typeface="Poppins"/>
              <a:buNone/>
            </a:pPr>
            <a:r>
              <a:rPr lang="en-US" sz="8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The standard didn't reset (+ PROUD: Show Respect)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667512" y="2029968"/>
            <a:ext cx="658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25–35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1371600" y="2029968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50"/>
              <a:buFont typeface="Poppins"/>
              <a:buNone/>
            </a:pPr>
            <a:r>
              <a:rPr lang="en-US" sz="8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Your reference goes live this year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667512" y="2468880"/>
            <a:ext cx="658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35–50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1371600" y="2468880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50"/>
              <a:buFont typeface="Poppins"/>
              <a:buNone/>
            </a:pPr>
            <a:r>
              <a:rPr lang="en-US" sz="8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Human skills + placement-anchored self-audit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667512" y="2907792"/>
            <a:ext cx="658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50–65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1371600" y="2907792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50"/>
              <a:buFont typeface="Poppins"/>
              <a:buNone/>
            </a:pPr>
            <a:r>
              <a:rPr lang="en-US" sz="8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Skills Assessment — what moved?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67512" y="3346704"/>
            <a:ext cx="658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65–75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371600" y="3346704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50"/>
              <a:buFont typeface="Poppins"/>
              <a:buNone/>
            </a:pPr>
            <a:r>
              <a:rPr lang="en-US" sz="8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Claims versus evidence — sharper bar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667512" y="3785616"/>
            <a:ext cx="658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75–85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1371600" y="3785616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50"/>
              <a:buFont typeface="Poppins"/>
              <a:buNone/>
            </a:pPr>
            <a:r>
              <a:rPr lang="en-US" sz="8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Three strengths, application-ready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667512" y="4224528"/>
            <a:ext cx="658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434"/>
              </a:buClr>
              <a:buSzPts val="900"/>
              <a:buFont typeface="Poppins SemiBold"/>
              <a:buNone/>
            </a:pPr>
            <a:r>
              <a:rPr lang="en-US" sz="900">
                <a:solidFill>
                  <a:srgbClr val="0D24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85–90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371600" y="4224528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50"/>
              <a:buFont typeface="Poppins"/>
              <a:buNone/>
            </a:pPr>
            <a:r>
              <a:rPr lang="en-US" sz="8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One thing — cards collected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526280" y="749808"/>
            <a:ext cx="4114800" cy="1481328"/>
          </a:xfrm>
          <a:prstGeom prst="roundRect">
            <a:avLst>
              <a:gd fmla="val 3086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690872" y="841248"/>
            <a:ext cx="3785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50"/>
              <a:buFont typeface="Poppins SemiBold"/>
              <a:buNone/>
            </a:pPr>
            <a:r>
              <a:rPr lang="en-US" sz="95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TEACHING THIS GROUP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690872" y="1060704"/>
            <a:ext cx="378561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00"/>
              <a:buFont typeface="Poppins"/>
              <a:buNone/>
            </a:pPr>
            <a:r>
              <a:rPr lang="en-US" sz="8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L3 Year 2 Digital, Media, Film &amp; Computing — returners who did the Year 1 module and, for most, a placement. Do not re-teach; everything is re-pointed at deployment. Year 2 here is dominated by one large piece of work — a final major project, a games or film project sequence, or a T Level occupational specialism project — so 'application-ready' competes with it. Name that honestly. Destinations are unusually concrete in this department (junior content producer, digital video editor, SOC analyst, animator, plus BA routes at UCH Hastings); use them. Watch for summer drift laughed off, and for the student whose placement went badly — that conversation needs care, not comedy.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4526280" y="2359152"/>
            <a:ext cx="4114800" cy="1481328"/>
          </a:xfrm>
          <a:prstGeom prst="roundRect">
            <a:avLst>
              <a:gd fmla="val 3086" name="adj"/>
            </a:avLst>
          </a:prstGeom>
          <a:solidFill>
            <a:srgbClr val="FFFFFF"/>
          </a:solidFill>
          <a:ln cap="flat" cmpd="sng" w="12700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4690872" y="2450592"/>
            <a:ext cx="3785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891E"/>
              </a:buClr>
              <a:buSzPts val="950"/>
              <a:buFont typeface="Poppins SemiBold"/>
              <a:buNone/>
            </a:pPr>
            <a:r>
              <a:rPr lang="en-US" sz="950">
                <a:solidFill>
                  <a:srgbClr val="F6891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PRE-FLIGHT CHECKLIST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690872" y="2670048"/>
            <a:ext cx="378561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00"/>
              <a:buFont typeface="Poppins"/>
              <a:buChar char="•"/>
            </a:pPr>
            <a:r>
              <a:rPr lang="en-US" sz="8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Year 2 Skills Assessment arrangement confirmed (retake vs review) and Navigate route tested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2A30"/>
              </a:buClr>
              <a:buSzPts val="800"/>
              <a:buFont typeface="Poppins"/>
              <a:buChar char="•"/>
            </a:pPr>
            <a:r>
              <a:rPr lang="en-US" sz="8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Application windows confirmed (slide 11) — apprenticeship, UCAS and UCH Hastings deadlines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2A30"/>
              </a:buClr>
              <a:buSzPts val="800"/>
              <a:buFont typeface="Poppins"/>
              <a:buChar char="•"/>
            </a:pPr>
            <a:r>
              <a:rPr lang="en-US" sz="8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Slide 6 skills list localised for digital/creative — check with Careers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2A30"/>
              </a:buClr>
              <a:buSzPts val="800"/>
              <a:buFont typeface="Poppins"/>
              <a:buChar char="•"/>
            </a:pPr>
            <a:r>
              <a:rPr lang="en-US" sz="8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Contacts inserted: attendance/barriers (slide 5), Careers &amp; placement (slide 11)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2A30"/>
              </a:buClr>
              <a:buSzPts val="800"/>
              <a:buFont typeface="Poppins"/>
              <a:buChar char="•"/>
            </a:pPr>
            <a:r>
              <a:rPr lang="en-US" sz="80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Commitment cards printed; follow-up plan agreed with the tutor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4526280" y="3968496"/>
            <a:ext cx="4114800" cy="896112"/>
          </a:xfrm>
          <a:prstGeom prst="roundRect">
            <a:avLst>
              <a:gd fmla="val 5102" name="adj"/>
            </a:avLst>
          </a:prstGeom>
          <a:solidFill>
            <a:srgbClr val="F8E7E3"/>
          </a:solidFill>
          <a:ln cap="flat" cmpd="sng" w="15875">
            <a:solidFill>
              <a:srgbClr val="B2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6" name="Google Shape;3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2584" y="4096512"/>
            <a:ext cx="237744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4"/>
          <p:cNvSpPr/>
          <p:nvPr/>
        </p:nvSpPr>
        <p:spPr>
          <a:xfrm>
            <a:off x="4983480" y="40782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950"/>
              <a:buFont typeface="Poppins SemiBold"/>
              <a:buNone/>
            </a:pPr>
            <a:r>
              <a:rPr lang="en-US" sz="950">
                <a:solidFill>
                  <a:srgbClr val="B23A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SAFEGUARDING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690872" y="4297680"/>
            <a:ext cx="37856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750"/>
              <a:buFont typeface="Poppins"/>
              <a:buNone/>
            </a:pPr>
            <a:r>
              <a:rPr lang="en-US" sz="750">
                <a:solidFill>
                  <a:srgbClr val="1B2A30"/>
                </a:solidFill>
                <a:latin typeface="Poppins"/>
                <a:ea typeface="Poppins"/>
                <a:cs typeface="Poppins"/>
                <a:sym typeface="Poppins"/>
              </a:rPr>
              <a:t>Likely surface points: the 'tell someone early' beat (slide 5), commitment option 4, and application-pressure disclosures. A placement that went badly can surface here too. Listen calmly. Don't promise secrecy. Don't investigate. Report same-day via the ESCG safeguarding route. Full procedure lives in Module F — signpost only.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