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12192000"/>
  <p:embeddedFontLst>
    <p:embeddedFont>
      <p:font typeface="Poppins"/>
      <p:regular r:id="rId17"/>
      <p:bold r:id="rId18"/>
      <p:italic r:id="rId19"/>
      <p:boldItalic r:id="rId20"/>
    </p:embeddedFont>
    <p:embeddedFont>
      <p:font typeface="Poppins Medium"/>
      <p:regular r:id="rId21"/>
      <p:bold r:id="rId22"/>
      <p:italic r:id="rId23"/>
      <p:boldItalic r:id="rId24"/>
    </p:embeddedFont>
    <p:embeddedFont>
      <p:font typeface="Poppins SemiBold"/>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oppins-boldItalic.fntdata"/><Relationship Id="rId22" Type="http://schemas.openxmlformats.org/officeDocument/2006/relationships/font" Target="fonts/PoppinsMedium-bold.fntdata"/><Relationship Id="rId21" Type="http://schemas.openxmlformats.org/officeDocument/2006/relationships/font" Target="fonts/PoppinsMedium-regular.fntdata"/><Relationship Id="rId24" Type="http://schemas.openxmlformats.org/officeDocument/2006/relationships/font" Target="fonts/PoppinsMedium-boldItalic.fntdata"/><Relationship Id="rId23" Type="http://schemas.openxmlformats.org/officeDocument/2006/relationships/font" Target="fonts/PoppinsMedium-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oppinsSemiBold-bold.fntdata"/><Relationship Id="rId25" Type="http://schemas.openxmlformats.org/officeDocument/2006/relationships/font" Target="fonts/PoppinsSemiBold-regular.fntdata"/><Relationship Id="rId28" Type="http://schemas.openxmlformats.org/officeDocument/2006/relationships/font" Target="fonts/PoppinsSemiBold-boldItalic.fntdata"/><Relationship Id="rId27" Type="http://schemas.openxmlformats.org/officeDocument/2006/relationships/font" Target="fonts/PoppinsSemi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Poppins-regular.fntdata"/><Relationship Id="rId16" Type="http://schemas.openxmlformats.org/officeDocument/2006/relationships/slide" Target="slides/slide12.xml"/><Relationship Id="rId19" Type="http://schemas.openxmlformats.org/officeDocument/2006/relationships/font" Target="fonts/Poppins-italic.fntdata"/><Relationship Id="rId18" Type="http://schemas.openxmlformats.org/officeDocument/2006/relationships/font" Target="fonts/Poppi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90 minutes. The final induction session these students will ever sit through — and they know it, so the deck earns its place by being useful, not ceremonial. PURPOSE: three jobs — put real dates on the map (the application cycle is live this term), convert two years of Navigate evidence into application material, and get one dated goal on paper with margin built in. TONE: brisk, peer-to-peer, respectful of what they already know. Nothing in this deck re-teaches Year 1 content; everything re-points it. The emotional register to manage: urgency without panic — the antidote to both is margin (‘early beats on-time’ said calmly, often). CRITICAL: confirm every date on slides 4 and 8 before delivery. SAY SOMETHING LIKE: ‘Last induction session of your life. Ninety minutes, one output: a plan for the year that decides where you go next.’</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1–2 minutes. Walk it fast — they know the format. The item to flag is 2: ‘the map has dates on it this year, and some of them are closer than you think.’ SAY SOMETHING LIKE: ‘You’ve done ten of these sessions. This is the last one, and it’s the one with deadlines in it. Let’s go.’</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 name="Google Shape;73;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 5 in pairs, 5 harvesting. MODE: discussion. PURPOSE: the settled discussion re-pointed at returners — last September is admissible evidence, and the first prompt mines it deliberately: what worked, and what quietly cost them by June. This surfaces the exact habits the goals work needs to fix. HOW: pairs only, fast; harvest question 3 on the board, no names. Listen during prompt 1 for the honest confessions — ‘I coasted till Christmas’ is gold, name it (anonymously) when you set up the horizons activity. WATCH FOR: bravado (‘I’ll be fine, I was fine last year’) — last year had no application cycle in it; note who says it. SAFEGUARDING: flat dread about the year ahead, this early, is worth a quiet tutor flag. SAY SOMETHING LIKE: ‘You’ve got something Year 1s don’t — evidence. Use it: what did last September teach you, the easy way or the hard way?’</a:t>
            </a:r>
            <a:endParaRPr/>
          </a:p>
        </p:txBody>
      </p:sp>
      <p:sp>
        <p:nvSpPr>
          <p:cNvPr id="74" name="Google Shape;74;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4" name="Google Shape;9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minutes. MODE: teacher input. PURPOSE: the progression map re-pointed — they know the five routes; what they do not have is the calendar. Four milestone cards: autumn groundwork, the January UCAS wall, rolling apprenticeship windows (strongest close early — say it twice), and results day as the thing every deadline exists to protect. FILL THE CONFIRM BLOCK FIRST: exact UCAS equal-consideration date, early deadlines (mid-October for Oxbridge, medicine, dentistry, veterinary), and internal ESCG deadlines for references and predicted grades — internal deadlines are always earlier than students assume, which is precisely the trap. HOW: walk the cards left to right, then land the reframe on card four: the application is the easy half; the grades are the year. WATCH FOR: the university-by-default drift — the rolling card is where degree apprenticeships live; give it equal air time. And the student with no route at all: their October job is research plus a Careers booking, which is a perfectly good goal for slide 10. SAY SOMETHING LIKE: ‘Nothing on this slide is a surprise. The dates are the surprise — they’re closer than they look, and the internal ones are closer still.’</a:t>
            </a:r>
            <a:endParaRPr/>
          </a:p>
        </p:txBody>
      </p:sp>
      <p:sp>
        <p:nvSpPr>
          <p:cNvPr id="95" name="Google Shape;95;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teacher input. PURPOSE: Navigate re-pointed from ‘build the record’ to ‘use the record’ — two years of evidence becomes statements, applications and references this term. The verb is audit: this week, find the gaps while they are still fixable. HOW: be concrete about the mechanism — references and predicted grades get written this term, from what is on record, by staff who teach two hundred students; the record is the memory. Set the audit as actual homework and tell them tutors will follow it up (agree that with tutors beforehand — pre-flight list). WATCH FOR: the Year 1 coaster whose record is thin — the message is recovery, not shame: October evidence still counts everywhere; January evidence counts almost nowhere. SAY SOMETHING LIKE: ‘Everything you logged — or didn’t — in Year 1 gets read this term. Audit it this week, while the gaps are still yours to fix.’</a:t>
            </a:r>
            <a:endParaRPr/>
          </a:p>
        </p:txBody>
      </p:sp>
      <p:sp>
        <p:nvSpPr>
          <p:cNvPr id="127" name="Google Shape;12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2" name="Google Shape;15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teacher input with a paired check. PURPOSE: the aspiration/goal distinction, upgraded for the cycle — the aspiration that was fine last year is dangerous this year because ‘next year’ is now a set of real dates. The fourth check changes accordingly: margin. Early beats on-time; on-time is the new late — because references, predictions and redrafts all consume calendar the student does not control. HOW: walk the transform, then the pair check: one application aspiration each; partner asks ‘what date does that answer to, and what happens this week?’ WATCH FOR: goals with no margin — ‘submitted by the deadline’ is a plan to be late; push everything back a step. And grade-goals with no behaviour attached — ‘get the grades’ is an outcome, not a goal; ask what changes on Monday. SAY SOMETHING LIKE: ‘Last year, vague was cheap. This year, vague has a price and the price is January. Date everything, and date it early.’</a:t>
            </a:r>
            <a:endParaRPr/>
          </a:p>
        </p:txBody>
      </p:sp>
      <p:sp>
        <p:nvSpPr>
          <p:cNvPr id="153" name="Google Shape;15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9" name="Google Shape;16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15 minutes — 2 set-up, 8 solo drafting, 5 partner testing. MODE: activity. PURPOSE: three horizons re-pointed at the cycle — half-term groundwork, January submissions, results day — drafted backwards from results day because the grades decide everything and the calendar exists to protect the time they need. HOW: silence for the solo draft. When you set it up, use the harvest from slide 3 — ‘several of you said last year’s mistake was coasting till Christmas; this is where that gets fixed on paper.’ Partners test with the four checks, with special attention to margin. WATCH FOR: horizon two collapsing into ‘do my applications’ — push for specifics: which applications, submitted by when, drafted by when before that. And the routeless student — their half-term horizon is research plus a Careers booking; legitimate and say so. FEEDS FORWARD: strongest draft becomes the card; all three feed the ILP, and this year the ILP gets checked against real dates — tell them. SAY SOMETHING LIKE: ‘Start at results day. Everything else on the page is just protecting the time those grades need.’</a:t>
            </a:r>
            <a:endParaRPr/>
          </a:p>
        </p:txBody>
      </p:sp>
      <p:sp>
        <p:nvSpPr>
          <p:cNvPr id="170" name="Google Shape;17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straight. PURPOSE: the course-fit beat re-pointed for a cohort that cannot change course — but can still change destination, and cheaply, this term. The two cards triage shaky (pressure wobble — support conversation) from wrong (destination change — Careers conversation, this week, before applications lock the route in). The mustard line carries the whole slide: destination changeable, year not recoverable. HOW: deliver without drama. Name the pressure as normal — Year 2 autumn is the heaviest term most of them will have had — and route both cards somewhere concrete. FILL THE CONFIRM BLOCK: Careers booking route and any internal deadline for changing application plans; references and predictions have schedules students never see. WATCH FOR: the quiet ones during this slide, and anyone whose slide 3 answers were flat — public slide, private word after. SAFEGUARDING: ‘the route is wrong’ sometimes means family expectation load — a student applying to please someone else. That is a Careers conversation and possibly a tutor one; if it shades into distress, same-day safeguarding route, no secrecy promises. SAY SOMETHING LIKE: ‘Nobody here changes course. But where the course points — that’s still yours, and changing it costs a conversation now or a year later.’</a:t>
            </a:r>
            <a:endParaRPr/>
          </a:p>
        </p:txBody>
      </p:sp>
      <p:sp>
        <p:nvSpPr>
          <p:cNvPr id="198" name="Google Shape;198;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10 minutes. MODE: discussion. PURPOSE: close induction for the last time — fast recap by group (one sentence each, re-pointed: these systems matter more in a pressure year, not less), parked questions settled in public with owners and dates, and the three contacts — with the Careers booking urgency named: autumn is their busiest term, book early. HOW: the deadline discipline is the meta-lesson — final year runs on deadlines, so model it: every unanswered question gets an owner and a date, out loud. WATCH FOR: questions that are really disclosures about load or money — answer generally, follow up privately. SAY SOMETHING LIKE: ‘Last recap you’ll ever get. Three contacts outlive it — and the Careers one has a queue, so book this week, not in November.’</a:t>
            </a:r>
            <a:endParaRPr/>
          </a:p>
        </p:txBody>
      </p:sp>
      <p:sp>
        <p:nvSpPr>
          <p:cNvPr id="219" name="Google Shape;21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2" name="Google Shape;252;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8 minutes writing, 2 collecting. MODE: activity — the constant, one last time. PURPOSE: one dated application goal, kept by the tutor, feeding an ILP that gets checked against real dates this year — tell them both things. Most students upgrade option 1 with their strongest horizons draft. Option 2 (the audit) is the honest choice for anyone whose record is thin — frame it as recovery, not remediation. OPTION 4 IS THE DISCLOSURE ROUTE, re-pointed at overwhelm: ‘worried about this year’ in a Year 2 September is more likely load, sleep, family expectation or money than course doubt. Same-day conversation, quietly, ideally before they go home; triage between pressure-normal (tutor support, plan adjustment) and something heavier — anything heavier goes same-day via the ESCG safeguarding route, no promises of secrecy, no investigating. FOLLOW-UP: cards return in tutorial within two weeks, checked against the calendar. SAY SOMETHING LIKE: ‘Last card of your induction career. Make it one with a date on it — and margin.’</a:t>
            </a:r>
            <a:endParaRPr/>
          </a:p>
        </p:txBody>
      </p:sp>
      <p:sp>
        <p:nvSpPr>
          <p:cNvPr id="253" name="Google Shape;253;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8" name="Google Shape;278;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TIMING: 2 minutes. Land it and release them — nothing after this slide. PURPOSE: close the programme for the last time. PROUD anchor: Seek Opportunity — named once; for this cohort it points at the applications themselves: the strongest vacancies and places go to the people who move early. The register is the last-lap one: no pleading, no inspiration-poster material — just the plain fact that they have done the setup and the year now runs on protecting it. SAY SOMETHING LIKE: ‘Two years ago someone told you Level 3 opens doors. This is the term the doors actually open — briefly, on a schedule. You’ve got the plan in your own handwriting. Don’t fumble the last lap.’</a:t>
            </a:r>
            <a:endParaRPr/>
          </a:p>
        </p:txBody>
      </p:sp>
      <p:sp>
        <p:nvSpPr>
          <p:cNvPr id="279" name="Google Shape;279;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8" name="Google Shape;2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Teacher appendix — not for student display. Full safeguarding procedure lives in Module F; this module signposts only.</a:t>
            </a:r>
            <a:endParaRPr/>
          </a:p>
        </p:txBody>
      </p:sp>
      <p:sp>
        <p:nvSpPr>
          <p:cNvPr id="289" name="Google Shape;2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15" name="Shape 15"/>
        <p:cNvGrpSpPr/>
        <p:nvPr/>
      </p:nvGrpSpPr>
      <p:grpSpPr>
        <a:xfrm>
          <a:off x="0" y="0"/>
          <a:ext cx="0" cy="0"/>
          <a:chOff x="0" y="0"/>
          <a:chExt cx="0" cy="0"/>
        </a:xfrm>
      </p:grpSpPr>
      <p:pic>
        <p:nvPicPr>
          <p:cNvPr descr="preencoded.png" id="16" name="Google Shape;16;p3"/>
          <p:cNvPicPr preferRelativeResize="0"/>
          <p:nvPr/>
        </p:nvPicPr>
        <p:blipFill rotWithShape="1">
          <a:blip r:embed="rId3">
            <a:alphaModFix amt="75000"/>
          </a:blip>
          <a:srcRect b="0" l="0" r="0" t="0"/>
          <a:stretch/>
        </p:blipFill>
        <p:spPr>
          <a:xfrm>
            <a:off x="9646920" y="777240"/>
            <a:ext cx="1417320" cy="1417320"/>
          </a:xfrm>
          <a:prstGeom prst="rect">
            <a:avLst/>
          </a:prstGeom>
          <a:noFill/>
          <a:ln>
            <a:noFill/>
          </a:ln>
        </p:spPr>
      </p:pic>
      <p:sp>
        <p:nvSpPr>
          <p:cNvPr id="17" name="Google Shape;17;p3"/>
          <p:cNvSpPr/>
          <p:nvPr/>
        </p:nvSpPr>
        <p:spPr>
          <a:xfrm>
            <a:off x="777240" y="187452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300"/>
              <a:buFont typeface="Poppins SemiBold"/>
              <a:buNone/>
            </a:pPr>
            <a:r>
              <a:rPr b="0" i="0" lang="en-US" sz="1300" u="none" cap="none" strike="noStrike">
                <a:solidFill>
                  <a:srgbClr val="FFCF01"/>
                </a:solidFill>
                <a:latin typeface="Poppins SemiBold"/>
                <a:ea typeface="Poppins SemiBold"/>
                <a:cs typeface="Poppins SemiBold"/>
                <a:sym typeface="Poppins SemiBold"/>
              </a:rPr>
              <a:t>STUDENT INDUCTION 2026–27  ·  MODULE K</a:t>
            </a:r>
            <a:endParaRPr b="0" i="0" sz="1300" u="none" cap="none" strike="noStrike">
              <a:solidFill>
                <a:schemeClr val="dk1"/>
              </a:solidFill>
              <a:latin typeface="Calibri"/>
              <a:ea typeface="Calibri"/>
              <a:cs typeface="Calibri"/>
              <a:sym typeface="Calibri"/>
            </a:endParaRPr>
          </a:p>
        </p:txBody>
      </p:sp>
      <p:sp>
        <p:nvSpPr>
          <p:cNvPr id="18" name="Google Shape;18;p3"/>
          <p:cNvSpPr/>
          <p:nvPr/>
        </p:nvSpPr>
        <p:spPr>
          <a:xfrm>
            <a:off x="777240" y="2286000"/>
            <a:ext cx="10607040" cy="18288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FFFFFF"/>
              </a:buClr>
              <a:buSzPts val="4000"/>
              <a:buFont typeface="Poppins SemiBold"/>
              <a:buNone/>
            </a:pPr>
            <a:r>
              <a:rPr b="0" i="0" lang="en-US" sz="4000" u="none" cap="none" strike="noStrike">
                <a:solidFill>
                  <a:srgbClr val="FFFFFF"/>
                </a:solidFill>
                <a:latin typeface="Poppins SemiBold"/>
                <a:ea typeface="Poppins SemiBold"/>
                <a:cs typeface="Poppins SemiBold"/>
                <a:sym typeface="Poppins SemiBold"/>
              </a:rPr>
              <a:t>Progression &amp; Goals:</a:t>
            </a:r>
            <a:endParaRPr b="0" i="0" sz="40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FFFFFF"/>
              </a:buClr>
              <a:buSzPts val="4000"/>
              <a:buFont typeface="Poppins SemiBold"/>
              <a:buNone/>
            </a:pPr>
            <a:r>
              <a:rPr b="0" i="0" lang="en-US" sz="4000" u="none" cap="none" strike="noStrike">
                <a:solidFill>
                  <a:srgbClr val="FFFFFF"/>
                </a:solidFill>
                <a:latin typeface="Poppins SemiBold"/>
                <a:ea typeface="Poppins SemiBold"/>
                <a:cs typeface="Poppins SemiBold"/>
                <a:sym typeface="Poppins SemiBold"/>
              </a:rPr>
              <a:t>The Final Year</a:t>
            </a:r>
            <a:endParaRPr b="0" i="0" sz="4000" u="none" cap="none" strike="noStrike">
              <a:solidFill>
                <a:schemeClr val="dk1"/>
              </a:solidFill>
              <a:latin typeface="Calibri"/>
              <a:ea typeface="Calibri"/>
              <a:cs typeface="Calibri"/>
              <a:sym typeface="Calibri"/>
            </a:endParaRPr>
          </a:p>
        </p:txBody>
      </p:sp>
      <p:sp>
        <p:nvSpPr>
          <p:cNvPr id="19" name="Google Shape;19;p3"/>
          <p:cNvSpPr/>
          <p:nvPr/>
        </p:nvSpPr>
        <p:spPr>
          <a:xfrm>
            <a:off x="777240" y="420624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Medium"/>
              <a:buNone/>
            </a:pPr>
            <a:r>
              <a:rPr b="0" i="0" lang="en-US" sz="1500" u="none" cap="none" strike="noStrike">
                <a:solidFill>
                  <a:srgbClr val="F6891E"/>
                </a:solidFill>
                <a:latin typeface="Poppins Medium"/>
                <a:ea typeface="Poppins Medium"/>
                <a:cs typeface="Poppins Medium"/>
                <a:sym typeface="Poppins Medium"/>
              </a:rPr>
              <a:t>Group 3 · Employability, Careers &amp; Progression</a:t>
            </a:r>
            <a:endParaRPr b="0" i="0" sz="1500" u="none" cap="none" strike="noStrike">
              <a:solidFill>
                <a:schemeClr val="dk1"/>
              </a:solidFill>
              <a:latin typeface="Calibri"/>
              <a:ea typeface="Calibri"/>
              <a:cs typeface="Calibri"/>
              <a:sym typeface="Calibri"/>
            </a:endParaRPr>
          </a:p>
        </p:txBody>
      </p:sp>
      <p:sp>
        <p:nvSpPr>
          <p:cNvPr id="20" name="Google Shape;20;p3"/>
          <p:cNvSpPr/>
          <p:nvPr/>
        </p:nvSpPr>
        <p:spPr>
          <a:xfrm>
            <a:off x="777240" y="470916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4C9"/>
              </a:buClr>
              <a:buSzPts val="1250"/>
              <a:buFont typeface="Poppins"/>
              <a:buNone/>
            </a:pPr>
            <a:r>
              <a:rPr b="0" i="1" lang="en-US" sz="1250" u="none" cap="none" strike="noStrike">
                <a:solidFill>
                  <a:srgbClr val="B9C4C9"/>
                </a:solidFill>
                <a:latin typeface="Poppins"/>
                <a:ea typeface="Poppins"/>
                <a:cs typeface="Poppins"/>
                <a:sym typeface="Poppins"/>
              </a:rPr>
              <a:t>The last induction session you will ever sit through. Make it count. Ninety minutes to turn two years of digital and media evidence into a plan — with the first application deadline already live.</a:t>
            </a:r>
            <a:endParaRPr b="0" i="0" sz="1250" u="none" cap="none" strike="noStrike">
              <a:solidFill>
                <a:schemeClr val="dk1"/>
              </a:solidFill>
              <a:latin typeface="Calibri"/>
              <a:ea typeface="Calibri"/>
              <a:cs typeface="Calibri"/>
              <a:sym typeface="Calibri"/>
            </a:endParaRPr>
          </a:p>
        </p:txBody>
      </p:sp>
      <p:sp>
        <p:nvSpPr>
          <p:cNvPr id="21" name="Google Shape;21;p3"/>
          <p:cNvSpPr/>
          <p:nvPr/>
        </p:nvSpPr>
        <p:spPr>
          <a:xfrm>
            <a:off x="777240" y="6263640"/>
            <a:ext cx="82296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A0"/>
              </a:buClr>
              <a:buSzPts val="1000"/>
              <a:buFont typeface="Poppins"/>
              <a:buNone/>
            </a:pPr>
            <a:r>
              <a:rPr b="0" i="0" lang="en-US" sz="1000" u="none" cap="none" strike="noStrike">
                <a:solidFill>
                  <a:srgbClr val="8A9AA0"/>
                </a:solidFill>
                <a:latin typeface="Poppins"/>
                <a:ea typeface="Poppins"/>
                <a:cs typeface="Poppins"/>
                <a:sym typeface="Poppins"/>
              </a:rPr>
              <a:t>East Sussex College  ·  Level 3 Year 2 Eastbourne  ·  Lewes  ·  Hastings  ·  Digital, Media, Film and Computing</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6" name="Shape 26"/>
        <p:cNvGrpSpPr/>
        <p:nvPr/>
      </p:nvGrpSpPr>
      <p:grpSpPr>
        <a:xfrm>
          <a:off x="0" y="0"/>
          <a:ext cx="0" cy="0"/>
          <a:chOff x="0" y="0"/>
          <a:chExt cx="0" cy="0"/>
        </a:xfrm>
      </p:grpSpPr>
      <p:sp>
        <p:nvSpPr>
          <p:cNvPr id="27" name="Google Shape;27;p4"/>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b="0" i="0" lang="en-US" sz="2500" u="none" cap="none" strike="noStrike">
                <a:solidFill>
                  <a:srgbClr val="0D2434"/>
                </a:solidFill>
                <a:latin typeface="Poppins SemiBold"/>
                <a:ea typeface="Poppins SemiBold"/>
                <a:cs typeface="Poppins SemiBold"/>
                <a:sym typeface="Poppins SemiBold"/>
              </a:rPr>
              <a:t>This session</a:t>
            </a:r>
            <a:endParaRPr b="0" i="0" sz="2500" u="none" cap="none" strike="noStrike">
              <a:solidFill>
                <a:schemeClr val="dk1"/>
              </a:solidFill>
              <a:latin typeface="Calibri"/>
              <a:ea typeface="Calibri"/>
              <a:cs typeface="Calibri"/>
              <a:sym typeface="Calibri"/>
            </a:endParaRPr>
          </a:p>
        </p:txBody>
      </p:sp>
      <p:sp>
        <p:nvSpPr>
          <p:cNvPr id="28" name="Google Shape;28;p4"/>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 name="Google Shape;29;p4"/>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SESSION MAP</a:t>
            </a:r>
            <a:endParaRPr sz="1050">
              <a:solidFill>
                <a:schemeClr val="dk1"/>
              </a:solidFill>
              <a:latin typeface="Calibri"/>
              <a:ea typeface="Calibri"/>
              <a:cs typeface="Calibri"/>
              <a:sym typeface="Calibri"/>
            </a:endParaRPr>
          </a:p>
        </p:txBody>
      </p:sp>
      <p:sp>
        <p:nvSpPr>
          <p:cNvPr id="30" name="Google Shape;30;p4"/>
          <p:cNvSpPr/>
          <p:nvPr/>
        </p:nvSpPr>
        <p:spPr>
          <a:xfrm>
            <a:off x="731520" y="1216152"/>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 name="Google Shape;31;p4"/>
          <p:cNvSpPr/>
          <p:nvPr/>
        </p:nvSpPr>
        <p:spPr>
          <a:xfrm>
            <a:off x="731520" y="121615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1</a:t>
            </a:r>
            <a:endParaRPr sz="1400">
              <a:solidFill>
                <a:schemeClr val="dk1"/>
              </a:solidFill>
              <a:latin typeface="Calibri"/>
              <a:ea typeface="Calibri"/>
              <a:cs typeface="Calibri"/>
              <a:sym typeface="Calibri"/>
            </a:endParaRPr>
          </a:p>
        </p:txBody>
      </p:sp>
      <p:sp>
        <p:nvSpPr>
          <p:cNvPr id="32" name="Google Shape;32;p4"/>
          <p:cNvSpPr/>
          <p:nvPr/>
        </p:nvSpPr>
        <p:spPr>
          <a:xfrm>
            <a:off x="1371600" y="117043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Final year — what is actually different</a:t>
            </a:r>
            <a:endParaRPr sz="1450">
              <a:solidFill>
                <a:schemeClr val="dk1"/>
              </a:solidFill>
              <a:latin typeface="Calibri"/>
              <a:ea typeface="Calibri"/>
              <a:cs typeface="Calibri"/>
              <a:sym typeface="Calibri"/>
            </a:endParaRPr>
          </a:p>
        </p:txBody>
      </p:sp>
      <p:sp>
        <p:nvSpPr>
          <p:cNvPr id="33" name="Google Shape;33;p4"/>
          <p:cNvSpPr/>
          <p:nvPr/>
        </p:nvSpPr>
        <p:spPr>
          <a:xfrm>
            <a:off x="9966960" y="1170432"/>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34" name="Google Shape;34;p4"/>
          <p:cNvCxnSpPr/>
          <p:nvPr/>
        </p:nvCxnSpPr>
        <p:spPr>
          <a:xfrm>
            <a:off x="1371600" y="1737360"/>
            <a:ext cx="10241280" cy="0"/>
          </a:xfrm>
          <a:prstGeom prst="straightConnector1">
            <a:avLst/>
          </a:prstGeom>
          <a:noFill/>
          <a:ln cap="flat" cmpd="sng" w="9525">
            <a:solidFill>
              <a:srgbClr val="D2DBDA"/>
            </a:solidFill>
            <a:prstDash val="solid"/>
            <a:round/>
            <a:headEnd len="sm" w="sm" type="none"/>
            <a:tailEnd len="sm" w="sm" type="none"/>
          </a:ln>
        </p:spPr>
      </p:cxnSp>
      <p:sp>
        <p:nvSpPr>
          <p:cNvPr id="35" name="Google Shape;35;p4"/>
          <p:cNvSpPr/>
          <p:nvPr/>
        </p:nvSpPr>
        <p:spPr>
          <a:xfrm>
            <a:off x="731520" y="1865376"/>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 name="Google Shape;36;p4"/>
          <p:cNvSpPr/>
          <p:nvPr/>
        </p:nvSpPr>
        <p:spPr>
          <a:xfrm>
            <a:off x="731520" y="186537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2</a:t>
            </a:r>
            <a:endParaRPr sz="1400">
              <a:solidFill>
                <a:schemeClr val="dk1"/>
              </a:solidFill>
              <a:latin typeface="Calibri"/>
              <a:ea typeface="Calibri"/>
              <a:cs typeface="Calibri"/>
              <a:sym typeface="Calibri"/>
            </a:endParaRPr>
          </a:p>
        </p:txBody>
      </p:sp>
      <p:sp>
        <p:nvSpPr>
          <p:cNvPr id="37" name="Google Shape;37;p4"/>
          <p:cNvSpPr/>
          <p:nvPr/>
        </p:nvSpPr>
        <p:spPr>
          <a:xfrm>
            <a:off x="1371600" y="1819656"/>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The map, with dates on it</a:t>
            </a:r>
            <a:endParaRPr sz="1450">
              <a:solidFill>
                <a:schemeClr val="dk1"/>
              </a:solidFill>
              <a:latin typeface="Calibri"/>
              <a:ea typeface="Calibri"/>
              <a:cs typeface="Calibri"/>
              <a:sym typeface="Calibri"/>
            </a:endParaRPr>
          </a:p>
        </p:txBody>
      </p:sp>
      <p:sp>
        <p:nvSpPr>
          <p:cNvPr id="38" name="Google Shape;38;p4"/>
          <p:cNvSpPr/>
          <p:nvPr/>
        </p:nvSpPr>
        <p:spPr>
          <a:xfrm>
            <a:off x="9966960" y="1819656"/>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15 mins</a:t>
            </a:r>
            <a:endParaRPr sz="1100">
              <a:solidFill>
                <a:schemeClr val="dk1"/>
              </a:solidFill>
              <a:latin typeface="Calibri"/>
              <a:ea typeface="Calibri"/>
              <a:cs typeface="Calibri"/>
              <a:sym typeface="Calibri"/>
            </a:endParaRPr>
          </a:p>
        </p:txBody>
      </p:sp>
      <p:cxnSp>
        <p:nvCxnSpPr>
          <p:cNvPr id="39" name="Google Shape;39;p4"/>
          <p:cNvCxnSpPr/>
          <p:nvPr/>
        </p:nvCxnSpPr>
        <p:spPr>
          <a:xfrm>
            <a:off x="1371600" y="2386584"/>
            <a:ext cx="10241280" cy="0"/>
          </a:xfrm>
          <a:prstGeom prst="straightConnector1">
            <a:avLst/>
          </a:prstGeom>
          <a:noFill/>
          <a:ln cap="flat" cmpd="sng" w="9525">
            <a:solidFill>
              <a:srgbClr val="D2DBDA"/>
            </a:solidFill>
            <a:prstDash val="solid"/>
            <a:round/>
            <a:headEnd len="sm" w="sm" type="none"/>
            <a:tailEnd len="sm" w="sm" type="none"/>
          </a:ln>
        </p:spPr>
      </p:cxnSp>
      <p:sp>
        <p:nvSpPr>
          <p:cNvPr id="40" name="Google Shape;40;p4"/>
          <p:cNvSpPr/>
          <p:nvPr/>
        </p:nvSpPr>
        <p:spPr>
          <a:xfrm>
            <a:off x="731520" y="2514600"/>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1" name="Google Shape;41;p4"/>
          <p:cNvSpPr/>
          <p:nvPr/>
        </p:nvSpPr>
        <p:spPr>
          <a:xfrm>
            <a:off x="731520" y="251460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3</a:t>
            </a:r>
            <a:endParaRPr sz="1400">
              <a:solidFill>
                <a:schemeClr val="dk1"/>
              </a:solidFill>
              <a:latin typeface="Calibri"/>
              <a:ea typeface="Calibri"/>
              <a:cs typeface="Calibri"/>
              <a:sym typeface="Calibri"/>
            </a:endParaRPr>
          </a:p>
        </p:txBody>
      </p:sp>
      <p:sp>
        <p:nvSpPr>
          <p:cNvPr id="42" name="Google Shape;42;p4"/>
          <p:cNvSpPr/>
          <p:nvPr/>
        </p:nvSpPr>
        <p:spPr>
          <a:xfrm>
            <a:off x="1371600" y="2468880"/>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Two years of evidence — now it gets used</a:t>
            </a:r>
            <a:endParaRPr sz="1450">
              <a:solidFill>
                <a:schemeClr val="dk1"/>
              </a:solidFill>
              <a:latin typeface="Calibri"/>
              <a:ea typeface="Calibri"/>
              <a:cs typeface="Calibri"/>
              <a:sym typeface="Calibri"/>
            </a:endParaRPr>
          </a:p>
        </p:txBody>
      </p:sp>
      <p:sp>
        <p:nvSpPr>
          <p:cNvPr id="43" name="Google Shape;43;p4"/>
          <p:cNvSpPr/>
          <p:nvPr/>
        </p:nvSpPr>
        <p:spPr>
          <a:xfrm>
            <a:off x="9966960" y="2468880"/>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44" name="Google Shape;44;p4"/>
          <p:cNvCxnSpPr/>
          <p:nvPr/>
        </p:nvCxnSpPr>
        <p:spPr>
          <a:xfrm>
            <a:off x="1371600" y="3035808"/>
            <a:ext cx="10241280" cy="0"/>
          </a:xfrm>
          <a:prstGeom prst="straightConnector1">
            <a:avLst/>
          </a:prstGeom>
          <a:noFill/>
          <a:ln cap="flat" cmpd="sng" w="9525">
            <a:solidFill>
              <a:srgbClr val="D2DBDA"/>
            </a:solidFill>
            <a:prstDash val="solid"/>
            <a:round/>
            <a:headEnd len="sm" w="sm" type="none"/>
            <a:tailEnd len="sm" w="sm" type="none"/>
          </a:ln>
        </p:spPr>
      </p:cxnSp>
      <p:sp>
        <p:nvSpPr>
          <p:cNvPr id="45" name="Google Shape;45;p4"/>
          <p:cNvSpPr/>
          <p:nvPr/>
        </p:nvSpPr>
        <p:spPr>
          <a:xfrm>
            <a:off x="731520" y="3163824"/>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46" name="Google Shape;46;p4"/>
          <p:cNvSpPr/>
          <p:nvPr/>
        </p:nvSpPr>
        <p:spPr>
          <a:xfrm>
            <a:off x="731520" y="3163824"/>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4</a:t>
            </a:r>
            <a:endParaRPr sz="1400">
              <a:solidFill>
                <a:schemeClr val="dk1"/>
              </a:solidFill>
              <a:latin typeface="Calibri"/>
              <a:ea typeface="Calibri"/>
              <a:cs typeface="Calibri"/>
              <a:sym typeface="Calibri"/>
            </a:endParaRPr>
          </a:p>
        </p:txBody>
      </p:sp>
      <p:sp>
        <p:nvSpPr>
          <p:cNvPr id="47" name="Google Shape;47;p4"/>
          <p:cNvSpPr/>
          <p:nvPr/>
        </p:nvSpPr>
        <p:spPr>
          <a:xfrm>
            <a:off x="1371600" y="3118104"/>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Application goals — concrete by definition</a:t>
            </a:r>
            <a:endParaRPr sz="1450">
              <a:solidFill>
                <a:schemeClr val="dk1"/>
              </a:solidFill>
              <a:latin typeface="Calibri"/>
              <a:ea typeface="Calibri"/>
              <a:cs typeface="Calibri"/>
              <a:sym typeface="Calibri"/>
            </a:endParaRPr>
          </a:p>
        </p:txBody>
      </p:sp>
      <p:sp>
        <p:nvSpPr>
          <p:cNvPr id="48" name="Google Shape;48;p4"/>
          <p:cNvSpPr/>
          <p:nvPr/>
        </p:nvSpPr>
        <p:spPr>
          <a:xfrm>
            <a:off x="9966960" y="3118104"/>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49" name="Google Shape;49;p4"/>
          <p:cNvCxnSpPr/>
          <p:nvPr/>
        </p:nvCxnSpPr>
        <p:spPr>
          <a:xfrm>
            <a:off x="1371600" y="3685032"/>
            <a:ext cx="10241280" cy="0"/>
          </a:xfrm>
          <a:prstGeom prst="straightConnector1">
            <a:avLst/>
          </a:prstGeom>
          <a:noFill/>
          <a:ln cap="flat" cmpd="sng" w="9525">
            <a:solidFill>
              <a:srgbClr val="D2DBDA"/>
            </a:solidFill>
            <a:prstDash val="solid"/>
            <a:round/>
            <a:headEnd len="sm" w="sm" type="none"/>
            <a:tailEnd len="sm" w="sm" type="none"/>
          </a:ln>
        </p:spPr>
      </p:cxnSp>
      <p:sp>
        <p:nvSpPr>
          <p:cNvPr id="50" name="Google Shape;50;p4"/>
          <p:cNvSpPr/>
          <p:nvPr/>
        </p:nvSpPr>
        <p:spPr>
          <a:xfrm>
            <a:off x="731520" y="3813048"/>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1" name="Google Shape;51;p4"/>
          <p:cNvSpPr/>
          <p:nvPr/>
        </p:nvSpPr>
        <p:spPr>
          <a:xfrm>
            <a:off x="731520" y="3813048"/>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5</a:t>
            </a:r>
            <a:endParaRPr sz="1400">
              <a:solidFill>
                <a:schemeClr val="dk1"/>
              </a:solidFill>
              <a:latin typeface="Calibri"/>
              <a:ea typeface="Calibri"/>
              <a:cs typeface="Calibri"/>
              <a:sym typeface="Calibri"/>
            </a:endParaRPr>
          </a:p>
        </p:txBody>
      </p:sp>
      <p:sp>
        <p:nvSpPr>
          <p:cNvPr id="52" name="Google Shape;52;p4"/>
          <p:cNvSpPr/>
          <p:nvPr/>
        </p:nvSpPr>
        <p:spPr>
          <a:xfrm>
            <a:off x="1371600" y="3767328"/>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Three horizons — backwards from the deadlines</a:t>
            </a:r>
            <a:endParaRPr sz="1450">
              <a:solidFill>
                <a:schemeClr val="dk1"/>
              </a:solidFill>
              <a:latin typeface="Calibri"/>
              <a:ea typeface="Calibri"/>
              <a:cs typeface="Calibri"/>
              <a:sym typeface="Calibri"/>
            </a:endParaRPr>
          </a:p>
        </p:txBody>
      </p:sp>
      <p:sp>
        <p:nvSpPr>
          <p:cNvPr id="53" name="Google Shape;53;p4"/>
          <p:cNvSpPr/>
          <p:nvPr/>
        </p:nvSpPr>
        <p:spPr>
          <a:xfrm>
            <a:off x="9966960" y="3767328"/>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15 mins</a:t>
            </a:r>
            <a:endParaRPr sz="1100">
              <a:solidFill>
                <a:schemeClr val="dk1"/>
              </a:solidFill>
              <a:latin typeface="Calibri"/>
              <a:ea typeface="Calibri"/>
              <a:cs typeface="Calibri"/>
              <a:sym typeface="Calibri"/>
            </a:endParaRPr>
          </a:p>
        </p:txBody>
      </p:sp>
      <p:cxnSp>
        <p:nvCxnSpPr>
          <p:cNvPr id="54" name="Google Shape;54;p4"/>
          <p:cNvCxnSpPr/>
          <p:nvPr/>
        </p:nvCxnSpPr>
        <p:spPr>
          <a:xfrm>
            <a:off x="1371600" y="4334256"/>
            <a:ext cx="10241280" cy="0"/>
          </a:xfrm>
          <a:prstGeom prst="straightConnector1">
            <a:avLst/>
          </a:prstGeom>
          <a:noFill/>
          <a:ln cap="flat" cmpd="sng" w="9525">
            <a:solidFill>
              <a:srgbClr val="D2DBDA"/>
            </a:solidFill>
            <a:prstDash val="solid"/>
            <a:round/>
            <a:headEnd len="sm" w="sm" type="none"/>
            <a:tailEnd len="sm" w="sm" type="none"/>
          </a:ln>
        </p:spPr>
      </p:cxnSp>
      <p:sp>
        <p:nvSpPr>
          <p:cNvPr id="55" name="Google Shape;55;p4"/>
          <p:cNvSpPr/>
          <p:nvPr/>
        </p:nvSpPr>
        <p:spPr>
          <a:xfrm>
            <a:off x="731520" y="4462272"/>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 name="Google Shape;56;p4"/>
          <p:cNvSpPr/>
          <p:nvPr/>
        </p:nvSpPr>
        <p:spPr>
          <a:xfrm>
            <a:off x="731520" y="4462272"/>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6</a:t>
            </a:r>
            <a:endParaRPr sz="1400">
              <a:solidFill>
                <a:schemeClr val="dk1"/>
              </a:solidFill>
              <a:latin typeface="Calibri"/>
              <a:ea typeface="Calibri"/>
              <a:cs typeface="Calibri"/>
              <a:sym typeface="Calibri"/>
            </a:endParaRPr>
          </a:p>
        </p:txBody>
      </p:sp>
      <p:sp>
        <p:nvSpPr>
          <p:cNvPr id="57" name="Google Shape;57;p4"/>
          <p:cNvSpPr/>
          <p:nvPr/>
        </p:nvSpPr>
        <p:spPr>
          <a:xfrm>
            <a:off x="1371600" y="4416552"/>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Right route? — the honest check</a:t>
            </a:r>
            <a:endParaRPr sz="1450">
              <a:solidFill>
                <a:schemeClr val="dk1"/>
              </a:solidFill>
              <a:latin typeface="Calibri"/>
              <a:ea typeface="Calibri"/>
              <a:cs typeface="Calibri"/>
              <a:sym typeface="Calibri"/>
            </a:endParaRPr>
          </a:p>
        </p:txBody>
      </p:sp>
      <p:sp>
        <p:nvSpPr>
          <p:cNvPr id="58" name="Google Shape;58;p4"/>
          <p:cNvSpPr/>
          <p:nvPr/>
        </p:nvSpPr>
        <p:spPr>
          <a:xfrm>
            <a:off x="9966960" y="4416552"/>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59" name="Google Shape;59;p4"/>
          <p:cNvCxnSpPr/>
          <p:nvPr/>
        </p:nvCxnSpPr>
        <p:spPr>
          <a:xfrm>
            <a:off x="1371600" y="4983480"/>
            <a:ext cx="10241280" cy="0"/>
          </a:xfrm>
          <a:prstGeom prst="straightConnector1">
            <a:avLst/>
          </a:prstGeom>
          <a:noFill/>
          <a:ln cap="flat" cmpd="sng" w="9525">
            <a:solidFill>
              <a:srgbClr val="D2DBDA"/>
            </a:solidFill>
            <a:prstDash val="solid"/>
            <a:round/>
            <a:headEnd len="sm" w="sm" type="none"/>
            <a:tailEnd len="sm" w="sm" type="none"/>
          </a:ln>
        </p:spPr>
      </p:cxnSp>
      <p:sp>
        <p:nvSpPr>
          <p:cNvPr id="60" name="Google Shape;60;p4"/>
          <p:cNvSpPr/>
          <p:nvPr/>
        </p:nvSpPr>
        <p:spPr>
          <a:xfrm>
            <a:off x="731520" y="5111496"/>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1" name="Google Shape;61;p4"/>
          <p:cNvSpPr/>
          <p:nvPr/>
        </p:nvSpPr>
        <p:spPr>
          <a:xfrm>
            <a:off x="731520" y="5111496"/>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7</a:t>
            </a:r>
            <a:endParaRPr sz="1400">
              <a:solidFill>
                <a:schemeClr val="dk1"/>
              </a:solidFill>
              <a:latin typeface="Calibri"/>
              <a:ea typeface="Calibri"/>
              <a:cs typeface="Calibri"/>
              <a:sym typeface="Calibri"/>
            </a:endParaRPr>
          </a:p>
        </p:txBody>
      </p:sp>
      <p:sp>
        <p:nvSpPr>
          <p:cNvPr id="62" name="Google Shape;62;p4"/>
          <p:cNvSpPr/>
          <p:nvPr/>
        </p:nvSpPr>
        <p:spPr>
          <a:xfrm>
            <a:off x="1371600" y="5065776"/>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Closing the loop — your questions, your contacts</a:t>
            </a:r>
            <a:endParaRPr sz="1450">
              <a:solidFill>
                <a:schemeClr val="dk1"/>
              </a:solidFill>
              <a:latin typeface="Calibri"/>
              <a:ea typeface="Calibri"/>
              <a:cs typeface="Calibri"/>
              <a:sym typeface="Calibri"/>
            </a:endParaRPr>
          </a:p>
        </p:txBody>
      </p:sp>
      <p:sp>
        <p:nvSpPr>
          <p:cNvPr id="63" name="Google Shape;63;p4"/>
          <p:cNvSpPr/>
          <p:nvPr/>
        </p:nvSpPr>
        <p:spPr>
          <a:xfrm>
            <a:off x="9966960" y="5065776"/>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cxnSp>
        <p:nvCxnSpPr>
          <p:cNvPr id="64" name="Google Shape;64;p4"/>
          <p:cNvCxnSpPr/>
          <p:nvPr/>
        </p:nvCxnSpPr>
        <p:spPr>
          <a:xfrm>
            <a:off x="1371600" y="5632704"/>
            <a:ext cx="10241280" cy="0"/>
          </a:xfrm>
          <a:prstGeom prst="straightConnector1">
            <a:avLst/>
          </a:prstGeom>
          <a:noFill/>
          <a:ln cap="flat" cmpd="sng" w="9525">
            <a:solidFill>
              <a:srgbClr val="D2DBDA"/>
            </a:solidFill>
            <a:prstDash val="solid"/>
            <a:round/>
            <a:headEnd len="sm" w="sm" type="none"/>
            <a:tailEnd len="sm" w="sm" type="none"/>
          </a:ln>
        </p:spPr>
      </p:cxnSp>
      <p:sp>
        <p:nvSpPr>
          <p:cNvPr id="65" name="Google Shape;65;p4"/>
          <p:cNvSpPr/>
          <p:nvPr/>
        </p:nvSpPr>
        <p:spPr>
          <a:xfrm>
            <a:off x="731520" y="5760720"/>
            <a:ext cx="420624" cy="420624"/>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66" name="Google Shape;66;p4"/>
          <p:cNvSpPr/>
          <p:nvPr/>
        </p:nvSpPr>
        <p:spPr>
          <a:xfrm>
            <a:off x="731520" y="5760720"/>
            <a:ext cx="420624" cy="42062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8</a:t>
            </a:r>
            <a:endParaRPr sz="1400">
              <a:solidFill>
                <a:schemeClr val="dk1"/>
              </a:solidFill>
              <a:latin typeface="Calibri"/>
              <a:ea typeface="Calibri"/>
              <a:cs typeface="Calibri"/>
              <a:sym typeface="Calibri"/>
            </a:endParaRPr>
          </a:p>
        </p:txBody>
      </p:sp>
      <p:sp>
        <p:nvSpPr>
          <p:cNvPr id="67" name="Google Shape;67;p4"/>
          <p:cNvSpPr/>
          <p:nvPr/>
        </p:nvSpPr>
        <p:spPr>
          <a:xfrm>
            <a:off x="1371600" y="5715000"/>
            <a:ext cx="822960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450"/>
              <a:buFont typeface="Poppins Medium"/>
              <a:buNone/>
            </a:pPr>
            <a:r>
              <a:rPr lang="en-US" sz="1450">
                <a:solidFill>
                  <a:srgbClr val="1B2A30"/>
                </a:solidFill>
                <a:latin typeface="Poppins Medium"/>
                <a:ea typeface="Poppins Medium"/>
                <a:cs typeface="Poppins Medium"/>
                <a:sym typeface="Poppins Medium"/>
              </a:rPr>
              <a:t>One goal, on paper</a:t>
            </a:r>
            <a:endParaRPr sz="1450">
              <a:solidFill>
                <a:schemeClr val="dk1"/>
              </a:solidFill>
              <a:latin typeface="Calibri"/>
              <a:ea typeface="Calibri"/>
              <a:cs typeface="Calibri"/>
              <a:sym typeface="Calibri"/>
            </a:endParaRPr>
          </a:p>
        </p:txBody>
      </p:sp>
      <p:sp>
        <p:nvSpPr>
          <p:cNvPr id="68" name="Google Shape;68;p4"/>
          <p:cNvSpPr/>
          <p:nvPr/>
        </p:nvSpPr>
        <p:spPr>
          <a:xfrm>
            <a:off x="9966960" y="5715000"/>
            <a:ext cx="164592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10 mins</a:t>
            </a:r>
            <a:endParaRPr sz="1100">
              <a:solidFill>
                <a:schemeClr val="dk1"/>
              </a:solidFill>
              <a:latin typeface="Calibri"/>
              <a:ea typeface="Calibri"/>
              <a:cs typeface="Calibri"/>
              <a:sym typeface="Calibri"/>
            </a:endParaRPr>
          </a:p>
        </p:txBody>
      </p:sp>
      <p:sp>
        <p:nvSpPr>
          <p:cNvPr id="69" name="Google Shape;69;p4"/>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 DIGITAL, MEDIA, FILM AND COMPUTING  ·  YEAR 2</a:t>
            </a:r>
            <a:endParaRPr sz="850">
              <a:solidFill>
                <a:schemeClr val="dk1"/>
              </a:solidFill>
              <a:latin typeface="Calibri"/>
              <a:ea typeface="Calibri"/>
              <a:cs typeface="Calibri"/>
              <a:sym typeface="Calibri"/>
            </a:endParaRPr>
          </a:p>
        </p:txBody>
      </p:sp>
      <p:sp>
        <p:nvSpPr>
          <p:cNvPr id="70" name="Google Shape;70;p4"/>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2</a:t>
            </a:r>
            <a:endParaRPr sz="8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75" name="Shape 75"/>
        <p:cNvGrpSpPr/>
        <p:nvPr/>
      </p:nvGrpSpPr>
      <p:grpSpPr>
        <a:xfrm>
          <a:off x="0" y="0"/>
          <a:ext cx="0" cy="0"/>
          <a:chOff x="0" y="0"/>
          <a:chExt cx="0" cy="0"/>
        </a:xfrm>
      </p:grpSpPr>
      <p:sp>
        <p:nvSpPr>
          <p:cNvPr id="76" name="Google Shape;76;p5"/>
          <p:cNvSpPr/>
          <p:nvPr/>
        </p:nvSpPr>
        <p:spPr>
          <a:xfrm>
            <a:off x="502920" y="118882"/>
            <a:ext cx="9327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Final year. Different rules.</a:t>
            </a:r>
            <a:endParaRPr sz="2500">
              <a:solidFill>
                <a:schemeClr val="dk1"/>
              </a:solidFill>
              <a:latin typeface="Calibri"/>
              <a:ea typeface="Calibri"/>
              <a:cs typeface="Calibri"/>
              <a:sym typeface="Calibri"/>
            </a:endParaRPr>
          </a:p>
        </p:txBody>
      </p:sp>
      <p:sp>
        <p:nvSpPr>
          <p:cNvPr id="77" name="Google Shape;77;p5"/>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78" name="Google Shape;78;p5"/>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DISCUSSION</a:t>
            </a:r>
            <a:endParaRPr sz="1050">
              <a:solidFill>
                <a:schemeClr val="dk1"/>
              </a:solidFill>
              <a:latin typeface="Calibri"/>
              <a:ea typeface="Calibri"/>
              <a:cs typeface="Calibri"/>
              <a:sym typeface="Calibri"/>
            </a:endParaRPr>
          </a:p>
        </p:txBody>
      </p:sp>
      <p:sp>
        <p:nvSpPr>
          <p:cNvPr id="79" name="Google Shape;79;p5"/>
          <p:cNvSpPr/>
          <p:nvPr/>
        </p:nvSpPr>
        <p:spPr>
          <a:xfrm>
            <a:off x="548632" y="713165"/>
            <a:ext cx="74067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Pairs, five minutes. You have done a September before — use it as evidence.</a:t>
            </a:r>
            <a:endParaRPr sz="1300">
              <a:solidFill>
                <a:schemeClr val="dk1"/>
              </a:solidFill>
              <a:latin typeface="Calibri"/>
              <a:ea typeface="Calibri"/>
              <a:cs typeface="Calibri"/>
              <a:sym typeface="Calibri"/>
            </a:endParaRPr>
          </a:p>
        </p:txBody>
      </p:sp>
      <p:sp>
        <p:nvSpPr>
          <p:cNvPr id="80" name="Google Shape;80;p5"/>
          <p:cNvSpPr/>
          <p:nvPr/>
        </p:nvSpPr>
        <p:spPr>
          <a:xfrm>
            <a:off x="219450" y="1189675"/>
            <a:ext cx="8172000" cy="15057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1" name="Google Shape;81;p5"/>
          <p:cNvSpPr/>
          <p:nvPr/>
        </p:nvSpPr>
        <p:spPr>
          <a:xfrm>
            <a:off x="572550" y="1330855"/>
            <a:ext cx="7566600" cy="12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What did you get right last September — and what cost you by June? Which project, unit or assignment showed your best work in Year 1 — and what actually stopped you doing that consistently throughout the year?</a:t>
            </a:r>
            <a:endParaRPr sz="1550">
              <a:solidFill>
                <a:schemeClr val="dk1"/>
              </a:solidFill>
              <a:latin typeface="Calibri"/>
              <a:ea typeface="Calibri"/>
              <a:cs typeface="Calibri"/>
              <a:sym typeface="Calibri"/>
            </a:endParaRPr>
          </a:p>
        </p:txBody>
      </p:sp>
      <p:sp>
        <p:nvSpPr>
          <p:cNvPr id="82" name="Google Shape;82;p5"/>
          <p:cNvSpPr/>
          <p:nvPr/>
        </p:nvSpPr>
        <p:spPr>
          <a:xfrm>
            <a:off x="219450" y="2977950"/>
            <a:ext cx="8172000" cy="15057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3" name="Google Shape;83;p5"/>
          <p:cNvSpPr/>
          <p:nvPr/>
        </p:nvSpPr>
        <p:spPr>
          <a:xfrm>
            <a:off x="572550" y="3119130"/>
            <a:ext cx="7566600" cy="12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What is genuinely different about this year? For T Level students: how does your Employer Set Project run alongside unit work and placement this year — and when does each component become urgent? For UAL and diploma students: how many major assessments or your Final Major Project land before January — and when are you starting each one? </a:t>
            </a:r>
            <a:endParaRPr sz="1550">
              <a:solidFill>
                <a:schemeClr val="dk1"/>
              </a:solidFill>
              <a:latin typeface="Calibri"/>
              <a:ea typeface="Calibri"/>
              <a:cs typeface="Calibri"/>
              <a:sym typeface="Calibri"/>
            </a:endParaRPr>
          </a:p>
        </p:txBody>
      </p:sp>
      <p:sp>
        <p:nvSpPr>
          <p:cNvPr id="84" name="Google Shape;84;p5"/>
          <p:cNvSpPr/>
          <p:nvPr/>
        </p:nvSpPr>
        <p:spPr>
          <a:xfrm>
            <a:off x="219450" y="4766225"/>
            <a:ext cx="8172000" cy="15057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5"/>
          <p:cNvSpPr/>
          <p:nvPr/>
        </p:nvSpPr>
        <p:spPr>
          <a:xfrm>
            <a:off x="572550" y="4907405"/>
            <a:ext cx="7566600" cy="12234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What question about this year has nobody answered? For T Level students: Employer Set Project format, internal deadlines and placement completion requirements. For UAL diploma students: Final Major Project format, specialism choices and external moderation. For Media and Film A Level students: NEA deadline and exam component weighting. </a:t>
            </a:r>
            <a:endParaRPr sz="1550">
              <a:solidFill>
                <a:schemeClr val="dk1"/>
              </a:solidFill>
              <a:latin typeface="Calibri"/>
              <a:ea typeface="Calibri"/>
              <a:cs typeface="Calibri"/>
              <a:sym typeface="Calibri"/>
            </a:endParaRPr>
          </a:p>
        </p:txBody>
      </p:sp>
      <p:sp>
        <p:nvSpPr>
          <p:cNvPr id="86" name="Google Shape;86;p5"/>
          <p:cNvSpPr/>
          <p:nvPr/>
        </p:nvSpPr>
        <p:spPr>
          <a:xfrm>
            <a:off x="8679595" y="1645925"/>
            <a:ext cx="3383400" cy="3950100"/>
          </a:xfrm>
          <a:prstGeom prst="rect">
            <a:avLst/>
          </a:prstGeom>
          <a:solidFill>
            <a:srgbClr val="FDEFDD"/>
          </a:solidFill>
          <a:ln cap="flat" cmpd="sng" w="12700">
            <a:solidFill>
              <a:srgbClr val="F689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7" name="Google Shape;87;p5"/>
          <p:cNvPicPr preferRelativeResize="0"/>
          <p:nvPr/>
        </p:nvPicPr>
        <p:blipFill rotWithShape="1">
          <a:blip r:embed="rId3">
            <a:alphaModFix/>
          </a:blip>
          <a:srcRect b="0" l="0" r="0" t="0"/>
          <a:stretch/>
        </p:blipFill>
        <p:spPr>
          <a:xfrm>
            <a:off x="8595360" y="1920240"/>
            <a:ext cx="502920" cy="502920"/>
          </a:xfrm>
          <a:prstGeom prst="rect">
            <a:avLst/>
          </a:prstGeom>
          <a:noFill/>
          <a:ln>
            <a:noFill/>
          </a:ln>
        </p:spPr>
      </p:pic>
      <p:sp>
        <p:nvSpPr>
          <p:cNvPr id="88" name="Google Shape;88;p5"/>
          <p:cNvSpPr/>
          <p:nvPr/>
        </p:nvSpPr>
        <p:spPr>
          <a:xfrm>
            <a:off x="8999635" y="2651765"/>
            <a:ext cx="2743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50"/>
              <a:buFont typeface="Poppins SemiBold"/>
              <a:buNone/>
            </a:pPr>
            <a:r>
              <a:rPr lang="en-US" sz="1450">
                <a:solidFill>
                  <a:srgbClr val="0D2434"/>
                </a:solidFill>
                <a:latin typeface="Poppins SemiBold"/>
                <a:ea typeface="Poppins SemiBold"/>
                <a:cs typeface="Poppins SemiBold"/>
                <a:sym typeface="Poppins SemiBold"/>
              </a:rPr>
              <a:t>Park the third one</a:t>
            </a:r>
            <a:endParaRPr sz="1450">
              <a:solidFill>
                <a:schemeClr val="dk1"/>
              </a:solidFill>
              <a:latin typeface="Calibri"/>
              <a:ea typeface="Calibri"/>
              <a:cs typeface="Calibri"/>
              <a:sym typeface="Calibri"/>
            </a:endParaRPr>
          </a:p>
        </p:txBody>
      </p:sp>
      <p:sp>
        <p:nvSpPr>
          <p:cNvPr id="89" name="Google Shape;89;p5"/>
          <p:cNvSpPr/>
          <p:nvPr/>
        </p:nvSpPr>
        <p:spPr>
          <a:xfrm>
            <a:off x="8999635" y="3063245"/>
            <a:ext cx="2743200" cy="2377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Unanswered questions go on the board. Every one gets settled before the end of this session — answered, or given an owner with a deadline.</a:t>
            </a:r>
            <a:endParaRPr sz="1200">
              <a:solidFill>
                <a:schemeClr val="dk1"/>
              </a:solidFill>
              <a:latin typeface="Calibri"/>
              <a:ea typeface="Calibri"/>
              <a:cs typeface="Calibri"/>
              <a:sym typeface="Calibri"/>
            </a:endParaRPr>
          </a:p>
        </p:txBody>
      </p:sp>
      <p:sp>
        <p:nvSpPr>
          <p:cNvPr id="90" name="Google Shape;90;p5"/>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91" name="Google Shape;91;p5"/>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3</a:t>
            </a:r>
            <a:endParaRPr sz="8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96" name="Shape 96"/>
        <p:cNvGrpSpPr/>
        <p:nvPr/>
      </p:nvGrpSpPr>
      <p:grpSpPr>
        <a:xfrm>
          <a:off x="0" y="0"/>
          <a:ext cx="0" cy="0"/>
          <a:chOff x="0" y="0"/>
          <a:chExt cx="0" cy="0"/>
        </a:xfrm>
      </p:grpSpPr>
      <p:sp>
        <p:nvSpPr>
          <p:cNvPr id="97" name="Google Shape;97;p6"/>
          <p:cNvSpPr/>
          <p:nvPr/>
        </p:nvSpPr>
        <p:spPr>
          <a:xfrm>
            <a:off x="502920" y="118857"/>
            <a:ext cx="9327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The map — with dates on it</a:t>
            </a:r>
            <a:endParaRPr sz="2500">
              <a:solidFill>
                <a:schemeClr val="dk1"/>
              </a:solidFill>
              <a:latin typeface="Calibri"/>
              <a:ea typeface="Calibri"/>
              <a:cs typeface="Calibri"/>
              <a:sym typeface="Calibri"/>
            </a:endParaRPr>
          </a:p>
        </p:txBody>
      </p:sp>
      <p:sp>
        <p:nvSpPr>
          <p:cNvPr id="98" name="Google Shape;98;p6"/>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6"/>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100" name="Google Shape;100;p6"/>
          <p:cNvSpPr/>
          <p:nvPr/>
        </p:nvSpPr>
        <p:spPr>
          <a:xfrm>
            <a:off x="118400" y="814300"/>
            <a:ext cx="5836500" cy="2110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1" name="Google Shape;101;p6"/>
          <p:cNvSpPr/>
          <p:nvPr/>
        </p:nvSpPr>
        <p:spPr>
          <a:xfrm>
            <a:off x="390771" y="1068323"/>
            <a:ext cx="603300" cy="6057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2" name="Google Shape;102;p6"/>
          <p:cNvPicPr preferRelativeResize="0"/>
          <p:nvPr/>
        </p:nvPicPr>
        <p:blipFill rotWithShape="1">
          <a:blip r:embed="rId3">
            <a:alphaModFix/>
          </a:blip>
          <a:srcRect b="0" l="0" r="0" t="0"/>
          <a:stretch/>
        </p:blipFill>
        <p:spPr>
          <a:xfrm>
            <a:off x="536684" y="1214874"/>
            <a:ext cx="311281" cy="312643"/>
          </a:xfrm>
          <a:prstGeom prst="rect">
            <a:avLst/>
          </a:prstGeom>
          <a:noFill/>
          <a:ln>
            <a:noFill/>
          </a:ln>
        </p:spPr>
      </p:pic>
      <p:sp>
        <p:nvSpPr>
          <p:cNvPr id="103" name="Google Shape;103;p6"/>
          <p:cNvSpPr/>
          <p:nvPr/>
        </p:nvSpPr>
        <p:spPr>
          <a:xfrm>
            <a:off x="1139790" y="1029242"/>
            <a:ext cx="4572000" cy="7035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Autumn — now</a:t>
            </a:r>
            <a:endParaRPr sz="1400">
              <a:solidFill>
                <a:schemeClr val="dk1"/>
              </a:solidFill>
              <a:latin typeface="Calibri"/>
              <a:ea typeface="Calibri"/>
              <a:cs typeface="Calibri"/>
              <a:sym typeface="Calibri"/>
            </a:endParaRPr>
          </a:p>
        </p:txBody>
      </p:sp>
      <p:sp>
        <p:nvSpPr>
          <p:cNvPr id="104" name="Google Shape;104;p6"/>
          <p:cNvSpPr/>
          <p:nvPr/>
        </p:nvSpPr>
        <p:spPr>
          <a:xfrm>
            <a:off x="390771" y="1810850"/>
            <a:ext cx="5291700" cy="9771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Research routes, audit your Navigate record, register with UCAS if university is in the plan. Everything on this slide is easier done in October than in January. T Level students: confirm Employer Set Project submission deadlines and placement completion timeline — both have internal dates before the qualification end. UAL and diploma students: Final Major Project specialism research and portfolio platform setup. </a:t>
            </a:r>
            <a:endParaRPr sz="1150">
              <a:solidFill>
                <a:schemeClr val="dk1"/>
              </a:solidFill>
              <a:latin typeface="Calibri"/>
              <a:ea typeface="Calibri"/>
              <a:cs typeface="Calibri"/>
              <a:sym typeface="Calibri"/>
            </a:endParaRPr>
          </a:p>
        </p:txBody>
      </p:sp>
      <p:sp>
        <p:nvSpPr>
          <p:cNvPr id="105" name="Google Shape;105;p6"/>
          <p:cNvSpPr/>
          <p:nvPr/>
        </p:nvSpPr>
        <p:spPr>
          <a:xfrm>
            <a:off x="6178649" y="814300"/>
            <a:ext cx="5836500" cy="2110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6" name="Google Shape;106;p6"/>
          <p:cNvSpPr/>
          <p:nvPr/>
        </p:nvSpPr>
        <p:spPr>
          <a:xfrm>
            <a:off x="6451020" y="1068323"/>
            <a:ext cx="603300" cy="6057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07" name="Google Shape;107;p6"/>
          <p:cNvPicPr preferRelativeResize="0"/>
          <p:nvPr/>
        </p:nvPicPr>
        <p:blipFill rotWithShape="1">
          <a:blip r:embed="rId4">
            <a:alphaModFix/>
          </a:blip>
          <a:srcRect b="0" l="0" r="0" t="0"/>
          <a:stretch/>
        </p:blipFill>
        <p:spPr>
          <a:xfrm>
            <a:off x="6596933" y="1214874"/>
            <a:ext cx="311281" cy="312643"/>
          </a:xfrm>
          <a:prstGeom prst="rect">
            <a:avLst/>
          </a:prstGeom>
          <a:noFill/>
          <a:ln>
            <a:noFill/>
          </a:ln>
        </p:spPr>
      </p:pic>
      <p:sp>
        <p:nvSpPr>
          <p:cNvPr id="108" name="Google Shape;108;p6"/>
          <p:cNvSpPr/>
          <p:nvPr/>
        </p:nvSpPr>
        <p:spPr>
          <a:xfrm>
            <a:off x="7200040" y="1029242"/>
            <a:ext cx="4572000" cy="7035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By January</a:t>
            </a:r>
            <a:endParaRPr sz="1400">
              <a:solidFill>
                <a:schemeClr val="dk1"/>
              </a:solidFill>
              <a:latin typeface="Calibri"/>
              <a:ea typeface="Calibri"/>
              <a:cs typeface="Calibri"/>
              <a:sym typeface="Calibri"/>
            </a:endParaRPr>
          </a:p>
        </p:txBody>
      </p:sp>
      <p:sp>
        <p:nvSpPr>
          <p:cNvPr id="109" name="Google Shape;109;p6"/>
          <p:cNvSpPr/>
          <p:nvPr/>
        </p:nvSpPr>
        <p:spPr>
          <a:xfrm>
            <a:off x="6451020" y="1810850"/>
            <a:ext cx="5291700" cy="9771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University applications in — the UCAS equal-consideration deadline lands mid-January. Done before Christmas beats done in a panic, every single year.</a:t>
            </a:r>
            <a:endParaRPr sz="1150">
              <a:solidFill>
                <a:schemeClr val="dk1"/>
              </a:solidFill>
              <a:latin typeface="Calibri"/>
              <a:ea typeface="Calibri"/>
              <a:cs typeface="Calibri"/>
              <a:sym typeface="Calibri"/>
            </a:endParaRPr>
          </a:p>
        </p:txBody>
      </p:sp>
      <p:sp>
        <p:nvSpPr>
          <p:cNvPr id="110" name="Google Shape;110;p6"/>
          <p:cNvSpPr/>
          <p:nvPr/>
        </p:nvSpPr>
        <p:spPr>
          <a:xfrm>
            <a:off x="118400" y="3120043"/>
            <a:ext cx="5836500" cy="2110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6"/>
          <p:cNvSpPr/>
          <p:nvPr/>
        </p:nvSpPr>
        <p:spPr>
          <a:xfrm>
            <a:off x="390771" y="3374066"/>
            <a:ext cx="603300" cy="6057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2" name="Google Shape;112;p6"/>
          <p:cNvPicPr preferRelativeResize="0"/>
          <p:nvPr/>
        </p:nvPicPr>
        <p:blipFill rotWithShape="1">
          <a:blip r:embed="rId5">
            <a:alphaModFix/>
          </a:blip>
          <a:srcRect b="0" l="0" r="0" t="0"/>
          <a:stretch/>
        </p:blipFill>
        <p:spPr>
          <a:xfrm>
            <a:off x="536684" y="3520617"/>
            <a:ext cx="311281" cy="312643"/>
          </a:xfrm>
          <a:prstGeom prst="rect">
            <a:avLst/>
          </a:prstGeom>
          <a:noFill/>
          <a:ln>
            <a:noFill/>
          </a:ln>
        </p:spPr>
      </p:pic>
      <p:sp>
        <p:nvSpPr>
          <p:cNvPr id="113" name="Google Shape;113;p6"/>
          <p:cNvSpPr/>
          <p:nvPr/>
        </p:nvSpPr>
        <p:spPr>
          <a:xfrm>
            <a:off x="1139790" y="3334985"/>
            <a:ext cx="4572000" cy="7035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Autumn to spring</a:t>
            </a:r>
            <a:endParaRPr sz="1400">
              <a:solidFill>
                <a:schemeClr val="dk1"/>
              </a:solidFill>
              <a:latin typeface="Calibri"/>
              <a:ea typeface="Calibri"/>
              <a:cs typeface="Calibri"/>
              <a:sym typeface="Calibri"/>
            </a:endParaRPr>
          </a:p>
        </p:txBody>
      </p:sp>
      <p:sp>
        <p:nvSpPr>
          <p:cNvPr id="114" name="Google Shape;114;p6"/>
          <p:cNvSpPr/>
          <p:nvPr/>
        </p:nvSpPr>
        <p:spPr>
          <a:xfrm>
            <a:off x="390771" y="4116593"/>
            <a:ext cx="5291700" cy="9771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Higher and degree apprenticeship vacancies run on rolling deadlines all year — the strongest close early. Employment applications follow the same rule. Digital degree apprenticeship employers — major tech companies, media production houses and public sector digital teams — typically open between October and January. The strongest vacancies close first. Check individual closing dates this week.</a:t>
            </a:r>
            <a:endParaRPr sz="1150">
              <a:solidFill>
                <a:schemeClr val="dk1"/>
              </a:solidFill>
              <a:latin typeface="Calibri"/>
              <a:ea typeface="Calibri"/>
              <a:cs typeface="Calibri"/>
              <a:sym typeface="Calibri"/>
            </a:endParaRPr>
          </a:p>
        </p:txBody>
      </p:sp>
      <p:sp>
        <p:nvSpPr>
          <p:cNvPr id="115" name="Google Shape;115;p6"/>
          <p:cNvSpPr/>
          <p:nvPr/>
        </p:nvSpPr>
        <p:spPr>
          <a:xfrm>
            <a:off x="6178649" y="3120043"/>
            <a:ext cx="5836500" cy="2110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6" name="Google Shape;116;p6"/>
          <p:cNvSpPr/>
          <p:nvPr/>
        </p:nvSpPr>
        <p:spPr>
          <a:xfrm>
            <a:off x="6451020" y="3374066"/>
            <a:ext cx="603300" cy="605700"/>
          </a:xfrm>
          <a:prstGeom prst="ellipse">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17" name="Google Shape;117;p6"/>
          <p:cNvPicPr preferRelativeResize="0"/>
          <p:nvPr/>
        </p:nvPicPr>
        <p:blipFill rotWithShape="1">
          <a:blip r:embed="rId6">
            <a:alphaModFix/>
          </a:blip>
          <a:srcRect b="0" l="0" r="0" t="0"/>
          <a:stretch/>
        </p:blipFill>
        <p:spPr>
          <a:xfrm>
            <a:off x="6596933" y="3520617"/>
            <a:ext cx="311281" cy="312643"/>
          </a:xfrm>
          <a:prstGeom prst="rect">
            <a:avLst/>
          </a:prstGeom>
          <a:noFill/>
          <a:ln>
            <a:noFill/>
          </a:ln>
        </p:spPr>
      </p:pic>
      <p:sp>
        <p:nvSpPr>
          <p:cNvPr id="118" name="Google Shape;118;p6"/>
          <p:cNvSpPr/>
          <p:nvPr/>
        </p:nvSpPr>
        <p:spPr>
          <a:xfrm>
            <a:off x="7200040" y="3334985"/>
            <a:ext cx="4572000" cy="703500"/>
          </a:xfrm>
          <a:prstGeom prst="rect">
            <a:avLst/>
          </a:prstGeom>
          <a:noFill/>
          <a:ln>
            <a:noFill/>
          </a:ln>
        </p:spPr>
        <p:txBody>
          <a:bodyPr anchorCtr="0" anchor="ctr" bIns="0" lIns="0" spcFirstLastPara="1" rIns="0" wrap="square" tIns="0">
            <a:noAutofit/>
          </a:bodyPr>
          <a:lstStyle/>
          <a:p>
            <a:pPr indent="0" lvl="0" marL="0" marR="0" rtl="0" algn="l">
              <a:lnSpc>
                <a:spcPct val="98000"/>
              </a:lnSpc>
              <a:spcBef>
                <a:spcPts val="0"/>
              </a:spcBef>
              <a:spcAft>
                <a:spcPts val="0"/>
              </a:spcAft>
              <a:buClr>
                <a:srgbClr val="0D2434"/>
              </a:buClr>
              <a:buSzPts val="1400"/>
              <a:buFont typeface="Poppins SemiBold"/>
              <a:buNone/>
            </a:pPr>
            <a:r>
              <a:rPr lang="en-US" sz="1400">
                <a:solidFill>
                  <a:srgbClr val="0D2434"/>
                </a:solidFill>
                <a:latin typeface="Poppins SemiBold"/>
                <a:ea typeface="Poppins SemiBold"/>
                <a:cs typeface="Poppins SemiBold"/>
                <a:sym typeface="Poppins SemiBold"/>
              </a:rPr>
              <a:t>Results day</a:t>
            </a:r>
            <a:endParaRPr sz="1400">
              <a:solidFill>
                <a:schemeClr val="dk1"/>
              </a:solidFill>
              <a:latin typeface="Calibri"/>
              <a:ea typeface="Calibri"/>
              <a:cs typeface="Calibri"/>
              <a:sym typeface="Calibri"/>
            </a:endParaRPr>
          </a:p>
        </p:txBody>
      </p:sp>
      <p:sp>
        <p:nvSpPr>
          <p:cNvPr id="119" name="Google Shape;119;p6"/>
          <p:cNvSpPr/>
          <p:nvPr/>
        </p:nvSpPr>
        <p:spPr>
          <a:xfrm>
            <a:off x="6451020" y="4116593"/>
            <a:ext cx="5291700" cy="9771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The grades that convert offers into places. Every deadline above exists to protect the time you need to earn them — the application is the easy half.</a:t>
            </a:r>
            <a:endParaRPr sz="1150">
              <a:solidFill>
                <a:schemeClr val="dk1"/>
              </a:solidFill>
              <a:latin typeface="Calibri"/>
              <a:ea typeface="Calibri"/>
              <a:cs typeface="Calibri"/>
              <a:sym typeface="Calibri"/>
            </a:endParaRPr>
          </a:p>
        </p:txBody>
      </p:sp>
      <p:sp>
        <p:nvSpPr>
          <p:cNvPr id="120" name="Google Shape;120;p6"/>
          <p:cNvSpPr/>
          <p:nvPr/>
        </p:nvSpPr>
        <p:spPr>
          <a:xfrm>
            <a:off x="502920" y="5486400"/>
            <a:ext cx="11192256" cy="868680"/>
          </a:xfrm>
          <a:prstGeom prst="rect">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1" name="Google Shape;121;p6"/>
          <p:cNvSpPr/>
          <p:nvPr/>
        </p:nvSpPr>
        <p:spPr>
          <a:xfrm>
            <a:off x="667512" y="5577840"/>
            <a:ext cx="1086307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Before delivery — confirm and insert: (1) UCAS equal-consideration deadline for this cycle. (2) UAL, UCH Hastings and specialist media college deadlines — these may differ from standard UCAS. (3) Internal ESCG reference submission deadline — always earlier than UCAS; confirm with your Head of Curriculum. (4) T Level Employer Set Project and placement internal deadlines. (5) Internal predicted grade submission deadline. Students rarely know these internal dates exist — naming them is the core value of this slide.</a:t>
            </a:r>
            <a:endParaRPr sz="1050">
              <a:solidFill>
                <a:schemeClr val="dk1"/>
              </a:solidFill>
              <a:latin typeface="Calibri"/>
              <a:ea typeface="Calibri"/>
              <a:cs typeface="Calibri"/>
              <a:sym typeface="Calibri"/>
            </a:endParaRPr>
          </a:p>
        </p:txBody>
      </p:sp>
      <p:sp>
        <p:nvSpPr>
          <p:cNvPr id="122" name="Google Shape;122;p6"/>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123" name="Google Shape;123;p6"/>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4</a:t>
            </a:r>
            <a:endParaRPr sz="850">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28" name="Shape 128"/>
        <p:cNvGrpSpPr/>
        <p:nvPr/>
      </p:nvGrpSpPr>
      <p:grpSpPr>
        <a:xfrm>
          <a:off x="0" y="0"/>
          <a:ext cx="0" cy="0"/>
          <a:chOff x="0" y="0"/>
          <a:chExt cx="0" cy="0"/>
        </a:xfrm>
      </p:grpSpPr>
      <p:sp>
        <p:nvSpPr>
          <p:cNvPr id="129" name="Google Shape;129;p7"/>
          <p:cNvSpPr/>
          <p:nvPr/>
        </p:nvSpPr>
        <p:spPr>
          <a:xfrm>
            <a:off x="502920" y="128032"/>
            <a:ext cx="9327000" cy="594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Two years of evidence — now it gets used</a:t>
            </a:r>
            <a:endParaRPr sz="2500">
              <a:solidFill>
                <a:schemeClr val="dk1"/>
              </a:solidFill>
              <a:latin typeface="Calibri"/>
              <a:ea typeface="Calibri"/>
              <a:cs typeface="Calibri"/>
              <a:sym typeface="Calibri"/>
            </a:endParaRPr>
          </a:p>
        </p:txBody>
      </p:sp>
      <p:sp>
        <p:nvSpPr>
          <p:cNvPr id="130" name="Google Shape;130;p7"/>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7"/>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132" name="Google Shape;132;p7"/>
          <p:cNvSpPr/>
          <p:nvPr/>
        </p:nvSpPr>
        <p:spPr>
          <a:xfrm>
            <a:off x="502920" y="731527"/>
            <a:ext cx="10881300" cy="384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Everything you logged in Year 1 becomes application material this term. Audit it now, while gaps are still fixable.</a:t>
            </a:r>
            <a:endParaRPr sz="1300">
              <a:solidFill>
                <a:schemeClr val="dk1"/>
              </a:solidFill>
              <a:latin typeface="Calibri"/>
              <a:ea typeface="Calibri"/>
              <a:cs typeface="Calibri"/>
              <a:sym typeface="Calibri"/>
            </a:endParaRPr>
          </a:p>
        </p:txBody>
      </p:sp>
      <p:sp>
        <p:nvSpPr>
          <p:cNvPr id="133" name="Google Shape;133;p7"/>
          <p:cNvSpPr/>
          <p:nvPr/>
        </p:nvSpPr>
        <p:spPr>
          <a:xfrm>
            <a:off x="190575" y="1276300"/>
            <a:ext cx="3793500" cy="3625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4" name="Google Shape;134;p7"/>
          <p:cNvPicPr preferRelativeResize="0"/>
          <p:nvPr/>
        </p:nvPicPr>
        <p:blipFill rotWithShape="1">
          <a:blip r:embed="rId3">
            <a:alphaModFix/>
          </a:blip>
          <a:srcRect b="0" l="0" r="0" t="0"/>
          <a:stretch/>
        </p:blipFill>
        <p:spPr>
          <a:xfrm>
            <a:off x="476499" y="1638871"/>
            <a:ext cx="524195" cy="664713"/>
          </a:xfrm>
          <a:prstGeom prst="rect">
            <a:avLst/>
          </a:prstGeom>
          <a:noFill/>
          <a:ln>
            <a:noFill/>
          </a:ln>
        </p:spPr>
      </p:pic>
      <p:sp>
        <p:nvSpPr>
          <p:cNvPr id="135" name="Google Shape;135;p7"/>
          <p:cNvSpPr/>
          <p:nvPr/>
        </p:nvSpPr>
        <p:spPr>
          <a:xfrm>
            <a:off x="476499" y="2484869"/>
            <a:ext cx="3221400" cy="50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My Digital CV</a:t>
            </a:r>
            <a:endParaRPr sz="1500">
              <a:solidFill>
                <a:schemeClr val="dk1"/>
              </a:solidFill>
              <a:latin typeface="Calibri"/>
              <a:ea typeface="Calibri"/>
              <a:cs typeface="Calibri"/>
              <a:sym typeface="Calibri"/>
            </a:endParaRPr>
          </a:p>
        </p:txBody>
      </p:sp>
      <p:sp>
        <p:nvSpPr>
          <p:cNvPr id="136" name="Google Shape;136;p7"/>
          <p:cNvSpPr/>
          <p:nvPr/>
        </p:nvSpPr>
        <p:spPr>
          <a:xfrm>
            <a:off x="476499" y="3028726"/>
            <a:ext cx="3221400" cy="17523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This is the raw material for every application you make this year. Audit it this week — what is missing is fixable in October and unfixable in January.</a:t>
            </a:r>
            <a:endParaRPr sz="1150">
              <a:solidFill>
                <a:schemeClr val="dk1"/>
              </a:solidFill>
              <a:latin typeface="Calibri"/>
              <a:ea typeface="Calibri"/>
              <a:cs typeface="Calibri"/>
              <a:sym typeface="Calibri"/>
            </a:endParaRPr>
          </a:p>
        </p:txBody>
      </p:sp>
      <p:sp>
        <p:nvSpPr>
          <p:cNvPr id="137" name="Google Shape;137;p7"/>
          <p:cNvSpPr/>
          <p:nvPr/>
        </p:nvSpPr>
        <p:spPr>
          <a:xfrm>
            <a:off x="4126799" y="1276300"/>
            <a:ext cx="3793500" cy="3625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38" name="Google Shape;138;p7"/>
          <p:cNvPicPr preferRelativeResize="0"/>
          <p:nvPr/>
        </p:nvPicPr>
        <p:blipFill rotWithShape="1">
          <a:blip r:embed="rId4">
            <a:alphaModFix/>
          </a:blip>
          <a:srcRect b="0" l="0" r="0" t="0"/>
          <a:stretch/>
        </p:blipFill>
        <p:spPr>
          <a:xfrm>
            <a:off x="4412723" y="1638871"/>
            <a:ext cx="524195" cy="664713"/>
          </a:xfrm>
          <a:prstGeom prst="rect">
            <a:avLst/>
          </a:prstGeom>
          <a:noFill/>
          <a:ln>
            <a:noFill/>
          </a:ln>
        </p:spPr>
      </p:pic>
      <p:sp>
        <p:nvSpPr>
          <p:cNvPr id="139" name="Google Shape;139;p7"/>
          <p:cNvSpPr/>
          <p:nvPr/>
        </p:nvSpPr>
        <p:spPr>
          <a:xfrm>
            <a:off x="5032236" y="1621869"/>
            <a:ext cx="3221400" cy="50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Skills Assessment</a:t>
            </a:r>
            <a:endParaRPr sz="1500">
              <a:solidFill>
                <a:schemeClr val="dk1"/>
              </a:solidFill>
              <a:latin typeface="Calibri"/>
              <a:ea typeface="Calibri"/>
              <a:cs typeface="Calibri"/>
              <a:sym typeface="Calibri"/>
            </a:endParaRPr>
          </a:p>
        </p:txBody>
      </p:sp>
      <p:sp>
        <p:nvSpPr>
          <p:cNvPr id="140" name="Google Shape;140;p7"/>
          <p:cNvSpPr/>
          <p:nvPr/>
        </p:nvSpPr>
        <p:spPr>
          <a:xfrm>
            <a:off x="4366400" y="2595725"/>
            <a:ext cx="3351900" cy="2185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Your results point at what to sharpen before interviews and assessments — and the growth since Year 1 is exactly what statements and interviews want to hear about. portfolio review and interview preparation for Games Art, Photography and Film routes; personal statement drafting for Media and Computing university routes; Employer Set Project response skills for T Level students; technical aptitude preparation for degree apprenticeship applications in digital and computing</a:t>
            </a:r>
            <a:endParaRPr sz="1150">
              <a:solidFill>
                <a:schemeClr val="dk1"/>
              </a:solidFill>
              <a:latin typeface="Calibri"/>
              <a:ea typeface="Calibri"/>
              <a:cs typeface="Calibri"/>
              <a:sym typeface="Calibri"/>
            </a:endParaRPr>
          </a:p>
        </p:txBody>
      </p:sp>
      <p:sp>
        <p:nvSpPr>
          <p:cNvPr id="141" name="Google Shape;141;p7"/>
          <p:cNvSpPr/>
          <p:nvPr/>
        </p:nvSpPr>
        <p:spPr>
          <a:xfrm>
            <a:off x="8063023" y="1276300"/>
            <a:ext cx="3793500" cy="3625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142" name="Google Shape;142;p7"/>
          <p:cNvPicPr preferRelativeResize="0"/>
          <p:nvPr/>
        </p:nvPicPr>
        <p:blipFill rotWithShape="1">
          <a:blip r:embed="rId5">
            <a:alphaModFix/>
          </a:blip>
          <a:srcRect b="0" l="0" r="0" t="0"/>
          <a:stretch/>
        </p:blipFill>
        <p:spPr>
          <a:xfrm>
            <a:off x="8348947" y="1638871"/>
            <a:ext cx="524195" cy="664713"/>
          </a:xfrm>
          <a:prstGeom prst="rect">
            <a:avLst/>
          </a:prstGeom>
          <a:noFill/>
          <a:ln>
            <a:noFill/>
          </a:ln>
        </p:spPr>
      </p:pic>
      <p:sp>
        <p:nvSpPr>
          <p:cNvPr id="143" name="Google Shape;143;p7"/>
          <p:cNvSpPr/>
          <p:nvPr/>
        </p:nvSpPr>
        <p:spPr>
          <a:xfrm>
            <a:off x="9085272" y="1621869"/>
            <a:ext cx="3221400" cy="50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500"/>
              <a:buFont typeface="Poppins SemiBold"/>
              <a:buNone/>
            </a:pPr>
            <a:r>
              <a:rPr lang="en-US" sz="1500">
                <a:solidFill>
                  <a:srgbClr val="0D2434"/>
                </a:solidFill>
                <a:latin typeface="Poppins SemiBold"/>
                <a:ea typeface="Poppins SemiBold"/>
                <a:cs typeface="Poppins SemiBold"/>
                <a:sym typeface="Poppins SemiBold"/>
              </a:rPr>
              <a:t>Opportunities record</a:t>
            </a:r>
            <a:endParaRPr sz="1500">
              <a:solidFill>
                <a:schemeClr val="dk1"/>
              </a:solidFill>
              <a:latin typeface="Calibri"/>
              <a:ea typeface="Calibri"/>
              <a:cs typeface="Calibri"/>
              <a:sym typeface="Calibri"/>
            </a:endParaRPr>
          </a:p>
        </p:txBody>
      </p:sp>
      <p:sp>
        <p:nvSpPr>
          <p:cNvPr id="144" name="Google Shape;144;p7"/>
          <p:cNvSpPr/>
          <p:nvPr/>
        </p:nvSpPr>
        <p:spPr>
          <a:xfrm>
            <a:off x="8348950" y="2484875"/>
            <a:ext cx="3221400" cy="2296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150"/>
              <a:buFont typeface="Poppins"/>
              <a:buNone/>
            </a:pPr>
            <a:r>
              <a:rPr lang="en-US" sz="1150">
                <a:solidFill>
                  <a:srgbClr val="1B2A30"/>
                </a:solidFill>
                <a:latin typeface="Poppins"/>
                <a:ea typeface="Poppins"/>
                <a:cs typeface="Poppins"/>
                <a:sym typeface="Poppins"/>
              </a:rPr>
              <a:t>Every placement and project from Year 1 is application evidence. If it happened and is not logged, it effectively did not happen. Fix that this week. every project edit, design, portfolio page, technical report, placement hour or Employer Set Project draft from Year 1 is application material — if it happened and is not logged, it effectively did not happen. Fix that this week, not in January when reference-writers are working under pressure.</a:t>
            </a:r>
            <a:endParaRPr sz="1150">
              <a:solidFill>
                <a:schemeClr val="dk1"/>
              </a:solidFill>
              <a:latin typeface="Calibri"/>
              <a:ea typeface="Calibri"/>
              <a:cs typeface="Calibri"/>
              <a:sym typeface="Calibri"/>
            </a:endParaRPr>
          </a:p>
        </p:txBody>
      </p:sp>
      <p:sp>
        <p:nvSpPr>
          <p:cNvPr id="145" name="Google Shape;145;p7"/>
          <p:cNvSpPr/>
          <p:nvPr/>
        </p:nvSpPr>
        <p:spPr>
          <a:xfrm>
            <a:off x="502920" y="5093195"/>
            <a:ext cx="11192400" cy="1417200"/>
          </a:xfrm>
          <a:prstGeom prst="rect">
            <a:avLst/>
          </a:prstGeom>
          <a:solidFill>
            <a:srgbClr val="0D243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7"/>
          <p:cNvSpPr/>
          <p:nvPr/>
        </p:nvSpPr>
        <p:spPr>
          <a:xfrm>
            <a:off x="868680" y="5303507"/>
            <a:ext cx="10515600" cy="41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Where it goes, starting now:  </a:t>
            </a:r>
            <a:r>
              <a:rPr lang="en-US" sz="1500">
                <a:solidFill>
                  <a:srgbClr val="FFFFFF"/>
                </a:solidFill>
                <a:latin typeface="Poppins SemiBold"/>
                <a:ea typeface="Poppins SemiBold"/>
                <a:cs typeface="Poppins SemiBold"/>
                <a:sym typeface="Poppins SemiBold"/>
              </a:rPr>
              <a:t>UCAS  ·  apprenticeship applications  ·  references</a:t>
            </a:r>
            <a:endParaRPr sz="1500">
              <a:solidFill>
                <a:schemeClr val="dk1"/>
              </a:solidFill>
              <a:latin typeface="Calibri"/>
              <a:ea typeface="Calibri"/>
              <a:cs typeface="Calibri"/>
              <a:sym typeface="Calibri"/>
            </a:endParaRPr>
          </a:p>
        </p:txBody>
      </p:sp>
      <p:sp>
        <p:nvSpPr>
          <p:cNvPr id="147" name="Google Shape;147;p7"/>
          <p:cNvSpPr/>
          <p:nvPr/>
        </p:nvSpPr>
        <p:spPr>
          <a:xfrm>
            <a:off x="868680" y="5778995"/>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7D2D6"/>
              </a:buClr>
              <a:buSzPts val="1250"/>
              <a:buFont typeface="Poppins"/>
              <a:buNone/>
            </a:pPr>
            <a:r>
              <a:rPr i="1" lang="en-US" sz="1250">
                <a:solidFill>
                  <a:srgbClr val="C7D2D6"/>
                </a:solidFill>
                <a:latin typeface="Poppins"/>
                <a:ea typeface="Poppins"/>
                <a:cs typeface="Poppins"/>
                <a:sym typeface="Poppins"/>
              </a:rPr>
              <a:t>Your references and applications get written from this record this term — not from anyone’s memory.</a:t>
            </a:r>
            <a:endParaRPr sz="1250">
              <a:solidFill>
                <a:schemeClr val="dk1"/>
              </a:solidFill>
              <a:latin typeface="Calibri"/>
              <a:ea typeface="Calibri"/>
              <a:cs typeface="Calibri"/>
              <a:sym typeface="Calibri"/>
            </a:endParaRPr>
          </a:p>
        </p:txBody>
      </p:sp>
      <p:sp>
        <p:nvSpPr>
          <p:cNvPr id="148" name="Google Shape;148;p7"/>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149" name="Google Shape;149;p7"/>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5</a:t>
            </a:r>
            <a:endParaRPr sz="8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54" name="Shape 154"/>
        <p:cNvGrpSpPr/>
        <p:nvPr/>
      </p:nvGrpSpPr>
      <p:grpSpPr>
        <a:xfrm>
          <a:off x="0" y="0"/>
          <a:ext cx="0" cy="0"/>
          <a:chOff x="0" y="0"/>
          <a:chExt cx="0" cy="0"/>
        </a:xfrm>
      </p:grpSpPr>
      <p:sp>
        <p:nvSpPr>
          <p:cNvPr id="155" name="Google Shape;155;p8"/>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This year, goals come with deadlines built in</a:t>
            </a:r>
            <a:endParaRPr sz="2500">
              <a:solidFill>
                <a:schemeClr val="dk1"/>
              </a:solidFill>
              <a:latin typeface="Calibri"/>
              <a:ea typeface="Calibri"/>
              <a:cs typeface="Calibri"/>
              <a:sym typeface="Calibri"/>
            </a:endParaRPr>
          </a:p>
        </p:txBody>
      </p:sp>
      <p:sp>
        <p:nvSpPr>
          <p:cNvPr id="156" name="Google Shape;156;p8"/>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7" name="Google Shape;157;p8"/>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158" name="Google Shape;158;p8"/>
          <p:cNvSpPr/>
          <p:nvPr/>
        </p:nvSpPr>
        <p:spPr>
          <a:xfrm>
            <a:off x="502920" y="1143000"/>
            <a:ext cx="5486400" cy="397764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9" name="Google Shape;159;p8"/>
          <p:cNvSpPr/>
          <p:nvPr/>
        </p:nvSpPr>
        <p:spPr>
          <a:xfrm>
            <a:off x="868680" y="141732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SemiBold"/>
              <a:buNone/>
            </a:pPr>
            <a:r>
              <a:rPr lang="en-US" sz="1300">
                <a:solidFill>
                  <a:srgbClr val="5A6A6F"/>
                </a:solidFill>
                <a:latin typeface="Poppins SemiBold"/>
                <a:ea typeface="Poppins SemiBold"/>
                <a:cs typeface="Poppins SemiBold"/>
                <a:sym typeface="Poppins SemiBold"/>
              </a:rPr>
              <a:t>ASPIRATION</a:t>
            </a:r>
            <a:endParaRPr sz="1300">
              <a:solidFill>
                <a:schemeClr val="dk1"/>
              </a:solidFill>
              <a:latin typeface="Calibri"/>
              <a:ea typeface="Calibri"/>
              <a:cs typeface="Calibri"/>
              <a:sym typeface="Calibri"/>
            </a:endParaRPr>
          </a:p>
        </p:txBody>
      </p:sp>
      <p:sp>
        <p:nvSpPr>
          <p:cNvPr id="160" name="Google Shape;160;p8"/>
          <p:cNvSpPr/>
          <p:nvPr/>
        </p:nvSpPr>
        <p:spPr>
          <a:xfrm>
            <a:off x="868675" y="1965939"/>
            <a:ext cx="4755000" cy="19092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D2434"/>
              </a:buClr>
              <a:buSzPts val="1900"/>
              <a:buFont typeface="Poppins SemiBold"/>
              <a:buNone/>
            </a:pPr>
            <a:r>
              <a:rPr lang="en-US" sz="1900">
                <a:solidFill>
                  <a:srgbClr val="0D2434"/>
                </a:solidFill>
                <a:latin typeface="Poppins SemiBold"/>
                <a:ea typeface="Poppins SemiBold"/>
                <a:cs typeface="Poppins SemiBold"/>
                <a:sym typeface="Poppins SemiBold"/>
              </a:rPr>
              <a:t>"I want to study Games Design at university." or "I want a degree apprenticeship in digital technology." or "I want to work in film production." or "I want to be a SOC analyst."</a:t>
            </a:r>
            <a:endParaRPr sz="1900">
              <a:solidFill>
                <a:schemeClr val="dk1"/>
              </a:solidFill>
              <a:latin typeface="Calibri"/>
              <a:ea typeface="Calibri"/>
              <a:cs typeface="Calibri"/>
              <a:sym typeface="Calibri"/>
            </a:endParaRPr>
          </a:p>
        </p:txBody>
      </p:sp>
      <p:sp>
        <p:nvSpPr>
          <p:cNvPr id="161" name="Google Shape;161;p8"/>
          <p:cNvSpPr/>
          <p:nvPr/>
        </p:nvSpPr>
        <p:spPr>
          <a:xfrm>
            <a:off x="6217920" y="1143000"/>
            <a:ext cx="5486400" cy="3977640"/>
          </a:xfrm>
          <a:prstGeom prst="rect">
            <a:avLst/>
          </a:prstGeom>
          <a:solidFill>
            <a:srgbClr val="FDEFDD"/>
          </a:solidFill>
          <a:ln cap="flat" cmpd="sng" w="15875">
            <a:solidFill>
              <a:srgbClr val="F6891E"/>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62" name="Google Shape;162;p8"/>
          <p:cNvSpPr/>
          <p:nvPr/>
        </p:nvSpPr>
        <p:spPr>
          <a:xfrm>
            <a:off x="6583680" y="1417320"/>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300"/>
              <a:buFont typeface="Poppins SemiBold"/>
              <a:buNone/>
            </a:pPr>
            <a:r>
              <a:rPr lang="en-US" sz="1300">
                <a:solidFill>
                  <a:srgbClr val="F6891E"/>
                </a:solidFill>
                <a:latin typeface="Poppins SemiBold"/>
                <a:ea typeface="Poppins SemiBold"/>
                <a:cs typeface="Poppins SemiBold"/>
                <a:sym typeface="Poppins SemiBold"/>
              </a:rPr>
              <a:t>GOAL</a:t>
            </a:r>
            <a:endParaRPr sz="1300">
              <a:solidFill>
                <a:schemeClr val="dk1"/>
              </a:solidFill>
              <a:latin typeface="Calibri"/>
              <a:ea typeface="Calibri"/>
              <a:cs typeface="Calibri"/>
              <a:sym typeface="Calibri"/>
            </a:endParaRPr>
          </a:p>
        </p:txBody>
      </p:sp>
      <p:sp>
        <p:nvSpPr>
          <p:cNvPr id="163" name="Google Shape;163;p8"/>
          <p:cNvSpPr/>
          <p:nvPr/>
        </p:nvSpPr>
        <p:spPr>
          <a:xfrm>
            <a:off x="6583675" y="1920260"/>
            <a:ext cx="4800600" cy="2835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0D2434"/>
              </a:buClr>
              <a:buSzPts val="1550"/>
              <a:buFont typeface="Poppins SemiBold"/>
              <a:buNone/>
            </a:pPr>
            <a:r>
              <a:rPr lang="en-US" sz="1550">
                <a:solidFill>
                  <a:srgbClr val="0D2434"/>
                </a:solidFill>
                <a:latin typeface="Poppins SemiBold"/>
                <a:ea typeface="Poppins SemiBold"/>
                <a:cs typeface="Poppins SemiBold"/>
                <a:sym typeface="Poppins SemiBold"/>
              </a:rPr>
              <a:t>For university routes: "By half-term my UCAS choices are confirmed and my personal statement has had one round of teacher feedback. First step: arrange a feedback session this week." For T Level routes: "By half-term I have researched three degree apprenticeship employers and have a draft statement ready. First step: check application opening dates today." For portfolio routes: "By half-term my portfolio shortlist is complete and I have had one tutor review. First step: book a portfolio session this week."</a:t>
            </a:r>
            <a:endParaRPr sz="1550">
              <a:solidFill>
                <a:schemeClr val="dk1"/>
              </a:solidFill>
              <a:latin typeface="Calibri"/>
              <a:ea typeface="Calibri"/>
              <a:cs typeface="Calibri"/>
              <a:sym typeface="Calibri"/>
            </a:endParaRPr>
          </a:p>
        </p:txBody>
      </p:sp>
      <p:sp>
        <p:nvSpPr>
          <p:cNvPr id="164" name="Google Shape;164;p8"/>
          <p:cNvSpPr/>
          <p:nvPr/>
        </p:nvSpPr>
        <p:spPr>
          <a:xfrm>
            <a:off x="502920" y="5440680"/>
            <a:ext cx="111556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00"/>
              <a:buFont typeface="Poppins"/>
              <a:buNone/>
            </a:pPr>
            <a:r>
              <a:rPr i="1" lang="en-US" sz="1400">
                <a:solidFill>
                  <a:srgbClr val="0D2434"/>
                </a:solidFill>
                <a:latin typeface="Poppins"/>
                <a:ea typeface="Poppins"/>
                <a:cs typeface="Poppins"/>
                <a:sym typeface="Poppins"/>
              </a:rPr>
              <a:t>The test this year is harsher: does it beat the deadline with room to spare? On-time is the new late.</a:t>
            </a:r>
            <a:endParaRPr sz="1400">
              <a:solidFill>
                <a:schemeClr val="dk1"/>
              </a:solidFill>
              <a:latin typeface="Calibri"/>
              <a:ea typeface="Calibri"/>
              <a:cs typeface="Calibri"/>
              <a:sym typeface="Calibri"/>
            </a:endParaRPr>
          </a:p>
        </p:txBody>
      </p:sp>
      <p:sp>
        <p:nvSpPr>
          <p:cNvPr id="165" name="Google Shape;165;p8"/>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166" name="Google Shape;166;p8"/>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6</a:t>
            </a:r>
            <a:endParaRPr sz="85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71" name="Shape 171"/>
        <p:cNvGrpSpPr/>
        <p:nvPr/>
      </p:nvGrpSpPr>
      <p:grpSpPr>
        <a:xfrm>
          <a:off x="0" y="0"/>
          <a:ext cx="0" cy="0"/>
          <a:chOff x="0" y="0"/>
          <a:chExt cx="0" cy="0"/>
        </a:xfrm>
      </p:grpSpPr>
      <p:sp>
        <p:nvSpPr>
          <p:cNvPr id="172" name="Google Shape;172;p9"/>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Three horizons — backwards from the deadlines</a:t>
            </a:r>
            <a:endParaRPr sz="2500">
              <a:solidFill>
                <a:schemeClr val="dk1"/>
              </a:solidFill>
              <a:latin typeface="Calibri"/>
              <a:ea typeface="Calibri"/>
              <a:cs typeface="Calibri"/>
              <a:sym typeface="Calibri"/>
            </a:endParaRPr>
          </a:p>
        </p:txBody>
      </p:sp>
      <p:sp>
        <p:nvSpPr>
          <p:cNvPr id="173" name="Google Shape;173;p9"/>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4" name="Google Shape;174;p9"/>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ACTIVITY</a:t>
            </a:r>
            <a:endParaRPr sz="1050">
              <a:solidFill>
                <a:schemeClr val="dk1"/>
              </a:solidFill>
              <a:latin typeface="Calibri"/>
              <a:ea typeface="Calibri"/>
              <a:cs typeface="Calibri"/>
              <a:sym typeface="Calibri"/>
            </a:endParaRPr>
          </a:p>
        </p:txBody>
      </p:sp>
      <p:sp>
        <p:nvSpPr>
          <p:cNvPr id="175" name="Google Shape;175;p9"/>
          <p:cNvSpPr/>
          <p:nvPr/>
        </p:nvSpPr>
        <p:spPr>
          <a:xfrm>
            <a:off x="306075" y="1143000"/>
            <a:ext cx="3779100" cy="3580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76" name="Google Shape;176;p9"/>
          <p:cNvSpPr/>
          <p:nvPr/>
        </p:nvSpPr>
        <p:spPr>
          <a:xfrm>
            <a:off x="590944" y="1442257"/>
            <a:ext cx="3209400" cy="42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THIS HALF-TERM</a:t>
            </a:r>
            <a:endParaRPr sz="1500">
              <a:solidFill>
                <a:schemeClr val="dk1"/>
              </a:solidFill>
              <a:latin typeface="Calibri"/>
              <a:ea typeface="Calibri"/>
              <a:cs typeface="Calibri"/>
              <a:sym typeface="Calibri"/>
            </a:endParaRPr>
          </a:p>
        </p:txBody>
      </p:sp>
      <p:sp>
        <p:nvSpPr>
          <p:cNvPr id="177" name="Google Shape;177;p9"/>
          <p:cNvSpPr/>
          <p:nvPr/>
        </p:nvSpPr>
        <p:spPr>
          <a:xfrm>
            <a:off x="590944" y="1891143"/>
            <a:ext cx="3209400" cy="34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Now</a:t>
            </a:r>
            <a:endParaRPr sz="1100">
              <a:solidFill>
                <a:schemeClr val="dk1"/>
              </a:solidFill>
              <a:latin typeface="Calibri"/>
              <a:ea typeface="Calibri"/>
              <a:cs typeface="Calibri"/>
              <a:sym typeface="Calibri"/>
            </a:endParaRPr>
          </a:p>
        </p:txBody>
      </p:sp>
      <p:sp>
        <p:nvSpPr>
          <p:cNvPr id="178" name="Google Shape;178;p9"/>
          <p:cNvSpPr/>
          <p:nvPr/>
        </p:nvSpPr>
        <p:spPr>
          <a:xfrm>
            <a:off x="590950" y="2340026"/>
            <a:ext cx="3209400" cy="778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Route chosen, record audited, first application started — the groundwork.</a:t>
            </a:r>
            <a:endParaRPr sz="1200">
              <a:solidFill>
                <a:schemeClr val="dk1"/>
              </a:solidFill>
              <a:latin typeface="Calibri"/>
              <a:ea typeface="Calibri"/>
              <a:cs typeface="Calibri"/>
              <a:sym typeface="Calibri"/>
            </a:endParaRPr>
          </a:p>
        </p:txBody>
      </p:sp>
      <p:sp>
        <p:nvSpPr>
          <p:cNvPr id="179" name="Google Shape;179;p9"/>
          <p:cNvSpPr/>
          <p:nvPr/>
        </p:nvSpPr>
        <p:spPr>
          <a:xfrm>
            <a:off x="502925" y="3110575"/>
            <a:ext cx="3297300" cy="14526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For university routes: UCAS choices confirmed, personal statement drafted, teacher feedback arranged — by half-term. For T Level routes: degree apprenticeship employer shortlist complete, statement drafted, Employer Set Project evidence building — by half-term. For portfolio routes: portfolio shortlist done, Final Major Project specialism confirmed, one round of tutor feedback received — by half-term.</a:t>
            </a:r>
            <a:endParaRPr sz="1100">
              <a:solidFill>
                <a:schemeClr val="dk1"/>
              </a:solidFill>
              <a:latin typeface="Calibri"/>
              <a:ea typeface="Calibri"/>
              <a:cs typeface="Calibri"/>
              <a:sym typeface="Calibri"/>
            </a:endParaRPr>
          </a:p>
        </p:txBody>
      </p:sp>
      <p:sp>
        <p:nvSpPr>
          <p:cNvPr id="180" name="Google Shape;180;p9"/>
          <p:cNvSpPr/>
          <p:nvPr/>
        </p:nvSpPr>
        <p:spPr>
          <a:xfrm>
            <a:off x="4227770" y="1143000"/>
            <a:ext cx="3779100" cy="3580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1" name="Google Shape;181;p9"/>
          <p:cNvSpPr/>
          <p:nvPr/>
        </p:nvSpPr>
        <p:spPr>
          <a:xfrm>
            <a:off x="4512638" y="1442257"/>
            <a:ext cx="3209400" cy="42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BY JANUARY</a:t>
            </a:r>
            <a:endParaRPr sz="1500">
              <a:solidFill>
                <a:schemeClr val="dk1"/>
              </a:solidFill>
              <a:latin typeface="Calibri"/>
              <a:ea typeface="Calibri"/>
              <a:cs typeface="Calibri"/>
              <a:sym typeface="Calibri"/>
            </a:endParaRPr>
          </a:p>
        </p:txBody>
      </p:sp>
      <p:sp>
        <p:nvSpPr>
          <p:cNvPr id="182" name="Google Shape;182;p9"/>
          <p:cNvSpPr/>
          <p:nvPr/>
        </p:nvSpPr>
        <p:spPr>
          <a:xfrm>
            <a:off x="4512638" y="1891143"/>
            <a:ext cx="3209400" cy="34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The cycle</a:t>
            </a:r>
            <a:endParaRPr sz="1100">
              <a:solidFill>
                <a:schemeClr val="dk1"/>
              </a:solidFill>
              <a:latin typeface="Calibri"/>
              <a:ea typeface="Calibri"/>
              <a:cs typeface="Calibri"/>
              <a:sym typeface="Calibri"/>
            </a:endParaRPr>
          </a:p>
        </p:txBody>
      </p:sp>
      <p:sp>
        <p:nvSpPr>
          <p:cNvPr id="183" name="Google Shape;183;p9"/>
          <p:cNvSpPr/>
          <p:nvPr/>
        </p:nvSpPr>
        <p:spPr>
          <a:xfrm>
            <a:off x="4512638" y="2340029"/>
            <a:ext cx="3209400" cy="1015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Every application submitted — before the deadline, not on it.</a:t>
            </a:r>
            <a:endParaRPr sz="1200">
              <a:solidFill>
                <a:schemeClr val="dk1"/>
              </a:solidFill>
              <a:latin typeface="Calibri"/>
              <a:ea typeface="Calibri"/>
              <a:cs typeface="Calibri"/>
              <a:sym typeface="Calibri"/>
            </a:endParaRPr>
          </a:p>
        </p:txBody>
      </p:sp>
      <p:sp>
        <p:nvSpPr>
          <p:cNvPr id="184" name="Google Shape;184;p9"/>
          <p:cNvSpPr/>
          <p:nvPr/>
        </p:nvSpPr>
        <p:spPr>
          <a:xfrm>
            <a:off x="4512650" y="3273901"/>
            <a:ext cx="3209400" cy="12894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For UCAS routes: application submitted and references in before the deadline. January is for portfolio development, interview preparation and Year 2 assessed work — not admin. For T Level students: Employer Set Project milestones on track and placement hours progressing. January is not the moment to start either.</a:t>
            </a:r>
            <a:endParaRPr sz="1100">
              <a:solidFill>
                <a:schemeClr val="dk1"/>
              </a:solidFill>
              <a:latin typeface="Calibri"/>
              <a:ea typeface="Calibri"/>
              <a:cs typeface="Calibri"/>
              <a:sym typeface="Calibri"/>
            </a:endParaRPr>
          </a:p>
        </p:txBody>
      </p:sp>
      <p:sp>
        <p:nvSpPr>
          <p:cNvPr id="185" name="Google Shape;185;p9"/>
          <p:cNvSpPr/>
          <p:nvPr/>
        </p:nvSpPr>
        <p:spPr>
          <a:xfrm>
            <a:off x="8149464" y="1143000"/>
            <a:ext cx="3779100" cy="358050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86" name="Google Shape;186;p9"/>
          <p:cNvSpPr/>
          <p:nvPr/>
        </p:nvSpPr>
        <p:spPr>
          <a:xfrm>
            <a:off x="8434333" y="1442257"/>
            <a:ext cx="3209400" cy="427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500"/>
              <a:buFont typeface="Poppins SemiBold"/>
              <a:buNone/>
            </a:pPr>
            <a:r>
              <a:rPr lang="en-US" sz="1500">
                <a:solidFill>
                  <a:srgbClr val="F6891E"/>
                </a:solidFill>
                <a:latin typeface="Poppins SemiBold"/>
                <a:ea typeface="Poppins SemiBold"/>
                <a:cs typeface="Poppins SemiBold"/>
                <a:sym typeface="Poppins SemiBold"/>
              </a:rPr>
              <a:t>RESULTS DAY</a:t>
            </a:r>
            <a:endParaRPr sz="1500">
              <a:solidFill>
                <a:schemeClr val="dk1"/>
              </a:solidFill>
              <a:latin typeface="Calibri"/>
              <a:ea typeface="Calibri"/>
              <a:cs typeface="Calibri"/>
              <a:sym typeface="Calibri"/>
            </a:endParaRPr>
          </a:p>
        </p:txBody>
      </p:sp>
      <p:sp>
        <p:nvSpPr>
          <p:cNvPr id="187" name="Google Shape;187;p9"/>
          <p:cNvSpPr/>
          <p:nvPr/>
        </p:nvSpPr>
        <p:spPr>
          <a:xfrm>
            <a:off x="8434333" y="1891143"/>
            <a:ext cx="3209400" cy="3420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100"/>
              <a:buFont typeface="Poppins"/>
              <a:buNone/>
            </a:pPr>
            <a:r>
              <a:rPr lang="en-US" sz="1100">
                <a:solidFill>
                  <a:srgbClr val="5A6A6F"/>
                </a:solidFill>
                <a:latin typeface="Poppins"/>
                <a:ea typeface="Poppins"/>
                <a:cs typeface="Poppins"/>
                <a:sym typeface="Poppins"/>
              </a:rPr>
              <a:t>The point</a:t>
            </a:r>
            <a:endParaRPr sz="1100">
              <a:solidFill>
                <a:schemeClr val="dk1"/>
              </a:solidFill>
              <a:latin typeface="Calibri"/>
              <a:ea typeface="Calibri"/>
              <a:cs typeface="Calibri"/>
              <a:sym typeface="Calibri"/>
            </a:endParaRPr>
          </a:p>
        </p:txBody>
      </p:sp>
      <p:sp>
        <p:nvSpPr>
          <p:cNvPr id="188" name="Google Shape;188;p9"/>
          <p:cNvSpPr/>
          <p:nvPr/>
        </p:nvSpPr>
        <p:spPr>
          <a:xfrm>
            <a:off x="8434308" y="2147717"/>
            <a:ext cx="3209400" cy="10152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The grades that turn offers into places — what the whole year answers to.</a:t>
            </a:r>
            <a:endParaRPr sz="1200">
              <a:solidFill>
                <a:schemeClr val="dk1"/>
              </a:solidFill>
              <a:latin typeface="Calibri"/>
              <a:ea typeface="Calibri"/>
              <a:cs typeface="Calibri"/>
              <a:sym typeface="Calibri"/>
            </a:endParaRPr>
          </a:p>
        </p:txBody>
      </p:sp>
      <p:sp>
        <p:nvSpPr>
          <p:cNvPr id="189" name="Google Shape;189;p9"/>
          <p:cNvSpPr/>
          <p:nvPr/>
        </p:nvSpPr>
        <p:spPr>
          <a:xfrm>
            <a:off x="8434325" y="3023302"/>
            <a:ext cx="3209400" cy="1539900"/>
          </a:xfrm>
          <a:prstGeom prst="rect">
            <a:avLst/>
          </a:prstGeom>
          <a:noFill/>
          <a:ln>
            <a:noFill/>
          </a:ln>
        </p:spPr>
        <p:txBody>
          <a:bodyPr anchorCtr="0" anchor="ctr" bIns="0" lIns="0" spcFirstLastPara="1" rIns="0" wrap="square" tIns="0">
            <a:noAutofit/>
          </a:bodyPr>
          <a:lstStyle/>
          <a:p>
            <a:pPr indent="0" lvl="0" marL="0" marR="0" rtl="0" algn="l">
              <a:lnSpc>
                <a:spcPct val="108000"/>
              </a:lnSpc>
              <a:spcBef>
                <a:spcPts val="0"/>
              </a:spcBef>
              <a:spcAft>
                <a:spcPts val="0"/>
              </a:spcAft>
              <a:buClr>
                <a:srgbClr val="5A6A6F"/>
              </a:buClr>
              <a:buSzPts val="1100"/>
              <a:buFont typeface="Poppins"/>
              <a:buNone/>
            </a:pPr>
            <a:r>
              <a:rPr i="1" lang="en-US" sz="1100">
                <a:solidFill>
                  <a:srgbClr val="5A6A6F"/>
                </a:solidFill>
                <a:latin typeface="Poppins"/>
                <a:ea typeface="Poppins"/>
                <a:cs typeface="Poppins"/>
                <a:sym typeface="Poppins"/>
              </a:rPr>
              <a:t>For university routes: the grades that convert conditional offers — and the revision and coursework strategy that earns them starts this half-term, not after applications go in. For T Level students: Pass, Merit or Distinction in the overall qualification — that grade answers to every component, including the Employer Set Project and placement hours, both of which are live right now.</a:t>
            </a:r>
            <a:endParaRPr sz="1100">
              <a:solidFill>
                <a:schemeClr val="dk1"/>
              </a:solidFill>
              <a:latin typeface="Calibri"/>
              <a:ea typeface="Calibri"/>
              <a:cs typeface="Calibri"/>
              <a:sym typeface="Calibri"/>
            </a:endParaRPr>
          </a:p>
        </p:txBody>
      </p:sp>
      <p:sp>
        <p:nvSpPr>
          <p:cNvPr id="190" name="Google Shape;190;p9"/>
          <p:cNvSpPr/>
          <p:nvPr/>
        </p:nvSpPr>
        <p:spPr>
          <a:xfrm>
            <a:off x="502925" y="4885774"/>
            <a:ext cx="11192400" cy="1452600"/>
          </a:xfrm>
          <a:prstGeom prst="rect">
            <a:avLst/>
          </a:prstGeom>
          <a:solidFill>
            <a:srgbClr val="FDEFDD"/>
          </a:solidFill>
          <a:ln cap="flat" cmpd="sng" w="12700">
            <a:solidFill>
              <a:srgbClr val="F6891E"/>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91" name="Google Shape;191;p9"/>
          <p:cNvPicPr preferRelativeResize="0"/>
          <p:nvPr/>
        </p:nvPicPr>
        <p:blipFill rotWithShape="1">
          <a:blip r:embed="rId3">
            <a:alphaModFix/>
          </a:blip>
          <a:srcRect b="0" l="0" r="0" t="0"/>
          <a:stretch/>
        </p:blipFill>
        <p:spPr>
          <a:xfrm>
            <a:off x="822965" y="5134770"/>
            <a:ext cx="457200" cy="414993"/>
          </a:xfrm>
          <a:prstGeom prst="rect">
            <a:avLst/>
          </a:prstGeom>
          <a:noFill/>
          <a:ln>
            <a:noFill/>
          </a:ln>
        </p:spPr>
      </p:pic>
      <p:sp>
        <p:nvSpPr>
          <p:cNvPr id="192" name="Google Shape;192;p9"/>
          <p:cNvSpPr/>
          <p:nvPr/>
        </p:nvSpPr>
        <p:spPr>
          <a:xfrm>
            <a:off x="1463045" y="5026872"/>
            <a:ext cx="10058400" cy="1203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D2434"/>
              </a:buClr>
              <a:buSzPts val="1250"/>
              <a:buFont typeface="Poppins SemiBold"/>
              <a:buNone/>
            </a:pPr>
            <a:r>
              <a:rPr lang="en-US" sz="1250">
                <a:solidFill>
                  <a:srgbClr val="0D2434"/>
                </a:solidFill>
                <a:latin typeface="Poppins SemiBold"/>
                <a:ea typeface="Poppins SemiBold"/>
                <a:cs typeface="Poppins SemiBold"/>
                <a:sym typeface="Poppins SemiBold"/>
              </a:rPr>
              <a:t>Draft one goal for each horizon.  </a:t>
            </a:r>
            <a:r>
              <a:rPr lang="en-US" sz="1250">
                <a:solidFill>
                  <a:srgbClr val="1B2A30"/>
                </a:solidFill>
                <a:latin typeface="Poppins"/>
                <a:ea typeface="Poppins"/>
                <a:cs typeface="Poppins"/>
                <a:sym typeface="Poppins"/>
              </a:rPr>
              <a:t>Start at results day and work backwards — the grades decide everything, and the application calendar exists to protect the time they need. Ten minutes alone, then test each goal on a partner with the four checks. Keep the drafts: the strongest becomes your card, and all three feed your ILP.</a:t>
            </a:r>
            <a:endParaRPr sz="1250">
              <a:solidFill>
                <a:schemeClr val="dk1"/>
              </a:solidFill>
              <a:latin typeface="Calibri"/>
              <a:ea typeface="Calibri"/>
              <a:cs typeface="Calibri"/>
              <a:sym typeface="Calibri"/>
            </a:endParaRPr>
          </a:p>
        </p:txBody>
      </p:sp>
      <p:sp>
        <p:nvSpPr>
          <p:cNvPr id="193" name="Google Shape;193;p9"/>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194" name="Google Shape;194;p9"/>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7</a:t>
            </a:r>
            <a:endParaRPr sz="850">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199" name="Shape 199"/>
        <p:cNvGrpSpPr/>
        <p:nvPr/>
      </p:nvGrpSpPr>
      <p:grpSpPr>
        <a:xfrm>
          <a:off x="0" y="0"/>
          <a:ext cx="0" cy="0"/>
          <a:chOff x="0" y="0"/>
          <a:chExt cx="0" cy="0"/>
        </a:xfrm>
      </p:grpSpPr>
      <p:sp>
        <p:nvSpPr>
          <p:cNvPr id="200" name="Google Shape;200;p10"/>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Right route? The honest check.</a:t>
            </a:r>
            <a:endParaRPr sz="2500">
              <a:solidFill>
                <a:schemeClr val="dk1"/>
              </a:solidFill>
              <a:latin typeface="Calibri"/>
              <a:ea typeface="Calibri"/>
              <a:cs typeface="Calibri"/>
              <a:sym typeface="Calibri"/>
            </a:endParaRPr>
          </a:p>
        </p:txBody>
      </p:sp>
      <p:sp>
        <p:nvSpPr>
          <p:cNvPr id="201" name="Google Shape;201;p10"/>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2" name="Google Shape;202;p10"/>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TEACHER INPUT</a:t>
            </a:r>
            <a:endParaRPr sz="1050">
              <a:solidFill>
                <a:schemeClr val="dk1"/>
              </a:solidFill>
              <a:latin typeface="Calibri"/>
              <a:ea typeface="Calibri"/>
              <a:cs typeface="Calibri"/>
              <a:sym typeface="Calibri"/>
            </a:endParaRPr>
          </a:p>
        </p:txBody>
      </p:sp>
      <p:sp>
        <p:nvSpPr>
          <p:cNvPr id="203" name="Google Shape;203;p10"/>
          <p:cNvSpPr/>
          <p:nvPr/>
        </p:nvSpPr>
        <p:spPr>
          <a:xfrm>
            <a:off x="502920" y="1024128"/>
            <a:ext cx="11155680" cy="68580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350"/>
              <a:buFont typeface="Poppins"/>
              <a:buNone/>
            </a:pPr>
            <a:r>
              <a:rPr lang="en-US" sz="1350">
                <a:solidFill>
                  <a:srgbClr val="1B2A30"/>
                </a:solidFill>
                <a:latin typeface="Poppins"/>
                <a:ea typeface="Poppins"/>
                <a:cs typeface="Poppins"/>
                <a:sym typeface="Poppins"/>
              </a:rPr>
              <a:t>Nobody in this room gets a course change — that ship sailed last year. But the destination is still yours to choose, and Year 2 pressure is real. Two different conversations, both worth having now.</a:t>
            </a:r>
            <a:endParaRPr sz="1350">
              <a:solidFill>
                <a:schemeClr val="dk1"/>
              </a:solidFill>
              <a:latin typeface="Calibri"/>
              <a:ea typeface="Calibri"/>
              <a:cs typeface="Calibri"/>
              <a:sym typeface="Calibri"/>
            </a:endParaRPr>
          </a:p>
        </p:txBody>
      </p:sp>
      <p:sp>
        <p:nvSpPr>
          <p:cNvPr id="204" name="Google Shape;204;p10"/>
          <p:cNvSpPr/>
          <p:nvPr/>
        </p:nvSpPr>
        <p:spPr>
          <a:xfrm>
            <a:off x="502920" y="1874520"/>
            <a:ext cx="5486400" cy="214884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5" name="Google Shape;205;p10"/>
          <p:cNvSpPr/>
          <p:nvPr/>
        </p:nvSpPr>
        <p:spPr>
          <a:xfrm>
            <a:off x="868680" y="2103120"/>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“The route feels shaky.”</a:t>
            </a:r>
            <a:endParaRPr sz="1600">
              <a:solidFill>
                <a:schemeClr val="dk1"/>
              </a:solidFill>
              <a:latin typeface="Calibri"/>
              <a:ea typeface="Calibri"/>
              <a:cs typeface="Calibri"/>
              <a:sym typeface="Calibri"/>
            </a:endParaRPr>
          </a:p>
        </p:txBody>
      </p:sp>
      <p:sp>
        <p:nvSpPr>
          <p:cNvPr id="206" name="Google Shape;206;p10"/>
          <p:cNvSpPr/>
          <p:nvPr/>
        </p:nvSpPr>
        <p:spPr>
          <a:xfrm>
            <a:off x="868680" y="2578608"/>
            <a:ext cx="4754880" cy="13258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Normal — Year 2 pressure does that to solid plans. This is a support conversation, not a crisis: tutor, subject staff, and the plan you have just written. Shaky is not the same as wrong.</a:t>
            </a:r>
            <a:endParaRPr sz="1200">
              <a:solidFill>
                <a:schemeClr val="dk1"/>
              </a:solidFill>
              <a:latin typeface="Calibri"/>
              <a:ea typeface="Calibri"/>
              <a:cs typeface="Calibri"/>
              <a:sym typeface="Calibri"/>
            </a:endParaRPr>
          </a:p>
        </p:txBody>
      </p:sp>
      <p:sp>
        <p:nvSpPr>
          <p:cNvPr id="207" name="Google Shape;207;p10"/>
          <p:cNvSpPr/>
          <p:nvPr/>
        </p:nvSpPr>
        <p:spPr>
          <a:xfrm>
            <a:off x="6217920" y="1874520"/>
            <a:ext cx="5486400" cy="2148840"/>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8" name="Google Shape;208;p10"/>
          <p:cNvSpPr/>
          <p:nvPr/>
        </p:nvSpPr>
        <p:spPr>
          <a:xfrm>
            <a:off x="6583680" y="2103120"/>
            <a:ext cx="47548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600"/>
              <a:buFont typeface="Poppins SemiBold"/>
              <a:buNone/>
            </a:pPr>
            <a:r>
              <a:rPr lang="en-US" sz="1600">
                <a:solidFill>
                  <a:srgbClr val="0D2434"/>
                </a:solidFill>
                <a:latin typeface="Poppins SemiBold"/>
                <a:ea typeface="Poppins SemiBold"/>
                <a:cs typeface="Poppins SemiBold"/>
                <a:sym typeface="Poppins SemiBold"/>
              </a:rPr>
              <a:t>“The route is wrong.”</a:t>
            </a:r>
            <a:endParaRPr sz="1600">
              <a:solidFill>
                <a:schemeClr val="dk1"/>
              </a:solidFill>
              <a:latin typeface="Calibri"/>
              <a:ea typeface="Calibri"/>
              <a:cs typeface="Calibri"/>
              <a:sym typeface="Calibri"/>
            </a:endParaRPr>
          </a:p>
        </p:txBody>
      </p:sp>
      <p:sp>
        <p:nvSpPr>
          <p:cNvPr id="209" name="Google Shape;209;p10"/>
          <p:cNvSpPr/>
          <p:nvPr/>
        </p:nvSpPr>
        <p:spPr>
          <a:xfrm>
            <a:off x="6583680" y="2578608"/>
            <a:ext cx="4754880" cy="1325880"/>
          </a:xfrm>
          <a:prstGeom prst="rect">
            <a:avLst/>
          </a:prstGeom>
          <a:noFill/>
          <a:ln>
            <a:noFill/>
          </a:ln>
        </p:spPr>
        <p:txBody>
          <a:bodyPr anchorCtr="0" anchor="ctr" bIns="0" lIns="0" spcFirstLastPara="1" rIns="0" wrap="square" tIns="0">
            <a:noAutofit/>
          </a:bodyPr>
          <a:lstStyle/>
          <a:p>
            <a:pPr indent="0" lvl="0" marL="0" marR="0" rtl="0" algn="l">
              <a:lnSpc>
                <a:spcPct val="112000"/>
              </a:lnSpc>
              <a:spcBef>
                <a:spcPts val="0"/>
              </a:spcBef>
              <a:spcAft>
                <a:spcPts val="0"/>
              </a:spcAft>
              <a:buClr>
                <a:srgbClr val="1B2A30"/>
              </a:buClr>
              <a:buSzPts val="1200"/>
              <a:buFont typeface="Poppins"/>
              <a:buNone/>
            </a:pPr>
            <a:r>
              <a:rPr lang="en-US" sz="1200">
                <a:solidFill>
                  <a:srgbClr val="1B2A30"/>
                </a:solidFill>
                <a:latin typeface="Poppins"/>
                <a:ea typeface="Poppins"/>
                <a:cs typeface="Poppins"/>
                <a:sym typeface="Poppins"/>
              </a:rPr>
              <a:t>University, apprenticeship, employment — changing the destination is still entirely possible this term, and cheaper now than after applications go in. Changing the effort level is not. Book Careers this week. For creative routes: switching from a Photography or Fine Art university destination to a creative industries degree apprenticeship, or from Film to Media Production. </a:t>
            </a:r>
            <a:endParaRPr sz="1200">
              <a:solidFill>
                <a:schemeClr val="dk1"/>
              </a:solidFill>
              <a:latin typeface="Calibri"/>
              <a:ea typeface="Calibri"/>
              <a:cs typeface="Calibri"/>
              <a:sym typeface="Calibri"/>
            </a:endParaRPr>
          </a:p>
        </p:txBody>
      </p:sp>
      <p:sp>
        <p:nvSpPr>
          <p:cNvPr id="210" name="Google Shape;210;p10"/>
          <p:cNvSpPr/>
          <p:nvPr/>
        </p:nvSpPr>
        <p:spPr>
          <a:xfrm>
            <a:off x="502920" y="4251960"/>
            <a:ext cx="11192256" cy="685800"/>
          </a:xfrm>
          <a:prstGeom prst="rect">
            <a:avLst/>
          </a:prstGeom>
          <a:solidFill>
            <a:srgbClr val="FFCF0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1" name="Google Shape;211;p10"/>
          <p:cNvSpPr/>
          <p:nvPr/>
        </p:nvSpPr>
        <p:spPr>
          <a:xfrm>
            <a:off x="822960" y="4251960"/>
            <a:ext cx="106070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450"/>
              <a:buFont typeface="Poppins SemiBold"/>
              <a:buNone/>
            </a:pPr>
            <a:r>
              <a:rPr lang="en-US" sz="1450">
                <a:solidFill>
                  <a:srgbClr val="0D2434"/>
                </a:solidFill>
                <a:latin typeface="Poppins SemiBold"/>
                <a:ea typeface="Poppins SemiBold"/>
                <a:cs typeface="Poppins SemiBold"/>
                <a:sym typeface="Poppins SemiBold"/>
              </a:rPr>
              <a:t>You can still change where you are going. You cannot get this year back.</a:t>
            </a:r>
            <a:endParaRPr sz="1450">
              <a:solidFill>
                <a:schemeClr val="dk1"/>
              </a:solidFill>
              <a:latin typeface="Calibri"/>
              <a:ea typeface="Calibri"/>
              <a:cs typeface="Calibri"/>
              <a:sym typeface="Calibri"/>
            </a:endParaRPr>
          </a:p>
        </p:txBody>
      </p:sp>
      <p:sp>
        <p:nvSpPr>
          <p:cNvPr id="212" name="Google Shape;212;p10"/>
          <p:cNvSpPr/>
          <p:nvPr/>
        </p:nvSpPr>
        <p:spPr>
          <a:xfrm>
            <a:off x="502920" y="5166360"/>
            <a:ext cx="11192256" cy="914400"/>
          </a:xfrm>
          <a:prstGeom prst="rect">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13" name="Google Shape;213;p10"/>
          <p:cNvSpPr/>
          <p:nvPr/>
        </p:nvSpPr>
        <p:spPr>
          <a:xfrm>
            <a:off x="667512" y="5257800"/>
            <a:ext cx="10863072"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Before delivery — insert: (1) Careers Team name, location and booking route for this campus. (2) Internal deadline for changing application plans — confirm with your Head of Curriculum. (3) Year 2 application support schedule — name the relevant staff member so students know to ask.</a:t>
            </a:r>
            <a:endParaRPr sz="1050">
              <a:solidFill>
                <a:schemeClr val="dk1"/>
              </a:solidFill>
              <a:latin typeface="Calibri"/>
              <a:ea typeface="Calibri"/>
              <a:cs typeface="Calibri"/>
              <a:sym typeface="Calibri"/>
            </a:endParaRPr>
          </a:p>
        </p:txBody>
      </p:sp>
      <p:sp>
        <p:nvSpPr>
          <p:cNvPr id="214" name="Google Shape;214;p10"/>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215" name="Google Shape;215;p10"/>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8</a:t>
            </a:r>
            <a:endParaRPr sz="85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20" name="Shape 220"/>
        <p:cNvGrpSpPr/>
        <p:nvPr/>
      </p:nvGrpSpPr>
      <p:grpSpPr>
        <a:xfrm>
          <a:off x="0" y="0"/>
          <a:ext cx="0" cy="0"/>
          <a:chOff x="0" y="0"/>
          <a:chExt cx="0" cy="0"/>
        </a:xfrm>
      </p:grpSpPr>
      <p:sp>
        <p:nvSpPr>
          <p:cNvPr id="221" name="Google Shape;221;p11"/>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Closing induction — for the last time</a:t>
            </a:r>
            <a:endParaRPr sz="2500">
              <a:solidFill>
                <a:schemeClr val="dk1"/>
              </a:solidFill>
              <a:latin typeface="Calibri"/>
              <a:ea typeface="Calibri"/>
              <a:cs typeface="Calibri"/>
              <a:sym typeface="Calibri"/>
            </a:endParaRPr>
          </a:p>
        </p:txBody>
      </p:sp>
      <p:sp>
        <p:nvSpPr>
          <p:cNvPr id="222" name="Google Shape;222;p11"/>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3" name="Google Shape;223;p11"/>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DISCUSSION</a:t>
            </a:r>
            <a:endParaRPr sz="1050">
              <a:solidFill>
                <a:schemeClr val="dk1"/>
              </a:solidFill>
              <a:latin typeface="Calibri"/>
              <a:ea typeface="Calibri"/>
              <a:cs typeface="Calibri"/>
              <a:sym typeface="Calibri"/>
            </a:endParaRPr>
          </a:p>
        </p:txBody>
      </p:sp>
      <p:sp>
        <p:nvSpPr>
          <p:cNvPr id="224" name="Google Shape;224;p11"/>
          <p:cNvSpPr/>
          <p:nvPr/>
        </p:nvSpPr>
        <p:spPr>
          <a:xfrm>
            <a:off x="502920" y="1188720"/>
            <a:ext cx="6720840" cy="1115568"/>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5" name="Google Shape;225;p11"/>
          <p:cNvSpPr/>
          <p:nvPr/>
        </p:nvSpPr>
        <p:spPr>
          <a:xfrm>
            <a:off x="777240" y="1591056"/>
            <a:ext cx="310896" cy="310896"/>
          </a:xfrm>
          <a:prstGeom prst="ellipse">
            <a:avLst/>
          </a:prstGeom>
          <a:solidFill>
            <a:srgbClr val="0F7A5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6" name="Google Shape;226;p11"/>
          <p:cNvSpPr/>
          <p:nvPr/>
        </p:nvSpPr>
        <p:spPr>
          <a:xfrm>
            <a:off x="1280160" y="1316736"/>
            <a:ext cx="5760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Settling in &amp; belonging</a:t>
            </a:r>
            <a:endParaRPr sz="1350">
              <a:solidFill>
                <a:schemeClr val="dk1"/>
              </a:solidFill>
              <a:latin typeface="Calibri"/>
              <a:ea typeface="Calibri"/>
              <a:cs typeface="Calibri"/>
              <a:sym typeface="Calibri"/>
            </a:endParaRPr>
          </a:p>
        </p:txBody>
      </p:sp>
      <p:sp>
        <p:nvSpPr>
          <p:cNvPr id="227" name="Google Shape;227;p11"/>
          <p:cNvSpPr/>
          <p:nvPr/>
        </p:nvSpPr>
        <p:spPr>
          <a:xfrm>
            <a:off x="1280160" y="1700784"/>
            <a:ext cx="5760720" cy="53035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The systems and habits — refreshed this year because Year 2 runs on them, not on memory.</a:t>
            </a:r>
            <a:endParaRPr sz="1100">
              <a:solidFill>
                <a:schemeClr val="dk1"/>
              </a:solidFill>
              <a:latin typeface="Calibri"/>
              <a:ea typeface="Calibri"/>
              <a:cs typeface="Calibri"/>
              <a:sym typeface="Calibri"/>
            </a:endParaRPr>
          </a:p>
        </p:txBody>
      </p:sp>
      <p:sp>
        <p:nvSpPr>
          <p:cNvPr id="228" name="Google Shape;228;p11"/>
          <p:cNvSpPr/>
          <p:nvPr/>
        </p:nvSpPr>
        <p:spPr>
          <a:xfrm>
            <a:off x="502920" y="2487168"/>
            <a:ext cx="6720840" cy="1115568"/>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29" name="Google Shape;229;p11"/>
          <p:cNvSpPr/>
          <p:nvPr/>
        </p:nvSpPr>
        <p:spPr>
          <a:xfrm>
            <a:off x="777240" y="2889504"/>
            <a:ext cx="310896" cy="310896"/>
          </a:xfrm>
          <a:prstGeom prst="ellipse">
            <a:avLst/>
          </a:prstGeom>
          <a:solidFill>
            <a:srgbClr val="592C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0" name="Google Shape;230;p11"/>
          <p:cNvSpPr/>
          <p:nvPr/>
        </p:nvSpPr>
        <p:spPr>
          <a:xfrm>
            <a:off x="1280160" y="2615184"/>
            <a:ext cx="5760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Safeguarding, wellbeing &amp; respect</a:t>
            </a:r>
            <a:endParaRPr sz="1350">
              <a:solidFill>
                <a:schemeClr val="dk1"/>
              </a:solidFill>
              <a:latin typeface="Calibri"/>
              <a:ea typeface="Calibri"/>
              <a:cs typeface="Calibri"/>
              <a:sym typeface="Calibri"/>
            </a:endParaRPr>
          </a:p>
        </p:txBody>
      </p:sp>
      <p:sp>
        <p:nvSpPr>
          <p:cNvPr id="231" name="Google Shape;231;p11"/>
          <p:cNvSpPr/>
          <p:nvPr/>
        </p:nvSpPr>
        <p:spPr>
          <a:xfrm>
            <a:off x="1280160" y="2999232"/>
            <a:ext cx="5760720" cy="53035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Who keeps you safe and who to tell — the contacts that matter more in a pressure year, not less.</a:t>
            </a:r>
            <a:endParaRPr sz="1100">
              <a:solidFill>
                <a:schemeClr val="dk1"/>
              </a:solidFill>
              <a:latin typeface="Calibri"/>
              <a:ea typeface="Calibri"/>
              <a:cs typeface="Calibri"/>
              <a:sym typeface="Calibri"/>
            </a:endParaRPr>
          </a:p>
        </p:txBody>
      </p:sp>
      <p:sp>
        <p:nvSpPr>
          <p:cNvPr id="232" name="Google Shape;232;p11"/>
          <p:cNvSpPr/>
          <p:nvPr/>
        </p:nvSpPr>
        <p:spPr>
          <a:xfrm>
            <a:off x="502920" y="3785616"/>
            <a:ext cx="6720840" cy="1115568"/>
          </a:xfrm>
          <a:prstGeom prst="rect">
            <a:avLst/>
          </a:prstGeom>
          <a:solidFill>
            <a:srgbClr val="FFFFFF"/>
          </a:solidFill>
          <a:ln cap="flat" cmpd="sng" w="12700">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3" name="Google Shape;233;p11"/>
          <p:cNvSpPr/>
          <p:nvPr/>
        </p:nvSpPr>
        <p:spPr>
          <a:xfrm>
            <a:off x="777240" y="4187952"/>
            <a:ext cx="310896" cy="310896"/>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34" name="Google Shape;234;p11"/>
          <p:cNvSpPr/>
          <p:nvPr/>
        </p:nvSpPr>
        <p:spPr>
          <a:xfrm>
            <a:off x="1280160" y="3913632"/>
            <a:ext cx="576072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350"/>
              <a:buFont typeface="Poppins SemiBold"/>
              <a:buNone/>
            </a:pPr>
            <a:r>
              <a:rPr lang="en-US" sz="1350">
                <a:solidFill>
                  <a:srgbClr val="0D2434"/>
                </a:solidFill>
                <a:latin typeface="Poppins SemiBold"/>
                <a:ea typeface="Poppins SemiBold"/>
                <a:cs typeface="Poppins SemiBold"/>
                <a:sym typeface="Poppins SemiBold"/>
              </a:rPr>
              <a:t>Employability, careers &amp; progression</a:t>
            </a:r>
            <a:endParaRPr sz="1350">
              <a:solidFill>
                <a:schemeClr val="dk1"/>
              </a:solidFill>
              <a:latin typeface="Calibri"/>
              <a:ea typeface="Calibri"/>
              <a:cs typeface="Calibri"/>
              <a:sym typeface="Calibri"/>
            </a:endParaRPr>
          </a:p>
        </p:txBody>
      </p:sp>
      <p:sp>
        <p:nvSpPr>
          <p:cNvPr id="235" name="Google Shape;235;p11"/>
          <p:cNvSpPr/>
          <p:nvPr/>
        </p:nvSpPr>
        <p:spPr>
          <a:xfrm>
            <a:off x="1280160" y="4297680"/>
            <a:ext cx="5760720" cy="530352"/>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1100"/>
              <a:buFont typeface="Poppins"/>
              <a:buNone/>
            </a:pPr>
            <a:r>
              <a:rPr lang="en-US" sz="1100">
                <a:solidFill>
                  <a:srgbClr val="1B2A30"/>
                </a:solidFill>
                <a:latin typeface="Poppins"/>
                <a:ea typeface="Poppins"/>
                <a:cs typeface="Poppins"/>
                <a:sym typeface="Poppins"/>
              </a:rPr>
              <a:t>Navigate record, digital portfolio and professional evidence audit, application calendar and T Level placement or Employer Set Project planning — and today, the map with real dates and the goals that protect them</a:t>
            </a:r>
            <a:endParaRPr sz="1100">
              <a:solidFill>
                <a:schemeClr val="dk1"/>
              </a:solidFill>
              <a:latin typeface="Calibri"/>
              <a:ea typeface="Calibri"/>
              <a:cs typeface="Calibri"/>
              <a:sym typeface="Calibri"/>
            </a:endParaRPr>
          </a:p>
        </p:txBody>
      </p:sp>
      <p:sp>
        <p:nvSpPr>
          <p:cNvPr id="236" name="Google Shape;236;p11"/>
          <p:cNvSpPr/>
          <p:nvPr/>
        </p:nvSpPr>
        <p:spPr>
          <a:xfrm>
            <a:off x="502920" y="5120640"/>
            <a:ext cx="6720840" cy="77724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Clr>
                <a:srgbClr val="0D2434"/>
              </a:buClr>
              <a:buSzPts val="1250"/>
              <a:buFont typeface="Poppins"/>
              <a:buNone/>
            </a:pPr>
            <a:r>
              <a:rPr i="1" lang="en-US" sz="1250">
                <a:solidFill>
                  <a:srgbClr val="0D2434"/>
                </a:solidFill>
                <a:latin typeface="Poppins"/>
                <a:ea typeface="Poppins"/>
                <a:cs typeface="Poppins"/>
                <a:sym typeface="Poppins"/>
              </a:rPr>
              <a:t>Now the parked questions — every one answered, or given an owner with a deadline. Final year runs on deadlines; we start as we mean to go on.</a:t>
            </a:r>
            <a:endParaRPr sz="1250">
              <a:solidFill>
                <a:schemeClr val="dk1"/>
              </a:solidFill>
              <a:latin typeface="Calibri"/>
              <a:ea typeface="Calibri"/>
              <a:cs typeface="Calibri"/>
              <a:sym typeface="Calibri"/>
            </a:endParaRPr>
          </a:p>
        </p:txBody>
      </p:sp>
      <p:sp>
        <p:nvSpPr>
          <p:cNvPr id="237" name="Google Shape;237;p11"/>
          <p:cNvSpPr/>
          <p:nvPr/>
        </p:nvSpPr>
        <p:spPr>
          <a:xfrm>
            <a:off x="7452360" y="1188720"/>
            <a:ext cx="4224528" cy="3364992"/>
          </a:xfrm>
          <a:prstGeom prst="rect">
            <a:avLst/>
          </a:prstGeom>
          <a:solidFill>
            <a:srgbClr val="0D243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238" name="Google Shape;238;p11"/>
          <p:cNvPicPr preferRelativeResize="0"/>
          <p:nvPr/>
        </p:nvPicPr>
        <p:blipFill rotWithShape="1">
          <a:blip r:embed="rId3">
            <a:alphaModFix/>
          </a:blip>
          <a:srcRect b="0" l="0" r="0" t="0"/>
          <a:stretch/>
        </p:blipFill>
        <p:spPr>
          <a:xfrm>
            <a:off x="7772400" y="1463040"/>
            <a:ext cx="457200" cy="457200"/>
          </a:xfrm>
          <a:prstGeom prst="rect">
            <a:avLst/>
          </a:prstGeom>
          <a:noFill/>
          <a:ln>
            <a:noFill/>
          </a:ln>
        </p:spPr>
      </p:pic>
      <p:sp>
        <p:nvSpPr>
          <p:cNvPr id="239" name="Google Shape;239;p11"/>
          <p:cNvSpPr/>
          <p:nvPr/>
        </p:nvSpPr>
        <p:spPr>
          <a:xfrm>
            <a:off x="8366760" y="1481328"/>
            <a:ext cx="31089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Poppins SemiBold"/>
              <a:buNone/>
            </a:pPr>
            <a:r>
              <a:rPr lang="en-US" sz="1500">
                <a:solidFill>
                  <a:srgbClr val="FFFFFF"/>
                </a:solidFill>
                <a:latin typeface="Poppins SemiBold"/>
                <a:ea typeface="Poppins SemiBold"/>
                <a:cs typeface="Poppins SemiBold"/>
                <a:sym typeface="Poppins SemiBold"/>
              </a:rPr>
              <a:t>Who to ask now</a:t>
            </a:r>
            <a:endParaRPr sz="1500">
              <a:solidFill>
                <a:schemeClr val="dk1"/>
              </a:solidFill>
              <a:latin typeface="Calibri"/>
              <a:ea typeface="Calibri"/>
              <a:cs typeface="Calibri"/>
              <a:sym typeface="Calibri"/>
            </a:endParaRPr>
          </a:p>
        </p:txBody>
      </p:sp>
      <p:sp>
        <p:nvSpPr>
          <p:cNvPr id="240" name="Google Shape;240;p11"/>
          <p:cNvSpPr/>
          <p:nvPr/>
        </p:nvSpPr>
        <p:spPr>
          <a:xfrm>
            <a:off x="7772400" y="2103120"/>
            <a:ext cx="3611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50"/>
              <a:buFont typeface="Poppins SemiBold"/>
              <a:buNone/>
            </a:pPr>
            <a:r>
              <a:rPr lang="en-US" sz="1250">
                <a:solidFill>
                  <a:srgbClr val="F6891E"/>
                </a:solidFill>
                <a:latin typeface="Poppins SemiBold"/>
                <a:ea typeface="Poppins SemiBold"/>
                <a:cs typeface="Poppins SemiBold"/>
                <a:sym typeface="Poppins SemiBold"/>
              </a:rPr>
              <a:t>Careers Team</a:t>
            </a:r>
            <a:endParaRPr sz="1250">
              <a:solidFill>
                <a:schemeClr val="dk1"/>
              </a:solidFill>
              <a:latin typeface="Calibri"/>
              <a:ea typeface="Calibri"/>
              <a:cs typeface="Calibri"/>
              <a:sym typeface="Calibri"/>
            </a:endParaRPr>
          </a:p>
        </p:txBody>
      </p:sp>
      <p:sp>
        <p:nvSpPr>
          <p:cNvPr id="241" name="Google Shape;241;p11"/>
          <p:cNvSpPr/>
          <p:nvPr/>
        </p:nvSpPr>
        <p:spPr>
          <a:xfrm>
            <a:off x="7772400" y="2404872"/>
            <a:ext cx="361188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7D2D6"/>
              </a:buClr>
              <a:buSzPts val="1050"/>
              <a:buFont typeface="Poppins"/>
              <a:buNone/>
            </a:pPr>
            <a:r>
              <a:rPr lang="en-US" sz="1050">
                <a:solidFill>
                  <a:srgbClr val="C7D2D6"/>
                </a:solidFill>
                <a:latin typeface="Poppins"/>
                <a:ea typeface="Poppins"/>
                <a:cs typeface="Poppins"/>
                <a:sym typeface="Poppins"/>
              </a:rPr>
              <a:t>Routes, applications, statements, interviews — book early; autumn is their busiest term.</a:t>
            </a:r>
            <a:endParaRPr sz="1050">
              <a:solidFill>
                <a:schemeClr val="dk1"/>
              </a:solidFill>
              <a:latin typeface="Calibri"/>
              <a:ea typeface="Calibri"/>
              <a:cs typeface="Calibri"/>
              <a:sym typeface="Calibri"/>
            </a:endParaRPr>
          </a:p>
        </p:txBody>
      </p:sp>
      <p:sp>
        <p:nvSpPr>
          <p:cNvPr id="242" name="Google Shape;242;p11"/>
          <p:cNvSpPr/>
          <p:nvPr/>
        </p:nvSpPr>
        <p:spPr>
          <a:xfrm>
            <a:off x="7772400" y="2944368"/>
            <a:ext cx="3611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50"/>
              <a:buFont typeface="Poppins SemiBold"/>
              <a:buNone/>
            </a:pPr>
            <a:r>
              <a:rPr lang="en-US" sz="1250">
                <a:solidFill>
                  <a:srgbClr val="F6891E"/>
                </a:solidFill>
                <a:latin typeface="Poppins SemiBold"/>
                <a:ea typeface="Poppins SemiBold"/>
                <a:cs typeface="Poppins SemiBold"/>
                <a:sym typeface="Poppins SemiBold"/>
              </a:rPr>
              <a:t>Personal tutor</a:t>
            </a:r>
            <a:endParaRPr sz="1250">
              <a:solidFill>
                <a:schemeClr val="dk1"/>
              </a:solidFill>
              <a:latin typeface="Calibri"/>
              <a:ea typeface="Calibri"/>
              <a:cs typeface="Calibri"/>
              <a:sym typeface="Calibri"/>
            </a:endParaRPr>
          </a:p>
        </p:txBody>
      </p:sp>
      <p:sp>
        <p:nvSpPr>
          <p:cNvPr id="243" name="Google Shape;243;p11"/>
          <p:cNvSpPr/>
          <p:nvPr/>
        </p:nvSpPr>
        <p:spPr>
          <a:xfrm>
            <a:off x="7772400" y="3246120"/>
            <a:ext cx="361188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7D2D6"/>
              </a:buClr>
              <a:buSzPts val="1050"/>
              <a:buFont typeface="Poppins"/>
              <a:buNone/>
            </a:pPr>
            <a:r>
              <a:rPr lang="en-US" sz="1050">
                <a:solidFill>
                  <a:srgbClr val="C7D2D6"/>
                </a:solidFill>
                <a:latin typeface="Poppins"/>
                <a:ea typeface="Poppins"/>
                <a:cs typeface="Poppins"/>
                <a:sym typeface="Poppins"/>
              </a:rPr>
              <a:t>Your goals, your ILP, references — and the pressure, when it bites.</a:t>
            </a:r>
            <a:endParaRPr sz="1050">
              <a:solidFill>
                <a:schemeClr val="dk1"/>
              </a:solidFill>
              <a:latin typeface="Calibri"/>
              <a:ea typeface="Calibri"/>
              <a:cs typeface="Calibri"/>
              <a:sym typeface="Calibri"/>
            </a:endParaRPr>
          </a:p>
        </p:txBody>
      </p:sp>
      <p:sp>
        <p:nvSpPr>
          <p:cNvPr id="244" name="Google Shape;244;p11"/>
          <p:cNvSpPr/>
          <p:nvPr/>
        </p:nvSpPr>
        <p:spPr>
          <a:xfrm>
            <a:off x="7772400" y="3785616"/>
            <a:ext cx="3611880" cy="31089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250"/>
              <a:buFont typeface="Poppins SemiBold"/>
              <a:buNone/>
            </a:pPr>
            <a:r>
              <a:rPr lang="en-US" sz="1250">
                <a:solidFill>
                  <a:srgbClr val="F6891E"/>
                </a:solidFill>
                <a:latin typeface="Poppins SemiBold"/>
                <a:ea typeface="Poppins SemiBold"/>
                <a:cs typeface="Poppins SemiBold"/>
                <a:sym typeface="Poppins SemiBold"/>
              </a:rPr>
              <a:t>Head of Curriculum</a:t>
            </a:r>
            <a:endParaRPr sz="1250">
              <a:solidFill>
                <a:schemeClr val="dk1"/>
              </a:solidFill>
              <a:latin typeface="Calibri"/>
              <a:ea typeface="Calibri"/>
              <a:cs typeface="Calibri"/>
              <a:sym typeface="Calibri"/>
            </a:endParaRPr>
          </a:p>
        </p:txBody>
      </p:sp>
      <p:sp>
        <p:nvSpPr>
          <p:cNvPr id="245" name="Google Shape;245;p11"/>
          <p:cNvSpPr/>
          <p:nvPr/>
        </p:nvSpPr>
        <p:spPr>
          <a:xfrm>
            <a:off x="7772400" y="4087368"/>
            <a:ext cx="3611880" cy="5029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C7D2D6"/>
              </a:buClr>
              <a:buSzPts val="1050"/>
              <a:buFont typeface="Poppins"/>
              <a:buNone/>
            </a:pPr>
            <a:r>
              <a:rPr lang="en-US" sz="1050">
                <a:solidFill>
                  <a:srgbClr val="C7D2D6"/>
                </a:solidFill>
                <a:latin typeface="Poppins"/>
                <a:ea typeface="Poppins"/>
                <a:cs typeface="Poppins"/>
                <a:sym typeface="Poppins"/>
              </a:rPr>
              <a:t>Course-level concerns in the year that counts.</a:t>
            </a:r>
            <a:endParaRPr sz="1050">
              <a:solidFill>
                <a:schemeClr val="dk1"/>
              </a:solidFill>
              <a:latin typeface="Calibri"/>
              <a:ea typeface="Calibri"/>
              <a:cs typeface="Calibri"/>
              <a:sym typeface="Calibri"/>
            </a:endParaRPr>
          </a:p>
        </p:txBody>
      </p:sp>
      <p:sp>
        <p:nvSpPr>
          <p:cNvPr id="246" name="Google Shape;246;p11"/>
          <p:cNvSpPr/>
          <p:nvPr/>
        </p:nvSpPr>
        <p:spPr>
          <a:xfrm>
            <a:off x="7452360" y="4709160"/>
            <a:ext cx="4224528" cy="1188720"/>
          </a:xfrm>
          <a:prstGeom prst="rect">
            <a:avLst/>
          </a:prstGeom>
          <a:solidFill>
            <a:srgbClr val="F8E7E3"/>
          </a:solidFill>
          <a:ln cap="flat" cmpd="sng" w="15875">
            <a:solidFill>
              <a:srgbClr val="B23A2E"/>
            </a:solidFill>
            <a:prstDash val="dash"/>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47" name="Google Shape;247;p11"/>
          <p:cNvSpPr/>
          <p:nvPr/>
        </p:nvSpPr>
        <p:spPr>
          <a:xfrm>
            <a:off x="7616952" y="4800600"/>
            <a:ext cx="3895344"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050"/>
              <a:buFont typeface="Poppins SemiBold"/>
              <a:buNone/>
            </a:pPr>
            <a:r>
              <a:rPr lang="en-US" sz="1050">
                <a:solidFill>
                  <a:srgbClr val="B23A2E"/>
                </a:solidFill>
                <a:latin typeface="Poppins SemiBold"/>
                <a:ea typeface="Poppins SemiBold"/>
                <a:cs typeface="Poppins SemiBold"/>
                <a:sym typeface="Poppins SemiBold"/>
              </a:rPr>
              <a:t>Before delivery — insert: (1) Careers Team location and room for this campus. (2) Drop-in times for this term. (3) Booking route. (4) Year 2 application support schedule or digital/media-specific advice sessions — name these so students know to ask.</a:t>
            </a:r>
            <a:endParaRPr sz="1050">
              <a:solidFill>
                <a:schemeClr val="dk1"/>
              </a:solidFill>
              <a:latin typeface="Calibri"/>
              <a:ea typeface="Calibri"/>
              <a:cs typeface="Calibri"/>
              <a:sym typeface="Calibri"/>
            </a:endParaRPr>
          </a:p>
        </p:txBody>
      </p:sp>
      <p:sp>
        <p:nvSpPr>
          <p:cNvPr id="248" name="Google Shape;248;p11"/>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249" name="Google Shape;249;p11"/>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9</a:t>
            </a:r>
            <a:endParaRPr sz="850">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54" name="Shape 254"/>
        <p:cNvGrpSpPr/>
        <p:nvPr/>
      </p:nvGrpSpPr>
      <p:grpSpPr>
        <a:xfrm>
          <a:off x="0" y="0"/>
          <a:ext cx="0" cy="0"/>
          <a:chOff x="0" y="0"/>
          <a:chExt cx="0" cy="0"/>
        </a:xfrm>
      </p:grpSpPr>
      <p:sp>
        <p:nvSpPr>
          <p:cNvPr id="255" name="Google Shape;255;p12"/>
          <p:cNvSpPr/>
          <p:nvPr/>
        </p:nvSpPr>
        <p:spPr>
          <a:xfrm>
            <a:off x="502920" y="256032"/>
            <a:ext cx="932688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2500"/>
              <a:buFont typeface="Poppins SemiBold"/>
              <a:buNone/>
            </a:pPr>
            <a:r>
              <a:rPr lang="en-US" sz="2500">
                <a:solidFill>
                  <a:srgbClr val="0D2434"/>
                </a:solidFill>
                <a:latin typeface="Poppins SemiBold"/>
                <a:ea typeface="Poppins SemiBold"/>
                <a:cs typeface="Poppins SemiBold"/>
                <a:sym typeface="Poppins SemiBold"/>
              </a:rPr>
              <a:t>One goal, on paper</a:t>
            </a:r>
            <a:endParaRPr sz="2500">
              <a:solidFill>
                <a:schemeClr val="dk1"/>
              </a:solidFill>
              <a:latin typeface="Calibri"/>
              <a:ea typeface="Calibri"/>
              <a:cs typeface="Calibri"/>
              <a:sym typeface="Calibri"/>
            </a:endParaRPr>
          </a:p>
        </p:txBody>
      </p:sp>
      <p:sp>
        <p:nvSpPr>
          <p:cNvPr id="256" name="Google Shape;256;p12"/>
          <p:cNvSpPr/>
          <p:nvPr/>
        </p:nvSpPr>
        <p:spPr>
          <a:xfrm>
            <a:off x="9902952" y="347472"/>
            <a:ext cx="1783080" cy="384048"/>
          </a:xfrm>
          <a:prstGeom prst="roundRect">
            <a:avLst>
              <a:gd fmla="val 19048" name="adj"/>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7" name="Google Shape;257;p12"/>
          <p:cNvSpPr/>
          <p:nvPr/>
        </p:nvSpPr>
        <p:spPr>
          <a:xfrm>
            <a:off x="9902952" y="347472"/>
            <a:ext cx="178308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050"/>
              <a:buFont typeface="Poppins SemiBold"/>
              <a:buNone/>
            </a:pPr>
            <a:r>
              <a:rPr lang="en-US" sz="1050">
                <a:solidFill>
                  <a:srgbClr val="0D2434"/>
                </a:solidFill>
                <a:latin typeface="Poppins SemiBold"/>
                <a:ea typeface="Poppins SemiBold"/>
                <a:cs typeface="Poppins SemiBold"/>
                <a:sym typeface="Poppins SemiBold"/>
              </a:rPr>
              <a:t>ACTIVITY</a:t>
            </a:r>
            <a:endParaRPr sz="1050">
              <a:solidFill>
                <a:schemeClr val="dk1"/>
              </a:solidFill>
              <a:latin typeface="Calibri"/>
              <a:ea typeface="Calibri"/>
              <a:cs typeface="Calibri"/>
              <a:sym typeface="Calibri"/>
            </a:endParaRPr>
          </a:p>
        </p:txBody>
      </p:sp>
      <p:sp>
        <p:nvSpPr>
          <p:cNvPr id="258" name="Google Shape;258;p12"/>
          <p:cNvSpPr/>
          <p:nvPr/>
        </p:nvSpPr>
        <p:spPr>
          <a:xfrm>
            <a:off x="502920" y="1005840"/>
            <a:ext cx="1115568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1300"/>
              <a:buFont typeface="Poppins"/>
              <a:buNone/>
            </a:pPr>
            <a:r>
              <a:rPr lang="en-US" sz="1300">
                <a:solidFill>
                  <a:srgbClr val="5A6A6F"/>
                </a:solidFill>
                <a:latin typeface="Poppins"/>
                <a:ea typeface="Poppins"/>
                <a:cs typeface="Poppins"/>
                <a:sym typeface="Poppins"/>
              </a:rPr>
              <a:t>Take the strongest goal from your three horizons — or choose one of these. Write it. Specific, first step, date with margin.</a:t>
            </a:r>
            <a:endParaRPr sz="1300">
              <a:solidFill>
                <a:schemeClr val="dk1"/>
              </a:solidFill>
              <a:latin typeface="Calibri"/>
              <a:ea typeface="Calibri"/>
              <a:cs typeface="Calibri"/>
              <a:sym typeface="Calibri"/>
            </a:endParaRPr>
          </a:p>
        </p:txBody>
      </p:sp>
      <p:sp>
        <p:nvSpPr>
          <p:cNvPr id="259" name="Google Shape;259;p12"/>
          <p:cNvSpPr/>
          <p:nvPr/>
        </p:nvSpPr>
        <p:spPr>
          <a:xfrm>
            <a:off x="1188720" y="1572768"/>
            <a:ext cx="9811512" cy="4434840"/>
          </a:xfrm>
          <a:prstGeom prst="rect">
            <a:avLst/>
          </a:prstGeom>
          <a:solidFill>
            <a:srgbClr val="FFFFFF"/>
          </a:solidFill>
          <a:ln cap="flat" cmpd="sng" w="15875">
            <a:solidFill>
              <a:srgbClr val="D2DBDA"/>
            </a:solidFill>
            <a:prstDash val="solid"/>
            <a:round/>
            <a:headEnd len="sm" w="sm" type="none"/>
            <a:tailEnd len="sm" w="sm" type="none"/>
          </a:ln>
          <a:effectLst>
            <a:outerShdw blurRad="88900" rotWithShape="0" algn="bl" dir="2700000" dist="25400">
              <a:srgbClr val="0D2434">
                <a:alpha val="10196"/>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2"/>
          <p:cNvSpPr/>
          <p:nvPr/>
        </p:nvSpPr>
        <p:spPr>
          <a:xfrm>
            <a:off x="1508760" y="1892808"/>
            <a:ext cx="402336" cy="402336"/>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1" name="Google Shape;261;p12"/>
          <p:cNvSpPr/>
          <p:nvPr/>
        </p:nvSpPr>
        <p:spPr>
          <a:xfrm>
            <a:off x="1508760" y="1892808"/>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1</a:t>
            </a:r>
            <a:endParaRPr sz="1300">
              <a:solidFill>
                <a:schemeClr val="dk1"/>
              </a:solidFill>
              <a:latin typeface="Calibri"/>
              <a:ea typeface="Calibri"/>
              <a:cs typeface="Calibri"/>
              <a:sym typeface="Calibri"/>
            </a:endParaRPr>
          </a:p>
        </p:txBody>
      </p:sp>
      <p:sp>
        <p:nvSpPr>
          <p:cNvPr id="262" name="Google Shape;262;p12"/>
          <p:cNvSpPr/>
          <p:nvPr/>
        </p:nvSpPr>
        <p:spPr>
          <a:xfrm>
            <a:off x="2148840" y="1865376"/>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00"/>
              <a:buFont typeface="Poppins Medium"/>
              <a:buNone/>
            </a:pPr>
            <a:r>
              <a:rPr lang="en-US" sz="1300">
                <a:solidFill>
                  <a:srgbClr val="1B2A30"/>
                </a:solidFill>
                <a:latin typeface="Poppins Medium"/>
                <a:ea typeface="Poppins Medium"/>
                <a:cs typeface="Poppins Medium"/>
                <a:sym typeface="Poppins Medium"/>
              </a:rPr>
              <a:t>My application goal is … and my first step this week is … My application and progression goal is … and my first step this week is …</a:t>
            </a:r>
            <a:endParaRPr sz="1300">
              <a:solidFill>
                <a:schemeClr val="dk1"/>
              </a:solidFill>
              <a:latin typeface="Calibri"/>
              <a:ea typeface="Calibri"/>
              <a:cs typeface="Calibri"/>
              <a:sym typeface="Calibri"/>
            </a:endParaRPr>
          </a:p>
        </p:txBody>
      </p:sp>
      <p:sp>
        <p:nvSpPr>
          <p:cNvPr id="263" name="Google Shape;263;p12"/>
          <p:cNvSpPr/>
          <p:nvPr/>
        </p:nvSpPr>
        <p:spPr>
          <a:xfrm>
            <a:off x="1508760" y="2642616"/>
            <a:ext cx="402336" cy="402336"/>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4" name="Google Shape;264;p12"/>
          <p:cNvSpPr/>
          <p:nvPr/>
        </p:nvSpPr>
        <p:spPr>
          <a:xfrm>
            <a:off x="1508760" y="2642616"/>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2</a:t>
            </a:r>
            <a:endParaRPr sz="1300">
              <a:solidFill>
                <a:schemeClr val="dk1"/>
              </a:solidFill>
              <a:latin typeface="Calibri"/>
              <a:ea typeface="Calibri"/>
              <a:cs typeface="Calibri"/>
              <a:sym typeface="Calibri"/>
            </a:endParaRPr>
          </a:p>
        </p:txBody>
      </p:sp>
      <p:sp>
        <p:nvSpPr>
          <p:cNvPr id="265" name="Google Shape;265;p12"/>
          <p:cNvSpPr/>
          <p:nvPr/>
        </p:nvSpPr>
        <p:spPr>
          <a:xfrm>
            <a:off x="2148840" y="2615184"/>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00"/>
              <a:buFont typeface="Poppins Medium"/>
              <a:buNone/>
            </a:pPr>
            <a:r>
              <a:rPr lang="en-US" sz="1300">
                <a:solidFill>
                  <a:srgbClr val="1B2A30"/>
                </a:solidFill>
                <a:latin typeface="Poppins Medium"/>
                <a:ea typeface="Poppins Medium"/>
                <a:cs typeface="Poppins Medium"/>
                <a:sym typeface="Poppins Medium"/>
              </a:rPr>
              <a:t>I will audit my Navigate record this week and fix one gap. missing project log entries, placement hours not recorded, portfolio work not uploaded, Year 1 work experience or competitions not added, skills assessment incomplete</a:t>
            </a:r>
            <a:endParaRPr sz="1300">
              <a:solidFill>
                <a:schemeClr val="dk1"/>
              </a:solidFill>
              <a:latin typeface="Calibri"/>
              <a:ea typeface="Calibri"/>
              <a:cs typeface="Calibri"/>
              <a:sym typeface="Calibri"/>
            </a:endParaRPr>
          </a:p>
        </p:txBody>
      </p:sp>
      <p:sp>
        <p:nvSpPr>
          <p:cNvPr id="266" name="Google Shape;266;p12"/>
          <p:cNvSpPr/>
          <p:nvPr/>
        </p:nvSpPr>
        <p:spPr>
          <a:xfrm>
            <a:off x="1508760" y="3392424"/>
            <a:ext cx="402336" cy="402336"/>
          </a:xfrm>
          <a:prstGeom prst="ellipse">
            <a:avLst/>
          </a:prstGeom>
          <a:solidFill>
            <a:srgbClr val="F6891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7" name="Google Shape;267;p12"/>
          <p:cNvSpPr/>
          <p:nvPr/>
        </p:nvSpPr>
        <p:spPr>
          <a:xfrm>
            <a:off x="1508760" y="3392424"/>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3</a:t>
            </a:r>
            <a:endParaRPr sz="1300">
              <a:solidFill>
                <a:schemeClr val="dk1"/>
              </a:solidFill>
              <a:latin typeface="Calibri"/>
              <a:ea typeface="Calibri"/>
              <a:cs typeface="Calibri"/>
              <a:sym typeface="Calibri"/>
            </a:endParaRPr>
          </a:p>
        </p:txBody>
      </p:sp>
      <p:sp>
        <p:nvSpPr>
          <p:cNvPr id="268" name="Google Shape;268;p12"/>
          <p:cNvSpPr/>
          <p:nvPr/>
        </p:nvSpPr>
        <p:spPr>
          <a:xfrm>
            <a:off x="2148840" y="3364992"/>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00"/>
              <a:buFont typeface="Poppins Medium"/>
              <a:buNone/>
            </a:pPr>
            <a:r>
              <a:rPr lang="en-US" sz="1300">
                <a:solidFill>
                  <a:srgbClr val="1B2A30"/>
                </a:solidFill>
                <a:latin typeface="Poppins Medium"/>
                <a:ea typeface="Poppins Medium"/>
                <a:cs typeface="Poppins Medium"/>
                <a:sym typeface="Poppins Medium"/>
              </a:rPr>
              <a:t>I will research and shortlist my application route — university, degree apprenticeship or industry role — and book a Careers conversation about what a strong application from this course actually looks like.</a:t>
            </a:r>
            <a:endParaRPr sz="1300">
              <a:solidFill>
                <a:schemeClr val="dk1"/>
              </a:solidFill>
              <a:latin typeface="Calibri"/>
              <a:ea typeface="Calibri"/>
              <a:cs typeface="Calibri"/>
              <a:sym typeface="Calibri"/>
            </a:endParaRPr>
          </a:p>
        </p:txBody>
      </p:sp>
      <p:sp>
        <p:nvSpPr>
          <p:cNvPr id="269" name="Google Shape;269;p12"/>
          <p:cNvSpPr/>
          <p:nvPr/>
        </p:nvSpPr>
        <p:spPr>
          <a:xfrm>
            <a:off x="1508760" y="4142232"/>
            <a:ext cx="402336" cy="402336"/>
          </a:xfrm>
          <a:prstGeom prst="ellipse">
            <a:avLst/>
          </a:prstGeom>
          <a:solidFill>
            <a:srgbClr val="F6891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12"/>
          <p:cNvSpPr/>
          <p:nvPr/>
        </p:nvSpPr>
        <p:spPr>
          <a:xfrm>
            <a:off x="1508760" y="4142232"/>
            <a:ext cx="402336" cy="402336"/>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D2434"/>
              </a:buClr>
              <a:buSzPts val="1300"/>
              <a:buFont typeface="Poppins SemiBold"/>
              <a:buNone/>
            </a:pPr>
            <a:r>
              <a:rPr lang="en-US" sz="1300">
                <a:solidFill>
                  <a:srgbClr val="0D2434"/>
                </a:solidFill>
                <a:latin typeface="Poppins SemiBold"/>
                <a:ea typeface="Poppins SemiBold"/>
                <a:cs typeface="Poppins SemiBold"/>
                <a:sym typeface="Poppins SemiBold"/>
              </a:rPr>
              <a:t>4</a:t>
            </a:r>
            <a:endParaRPr sz="1300">
              <a:solidFill>
                <a:schemeClr val="dk1"/>
              </a:solidFill>
              <a:latin typeface="Calibri"/>
              <a:ea typeface="Calibri"/>
              <a:cs typeface="Calibri"/>
              <a:sym typeface="Calibri"/>
            </a:endParaRPr>
          </a:p>
        </p:txBody>
      </p:sp>
      <p:sp>
        <p:nvSpPr>
          <p:cNvPr id="271" name="Google Shape;271;p12"/>
          <p:cNvSpPr/>
          <p:nvPr/>
        </p:nvSpPr>
        <p:spPr>
          <a:xfrm>
            <a:off x="2148840" y="4114800"/>
            <a:ext cx="8439912" cy="5029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2A30"/>
              </a:buClr>
              <a:buSzPts val="1300"/>
              <a:buFont typeface="Poppins Medium"/>
              <a:buNone/>
            </a:pPr>
            <a:r>
              <a:rPr lang="en-US" sz="1300">
                <a:solidFill>
                  <a:srgbClr val="1B2A30"/>
                </a:solidFill>
                <a:latin typeface="Poppins Medium"/>
                <a:ea typeface="Poppins Medium"/>
                <a:cs typeface="Poppins Medium"/>
                <a:sym typeface="Poppins Medium"/>
              </a:rPr>
              <a:t>I am worried about this year — I will talk to my tutor this week.</a:t>
            </a:r>
            <a:endParaRPr sz="1300">
              <a:solidFill>
                <a:schemeClr val="dk1"/>
              </a:solidFill>
              <a:latin typeface="Calibri"/>
              <a:ea typeface="Calibri"/>
              <a:cs typeface="Calibri"/>
              <a:sym typeface="Calibri"/>
            </a:endParaRPr>
          </a:p>
        </p:txBody>
      </p:sp>
      <p:cxnSp>
        <p:nvCxnSpPr>
          <p:cNvPr id="272" name="Google Shape;272;p12"/>
          <p:cNvCxnSpPr/>
          <p:nvPr/>
        </p:nvCxnSpPr>
        <p:spPr>
          <a:xfrm>
            <a:off x="1508760" y="4956048"/>
            <a:ext cx="9171432" cy="0"/>
          </a:xfrm>
          <a:prstGeom prst="straightConnector1">
            <a:avLst/>
          </a:prstGeom>
          <a:noFill/>
          <a:ln cap="flat" cmpd="sng" w="9525">
            <a:solidFill>
              <a:srgbClr val="D2DBDA"/>
            </a:solidFill>
            <a:prstDash val="solid"/>
            <a:round/>
            <a:headEnd len="sm" w="sm" type="none"/>
            <a:tailEnd len="sm" w="sm" type="none"/>
          </a:ln>
        </p:spPr>
      </p:cxnSp>
      <p:sp>
        <p:nvSpPr>
          <p:cNvPr id="273" name="Google Shape;273;p12"/>
          <p:cNvSpPr/>
          <p:nvPr/>
        </p:nvSpPr>
        <p:spPr>
          <a:xfrm>
            <a:off x="1508760" y="5120640"/>
            <a:ext cx="9171432"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6A6F"/>
              </a:buClr>
              <a:buSzPts val="1200"/>
              <a:buFont typeface="Poppins"/>
              <a:buNone/>
            </a:pPr>
            <a:r>
              <a:rPr i="1" lang="en-US" sz="1200">
                <a:solidFill>
                  <a:srgbClr val="5A6A6F"/>
                </a:solidFill>
                <a:latin typeface="Poppins"/>
                <a:ea typeface="Poppins"/>
                <a:cs typeface="Poppins"/>
                <a:sym typeface="Poppins"/>
              </a:rPr>
              <a:t>Your tutor keeps these. This one follows you into your ILP — and this year, it gets checked against real dates.</a:t>
            </a:r>
            <a:endParaRPr sz="1200">
              <a:solidFill>
                <a:schemeClr val="dk1"/>
              </a:solidFill>
              <a:latin typeface="Calibri"/>
              <a:ea typeface="Calibri"/>
              <a:cs typeface="Calibri"/>
              <a:sym typeface="Calibri"/>
            </a:endParaRPr>
          </a:p>
        </p:txBody>
      </p:sp>
      <p:sp>
        <p:nvSpPr>
          <p:cNvPr id="274" name="Google Shape;274;p12"/>
          <p:cNvSpPr/>
          <p:nvPr/>
        </p:nvSpPr>
        <p:spPr>
          <a:xfrm>
            <a:off x="502920" y="6510528"/>
            <a:ext cx="5943600"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MODULE K · PROGRESSION &amp; GOALS · L3 YEAR 2</a:t>
            </a:r>
            <a:endParaRPr sz="850">
              <a:solidFill>
                <a:schemeClr val="dk1"/>
              </a:solidFill>
              <a:latin typeface="Calibri"/>
              <a:ea typeface="Calibri"/>
              <a:cs typeface="Calibri"/>
              <a:sym typeface="Calibri"/>
            </a:endParaRPr>
          </a:p>
        </p:txBody>
      </p:sp>
      <p:sp>
        <p:nvSpPr>
          <p:cNvPr id="275" name="Google Shape;275;p12"/>
          <p:cNvSpPr/>
          <p:nvPr/>
        </p:nvSpPr>
        <p:spPr>
          <a:xfrm>
            <a:off x="11274552" y="6510528"/>
            <a:ext cx="411480" cy="256032"/>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A6A6F"/>
              </a:buClr>
              <a:buSzPts val="850"/>
              <a:buFont typeface="Poppins"/>
              <a:buNone/>
            </a:pPr>
            <a:r>
              <a:rPr lang="en-US" sz="850">
                <a:solidFill>
                  <a:srgbClr val="5A6A6F"/>
                </a:solidFill>
                <a:latin typeface="Poppins"/>
                <a:ea typeface="Poppins"/>
                <a:cs typeface="Poppins"/>
                <a:sym typeface="Poppins"/>
              </a:rPr>
              <a:t>10</a:t>
            </a:r>
            <a:endParaRPr sz="850">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2434"/>
        </a:solidFill>
      </p:bgPr>
    </p:bg>
    <p:spTree>
      <p:nvGrpSpPr>
        <p:cNvPr id="280" name="Shape 280"/>
        <p:cNvGrpSpPr/>
        <p:nvPr/>
      </p:nvGrpSpPr>
      <p:grpSpPr>
        <a:xfrm>
          <a:off x="0" y="0"/>
          <a:ext cx="0" cy="0"/>
          <a:chOff x="0" y="0"/>
          <a:chExt cx="0" cy="0"/>
        </a:xfrm>
      </p:grpSpPr>
      <p:sp>
        <p:nvSpPr>
          <p:cNvPr id="281" name="Google Shape;281;p13"/>
          <p:cNvSpPr/>
          <p:nvPr/>
        </p:nvSpPr>
        <p:spPr>
          <a:xfrm>
            <a:off x="777240" y="1691640"/>
            <a:ext cx="9144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6891E"/>
              </a:buClr>
              <a:buSzPts val="1300"/>
              <a:buFont typeface="Poppins SemiBold"/>
              <a:buNone/>
            </a:pPr>
            <a:r>
              <a:rPr lang="en-US" sz="1300">
                <a:solidFill>
                  <a:srgbClr val="F6891E"/>
                </a:solidFill>
                <a:latin typeface="Poppins SemiBold"/>
                <a:ea typeface="Poppins SemiBold"/>
                <a:cs typeface="Poppins SemiBold"/>
                <a:sym typeface="Poppins SemiBold"/>
              </a:rPr>
              <a:t>PROUD  ·  SEEK OPPORTUNITY</a:t>
            </a:r>
            <a:endParaRPr sz="1300">
              <a:solidFill>
                <a:schemeClr val="dk1"/>
              </a:solidFill>
              <a:latin typeface="Calibri"/>
              <a:ea typeface="Calibri"/>
              <a:cs typeface="Calibri"/>
              <a:sym typeface="Calibri"/>
            </a:endParaRPr>
          </a:p>
        </p:txBody>
      </p:sp>
      <p:sp>
        <p:nvSpPr>
          <p:cNvPr id="282" name="Google Shape;282;p13"/>
          <p:cNvSpPr/>
          <p:nvPr/>
        </p:nvSpPr>
        <p:spPr>
          <a:xfrm>
            <a:off x="777240" y="2194560"/>
            <a:ext cx="10698480" cy="201168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Last induction. Last September.</a:t>
            </a:r>
            <a:endParaRPr sz="26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Last chance to set a year up properly —</a:t>
            </a:r>
            <a:endParaRPr sz="2600">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FFFFFF"/>
              </a:buClr>
              <a:buSzPts val="2600"/>
              <a:buFont typeface="Poppins SemiBold"/>
              <a:buNone/>
            </a:pPr>
            <a:r>
              <a:rPr lang="en-US" sz="2600">
                <a:solidFill>
                  <a:srgbClr val="FFFFFF"/>
                </a:solidFill>
                <a:latin typeface="Poppins SemiBold"/>
                <a:ea typeface="Poppins SemiBold"/>
                <a:cs typeface="Poppins SemiBold"/>
                <a:sym typeface="Poppins SemiBold"/>
              </a:rPr>
              <a:t>and you have just done exactly that.</a:t>
            </a:r>
            <a:endParaRPr sz="2600">
              <a:solidFill>
                <a:schemeClr val="dk1"/>
              </a:solidFill>
              <a:latin typeface="Calibri"/>
              <a:ea typeface="Calibri"/>
              <a:cs typeface="Calibri"/>
              <a:sym typeface="Calibri"/>
            </a:endParaRPr>
          </a:p>
        </p:txBody>
      </p:sp>
      <p:sp>
        <p:nvSpPr>
          <p:cNvPr id="283" name="Google Shape;283;p13"/>
          <p:cNvSpPr/>
          <p:nvPr/>
        </p:nvSpPr>
        <p:spPr>
          <a:xfrm>
            <a:off x="777240" y="4434840"/>
            <a:ext cx="1069848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CF01"/>
              </a:buClr>
              <a:buSzPts val="1600"/>
              <a:buFont typeface="Poppins Medium"/>
              <a:buNone/>
            </a:pPr>
            <a:r>
              <a:rPr lang="en-US" sz="1600">
                <a:solidFill>
                  <a:srgbClr val="FFCF01"/>
                </a:solidFill>
                <a:latin typeface="Poppins Medium"/>
                <a:ea typeface="Poppins Medium"/>
                <a:cs typeface="Poppins Medium"/>
                <a:sym typeface="Poppins Medium"/>
              </a:rPr>
              <a:t>For T Level students: Employer Set Project on track, placement hours progressing, qualification grade in sight. For university routes: UCAS submitted before Christmas, portfolio developed, conditional offer earned and the grades to convert it. Applications and assessed work run in parallel — plan for both from today.</a:t>
            </a:r>
            <a:endParaRPr sz="1600">
              <a:solidFill>
                <a:schemeClr val="dk1"/>
              </a:solidFill>
              <a:latin typeface="Calibri"/>
              <a:ea typeface="Calibri"/>
              <a:cs typeface="Calibri"/>
              <a:sym typeface="Calibri"/>
            </a:endParaRPr>
          </a:p>
        </p:txBody>
      </p:sp>
      <p:sp>
        <p:nvSpPr>
          <p:cNvPr id="284" name="Google Shape;284;p13"/>
          <p:cNvSpPr/>
          <p:nvPr/>
        </p:nvSpPr>
        <p:spPr>
          <a:xfrm>
            <a:off x="777240" y="5212080"/>
            <a:ext cx="10058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9C4C9"/>
              </a:buClr>
              <a:buSzPts val="1250"/>
              <a:buFont typeface="Poppins"/>
              <a:buNone/>
            </a:pPr>
            <a:r>
              <a:rPr i="1" lang="en-US" sz="1250">
                <a:solidFill>
                  <a:srgbClr val="B9C4C9"/>
                </a:solidFill>
                <a:latin typeface="Poppins"/>
                <a:ea typeface="Poppins"/>
                <a:cs typeface="Poppins"/>
                <a:sym typeface="Poppins"/>
              </a:rPr>
              <a:t>End of induction. Don’t fumble the last lap. In Digital, Media and Film, the last lap is applications, portfolio and assessed work running in parallel. Plan for all three. Do not fumble the final year.</a:t>
            </a:r>
            <a:endParaRPr sz="1250">
              <a:solidFill>
                <a:schemeClr val="dk1"/>
              </a:solidFill>
              <a:latin typeface="Calibri"/>
              <a:ea typeface="Calibri"/>
              <a:cs typeface="Calibri"/>
              <a:sym typeface="Calibri"/>
            </a:endParaRPr>
          </a:p>
        </p:txBody>
      </p:sp>
      <p:sp>
        <p:nvSpPr>
          <p:cNvPr id="285" name="Google Shape;285;p13"/>
          <p:cNvSpPr/>
          <p:nvPr/>
        </p:nvSpPr>
        <p:spPr>
          <a:xfrm>
            <a:off x="777240" y="6263640"/>
            <a:ext cx="73152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A9AA0"/>
              </a:buClr>
              <a:buSzPts val="1000"/>
              <a:buFont typeface="Poppins"/>
              <a:buNone/>
            </a:pPr>
            <a:r>
              <a:rPr lang="en-US" sz="1000">
                <a:solidFill>
                  <a:srgbClr val="8A9AA0"/>
                </a:solidFill>
                <a:latin typeface="Poppins"/>
                <a:ea typeface="Poppins"/>
                <a:cs typeface="Poppins"/>
                <a:sym typeface="Poppins"/>
              </a:rPr>
              <a:t>East Sussex College  ·  Student Induction 2026–27</a:t>
            </a:r>
            <a:endParaRPr sz="1000">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BFBF8"/>
        </a:solidFill>
      </p:bgPr>
    </p:bg>
    <p:spTree>
      <p:nvGrpSpPr>
        <p:cNvPr id="290" name="Shape 290"/>
        <p:cNvGrpSpPr/>
        <p:nvPr/>
      </p:nvGrpSpPr>
      <p:grpSpPr>
        <a:xfrm>
          <a:off x="0" y="0"/>
          <a:ext cx="0" cy="0"/>
          <a:chOff x="0" y="0"/>
          <a:chExt cx="0" cy="0"/>
        </a:xfrm>
      </p:grpSpPr>
      <p:sp>
        <p:nvSpPr>
          <p:cNvPr id="291" name="Google Shape;291;p14"/>
          <p:cNvSpPr/>
          <p:nvPr/>
        </p:nvSpPr>
        <p:spPr>
          <a:xfrm>
            <a:off x="0" y="0"/>
            <a:ext cx="12188952" cy="566928"/>
          </a:xfrm>
          <a:prstGeom prst="rect">
            <a:avLst/>
          </a:prstGeom>
          <a:solidFill>
            <a:srgbClr val="B23A2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2" name="Google Shape;292;p14"/>
          <p:cNvSpPr/>
          <p:nvPr/>
        </p:nvSpPr>
        <p:spPr>
          <a:xfrm>
            <a:off x="502920" y="0"/>
            <a:ext cx="11155680" cy="56692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400"/>
              <a:buFont typeface="Poppins SemiBold"/>
              <a:buNone/>
            </a:pPr>
            <a:r>
              <a:rPr lang="en-US" sz="1400">
                <a:solidFill>
                  <a:srgbClr val="FFFFFF"/>
                </a:solidFill>
                <a:latin typeface="Poppins SemiBold"/>
                <a:ea typeface="Poppins SemiBold"/>
                <a:cs typeface="Poppins SemiBold"/>
                <a:sym typeface="Poppins SemiBold"/>
              </a:rPr>
              <a:t>TEACHER APPENDIX — DO NOT DISPLAY TO STUDENTS</a:t>
            </a:r>
            <a:endParaRPr sz="1400">
              <a:solidFill>
                <a:schemeClr val="dk1"/>
              </a:solidFill>
              <a:latin typeface="Calibri"/>
              <a:ea typeface="Calibri"/>
              <a:cs typeface="Calibri"/>
              <a:sym typeface="Calibri"/>
            </a:endParaRPr>
          </a:p>
        </p:txBody>
      </p:sp>
      <p:sp>
        <p:nvSpPr>
          <p:cNvPr id="293" name="Google Shape;293;p14"/>
          <p:cNvSpPr/>
          <p:nvPr/>
        </p:nvSpPr>
        <p:spPr>
          <a:xfrm>
            <a:off x="320525" y="713225"/>
            <a:ext cx="11365500" cy="203010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4" name="Google Shape;294;p14"/>
          <p:cNvSpPr/>
          <p:nvPr/>
        </p:nvSpPr>
        <p:spPr>
          <a:xfrm>
            <a:off x="617483" y="713237"/>
            <a:ext cx="5020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TEACHING THIS GROUP</a:t>
            </a:r>
            <a:endParaRPr sz="1100">
              <a:solidFill>
                <a:schemeClr val="dk1"/>
              </a:solidFill>
              <a:latin typeface="Calibri"/>
              <a:ea typeface="Calibri"/>
              <a:cs typeface="Calibri"/>
              <a:sym typeface="Calibri"/>
            </a:endParaRPr>
          </a:p>
        </p:txBody>
      </p:sp>
      <p:sp>
        <p:nvSpPr>
          <p:cNvPr id="295" name="Google Shape;295;p14"/>
          <p:cNvSpPr/>
          <p:nvPr/>
        </p:nvSpPr>
        <p:spPr>
          <a:xfrm>
            <a:off x="742172" y="1188729"/>
            <a:ext cx="10522200" cy="13533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L3 Year 2 — brisk, peer-to-peer, zero new-starter content; they will punish anything that smells recycled. The re-point: this is not ‘here are your options’ but ‘the cycle is live — here is the calendar and here is your plan against it’. Two jobs: make the deadlines feel real without inducing panic (margin is the antidote — early beats on-time), and get one dated application goal on paper. The route check matters: destination changes are still cheap this term; name it plainly. Confirm every date on slides 4 and 8 before delivery — a wrong deadline in this deck causes real harm. Level 3 Year 2 Digital and Media students typically arrive knowing exactly what they did not do in Year 1 — be honest about this without blame early in the session. The goal-writing activity is where that honesty becomes a plan rather than an anxiety. T Level students face the most complex Year 2 structure in the department: Employer Set Project, placement completion and assessed units running simultaneously — the calendar slide is the most important in this deck for that group, and every date must be confirmed with the Head of Curriculum before delivery. For students on creative routes — Games Art, Photography, Film Studies, Content Creation — portfolio pressure in Year 2 can attach self-worth to creative output in ways that become clinically significant; watch for students who go quiet rather than struggle loudly. UAL, UCH Hastings and specialist media college application deadlines may differ from the standard UCAS date — confirm the exact dates before delivering slide 4. T Level Employer Set Project internal deadlines are set by the Head of Curriculum, not UCAS — confirm before delivery. For students applying to Media or Film degrees at institutions where the personal statement deadline falls earlier than the standard UCAS date, name that date explicitly.</a:t>
            </a:r>
            <a:endParaRPr sz="950">
              <a:solidFill>
                <a:schemeClr val="dk1"/>
              </a:solidFill>
              <a:latin typeface="Calibri"/>
              <a:ea typeface="Calibri"/>
              <a:cs typeface="Calibri"/>
              <a:sym typeface="Calibri"/>
            </a:endParaRPr>
          </a:p>
        </p:txBody>
      </p:sp>
      <p:sp>
        <p:nvSpPr>
          <p:cNvPr id="296" name="Google Shape;296;p14"/>
          <p:cNvSpPr/>
          <p:nvPr/>
        </p:nvSpPr>
        <p:spPr>
          <a:xfrm>
            <a:off x="320517" y="2743205"/>
            <a:ext cx="11365500" cy="1783200"/>
          </a:xfrm>
          <a:prstGeom prst="rect">
            <a:avLst/>
          </a:prstGeom>
          <a:solidFill>
            <a:srgbClr val="FFFFFF"/>
          </a:solidFill>
          <a:ln cap="flat" cmpd="sng" w="12700">
            <a:solidFill>
              <a:srgbClr val="D2DBDA"/>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97" name="Google Shape;297;p14"/>
          <p:cNvSpPr/>
          <p:nvPr/>
        </p:nvSpPr>
        <p:spPr>
          <a:xfrm>
            <a:off x="742172" y="2862076"/>
            <a:ext cx="105222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D2434"/>
              </a:buClr>
              <a:buSzPts val="1100"/>
              <a:buFont typeface="Poppins SemiBold"/>
              <a:buNone/>
            </a:pPr>
            <a:r>
              <a:rPr lang="en-US" sz="1100">
                <a:solidFill>
                  <a:srgbClr val="0D2434"/>
                </a:solidFill>
                <a:latin typeface="Poppins SemiBold"/>
                <a:ea typeface="Poppins SemiBold"/>
                <a:cs typeface="Poppins SemiBold"/>
                <a:sym typeface="Poppins SemiBold"/>
              </a:rPr>
              <a:t>PRE-FLIGHT CHECKLIST</a:t>
            </a:r>
            <a:endParaRPr sz="1100">
              <a:solidFill>
                <a:schemeClr val="dk1"/>
              </a:solidFill>
              <a:latin typeface="Calibri"/>
              <a:ea typeface="Calibri"/>
              <a:cs typeface="Calibri"/>
              <a:sym typeface="Calibri"/>
            </a:endParaRPr>
          </a:p>
        </p:txBody>
      </p:sp>
      <p:sp>
        <p:nvSpPr>
          <p:cNvPr id="298" name="Google Shape;298;p14"/>
          <p:cNvSpPr/>
          <p:nvPr/>
        </p:nvSpPr>
        <p:spPr>
          <a:xfrm>
            <a:off x="742172" y="3154684"/>
            <a:ext cx="10522200" cy="1298400"/>
          </a:xfrm>
          <a:prstGeom prst="rect">
            <a:avLst/>
          </a:prstGeom>
          <a:noFill/>
          <a:ln>
            <a:noFill/>
          </a:ln>
        </p:spPr>
        <p:txBody>
          <a:bodyPr anchorCtr="0" anchor="ctr" bIns="0" lIns="0" spcFirstLastPara="1" rIns="0" wrap="square" tIns="0">
            <a:noAutofit/>
          </a:bodyPr>
          <a:lstStyle/>
          <a:p>
            <a:pPr indent="-342900" lvl="0" marL="342900" marR="0" rtl="0" algn="l">
              <a:spcBef>
                <a:spcPts val="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Exact application dates confirmed and on slide 4 — UCAS deadlines, early deadlines, internal reference/prediction deadlines</a:t>
            </a:r>
            <a:endParaRPr sz="950">
              <a:solidFill>
                <a:schemeClr val="dk1"/>
              </a:solidFill>
              <a:latin typeface="Calibri"/>
              <a:ea typeface="Calibri"/>
              <a:cs typeface="Calibri"/>
              <a:sym typeface="Calibri"/>
            </a:endParaRPr>
          </a:p>
          <a:p>
            <a:pPr indent="-342900" lvl="0" marL="342900" marR="0" rtl="0" algn="l">
              <a:spcBef>
                <a:spcPts val="40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Careers booking route + Year 2 support schedule confirmed (slides 8–9)</a:t>
            </a:r>
            <a:endParaRPr sz="950">
              <a:solidFill>
                <a:schemeClr val="dk1"/>
              </a:solidFill>
              <a:latin typeface="Calibri"/>
              <a:ea typeface="Calibri"/>
              <a:cs typeface="Calibri"/>
              <a:sym typeface="Calibri"/>
            </a:endParaRPr>
          </a:p>
          <a:p>
            <a:pPr indent="-342900" lvl="0" marL="342900" marR="0" rtl="0" algn="l">
              <a:spcBef>
                <a:spcPts val="40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Navigate audit expectations agreed with tutors — slide 5 sets homework they must follow up</a:t>
            </a:r>
            <a:endParaRPr sz="950">
              <a:solidFill>
                <a:schemeClr val="dk1"/>
              </a:solidFill>
              <a:latin typeface="Calibri"/>
              <a:ea typeface="Calibri"/>
              <a:cs typeface="Calibri"/>
              <a:sym typeface="Calibri"/>
            </a:endParaRPr>
          </a:p>
          <a:p>
            <a:pPr indent="-342900" lvl="0" marL="342900" marR="0" rtl="0" algn="l">
              <a:spcBef>
                <a:spcPts val="400"/>
              </a:spcBef>
              <a:spcAft>
                <a:spcPts val="0"/>
              </a:spcAft>
              <a:buClr>
                <a:srgbClr val="1B2A30"/>
              </a:buClr>
              <a:buSzPts val="950"/>
              <a:buFont typeface="Poppins"/>
              <a:buChar char="•"/>
            </a:pPr>
            <a:r>
              <a:rPr lang="en-US" sz="950">
                <a:solidFill>
                  <a:srgbClr val="1B2A30"/>
                </a:solidFill>
                <a:latin typeface="Poppins"/>
                <a:ea typeface="Poppins"/>
                <a:cs typeface="Poppins"/>
                <a:sym typeface="Poppins"/>
              </a:rPr>
              <a:t>Commitment cards printed; board ready for parked questions (slide 3)</a:t>
            </a:r>
            <a:endParaRPr sz="950">
              <a:solidFill>
                <a:schemeClr val="dk1"/>
              </a:solidFill>
              <a:latin typeface="Calibri"/>
              <a:ea typeface="Calibri"/>
              <a:cs typeface="Calibri"/>
              <a:sym typeface="Calibri"/>
            </a:endParaRPr>
          </a:p>
        </p:txBody>
      </p:sp>
      <p:sp>
        <p:nvSpPr>
          <p:cNvPr id="299" name="Google Shape;299;p14"/>
          <p:cNvSpPr/>
          <p:nvPr/>
        </p:nvSpPr>
        <p:spPr>
          <a:xfrm>
            <a:off x="320517" y="4663440"/>
            <a:ext cx="11365500" cy="1691700"/>
          </a:xfrm>
          <a:prstGeom prst="rect">
            <a:avLst/>
          </a:prstGeom>
          <a:solidFill>
            <a:srgbClr val="F8E7E3"/>
          </a:solidFill>
          <a:ln cap="flat" cmpd="sng" w="12700">
            <a:solidFill>
              <a:srgbClr val="B23A2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preencoded.png" id="300" name="Google Shape;300;p14"/>
          <p:cNvPicPr preferRelativeResize="0"/>
          <p:nvPr/>
        </p:nvPicPr>
        <p:blipFill rotWithShape="1">
          <a:blip r:embed="rId3">
            <a:alphaModFix/>
          </a:blip>
          <a:srcRect b="0" l="0" r="0" t="0"/>
          <a:stretch/>
        </p:blipFill>
        <p:spPr>
          <a:xfrm>
            <a:off x="742172" y="4791455"/>
            <a:ext cx="651647" cy="310895"/>
          </a:xfrm>
          <a:prstGeom prst="rect">
            <a:avLst/>
          </a:prstGeom>
          <a:noFill/>
          <a:ln>
            <a:noFill/>
          </a:ln>
        </p:spPr>
      </p:pic>
      <p:sp>
        <p:nvSpPr>
          <p:cNvPr id="301" name="Google Shape;301;p14"/>
          <p:cNvSpPr/>
          <p:nvPr/>
        </p:nvSpPr>
        <p:spPr>
          <a:xfrm>
            <a:off x="1623812" y="4791455"/>
            <a:ext cx="9640500" cy="310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23A2E"/>
              </a:buClr>
              <a:buSzPts val="1100"/>
              <a:buFont typeface="Poppins SemiBold"/>
              <a:buNone/>
            </a:pPr>
            <a:r>
              <a:rPr lang="en-US" sz="1100">
                <a:solidFill>
                  <a:srgbClr val="B23A2E"/>
                </a:solidFill>
                <a:latin typeface="Poppins SemiBold"/>
                <a:ea typeface="Poppins SemiBold"/>
                <a:cs typeface="Poppins SemiBold"/>
                <a:sym typeface="Poppins SemiBold"/>
              </a:rPr>
              <a:t>SAFEGUARDING</a:t>
            </a:r>
            <a:endParaRPr sz="1100">
              <a:solidFill>
                <a:schemeClr val="dk1"/>
              </a:solidFill>
              <a:latin typeface="Calibri"/>
              <a:ea typeface="Calibri"/>
              <a:cs typeface="Calibri"/>
              <a:sym typeface="Calibri"/>
            </a:endParaRPr>
          </a:p>
        </p:txBody>
      </p:sp>
      <p:sp>
        <p:nvSpPr>
          <p:cNvPr id="302" name="Google Shape;302;p14"/>
          <p:cNvSpPr/>
          <p:nvPr/>
        </p:nvSpPr>
        <p:spPr>
          <a:xfrm>
            <a:off x="742172" y="5175502"/>
            <a:ext cx="10522200" cy="109740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B2A30"/>
              </a:buClr>
              <a:buSzPts val="950"/>
              <a:buFont typeface="Poppins"/>
              <a:buNone/>
            </a:pPr>
            <a:r>
              <a:rPr lang="en-US" sz="950">
                <a:solidFill>
                  <a:srgbClr val="1B2A30"/>
                </a:solidFill>
                <a:latin typeface="Poppins"/>
                <a:ea typeface="Poppins"/>
                <a:cs typeface="Poppins"/>
                <a:sym typeface="Poppins"/>
              </a:rPr>
              <a:t>Pressure-year talk surfaces overwhelm, sleep problems, family expectation loads and hopelessness about the future. Listen calmly. Do not promise secrecy. Do not investigate. Report the same day via the ESCG safeguarding route. Option 4 cards (‘worried about this year’) get a same-day conversation — they are the disclosure route for this deck, and in Year 2 they are more likely to be about load than course. Portfolio pressure in Year 2 is the primary disclosure trigger for creative students — a drop in engagement after feedback can mark a shift from professional disappointment to something more serious; option 4 on the commitment card is the designed surface for this. For T Level students on industry placement, disclosures related to workplace pressure, boundary difficulties or inappropriate conduct from placement supervisors may surface; know the referral route before placement begins.</a:t>
            </a:r>
            <a:endParaRPr sz="95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